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5"/>
  </p:notesMasterIdLst>
  <p:sldIdLst>
    <p:sldId id="374" r:id="rId2"/>
    <p:sldId id="352" r:id="rId3"/>
    <p:sldId id="315" r:id="rId4"/>
    <p:sldId id="355" r:id="rId5"/>
    <p:sldId id="357" r:id="rId6"/>
    <p:sldId id="358" r:id="rId7"/>
    <p:sldId id="356" r:id="rId8"/>
    <p:sldId id="359" r:id="rId9"/>
    <p:sldId id="360" r:id="rId10"/>
    <p:sldId id="320" r:id="rId11"/>
    <p:sldId id="362" r:id="rId12"/>
    <p:sldId id="406" r:id="rId13"/>
    <p:sldId id="407" r:id="rId14"/>
    <p:sldId id="363" r:id="rId15"/>
    <p:sldId id="321" r:id="rId16"/>
    <p:sldId id="322" r:id="rId17"/>
    <p:sldId id="364" r:id="rId18"/>
    <p:sldId id="353" r:id="rId19"/>
    <p:sldId id="365" r:id="rId20"/>
    <p:sldId id="323" r:id="rId21"/>
    <p:sldId id="354" r:id="rId22"/>
    <p:sldId id="366" r:id="rId23"/>
    <p:sldId id="411" r:id="rId24"/>
    <p:sldId id="412" r:id="rId25"/>
    <p:sldId id="346" r:id="rId26"/>
    <p:sldId id="367" r:id="rId27"/>
    <p:sldId id="347" r:id="rId28"/>
    <p:sldId id="368" r:id="rId29"/>
    <p:sldId id="361" r:id="rId30"/>
    <p:sldId id="369" r:id="rId31"/>
    <p:sldId id="348" r:id="rId32"/>
    <p:sldId id="370" r:id="rId33"/>
    <p:sldId id="371" r:id="rId34"/>
    <p:sldId id="349" r:id="rId35"/>
    <p:sldId id="372" r:id="rId36"/>
    <p:sldId id="373" r:id="rId37"/>
    <p:sldId id="408" r:id="rId38"/>
    <p:sldId id="375" r:id="rId39"/>
    <p:sldId id="350" r:id="rId40"/>
    <p:sldId id="376" r:id="rId41"/>
    <p:sldId id="377" r:id="rId42"/>
    <p:sldId id="351" r:id="rId43"/>
    <p:sldId id="378" r:id="rId44"/>
    <p:sldId id="379" r:id="rId45"/>
    <p:sldId id="380" r:id="rId46"/>
    <p:sldId id="410" r:id="rId47"/>
    <p:sldId id="409" r:id="rId48"/>
    <p:sldId id="381" r:id="rId49"/>
    <p:sldId id="382" r:id="rId50"/>
    <p:sldId id="383" r:id="rId51"/>
    <p:sldId id="384" r:id="rId52"/>
    <p:sldId id="385" r:id="rId53"/>
    <p:sldId id="413" r:id="rId54"/>
    <p:sldId id="414" r:id="rId55"/>
    <p:sldId id="386" r:id="rId56"/>
    <p:sldId id="387" r:id="rId57"/>
    <p:sldId id="388" r:id="rId58"/>
    <p:sldId id="389" r:id="rId59"/>
    <p:sldId id="390" r:id="rId60"/>
    <p:sldId id="391" r:id="rId61"/>
    <p:sldId id="392" r:id="rId62"/>
    <p:sldId id="393" r:id="rId63"/>
    <p:sldId id="394" r:id="rId64"/>
    <p:sldId id="395" r:id="rId65"/>
    <p:sldId id="396" r:id="rId66"/>
    <p:sldId id="397" r:id="rId67"/>
    <p:sldId id="403" r:id="rId68"/>
    <p:sldId id="404" r:id="rId69"/>
    <p:sldId id="398" r:id="rId70"/>
    <p:sldId id="399" r:id="rId71"/>
    <p:sldId id="400" r:id="rId72"/>
    <p:sldId id="401" r:id="rId73"/>
    <p:sldId id="402" r:id="rId74"/>
  </p:sldIdLst>
  <p:sldSz cx="12192000" cy="6858000"/>
  <p:notesSz cx="6858000" cy="9144000"/>
  <p:embeddedFontLst>
    <p:embeddedFont>
      <p:font typeface="Wingdings 2" panose="05020102010507070707" pitchFamily="18" charset="2"/>
      <p:regular r:id="rId76"/>
    </p:embeddedFont>
    <p:embeddedFont>
      <p:font typeface="Roboto Condensed Light" panose="02000000000000000000" pitchFamily="2" charset="0"/>
      <p:regular r:id="rId77"/>
      <p:italic r:id="rId78"/>
    </p:embeddedFont>
    <p:embeddedFont>
      <p:font typeface="Segoe UI Black" panose="020B0A02040204020203" pitchFamily="34" charset="0"/>
      <p:bold r:id="rId79"/>
      <p:boldItalic r:id="rId80"/>
    </p:embeddedFont>
    <p:embeddedFont>
      <p:font typeface="Calibri" panose="020F0502020204030204" pitchFamily="34" charset="0"/>
      <p:regular r:id="rId81"/>
      <p:bold r:id="rId82"/>
      <p:italic r:id="rId83"/>
      <p:boldItalic r:id="rId84"/>
    </p:embeddedFont>
    <p:embeddedFont>
      <p:font typeface="Roboto Condensed" panose="02000000000000000000" pitchFamily="2" charset="0"/>
      <p:regular r:id="rId85"/>
      <p:bold r:id="rId86"/>
      <p:italic r:id="rId87"/>
      <p:boldItalic r:id="rId88"/>
    </p:embeddedFont>
    <p:embeddedFont>
      <p:font typeface="Consolas" panose="020B0609020204030204" pitchFamily="49" charset="0"/>
      <p:regular r:id="rId89"/>
      <p:bold r:id="rId90"/>
      <p:italic r:id="rId91"/>
      <p:boldItalic r:id="rId92"/>
    </p:embeddedFont>
    <p:embeddedFont>
      <p:font typeface="Wingdings 3" panose="05040102010807070707" pitchFamily="18" charset="2"/>
      <p:regular r:id="rId9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6Ul2kdnRzSlQ+k1KlYQzWA==" hashData="AWrgpe4lfEW/LJ0gloIq29xs8m/0hSD0x+BJs6iFb3Uj69IVHJnFsU1yXikQS06ON5zwZM9Fp0meEUSLmTOBVA=="/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2827"/>
    <a:srgbClr val="D81A60"/>
    <a:srgbClr val="301B92"/>
    <a:srgbClr val="673BB7"/>
    <a:srgbClr val="607D8B"/>
    <a:srgbClr val="ED524F"/>
    <a:srgbClr val="B71B1C"/>
    <a:srgbClr val="F54337"/>
    <a:srgbClr val="890E4F"/>
    <a:srgbClr val="EA1E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08" autoAdjust="0"/>
    <p:restoredTop sz="94660"/>
  </p:normalViewPr>
  <p:slideViewPr>
    <p:cSldViewPr snapToGrid="0">
      <p:cViewPr varScale="1">
        <p:scale>
          <a:sx n="83" d="100"/>
          <a:sy n="83" d="100"/>
        </p:scale>
        <p:origin x="75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font" Target="fonts/font9.fntdata"/><Relationship Id="rId89" Type="http://schemas.openxmlformats.org/officeDocument/2006/relationships/font" Target="fonts/font14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font" Target="fonts/font4.fntdata"/><Relationship Id="rId5" Type="http://schemas.openxmlformats.org/officeDocument/2006/relationships/slide" Target="slides/slide4.xml"/><Relationship Id="rId90" Type="http://schemas.openxmlformats.org/officeDocument/2006/relationships/font" Target="fonts/font15.fntdata"/><Relationship Id="rId95" Type="http://schemas.openxmlformats.org/officeDocument/2006/relationships/viewProps" Target="view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font" Target="fonts/font5.fntdata"/><Relationship Id="rId85" Type="http://schemas.openxmlformats.org/officeDocument/2006/relationships/font" Target="fonts/font10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83" Type="http://schemas.openxmlformats.org/officeDocument/2006/relationships/font" Target="fonts/font8.fntdata"/><Relationship Id="rId88" Type="http://schemas.openxmlformats.org/officeDocument/2006/relationships/font" Target="fonts/font13.fntdata"/><Relationship Id="rId91" Type="http://schemas.openxmlformats.org/officeDocument/2006/relationships/font" Target="fonts/font16.fntdata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font" Target="fonts/font3.fntdata"/><Relationship Id="rId81" Type="http://schemas.openxmlformats.org/officeDocument/2006/relationships/font" Target="fonts/font6.fntdata"/><Relationship Id="rId86" Type="http://schemas.openxmlformats.org/officeDocument/2006/relationships/font" Target="fonts/font11.fntdata"/><Relationship Id="rId9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1.fntdata"/><Relationship Id="rId97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font" Target="fonts/font17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font" Target="fonts/font12.fntdata"/><Relationship Id="rId61" Type="http://schemas.openxmlformats.org/officeDocument/2006/relationships/slide" Target="slides/slide60.xml"/><Relationship Id="rId82" Type="http://schemas.openxmlformats.org/officeDocument/2006/relationships/font" Target="fonts/font7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font" Target="fonts/font2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font" Target="fonts/font1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png"/><Relationship Id="rId4" Type="http://schemas.microsoft.com/office/2007/relationships/hdphoto" Target="../media/hdphoto2.wdp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3.png"/><Relationship Id="rId4" Type="http://schemas.openxmlformats.org/officeDocument/2006/relationships/image" Target="../media/image4.png"/><Relationship Id="rId9" Type="http://schemas.openxmlformats.org/officeDocument/2006/relationships/image" Target="../media/image11.pn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13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967F7A9-F404-4412-B868-8EB67A41E2A4}"/>
              </a:ext>
            </a:extLst>
          </p:cNvPr>
          <p:cNvGrpSpPr/>
          <p:nvPr userDrawn="1"/>
        </p:nvGrpSpPr>
        <p:grpSpPr>
          <a:xfrm>
            <a:off x="9576895" y="861192"/>
            <a:ext cx="2554143" cy="587454"/>
            <a:chOff x="131177" y="5775962"/>
            <a:chExt cx="2530239" cy="581956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Arjun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V.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Bala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#3150713 (PDS)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Overview of Python and Data Structure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Shruti R. Maniar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653367" y="6604000"/>
            <a:ext cx="488526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IN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IN" dirty="0"/>
              <a:t>2301CS404  (PP) Unit- 2</a:t>
            </a:r>
            <a:endParaRPr lang="en-US" dirty="0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4321872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41FBD5D-AB37-4F4E-A127-DAB7A6E35DEA}"/>
              </a:ext>
            </a:extLst>
          </p:cNvPr>
          <p:cNvGrpSpPr/>
          <p:nvPr userDrawn="1"/>
        </p:nvGrpSpPr>
        <p:grpSpPr>
          <a:xfrm>
            <a:off x="10313386" y="5940670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F51F16C-249B-E345-B841-8128601D1DD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6E1CEFF-5022-B343-970D-93BF7837B193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967F7A9-F404-4412-B868-8EB67A41E2A4}"/>
              </a:ext>
            </a:extLst>
          </p:cNvPr>
          <p:cNvGrpSpPr/>
          <p:nvPr userDrawn="1"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Arjun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V.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Bala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#3150713 (PDS)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Overview of Python and Data Structure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525FD31-DBEE-9A49-8D30-8AA370CD1AC6}"/>
              </a:ext>
            </a:extLst>
          </p:cNvPr>
          <p:cNvGrpSpPr/>
          <p:nvPr userDrawn="1"/>
        </p:nvGrpSpPr>
        <p:grpSpPr>
          <a:xfrm>
            <a:off x="10313386" y="6223181"/>
            <a:ext cx="1649043" cy="501287"/>
            <a:chOff x="10721798" y="852808"/>
            <a:chExt cx="1339023" cy="407045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2E2024B0-256A-DE40-97A3-3554EEB4DEA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7E3F7EC-9A5A-AA4D-ADD8-31449DFF979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Arjun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V.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Bala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594100" y="6604000"/>
            <a:ext cx="5003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#3150713 (PDS)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Overview of Python and Data Structure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FE191CF5-3D57-422B-B2EB-FF235E30DB22}"/>
              </a:ext>
            </a:extLst>
          </p:cNvPr>
          <p:cNvGrpSpPr/>
          <p:nvPr userDrawn="1"/>
        </p:nvGrpSpPr>
        <p:grpSpPr>
          <a:xfrm>
            <a:off x="9576895" y="991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9B183D5-5DE8-48E7-85E7-60CE9D0FD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2445F4B-50F2-4CA0-A5C5-6D690A29F3F2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Arjun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V.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Bala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484034" y="6604000"/>
            <a:ext cx="5223933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#3150713 (PDS)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Overview of Python and Data Structure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913602D2-CAF0-4790-95E8-87990761ED0C}"/>
              </a:ext>
            </a:extLst>
          </p:cNvPr>
          <p:cNvGrpSpPr/>
          <p:nvPr userDrawn="1"/>
        </p:nvGrpSpPr>
        <p:grpSpPr>
          <a:xfrm>
            <a:off x="95768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378A2C8-EF9C-479C-ACF0-D9819B46DF5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1DE4F58-7D48-453D-89E1-B25767150977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Arjun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V.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Bala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475567" y="6604000"/>
            <a:ext cx="524086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#3150713 (PDS)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Overview of Python and Data Structure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15C60ED7-12D4-496E-AF73-0995BE8C12FD}"/>
              </a:ext>
            </a:extLst>
          </p:cNvPr>
          <p:cNvGrpSpPr/>
          <p:nvPr userDrawn="1"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0CB04CE-0025-4B1F-B962-A759D179D8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3F480CB-A4AF-424E-90DB-5B677403441A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FBF56C4-A1BE-EE44-A786-4A827E0E8E1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721" y="318857"/>
            <a:ext cx="2976891" cy="90493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CB827F4-CE70-CDC3-45B7-3768C164C10C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0" r:id="rId2"/>
    <p:sldLayoutId id="2147483687" r:id="rId3"/>
    <p:sldLayoutId id="2147483688" r:id="rId4"/>
    <p:sldLayoutId id="2147483671" r:id="rId5"/>
    <p:sldLayoutId id="2147483672" r:id="rId6"/>
    <p:sldLayoutId id="2147483689" r:id="rId7"/>
    <p:sldLayoutId id="2147483690" r:id="rId8"/>
    <p:sldLayoutId id="2147483673" r:id="rId9"/>
    <p:sldLayoutId id="2147483691" r:id="rId10"/>
    <p:sldLayoutId id="2147483674" r:id="rId11"/>
    <p:sldLayoutId id="2147483676" r:id="rId12"/>
    <p:sldLayoutId id="2147483677" r:id="rId13"/>
    <p:sldLayoutId id="2147483678" r:id="rId14"/>
    <p:sldLayoutId id="2147483679" r:id="rId15"/>
    <p:sldLayoutId id="2147483681" r:id="rId16"/>
    <p:sldLayoutId id="2147483683" r:id="rId17"/>
    <p:sldLayoutId id="2147483682" r:id="rId18"/>
    <p:sldLayoutId id="2147483684" r:id="rId19"/>
    <p:sldLayoutId id="2147483685" r:id="rId20"/>
    <p:sldLayoutId id="2147483686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gif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C137D2E-F7D0-465C-8541-F4CFBBD673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/>
              <a:t>shruti.maniar@darshan.ac.in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27C5C63-5136-498D-B5D5-B1F6385ED37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4FACC96-BA70-4FDA-AB13-3B133AD498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Computer Engineering Department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3A79D48-3C85-46E3-9CAE-59240F299A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Prof. Shruti R. Maniar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62CA4D6-180D-44EB-978C-EAE6FB447DC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IN" dirty="0"/>
              <a:t>Python Programming (</a:t>
            </a:r>
            <a:r>
              <a:rPr lang="en-IN" sz="1800" dirty="0">
                <a:effectLst/>
                <a:latin typeface="Roboto Condensed" panose="02000000000000000000" pitchFamily="2" charset="0"/>
              </a:rPr>
              <a:t>2301CS404</a:t>
            </a:r>
            <a:r>
              <a:rPr lang="en-IN" dirty="0"/>
              <a:t>)</a:t>
            </a:r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3886532"/>
          </a:xfrm>
        </p:spPr>
        <p:txBody>
          <a:bodyPr/>
          <a:lstStyle/>
          <a:p>
            <a: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Unit-02.1</a:t>
            </a:r>
            <a:r>
              <a:rPr lang="en-US" dirty="0"/>
              <a:t> </a:t>
            </a:r>
            <a:br>
              <a:rPr lang="en-US" dirty="0"/>
            </a:br>
            <a:r>
              <a:rPr lang="en-US" sz="5400" dirty="0"/>
              <a:t>Python Operators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A161DE45-276D-7849-BC99-BAB0D00EC12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</p:spTree>
    <p:extLst>
      <p:ext uri="{BB962C8B-B14F-4D97-AF65-F5344CB8AC3E}">
        <p14:creationId xmlns:p14="http://schemas.microsoft.com/office/powerpoint/2010/main" val="1162094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925EF2-D58F-4AC0-ACED-F747CC08D69F}"/>
              </a:ext>
            </a:extLst>
          </p:cNvPr>
          <p:cNvCxnSpPr>
            <a:cxnSpLocks/>
          </p:cNvCxnSpPr>
          <p:nvPr/>
        </p:nvCxnSpPr>
        <p:spPr>
          <a:xfrm>
            <a:off x="1191446" y="3622876"/>
            <a:ext cx="0" cy="2612554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246540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4" y="712385"/>
            <a:ext cx="4909938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Outline</a:t>
            </a:r>
            <a:endParaRPr lang="en-US" b="1" dirty="0"/>
          </a:p>
          <a:p>
            <a:endParaRPr lang="en-US" b="1" dirty="0"/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Arithmetic operators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Assignment operators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Comparison operators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Logical operators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Identity operators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Membership operators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Bitwise operators</a:t>
            </a:r>
          </a:p>
        </p:txBody>
      </p:sp>
    </p:spTree>
    <p:extLst>
      <p:ext uri="{BB962C8B-B14F-4D97-AF65-F5344CB8AC3E}">
        <p14:creationId xmlns:p14="http://schemas.microsoft.com/office/powerpoint/2010/main" val="4216305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Operators in Python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Operators are used to perform </a:t>
            </a:r>
            <a:r>
              <a:rPr lang="en-US" dirty="0">
                <a:solidFill>
                  <a:srgbClr val="C00000"/>
                </a:solidFill>
              </a:rPr>
              <a:t>operations</a:t>
            </a:r>
            <a:r>
              <a:rPr lang="en-US" dirty="0"/>
              <a:t> on variables and values.</a:t>
            </a:r>
          </a:p>
          <a:p>
            <a:pPr lvl="0"/>
            <a:r>
              <a:rPr lang="en-US" dirty="0"/>
              <a:t>We can </a:t>
            </a:r>
            <a:r>
              <a:rPr lang="en-US" dirty="0">
                <a:solidFill>
                  <a:srgbClr val="C00000"/>
                </a:solidFill>
              </a:rPr>
              <a:t>segregate</a:t>
            </a:r>
            <a:r>
              <a:rPr lang="en-US" dirty="0"/>
              <a:t> python operators in following groups :</a:t>
            </a:r>
          </a:p>
          <a:p>
            <a:pPr lvl="1"/>
            <a:r>
              <a:rPr lang="en-US" dirty="0"/>
              <a:t>Arithmetic operators</a:t>
            </a:r>
          </a:p>
          <a:p>
            <a:pPr lvl="1"/>
            <a:r>
              <a:rPr lang="en-US" dirty="0"/>
              <a:t>Assignment operators</a:t>
            </a:r>
          </a:p>
          <a:p>
            <a:pPr lvl="1"/>
            <a:r>
              <a:rPr lang="en-US" dirty="0"/>
              <a:t>Comparison operators</a:t>
            </a:r>
          </a:p>
          <a:p>
            <a:pPr lvl="1"/>
            <a:r>
              <a:rPr lang="en-US" dirty="0"/>
              <a:t>Logical operators</a:t>
            </a:r>
          </a:p>
          <a:p>
            <a:pPr lvl="1"/>
            <a:r>
              <a:rPr lang="en-US" dirty="0"/>
              <a:t>Bitwise operators</a:t>
            </a:r>
          </a:p>
          <a:p>
            <a:pPr lvl="1"/>
            <a:r>
              <a:rPr lang="en-US" dirty="0"/>
              <a:t>Identity operators</a:t>
            </a:r>
          </a:p>
          <a:p>
            <a:pPr lvl="1"/>
            <a:r>
              <a:rPr lang="en-US" dirty="0"/>
              <a:t>Membership operators</a:t>
            </a:r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Arithmetic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Arithmetic Operators can be used with </a:t>
            </a:r>
            <a:r>
              <a:rPr lang="en-US" dirty="0">
                <a:solidFill>
                  <a:srgbClr val="C00000"/>
                </a:solidFill>
              </a:rPr>
              <a:t>numeric values </a:t>
            </a:r>
            <a:r>
              <a:rPr lang="en-US" dirty="0"/>
              <a:t>or variables to perform common </a:t>
            </a:r>
            <a:r>
              <a:rPr lang="en-US" dirty="0">
                <a:solidFill>
                  <a:srgbClr val="C00000"/>
                </a:solidFill>
              </a:rPr>
              <a:t>mathematical</a:t>
            </a:r>
            <a:r>
              <a:rPr lang="en-US" dirty="0"/>
              <a:t> operations.</a:t>
            </a:r>
          </a:p>
          <a:p>
            <a:r>
              <a:rPr lang="en-IN" dirty="0"/>
              <a:t>Note : Consider A = 10 and B = 3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r>
              <a:rPr lang="en-US" sz="2000" dirty="0">
                <a:solidFill>
                  <a:srgbClr val="FF0000"/>
                </a:solidFill>
              </a:rPr>
              <a:t>Imp. Point: Python does not support pre/post increment(++)/decrement(--) operators </a:t>
            </a:r>
            <a:endParaRPr lang="en-IN" sz="2000" dirty="0">
              <a:solidFill>
                <a:srgbClr val="FF0000"/>
              </a:solidFill>
            </a:endParaRPr>
          </a:p>
          <a:p>
            <a:endParaRPr lang="en-IN" dirty="0"/>
          </a:p>
          <a:p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/>
        </p:nvGraphicFramePr>
        <p:xfrm>
          <a:off x="386225" y="2102666"/>
          <a:ext cx="11413357" cy="32918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42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682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Operator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Example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Output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+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Addition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 + B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Subtraction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 - B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/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Division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 / B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3.3333333333333335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*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Multiplication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IN" sz="2000" baseline="0" dirty="0">
                          <a:solidFill>
                            <a:schemeClr val="tx1"/>
                          </a:solidFill>
                        </a:rPr>
                        <a:t> * B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Modulus return the remainder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A % B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IN" sz="1900" dirty="0"/>
                        <a:t>//</a:t>
                      </a:r>
                      <a:endParaRPr lang="en-US" sz="19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Floor division returns the quotient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A // B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IN" sz="1900" dirty="0"/>
                        <a:t>**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Exponentiation 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A ** B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10 * 10 * 10 = 1000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4624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</a:t>
            </a:r>
            <a:r>
              <a:rPr lang="en-IN" dirty="0"/>
              <a:t>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Assignment Operators are used to </a:t>
            </a:r>
            <a:r>
              <a:rPr lang="en-US" dirty="0">
                <a:solidFill>
                  <a:srgbClr val="C00000"/>
                </a:solidFill>
              </a:rPr>
              <a:t>assign values to variables</a:t>
            </a:r>
            <a:r>
              <a:rPr lang="en-US" dirty="0"/>
              <a:t>. </a:t>
            </a:r>
          </a:p>
          <a:p>
            <a:r>
              <a:rPr lang="en-IN" dirty="0"/>
              <a:t>Note : Consider A = 3, B = 5 and C = 0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18199968"/>
              </p:ext>
            </p:extLst>
          </p:nvPr>
        </p:nvGraphicFramePr>
        <p:xfrm>
          <a:off x="475435" y="1783080"/>
          <a:ext cx="11413357" cy="370332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42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682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Operator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Example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Output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=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Assign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C = A + B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+=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Add and Assign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A+=B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-=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Subtract and Assign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A-=B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*=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Multiply and Assign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A*=B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/=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Divide and Assign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A/=B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0.6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%=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Modulus and Assign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A%=B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//=</a:t>
                      </a:r>
                      <a:endParaRPr lang="en-IN" sz="19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Divide(floor) and Assign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A//=B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IN" sz="1900" dirty="0"/>
                        <a:t>**=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Power and Assign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A**=B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243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48822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5386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DAB9A-3BD2-AF4F-BDF0-DE6DAB381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Relational Operators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10CF8-A27B-5F48-A09B-31FDF6AC57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Relational Operators are used for </a:t>
            </a:r>
            <a:r>
              <a:rPr lang="en-US" dirty="0">
                <a:solidFill>
                  <a:srgbClr val="C00000"/>
                </a:solidFill>
              </a:rPr>
              <a:t>comparing the values</a:t>
            </a:r>
            <a:r>
              <a:rPr lang="en-US" dirty="0"/>
              <a:t>. It either returns </a:t>
            </a:r>
            <a:r>
              <a:rPr lang="en-US" dirty="0">
                <a:solidFill>
                  <a:srgbClr val="C00000"/>
                </a:solidFill>
              </a:rPr>
              <a:t>True</a:t>
            </a:r>
            <a:r>
              <a:rPr lang="en-US" dirty="0"/>
              <a:t> or </a:t>
            </a:r>
            <a:r>
              <a:rPr lang="en-US" dirty="0">
                <a:solidFill>
                  <a:srgbClr val="C00000"/>
                </a:solidFill>
              </a:rPr>
              <a:t>False</a:t>
            </a:r>
            <a:r>
              <a:rPr lang="en-US" dirty="0"/>
              <a:t> according to the condition. </a:t>
            </a:r>
          </a:p>
          <a:p>
            <a:r>
              <a:rPr lang="en-IN" dirty="0"/>
              <a:t>Note : Consider A = 9, B = 5 </a:t>
            </a:r>
          </a:p>
          <a:p>
            <a:endParaRPr lang="en-IN" dirty="0"/>
          </a:p>
          <a:p>
            <a:endParaRPr lang="en-US" dirty="0"/>
          </a:p>
        </p:txBody>
      </p:sp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C2E19D27-DC77-9F45-B30D-34FD8E056936}"/>
              </a:ext>
            </a:extLst>
          </p:cNvPr>
          <p:cNvGraphicFramePr>
            <a:graphicFrameLocks/>
          </p:cNvGraphicFramePr>
          <p:nvPr/>
        </p:nvGraphicFramePr>
        <p:xfrm>
          <a:off x="389321" y="2218546"/>
          <a:ext cx="11413357" cy="28803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42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682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Operator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Example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Output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Greater than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 &gt; B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True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&lt;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Less than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 &lt; B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False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==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Equal to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 == B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False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!=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Not Equal to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 != B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True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&gt;=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Greater than or equal to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 &gt;= B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True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&lt;=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Less than or equal to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 &lt;= B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False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6686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Logical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Logical Operators are used to perform </a:t>
            </a:r>
            <a:r>
              <a:rPr lang="en-IN" dirty="0">
                <a:solidFill>
                  <a:srgbClr val="C00000"/>
                </a:solidFill>
              </a:rPr>
              <a:t>logical operations </a:t>
            </a:r>
            <a:r>
              <a:rPr lang="en-IN" dirty="0"/>
              <a:t>on the values of variables. The value is either </a:t>
            </a:r>
            <a:r>
              <a:rPr lang="en-IN" dirty="0">
                <a:solidFill>
                  <a:srgbClr val="C00000"/>
                </a:solidFill>
              </a:rPr>
              <a:t>True</a:t>
            </a:r>
            <a:r>
              <a:rPr lang="en-IN" dirty="0"/>
              <a:t> or </a:t>
            </a:r>
            <a:r>
              <a:rPr lang="en-IN" dirty="0">
                <a:solidFill>
                  <a:srgbClr val="C00000"/>
                </a:solidFill>
              </a:rPr>
              <a:t>False</a:t>
            </a:r>
            <a:r>
              <a:rPr lang="en-IN" dirty="0"/>
              <a:t>. We can figure out the conditions by the result of the </a:t>
            </a:r>
            <a:r>
              <a:rPr lang="en-IN" dirty="0">
                <a:solidFill>
                  <a:srgbClr val="C00000"/>
                </a:solidFill>
              </a:rPr>
              <a:t>truth values</a:t>
            </a:r>
            <a:r>
              <a:rPr lang="en-IN" dirty="0"/>
              <a:t>.</a:t>
            </a:r>
          </a:p>
          <a:p>
            <a:r>
              <a:rPr lang="en-IN" dirty="0"/>
              <a:t>Note : Consider A = 10 and B = 3</a:t>
            </a:r>
          </a:p>
        </p:txBody>
      </p:sp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D2765B38-A80D-994B-97AF-6A6DBFA71DE6}"/>
              </a:ext>
            </a:extLst>
          </p:cNvPr>
          <p:cNvGraphicFramePr>
            <a:graphicFrameLocks/>
          </p:cNvGraphicFramePr>
          <p:nvPr/>
        </p:nvGraphicFramePr>
        <p:xfrm>
          <a:off x="467380" y="2146052"/>
          <a:ext cx="11413357" cy="187452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42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682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Operator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Example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Output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IN" sz="1900" dirty="0"/>
                        <a:t>and</a:t>
                      </a:r>
                      <a:endParaRPr lang="en-US" sz="19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Returns True if both statements are true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 &gt; 5 </a:t>
                      </a:r>
                      <a:r>
                        <a:rPr lang="en-IN" sz="2000" b="1" dirty="0">
                          <a:solidFill>
                            <a:schemeClr val="tx1"/>
                          </a:solidFill>
                        </a:rPr>
                        <a:t>and</a:t>
                      </a:r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 B</a:t>
                      </a:r>
                      <a:r>
                        <a:rPr lang="en-IN" sz="2000" baseline="0" dirty="0">
                          <a:solidFill>
                            <a:schemeClr val="tx1"/>
                          </a:solidFill>
                        </a:rPr>
                        <a:t> &lt; 5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True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IN" sz="1900" dirty="0"/>
                        <a:t>or</a:t>
                      </a:r>
                      <a:endParaRPr lang="en-US" sz="19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Returns True if one of the statements is true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 &gt; 5 </a:t>
                      </a:r>
                      <a:r>
                        <a:rPr lang="en-IN" sz="2000" b="1" dirty="0">
                          <a:solidFill>
                            <a:schemeClr val="tx1"/>
                          </a:solidFill>
                        </a:rPr>
                        <a:t>or</a:t>
                      </a:r>
                      <a:r>
                        <a:rPr lang="en-IN" sz="2000" baseline="0" dirty="0">
                          <a:solidFill>
                            <a:schemeClr val="tx1"/>
                          </a:solidFill>
                        </a:rPr>
                        <a:t> B &gt; 5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True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IN" sz="1900" dirty="0"/>
                        <a:t>not</a:t>
                      </a:r>
                      <a:endParaRPr lang="en-US" sz="19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Negate the result, returns True if the result is False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</a:rPr>
                        <a:t>not</a:t>
                      </a:r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 ( A &gt; 5 )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False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3879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7298B-8B7E-F345-9A4E-7EE58EE38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Bitwise Operators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152B6-B3BC-2B47-87BC-1528C5DDD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Bitwise Operators are used to perform </a:t>
            </a:r>
            <a:r>
              <a:rPr lang="en-US" dirty="0">
                <a:solidFill>
                  <a:srgbClr val="C00000"/>
                </a:solidFill>
              </a:rPr>
              <a:t>bitwise calculations </a:t>
            </a:r>
            <a:r>
              <a:rPr lang="en-US" dirty="0"/>
              <a:t>on </a:t>
            </a:r>
            <a:r>
              <a:rPr lang="en-US" b="1" dirty="0"/>
              <a:t>integers</a:t>
            </a:r>
            <a:r>
              <a:rPr lang="en-US" dirty="0"/>
              <a:t>. The integers are first converted </a:t>
            </a:r>
            <a:r>
              <a:rPr lang="en-US" dirty="0">
                <a:solidFill>
                  <a:srgbClr val="C00000"/>
                </a:solidFill>
              </a:rPr>
              <a:t>into binary </a:t>
            </a:r>
            <a:r>
              <a:rPr lang="en-US" dirty="0"/>
              <a:t>and then operations are performed on </a:t>
            </a:r>
            <a:r>
              <a:rPr lang="en-US" dirty="0">
                <a:solidFill>
                  <a:srgbClr val="C00000"/>
                </a:solidFill>
              </a:rPr>
              <a:t>bit by bit</a:t>
            </a:r>
            <a:r>
              <a:rPr lang="en-US" dirty="0"/>
              <a:t>, hence the name Bitwise Operators. Then the result is returned in </a:t>
            </a:r>
            <a:r>
              <a:rPr lang="en-US" dirty="0">
                <a:solidFill>
                  <a:srgbClr val="C00000"/>
                </a:solidFill>
              </a:rPr>
              <a:t>decimal format</a:t>
            </a:r>
            <a:r>
              <a:rPr lang="en-US" dirty="0"/>
              <a:t>.</a:t>
            </a:r>
          </a:p>
          <a:p>
            <a:r>
              <a:rPr lang="en-IN" dirty="0"/>
              <a:t>Note : Consider A = 10(binary - 1010) and B = 4(binary - 0100)</a:t>
            </a:r>
          </a:p>
          <a:p>
            <a:endParaRPr lang="en-US" dirty="0"/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A50A5AEC-4046-D841-B2A4-4DB74A70DC3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16186095"/>
              </p:ext>
            </p:extLst>
          </p:nvPr>
        </p:nvGraphicFramePr>
        <p:xfrm>
          <a:off x="389321" y="2519629"/>
          <a:ext cx="11413357" cy="28803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42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682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Operator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Example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Output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&amp;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Bitwise AND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&amp; B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|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Bitwise OR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| B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14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~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Bitwise NOT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~A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-11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^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Bitwise XOR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^ B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&gt;&gt;</a:t>
                      </a:r>
                      <a:endParaRPr lang="en-US" sz="19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Bitwise right shift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A&gt;&gt;1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&lt;&lt;</a:t>
                      </a:r>
                      <a:endParaRPr lang="en-US" sz="19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Bitwise left shift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A&lt;&lt;1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5865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C435-276C-1244-8962-5344CC26D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B67FC1-5AE1-4D4F-88D6-A05CF33FD941}"/>
              </a:ext>
            </a:extLst>
          </p:cNvPr>
          <p:cNvSpPr/>
          <p:nvPr/>
        </p:nvSpPr>
        <p:spPr>
          <a:xfrm>
            <a:off x="801830" y="1122312"/>
            <a:ext cx="4550755" cy="53860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x , y = </a:t>
            </a:r>
            <a:r>
              <a:rPr lang="en-IN" sz="1400" dirty="0">
                <a:solidFill>
                  <a:srgbClr val="098658"/>
                </a:solidFill>
                <a:latin typeface="Menlo" panose="020B0609030804020204" pitchFamily="49" charset="0"/>
              </a:rPr>
              <a:t>5</a:t>
            </a:r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400" dirty="0">
                <a:solidFill>
                  <a:srgbClr val="098658"/>
                </a:solidFill>
                <a:latin typeface="Menlo" panose="020B0609030804020204" pitchFamily="49" charset="0"/>
              </a:rPr>
              <a:t>2</a:t>
            </a:r>
            <a:endParaRPr lang="en-IN" sz="1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a,b</a:t>
            </a:r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IN" sz="1400" dirty="0" err="1">
                <a:solidFill>
                  <a:srgbClr val="0000FF"/>
                </a:solidFill>
                <a:latin typeface="Menlo" panose="020B0609030804020204" pitchFamily="49" charset="0"/>
              </a:rPr>
              <a:t>True</a:t>
            </a:r>
            <a:r>
              <a:rPr lang="en-IN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400" dirty="0" err="1">
                <a:solidFill>
                  <a:srgbClr val="0000FF"/>
                </a:solidFill>
                <a:latin typeface="Menlo" panose="020B0609030804020204" pitchFamily="49" charset="0"/>
              </a:rPr>
              <a:t>False</a:t>
            </a:r>
            <a:endParaRPr lang="en-IN" sz="1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/>
            </a:r>
            <a:b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IN" sz="1400" dirty="0">
                <a:solidFill>
                  <a:srgbClr val="008000"/>
                </a:solidFill>
                <a:latin typeface="Menlo" panose="020B0609030804020204" pitchFamily="49" charset="0"/>
              </a:rPr>
              <a:t>#Arithmetic operator</a:t>
            </a:r>
            <a:endParaRPr lang="en-IN" sz="1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400" dirty="0">
                <a:solidFill>
                  <a:srgbClr val="A31515"/>
                </a:solidFill>
                <a:latin typeface="Menlo" panose="020B0609030804020204" pitchFamily="49" charset="0"/>
              </a:rPr>
              <a:t>'x // y ='</a:t>
            </a:r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,x//y)</a:t>
            </a:r>
          </a:p>
          <a:p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400" dirty="0">
                <a:solidFill>
                  <a:srgbClr val="A31515"/>
                </a:solidFill>
                <a:latin typeface="Menlo" panose="020B0609030804020204" pitchFamily="49" charset="0"/>
              </a:rPr>
              <a:t>'x ** y ='</a:t>
            </a:r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,x**y)</a:t>
            </a:r>
          </a:p>
          <a:p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/>
            </a:r>
            <a:b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IN" sz="1400" dirty="0">
                <a:solidFill>
                  <a:srgbClr val="008000"/>
                </a:solidFill>
                <a:latin typeface="Menlo" panose="020B0609030804020204" pitchFamily="49" charset="0"/>
              </a:rPr>
              <a:t>#</a:t>
            </a:r>
            <a:r>
              <a:rPr lang="en-IN" sz="1400" dirty="0" err="1">
                <a:solidFill>
                  <a:srgbClr val="008000"/>
                </a:solidFill>
                <a:latin typeface="Menlo" panose="020B0609030804020204" pitchFamily="49" charset="0"/>
              </a:rPr>
              <a:t>Assignemnt</a:t>
            </a:r>
            <a:r>
              <a:rPr lang="en-IN" sz="1400" dirty="0">
                <a:solidFill>
                  <a:srgbClr val="008000"/>
                </a:solidFill>
                <a:latin typeface="Menlo" panose="020B0609030804020204" pitchFamily="49" charset="0"/>
              </a:rPr>
              <a:t> Operator</a:t>
            </a:r>
            <a:endParaRPr lang="en-IN" sz="1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x+=</a:t>
            </a:r>
            <a:r>
              <a:rPr lang="en-IN" sz="1400" dirty="0">
                <a:solidFill>
                  <a:srgbClr val="098658"/>
                </a:solidFill>
                <a:latin typeface="Menlo" panose="020B0609030804020204" pitchFamily="49" charset="0"/>
              </a:rPr>
              <a:t>5</a:t>
            </a:r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400" dirty="0">
                <a:solidFill>
                  <a:srgbClr val="008000"/>
                </a:solidFill>
                <a:latin typeface="Menlo" panose="020B0609030804020204" pitchFamily="49" charset="0"/>
              </a:rPr>
              <a:t># x = 10 </a:t>
            </a:r>
            <a:endParaRPr lang="en-IN" sz="1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y+=</a:t>
            </a:r>
            <a:r>
              <a:rPr lang="en-IN" sz="1400" dirty="0">
                <a:solidFill>
                  <a:srgbClr val="098658"/>
                </a:solidFill>
                <a:latin typeface="Menlo" panose="020B0609030804020204" pitchFamily="49" charset="0"/>
              </a:rPr>
              <a:t>2</a:t>
            </a:r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400" dirty="0">
                <a:solidFill>
                  <a:srgbClr val="008000"/>
                </a:solidFill>
                <a:latin typeface="Menlo" panose="020B0609030804020204" pitchFamily="49" charset="0"/>
              </a:rPr>
              <a:t># y = 4</a:t>
            </a:r>
            <a:endParaRPr lang="en-IN" sz="1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400" dirty="0">
                <a:solidFill>
                  <a:srgbClr val="A31515"/>
                </a:solidFill>
                <a:latin typeface="Menlo" panose="020B0609030804020204" pitchFamily="49" charset="0"/>
              </a:rPr>
              <a:t>'x y ='</a:t>
            </a:r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x,y</a:t>
            </a:r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/>
            </a:r>
            <a:b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IN" sz="1400" dirty="0">
                <a:solidFill>
                  <a:srgbClr val="008000"/>
                </a:solidFill>
                <a:latin typeface="Menlo" panose="020B0609030804020204" pitchFamily="49" charset="0"/>
              </a:rPr>
              <a:t>#Comparison Operator</a:t>
            </a:r>
            <a:endParaRPr lang="en-IN" sz="1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400" dirty="0">
                <a:solidFill>
                  <a:srgbClr val="A31515"/>
                </a:solidFill>
                <a:latin typeface="Menlo" panose="020B0609030804020204" pitchFamily="49" charset="0"/>
              </a:rPr>
              <a:t>'x &gt;= y </a:t>
            </a:r>
            <a:r>
              <a:rPr lang="en-IN" sz="1400" dirty="0" err="1">
                <a:solidFill>
                  <a:srgbClr val="A31515"/>
                </a:solidFill>
                <a:latin typeface="Menlo" panose="020B0609030804020204" pitchFamily="49" charset="0"/>
              </a:rPr>
              <a:t>is'</a:t>
            </a:r>
            <a:r>
              <a:rPr lang="en-IN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,x</a:t>
            </a:r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&gt;=y)</a:t>
            </a:r>
          </a:p>
          <a:p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400" dirty="0">
                <a:solidFill>
                  <a:srgbClr val="A31515"/>
                </a:solidFill>
                <a:latin typeface="Menlo" panose="020B0609030804020204" pitchFamily="49" charset="0"/>
              </a:rPr>
              <a:t>'x &lt;= y </a:t>
            </a:r>
            <a:r>
              <a:rPr lang="en-IN" sz="1400" dirty="0" err="1">
                <a:solidFill>
                  <a:srgbClr val="A31515"/>
                </a:solidFill>
                <a:latin typeface="Menlo" panose="020B0609030804020204" pitchFamily="49" charset="0"/>
              </a:rPr>
              <a:t>is'</a:t>
            </a:r>
            <a:r>
              <a:rPr lang="en-IN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,x</a:t>
            </a:r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&lt;=y)</a:t>
            </a:r>
          </a:p>
          <a:p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/>
            </a:r>
            <a:b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IN" sz="1400" dirty="0">
                <a:solidFill>
                  <a:srgbClr val="008000"/>
                </a:solidFill>
                <a:latin typeface="Menlo" panose="020B0609030804020204" pitchFamily="49" charset="0"/>
              </a:rPr>
              <a:t>#Logical Operator</a:t>
            </a:r>
            <a:endParaRPr lang="en-IN" sz="1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400" dirty="0">
                <a:solidFill>
                  <a:srgbClr val="A31515"/>
                </a:solidFill>
                <a:latin typeface="Menlo" panose="020B0609030804020204" pitchFamily="49" charset="0"/>
              </a:rPr>
              <a:t>'x and y </a:t>
            </a:r>
            <a:r>
              <a:rPr lang="en-IN" sz="1400" dirty="0" err="1">
                <a:solidFill>
                  <a:srgbClr val="A31515"/>
                </a:solidFill>
                <a:latin typeface="Menlo" panose="020B0609030804020204" pitchFamily="49" charset="0"/>
              </a:rPr>
              <a:t>is'</a:t>
            </a:r>
            <a:r>
              <a:rPr lang="en-IN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,a</a:t>
            </a:r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latin typeface="Menlo" panose="020B0609030804020204" pitchFamily="49" charset="0"/>
              </a:rPr>
              <a:t>and</a:t>
            </a:r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 b)</a:t>
            </a:r>
          </a:p>
          <a:p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400" dirty="0">
                <a:solidFill>
                  <a:srgbClr val="A31515"/>
                </a:solidFill>
                <a:latin typeface="Menlo" panose="020B0609030804020204" pitchFamily="49" charset="0"/>
              </a:rPr>
              <a:t>'x or y </a:t>
            </a:r>
            <a:r>
              <a:rPr lang="en-IN" sz="1400" dirty="0" err="1">
                <a:solidFill>
                  <a:srgbClr val="A31515"/>
                </a:solidFill>
                <a:latin typeface="Menlo" panose="020B0609030804020204" pitchFamily="49" charset="0"/>
              </a:rPr>
              <a:t>is'</a:t>
            </a:r>
            <a:r>
              <a:rPr lang="en-IN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,a</a:t>
            </a:r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latin typeface="Menlo" panose="020B0609030804020204" pitchFamily="49" charset="0"/>
              </a:rPr>
              <a:t>or</a:t>
            </a:r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 b)</a:t>
            </a:r>
          </a:p>
          <a:p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400" dirty="0">
                <a:solidFill>
                  <a:srgbClr val="A31515"/>
                </a:solidFill>
                <a:latin typeface="Menlo" panose="020B0609030804020204" pitchFamily="49" charset="0"/>
              </a:rPr>
              <a:t>'not x </a:t>
            </a:r>
            <a:r>
              <a:rPr lang="en-IN" sz="1400" dirty="0" err="1">
                <a:solidFill>
                  <a:srgbClr val="A31515"/>
                </a:solidFill>
                <a:latin typeface="Menlo" panose="020B0609030804020204" pitchFamily="49" charset="0"/>
              </a:rPr>
              <a:t>is'</a:t>
            </a:r>
            <a:r>
              <a:rPr lang="en-IN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400" dirty="0" err="1">
                <a:solidFill>
                  <a:srgbClr val="0000FF"/>
                </a:solidFill>
                <a:latin typeface="Menlo" panose="020B0609030804020204" pitchFamily="49" charset="0"/>
              </a:rPr>
              <a:t>not</a:t>
            </a:r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 a)</a:t>
            </a:r>
          </a:p>
          <a:p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/>
            </a:r>
            <a:b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IN" sz="1400" dirty="0">
                <a:solidFill>
                  <a:srgbClr val="008000"/>
                </a:solidFill>
                <a:latin typeface="Menlo" panose="020B0609030804020204" pitchFamily="49" charset="0"/>
              </a:rPr>
              <a:t>#Bitwise Operators</a:t>
            </a:r>
            <a:endParaRPr lang="en-IN" sz="1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400" dirty="0">
                <a:solidFill>
                  <a:srgbClr val="A31515"/>
                </a:solidFill>
                <a:latin typeface="Menlo" panose="020B0609030804020204" pitchFamily="49" charset="0"/>
              </a:rPr>
              <a:t>'x &amp; y </a:t>
            </a:r>
            <a:r>
              <a:rPr lang="en-IN" sz="1400" dirty="0" err="1">
                <a:solidFill>
                  <a:srgbClr val="A31515"/>
                </a:solidFill>
                <a:latin typeface="Menlo" panose="020B0609030804020204" pitchFamily="49" charset="0"/>
              </a:rPr>
              <a:t>is'</a:t>
            </a:r>
            <a:r>
              <a:rPr lang="en-IN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,x</a:t>
            </a:r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 &amp; y)</a:t>
            </a:r>
          </a:p>
          <a:p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400" dirty="0">
                <a:solidFill>
                  <a:srgbClr val="A31515"/>
                </a:solidFill>
                <a:latin typeface="Menlo" panose="020B0609030804020204" pitchFamily="49" charset="0"/>
              </a:rPr>
              <a:t>'x | y </a:t>
            </a:r>
            <a:r>
              <a:rPr lang="en-IN" sz="1400" dirty="0" err="1">
                <a:solidFill>
                  <a:srgbClr val="A31515"/>
                </a:solidFill>
                <a:latin typeface="Menlo" panose="020B0609030804020204" pitchFamily="49" charset="0"/>
              </a:rPr>
              <a:t>is'</a:t>
            </a:r>
            <a:r>
              <a:rPr lang="en-IN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,x</a:t>
            </a:r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 | y)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A4F24A-435D-8B48-BE29-F78559C56C31}"/>
              </a:ext>
            </a:extLst>
          </p:cNvPr>
          <p:cNvSpPr/>
          <p:nvPr/>
        </p:nvSpPr>
        <p:spPr>
          <a:xfrm>
            <a:off x="301837" y="1122312"/>
            <a:ext cx="499993" cy="529375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15</a:t>
            </a:r>
          </a:p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16</a:t>
            </a:r>
          </a:p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17</a:t>
            </a:r>
          </a:p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18</a:t>
            </a:r>
          </a:p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19</a:t>
            </a:r>
          </a:p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20</a:t>
            </a:r>
          </a:p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21</a:t>
            </a:r>
          </a:p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22</a:t>
            </a:r>
          </a:p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23</a:t>
            </a:r>
          </a:p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24</a:t>
            </a:r>
          </a:p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25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EE6EBCAF-0D0F-B247-BA83-37E89C35E36D}"/>
              </a:ext>
            </a:extLst>
          </p:cNvPr>
          <p:cNvSpPr/>
          <p:nvPr/>
        </p:nvSpPr>
        <p:spPr>
          <a:xfrm>
            <a:off x="301837" y="793128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668655-6333-054B-B538-C364A37255F4}"/>
              </a:ext>
            </a:extLst>
          </p:cNvPr>
          <p:cNvSpPr/>
          <p:nvPr/>
        </p:nvSpPr>
        <p:spPr>
          <a:xfrm>
            <a:off x="6211983" y="1375334"/>
            <a:ext cx="3545334" cy="25545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x // y = 2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x ** y = 25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x  y = 10 4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x &gt;= y is True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x &lt;= y is False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x and y is False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x or y is True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not x is False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x &amp; y is 0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x | y is 14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ECE420CF-6D12-AE41-8275-CB62DCDBF9DC}"/>
              </a:ext>
            </a:extLst>
          </p:cNvPr>
          <p:cNvSpPr/>
          <p:nvPr/>
        </p:nvSpPr>
        <p:spPr>
          <a:xfrm>
            <a:off x="6211983" y="1058080"/>
            <a:ext cx="1262472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724824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uiExpand="1" build="p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Identity &amp; Membership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Identity Operator</a:t>
            </a:r>
          </a:p>
          <a:p>
            <a:pPr lvl="1"/>
            <a:r>
              <a:rPr lang="en-IN" dirty="0"/>
              <a:t>Note : consider A = [1,2], B = [1,2] and C=A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>
                <a:solidFill>
                  <a:srgbClr val="C00000"/>
                </a:solidFill>
              </a:rPr>
              <a:t>Membership Operator</a:t>
            </a:r>
          </a:p>
          <a:p>
            <a:pPr lvl="1"/>
            <a:r>
              <a:rPr lang="en-IN" dirty="0"/>
              <a:t>Note : consider A = 2 and B = [1,2,3]</a:t>
            </a:r>
          </a:p>
          <a:p>
            <a:endParaRPr lang="en-US" dirty="0"/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/>
        </p:nvGraphicFramePr>
        <p:xfrm>
          <a:off x="707173" y="1622538"/>
          <a:ext cx="8983237" cy="18135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01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04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62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11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Operator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Example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Output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is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Returns True if both variables are the </a:t>
                      </a:r>
                      <a:r>
                        <a:rPr lang="en-US" sz="1800" b="0" i="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same object</a:t>
                      </a:r>
                      <a:endParaRPr lang="en-US" sz="20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 is B</a:t>
                      </a:r>
                    </a:p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 is C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False</a:t>
                      </a:r>
                    </a:p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True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IN" sz="1900" dirty="0"/>
                        <a:t>is</a:t>
                      </a:r>
                      <a:r>
                        <a:rPr lang="en-IN" sz="1900" baseline="0" dirty="0"/>
                        <a:t> not</a:t>
                      </a:r>
                      <a:endParaRPr lang="en-US" sz="19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Returns True if both variables are </a:t>
                      </a:r>
                      <a:r>
                        <a:rPr lang="en-US" sz="1800" b="1" i="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different</a:t>
                      </a:r>
                      <a:r>
                        <a:rPr lang="en-US" sz="1800" b="0" i="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 object</a:t>
                      </a:r>
                      <a:endParaRPr lang="en-US" sz="20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 is not B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True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/>
        </p:nvGraphicFramePr>
        <p:xfrm>
          <a:off x="707173" y="4328682"/>
          <a:ext cx="8983237" cy="17526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01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64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70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06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Operator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Example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Output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in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Returns True if a sequence with the specified value is </a:t>
                      </a:r>
                      <a:r>
                        <a:rPr lang="en-US" sz="1800" b="0" i="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present in the object</a:t>
                      </a:r>
                      <a:endParaRPr lang="en-US" sz="20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 in B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True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IN" sz="1900" baseline="0" dirty="0"/>
                        <a:t>not in</a:t>
                      </a:r>
                      <a:endParaRPr lang="en-US" sz="19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Returns True if a sequence with the specified value is </a:t>
                      </a:r>
                      <a:r>
                        <a:rPr lang="en-US" sz="1800" b="0" i="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not present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 the object	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 not in B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False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C435-276C-1244-8962-5344CC26D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B67FC1-5AE1-4D4F-88D6-A05CF33FD941}"/>
              </a:ext>
            </a:extLst>
          </p:cNvPr>
          <p:cNvSpPr/>
          <p:nvPr/>
        </p:nvSpPr>
        <p:spPr>
          <a:xfrm>
            <a:off x="801829" y="1122312"/>
            <a:ext cx="5844297" cy="47705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x2 = 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'Hello'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y2 = 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'Hello'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x3 = [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2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3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]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y3 = x3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x = 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'Hello world'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y = {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'a'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2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'b'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z = [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2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3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4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5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]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IN" sz="1600" dirty="0">
                <a:solidFill>
                  <a:srgbClr val="008000"/>
                </a:solidFill>
                <a:latin typeface="Menlo" panose="020B0609030804020204" pitchFamily="49" charset="0"/>
              </a:rPr>
              <a:t># Identity Operator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"x2 is y2 = 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,x2 </a:t>
            </a:r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is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y2)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"x3 is y3 = 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,x3 </a:t>
            </a:r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is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y3)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"x2 is not y2 ="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,x2 </a:t>
            </a:r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is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not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y2)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IN" sz="1600" dirty="0">
                <a:solidFill>
                  <a:srgbClr val="008000"/>
                </a:solidFill>
                <a:latin typeface="Menlo" panose="020B0609030804020204" pitchFamily="49" charset="0"/>
              </a:rPr>
              <a:t># Membership Operator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"'H' in x = 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'H'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in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x)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"'hello' not in x = 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'hello'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not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in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x)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"5 in z = 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5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in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z)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"1 in y = 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in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y)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A4F24A-435D-8B48-BE29-F78559C56C31}"/>
              </a:ext>
            </a:extLst>
          </p:cNvPr>
          <p:cNvSpPr/>
          <p:nvPr/>
        </p:nvSpPr>
        <p:spPr>
          <a:xfrm>
            <a:off x="301837" y="1122312"/>
            <a:ext cx="499993" cy="47705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15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16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17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18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19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20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EE6EBCAF-0D0F-B247-BA83-37E89C35E36D}"/>
              </a:ext>
            </a:extLst>
          </p:cNvPr>
          <p:cNvSpPr/>
          <p:nvPr/>
        </p:nvSpPr>
        <p:spPr>
          <a:xfrm>
            <a:off x="301837" y="793128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668655-6333-054B-B538-C364A37255F4}"/>
              </a:ext>
            </a:extLst>
          </p:cNvPr>
          <p:cNvSpPr/>
          <p:nvPr/>
        </p:nvSpPr>
        <p:spPr>
          <a:xfrm>
            <a:off x="7382861" y="1415978"/>
            <a:ext cx="3545334" cy="18158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x2 is y2 =  True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x3 is y3 =  True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x2 is not y2 = False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'H' in x =  True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'hello' not in x = True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5 in z = True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1 in y = True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ECE420CF-6D12-AE41-8275-CB62DCDBF9DC}"/>
              </a:ext>
            </a:extLst>
          </p:cNvPr>
          <p:cNvSpPr/>
          <p:nvPr/>
        </p:nvSpPr>
        <p:spPr>
          <a:xfrm>
            <a:off x="7382861" y="1098724"/>
            <a:ext cx="1262472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913932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uiExpand="1" build="p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C137D2E-F7D0-465C-8541-F4CFBBD673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/>
              <a:t>shruti.maniar@darshan.ac.in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27C5C63-5136-498D-B5D5-B1F6385ED37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4FACC96-BA70-4FDA-AB13-3B133AD498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Computer Engineering Department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3A79D48-3C85-46E3-9CAE-59240F299A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Prof. Shruti R. Maniar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62CA4D6-180D-44EB-978C-EAE6FB447DC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IN" dirty="0"/>
              <a:t>Python Programming (</a:t>
            </a:r>
            <a:r>
              <a:rPr lang="en-IN" sz="1800" dirty="0">
                <a:effectLst/>
                <a:latin typeface="Roboto Condensed" panose="02000000000000000000" pitchFamily="2" charset="0"/>
              </a:rPr>
              <a:t>2301CS404</a:t>
            </a:r>
            <a:r>
              <a:rPr lang="en-IN" dirty="0"/>
              <a:t>)</a:t>
            </a:r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3886532"/>
          </a:xfrm>
        </p:spPr>
        <p:txBody>
          <a:bodyPr/>
          <a:lstStyle/>
          <a:p>
            <a: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Unit-02.2</a:t>
            </a:r>
            <a:r>
              <a:rPr lang="en-US" dirty="0"/>
              <a:t> </a:t>
            </a:r>
            <a:br>
              <a:rPr lang="en-US" dirty="0"/>
            </a:br>
            <a:r>
              <a:rPr lang="en-US" sz="5400" dirty="0"/>
              <a:t>Conditional and Looping Statements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A161DE45-276D-7849-BC99-BAB0D00EC12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</p:spTree>
    <p:extLst>
      <p:ext uri="{BB962C8B-B14F-4D97-AF65-F5344CB8AC3E}">
        <p14:creationId xmlns:p14="http://schemas.microsoft.com/office/powerpoint/2010/main" val="26667505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925EF2-D58F-4AC0-ACED-F747CC08D69F}"/>
              </a:ext>
            </a:extLst>
          </p:cNvPr>
          <p:cNvCxnSpPr>
            <a:cxnSpLocks/>
          </p:cNvCxnSpPr>
          <p:nvPr/>
        </p:nvCxnSpPr>
        <p:spPr>
          <a:xfrm>
            <a:off x="1191446" y="3614182"/>
            <a:ext cx="0" cy="266015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246540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4" y="712385"/>
            <a:ext cx="4909938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Outline</a:t>
            </a:r>
            <a:endParaRPr lang="en-US" b="1" dirty="0"/>
          </a:p>
          <a:p>
            <a:endParaRPr lang="en-US" b="1" dirty="0"/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if statement 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if-else statement 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nested if statement 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 err="1"/>
              <a:t>elif</a:t>
            </a:r>
            <a:r>
              <a:rPr lang="en-US" sz="2000" dirty="0"/>
              <a:t> statement 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for loop statement 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while loop statement </a:t>
            </a:r>
          </a:p>
          <a:p>
            <a:pPr indent="446088">
              <a:buFont typeface="Wingdings" pitchFamily="2" charset="2"/>
              <a:buChar char="ü"/>
            </a:pPr>
            <a:r>
              <a:rPr lang="en-IN" sz="2000" dirty="0"/>
              <a:t>break 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continue </a:t>
            </a:r>
          </a:p>
          <a:p>
            <a:pPr indent="446088">
              <a:buFont typeface="Wingdings" pitchFamily="2" charset="2"/>
              <a:buChar char="ü"/>
            </a:pPr>
            <a:r>
              <a:rPr lang="en-IN" sz="2000" dirty="0"/>
              <a:t>pass  </a:t>
            </a:r>
          </a:p>
        </p:txBody>
      </p:sp>
    </p:spTree>
    <p:extLst>
      <p:ext uri="{BB962C8B-B14F-4D97-AF65-F5344CB8AC3E}">
        <p14:creationId xmlns:p14="http://schemas.microsoft.com/office/powerpoint/2010/main" val="1462101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37355"/>
          </a:xfrm>
        </p:spPr>
        <p:txBody>
          <a:bodyPr/>
          <a:lstStyle/>
          <a:p>
            <a:r>
              <a:rPr lang="en-US" dirty="0"/>
              <a:t>The statements that help us to control the flow of execution in a program called </a:t>
            </a:r>
            <a:r>
              <a:rPr lang="en-US" dirty="0">
                <a:solidFill>
                  <a:srgbClr val="C00000"/>
                </a:solidFill>
              </a:rPr>
              <a:t>control statements.</a:t>
            </a:r>
          </a:p>
          <a:p>
            <a:r>
              <a:rPr lang="en-US" dirty="0"/>
              <a:t>There are two types of control statements.</a:t>
            </a:r>
          </a:p>
          <a:p>
            <a:r>
              <a:rPr lang="en-US" b="1" dirty="0">
                <a:solidFill>
                  <a:srgbClr val="C00000"/>
                </a:solidFill>
              </a:rPr>
              <a:t>Branching Statement </a:t>
            </a:r>
            <a:r>
              <a:rPr lang="en-US" b="1" dirty="0"/>
              <a:t>:</a:t>
            </a:r>
          </a:p>
          <a:p>
            <a:pPr lvl="1"/>
            <a:r>
              <a:rPr lang="en-US" dirty="0"/>
              <a:t>The statements that help us to select some statements for execution and skip other statements. </a:t>
            </a:r>
          </a:p>
          <a:p>
            <a:pPr lvl="1"/>
            <a:r>
              <a:rPr lang="en-US" dirty="0"/>
              <a:t>These statements are also called as </a:t>
            </a:r>
            <a:r>
              <a:rPr lang="en-US" b="1" dirty="0"/>
              <a:t>decision making statements </a:t>
            </a:r>
            <a:r>
              <a:rPr lang="en-US" dirty="0"/>
              <a:t>because they make decision based on some condition and select some statements for execution. </a:t>
            </a:r>
          </a:p>
          <a:p>
            <a:pPr lvl="1"/>
            <a:r>
              <a:rPr lang="en-US" dirty="0"/>
              <a:t>if statement </a:t>
            </a:r>
          </a:p>
          <a:p>
            <a:pPr lvl="1"/>
            <a:r>
              <a:rPr lang="en-US" dirty="0"/>
              <a:t>if-else statement </a:t>
            </a:r>
          </a:p>
          <a:p>
            <a:pPr lvl="1"/>
            <a:r>
              <a:rPr lang="en-US" dirty="0"/>
              <a:t>nested if statement </a:t>
            </a:r>
          </a:p>
          <a:p>
            <a:pPr lvl="1"/>
            <a:r>
              <a:rPr lang="en-US" dirty="0" err="1"/>
              <a:t>elif</a:t>
            </a:r>
            <a:r>
              <a:rPr lang="en-US" dirty="0"/>
              <a:t> statement </a:t>
            </a:r>
          </a:p>
          <a:p>
            <a:pPr lvl="1"/>
            <a:r>
              <a:rPr lang="en-US" dirty="0"/>
              <a:t>match case statement</a:t>
            </a:r>
          </a:p>
          <a:p>
            <a:r>
              <a:rPr lang="en-US" b="1" dirty="0">
                <a:solidFill>
                  <a:srgbClr val="C00000"/>
                </a:solidFill>
              </a:rPr>
              <a:t>Looping statements</a:t>
            </a:r>
            <a:r>
              <a:rPr lang="en-US" b="1" dirty="0"/>
              <a:t>: </a:t>
            </a:r>
          </a:p>
          <a:p>
            <a:pPr lvl="1"/>
            <a:r>
              <a:rPr lang="en-US" dirty="0"/>
              <a:t>The statements that help us to execute set of statements repeatedly are called as looping statements.</a:t>
            </a:r>
          </a:p>
          <a:p>
            <a:pPr lvl="1"/>
            <a:r>
              <a:rPr lang="en-US" dirty="0"/>
              <a:t>for loop statement</a:t>
            </a:r>
          </a:p>
          <a:p>
            <a:pPr lvl="1"/>
            <a:r>
              <a:rPr lang="en-US" dirty="0"/>
              <a:t>while loop statement </a:t>
            </a:r>
          </a:p>
          <a:p>
            <a:pPr marL="0" indent="0">
              <a:buNone/>
            </a:pPr>
            <a:r>
              <a:rPr lang="en-US" b="1" dirty="0"/>
              <a:t/>
            </a:r>
            <a:br>
              <a:rPr lang="en-US" b="1" dirty="0"/>
            </a:br>
            <a:endParaRPr lang="en-US" b="1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6209373" y="5149701"/>
            <a:ext cx="3191481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/>
              </a:rPr>
              <a:t>X is greater than 5</a:t>
            </a:r>
            <a:endParaRPr lang="en-IN" sz="1600" b="1" dirty="0">
              <a:latin typeface="Consolas" pitchFamily="49" charset="0"/>
              <a:cs typeface="Consolas" panose="020B0609020204030204" pitchFamily="49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709379" y="5149701"/>
            <a:ext cx="4999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23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709379" y="4820517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if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6662" y="877239"/>
            <a:ext cx="11929641" cy="2075386"/>
          </a:xfrm>
        </p:spPr>
        <p:txBody>
          <a:bodyPr/>
          <a:lstStyle/>
          <a:p>
            <a:r>
              <a:rPr lang="en-US" dirty="0"/>
              <a:t>if statement is written using the </a:t>
            </a:r>
            <a:r>
              <a:rPr lang="en-US" b="1" dirty="0"/>
              <a:t>if</a:t>
            </a:r>
            <a:r>
              <a:rPr lang="en-US" dirty="0"/>
              <a:t> keyword followed by </a:t>
            </a:r>
            <a:r>
              <a:rPr lang="en-US" b="1" dirty="0">
                <a:solidFill>
                  <a:srgbClr val="C00000"/>
                </a:solidFill>
              </a:rPr>
              <a:t>condition</a:t>
            </a:r>
            <a:r>
              <a:rPr lang="en-US" dirty="0"/>
              <a:t> and </a:t>
            </a:r>
            <a:r>
              <a:rPr lang="en-US" b="1" dirty="0">
                <a:solidFill>
                  <a:srgbClr val="C00000"/>
                </a:solidFill>
              </a:rPr>
              <a:t>colon</a:t>
            </a:r>
            <a:r>
              <a:rPr lang="en-US" dirty="0"/>
              <a:t>(</a:t>
            </a:r>
            <a:r>
              <a:rPr lang="en-US" b="1" dirty="0"/>
              <a:t>:</a:t>
            </a:r>
            <a:r>
              <a:rPr lang="en-US" dirty="0"/>
              <a:t>) .</a:t>
            </a:r>
          </a:p>
          <a:p>
            <a:r>
              <a:rPr lang="en-IN" dirty="0"/>
              <a:t>Code to execute when the condition is true will be ideally written in the next line with </a:t>
            </a:r>
            <a:r>
              <a:rPr lang="en-IN" b="1" dirty="0">
                <a:solidFill>
                  <a:srgbClr val="C00000"/>
                </a:solidFill>
              </a:rPr>
              <a:t>indentation</a:t>
            </a:r>
            <a:r>
              <a:rPr lang="en-IN" dirty="0"/>
              <a:t> (white space).</a:t>
            </a:r>
          </a:p>
          <a:p>
            <a:r>
              <a:rPr lang="en-US" dirty="0"/>
              <a:t>Python relies on indentation to define scope in the code (Other programming languages often use curly-brackets for this purpose).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83709" y="3448532"/>
            <a:ext cx="8472276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if </a:t>
            </a:r>
            <a:r>
              <a:rPr lang="en-IN" sz="1600" b="1" dirty="0" err="1">
                <a:latin typeface="Consolas" pitchFamily="49" charset="0"/>
                <a:cs typeface="Consolas" panose="020B0609020204030204" pitchFamily="49" charset="0"/>
              </a:rPr>
              <a:t>some_condition</a:t>
            </a:r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 </a:t>
            </a:r>
            <a:r>
              <a:rPr lang="en-IN" sz="1600" b="1" dirty="0">
                <a:solidFill>
                  <a:srgbClr val="FF0000"/>
                </a:solidFill>
                <a:latin typeface="Consolas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   # Code to execute when condition is true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83716" y="3448532"/>
            <a:ext cx="499993" cy="584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83716" y="3119348"/>
            <a:ext cx="128618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10" name="Line Callout 1 9"/>
          <p:cNvSpPr/>
          <p:nvPr/>
        </p:nvSpPr>
        <p:spPr>
          <a:xfrm>
            <a:off x="4045259" y="3049964"/>
            <a:ext cx="4495800" cy="626533"/>
          </a:xfrm>
          <a:prstGeom prst="borderCallout1">
            <a:avLst>
              <a:gd name="adj1" fmla="val 53885"/>
              <a:gd name="adj2" fmla="val -612"/>
              <a:gd name="adj3" fmla="val 89527"/>
              <a:gd name="adj4" fmla="val -14792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if statement ends with </a:t>
            </a:r>
            <a:r>
              <a:rPr lang="en-IN" b="1" dirty="0">
                <a:solidFill>
                  <a:srgbClr val="FF0000"/>
                </a:solidFill>
              </a:rPr>
              <a:t>: 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1" name="Line Callout 1 10"/>
          <p:cNvSpPr/>
          <p:nvPr/>
        </p:nvSpPr>
        <p:spPr>
          <a:xfrm>
            <a:off x="2245569" y="4065393"/>
            <a:ext cx="4495800" cy="626533"/>
          </a:xfrm>
          <a:prstGeom prst="borderCallout1">
            <a:avLst>
              <a:gd name="adj1" fmla="val 53885"/>
              <a:gd name="adj2" fmla="val -612"/>
              <a:gd name="adj3" fmla="val -23622"/>
              <a:gd name="adj4" fmla="val -21648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Indentation (tab/whitespace) at the beginning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225835" y="5149701"/>
            <a:ext cx="4003711" cy="11079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10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/>
              </a:rPr>
            </a:br>
            <a:r>
              <a:rPr lang="en-US" sz="1600" dirty="0">
                <a:solidFill>
                  <a:srgbClr val="0000FF"/>
                </a:solidFill>
                <a:latin typeface="Consolas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x &gt; 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5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"X is greater than 5"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725842" y="5149701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7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725842" y="4820517"/>
            <a:ext cx="128618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ifdemo.py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 animBg="1"/>
      <p:bldP spid="22" grpId="0" animBg="1"/>
      <p:bldP spid="23" grpId="0" animBg="1"/>
      <p:bldP spid="3" grpId="0" build="p"/>
      <p:bldP spid="4" grpId="0" uiExpand="1" build="p" animBg="1"/>
      <p:bldP spid="5" grpId="0" animBg="1"/>
      <p:bldP spid="6" grpId="0" animBg="1"/>
      <p:bldP spid="10" grpId="0" animBg="1"/>
      <p:bldP spid="10" grpId="1" animBg="1"/>
      <p:bldP spid="11" grpId="0" animBg="1"/>
      <p:bldP spid="11" grpId="1" animBg="1"/>
      <p:bldP spid="15" grpId="0" build="p" animBg="1"/>
      <p:bldP spid="16" grpId="0" animBg="1"/>
      <p:bldP spid="1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6037093" y="4141305"/>
            <a:ext cx="3191481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/>
              </a:rPr>
              <a:t>X is less than 5</a:t>
            </a:r>
            <a:endParaRPr lang="en-IN" sz="1600" b="1" dirty="0">
              <a:latin typeface="Consolas" pitchFamily="49" charset="0"/>
              <a:cs typeface="Consolas" panose="020B0609020204030204" pitchFamily="49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537099" y="4141305"/>
            <a:ext cx="4999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23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537099" y="3812121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if else statement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983348" y="2139513"/>
            <a:ext cx="8472276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if </a:t>
            </a:r>
            <a:r>
              <a:rPr lang="en-IN" sz="1600" b="1" dirty="0" err="1">
                <a:latin typeface="Consolas" pitchFamily="49" charset="0"/>
                <a:cs typeface="Consolas" panose="020B0609020204030204" pitchFamily="49" charset="0"/>
              </a:rPr>
              <a:t>some_condition</a:t>
            </a:r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 </a:t>
            </a:r>
            <a:r>
              <a:rPr lang="en-IN" sz="1600" b="1" dirty="0">
                <a:solidFill>
                  <a:srgbClr val="FF0000"/>
                </a:solidFill>
                <a:latin typeface="Consolas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   # Code to execute when condition is true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else </a:t>
            </a:r>
            <a:r>
              <a:rPr lang="en-IN" sz="1600" b="1" dirty="0">
                <a:solidFill>
                  <a:srgbClr val="FF0000"/>
                </a:solidFill>
                <a:latin typeface="Consolas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   # Code to execute when condition is false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493629" y="2139513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483355" y="1810329"/>
            <a:ext cx="128618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9777" y="4042617"/>
            <a:ext cx="4003711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3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/>
              </a:rPr>
            </a:br>
            <a:r>
              <a:rPr lang="en-US" sz="1600" dirty="0">
                <a:solidFill>
                  <a:srgbClr val="0000FF"/>
                </a:solidFill>
                <a:latin typeface="Consolas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x &gt; 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5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"X is greater than 5"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"X is less than 5"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9784" y="4042617"/>
            <a:ext cx="499993" cy="15696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7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9784" y="3713433"/>
            <a:ext cx="161332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ifelsedemo.py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4D433581-105A-E74B-A642-64AA64279F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62" y="877239"/>
            <a:ext cx="11929641" cy="933090"/>
          </a:xfrm>
        </p:spPr>
        <p:txBody>
          <a:bodyPr/>
          <a:lstStyle/>
          <a:p>
            <a:r>
              <a:rPr lang="en-US" dirty="0"/>
              <a:t>This is basically a </a:t>
            </a:r>
            <a:r>
              <a:rPr lang="en-US" dirty="0">
                <a:solidFill>
                  <a:srgbClr val="C00000"/>
                </a:solidFill>
              </a:rPr>
              <a:t>“two-way” </a:t>
            </a:r>
            <a:r>
              <a:rPr lang="en-US" dirty="0"/>
              <a:t>decision statement. This is used when we must choose between two alternatives.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 animBg="1"/>
      <p:bldP spid="22" grpId="0" animBg="1"/>
      <p:bldP spid="23" grpId="0" animBg="1"/>
      <p:bldP spid="4" grpId="0" build="p" animBg="1"/>
      <p:bldP spid="5" grpId="0" animBg="1"/>
      <p:bldP spid="6" grpId="0" animBg="1"/>
      <p:bldP spid="15" grpId="0" build="p" animBg="1"/>
      <p:bldP spid="16" grpId="0" animBg="1"/>
      <p:bldP spid="17" grpId="0" animBg="1"/>
      <p:bldP spid="24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90B7D-8F60-0E49-89E6-050F4167A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if else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F65145-CDAE-4045-93D5-BD075ACCFAFC}"/>
              </a:ext>
            </a:extLst>
          </p:cNvPr>
          <p:cNvSpPr/>
          <p:nvPr/>
        </p:nvSpPr>
        <p:spPr>
          <a:xfrm>
            <a:off x="817904" y="1210207"/>
            <a:ext cx="6363481" cy="16312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8000"/>
                </a:solidFill>
                <a:latin typeface="Consolas"/>
              </a:rPr>
              <a:t># Program checks if the number is positive or negative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num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(input(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"Enter Number="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))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num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&gt;= 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"Positive number"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 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"Negative number"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  <a:endParaRPr lang="en-US" sz="1600" b="0" dirty="0">
              <a:solidFill>
                <a:srgbClr val="000000"/>
              </a:solidFill>
              <a:effectLst/>
              <a:latin typeface="Consola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F5CC2-3A89-B043-BD8A-E3175815A0AF}"/>
              </a:ext>
            </a:extLst>
          </p:cNvPr>
          <p:cNvSpPr/>
          <p:nvPr/>
        </p:nvSpPr>
        <p:spPr>
          <a:xfrm>
            <a:off x="317911" y="1210207"/>
            <a:ext cx="499993" cy="15696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20B5B0D4-A0BB-DB45-84B6-5E79CA39BDB9}"/>
              </a:ext>
            </a:extLst>
          </p:cNvPr>
          <p:cNvSpPr/>
          <p:nvPr/>
        </p:nvSpPr>
        <p:spPr>
          <a:xfrm>
            <a:off x="317911" y="881023"/>
            <a:ext cx="161332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Example1.py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0B4F37-3094-E849-9E2B-14CBE0612EF8}"/>
              </a:ext>
            </a:extLst>
          </p:cNvPr>
          <p:cNvSpPr/>
          <p:nvPr/>
        </p:nvSpPr>
        <p:spPr>
          <a:xfrm>
            <a:off x="7522016" y="1210207"/>
            <a:ext cx="3691475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/>
              </a:rPr>
              <a:t>Enter Number = 5</a:t>
            </a:r>
          </a:p>
          <a:p>
            <a:r>
              <a:rPr lang="en-US" sz="1600" dirty="0">
                <a:latin typeface="Consolas"/>
              </a:rPr>
              <a:t>Positive number  </a:t>
            </a:r>
            <a:endParaRPr lang="en-IN" sz="1600" b="1" dirty="0">
              <a:latin typeface="Consolas" pitchFamily="49" charset="0"/>
              <a:cs typeface="Consolas" panose="020B0609020204030204" pitchFamily="49" charset="0"/>
            </a:endParaRPr>
          </a:p>
        </p:txBody>
      </p:sp>
      <p:sp>
        <p:nvSpPr>
          <p:cNvPr id="9" name="Rectangle: Top Corners Rounded 6">
            <a:extLst>
              <a:ext uri="{FF2B5EF4-FFF2-40B4-BE49-F238E27FC236}">
                <a16:creationId xmlns:a16="http://schemas.microsoft.com/office/drawing/2014/main" id="{DBEFB88B-CA9A-664B-9952-4B4FE69CA22F}"/>
              </a:ext>
            </a:extLst>
          </p:cNvPr>
          <p:cNvSpPr/>
          <p:nvPr/>
        </p:nvSpPr>
        <p:spPr>
          <a:xfrm>
            <a:off x="7522016" y="881023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28896A-65EE-0C48-8F3B-7891AA8BE8A2}"/>
              </a:ext>
            </a:extLst>
          </p:cNvPr>
          <p:cNvSpPr/>
          <p:nvPr/>
        </p:nvSpPr>
        <p:spPr>
          <a:xfrm>
            <a:off x="817904" y="3684457"/>
            <a:ext cx="6363481" cy="16312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8000"/>
                </a:solidFill>
                <a:latin typeface="Consolas"/>
              </a:rPr>
              <a:t># Program checks if the number is Odd or Even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num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(input(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"Enter Number="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))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num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% 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== 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"Even number"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 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"Odd number"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  <a:endParaRPr lang="en-US" sz="1600" b="0" dirty="0">
              <a:solidFill>
                <a:srgbClr val="000000"/>
              </a:solidFill>
              <a:effectLst/>
              <a:latin typeface="Consola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225EAC-B0D2-2642-B40C-4A245AB3AFB9}"/>
              </a:ext>
            </a:extLst>
          </p:cNvPr>
          <p:cNvSpPr/>
          <p:nvPr/>
        </p:nvSpPr>
        <p:spPr>
          <a:xfrm>
            <a:off x="317911" y="3684457"/>
            <a:ext cx="499993" cy="15696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</p:txBody>
      </p:sp>
      <p:sp>
        <p:nvSpPr>
          <p:cNvPr id="12" name="Rectangle: Top Corners Rounded 6">
            <a:extLst>
              <a:ext uri="{FF2B5EF4-FFF2-40B4-BE49-F238E27FC236}">
                <a16:creationId xmlns:a16="http://schemas.microsoft.com/office/drawing/2014/main" id="{85AC9D8B-FA44-9647-8475-2166DC4208DE}"/>
              </a:ext>
            </a:extLst>
          </p:cNvPr>
          <p:cNvSpPr/>
          <p:nvPr/>
        </p:nvSpPr>
        <p:spPr>
          <a:xfrm>
            <a:off x="317911" y="3355273"/>
            <a:ext cx="161332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Example2.py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5F1F1A2-2578-9D4D-9165-01F387AA11B6}"/>
              </a:ext>
            </a:extLst>
          </p:cNvPr>
          <p:cNvSpPr/>
          <p:nvPr/>
        </p:nvSpPr>
        <p:spPr>
          <a:xfrm>
            <a:off x="7522016" y="3684457"/>
            <a:ext cx="3691475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/>
              </a:rPr>
              <a:t>Enter Number = 4</a:t>
            </a:r>
          </a:p>
          <a:p>
            <a:r>
              <a:rPr lang="en-US" sz="1600" dirty="0">
                <a:latin typeface="Consolas"/>
              </a:rPr>
              <a:t>Positive number  </a:t>
            </a:r>
            <a:endParaRPr lang="en-IN" sz="1600" b="1" dirty="0">
              <a:latin typeface="Consolas" pitchFamily="49" charset="0"/>
              <a:cs typeface="Consolas" panose="020B0609020204030204" pitchFamily="49" charset="0"/>
            </a:endParaRPr>
          </a:p>
        </p:txBody>
      </p:sp>
      <p:sp>
        <p:nvSpPr>
          <p:cNvPr id="14" name="Rectangle: Top Corners Rounded 6">
            <a:extLst>
              <a:ext uri="{FF2B5EF4-FFF2-40B4-BE49-F238E27FC236}">
                <a16:creationId xmlns:a16="http://schemas.microsoft.com/office/drawing/2014/main" id="{EEC407E8-CCAB-C24C-88D7-D630F8551F3F}"/>
              </a:ext>
            </a:extLst>
          </p:cNvPr>
          <p:cNvSpPr/>
          <p:nvPr/>
        </p:nvSpPr>
        <p:spPr>
          <a:xfrm>
            <a:off x="7522016" y="3355273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045932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9" grpId="0" animBg="1"/>
      <p:bldP spid="10" grpId="0" build="p" animBg="1"/>
      <p:bldP spid="11" grpId="0" animBg="1"/>
      <p:bldP spid="12" grpId="0" animBg="1"/>
      <p:bldP spid="13" grpId="0" build="p" animBg="1"/>
      <p:bldP spid="1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Nested if statement</a:t>
            </a:r>
            <a:endParaRPr lang="en-US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4D433581-105A-E74B-A642-64AA64279F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62" y="877236"/>
            <a:ext cx="11929641" cy="433080"/>
          </a:xfrm>
        </p:spPr>
        <p:txBody>
          <a:bodyPr/>
          <a:lstStyle/>
          <a:p>
            <a:r>
              <a:rPr lang="en-IN" dirty="0"/>
              <a:t>An if-else statement is written within </a:t>
            </a:r>
            <a:r>
              <a:rPr lang="en-IN" dirty="0">
                <a:solidFill>
                  <a:srgbClr val="C00000"/>
                </a:solidFill>
              </a:rPr>
              <a:t>another if-else </a:t>
            </a:r>
            <a:r>
              <a:rPr lang="en-IN" dirty="0"/>
              <a:t>statement is called nested if statement. </a:t>
            </a:r>
          </a:p>
          <a:p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7055F7-BBBC-384C-8822-8FC2A61C344E}"/>
              </a:ext>
            </a:extLst>
          </p:cNvPr>
          <p:cNvSpPr/>
          <p:nvPr/>
        </p:nvSpPr>
        <p:spPr>
          <a:xfrm>
            <a:off x="1029777" y="1719797"/>
            <a:ext cx="5549443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if some_condition1 </a:t>
            </a:r>
            <a:r>
              <a:rPr lang="en-IN" sz="1600" b="1" dirty="0">
                <a:solidFill>
                  <a:srgbClr val="FF0000"/>
                </a:solidFill>
                <a:latin typeface="Consolas" pitchFamily="49" charset="0"/>
                <a:cs typeface="Consolas" panose="020B0609020204030204" pitchFamily="49" charset="0"/>
              </a:rPr>
              <a:t>:</a:t>
            </a:r>
          </a:p>
          <a:p>
            <a:pPr lvl="1"/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if some_condition2 </a:t>
            </a:r>
            <a:r>
              <a:rPr lang="en-IN" sz="1600" b="1" dirty="0">
                <a:solidFill>
                  <a:srgbClr val="FF0000"/>
                </a:solidFill>
                <a:latin typeface="Consolas" pitchFamily="49" charset="0"/>
                <a:cs typeface="Consolas" panose="020B0609020204030204" pitchFamily="49" charset="0"/>
              </a:rPr>
              <a:t>:</a:t>
            </a:r>
          </a:p>
          <a:p>
            <a:pPr lvl="1"/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   # Code to execute when condition is true</a:t>
            </a:r>
          </a:p>
          <a:p>
            <a:pPr lvl="1"/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else </a:t>
            </a:r>
            <a:r>
              <a:rPr lang="en-IN" sz="1600" b="1" dirty="0">
                <a:solidFill>
                  <a:srgbClr val="FF0000"/>
                </a:solidFill>
                <a:latin typeface="Consolas" pitchFamily="49" charset="0"/>
                <a:cs typeface="Consolas" panose="020B0609020204030204" pitchFamily="49" charset="0"/>
              </a:rPr>
              <a:t>:</a:t>
            </a:r>
          </a:p>
          <a:p>
            <a:pPr lvl="1"/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   # Code to execute when condition is false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DC03DB8-FDAF-C746-B78E-5672348FAF06}"/>
              </a:ext>
            </a:extLst>
          </p:cNvPr>
          <p:cNvSpPr/>
          <p:nvPr/>
        </p:nvSpPr>
        <p:spPr>
          <a:xfrm>
            <a:off x="540058" y="1719797"/>
            <a:ext cx="499993" cy="1323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6" name="Rectangle: Top Corners Rounded 6">
            <a:extLst>
              <a:ext uri="{FF2B5EF4-FFF2-40B4-BE49-F238E27FC236}">
                <a16:creationId xmlns:a16="http://schemas.microsoft.com/office/drawing/2014/main" id="{3D7655BF-CA24-7D41-BCD9-F97C7C5722A9}"/>
              </a:ext>
            </a:extLst>
          </p:cNvPr>
          <p:cNvSpPr/>
          <p:nvPr/>
        </p:nvSpPr>
        <p:spPr>
          <a:xfrm>
            <a:off x="529784" y="1390613"/>
            <a:ext cx="128618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8866395-ADD6-824A-90D3-9B4BCD50803C}"/>
              </a:ext>
            </a:extLst>
          </p:cNvPr>
          <p:cNvSpPr/>
          <p:nvPr/>
        </p:nvSpPr>
        <p:spPr>
          <a:xfrm>
            <a:off x="1040051" y="3701604"/>
            <a:ext cx="6363481" cy="21236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num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= float(input(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"Enter a number: 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))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num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&gt;= 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num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== 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    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"Zero"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    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"Positive number"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"Negative number"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  <a:endParaRPr lang="en-US" sz="1600" dirty="0">
              <a:solidFill>
                <a:srgbClr val="000000"/>
              </a:solidFill>
              <a:effectLst/>
              <a:latin typeface="Consola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E725AA6-02FF-D14C-883F-4D6A4B1113ED}"/>
              </a:ext>
            </a:extLst>
          </p:cNvPr>
          <p:cNvSpPr/>
          <p:nvPr/>
        </p:nvSpPr>
        <p:spPr>
          <a:xfrm>
            <a:off x="540058" y="3701604"/>
            <a:ext cx="499993" cy="20621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</p:txBody>
      </p:sp>
      <p:sp>
        <p:nvSpPr>
          <p:cNvPr id="22" name="Rectangle: Top Corners Rounded 6">
            <a:extLst>
              <a:ext uri="{FF2B5EF4-FFF2-40B4-BE49-F238E27FC236}">
                <a16:creationId xmlns:a16="http://schemas.microsoft.com/office/drawing/2014/main" id="{ED29D29E-0900-9E44-9B68-619A4C32F87D}"/>
              </a:ext>
            </a:extLst>
          </p:cNvPr>
          <p:cNvSpPr/>
          <p:nvPr/>
        </p:nvSpPr>
        <p:spPr>
          <a:xfrm>
            <a:off x="540058" y="3372420"/>
            <a:ext cx="161332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Example1.py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530ADCF-0409-444B-99ED-F46CD2336543}"/>
              </a:ext>
            </a:extLst>
          </p:cNvPr>
          <p:cNvSpPr/>
          <p:nvPr/>
        </p:nvSpPr>
        <p:spPr>
          <a:xfrm>
            <a:off x="7867703" y="1988460"/>
            <a:ext cx="3691475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/>
              </a:rPr>
              <a:t>Enter a Number = 4</a:t>
            </a:r>
          </a:p>
          <a:p>
            <a:r>
              <a:rPr lang="en-US" sz="1600" dirty="0">
                <a:latin typeface="Consolas"/>
              </a:rPr>
              <a:t>Positive number  </a:t>
            </a:r>
            <a:endParaRPr lang="en-IN" sz="1600" b="1" dirty="0">
              <a:latin typeface="Consolas" pitchFamily="49" charset="0"/>
              <a:cs typeface="Consolas" panose="020B0609020204030204" pitchFamily="49" charset="0"/>
            </a:endParaRPr>
          </a:p>
        </p:txBody>
      </p:sp>
      <p:sp>
        <p:nvSpPr>
          <p:cNvPr id="25" name="Rectangle: Top Corners Rounded 6">
            <a:extLst>
              <a:ext uri="{FF2B5EF4-FFF2-40B4-BE49-F238E27FC236}">
                <a16:creationId xmlns:a16="http://schemas.microsoft.com/office/drawing/2014/main" id="{3A2018FF-0AB6-684B-92E4-5227DF5CB6B7}"/>
              </a:ext>
            </a:extLst>
          </p:cNvPr>
          <p:cNvSpPr/>
          <p:nvPr/>
        </p:nvSpPr>
        <p:spPr>
          <a:xfrm>
            <a:off x="7867703" y="1659276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846111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uild="p"/>
      <p:bldP spid="12" grpId="0" build="p" animBg="1"/>
      <p:bldP spid="15" grpId="0" animBg="1"/>
      <p:bldP spid="16" grpId="0" animBg="1"/>
      <p:bldP spid="17" grpId="0" build="p" animBg="1"/>
      <p:bldP spid="21" grpId="0" animBg="1"/>
      <p:bldP spid="22" grpId="0" animBg="1"/>
      <p:bldP spid="23" grpId="0" build="p" animBg="1"/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A35BB-0B94-C145-9DA1-CDBD9FA8B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7BE88C-ACE8-C544-9FE7-58AC68CE0A6A}"/>
              </a:ext>
            </a:extLst>
          </p:cNvPr>
          <p:cNvSpPr/>
          <p:nvPr/>
        </p:nvSpPr>
        <p:spPr>
          <a:xfrm>
            <a:off x="820813" y="1272700"/>
            <a:ext cx="4877460" cy="42780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8000"/>
                </a:solidFill>
                <a:latin typeface="Consolas"/>
              </a:rPr>
              <a:t># find maximum number from three number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a =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(input(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"Enter A="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b =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(input(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"Enter B="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c =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(input(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"Enter C="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/>
              </a:rPr>
            </a:br>
            <a:r>
              <a:rPr lang="en-US" sz="1600" dirty="0">
                <a:solidFill>
                  <a:srgbClr val="0000FF"/>
                </a:solidFill>
                <a:latin typeface="Consolas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a&gt;b: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a&gt;c: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    g=a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    g=c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b&gt;c: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    g=b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    g=c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/>
              </a:rPr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"Greater  = 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,g)</a:t>
            </a:r>
            <a:endParaRPr lang="en-US" sz="1600" dirty="0">
              <a:solidFill>
                <a:srgbClr val="000000"/>
              </a:solidFill>
              <a:effectLst/>
              <a:latin typeface="Consola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0EBBE1-0CC7-1E43-9A06-8C22C45AAEA7}"/>
              </a:ext>
            </a:extLst>
          </p:cNvPr>
          <p:cNvSpPr/>
          <p:nvPr/>
        </p:nvSpPr>
        <p:spPr>
          <a:xfrm>
            <a:off x="320820" y="1272700"/>
            <a:ext cx="499993" cy="42780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17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75E94693-F33F-F64F-A741-A1A7B5E1B42A}"/>
              </a:ext>
            </a:extLst>
          </p:cNvPr>
          <p:cNvSpPr/>
          <p:nvPr/>
        </p:nvSpPr>
        <p:spPr>
          <a:xfrm>
            <a:off x="320820" y="943516"/>
            <a:ext cx="161332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Example1.py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6CEDBA-0B2C-CC4E-B5A3-1BC5DC5E702C}"/>
              </a:ext>
            </a:extLst>
          </p:cNvPr>
          <p:cNvSpPr/>
          <p:nvPr/>
        </p:nvSpPr>
        <p:spPr>
          <a:xfrm>
            <a:off x="6096000" y="1437292"/>
            <a:ext cx="3691475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Enter A=10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Enter B=9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Enter C=2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Greater  =  10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FD2C07CC-4825-6E42-BA8B-1828FA5156ED}"/>
              </a:ext>
            </a:extLst>
          </p:cNvPr>
          <p:cNvSpPr/>
          <p:nvPr/>
        </p:nvSpPr>
        <p:spPr>
          <a:xfrm>
            <a:off x="6096000" y="1108108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737867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if, </a:t>
            </a:r>
            <a:r>
              <a:rPr lang="en-IN" dirty="0" err="1"/>
              <a:t>elif</a:t>
            </a:r>
            <a:r>
              <a:rPr lang="en-IN" dirty="0"/>
              <a:t> and else statement</a:t>
            </a:r>
            <a:endParaRPr lang="en-US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3AF844E-5FFD-8946-A0F6-1F13B514EE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 err="1">
                <a:solidFill>
                  <a:srgbClr val="C00000"/>
                </a:solidFill>
              </a:rPr>
              <a:t>elif</a:t>
            </a:r>
            <a:r>
              <a:rPr lang="en-US" dirty="0"/>
              <a:t> is short for else if. It allows us to check for multiple expressions.</a:t>
            </a:r>
          </a:p>
          <a:p>
            <a:r>
              <a:rPr lang="en-US" dirty="0"/>
              <a:t>If the condition for if is </a:t>
            </a:r>
            <a:r>
              <a:rPr lang="en-US" dirty="0">
                <a:solidFill>
                  <a:srgbClr val="C00000"/>
                </a:solidFill>
              </a:rPr>
              <a:t>False</a:t>
            </a:r>
            <a:r>
              <a:rPr lang="en-US" dirty="0"/>
              <a:t>, it checks the condition of the </a:t>
            </a:r>
            <a:r>
              <a:rPr lang="en-US" dirty="0">
                <a:solidFill>
                  <a:srgbClr val="C00000"/>
                </a:solidFill>
              </a:rPr>
              <a:t>next </a:t>
            </a:r>
            <a:r>
              <a:rPr lang="en-US" dirty="0" err="1">
                <a:solidFill>
                  <a:srgbClr val="C00000"/>
                </a:solidFill>
              </a:rPr>
              <a:t>elif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block and so on.</a:t>
            </a:r>
          </a:p>
          <a:p>
            <a:r>
              <a:rPr lang="en-US" dirty="0"/>
              <a:t>If all the conditions </a:t>
            </a:r>
            <a:r>
              <a:rPr lang="en-US" dirty="0">
                <a:solidFill>
                  <a:srgbClr val="C00000"/>
                </a:solidFill>
              </a:rPr>
              <a:t>are False</a:t>
            </a:r>
            <a:r>
              <a:rPr lang="en-US" dirty="0"/>
              <a:t>, the body of </a:t>
            </a:r>
            <a:r>
              <a:rPr lang="en-US" dirty="0">
                <a:solidFill>
                  <a:srgbClr val="C00000"/>
                </a:solidFill>
              </a:rPr>
              <a:t>else</a:t>
            </a:r>
            <a:r>
              <a:rPr lang="en-US" dirty="0"/>
              <a:t> is executed.</a:t>
            </a:r>
          </a:p>
          <a:p>
            <a:r>
              <a:rPr lang="en-US" dirty="0"/>
              <a:t>Only </a:t>
            </a:r>
            <a:r>
              <a:rPr lang="en-US" dirty="0">
                <a:solidFill>
                  <a:srgbClr val="C00000"/>
                </a:solidFill>
              </a:rPr>
              <a:t>one block </a:t>
            </a:r>
            <a:r>
              <a:rPr lang="en-US" dirty="0"/>
              <a:t>among the several if...</a:t>
            </a:r>
            <a:r>
              <a:rPr lang="en-US" dirty="0" err="1"/>
              <a:t>elif</a:t>
            </a:r>
            <a:r>
              <a:rPr lang="en-US" dirty="0"/>
              <a:t>...else blocks is executed according to the condition. </a:t>
            </a:r>
          </a:p>
          <a:p>
            <a:r>
              <a:rPr lang="en-US" dirty="0"/>
              <a:t>The if a block can have only one else block, but it can have </a:t>
            </a:r>
            <a:r>
              <a:rPr lang="en-US" dirty="0">
                <a:solidFill>
                  <a:srgbClr val="C00000"/>
                </a:solidFill>
              </a:rPr>
              <a:t>multiple </a:t>
            </a:r>
            <a:r>
              <a:rPr lang="en-US" dirty="0" err="1">
                <a:solidFill>
                  <a:srgbClr val="C00000"/>
                </a:solidFill>
              </a:rPr>
              <a:t>elif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blocks.</a:t>
            </a:r>
          </a:p>
          <a:p>
            <a:r>
              <a:rPr lang="en-US" dirty="0"/>
              <a:t>This statement is alternative for nested if statement to </a:t>
            </a:r>
            <a:r>
              <a:rPr lang="en-US" dirty="0">
                <a:solidFill>
                  <a:srgbClr val="C00000"/>
                </a:solidFill>
              </a:rPr>
              <a:t>overcome</a:t>
            </a:r>
            <a:r>
              <a:rPr lang="en-US" dirty="0"/>
              <a:t> the </a:t>
            </a:r>
            <a:r>
              <a:rPr lang="en-US" dirty="0">
                <a:solidFill>
                  <a:srgbClr val="C00000"/>
                </a:solidFill>
              </a:rPr>
              <a:t>complexity problem </a:t>
            </a:r>
            <a:r>
              <a:rPr lang="en-US" dirty="0"/>
              <a:t>involved in nested if statement.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/>
            </a:r>
            <a:br>
              <a:rPr lang="en-US" b="1" dirty="0"/>
            </a:br>
            <a:endParaRPr lang="en-US" b="1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6013629" y="3322944"/>
            <a:ext cx="3191481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/>
              </a:rPr>
              <a:t>X is greater than 5</a:t>
            </a:r>
            <a:endParaRPr lang="en-IN" sz="1600" b="1" dirty="0">
              <a:latin typeface="Consolas" pitchFamily="49" charset="0"/>
              <a:cs typeface="Consolas" panose="020B0609020204030204" pitchFamily="49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513635" y="3322944"/>
            <a:ext cx="4999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23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513635" y="2993760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if, </a:t>
            </a:r>
            <a:r>
              <a:rPr lang="en-IN" dirty="0" err="1"/>
              <a:t>elif</a:t>
            </a:r>
            <a:r>
              <a:rPr lang="en-IN" dirty="0"/>
              <a:t> and else statement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83709" y="1236960"/>
            <a:ext cx="8472276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if some_condition_1 </a:t>
            </a:r>
            <a:r>
              <a:rPr lang="en-IN" sz="1600" b="1" dirty="0">
                <a:solidFill>
                  <a:srgbClr val="FF0000"/>
                </a:solidFill>
                <a:latin typeface="Consolas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   # Code to execute when condition 1 is true</a:t>
            </a:r>
          </a:p>
          <a:p>
            <a:r>
              <a:rPr lang="en-IN" sz="1600" b="1" dirty="0" err="1">
                <a:latin typeface="Consolas" pitchFamily="49" charset="0"/>
                <a:cs typeface="Consolas" panose="020B0609020204030204" pitchFamily="49" charset="0"/>
              </a:rPr>
              <a:t>elif</a:t>
            </a:r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 some_condition_2 :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   # Code to execute when condition 2 is true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else </a:t>
            </a:r>
            <a:r>
              <a:rPr lang="en-IN" sz="1600" b="1" dirty="0">
                <a:solidFill>
                  <a:srgbClr val="FF0000"/>
                </a:solidFill>
                <a:latin typeface="Consolas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   # Code to execute when both conditions are false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93990" y="1236960"/>
            <a:ext cx="499993" cy="15696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83716" y="907776"/>
            <a:ext cx="128618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130138" y="3322944"/>
            <a:ext cx="4003711" cy="20621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10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/>
              </a:rPr>
            </a:br>
            <a:r>
              <a:rPr lang="en-US" sz="1600" dirty="0">
                <a:solidFill>
                  <a:srgbClr val="0000FF"/>
                </a:solidFill>
                <a:latin typeface="Consolas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x &gt; 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12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"X is greater than 12"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 err="1">
                <a:solidFill>
                  <a:srgbClr val="0000FF"/>
                </a:solidFill>
                <a:latin typeface="Consolas"/>
              </a:rPr>
              <a:t>elif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x &gt; 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5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: 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"X is greater than 5"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"X is less than 5"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630145" y="3322944"/>
            <a:ext cx="499993" cy="20621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</p:txBody>
      </p:sp>
      <p:sp>
        <p:nvSpPr>
          <p:cNvPr id="17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630145" y="2993760"/>
            <a:ext cx="161332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ifelifdemo.py</a:t>
            </a:r>
          </a:p>
        </p:txBody>
      </p:sp>
    </p:spTree>
    <p:extLst>
      <p:ext uri="{BB962C8B-B14F-4D97-AF65-F5344CB8AC3E}">
        <p14:creationId xmlns:p14="http://schemas.microsoft.com/office/powerpoint/2010/main" val="2013727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 animBg="1"/>
      <p:bldP spid="22" grpId="0" animBg="1"/>
      <p:bldP spid="23" grpId="0" animBg="1"/>
      <p:bldP spid="4" grpId="0" build="p" animBg="1"/>
      <p:bldP spid="5" grpId="0" animBg="1"/>
      <p:bldP spid="6" grpId="0" animBg="1"/>
      <p:bldP spid="15" grpId="0" build="p" animBg="1"/>
      <p:bldP spid="16" grpId="0" animBg="1"/>
      <p:bldP spid="1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8B5CA-09AC-FC47-8B8A-613A5C96E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C74091-77FB-3743-8E3C-76FAC9E2B4E1}"/>
              </a:ext>
            </a:extLst>
          </p:cNvPr>
          <p:cNvSpPr/>
          <p:nvPr/>
        </p:nvSpPr>
        <p:spPr>
          <a:xfrm>
            <a:off x="820812" y="1272700"/>
            <a:ext cx="5992583" cy="47089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8000"/>
                </a:solidFill>
                <a:latin typeface="Consolas"/>
              </a:rPr>
              <a:t># Python Program to find Student Grade</a:t>
            </a:r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 err="1">
                <a:solidFill>
                  <a:srgbClr val="000000"/>
                </a:solidFill>
                <a:latin typeface="Consolas"/>
              </a:rPr>
              <a:t>english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= float(input(</a:t>
            </a:r>
            <a:r>
              <a:rPr lang="en-US" sz="1200" dirty="0">
                <a:solidFill>
                  <a:srgbClr val="A31515"/>
                </a:solidFill>
                <a:latin typeface="Consolas"/>
              </a:rPr>
              <a:t>" Please enter English Marks: "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math = float(input(</a:t>
            </a:r>
            <a:r>
              <a:rPr lang="en-US" sz="1200" dirty="0">
                <a:solidFill>
                  <a:srgbClr val="A31515"/>
                </a:solidFill>
                <a:latin typeface="Consolas"/>
              </a:rPr>
              <a:t>" Please enter Math score: "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computers = float(input(</a:t>
            </a:r>
            <a:r>
              <a:rPr lang="en-US" sz="1200" dirty="0">
                <a:solidFill>
                  <a:srgbClr val="A31515"/>
                </a:solidFill>
                <a:latin typeface="Consolas"/>
              </a:rPr>
              <a:t>" Please enter Computer Marks: "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physics = float(input(</a:t>
            </a:r>
            <a:r>
              <a:rPr lang="en-US" sz="1200" dirty="0">
                <a:solidFill>
                  <a:srgbClr val="A31515"/>
                </a:solidFill>
                <a:latin typeface="Consolas"/>
              </a:rPr>
              <a:t>" Please enter Physics Marks: "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chemistry = float(input(</a:t>
            </a:r>
            <a:r>
              <a:rPr lang="en-US" sz="1200" dirty="0">
                <a:solidFill>
                  <a:srgbClr val="A31515"/>
                </a:solidFill>
                <a:latin typeface="Consolas"/>
              </a:rPr>
              <a:t>" Please enter Chemistry Marks: "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</a:rPr>
              <a:t>total =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english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+ math + computers + physics + chemistry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percentage = (total / </a:t>
            </a:r>
            <a:r>
              <a:rPr lang="en-US" sz="1200" dirty="0">
                <a:solidFill>
                  <a:srgbClr val="098658"/>
                </a:solidFill>
                <a:latin typeface="Consolas"/>
              </a:rPr>
              <a:t>500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 * </a:t>
            </a:r>
            <a:r>
              <a:rPr lang="en-US" sz="1200" dirty="0">
                <a:solidFill>
                  <a:srgbClr val="098658"/>
                </a:solidFill>
                <a:latin typeface="Consolas"/>
              </a:rPr>
              <a:t>100</a:t>
            </a:r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200" dirty="0">
                <a:solidFill>
                  <a:srgbClr val="A31515"/>
                </a:solidFill>
                <a:latin typeface="Consolas"/>
              </a:rPr>
              <a:t>"Total Marks = %.2f"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 %total)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200" dirty="0">
                <a:solidFill>
                  <a:srgbClr val="A31515"/>
                </a:solidFill>
                <a:latin typeface="Consolas"/>
              </a:rPr>
              <a:t>"Marks Percentage = %.2f"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 %percentage)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/>
              </a:rPr>
            </a:br>
            <a:r>
              <a:rPr lang="en-US" sz="1200" dirty="0">
                <a:solidFill>
                  <a:srgbClr val="0000FF"/>
                </a:solidFill>
                <a:latin typeface="Consolas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(percentage &gt;= </a:t>
            </a:r>
            <a:r>
              <a:rPr lang="en-US" sz="1200" dirty="0">
                <a:solidFill>
                  <a:srgbClr val="098658"/>
                </a:solidFill>
                <a:latin typeface="Consolas"/>
              </a:rPr>
              <a:t>90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):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    print(</a:t>
            </a:r>
            <a:r>
              <a:rPr lang="en-US" sz="1200" dirty="0">
                <a:solidFill>
                  <a:srgbClr val="A31515"/>
                </a:solidFill>
                <a:latin typeface="Consolas"/>
              </a:rPr>
              <a:t>"A Grade"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200" dirty="0" err="1">
                <a:solidFill>
                  <a:srgbClr val="0000FF"/>
                </a:solidFill>
                <a:latin typeface="Consolas"/>
              </a:rPr>
              <a:t>elif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(percentage &gt;= </a:t>
            </a:r>
            <a:r>
              <a:rPr lang="en-US" sz="1200" dirty="0">
                <a:solidFill>
                  <a:srgbClr val="098658"/>
                </a:solidFill>
                <a:latin typeface="Consolas"/>
              </a:rPr>
              <a:t>80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):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    print(</a:t>
            </a:r>
            <a:r>
              <a:rPr lang="en-US" sz="1200" dirty="0">
                <a:solidFill>
                  <a:srgbClr val="A31515"/>
                </a:solidFill>
                <a:latin typeface="Consolas"/>
              </a:rPr>
              <a:t>"B Grade"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200" dirty="0" err="1">
                <a:solidFill>
                  <a:srgbClr val="0000FF"/>
                </a:solidFill>
                <a:latin typeface="Consolas"/>
              </a:rPr>
              <a:t>elif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(percentage &gt;= </a:t>
            </a:r>
            <a:r>
              <a:rPr lang="en-US" sz="1200" dirty="0">
                <a:solidFill>
                  <a:srgbClr val="098658"/>
                </a:solidFill>
                <a:latin typeface="Consolas"/>
              </a:rPr>
              <a:t>70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):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    print(</a:t>
            </a:r>
            <a:r>
              <a:rPr lang="en-US" sz="1200" dirty="0">
                <a:solidFill>
                  <a:srgbClr val="A31515"/>
                </a:solidFill>
                <a:latin typeface="Consolas"/>
              </a:rPr>
              <a:t>"C Grade"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200" dirty="0" err="1">
                <a:solidFill>
                  <a:srgbClr val="0000FF"/>
                </a:solidFill>
                <a:latin typeface="Consolas"/>
              </a:rPr>
              <a:t>elif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(percentage &gt;= </a:t>
            </a:r>
            <a:r>
              <a:rPr lang="en-US" sz="1200" dirty="0">
                <a:solidFill>
                  <a:srgbClr val="098658"/>
                </a:solidFill>
                <a:latin typeface="Consolas"/>
              </a:rPr>
              <a:t>60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):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    print(</a:t>
            </a:r>
            <a:r>
              <a:rPr lang="en-US" sz="1200" dirty="0">
                <a:solidFill>
                  <a:srgbClr val="A31515"/>
                </a:solidFill>
                <a:latin typeface="Consolas"/>
              </a:rPr>
              <a:t>"D Grade"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200" dirty="0" err="1">
                <a:solidFill>
                  <a:srgbClr val="0000FF"/>
                </a:solidFill>
                <a:latin typeface="Consolas"/>
              </a:rPr>
              <a:t>elif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(percentage &gt;= </a:t>
            </a:r>
            <a:r>
              <a:rPr lang="en-US" sz="1200" dirty="0">
                <a:solidFill>
                  <a:srgbClr val="098658"/>
                </a:solidFill>
                <a:latin typeface="Consolas"/>
              </a:rPr>
              <a:t>40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):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    print(</a:t>
            </a:r>
            <a:r>
              <a:rPr lang="en-US" sz="1200" dirty="0">
                <a:solidFill>
                  <a:srgbClr val="A31515"/>
                </a:solidFill>
                <a:latin typeface="Consolas"/>
              </a:rPr>
              <a:t>"E Grade"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200" dirty="0">
                <a:solidFill>
                  <a:srgbClr val="0000FF"/>
                </a:solidFill>
                <a:latin typeface="Consolas"/>
              </a:rPr>
              <a:t>else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: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    print(</a:t>
            </a:r>
            <a:r>
              <a:rPr lang="en-US" sz="1200" dirty="0">
                <a:solidFill>
                  <a:srgbClr val="A31515"/>
                </a:solidFill>
                <a:latin typeface="Consolas"/>
              </a:rPr>
              <a:t>"Fail"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934E15-E02C-BD4F-B856-B5A41EF5DFDF}"/>
              </a:ext>
            </a:extLst>
          </p:cNvPr>
          <p:cNvSpPr/>
          <p:nvPr/>
        </p:nvSpPr>
        <p:spPr>
          <a:xfrm>
            <a:off x="320820" y="1272700"/>
            <a:ext cx="499993" cy="470898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15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16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17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18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19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20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21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22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23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24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25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F6A7EA51-D479-124A-A51D-6F390FDDB2DB}"/>
              </a:ext>
            </a:extLst>
          </p:cNvPr>
          <p:cNvSpPr/>
          <p:nvPr/>
        </p:nvSpPr>
        <p:spPr>
          <a:xfrm>
            <a:off x="320820" y="943516"/>
            <a:ext cx="161332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Example1.py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C85B46-C0ED-B94E-8B95-82CCA7EFDEE8}"/>
              </a:ext>
            </a:extLst>
          </p:cNvPr>
          <p:cNvSpPr/>
          <p:nvPr/>
        </p:nvSpPr>
        <p:spPr>
          <a:xfrm>
            <a:off x="7177669" y="1272700"/>
            <a:ext cx="3973551" cy="20621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Please enter English Marks: 50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Please enter Math score: 50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Please enter Computer Marks: 50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Please enter Physics Marks: 50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Please enter Chemistry Marks: 50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Total Marks = 250.00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Marks Percentage = 50.00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E Grade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C188AB8C-7501-5C48-8E58-677D7183782D}"/>
              </a:ext>
            </a:extLst>
          </p:cNvPr>
          <p:cNvSpPr/>
          <p:nvPr/>
        </p:nvSpPr>
        <p:spPr>
          <a:xfrm>
            <a:off x="7177669" y="943516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558338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67F2C-D52B-6197-DBBC-2EF419C6B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2665B-3AD4-AA6C-7E5E-E3E316925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IN" dirty="0"/>
              <a:t>match case</a:t>
            </a:r>
            <a:endParaRPr lang="en-US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D3F8E9EE-C825-F508-6C9C-1A061206A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match-case is a control flow statement.</a:t>
            </a:r>
          </a:p>
          <a:p>
            <a:r>
              <a:rPr lang="en-US" dirty="0"/>
              <a:t>It is similar to switch-case in C, C++, Java.</a:t>
            </a:r>
          </a:p>
          <a:p>
            <a:r>
              <a:rPr lang="en-US" dirty="0"/>
              <a:t>Used for pattern-based decision making.</a:t>
            </a:r>
          </a:p>
          <a:p>
            <a:r>
              <a:rPr lang="en-IN" dirty="0"/>
              <a:t>match-case makes code: Cleaner, More readable and Structured.</a:t>
            </a:r>
          </a:p>
          <a:p>
            <a:pPr lvl="1"/>
            <a:r>
              <a:rPr lang="en-IN" dirty="0"/>
              <a:t>match → checks the expression</a:t>
            </a:r>
          </a:p>
          <a:p>
            <a:pPr lvl="1"/>
            <a:r>
              <a:rPr lang="en-IN" dirty="0"/>
              <a:t>case → checks pattern</a:t>
            </a:r>
          </a:p>
          <a:p>
            <a:pPr lvl="1"/>
            <a:r>
              <a:rPr lang="en-IN" dirty="0"/>
              <a:t>_ → default case (like else)</a:t>
            </a:r>
            <a:endParaRPr lang="en-US" dirty="0"/>
          </a:p>
          <a:p>
            <a:r>
              <a:rPr lang="en-US" dirty="0"/>
              <a:t>Python evaluates the expression after match.</a:t>
            </a:r>
          </a:p>
          <a:p>
            <a:r>
              <a:rPr lang="en-US" dirty="0"/>
              <a:t>It compares with each case.</a:t>
            </a:r>
          </a:p>
          <a:p>
            <a:r>
              <a:rPr lang="en-IN" dirty="0"/>
              <a:t>First matching case executes.</a:t>
            </a:r>
          </a:p>
          <a:p>
            <a:r>
              <a:rPr lang="en-IN" dirty="0"/>
              <a:t>No break statement required.</a:t>
            </a:r>
          </a:p>
          <a:p>
            <a:r>
              <a:rPr lang="en-US" dirty="0"/>
              <a:t>If no case matches → _ executes.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DE916E-380C-39FB-4923-0BC5AB52E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4015" y="1145546"/>
            <a:ext cx="3977985" cy="2629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436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EE06E-344C-2ECB-FD67-DC3B27211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8AA1A-BB24-3D05-D88F-C452FD8D5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IN" dirty="0"/>
              <a:t>match case</a:t>
            </a:r>
            <a:endParaRPr lang="en-US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2B3A0310-FE0F-B2C7-C5F7-8C42F396A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/>
            </a:r>
            <a:br>
              <a:rPr lang="en-US" b="1" dirty="0"/>
            </a:br>
            <a:endParaRPr lang="en-US" b="1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F93A96-03BD-1586-4AE8-AB18638D7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517" y="1436516"/>
            <a:ext cx="3323083" cy="34759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D5E7710-CC1C-085F-50FE-CCE9CDC723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977" y="5529696"/>
            <a:ext cx="1280271" cy="4648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488E2B5-7E67-256F-FE0C-F2BFFDF49F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2809" y="1436516"/>
            <a:ext cx="3323084" cy="340786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BED4DFE-E2D2-5D1E-60BD-219BB02625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8179" y="5539424"/>
            <a:ext cx="1745344" cy="45724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5F284BE-B09A-682F-5097-EBA25682A5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8193" y="1436515"/>
            <a:ext cx="4036556" cy="340786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E9B5F03-1399-E782-5C40-183A472E0A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8193" y="5551260"/>
            <a:ext cx="1935381" cy="363755"/>
          </a:xfrm>
          <a:prstGeom prst="rect">
            <a:avLst/>
          </a:prstGeom>
        </p:spPr>
      </p:pic>
      <p:sp>
        <p:nvSpPr>
          <p:cNvPr id="17" name="Rectangle: Top Corners Rounded 6">
            <a:extLst>
              <a:ext uri="{FF2B5EF4-FFF2-40B4-BE49-F238E27FC236}">
                <a16:creationId xmlns:a16="http://schemas.microsoft.com/office/drawing/2014/main" id="{BAB11CE7-DFB3-E423-035F-D6A068D691AF}"/>
              </a:ext>
            </a:extLst>
          </p:cNvPr>
          <p:cNvSpPr/>
          <p:nvPr/>
        </p:nvSpPr>
        <p:spPr>
          <a:xfrm>
            <a:off x="334517" y="1031210"/>
            <a:ext cx="161332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input</a:t>
            </a:r>
          </a:p>
        </p:txBody>
      </p:sp>
      <p:sp>
        <p:nvSpPr>
          <p:cNvPr id="20" name="Rectangle: Top Corners Rounded 6">
            <a:extLst>
              <a:ext uri="{FF2B5EF4-FFF2-40B4-BE49-F238E27FC236}">
                <a16:creationId xmlns:a16="http://schemas.microsoft.com/office/drawing/2014/main" id="{219E9DAC-8391-54FA-515E-3F2568F435B7}"/>
              </a:ext>
            </a:extLst>
          </p:cNvPr>
          <p:cNvSpPr/>
          <p:nvPr/>
        </p:nvSpPr>
        <p:spPr>
          <a:xfrm>
            <a:off x="4392809" y="1040238"/>
            <a:ext cx="161332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input</a:t>
            </a:r>
          </a:p>
        </p:txBody>
      </p:sp>
      <p:sp>
        <p:nvSpPr>
          <p:cNvPr id="21" name="Rectangle: Top Corners Rounded 6">
            <a:extLst>
              <a:ext uri="{FF2B5EF4-FFF2-40B4-BE49-F238E27FC236}">
                <a16:creationId xmlns:a16="http://schemas.microsoft.com/office/drawing/2014/main" id="{D37BD926-E2E8-B240-E864-4672FB919238}"/>
              </a:ext>
            </a:extLst>
          </p:cNvPr>
          <p:cNvSpPr/>
          <p:nvPr/>
        </p:nvSpPr>
        <p:spPr>
          <a:xfrm>
            <a:off x="7938193" y="1031209"/>
            <a:ext cx="161332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input</a:t>
            </a:r>
          </a:p>
        </p:txBody>
      </p:sp>
      <p:sp>
        <p:nvSpPr>
          <p:cNvPr id="22" name="Rectangle: Top Corners Rounded 6">
            <a:extLst>
              <a:ext uri="{FF2B5EF4-FFF2-40B4-BE49-F238E27FC236}">
                <a16:creationId xmlns:a16="http://schemas.microsoft.com/office/drawing/2014/main" id="{E8283C24-44BF-17CC-A215-5FD75C826D74}"/>
              </a:ext>
            </a:extLst>
          </p:cNvPr>
          <p:cNvSpPr/>
          <p:nvPr/>
        </p:nvSpPr>
        <p:spPr>
          <a:xfrm>
            <a:off x="382733" y="5140746"/>
            <a:ext cx="161332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23" name="Rectangle: Top Corners Rounded 6">
            <a:extLst>
              <a:ext uri="{FF2B5EF4-FFF2-40B4-BE49-F238E27FC236}">
                <a16:creationId xmlns:a16="http://schemas.microsoft.com/office/drawing/2014/main" id="{653CA296-A070-904F-DE8B-A76BD472F572}"/>
              </a:ext>
            </a:extLst>
          </p:cNvPr>
          <p:cNvSpPr/>
          <p:nvPr/>
        </p:nvSpPr>
        <p:spPr>
          <a:xfrm>
            <a:off x="4558179" y="5192892"/>
            <a:ext cx="161332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25" name="Rectangle: Top Corners Rounded 6">
            <a:extLst>
              <a:ext uri="{FF2B5EF4-FFF2-40B4-BE49-F238E27FC236}">
                <a16:creationId xmlns:a16="http://schemas.microsoft.com/office/drawing/2014/main" id="{06CEFA06-CF70-F974-D9A6-2C3961BC0B6B}"/>
              </a:ext>
            </a:extLst>
          </p:cNvPr>
          <p:cNvSpPr/>
          <p:nvPr/>
        </p:nvSpPr>
        <p:spPr>
          <a:xfrm>
            <a:off x="7938193" y="5200512"/>
            <a:ext cx="161332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746552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0" grpId="0" animBg="1"/>
      <p:bldP spid="21" grpId="0" animBg="1"/>
      <p:bldP spid="22" grpId="0" animBg="1"/>
      <p:bldP spid="23" grpId="0" animBg="1"/>
      <p:bldP spid="2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Many objects in python are </a:t>
            </a:r>
            <a:r>
              <a:rPr lang="en-IN" dirty="0" err="1">
                <a:solidFill>
                  <a:srgbClr val="C00000"/>
                </a:solidFill>
              </a:rPr>
              <a:t>iterable</a:t>
            </a:r>
            <a:r>
              <a:rPr lang="en-IN" b="1" dirty="0"/>
              <a:t>, </a:t>
            </a:r>
            <a:r>
              <a:rPr lang="en-IN" dirty="0"/>
              <a:t>meaning we can iterate </a:t>
            </a:r>
            <a:r>
              <a:rPr lang="en-IN" dirty="0">
                <a:solidFill>
                  <a:srgbClr val="C00000"/>
                </a:solidFill>
              </a:rPr>
              <a:t>over every element </a:t>
            </a:r>
            <a:r>
              <a:rPr lang="en-IN" dirty="0"/>
              <a:t>in the object.</a:t>
            </a:r>
          </a:p>
          <a:p>
            <a:pPr lvl="1"/>
            <a:r>
              <a:rPr lang="en-IN" dirty="0"/>
              <a:t>such as every elements from the List, every characters from the string etc..</a:t>
            </a:r>
          </a:p>
          <a:p>
            <a:r>
              <a:rPr lang="en-IN" dirty="0"/>
              <a:t>We can use for loop to execute block of code for each element of </a:t>
            </a:r>
            <a:r>
              <a:rPr lang="en-IN" dirty="0" err="1">
                <a:solidFill>
                  <a:srgbClr val="C00000"/>
                </a:solidFill>
              </a:rPr>
              <a:t>iterable</a:t>
            </a:r>
            <a:r>
              <a:rPr lang="en-IN" dirty="0"/>
              <a:t> object.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83709" y="2582681"/>
            <a:ext cx="8472276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temp_item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iterable_object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sz="1600" dirty="0">
                <a:solidFill>
                  <a:srgbClr val="008000"/>
                </a:solidFill>
                <a:latin typeface="Consolas"/>
              </a:rPr>
              <a:t># Code to execute for each object in </a:t>
            </a:r>
            <a:r>
              <a:rPr lang="en-US" sz="1600" dirty="0" err="1">
                <a:solidFill>
                  <a:srgbClr val="008000"/>
                </a:solidFill>
                <a:latin typeface="Consolas"/>
              </a:rPr>
              <a:t>iterable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83716" y="2582681"/>
            <a:ext cx="499993" cy="584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83716" y="2253497"/>
            <a:ext cx="128618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7" name="Line Callout 1 6"/>
          <p:cNvSpPr/>
          <p:nvPr/>
        </p:nvSpPr>
        <p:spPr>
          <a:xfrm>
            <a:off x="5675650" y="2184112"/>
            <a:ext cx="4495800" cy="626533"/>
          </a:xfrm>
          <a:prstGeom prst="borderCallout1">
            <a:avLst>
              <a:gd name="adj1" fmla="val 53885"/>
              <a:gd name="adj2" fmla="val -612"/>
              <a:gd name="adj3" fmla="val 89527"/>
              <a:gd name="adj4" fmla="val -14792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For loop ends with </a:t>
            </a:r>
            <a:r>
              <a:rPr lang="en-IN" b="1" dirty="0">
                <a:solidFill>
                  <a:srgbClr val="FF0000"/>
                </a:solidFill>
              </a:rPr>
              <a:t>: 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8" name="Line Callout 1 7"/>
          <p:cNvSpPr/>
          <p:nvPr/>
        </p:nvSpPr>
        <p:spPr>
          <a:xfrm>
            <a:off x="2245569" y="3199542"/>
            <a:ext cx="4495800" cy="626533"/>
          </a:xfrm>
          <a:prstGeom prst="borderCallout1">
            <a:avLst>
              <a:gd name="adj1" fmla="val 53885"/>
              <a:gd name="adj2" fmla="val -612"/>
              <a:gd name="adj3" fmla="val -23622"/>
              <a:gd name="adj4" fmla="val -21648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Indentation (tab/whitespace) at the beginning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79186" y="4407829"/>
            <a:ext cx="4003711" cy="8617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= [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4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list_item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list_item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79193" y="4407829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79193" y="4078645"/>
            <a:ext cx="128618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fordemo1.py</a:t>
            </a:r>
          </a:p>
        </p:txBody>
      </p:sp>
      <p:sp>
        <p:nvSpPr>
          <p:cNvPr id="12" name="Line Callout 1 11"/>
          <p:cNvSpPr/>
          <p:nvPr/>
        </p:nvSpPr>
        <p:spPr>
          <a:xfrm>
            <a:off x="4062511" y="4080294"/>
            <a:ext cx="1406636" cy="1449238"/>
          </a:xfrm>
          <a:prstGeom prst="borderCallout1">
            <a:avLst>
              <a:gd name="adj1" fmla="val 53885"/>
              <a:gd name="adj2" fmla="val -612"/>
              <a:gd name="adj3" fmla="val 70479"/>
              <a:gd name="adj4" fmla="val -41566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Output :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2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3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4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6539707" y="4407829"/>
            <a:ext cx="4003711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= [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4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5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6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7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8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9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list_item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list_item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% 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== 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    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list_item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6039714" y="4407829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15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6039714" y="4078645"/>
            <a:ext cx="128618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fordemo2.py</a:t>
            </a:r>
          </a:p>
        </p:txBody>
      </p:sp>
      <p:sp>
        <p:nvSpPr>
          <p:cNvPr id="16" name="Line Callout 1 15"/>
          <p:cNvSpPr/>
          <p:nvPr/>
        </p:nvSpPr>
        <p:spPr>
          <a:xfrm>
            <a:off x="10101002" y="4071668"/>
            <a:ext cx="1406636" cy="1449238"/>
          </a:xfrm>
          <a:prstGeom prst="borderCallout1">
            <a:avLst>
              <a:gd name="adj1" fmla="val 53885"/>
              <a:gd name="adj2" fmla="val -612"/>
              <a:gd name="adj3" fmla="val 87741"/>
              <a:gd name="adj4" fmla="val -51378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Output :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2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4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6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8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 animBg="1"/>
      <p:bldP spid="5" grpId="0" animBg="1"/>
      <p:bldP spid="6" grpId="0" animBg="1"/>
      <p:bldP spid="7" grpId="0" animBg="1"/>
      <p:bldP spid="7" grpId="1" animBg="1"/>
      <p:bldP spid="8" grpId="0" animBg="1"/>
      <p:bldP spid="8" grpId="1" animBg="1"/>
      <p:bldP spid="9" grpId="0" build="p" animBg="1"/>
      <p:bldP spid="10" grpId="0" animBg="1"/>
      <p:bldP spid="11" grpId="0" animBg="1"/>
      <p:bldP spid="12" grpId="0" animBg="1"/>
      <p:bldP spid="12" grpId="1" animBg="1"/>
      <p:bldP spid="13" grpId="0" build="p" animBg="1"/>
      <p:bldP spid="14" grpId="0" animBg="1"/>
      <p:bldP spid="15" grpId="0" animBg="1"/>
      <p:bldP spid="16" grpId="0" animBg="1"/>
      <p:bldP spid="16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F42C0-A469-B543-8979-A77B661F8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range()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8AFC7-04C7-8E4E-9161-D90AFFA2C9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280877"/>
          </a:xfrm>
        </p:spPr>
        <p:txBody>
          <a:bodyPr/>
          <a:lstStyle/>
          <a:p>
            <a:r>
              <a:rPr lang="en-US" dirty="0"/>
              <a:t>The range() function returns a </a:t>
            </a:r>
            <a:r>
              <a:rPr lang="en-US" dirty="0">
                <a:solidFill>
                  <a:srgbClr val="C00000"/>
                </a:solidFill>
              </a:rPr>
              <a:t>sequence of numbers</a:t>
            </a:r>
            <a:r>
              <a:rPr lang="en-US" dirty="0"/>
              <a:t>, starting from </a:t>
            </a:r>
            <a:r>
              <a:rPr lang="en-US" dirty="0">
                <a:solidFill>
                  <a:srgbClr val="C00000"/>
                </a:solidFill>
              </a:rPr>
              <a:t>0 by default</a:t>
            </a:r>
            <a:r>
              <a:rPr lang="en-US" dirty="0"/>
              <a:t>, and increments </a:t>
            </a:r>
            <a:r>
              <a:rPr lang="en-US" dirty="0">
                <a:solidFill>
                  <a:srgbClr val="C00000"/>
                </a:solidFill>
              </a:rPr>
              <a:t>by 1 (by default), </a:t>
            </a:r>
            <a:r>
              <a:rPr lang="en-US" dirty="0"/>
              <a:t>and stops </a:t>
            </a:r>
            <a:r>
              <a:rPr lang="en-US" dirty="0">
                <a:solidFill>
                  <a:srgbClr val="C00000"/>
                </a:solidFill>
              </a:rPr>
              <a:t>before a specified number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00FB35-2143-0348-B0C0-EE683C7E1B88}"/>
              </a:ext>
            </a:extLst>
          </p:cNvPr>
          <p:cNvSpPr/>
          <p:nvPr/>
        </p:nvSpPr>
        <p:spPr>
          <a:xfrm>
            <a:off x="972197" y="2073301"/>
            <a:ext cx="3387930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range(start, stop, step)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B44BC3-D818-C04C-AFE7-D65C8B535247}"/>
              </a:ext>
            </a:extLst>
          </p:cNvPr>
          <p:cNvSpPr/>
          <p:nvPr/>
        </p:nvSpPr>
        <p:spPr>
          <a:xfrm>
            <a:off x="482478" y="2073301"/>
            <a:ext cx="4999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81767A9D-1B3A-3B4A-8107-937670B205DA}"/>
              </a:ext>
            </a:extLst>
          </p:cNvPr>
          <p:cNvSpPr/>
          <p:nvPr/>
        </p:nvSpPr>
        <p:spPr>
          <a:xfrm>
            <a:off x="472204" y="1744117"/>
            <a:ext cx="128618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5C0E2E-94E1-7F4D-AC56-56960F2EB760}"/>
              </a:ext>
            </a:extLst>
          </p:cNvPr>
          <p:cNvSpPr/>
          <p:nvPr/>
        </p:nvSpPr>
        <p:spPr>
          <a:xfrm>
            <a:off x="982471" y="3283158"/>
            <a:ext cx="2028359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 = range(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6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n 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x: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print(n)</a:t>
            </a:r>
            <a:endParaRPr lang="en-US" sz="1600" b="0" dirty="0">
              <a:solidFill>
                <a:srgbClr val="000000"/>
              </a:solidFill>
              <a:effectLst/>
              <a:latin typeface="Consola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627646-A304-3C4D-BA89-FADAFDDD546C}"/>
              </a:ext>
            </a:extLst>
          </p:cNvPr>
          <p:cNvSpPr/>
          <p:nvPr/>
        </p:nvSpPr>
        <p:spPr>
          <a:xfrm>
            <a:off x="482478" y="3283158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9" name="Rectangle: Top Corners Rounded 6">
            <a:extLst>
              <a:ext uri="{FF2B5EF4-FFF2-40B4-BE49-F238E27FC236}">
                <a16:creationId xmlns:a16="http://schemas.microsoft.com/office/drawing/2014/main" id="{4895A0A4-98F7-4E46-B5A2-02A15F7CCC16}"/>
              </a:ext>
            </a:extLst>
          </p:cNvPr>
          <p:cNvSpPr/>
          <p:nvPr/>
        </p:nvSpPr>
        <p:spPr>
          <a:xfrm>
            <a:off x="482478" y="2953974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Example1.py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CE2187-6590-1841-9B44-6F3FBCC8A9E2}"/>
              </a:ext>
            </a:extLst>
          </p:cNvPr>
          <p:cNvSpPr/>
          <p:nvPr/>
        </p:nvSpPr>
        <p:spPr>
          <a:xfrm>
            <a:off x="451066" y="4657607"/>
            <a:ext cx="2559764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3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4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5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2EC2EAFE-871F-1A4A-85EC-759F5CCD24E8}"/>
              </a:ext>
            </a:extLst>
          </p:cNvPr>
          <p:cNvSpPr/>
          <p:nvPr/>
        </p:nvSpPr>
        <p:spPr>
          <a:xfrm>
            <a:off x="451065" y="4328423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154C32-5EFF-CE49-958D-A78EC3DBF895}"/>
              </a:ext>
            </a:extLst>
          </p:cNvPr>
          <p:cNvSpPr/>
          <p:nvPr/>
        </p:nvSpPr>
        <p:spPr>
          <a:xfrm>
            <a:off x="3718145" y="3271309"/>
            <a:ext cx="2336539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 = range(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20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n 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x: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print(n)</a:t>
            </a:r>
            <a:endParaRPr lang="en-US" sz="1600" b="0" dirty="0">
              <a:solidFill>
                <a:srgbClr val="000000"/>
              </a:solidFill>
              <a:effectLst/>
              <a:latin typeface="Consola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2415A5-B08A-474E-866D-E0D8CDCD7CDF}"/>
              </a:ext>
            </a:extLst>
          </p:cNvPr>
          <p:cNvSpPr/>
          <p:nvPr/>
        </p:nvSpPr>
        <p:spPr>
          <a:xfrm>
            <a:off x="3218152" y="3271309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14" name="Rectangle: Top Corners Rounded 6">
            <a:extLst>
              <a:ext uri="{FF2B5EF4-FFF2-40B4-BE49-F238E27FC236}">
                <a16:creationId xmlns:a16="http://schemas.microsoft.com/office/drawing/2014/main" id="{6180B89B-94F7-0240-9EE5-B2A5CDF7A829}"/>
              </a:ext>
            </a:extLst>
          </p:cNvPr>
          <p:cNvSpPr/>
          <p:nvPr/>
        </p:nvSpPr>
        <p:spPr>
          <a:xfrm>
            <a:off x="3218152" y="2942125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Example2.py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694E2A8-4B1D-D94E-B70C-EC7B5565E23D}"/>
              </a:ext>
            </a:extLst>
          </p:cNvPr>
          <p:cNvSpPr/>
          <p:nvPr/>
        </p:nvSpPr>
        <p:spPr>
          <a:xfrm>
            <a:off x="3186740" y="4645758"/>
            <a:ext cx="2867944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3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5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. . .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19</a:t>
            </a:r>
          </a:p>
        </p:txBody>
      </p:sp>
      <p:sp>
        <p:nvSpPr>
          <p:cNvPr id="16" name="Rectangle: Top Corners Rounded 6">
            <a:extLst>
              <a:ext uri="{FF2B5EF4-FFF2-40B4-BE49-F238E27FC236}">
                <a16:creationId xmlns:a16="http://schemas.microsoft.com/office/drawing/2014/main" id="{C0F91CBE-E333-BE4A-91DE-945482FC4122}"/>
              </a:ext>
            </a:extLst>
          </p:cNvPr>
          <p:cNvSpPr/>
          <p:nvPr/>
        </p:nvSpPr>
        <p:spPr>
          <a:xfrm>
            <a:off x="3186739" y="4316574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ED6068-F6C6-0344-A685-DDB9E20DFA03}"/>
              </a:ext>
            </a:extLst>
          </p:cNvPr>
          <p:cNvSpPr/>
          <p:nvPr/>
        </p:nvSpPr>
        <p:spPr>
          <a:xfrm>
            <a:off x="6785725" y="3227106"/>
            <a:ext cx="2028359" cy="8617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 = range(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20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n 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x: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print(n)</a:t>
            </a:r>
            <a:endParaRPr lang="en-US" sz="1600" b="0" dirty="0">
              <a:solidFill>
                <a:srgbClr val="000000"/>
              </a:solidFill>
              <a:effectLst/>
              <a:latin typeface="Consola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E28AC9E-A71B-9148-8290-D0A99580AAB8}"/>
              </a:ext>
            </a:extLst>
          </p:cNvPr>
          <p:cNvSpPr/>
          <p:nvPr/>
        </p:nvSpPr>
        <p:spPr>
          <a:xfrm>
            <a:off x="6285732" y="3227106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19" name="Rectangle: Top Corners Rounded 6">
            <a:extLst>
              <a:ext uri="{FF2B5EF4-FFF2-40B4-BE49-F238E27FC236}">
                <a16:creationId xmlns:a16="http://schemas.microsoft.com/office/drawing/2014/main" id="{CB1F5832-199C-964E-A5BC-800600F03BE5}"/>
              </a:ext>
            </a:extLst>
          </p:cNvPr>
          <p:cNvSpPr/>
          <p:nvPr/>
        </p:nvSpPr>
        <p:spPr>
          <a:xfrm>
            <a:off x="6285732" y="2897922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Example3.py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3F1F237-D070-8A4B-9F27-BD33F76E5AC2}"/>
              </a:ext>
            </a:extLst>
          </p:cNvPr>
          <p:cNvSpPr/>
          <p:nvPr/>
        </p:nvSpPr>
        <p:spPr>
          <a:xfrm>
            <a:off x="6254320" y="4601555"/>
            <a:ext cx="2153996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0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1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. . .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19</a:t>
            </a:r>
          </a:p>
        </p:txBody>
      </p:sp>
      <p:sp>
        <p:nvSpPr>
          <p:cNvPr id="21" name="Rectangle: Top Corners Rounded 6">
            <a:extLst>
              <a:ext uri="{FF2B5EF4-FFF2-40B4-BE49-F238E27FC236}">
                <a16:creationId xmlns:a16="http://schemas.microsoft.com/office/drawing/2014/main" id="{93817837-8EFC-7642-BF3D-3242F2B774D0}"/>
              </a:ext>
            </a:extLst>
          </p:cNvPr>
          <p:cNvSpPr/>
          <p:nvPr/>
        </p:nvSpPr>
        <p:spPr>
          <a:xfrm>
            <a:off x="6254319" y="4272371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C5B434F-FAF8-D746-897C-A3EC8B28D1DC}"/>
              </a:ext>
            </a:extLst>
          </p:cNvPr>
          <p:cNvSpPr/>
          <p:nvPr/>
        </p:nvSpPr>
        <p:spPr>
          <a:xfrm>
            <a:off x="9382598" y="3238377"/>
            <a:ext cx="2809402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 = reversed(range(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20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))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n 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x: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print(n)</a:t>
            </a:r>
            <a:endParaRPr lang="en-US" sz="1600" b="0" dirty="0">
              <a:solidFill>
                <a:srgbClr val="000000"/>
              </a:solidFill>
              <a:effectLst/>
              <a:latin typeface="Consola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17809E6-1274-F842-800D-CF6E490D54D1}"/>
              </a:ext>
            </a:extLst>
          </p:cNvPr>
          <p:cNvSpPr/>
          <p:nvPr/>
        </p:nvSpPr>
        <p:spPr>
          <a:xfrm>
            <a:off x="9034979" y="3225711"/>
            <a:ext cx="357947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27" name="Rectangle: Top Corners Rounded 6">
            <a:extLst>
              <a:ext uri="{FF2B5EF4-FFF2-40B4-BE49-F238E27FC236}">
                <a16:creationId xmlns:a16="http://schemas.microsoft.com/office/drawing/2014/main" id="{E90CEA1B-E1DC-1C45-BAC9-25675390A942}"/>
              </a:ext>
            </a:extLst>
          </p:cNvPr>
          <p:cNvSpPr/>
          <p:nvPr/>
        </p:nvSpPr>
        <p:spPr>
          <a:xfrm>
            <a:off x="9034979" y="2896527"/>
            <a:ext cx="1890166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Example4.py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F673DE1-FE2D-1A41-8D3F-71B09F6387C4}"/>
              </a:ext>
            </a:extLst>
          </p:cNvPr>
          <p:cNvSpPr/>
          <p:nvPr/>
        </p:nvSpPr>
        <p:spPr>
          <a:xfrm>
            <a:off x="8987160" y="4644363"/>
            <a:ext cx="2153996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19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18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. . . 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29" name="Rectangle: Top Corners Rounded 6">
            <a:extLst>
              <a:ext uri="{FF2B5EF4-FFF2-40B4-BE49-F238E27FC236}">
                <a16:creationId xmlns:a16="http://schemas.microsoft.com/office/drawing/2014/main" id="{C657EED6-BFB9-3B43-BC00-C255FF936781}"/>
              </a:ext>
            </a:extLst>
          </p:cNvPr>
          <p:cNvSpPr/>
          <p:nvPr/>
        </p:nvSpPr>
        <p:spPr>
          <a:xfrm>
            <a:off x="8987159" y="4315179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516154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  <p:bldP spid="9" grpId="0" animBg="1"/>
      <p:bldP spid="10" grpId="0" build="p" animBg="1"/>
      <p:bldP spid="11" grpId="0" animBg="1"/>
      <p:bldP spid="12" grpId="0" build="p" animBg="1"/>
      <p:bldP spid="13" grpId="0" animBg="1"/>
      <p:bldP spid="14" grpId="0" animBg="1"/>
      <p:bldP spid="15" grpId="0" build="p" animBg="1"/>
      <p:bldP spid="16" grpId="0" animBg="1"/>
      <p:bldP spid="17" grpId="0" build="p" animBg="1"/>
      <p:bldP spid="18" grpId="0" animBg="1"/>
      <p:bldP spid="19" grpId="0" animBg="1"/>
      <p:bldP spid="20" grpId="0" build="p" animBg="1"/>
      <p:bldP spid="21" grpId="0" animBg="1"/>
      <p:bldP spid="25" grpId="0" build="p" animBg="1"/>
      <p:bldP spid="26" grpId="0" animBg="1"/>
      <p:bldP spid="27" grpId="0" animBg="1"/>
      <p:bldP spid="28" grpId="0" build="p" animBg="1"/>
      <p:bldP spid="2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for loop (tuple unpacking)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Sometimes we have nested data structure </a:t>
            </a:r>
            <a:r>
              <a:rPr lang="en-IN" dirty="0">
                <a:solidFill>
                  <a:srgbClr val="C00000"/>
                </a:solidFill>
              </a:rPr>
              <a:t>like List of </a:t>
            </a:r>
            <a:r>
              <a:rPr lang="en-IN" dirty="0" err="1">
                <a:solidFill>
                  <a:srgbClr val="C00000"/>
                </a:solidFill>
              </a:rPr>
              <a:t>tuples</a:t>
            </a:r>
            <a:r>
              <a:rPr lang="en-IN" dirty="0"/>
              <a:t>, and if we want to iterate with such list we can use </a:t>
            </a:r>
            <a:r>
              <a:rPr lang="en-IN" dirty="0" err="1">
                <a:solidFill>
                  <a:srgbClr val="C00000"/>
                </a:solidFill>
              </a:rPr>
              <a:t>tuple</a:t>
            </a:r>
            <a:r>
              <a:rPr lang="en-IN" dirty="0">
                <a:solidFill>
                  <a:srgbClr val="C00000"/>
                </a:solidFill>
              </a:rPr>
              <a:t> unpacking</a:t>
            </a:r>
            <a:r>
              <a:rPr lang="en-IN" dirty="0"/>
              <a:t>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79186" y="2208093"/>
            <a:ext cx="4605622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= [(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), (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4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5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6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), (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7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8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9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)]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list_item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list_item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79193" y="2208093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79193" y="1878909"/>
            <a:ext cx="269884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withouttupleunapacking.py</a:t>
            </a:r>
          </a:p>
        </p:txBody>
      </p:sp>
      <p:sp>
        <p:nvSpPr>
          <p:cNvPr id="7" name="Line Callout 1 6"/>
          <p:cNvSpPr/>
          <p:nvPr/>
        </p:nvSpPr>
        <p:spPr>
          <a:xfrm>
            <a:off x="3769213" y="3114136"/>
            <a:ext cx="1406636" cy="1449238"/>
          </a:xfrm>
          <a:prstGeom prst="borderCallout1">
            <a:avLst>
              <a:gd name="adj1" fmla="val 53885"/>
              <a:gd name="adj2" fmla="val -612"/>
              <a:gd name="adj3" fmla="val -6307"/>
              <a:gd name="adj4" fmla="val -68550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Output :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2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5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8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6539707" y="2208093"/>
            <a:ext cx="4424467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= [(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), (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4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5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6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), (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7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8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9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)]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a,b,c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print(b)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6039714" y="2208093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10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6039715" y="1878909"/>
            <a:ext cx="2776482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withtupleunpacking.py</a:t>
            </a:r>
          </a:p>
        </p:txBody>
      </p:sp>
      <p:sp>
        <p:nvSpPr>
          <p:cNvPr id="11" name="Line Callout 1 10"/>
          <p:cNvSpPr/>
          <p:nvPr/>
        </p:nvSpPr>
        <p:spPr>
          <a:xfrm>
            <a:off x="8392972" y="3122762"/>
            <a:ext cx="1406636" cy="1449238"/>
          </a:xfrm>
          <a:prstGeom prst="borderCallout1">
            <a:avLst>
              <a:gd name="adj1" fmla="val 53885"/>
              <a:gd name="adj2" fmla="val -612"/>
              <a:gd name="adj3" fmla="val -10473"/>
              <a:gd name="adj4" fmla="val -39726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Output :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2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5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8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Line Callout 1 11"/>
          <p:cNvSpPr/>
          <p:nvPr/>
        </p:nvSpPr>
        <p:spPr>
          <a:xfrm>
            <a:off x="6012081" y="3131389"/>
            <a:ext cx="1406636" cy="1449238"/>
          </a:xfrm>
          <a:prstGeom prst="borderCallout1">
            <a:avLst>
              <a:gd name="adj1" fmla="val -2067"/>
              <a:gd name="adj2" fmla="val 47836"/>
              <a:gd name="adj3" fmla="val -31307"/>
              <a:gd name="adj4" fmla="val 74955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This technique is known as </a:t>
            </a:r>
            <a:r>
              <a:rPr lang="en-IN" dirty="0" err="1">
                <a:solidFill>
                  <a:schemeClr val="tx1"/>
                </a:solidFill>
              </a:rPr>
              <a:t>tuple</a:t>
            </a:r>
            <a:r>
              <a:rPr lang="en-IN" dirty="0">
                <a:solidFill>
                  <a:schemeClr val="tx1"/>
                </a:solidFill>
              </a:rPr>
              <a:t> unpacking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animBg="1"/>
      <p:bldP spid="7" grpId="0" animBg="1"/>
      <p:bldP spid="7" grpId="1" animBg="1"/>
      <p:bldP spid="8" grpId="0" uiExpand="1" build="p" animBg="1"/>
      <p:bldP spid="9" grpId="0" animBg="1"/>
      <p:bldP spid="10" grpId="0" animBg="1"/>
      <p:bldP spid="11" grpId="0" animBg="1"/>
      <p:bldP spid="11" grpId="1" animBg="1"/>
      <p:bldP spid="12" grpId="0" animBg="1"/>
      <p:bldP spid="12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for loop with else</a:t>
            </a:r>
            <a:endParaRPr lang="en-US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3AF844E-5FFD-8946-A0F6-1F13B514EE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The else block just after for/while is executed only when the loop is </a:t>
            </a:r>
            <a:r>
              <a:rPr lang="en-US" dirty="0">
                <a:solidFill>
                  <a:srgbClr val="C00000"/>
                </a:solidFill>
              </a:rPr>
              <a:t>NOT terminated </a:t>
            </a:r>
            <a:r>
              <a:rPr lang="en-US" dirty="0"/>
              <a:t>by a break statement.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/>
            </a:r>
            <a:br>
              <a:rPr lang="en-US" b="1" dirty="0"/>
            </a:br>
            <a:endParaRPr lang="en-US" b="1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0E434B-044D-DC42-80D1-F2F813706E5E}"/>
              </a:ext>
            </a:extLst>
          </p:cNvPr>
          <p:cNvSpPr/>
          <p:nvPr/>
        </p:nvSpPr>
        <p:spPr>
          <a:xfrm>
            <a:off x="1034581" y="2053028"/>
            <a:ext cx="3626629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i 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range(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4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print(i)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"No Break"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  <a:endParaRPr lang="en-US" sz="1600" b="0" dirty="0">
              <a:solidFill>
                <a:srgbClr val="000000"/>
              </a:solidFill>
              <a:effectLst/>
              <a:latin typeface="Consola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707BE7-60A8-4B49-8669-B81A21CD70D3}"/>
              </a:ext>
            </a:extLst>
          </p:cNvPr>
          <p:cNvSpPr/>
          <p:nvPr/>
        </p:nvSpPr>
        <p:spPr>
          <a:xfrm>
            <a:off x="534588" y="2053028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44FCFFD0-2407-FA4F-A6AE-38ECBBEF3E7B}"/>
              </a:ext>
            </a:extLst>
          </p:cNvPr>
          <p:cNvSpPr/>
          <p:nvPr/>
        </p:nvSpPr>
        <p:spPr>
          <a:xfrm>
            <a:off x="534588" y="1723844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Example1.py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F08611-7A58-5249-ABFB-98DCC4A2436E}"/>
              </a:ext>
            </a:extLst>
          </p:cNvPr>
          <p:cNvSpPr/>
          <p:nvPr/>
        </p:nvSpPr>
        <p:spPr>
          <a:xfrm>
            <a:off x="534588" y="4116464"/>
            <a:ext cx="3973551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1 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2 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3 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No Break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00EA69AD-C86D-9B4A-A86B-1D7E1E90132B}"/>
              </a:ext>
            </a:extLst>
          </p:cNvPr>
          <p:cNvSpPr/>
          <p:nvPr/>
        </p:nvSpPr>
        <p:spPr>
          <a:xfrm>
            <a:off x="534588" y="3787280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773214-FFF9-884C-9B9E-82F4494C3030}"/>
              </a:ext>
            </a:extLst>
          </p:cNvPr>
          <p:cNvSpPr/>
          <p:nvPr/>
        </p:nvSpPr>
        <p:spPr>
          <a:xfrm>
            <a:off x="6260786" y="2053028"/>
            <a:ext cx="4726212" cy="13542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i 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range(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4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print(i)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break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 </a:t>
            </a:r>
            <a:r>
              <a:rPr lang="en-US" sz="1600" dirty="0">
                <a:solidFill>
                  <a:srgbClr val="008000"/>
                </a:solidFill>
                <a:latin typeface="Consolas"/>
              </a:rPr>
              <a:t># Not executed as there is a break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"No Break"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  <a:endParaRPr lang="en-US" sz="1600" b="0" dirty="0">
              <a:solidFill>
                <a:srgbClr val="000000"/>
              </a:solidFill>
              <a:effectLst/>
              <a:latin typeface="Consola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F2B7DC-AFBF-C145-B653-EE2B136837EB}"/>
              </a:ext>
            </a:extLst>
          </p:cNvPr>
          <p:cNvSpPr/>
          <p:nvPr/>
        </p:nvSpPr>
        <p:spPr>
          <a:xfrm>
            <a:off x="5760793" y="2053028"/>
            <a:ext cx="499993" cy="1323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0931CBEE-F502-8B47-90CD-6DCB353F02B4}"/>
              </a:ext>
            </a:extLst>
          </p:cNvPr>
          <p:cNvSpPr/>
          <p:nvPr/>
        </p:nvSpPr>
        <p:spPr>
          <a:xfrm>
            <a:off x="5760793" y="1723844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Example2.py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9B6788-FA8E-C74A-962B-076357ABB9EE}"/>
              </a:ext>
            </a:extLst>
          </p:cNvPr>
          <p:cNvSpPr/>
          <p:nvPr/>
        </p:nvSpPr>
        <p:spPr>
          <a:xfrm>
            <a:off x="5757076" y="4116464"/>
            <a:ext cx="3973551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A1FD993B-C7EF-704E-B8E9-0D2DBFD473D9}"/>
              </a:ext>
            </a:extLst>
          </p:cNvPr>
          <p:cNvSpPr/>
          <p:nvPr/>
        </p:nvSpPr>
        <p:spPr>
          <a:xfrm>
            <a:off x="5757076" y="3787280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496706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  <p:bldP spid="9" grpId="0" build="p" animBg="1"/>
      <p:bldP spid="10" grpId="0" animBg="1"/>
      <p:bldP spid="11" grpId="0" animBg="1"/>
      <p:bldP spid="12" grpId="0" build="p" animBg="1"/>
      <p:bldP spid="1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9B84E-F653-9147-9A5E-8FB14CE57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0E434B-044D-DC42-80D1-F2F813706E5E}"/>
              </a:ext>
            </a:extLst>
          </p:cNvPr>
          <p:cNvSpPr/>
          <p:nvPr/>
        </p:nvSpPr>
        <p:spPr>
          <a:xfrm>
            <a:off x="786931" y="1147972"/>
            <a:ext cx="5813894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8000"/>
                </a:solidFill>
                <a:latin typeface="Consolas"/>
              </a:rPr>
              <a:t>#odd numbers between 1 to n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num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(input(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"Enter Number = 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))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i 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range(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,num+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i % 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!= 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    print(i)</a:t>
            </a:r>
            <a:endParaRPr lang="en-US" sz="1600" b="0" dirty="0">
              <a:solidFill>
                <a:srgbClr val="000000"/>
              </a:solidFill>
              <a:effectLst/>
              <a:latin typeface="Consola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707BE7-60A8-4B49-8669-B81A21CD70D3}"/>
              </a:ext>
            </a:extLst>
          </p:cNvPr>
          <p:cNvSpPr/>
          <p:nvPr/>
        </p:nvSpPr>
        <p:spPr>
          <a:xfrm>
            <a:off x="286938" y="1147972"/>
            <a:ext cx="499993" cy="1323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44FCFFD0-2407-FA4F-A6AE-38ECBBEF3E7B}"/>
              </a:ext>
            </a:extLst>
          </p:cNvPr>
          <p:cNvSpPr/>
          <p:nvPr/>
        </p:nvSpPr>
        <p:spPr>
          <a:xfrm>
            <a:off x="286938" y="818788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Example1.py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F08611-7A58-5249-ABFB-98DCC4A2436E}"/>
              </a:ext>
            </a:extLst>
          </p:cNvPr>
          <p:cNvSpPr/>
          <p:nvPr/>
        </p:nvSpPr>
        <p:spPr>
          <a:xfrm>
            <a:off x="8154589" y="1331795"/>
            <a:ext cx="2170512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Enter Number = 5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1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3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5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00EA69AD-C86D-9B4A-A86B-1D7E1E90132B}"/>
              </a:ext>
            </a:extLst>
          </p:cNvPr>
          <p:cNvSpPr/>
          <p:nvPr/>
        </p:nvSpPr>
        <p:spPr>
          <a:xfrm>
            <a:off x="8154588" y="1002611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0E434B-044D-DC42-80D1-F2F813706E5E}"/>
              </a:ext>
            </a:extLst>
          </p:cNvPr>
          <p:cNvSpPr/>
          <p:nvPr/>
        </p:nvSpPr>
        <p:spPr>
          <a:xfrm>
            <a:off x="786931" y="3019901"/>
            <a:ext cx="5813894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8000"/>
                </a:solidFill>
                <a:latin typeface="Consolas"/>
              </a:rPr>
              <a:t>#series 1 + 4 + 9 + 16 + 25 + 36 + ...n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num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(input(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"Enter Number = 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sum = 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0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i 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range(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,num+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sum = sum + i**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2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"Sum="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,sum)</a:t>
            </a:r>
            <a:endParaRPr lang="en-US" sz="1600" b="0" dirty="0">
              <a:solidFill>
                <a:srgbClr val="000000"/>
              </a:solidFill>
              <a:effectLst/>
              <a:latin typeface="Consola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707BE7-60A8-4B49-8669-B81A21CD70D3}"/>
              </a:ext>
            </a:extLst>
          </p:cNvPr>
          <p:cNvSpPr/>
          <p:nvPr/>
        </p:nvSpPr>
        <p:spPr>
          <a:xfrm>
            <a:off x="286938" y="3019901"/>
            <a:ext cx="499993" cy="15696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44FCFFD0-2407-FA4F-A6AE-38ECBBEF3E7B}"/>
              </a:ext>
            </a:extLst>
          </p:cNvPr>
          <p:cNvSpPr/>
          <p:nvPr/>
        </p:nvSpPr>
        <p:spPr>
          <a:xfrm>
            <a:off x="286938" y="2690717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Example2.py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F08611-7A58-5249-ABFB-98DCC4A2436E}"/>
              </a:ext>
            </a:extLst>
          </p:cNvPr>
          <p:cNvSpPr/>
          <p:nvPr/>
        </p:nvSpPr>
        <p:spPr>
          <a:xfrm>
            <a:off x="8154589" y="3184493"/>
            <a:ext cx="2618186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Enter Number = 10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Sum= 385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00EA69AD-C86D-9B4A-A86B-1D7E1E90132B}"/>
              </a:ext>
            </a:extLst>
          </p:cNvPr>
          <p:cNvSpPr/>
          <p:nvPr/>
        </p:nvSpPr>
        <p:spPr>
          <a:xfrm>
            <a:off x="8154588" y="2855309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4056474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  <p:bldP spid="9" grpId="0" build="p" animBg="1"/>
      <p:bldP spid="10" grpId="0" animBg="1"/>
      <p:bldP spid="11" grpId="0" animBg="1"/>
      <p:bldP spid="12" grpId="0" build="p" animBg="1"/>
      <p:bldP spid="1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9C5AD-9834-BC43-A5B0-C49238E06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0E434B-044D-DC42-80D1-F2F813706E5E}"/>
              </a:ext>
            </a:extLst>
          </p:cNvPr>
          <p:cNvSpPr/>
          <p:nvPr/>
        </p:nvSpPr>
        <p:spPr>
          <a:xfrm>
            <a:off x="762513" y="1218743"/>
            <a:ext cx="5813894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8000"/>
                </a:solidFill>
                <a:latin typeface="Consolas"/>
              </a:rPr>
              <a:t># Find factorial of the given number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num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(input(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"Enter Number = 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fact = 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i 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range(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,num+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fact = fact * i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"Factorial ="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 fact )</a:t>
            </a:r>
            <a:endParaRPr lang="en-US" sz="1600" b="0" dirty="0">
              <a:solidFill>
                <a:srgbClr val="000000"/>
              </a:solidFill>
              <a:effectLst/>
              <a:latin typeface="Consola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707BE7-60A8-4B49-8669-B81A21CD70D3}"/>
              </a:ext>
            </a:extLst>
          </p:cNvPr>
          <p:cNvSpPr/>
          <p:nvPr/>
        </p:nvSpPr>
        <p:spPr>
          <a:xfrm>
            <a:off x="262520" y="1218743"/>
            <a:ext cx="499993" cy="15696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44FCFFD0-2407-FA4F-A6AE-38ECBBEF3E7B}"/>
              </a:ext>
            </a:extLst>
          </p:cNvPr>
          <p:cNvSpPr/>
          <p:nvPr/>
        </p:nvSpPr>
        <p:spPr>
          <a:xfrm>
            <a:off x="262520" y="889559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Example3.py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F08611-7A58-5249-ABFB-98DCC4A2436E}"/>
              </a:ext>
            </a:extLst>
          </p:cNvPr>
          <p:cNvSpPr/>
          <p:nvPr/>
        </p:nvSpPr>
        <p:spPr>
          <a:xfrm>
            <a:off x="8130171" y="1383335"/>
            <a:ext cx="2985504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Enter Number = 5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Factorial = 120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00EA69AD-C86D-9B4A-A86B-1D7E1E90132B}"/>
              </a:ext>
            </a:extLst>
          </p:cNvPr>
          <p:cNvSpPr/>
          <p:nvPr/>
        </p:nvSpPr>
        <p:spPr>
          <a:xfrm>
            <a:off x="8130170" y="1054151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E6B2D7-C293-AE40-A907-72DC2E3FA71D}"/>
              </a:ext>
            </a:extLst>
          </p:cNvPr>
          <p:cNvSpPr/>
          <p:nvPr/>
        </p:nvSpPr>
        <p:spPr>
          <a:xfrm>
            <a:off x="762513" y="3530501"/>
            <a:ext cx="5813894" cy="23083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8000"/>
                </a:solidFill>
                <a:latin typeface="Consolas"/>
              </a:rPr>
              <a:t>#series 1 – 2 + 3 – 4 + 5 – 6 + 7 ... n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num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(input(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"Enter Number = 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sum = 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0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i 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range(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,num+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i % 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== 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    sum = sum - i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    sum = sum + i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"Sum="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,sum)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217884-822B-3148-8BA2-6F6645B7F3D7}"/>
              </a:ext>
            </a:extLst>
          </p:cNvPr>
          <p:cNvSpPr/>
          <p:nvPr/>
        </p:nvSpPr>
        <p:spPr>
          <a:xfrm>
            <a:off x="262520" y="3530501"/>
            <a:ext cx="499993" cy="23083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</p:txBody>
      </p:sp>
      <p:sp>
        <p:nvSpPr>
          <p:cNvPr id="16" name="Rectangle: Top Corners Rounded 6">
            <a:extLst>
              <a:ext uri="{FF2B5EF4-FFF2-40B4-BE49-F238E27FC236}">
                <a16:creationId xmlns:a16="http://schemas.microsoft.com/office/drawing/2014/main" id="{44BEABCC-8962-454E-9895-A46772BC494E}"/>
              </a:ext>
            </a:extLst>
          </p:cNvPr>
          <p:cNvSpPr/>
          <p:nvPr/>
        </p:nvSpPr>
        <p:spPr>
          <a:xfrm>
            <a:off x="262520" y="3201317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Example4.py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6ED549-DA02-8A4C-B511-8B89D7546423}"/>
              </a:ext>
            </a:extLst>
          </p:cNvPr>
          <p:cNvSpPr/>
          <p:nvPr/>
        </p:nvSpPr>
        <p:spPr>
          <a:xfrm>
            <a:off x="8063264" y="3695093"/>
            <a:ext cx="2799160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Enter Number = 10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Sum= -5</a:t>
            </a:r>
          </a:p>
        </p:txBody>
      </p:sp>
      <p:sp>
        <p:nvSpPr>
          <p:cNvPr id="18" name="Rectangle: Top Corners Rounded 6">
            <a:extLst>
              <a:ext uri="{FF2B5EF4-FFF2-40B4-BE49-F238E27FC236}">
                <a16:creationId xmlns:a16="http://schemas.microsoft.com/office/drawing/2014/main" id="{CE267B41-41F1-B449-A9EB-62DCC7C352D1}"/>
              </a:ext>
            </a:extLst>
          </p:cNvPr>
          <p:cNvSpPr/>
          <p:nvPr/>
        </p:nvSpPr>
        <p:spPr>
          <a:xfrm>
            <a:off x="8063263" y="3365909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023120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 animBg="1"/>
      <p:bldP spid="10" grpId="0" animBg="1"/>
      <p:bldP spid="11" grpId="0" animBg="1"/>
      <p:bldP spid="12" grpId="0" build="p" animBg="1"/>
      <p:bldP spid="13" grpId="0" animBg="1"/>
      <p:bldP spid="14" grpId="0" build="p" animBg="1"/>
      <p:bldP spid="15" grpId="0" animBg="1"/>
      <p:bldP spid="16" grpId="0" animBg="1"/>
      <p:bldP spid="17" grpId="0" build="p" animBg="1"/>
      <p:bldP spid="1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while loop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425843"/>
          </a:xfrm>
        </p:spPr>
        <p:txBody>
          <a:bodyPr/>
          <a:lstStyle/>
          <a:p>
            <a:r>
              <a:rPr lang="en-IN" dirty="0"/>
              <a:t>While loop will continue to </a:t>
            </a:r>
            <a:r>
              <a:rPr lang="en-IN" dirty="0">
                <a:solidFill>
                  <a:srgbClr val="C00000"/>
                </a:solidFill>
              </a:rPr>
              <a:t>execute block of code </a:t>
            </a:r>
            <a:r>
              <a:rPr lang="en-IN" dirty="0"/>
              <a:t>until some condition </a:t>
            </a:r>
            <a:r>
              <a:rPr lang="en-IN" dirty="0">
                <a:solidFill>
                  <a:srgbClr val="C00000"/>
                </a:solidFill>
              </a:rPr>
              <a:t>remains True</a:t>
            </a:r>
            <a:r>
              <a:rPr lang="en-IN" dirty="0"/>
              <a:t>.</a:t>
            </a:r>
          </a:p>
          <a:p>
            <a:r>
              <a:rPr lang="en-IN" dirty="0"/>
              <a:t>For example, </a:t>
            </a:r>
          </a:p>
          <a:p>
            <a:pPr lvl="1"/>
            <a:r>
              <a:rPr lang="en-IN" dirty="0"/>
              <a:t>while felling hungry, keep eating </a:t>
            </a:r>
          </a:p>
          <a:p>
            <a:pPr lvl="1"/>
            <a:r>
              <a:rPr lang="en-IN" dirty="0"/>
              <a:t>while have internet pack available, keep watching videos</a:t>
            </a:r>
          </a:p>
          <a:p>
            <a:pPr lvl="1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83709" y="2798341"/>
            <a:ext cx="8472276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while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some_condition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: 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sz="1600" dirty="0">
                <a:solidFill>
                  <a:srgbClr val="008000"/>
                </a:solidFill>
                <a:latin typeface="Consolas"/>
              </a:rPr>
              <a:t># Code to execute in loop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83716" y="2798341"/>
            <a:ext cx="499993" cy="584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83716" y="2469157"/>
            <a:ext cx="128618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7" name="Line Callout 1 6"/>
          <p:cNvSpPr/>
          <p:nvPr/>
        </p:nvSpPr>
        <p:spPr>
          <a:xfrm>
            <a:off x="5675650" y="2399772"/>
            <a:ext cx="4495800" cy="626533"/>
          </a:xfrm>
          <a:prstGeom prst="borderCallout1">
            <a:avLst>
              <a:gd name="adj1" fmla="val 53885"/>
              <a:gd name="adj2" fmla="val -612"/>
              <a:gd name="adj3" fmla="val 95034"/>
              <a:gd name="adj4" fmla="val -44533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while loop ends with </a:t>
            </a:r>
            <a:r>
              <a:rPr lang="en-IN" b="1" dirty="0">
                <a:solidFill>
                  <a:srgbClr val="FF0000"/>
                </a:solidFill>
              </a:rPr>
              <a:t>: 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8" name="Line Callout 1 7"/>
          <p:cNvSpPr/>
          <p:nvPr/>
        </p:nvSpPr>
        <p:spPr>
          <a:xfrm>
            <a:off x="2245569" y="3415202"/>
            <a:ext cx="4495800" cy="626533"/>
          </a:xfrm>
          <a:prstGeom prst="borderCallout1">
            <a:avLst>
              <a:gd name="adj1" fmla="val 53885"/>
              <a:gd name="adj2" fmla="val -612"/>
              <a:gd name="adj3" fmla="val -23622"/>
              <a:gd name="adj4" fmla="val -21648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Indentation (tab/whitespace) at the beginning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79186" y="4528599"/>
            <a:ext cx="4881667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0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while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x &lt; 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: 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print(x)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x += 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sz="1600" dirty="0">
                <a:solidFill>
                  <a:srgbClr val="008000"/>
                </a:solidFill>
                <a:latin typeface="Consolas"/>
              </a:rPr>
              <a:t># x++ is </a:t>
            </a:r>
            <a:r>
              <a:rPr lang="en-US" sz="1600" dirty="0">
                <a:solidFill>
                  <a:srgbClr val="FF0000"/>
                </a:solidFill>
                <a:latin typeface="Consolas"/>
              </a:rPr>
              <a:t>invalid</a:t>
            </a:r>
            <a:r>
              <a:rPr lang="en-US" sz="1600" dirty="0">
                <a:solidFill>
                  <a:srgbClr val="008000"/>
                </a:solidFill>
                <a:latin typeface="Consolas"/>
              </a:rPr>
              <a:t> in python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79193" y="4528599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79193" y="4199415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whiledemo.py</a:t>
            </a:r>
          </a:p>
        </p:txBody>
      </p:sp>
      <p:sp>
        <p:nvSpPr>
          <p:cNvPr id="12" name="Line Callout 1 11"/>
          <p:cNvSpPr/>
          <p:nvPr/>
        </p:nvSpPr>
        <p:spPr>
          <a:xfrm>
            <a:off x="5494496" y="4261448"/>
            <a:ext cx="1406636" cy="1449238"/>
          </a:xfrm>
          <a:prstGeom prst="borderCallout1">
            <a:avLst>
              <a:gd name="adj1" fmla="val 53885"/>
              <a:gd name="adj2" fmla="val -612"/>
              <a:gd name="adj3" fmla="val 65122"/>
              <a:gd name="adj4" fmla="val -210215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Output :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0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7514491" y="4045518"/>
            <a:ext cx="4677509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5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while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x &lt; 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: 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print(x)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x += 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sz="1600" dirty="0">
                <a:solidFill>
                  <a:srgbClr val="008000"/>
                </a:solidFill>
                <a:latin typeface="Consolas"/>
              </a:rPr>
              <a:t># x++ is </a:t>
            </a:r>
            <a:r>
              <a:rPr lang="en-US" sz="1600" dirty="0">
                <a:solidFill>
                  <a:srgbClr val="FF0000"/>
                </a:solidFill>
                <a:latin typeface="Consolas"/>
              </a:rPr>
              <a:t>invalid</a:t>
            </a:r>
            <a:r>
              <a:rPr lang="en-US" sz="1600" dirty="0">
                <a:solidFill>
                  <a:srgbClr val="008000"/>
                </a:solidFill>
                <a:latin typeface="Consolas"/>
              </a:rPr>
              <a:t> in python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"X is greater than 3"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7014498" y="4045518"/>
            <a:ext cx="499993" cy="15696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</p:txBody>
      </p:sp>
      <p:sp>
        <p:nvSpPr>
          <p:cNvPr id="15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7014498" y="3716334"/>
            <a:ext cx="128618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withelse.py</a:t>
            </a:r>
          </a:p>
        </p:txBody>
      </p:sp>
      <p:sp>
        <p:nvSpPr>
          <p:cNvPr id="16" name="Line Callout 1 15"/>
          <p:cNvSpPr/>
          <p:nvPr/>
        </p:nvSpPr>
        <p:spPr>
          <a:xfrm>
            <a:off x="10489190" y="3269409"/>
            <a:ext cx="1406636" cy="1449238"/>
          </a:xfrm>
          <a:prstGeom prst="borderCallout1">
            <a:avLst>
              <a:gd name="adj1" fmla="val 53885"/>
              <a:gd name="adj2" fmla="val -612"/>
              <a:gd name="adj3" fmla="val 140122"/>
              <a:gd name="adj4" fmla="val -134782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Output :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X is greater than 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 animBg="1"/>
      <p:bldP spid="5" grpId="0" animBg="1"/>
      <p:bldP spid="6" grpId="0" animBg="1"/>
      <p:bldP spid="7" grpId="0" animBg="1"/>
      <p:bldP spid="7" grpId="1" animBg="1"/>
      <p:bldP spid="8" grpId="0" animBg="1"/>
      <p:bldP spid="8" grpId="1" animBg="1"/>
      <p:bldP spid="9" grpId="0" build="p" animBg="1"/>
      <p:bldP spid="10" grpId="0" animBg="1"/>
      <p:bldP spid="11" grpId="0" animBg="1"/>
      <p:bldP spid="12" grpId="0" animBg="1"/>
      <p:bldP spid="12" grpId="1" animBg="1"/>
      <p:bldP spid="13" grpId="0" build="p" animBg="1"/>
      <p:bldP spid="14" grpId="0" animBg="1"/>
      <p:bldP spid="15" grpId="0" animBg="1"/>
      <p:bldP spid="16" grpId="0" animBg="1"/>
      <p:bldP spid="16" grpId="1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0E434B-044D-DC42-80D1-F2F813706E5E}"/>
              </a:ext>
            </a:extLst>
          </p:cNvPr>
          <p:cNvSpPr/>
          <p:nvPr/>
        </p:nvSpPr>
        <p:spPr>
          <a:xfrm>
            <a:off x="786931" y="1147972"/>
            <a:ext cx="5813894" cy="18158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8000"/>
                </a:solidFill>
                <a:latin typeface="Consolas"/>
              </a:rPr>
              <a:t>#odd numbers between 1 to n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num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(input(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"Enter Number = 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i=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0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while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(i&lt;=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num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i % 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!= 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    print(i)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i+=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707BE7-60A8-4B49-8669-B81A21CD70D3}"/>
              </a:ext>
            </a:extLst>
          </p:cNvPr>
          <p:cNvSpPr/>
          <p:nvPr/>
        </p:nvSpPr>
        <p:spPr>
          <a:xfrm>
            <a:off x="286938" y="1147972"/>
            <a:ext cx="499993" cy="1815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44FCFFD0-2407-FA4F-A6AE-38ECBBEF3E7B}"/>
              </a:ext>
            </a:extLst>
          </p:cNvPr>
          <p:cNvSpPr/>
          <p:nvPr/>
        </p:nvSpPr>
        <p:spPr>
          <a:xfrm>
            <a:off x="286938" y="818788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Example1.py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F08611-7A58-5249-ABFB-98DCC4A2436E}"/>
              </a:ext>
            </a:extLst>
          </p:cNvPr>
          <p:cNvSpPr/>
          <p:nvPr/>
        </p:nvSpPr>
        <p:spPr>
          <a:xfrm>
            <a:off x="8154589" y="1331795"/>
            <a:ext cx="2170512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Enter Number = 5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1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3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5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00EA69AD-C86D-9B4A-A86B-1D7E1E90132B}"/>
              </a:ext>
            </a:extLst>
          </p:cNvPr>
          <p:cNvSpPr/>
          <p:nvPr/>
        </p:nvSpPr>
        <p:spPr>
          <a:xfrm>
            <a:off x="8154588" y="1002611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0E434B-044D-DC42-80D1-F2F813706E5E}"/>
              </a:ext>
            </a:extLst>
          </p:cNvPr>
          <p:cNvSpPr/>
          <p:nvPr/>
        </p:nvSpPr>
        <p:spPr>
          <a:xfrm>
            <a:off x="786932" y="3574566"/>
            <a:ext cx="5813894" cy="18158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8000"/>
                </a:solidFill>
                <a:latin typeface="Consolas"/>
              </a:rPr>
              <a:t>#series 1 + 4 + 9 + 16 + 25 + 36 + ...n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num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(input(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"Enter Number = 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sum = i = 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0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while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(i&lt;=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num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sum = sum + i**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2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i+=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"Sum="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,sum)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707BE7-60A8-4B49-8669-B81A21CD70D3}"/>
              </a:ext>
            </a:extLst>
          </p:cNvPr>
          <p:cNvSpPr/>
          <p:nvPr/>
        </p:nvSpPr>
        <p:spPr>
          <a:xfrm>
            <a:off x="286939" y="3574566"/>
            <a:ext cx="499993" cy="1815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44FCFFD0-2407-FA4F-A6AE-38ECBBEF3E7B}"/>
              </a:ext>
            </a:extLst>
          </p:cNvPr>
          <p:cNvSpPr/>
          <p:nvPr/>
        </p:nvSpPr>
        <p:spPr>
          <a:xfrm>
            <a:off x="286939" y="3245382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Example2.py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F08611-7A58-5249-ABFB-98DCC4A2436E}"/>
              </a:ext>
            </a:extLst>
          </p:cNvPr>
          <p:cNvSpPr/>
          <p:nvPr/>
        </p:nvSpPr>
        <p:spPr>
          <a:xfrm>
            <a:off x="8154590" y="3739158"/>
            <a:ext cx="2618186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Enter Number = 10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Sum= 385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00EA69AD-C86D-9B4A-A86B-1D7E1E90132B}"/>
              </a:ext>
            </a:extLst>
          </p:cNvPr>
          <p:cNvSpPr/>
          <p:nvPr/>
        </p:nvSpPr>
        <p:spPr>
          <a:xfrm>
            <a:off x="8154589" y="3409974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344529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  <p:bldP spid="9" grpId="0" build="p" animBg="1"/>
      <p:bldP spid="10" grpId="0" animBg="1"/>
      <p:bldP spid="11" grpId="0" animBg="1"/>
      <p:bldP spid="12" grpId="0" build="p" animBg="1"/>
      <p:bldP spid="1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programs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 Following programs using for and while loop.</a:t>
            </a:r>
          </a:p>
          <a:p>
            <a:pPr lvl="1"/>
            <a:r>
              <a:rPr lang="en-US" dirty="0"/>
              <a:t>WAP to find out sum of first and last digit of a given number</a:t>
            </a:r>
          </a:p>
          <a:p>
            <a:pPr lvl="1"/>
            <a:r>
              <a:rPr lang="en-US" dirty="0"/>
              <a:t>WAP to find whether the given number is prime or not.</a:t>
            </a:r>
          </a:p>
          <a:p>
            <a:pPr lvl="1"/>
            <a:r>
              <a:rPr lang="en-US" dirty="0"/>
              <a:t>WAP to find out prime numbers between given two numbers</a:t>
            </a:r>
          </a:p>
          <a:p>
            <a:pPr lvl="1"/>
            <a:r>
              <a:rPr lang="en-US" dirty="0"/>
              <a:t>WAP to print given number in reverse order.</a:t>
            </a:r>
          </a:p>
          <a:p>
            <a:pPr lvl="1"/>
            <a:r>
              <a:rPr lang="en-US" dirty="0"/>
              <a:t>WAP to check whether the given number is Armstrong or not.</a:t>
            </a:r>
          </a:p>
          <a:p>
            <a:pPr lvl="1"/>
            <a:r>
              <a:rPr lang="en-US" dirty="0"/>
              <a:t>WAP to find the sum of 1 + (1+2) + (1+2+3) + (1+2+3+4)+ …+(1+2+3+4+….+n).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0580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break keyword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5"/>
            <a:ext cx="11870320" cy="2492688"/>
          </a:xfrm>
        </p:spPr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Breaks</a:t>
            </a:r>
            <a:r>
              <a:rPr lang="en-IN" dirty="0"/>
              <a:t> out of the current </a:t>
            </a:r>
            <a:r>
              <a:rPr lang="en-IN" dirty="0">
                <a:solidFill>
                  <a:srgbClr val="C00000"/>
                </a:solidFill>
              </a:rPr>
              <a:t>closest enclosing loop</a:t>
            </a:r>
            <a:r>
              <a:rPr lang="en-IN" dirty="0"/>
              <a:t>.</a:t>
            </a:r>
          </a:p>
          <a:p>
            <a:r>
              <a:rPr lang="en-US" dirty="0"/>
              <a:t>break Statement is a loop control statement that is used to </a:t>
            </a:r>
            <a:r>
              <a:rPr lang="en-US" dirty="0">
                <a:solidFill>
                  <a:srgbClr val="C00000"/>
                </a:solidFill>
              </a:rPr>
              <a:t>terminate the loop</a:t>
            </a:r>
            <a:r>
              <a:rPr lang="en-US" dirty="0"/>
              <a:t>. </a:t>
            </a:r>
          </a:p>
          <a:p>
            <a:r>
              <a:rPr lang="en-US" dirty="0"/>
              <a:t>As soon as the break statement is encountered from within a loop, the loop iterations stop there, and control returns from the loop immediately to the </a:t>
            </a:r>
            <a:r>
              <a:rPr lang="en-US" dirty="0">
                <a:solidFill>
                  <a:srgbClr val="C00000"/>
                </a:solidFill>
              </a:rPr>
              <a:t>first statement </a:t>
            </a:r>
            <a:r>
              <a:rPr lang="en-US" dirty="0"/>
              <a:t>after the loop. </a:t>
            </a:r>
          </a:p>
          <a:p>
            <a:r>
              <a:rPr lang="en-US" dirty="0"/>
              <a:t>Basically, break statements are used in situations when we are not sure about the actual number of iterations for the loop or we want to </a:t>
            </a:r>
            <a:r>
              <a:rPr lang="en-US" dirty="0">
                <a:solidFill>
                  <a:srgbClr val="C00000"/>
                </a:solidFill>
              </a:rPr>
              <a:t>terminate the loop based on some condition</a:t>
            </a:r>
            <a:r>
              <a:rPr lang="en-US" dirty="0"/>
              <a:t>.  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940611" y="3731791"/>
            <a:ext cx="1526141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break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440618" y="3731791"/>
            <a:ext cx="4999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14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440618" y="3402607"/>
            <a:ext cx="128618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940611" y="4594602"/>
            <a:ext cx="4605622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temp 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range(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5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 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temp == 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    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break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/>
              </a:rPr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    print(temp)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440618" y="4594602"/>
            <a:ext cx="499993" cy="1323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17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440618" y="4265418"/>
            <a:ext cx="1711567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breakdemo.py</a:t>
            </a:r>
          </a:p>
        </p:txBody>
      </p:sp>
      <p:sp>
        <p:nvSpPr>
          <p:cNvPr id="18" name="Line Callout 1 17"/>
          <p:cNvSpPr/>
          <p:nvPr/>
        </p:nvSpPr>
        <p:spPr>
          <a:xfrm>
            <a:off x="4381136" y="4198041"/>
            <a:ext cx="1406636" cy="1673525"/>
          </a:xfrm>
          <a:prstGeom prst="borderCallout1">
            <a:avLst>
              <a:gd name="adj1" fmla="val 53885"/>
              <a:gd name="adj2" fmla="val -612"/>
              <a:gd name="adj3" fmla="val 47769"/>
              <a:gd name="adj4" fmla="val -105347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Output :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0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" grpId="0" uiExpand="1" build="p" animBg="1"/>
      <p:bldP spid="13" grpId="0" animBg="1"/>
      <p:bldP spid="14" grpId="0" animBg="1"/>
      <p:bldP spid="15" grpId="0" build="p" animBg="1"/>
      <p:bldP spid="16" grpId="0" animBg="1"/>
      <p:bldP spid="17" grpId="0" animBg="1"/>
      <p:bldP spid="18" grpId="0" animBg="1"/>
      <p:bldP spid="18" grpId="1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255FD-5826-3944-9285-B13BD18ED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continue keyword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A557487-BA34-6F4D-884C-8B7660368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Goes to the top of the </a:t>
            </a:r>
            <a:r>
              <a:rPr lang="en-US" dirty="0">
                <a:solidFill>
                  <a:srgbClr val="C00000"/>
                </a:solidFill>
              </a:rPr>
              <a:t>current closest enclosing loop</a:t>
            </a:r>
            <a:r>
              <a:rPr lang="en-US" dirty="0"/>
              <a:t>.</a:t>
            </a:r>
          </a:p>
          <a:p>
            <a:r>
              <a:rPr lang="en-US" dirty="0"/>
              <a:t>continue statement is a loop control statement that forces to execute the </a:t>
            </a:r>
            <a:r>
              <a:rPr lang="en-US" dirty="0">
                <a:solidFill>
                  <a:srgbClr val="C00000"/>
                </a:solidFill>
              </a:rPr>
              <a:t>next iteration </a:t>
            </a:r>
            <a:r>
              <a:rPr lang="en-US" dirty="0"/>
              <a:t>of the loop while </a:t>
            </a:r>
            <a:r>
              <a:rPr lang="en-US" dirty="0">
                <a:solidFill>
                  <a:srgbClr val="C00000"/>
                </a:solidFill>
              </a:rPr>
              <a:t>skipping the rest </a:t>
            </a:r>
            <a:r>
              <a:rPr lang="en-US" dirty="0"/>
              <a:t>of the code inside the loop for the current iteration only i.e. </a:t>
            </a:r>
          </a:p>
          <a:p>
            <a:r>
              <a:rPr lang="en-US" dirty="0"/>
              <a:t>When the continue statement is executed in the loop, the code inside the loop following the continue statement will be </a:t>
            </a:r>
            <a:r>
              <a:rPr lang="en-US" dirty="0">
                <a:solidFill>
                  <a:srgbClr val="C00000"/>
                </a:solidFill>
              </a:rPr>
              <a:t>skipped</a:t>
            </a:r>
            <a:r>
              <a:rPr lang="en-US" dirty="0"/>
              <a:t> for the </a:t>
            </a:r>
            <a:r>
              <a:rPr lang="en-US" dirty="0">
                <a:solidFill>
                  <a:srgbClr val="C00000"/>
                </a:solidFill>
              </a:rPr>
              <a:t>current iteration </a:t>
            </a:r>
            <a:r>
              <a:rPr lang="en-US" dirty="0"/>
              <a:t>and the next iteration of the loop will begin.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/>
            </a:r>
            <a:br>
              <a:rPr lang="en-US" b="1" dirty="0"/>
            </a:br>
            <a:endParaRPr lang="en-US" b="1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306E76-8171-FE4F-BE47-219508BA77AC}"/>
              </a:ext>
            </a:extLst>
          </p:cNvPr>
          <p:cNvSpPr/>
          <p:nvPr/>
        </p:nvSpPr>
        <p:spPr>
          <a:xfrm>
            <a:off x="940611" y="3731791"/>
            <a:ext cx="1526141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continue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384E69-6117-724A-AFE4-26E5C787745E}"/>
              </a:ext>
            </a:extLst>
          </p:cNvPr>
          <p:cNvSpPr/>
          <p:nvPr/>
        </p:nvSpPr>
        <p:spPr>
          <a:xfrm>
            <a:off x="440618" y="3731791"/>
            <a:ext cx="4999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2D9C5D7E-09AD-374C-9EFD-3F49F8874894}"/>
              </a:ext>
            </a:extLst>
          </p:cNvPr>
          <p:cNvSpPr/>
          <p:nvPr/>
        </p:nvSpPr>
        <p:spPr>
          <a:xfrm>
            <a:off x="440618" y="3402607"/>
            <a:ext cx="128618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8E377BE-B153-8D4F-A1C3-73032CFED4A8}"/>
              </a:ext>
            </a:extLst>
          </p:cNvPr>
          <p:cNvSpPr/>
          <p:nvPr/>
        </p:nvSpPr>
        <p:spPr>
          <a:xfrm>
            <a:off x="854251" y="4678847"/>
            <a:ext cx="4605622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temp 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range(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5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 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temp == 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    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continue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/>
              </a:rPr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    print(temp)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7087BD3-ADA5-4343-9CE8-88D9812F3107}"/>
              </a:ext>
            </a:extLst>
          </p:cNvPr>
          <p:cNvSpPr/>
          <p:nvPr/>
        </p:nvSpPr>
        <p:spPr>
          <a:xfrm>
            <a:off x="354258" y="4678847"/>
            <a:ext cx="499993" cy="1323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23" name="Rectangle: Top Corners Rounded 6">
            <a:extLst>
              <a:ext uri="{FF2B5EF4-FFF2-40B4-BE49-F238E27FC236}">
                <a16:creationId xmlns:a16="http://schemas.microsoft.com/office/drawing/2014/main" id="{D5A555B7-C5A1-9A49-95DD-E043E10D3567}"/>
              </a:ext>
            </a:extLst>
          </p:cNvPr>
          <p:cNvSpPr/>
          <p:nvPr/>
        </p:nvSpPr>
        <p:spPr>
          <a:xfrm>
            <a:off x="354259" y="4349663"/>
            <a:ext cx="1697566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continuedemo.py</a:t>
            </a:r>
          </a:p>
        </p:txBody>
      </p:sp>
      <p:sp>
        <p:nvSpPr>
          <p:cNvPr id="24" name="Line Callout 1 23">
            <a:extLst>
              <a:ext uri="{FF2B5EF4-FFF2-40B4-BE49-F238E27FC236}">
                <a16:creationId xmlns:a16="http://schemas.microsoft.com/office/drawing/2014/main" id="{FE909BD2-F445-3C42-99C1-1713155BD007}"/>
              </a:ext>
            </a:extLst>
          </p:cNvPr>
          <p:cNvSpPr/>
          <p:nvPr/>
        </p:nvSpPr>
        <p:spPr>
          <a:xfrm>
            <a:off x="4294776" y="4282286"/>
            <a:ext cx="1406636" cy="1673525"/>
          </a:xfrm>
          <a:prstGeom prst="borderCallout1">
            <a:avLst>
              <a:gd name="adj1" fmla="val 53885"/>
              <a:gd name="adj2" fmla="val -612"/>
              <a:gd name="adj3" fmla="val 47769"/>
              <a:gd name="adj4" fmla="val -105347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Output :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0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3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4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5369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 animBg="1"/>
      <p:bldP spid="12" grpId="0" animBg="1"/>
      <p:bldP spid="13" grpId="0" animBg="1"/>
      <p:bldP spid="21" grpId="0" build="p" animBg="1"/>
      <p:bldP spid="22" grpId="0" animBg="1"/>
      <p:bldP spid="23" grpId="0" animBg="1"/>
      <p:bldP spid="24" grpId="0" animBg="1"/>
      <p:bldP spid="24" grpId="1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255FD-5826-3944-9285-B13BD18ED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pass keyword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A557487-BA34-6F4D-884C-8B7660368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IN" dirty="0"/>
              <a:t>Does nothing at all, will be used as a </a:t>
            </a:r>
            <a:r>
              <a:rPr lang="en-IN" dirty="0">
                <a:solidFill>
                  <a:srgbClr val="C00000"/>
                </a:solidFill>
              </a:rPr>
              <a:t>placeholder</a:t>
            </a:r>
            <a:r>
              <a:rPr lang="en-IN" dirty="0"/>
              <a:t> in conditions where you don’t want to write anything.</a:t>
            </a:r>
          </a:p>
          <a:p>
            <a:r>
              <a:rPr lang="en-US" dirty="0"/>
              <a:t>The pass statement is a </a:t>
            </a:r>
            <a:r>
              <a:rPr lang="en-US" dirty="0">
                <a:solidFill>
                  <a:srgbClr val="C00000"/>
                </a:solidFill>
              </a:rPr>
              <a:t>null statement</a:t>
            </a:r>
            <a:r>
              <a:rPr lang="en-US" dirty="0"/>
              <a:t>. But the difference between pass and comment is that comment is ignored by the interpreter whereas pass is not ignored. </a:t>
            </a:r>
          </a:p>
          <a:p>
            <a:endParaRPr lang="en-IN" dirty="0"/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/>
            </a:r>
            <a:br>
              <a:rPr lang="en-US" b="1" dirty="0"/>
            </a:br>
            <a:endParaRPr lang="en-US" b="1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2FE048D-4B78-F045-9C7B-E41C1DD7739E}"/>
              </a:ext>
            </a:extLst>
          </p:cNvPr>
          <p:cNvSpPr/>
          <p:nvPr/>
        </p:nvSpPr>
        <p:spPr>
          <a:xfrm>
            <a:off x="1086992" y="3085285"/>
            <a:ext cx="1526141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pass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3A4606D-01A3-0B47-BFE8-F76BBD9ADD68}"/>
              </a:ext>
            </a:extLst>
          </p:cNvPr>
          <p:cNvSpPr/>
          <p:nvPr/>
        </p:nvSpPr>
        <p:spPr>
          <a:xfrm>
            <a:off x="586999" y="3085285"/>
            <a:ext cx="4999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19" name="Rectangle: Top Corners Rounded 6">
            <a:extLst>
              <a:ext uri="{FF2B5EF4-FFF2-40B4-BE49-F238E27FC236}">
                <a16:creationId xmlns:a16="http://schemas.microsoft.com/office/drawing/2014/main" id="{FD87D6F1-678F-F34E-9A83-37292ADA8FCA}"/>
              </a:ext>
            </a:extLst>
          </p:cNvPr>
          <p:cNvSpPr/>
          <p:nvPr/>
        </p:nvSpPr>
        <p:spPr>
          <a:xfrm>
            <a:off x="586999" y="2756101"/>
            <a:ext cx="128618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14E5A4-2084-C24E-A406-34E20D2CD840}"/>
              </a:ext>
            </a:extLst>
          </p:cNvPr>
          <p:cNvSpPr/>
          <p:nvPr/>
        </p:nvSpPr>
        <p:spPr>
          <a:xfrm>
            <a:off x="1086992" y="3947369"/>
            <a:ext cx="4605622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temp 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range(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5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 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pass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A38113D-0666-A647-82C0-E49A32EE4ACA}"/>
              </a:ext>
            </a:extLst>
          </p:cNvPr>
          <p:cNvSpPr/>
          <p:nvPr/>
        </p:nvSpPr>
        <p:spPr>
          <a:xfrm>
            <a:off x="586999" y="3947369"/>
            <a:ext cx="499993" cy="584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20" name="Rectangle: Top Corners Rounded 6">
            <a:extLst>
              <a:ext uri="{FF2B5EF4-FFF2-40B4-BE49-F238E27FC236}">
                <a16:creationId xmlns:a16="http://schemas.microsoft.com/office/drawing/2014/main" id="{0EEF7339-C4B8-EB4B-A7FB-3BA75A442D3C}"/>
              </a:ext>
            </a:extLst>
          </p:cNvPr>
          <p:cNvSpPr/>
          <p:nvPr/>
        </p:nvSpPr>
        <p:spPr>
          <a:xfrm>
            <a:off x="586999" y="3618185"/>
            <a:ext cx="1843967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passdemo.py</a:t>
            </a:r>
          </a:p>
        </p:txBody>
      </p:sp>
      <p:sp>
        <p:nvSpPr>
          <p:cNvPr id="21" name="Line Callout 1 20">
            <a:extLst>
              <a:ext uri="{FF2B5EF4-FFF2-40B4-BE49-F238E27FC236}">
                <a16:creationId xmlns:a16="http://schemas.microsoft.com/office/drawing/2014/main" id="{3C524E1D-965B-7F46-B359-63E9207646EC}"/>
              </a:ext>
            </a:extLst>
          </p:cNvPr>
          <p:cNvSpPr/>
          <p:nvPr/>
        </p:nvSpPr>
        <p:spPr>
          <a:xfrm>
            <a:off x="5948815" y="3731715"/>
            <a:ext cx="2151383" cy="431307"/>
          </a:xfrm>
          <a:prstGeom prst="borderCallout1">
            <a:avLst>
              <a:gd name="adj1" fmla="val 53885"/>
              <a:gd name="adj2" fmla="val -612"/>
              <a:gd name="adj3" fmla="val 125771"/>
              <a:gd name="adj4" fmla="val -67325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Output : </a:t>
            </a:r>
            <a:r>
              <a:rPr lang="en-IN" dirty="0">
                <a:solidFill>
                  <a:schemeClr val="tx1"/>
                </a:solidFill>
              </a:rPr>
              <a:t>(nothing)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7339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p" animBg="1"/>
      <p:bldP spid="18" grpId="0" animBg="1"/>
      <p:bldP spid="19" grpId="0" animBg="1"/>
      <p:bldP spid="11" grpId="0" build="p" animBg="1"/>
      <p:bldP spid="12" grpId="0" animBg="1"/>
      <p:bldP spid="20" grpId="0" animBg="1"/>
      <p:bldP spid="21" grpId="0" animBg="1"/>
      <p:bldP spid="21" grpId="1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C137D2E-F7D0-465C-8541-F4CFBBD673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/>
              <a:t>shruti.maniar@darshan.ac.in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27C5C63-5136-498D-B5D5-B1F6385ED37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4FACC96-BA70-4FDA-AB13-3B133AD498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Computer Engineering Department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3A79D48-3C85-46E3-9CAE-59240F299A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Prof. Shruti R. Maniar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62CA4D6-180D-44EB-978C-EAE6FB447DC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IN" dirty="0"/>
              <a:t>Python Programming(</a:t>
            </a:r>
            <a:r>
              <a:rPr lang="en-IN" sz="1800" dirty="0">
                <a:effectLst/>
                <a:latin typeface="Roboto Condensed" panose="02000000000000000000" pitchFamily="2" charset="0"/>
              </a:rPr>
              <a:t>2301CS404</a:t>
            </a:r>
            <a:r>
              <a:rPr lang="en-IN" dirty="0"/>
              <a:t>)</a:t>
            </a:r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3886532"/>
          </a:xfrm>
        </p:spPr>
        <p:txBody>
          <a:bodyPr/>
          <a:lstStyle/>
          <a:p>
            <a: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Unit-02.3</a:t>
            </a:r>
            <a:r>
              <a:rPr lang="en-US" dirty="0"/>
              <a:t> </a:t>
            </a:r>
            <a:br>
              <a:rPr lang="en-US" dirty="0"/>
            </a:br>
            <a:r>
              <a:rPr lang="en-US" sz="5400" dirty="0"/>
              <a:t>Functions</a:t>
            </a:r>
            <a:endParaRPr lang="en-US" dirty="0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A161DE45-276D-7849-BC99-BAB0D00EC12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</p:spTree>
    <p:extLst>
      <p:ext uri="{BB962C8B-B14F-4D97-AF65-F5344CB8AC3E}">
        <p14:creationId xmlns:p14="http://schemas.microsoft.com/office/powerpoint/2010/main" val="10669011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925EF2-D58F-4AC0-ACED-F747CC08D69F}"/>
              </a:ext>
            </a:extLst>
          </p:cNvPr>
          <p:cNvCxnSpPr>
            <a:cxnSpLocks/>
          </p:cNvCxnSpPr>
          <p:nvPr/>
        </p:nvCxnSpPr>
        <p:spPr>
          <a:xfrm>
            <a:off x="1191446" y="3622876"/>
            <a:ext cx="0" cy="264173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246540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4" y="712385"/>
            <a:ext cx="4909938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Outline</a:t>
            </a:r>
            <a:endParaRPr lang="en-US" b="1" dirty="0"/>
          </a:p>
          <a:p>
            <a:endParaRPr lang="en-US" b="1" dirty="0"/>
          </a:p>
          <a:p>
            <a:pPr indent="446088">
              <a:buFont typeface="Wingdings" pitchFamily="2" charset="2"/>
              <a:buChar char="ü"/>
            </a:pPr>
            <a:r>
              <a:rPr lang="en-US" dirty="0"/>
              <a:t>Creating function </a:t>
            </a:r>
          </a:p>
          <a:p>
            <a:pPr indent="446088">
              <a:buFont typeface="Wingdings" pitchFamily="2" charset="2"/>
              <a:buChar char="ü"/>
            </a:pPr>
            <a:r>
              <a:rPr lang="en-US" dirty="0"/>
              <a:t>DOCSTRING </a:t>
            </a:r>
          </a:p>
          <a:p>
            <a:pPr indent="446088">
              <a:buFont typeface="Wingdings" pitchFamily="2" charset="2"/>
              <a:buChar char="ü"/>
            </a:pPr>
            <a:r>
              <a:rPr lang="en-US" dirty="0"/>
              <a:t>Types of arguments </a:t>
            </a:r>
          </a:p>
          <a:p>
            <a:pPr indent="446088">
              <a:buFont typeface="Wingdings" pitchFamily="2" charset="2"/>
              <a:buChar char="ü"/>
            </a:pPr>
            <a:r>
              <a:rPr lang="en-US" dirty="0"/>
              <a:t>Calling function </a:t>
            </a:r>
          </a:p>
          <a:p>
            <a:pPr indent="446088">
              <a:buFont typeface="Wingdings" pitchFamily="2" charset="2"/>
              <a:buChar char="ü"/>
            </a:pPr>
            <a:r>
              <a:rPr lang="en-US" dirty="0"/>
              <a:t>return statement</a:t>
            </a:r>
          </a:p>
          <a:p>
            <a:pPr indent="446088">
              <a:buFont typeface="Wingdings" pitchFamily="2" charset="2"/>
              <a:buChar char="ü"/>
            </a:pPr>
            <a:r>
              <a:rPr lang="en-US" dirty="0"/>
              <a:t>Scope of Variables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dirty="0"/>
              <a:t>lambda expression </a:t>
            </a:r>
          </a:p>
          <a:p>
            <a:pPr indent="446088">
              <a:buFont typeface="Wingdings" pitchFamily="2" charset="2"/>
              <a:buChar char="ü"/>
            </a:pPr>
            <a:r>
              <a:rPr lang="en-US" dirty="0"/>
              <a:t>Recursion </a:t>
            </a:r>
          </a:p>
        </p:txBody>
      </p:sp>
    </p:spTree>
    <p:extLst>
      <p:ext uri="{BB962C8B-B14F-4D97-AF65-F5344CB8AC3E}">
        <p14:creationId xmlns:p14="http://schemas.microsoft.com/office/powerpoint/2010/main" val="4076143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Creating </a:t>
            </a:r>
            <a:r>
              <a:rPr lang="en-IN" dirty="0">
                <a:solidFill>
                  <a:srgbClr val="C00000"/>
                </a:solidFill>
              </a:rPr>
              <a:t>clean repeatable code </a:t>
            </a:r>
            <a:r>
              <a:rPr lang="en-IN" dirty="0"/>
              <a:t>is a key part of becoming an effective programmer.</a:t>
            </a:r>
          </a:p>
          <a:p>
            <a:r>
              <a:rPr lang="en-US" dirty="0"/>
              <a:t>A function is a block of code which only </a:t>
            </a:r>
            <a:r>
              <a:rPr lang="en-US" dirty="0">
                <a:solidFill>
                  <a:srgbClr val="C00000"/>
                </a:solidFill>
              </a:rPr>
              <a:t>runs when it is called</a:t>
            </a:r>
            <a:r>
              <a:rPr lang="en-US" dirty="0"/>
              <a:t>.</a:t>
            </a:r>
          </a:p>
          <a:p>
            <a:r>
              <a:rPr lang="en-US" dirty="0"/>
              <a:t>In Python a function is defined using the </a:t>
            </a:r>
            <a:r>
              <a:rPr lang="en-US" dirty="0">
                <a:solidFill>
                  <a:srgbClr val="C00000"/>
                </a:solidFill>
              </a:rPr>
              <a:t>def</a:t>
            </a:r>
            <a:r>
              <a:rPr lang="en-US" dirty="0"/>
              <a:t> keyword: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583716" y="2582681"/>
            <a:ext cx="8952136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def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function_name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() 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sz="1600" dirty="0">
                <a:solidFill>
                  <a:srgbClr val="008000"/>
                </a:solidFill>
                <a:latin typeface="Consolas"/>
              </a:rPr>
              <a:t>#code to execute when function is called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83716" y="2253497"/>
            <a:ext cx="128618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7" name="Line Callout 1 6"/>
          <p:cNvSpPr/>
          <p:nvPr/>
        </p:nvSpPr>
        <p:spPr>
          <a:xfrm>
            <a:off x="5675650" y="2184112"/>
            <a:ext cx="4495800" cy="626533"/>
          </a:xfrm>
          <a:prstGeom prst="borderCallout1">
            <a:avLst>
              <a:gd name="adj1" fmla="val 53885"/>
              <a:gd name="adj2" fmla="val -612"/>
              <a:gd name="adj3" fmla="val 95034"/>
              <a:gd name="adj4" fmla="val -58156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ends with </a:t>
            </a:r>
            <a:r>
              <a:rPr lang="en-IN" b="1" dirty="0">
                <a:solidFill>
                  <a:srgbClr val="FF0000"/>
                </a:solidFill>
              </a:rPr>
              <a:t>: 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8" name="Line Callout 1 7"/>
          <p:cNvSpPr/>
          <p:nvPr/>
        </p:nvSpPr>
        <p:spPr>
          <a:xfrm>
            <a:off x="2245569" y="3199542"/>
            <a:ext cx="4495800" cy="626533"/>
          </a:xfrm>
          <a:prstGeom prst="borderCallout1">
            <a:avLst>
              <a:gd name="adj1" fmla="val 53885"/>
              <a:gd name="adj2" fmla="val -612"/>
              <a:gd name="adj3" fmla="val -22245"/>
              <a:gd name="adj4" fmla="val -30282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Indentation (tab/whitespace) at the beginning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79186" y="4394787"/>
            <a:ext cx="5649418" cy="20621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def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seperator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() 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'=============================='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/>
              </a:rPr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"hello world"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seperator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"from 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 college"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seperator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rajkot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79193" y="4394787"/>
            <a:ext cx="499993" cy="20621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79193" y="4065603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Functiondemo.py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Line Callout 1 11"/>
          <p:cNvSpPr/>
          <p:nvPr/>
        </p:nvSpPr>
        <p:spPr>
          <a:xfrm>
            <a:off x="7228404" y="3778370"/>
            <a:ext cx="4365497" cy="1811547"/>
          </a:xfrm>
          <a:prstGeom prst="borderCallout1">
            <a:avLst>
              <a:gd name="adj1" fmla="val 53885"/>
              <a:gd name="adj2" fmla="val -612"/>
              <a:gd name="adj3" fmla="val 109646"/>
              <a:gd name="adj4" fmla="val -49663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Output :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hello world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==============================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from </a:t>
            </a:r>
            <a:r>
              <a:rPr lang="en-US" dirty="0" err="1">
                <a:solidFill>
                  <a:schemeClr val="tx1"/>
                </a:solidFill>
              </a:rPr>
              <a:t>darshan</a:t>
            </a:r>
            <a:r>
              <a:rPr lang="en-US" dirty="0">
                <a:solidFill>
                  <a:schemeClr val="tx1"/>
                </a:solidFill>
              </a:rPr>
              <a:t> college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==============================</a:t>
            </a:r>
          </a:p>
          <a:p>
            <a:pPr algn="ctr"/>
            <a:r>
              <a:rPr lang="en-US" dirty="0" err="1">
                <a:solidFill>
                  <a:schemeClr val="tx1"/>
                </a:solidFill>
              </a:rPr>
              <a:t>rajkot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uiExpand="1" build="p" animBg="1"/>
      <p:bldP spid="6" grpId="0" animBg="1"/>
      <p:bldP spid="7" grpId="0" animBg="1"/>
      <p:bldP spid="7" grpId="1" animBg="1"/>
      <p:bldP spid="8" grpId="0" animBg="1"/>
      <p:bldP spid="8" grpId="1" animBg="1"/>
      <p:bldP spid="9" grpId="0" build="p" animBg="1"/>
      <p:bldP spid="10" grpId="0" animBg="1"/>
      <p:bldP spid="11" grpId="0" animBg="1"/>
      <p:bldP spid="12" grpId="0" animBg="1"/>
      <p:bldP spid="12" grpId="1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1D844-36DB-9F42-ABAF-47FD59709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Function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3429F-0D54-7C46-9ED8-1CD6508094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two kinds of functions in Python.</a:t>
            </a:r>
          </a:p>
          <a:p>
            <a:r>
              <a:rPr lang="en-US" dirty="0">
                <a:solidFill>
                  <a:srgbClr val="C00000"/>
                </a:solidFill>
              </a:rPr>
              <a:t>Built-in Functions : </a:t>
            </a:r>
            <a:r>
              <a:rPr lang="en-US" dirty="0"/>
              <a:t>Functions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that are provided as part of Python - input(), print()...</a:t>
            </a:r>
          </a:p>
          <a:p>
            <a:r>
              <a:rPr lang="en-US" dirty="0">
                <a:solidFill>
                  <a:srgbClr val="C00000"/>
                </a:solidFill>
              </a:rPr>
              <a:t>User Defined Functions : </a:t>
            </a:r>
            <a:r>
              <a:rPr lang="en-US" dirty="0"/>
              <a:t>Functions that we define ourselves and then use.</a:t>
            </a:r>
          </a:p>
          <a:p>
            <a:r>
              <a:rPr lang="en-US" dirty="0"/>
              <a:t>Then we treat the built-in function names as </a:t>
            </a:r>
            <a:r>
              <a:rPr lang="en-US" dirty="0">
                <a:solidFill>
                  <a:srgbClr val="C00000"/>
                </a:solidFill>
              </a:rPr>
              <a:t>"new" reserved </a:t>
            </a:r>
            <a:r>
              <a:rPr lang="en-US" dirty="0"/>
              <a:t>words (i.e. we avoid them as variable names)</a:t>
            </a:r>
          </a:p>
          <a:p>
            <a:r>
              <a:rPr lang="en-US" dirty="0"/>
              <a:t>In Python a function is some </a:t>
            </a:r>
            <a:r>
              <a:rPr lang="en-US" dirty="0">
                <a:solidFill>
                  <a:srgbClr val="C00000"/>
                </a:solidFill>
              </a:rPr>
              <a:t>reusable code </a:t>
            </a:r>
            <a:r>
              <a:rPr lang="en-US" dirty="0"/>
              <a:t>that takes </a:t>
            </a:r>
            <a:r>
              <a:rPr lang="en-US" dirty="0">
                <a:solidFill>
                  <a:srgbClr val="C00000"/>
                </a:solidFill>
              </a:rPr>
              <a:t>arguments(s)</a:t>
            </a:r>
            <a:r>
              <a:rPr lang="en-US" dirty="0"/>
              <a:t> as input, does some computation and </a:t>
            </a:r>
            <a:r>
              <a:rPr lang="en-US" dirty="0">
                <a:solidFill>
                  <a:srgbClr val="C00000"/>
                </a:solidFill>
              </a:rPr>
              <a:t>then returns a result(s)</a:t>
            </a:r>
          </a:p>
          <a:p>
            <a:r>
              <a:rPr lang="en-US" dirty="0"/>
              <a:t>We call/invoke the function by using the function name, parenthesis and arguments in an expression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D26724-DBBF-5A4E-8D4B-6216B8FB911A}"/>
              </a:ext>
            </a:extLst>
          </p:cNvPr>
          <p:cNvSpPr/>
          <p:nvPr/>
        </p:nvSpPr>
        <p:spPr>
          <a:xfrm>
            <a:off x="4773816" y="5409781"/>
            <a:ext cx="1976248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a = max(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2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90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print(a)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AFB02A-DC1A-3D4E-AFDA-07E237A8836C}"/>
              </a:ext>
            </a:extLst>
          </p:cNvPr>
          <p:cNvSpPr/>
          <p:nvPr/>
        </p:nvSpPr>
        <p:spPr>
          <a:xfrm>
            <a:off x="4273823" y="5409781"/>
            <a:ext cx="499993" cy="584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15" name="Rectangle: Top Corners Rounded 6">
            <a:extLst>
              <a:ext uri="{FF2B5EF4-FFF2-40B4-BE49-F238E27FC236}">
                <a16:creationId xmlns:a16="http://schemas.microsoft.com/office/drawing/2014/main" id="{AAD17209-3736-D040-AE60-224D505578FC}"/>
              </a:ext>
            </a:extLst>
          </p:cNvPr>
          <p:cNvSpPr/>
          <p:nvPr/>
        </p:nvSpPr>
        <p:spPr>
          <a:xfrm>
            <a:off x="4273823" y="5080597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Functiondemo.py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6" name="Line Callout 1 15">
            <a:extLst>
              <a:ext uri="{FF2B5EF4-FFF2-40B4-BE49-F238E27FC236}">
                <a16:creationId xmlns:a16="http://schemas.microsoft.com/office/drawing/2014/main" id="{CC3F3C64-2E92-BF41-8723-C12A592B2152}"/>
              </a:ext>
            </a:extLst>
          </p:cNvPr>
          <p:cNvSpPr/>
          <p:nvPr/>
        </p:nvSpPr>
        <p:spPr>
          <a:xfrm>
            <a:off x="8375092" y="4993652"/>
            <a:ext cx="1265387" cy="416129"/>
          </a:xfrm>
          <a:prstGeom prst="borderCallout1">
            <a:avLst>
              <a:gd name="adj1" fmla="val 53885"/>
              <a:gd name="adj2" fmla="val -612"/>
              <a:gd name="adj3" fmla="val 118408"/>
              <a:gd name="adj4" fmla="val -190581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Arguments</a:t>
            </a:r>
          </a:p>
        </p:txBody>
      </p:sp>
      <p:sp>
        <p:nvSpPr>
          <p:cNvPr id="17" name="Line Callout 1 16">
            <a:extLst>
              <a:ext uri="{FF2B5EF4-FFF2-40B4-BE49-F238E27FC236}">
                <a16:creationId xmlns:a16="http://schemas.microsoft.com/office/drawing/2014/main" id="{1ADBEBC2-BDB6-8944-988E-87740C66E255}"/>
              </a:ext>
            </a:extLst>
          </p:cNvPr>
          <p:cNvSpPr/>
          <p:nvPr/>
        </p:nvSpPr>
        <p:spPr>
          <a:xfrm>
            <a:off x="1625102" y="5129496"/>
            <a:ext cx="1557467" cy="416129"/>
          </a:xfrm>
          <a:prstGeom prst="borderCallout1">
            <a:avLst>
              <a:gd name="adj1" fmla="val 51205"/>
              <a:gd name="adj2" fmla="val 100732"/>
              <a:gd name="adj3" fmla="val 102329"/>
              <a:gd name="adj4" fmla="val 224433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Function name</a:t>
            </a:r>
          </a:p>
        </p:txBody>
      </p:sp>
    </p:spTree>
    <p:extLst>
      <p:ext uri="{BB962C8B-B14F-4D97-AF65-F5344CB8AC3E}">
        <p14:creationId xmlns:p14="http://schemas.microsoft.com/office/powerpoint/2010/main" val="928853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uiExpand="1" build="p" animBg="1"/>
      <p:bldP spid="14" grpId="0" animBg="1"/>
      <p:bldP spid="15" grpId="0" animBg="1"/>
      <p:bldP spid="16" grpId="0" animBg="1"/>
      <p:bldP spid="16" grpId="1" animBg="1"/>
      <p:bldP spid="17" grpId="0" animBg="1"/>
      <p:bldP spid="17" grpId="1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26102-78E5-C54E-8ABD-6D7BA2DA5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Name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F26FE-A373-6145-84C2-7D30F33BBD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a </a:t>
            </a:r>
            <a:r>
              <a:rPr lang="en-US" dirty="0">
                <a:solidFill>
                  <a:srgbClr val="C00000"/>
                </a:solidFill>
              </a:rPr>
              <a:t>naming scheme</a:t>
            </a:r>
            <a:r>
              <a:rPr lang="en-US" dirty="0"/>
              <a:t>, and use it </a:t>
            </a:r>
            <a:r>
              <a:rPr lang="en-US" dirty="0">
                <a:solidFill>
                  <a:srgbClr val="C00000"/>
                </a:solidFill>
              </a:rPr>
              <a:t>consistently</a:t>
            </a:r>
            <a:r>
              <a:rPr lang="en-US" dirty="0"/>
              <a:t> (camel case syntax).</a:t>
            </a:r>
          </a:p>
          <a:p>
            <a:r>
              <a:rPr lang="en-US" dirty="0"/>
              <a:t>For all names, avoid </a:t>
            </a:r>
            <a:r>
              <a:rPr lang="en-US" dirty="0">
                <a:solidFill>
                  <a:srgbClr val="C00000"/>
                </a:solidFill>
              </a:rPr>
              <a:t>abbreviations</a:t>
            </a:r>
            <a:r>
              <a:rPr lang="en-US" dirty="0"/>
              <a:t>, unless they are both standardized and widely used. </a:t>
            </a:r>
          </a:p>
          <a:p>
            <a:r>
              <a:rPr lang="en-US" dirty="0"/>
              <a:t>The name should describe the </a:t>
            </a:r>
            <a:r>
              <a:rPr lang="en-US" dirty="0">
                <a:solidFill>
                  <a:srgbClr val="C00000"/>
                </a:solidFill>
              </a:rPr>
              <a:t>data’s meaning </a:t>
            </a:r>
            <a:r>
              <a:rPr lang="en-US" dirty="0"/>
              <a:t>rather than its </a:t>
            </a:r>
            <a:r>
              <a:rPr lang="en-US" dirty="0">
                <a:solidFill>
                  <a:srgbClr val="C00000"/>
                </a:solidFill>
              </a:rPr>
              <a:t>type</a:t>
            </a:r>
            <a:r>
              <a:rPr lang="en-US" dirty="0"/>
              <a:t> (e.g., </a:t>
            </a:r>
            <a:r>
              <a:rPr lang="en-US" dirty="0" err="1"/>
              <a:t>amount_due</a:t>
            </a:r>
            <a:r>
              <a:rPr lang="en-US" dirty="0"/>
              <a:t> rather than money), </a:t>
            </a:r>
          </a:p>
          <a:p>
            <a:r>
              <a:rPr lang="en-US" dirty="0"/>
              <a:t>Functions and methods should have names that </a:t>
            </a:r>
            <a:r>
              <a:rPr lang="en-US" dirty="0">
                <a:solidFill>
                  <a:srgbClr val="C00000"/>
                </a:solidFill>
              </a:rPr>
              <a:t>say what they do </a:t>
            </a:r>
            <a:r>
              <a:rPr lang="en-US" dirty="0"/>
              <a:t>or what they return (depending on their emphasis), but never how they do it—since that might change. </a:t>
            </a:r>
          </a:p>
          <a:p>
            <a:r>
              <a:rPr lang="en-IN" dirty="0"/>
              <a:t>All three functions below return the index position of the first occurrence of a name in a list of names, starting from the given starting index and using an algorithm that assumes the list is already sorted.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FE4B03-A26A-FC46-936B-AA6C718C608F}"/>
              </a:ext>
            </a:extLst>
          </p:cNvPr>
          <p:cNvSpPr/>
          <p:nvPr/>
        </p:nvSpPr>
        <p:spPr>
          <a:xfrm>
            <a:off x="1012279" y="5163559"/>
            <a:ext cx="7518404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find(l, s,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i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=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): </a:t>
            </a:r>
            <a:r>
              <a:rPr lang="en-IN" sz="1600" dirty="0">
                <a:solidFill>
                  <a:srgbClr val="008000"/>
                </a:solidFill>
                <a:latin typeface="Menlo" panose="020B0609030804020204" pitchFamily="49" charset="0"/>
              </a:rPr>
              <a:t># BAD 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linear_search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(l, s,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i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=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): </a:t>
            </a:r>
            <a:r>
              <a:rPr lang="en-IN" sz="1600" dirty="0">
                <a:solidFill>
                  <a:srgbClr val="008000"/>
                </a:solidFill>
                <a:latin typeface="Menlo" panose="020B0609030804020204" pitchFamily="49" charset="0"/>
              </a:rPr>
              <a:t># BAD 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first_index_of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sorted_name_list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name, start=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): </a:t>
            </a:r>
            <a:r>
              <a:rPr lang="en-IN" sz="1600" dirty="0">
                <a:solidFill>
                  <a:srgbClr val="008000"/>
                </a:solidFill>
                <a:latin typeface="Menlo" panose="020B0609030804020204" pitchFamily="49" charset="0"/>
              </a:rPr>
              <a:t># GOOD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AEAEBD-D882-2B41-9523-9C2AB1C5CBA6}"/>
              </a:ext>
            </a:extLst>
          </p:cNvPr>
          <p:cNvSpPr/>
          <p:nvPr/>
        </p:nvSpPr>
        <p:spPr>
          <a:xfrm>
            <a:off x="512286" y="5163559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9" name="Rectangle: Top Corners Rounded 6">
            <a:extLst>
              <a:ext uri="{FF2B5EF4-FFF2-40B4-BE49-F238E27FC236}">
                <a16:creationId xmlns:a16="http://schemas.microsoft.com/office/drawing/2014/main" id="{A92F2A29-3DB0-8E40-80C3-0D33919FFC3A}"/>
              </a:ext>
            </a:extLst>
          </p:cNvPr>
          <p:cNvSpPr/>
          <p:nvPr/>
        </p:nvSpPr>
        <p:spPr>
          <a:xfrm>
            <a:off x="512286" y="4834375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Functiondemo.py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0774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nimBg="1"/>
      <p:bldP spid="8" grpId="0" animBg="1"/>
      <p:bldP spid="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DOCSTRING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Doc string helps us to define the documentation about the function within the function itself.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>
              <a:buNone/>
            </a:pPr>
            <a:endParaRPr lang="en-IN" dirty="0"/>
          </a:p>
          <a:p>
            <a:endParaRPr lang="en-IN" b="1" dirty="0"/>
          </a:p>
          <a:p>
            <a:r>
              <a:rPr lang="en-IN" dirty="0"/>
              <a:t>Unlike conventional source code comments, the docstring should describe what the function does, not how.</a:t>
            </a:r>
          </a:p>
          <a:p>
            <a:r>
              <a:rPr lang="en-IN" dirty="0"/>
              <a:t>The docstrings can be accessed using the __doc__ method of the object or using the help function.</a:t>
            </a:r>
          </a:p>
          <a:p>
            <a:endParaRPr lang="en-IN" b="1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433BD42-6377-914D-AD67-7AB7F65EC799}"/>
              </a:ext>
            </a:extLst>
          </p:cNvPr>
          <p:cNvSpPr/>
          <p:nvPr/>
        </p:nvSpPr>
        <p:spPr>
          <a:xfrm>
            <a:off x="583715" y="1651036"/>
            <a:ext cx="5377137" cy="18158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def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function_name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() 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'''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A31515"/>
                </a:solidFill>
                <a:latin typeface="Consolas"/>
              </a:rPr>
              <a:t>        DOCSTRING: explains the function</a:t>
            </a:r>
          </a:p>
          <a:p>
            <a:r>
              <a:rPr lang="en-IN" sz="1600" dirty="0">
                <a:solidFill>
                  <a:srgbClr val="A31515"/>
                </a:solidFill>
                <a:latin typeface="Consolas"/>
              </a:rPr>
              <a:t>	INPUT: explains input</a:t>
            </a:r>
          </a:p>
          <a:p>
            <a:r>
              <a:rPr lang="en-IN" sz="1600" dirty="0">
                <a:solidFill>
                  <a:srgbClr val="A31515"/>
                </a:solidFill>
                <a:latin typeface="Consolas"/>
              </a:rPr>
              <a:t>	OUTPUT: explains output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A31515"/>
                </a:solidFill>
                <a:latin typeface="Consolas"/>
              </a:rPr>
              <a:t>    '''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sz="1600" dirty="0">
                <a:solidFill>
                  <a:srgbClr val="008000"/>
                </a:solidFill>
                <a:latin typeface="Consolas"/>
              </a:rPr>
              <a:t>#code to execute when function is called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9" name="Rectangle: Top Corners Rounded 6">
            <a:extLst>
              <a:ext uri="{FF2B5EF4-FFF2-40B4-BE49-F238E27FC236}">
                <a16:creationId xmlns:a16="http://schemas.microsoft.com/office/drawing/2014/main" id="{0BD9A95C-320C-4E48-950F-BF49C7998E71}"/>
              </a:ext>
            </a:extLst>
          </p:cNvPr>
          <p:cNvSpPr/>
          <p:nvPr/>
        </p:nvSpPr>
        <p:spPr>
          <a:xfrm>
            <a:off x="583716" y="1321852"/>
            <a:ext cx="128618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20" name="Line Callout 1 19">
            <a:extLst>
              <a:ext uri="{FF2B5EF4-FFF2-40B4-BE49-F238E27FC236}">
                <a16:creationId xmlns:a16="http://schemas.microsoft.com/office/drawing/2014/main" id="{5CB0AFA4-596C-FA45-99FC-B22A3595EE5E}"/>
              </a:ext>
            </a:extLst>
          </p:cNvPr>
          <p:cNvSpPr/>
          <p:nvPr/>
        </p:nvSpPr>
        <p:spPr>
          <a:xfrm>
            <a:off x="5675650" y="1252467"/>
            <a:ext cx="4495800" cy="626533"/>
          </a:xfrm>
          <a:prstGeom prst="borderCallout1">
            <a:avLst>
              <a:gd name="adj1" fmla="val 53885"/>
              <a:gd name="adj2" fmla="val -612"/>
              <a:gd name="adj3" fmla="val 128078"/>
              <a:gd name="adj4" fmla="val -93078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Enclosed within triple quotes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2DD3D11-7461-AF44-BA3B-E212C77E9A19}"/>
              </a:ext>
            </a:extLst>
          </p:cNvPr>
          <p:cNvSpPr/>
          <p:nvPr/>
        </p:nvSpPr>
        <p:spPr>
          <a:xfrm>
            <a:off x="1083708" y="5700740"/>
            <a:ext cx="3321024" cy="6155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Function_name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IN" dirty="0">
                <a:latin typeface="Consolas" panose="020B0609020204030204" pitchFamily="49" charset="0"/>
                <a:cs typeface="Consolas" panose="020B0609020204030204" pitchFamily="49" charset="0"/>
              </a:rPr>
              <a:t> __doc__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help(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Function_name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3ACF25-EFAA-FD4B-B02E-7A911997F6DA}"/>
              </a:ext>
            </a:extLst>
          </p:cNvPr>
          <p:cNvSpPr/>
          <p:nvPr/>
        </p:nvSpPr>
        <p:spPr>
          <a:xfrm>
            <a:off x="583715" y="5700740"/>
            <a:ext cx="499993" cy="584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6B3F7925-1761-B84D-8E39-182CD6641873}"/>
              </a:ext>
            </a:extLst>
          </p:cNvPr>
          <p:cNvSpPr/>
          <p:nvPr/>
        </p:nvSpPr>
        <p:spPr>
          <a:xfrm>
            <a:off x="583715" y="5371556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Help.py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8" grpId="0" build="p" animBg="1"/>
      <p:bldP spid="19" grpId="0" animBg="1"/>
      <p:bldP spid="20" grpId="0" animBg="1"/>
      <p:bldP spid="20" grpId="1" animBg="1"/>
      <p:bldP spid="10" grpId="0" uiExpand="1" build="p" animBg="1"/>
      <p:bldP spid="12" grpId="0" animBg="1"/>
      <p:bldP spid="1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C2BC3-73B7-6649-9A0E-6897E7B00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Function Types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4B29E9C-E58E-F946-8EC2-FA0A59B951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488801"/>
          </a:xfrm>
        </p:spPr>
        <p:txBody>
          <a:bodyPr/>
          <a:lstStyle/>
          <a:p>
            <a:r>
              <a:rPr lang="en-IN" dirty="0"/>
              <a:t>Four kinds of functions can be created in Python: </a:t>
            </a:r>
            <a:r>
              <a:rPr lang="en-IN" dirty="0">
                <a:solidFill>
                  <a:srgbClr val="C00000"/>
                </a:solidFill>
              </a:rPr>
              <a:t>global functions, local functions, lambda functions, and methods</a:t>
            </a:r>
            <a:r>
              <a:rPr lang="en-IN" dirty="0"/>
              <a:t>. </a:t>
            </a:r>
          </a:p>
          <a:p>
            <a:r>
              <a:rPr lang="en-IN" dirty="0">
                <a:solidFill>
                  <a:srgbClr val="C00000"/>
                </a:solidFill>
              </a:rPr>
              <a:t>Global functions</a:t>
            </a:r>
          </a:p>
          <a:p>
            <a:pPr lvl="1"/>
            <a:r>
              <a:rPr lang="en-IN" dirty="0"/>
              <a:t>Global objects (including functions) are </a:t>
            </a:r>
            <a:r>
              <a:rPr lang="en-IN" dirty="0">
                <a:solidFill>
                  <a:srgbClr val="C00000"/>
                </a:solidFill>
              </a:rPr>
              <a:t>accessible to any code in the same module </a:t>
            </a:r>
            <a:r>
              <a:rPr lang="en-IN" dirty="0"/>
              <a:t>(i.e., the same .</a:t>
            </a:r>
            <a:r>
              <a:rPr lang="en-IN" dirty="0" err="1"/>
              <a:t>py</a:t>
            </a:r>
            <a:r>
              <a:rPr lang="en-IN" dirty="0"/>
              <a:t> file) in which the object is created. </a:t>
            </a:r>
          </a:p>
          <a:p>
            <a:r>
              <a:rPr lang="en-IN" dirty="0">
                <a:solidFill>
                  <a:srgbClr val="C00000"/>
                </a:solidFill>
              </a:rPr>
              <a:t>Local functions </a:t>
            </a:r>
          </a:p>
          <a:p>
            <a:pPr lvl="1"/>
            <a:r>
              <a:rPr lang="en-IN" dirty="0"/>
              <a:t>(also called </a:t>
            </a:r>
            <a:r>
              <a:rPr lang="en-IN" dirty="0">
                <a:solidFill>
                  <a:srgbClr val="C00000"/>
                </a:solidFill>
              </a:rPr>
              <a:t>nested functions</a:t>
            </a:r>
            <a:r>
              <a:rPr lang="en-IN" dirty="0"/>
              <a:t>) are functions that are </a:t>
            </a:r>
            <a:r>
              <a:rPr lang="en-IN" dirty="0">
                <a:solidFill>
                  <a:srgbClr val="C00000"/>
                </a:solidFill>
              </a:rPr>
              <a:t>defined inside </a:t>
            </a:r>
            <a:r>
              <a:rPr lang="en-IN" dirty="0"/>
              <a:t>other functions. These functions are visible only to the function where they are defined;</a:t>
            </a:r>
          </a:p>
          <a:p>
            <a:pPr lvl="1"/>
            <a:r>
              <a:rPr lang="en-IN" dirty="0"/>
              <a:t>They are especially useful for </a:t>
            </a:r>
            <a:r>
              <a:rPr lang="en-IN" dirty="0">
                <a:solidFill>
                  <a:srgbClr val="C00000"/>
                </a:solidFill>
              </a:rPr>
              <a:t>creating small helper </a:t>
            </a:r>
            <a:r>
              <a:rPr lang="en-IN" dirty="0"/>
              <a:t>functions that have no use elsewhere. </a:t>
            </a:r>
          </a:p>
          <a:p>
            <a:r>
              <a:rPr lang="en-IN" dirty="0">
                <a:solidFill>
                  <a:srgbClr val="C00000"/>
                </a:solidFill>
              </a:rPr>
              <a:t>Lambda functions</a:t>
            </a:r>
          </a:p>
          <a:p>
            <a:pPr lvl="1"/>
            <a:r>
              <a:rPr lang="en-IN" dirty="0"/>
              <a:t>Lambda functions are expressions, so they can be created at their point of use; </a:t>
            </a:r>
          </a:p>
          <a:p>
            <a:pPr lvl="1"/>
            <a:r>
              <a:rPr lang="en-IN" dirty="0"/>
              <a:t>however, they are much more limited than normal functions. </a:t>
            </a:r>
          </a:p>
          <a:p>
            <a:r>
              <a:rPr lang="en-IN" dirty="0">
                <a:solidFill>
                  <a:srgbClr val="C00000"/>
                </a:solidFill>
              </a:rPr>
              <a:t>Methods</a:t>
            </a:r>
          </a:p>
          <a:p>
            <a:pPr lvl="1"/>
            <a:r>
              <a:rPr lang="en-IN" i="1" dirty="0"/>
              <a:t>Methods </a:t>
            </a:r>
            <a:r>
              <a:rPr lang="en-IN" dirty="0"/>
              <a:t>are functions that are associated with a particular </a:t>
            </a:r>
            <a:r>
              <a:rPr lang="en-IN" dirty="0">
                <a:solidFill>
                  <a:srgbClr val="C00000"/>
                </a:solidFill>
              </a:rPr>
              <a:t>data type </a:t>
            </a:r>
            <a:r>
              <a:rPr lang="en-IN" dirty="0"/>
              <a:t>and can be used only in conjunction with the data type (when we cover object-oriented programming.)</a:t>
            </a:r>
          </a:p>
          <a:p>
            <a:pPr lvl="1"/>
            <a:endParaRPr lang="en-IN" dirty="0"/>
          </a:p>
          <a:p>
            <a:endParaRPr lang="en-IN" dirty="0"/>
          </a:p>
          <a:p>
            <a:pPr marL="457200" lvl="1" indent="0">
              <a:buNone/>
            </a:pPr>
            <a:r>
              <a:rPr lang="en-IN" dirty="0"/>
              <a:t> </a:t>
            </a:r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marL="457200" lvl="1" indent="0">
              <a:buNone/>
            </a:pPr>
            <a:endParaRPr lang="en-IN" dirty="0"/>
          </a:p>
          <a:p>
            <a:pPr marL="457200" lvl="1" indent="0">
              <a:buNone/>
            </a:pPr>
            <a:endParaRPr lang="en-IN" dirty="0"/>
          </a:p>
          <a:p>
            <a:pPr lvl="1"/>
            <a:endParaRPr lang="en-IN" dirty="0"/>
          </a:p>
          <a:p>
            <a:endParaRPr lang="en-IN" dirty="0"/>
          </a:p>
          <a:p>
            <a:pPr lvl="1"/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1804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2EE33-CD7F-1843-A7A5-ACB88154C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F6C0B-4CD3-D343-9A3D-81851BE6C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WAP to count simple interest using function.</a:t>
            </a:r>
          </a:p>
          <a:p>
            <a:r>
              <a:rPr lang="en-US" dirty="0"/>
              <a:t>WAP to find maximum number from given two numbers using function.</a:t>
            </a:r>
          </a:p>
          <a:p>
            <a:r>
              <a:rPr lang="en-US" dirty="0"/>
              <a:t>WAP that defines a function exchange to interchange the values of two variables, say x and y.</a:t>
            </a:r>
          </a:p>
        </p:txBody>
      </p:sp>
    </p:spTree>
    <p:extLst>
      <p:ext uri="{BB962C8B-B14F-4D97-AF65-F5344CB8AC3E}">
        <p14:creationId xmlns:p14="http://schemas.microsoft.com/office/powerpoint/2010/main" val="3889945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E4E9C-B391-FA40-811A-C38DD3499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Function Arguments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52991-AB10-DC4C-993E-2F11E2E026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Parameters:</a:t>
            </a:r>
          </a:p>
          <a:p>
            <a:pPr lvl="1"/>
            <a:r>
              <a:rPr lang="en-US" dirty="0"/>
              <a:t>Parameters are variables listed in the function definition.</a:t>
            </a:r>
          </a:p>
          <a:p>
            <a:pPr lvl="1"/>
            <a:r>
              <a:rPr lang="en-IN" dirty="0"/>
              <a:t>They act as placeholders.</a:t>
            </a:r>
            <a:endParaRPr lang="en-US" altLang="en-US" dirty="0"/>
          </a:p>
          <a:p>
            <a:r>
              <a:rPr lang="en-US" altLang="en-US" dirty="0"/>
              <a:t>Arguments:</a:t>
            </a:r>
          </a:p>
          <a:p>
            <a:pPr lvl="1"/>
            <a:r>
              <a:rPr lang="en-US" dirty="0"/>
              <a:t>Arguments are actual values passed to the function during function call.</a:t>
            </a:r>
          </a:p>
          <a:p>
            <a:pPr marL="0" indent="0">
              <a:buNone/>
            </a:pPr>
            <a:endParaRPr lang="en-US" alt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EDD093-CAC0-E53F-9210-48D8FF191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235" y="3024381"/>
            <a:ext cx="5791702" cy="1867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700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A48EC-B2B5-5A77-48FD-A7F0FF32E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3D17E-6743-BD11-9F18-F9AAC3932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Function Arguments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71B59-2733-3885-FAE8-5F7F28C111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Positional Arguments</a:t>
            </a:r>
          </a:p>
          <a:p>
            <a:r>
              <a:rPr lang="en-US" dirty="0"/>
              <a:t>Keyword Arguments</a:t>
            </a:r>
          </a:p>
          <a:p>
            <a:r>
              <a:rPr lang="en-US" dirty="0"/>
              <a:t>Default Arguments</a:t>
            </a:r>
          </a:p>
          <a:p>
            <a:r>
              <a:rPr lang="en-US" dirty="0"/>
              <a:t>Variable Length Arguments</a:t>
            </a:r>
          </a:p>
          <a:p>
            <a:pPr lvl="1"/>
            <a:r>
              <a:rPr lang="en-US" dirty="0"/>
              <a:t>Variable Length Positional Arguments</a:t>
            </a:r>
          </a:p>
          <a:p>
            <a:pPr lvl="1"/>
            <a:r>
              <a:rPr lang="en-US" dirty="0"/>
              <a:t>Variable Length Keyword Arguments</a:t>
            </a:r>
          </a:p>
          <a:p>
            <a:r>
              <a:rPr lang="en-US" dirty="0"/>
              <a:t>Positional Only Arguments</a:t>
            </a:r>
          </a:p>
          <a:p>
            <a:r>
              <a:rPr lang="en-US" dirty="0"/>
              <a:t>Keyword Only Arguments</a:t>
            </a:r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034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4ABA0-4FB5-9187-1392-E1AF69CA3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6A7CD-112F-DCD7-0FEC-C81C5F714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Positional Arguments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9F320-7050-D362-116E-8F43DF65F8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Positional arguments are the arguments passed to a function in </a:t>
            </a:r>
            <a:r>
              <a:rPr lang="en-US" dirty="0">
                <a:solidFill>
                  <a:srgbClr val="C00000"/>
                </a:solidFill>
              </a:rPr>
              <a:t>correct positional</a:t>
            </a:r>
            <a:r>
              <a:rPr lang="en-US" dirty="0"/>
              <a:t> order. </a:t>
            </a:r>
          </a:p>
          <a:p>
            <a:r>
              <a:rPr lang="en-US" dirty="0"/>
              <a:t>During a function call, values passed through arguments should be in the </a:t>
            </a:r>
            <a:r>
              <a:rPr lang="en-US" dirty="0">
                <a:solidFill>
                  <a:srgbClr val="C00000"/>
                </a:solidFill>
              </a:rPr>
              <a:t>order of parameters </a:t>
            </a:r>
            <a:r>
              <a:rPr lang="en-US" dirty="0"/>
              <a:t>in the function definition.</a:t>
            </a:r>
          </a:p>
          <a:p>
            <a:r>
              <a:rPr lang="en-IN" dirty="0"/>
              <a:t>Order must match.</a:t>
            </a:r>
          </a:p>
          <a:p>
            <a:r>
              <a:rPr lang="en-US" dirty="0"/>
              <a:t>Number of arguments must match number of parameters, </a:t>
            </a:r>
          </a:p>
          <a:p>
            <a:r>
              <a:rPr lang="en-US" dirty="0"/>
              <a:t>Otherwise generates </a:t>
            </a:r>
            <a:r>
              <a:rPr lang="en-IN" dirty="0" err="1"/>
              <a:t>TypeError</a:t>
            </a:r>
            <a:r>
              <a:rPr lang="en-IN" dirty="0"/>
              <a:t>.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F76301-5A5E-F3C6-73BA-EA9A5E2DDA7E}"/>
              </a:ext>
            </a:extLst>
          </p:cNvPr>
          <p:cNvSpPr/>
          <p:nvPr/>
        </p:nvSpPr>
        <p:spPr>
          <a:xfrm>
            <a:off x="1068035" y="4393970"/>
            <a:ext cx="4005769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add_number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(n1,n2):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"Sum = 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n1+n2)</a:t>
            </a:r>
          </a:p>
          <a:p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add_number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add_number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7C53CC-D109-7AD8-EDB9-B2034B21197B}"/>
              </a:ext>
            </a:extLst>
          </p:cNvPr>
          <p:cNvSpPr/>
          <p:nvPr/>
        </p:nvSpPr>
        <p:spPr>
          <a:xfrm>
            <a:off x="568042" y="4393970"/>
            <a:ext cx="499993" cy="1323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C7E24566-51A5-FEC3-0515-6E10BCFB60CA}"/>
              </a:ext>
            </a:extLst>
          </p:cNvPr>
          <p:cNvSpPr/>
          <p:nvPr/>
        </p:nvSpPr>
        <p:spPr>
          <a:xfrm>
            <a:off x="568042" y="4064786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Demo.py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56B57D-B12F-A4D0-647C-3FA3EFD825E5}"/>
              </a:ext>
            </a:extLst>
          </p:cNvPr>
          <p:cNvSpPr/>
          <p:nvPr/>
        </p:nvSpPr>
        <p:spPr>
          <a:xfrm>
            <a:off x="5192835" y="4390488"/>
            <a:ext cx="2080995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Sum =  5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Sum =  8</a:t>
            </a:r>
          </a:p>
        </p:txBody>
      </p:sp>
      <p:sp>
        <p:nvSpPr>
          <p:cNvPr id="15" name="Rectangle: Top Corners Rounded 6">
            <a:extLst>
              <a:ext uri="{FF2B5EF4-FFF2-40B4-BE49-F238E27FC236}">
                <a16:creationId xmlns:a16="http://schemas.microsoft.com/office/drawing/2014/main" id="{F2617B25-C56D-7FDA-9F60-972B6E387B3F}"/>
              </a:ext>
            </a:extLst>
          </p:cNvPr>
          <p:cNvSpPr/>
          <p:nvPr/>
        </p:nvSpPr>
        <p:spPr>
          <a:xfrm>
            <a:off x="5192835" y="4064786"/>
            <a:ext cx="132090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D70256-EB10-555A-CFC7-4E2F83E0B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6941" y="2188936"/>
            <a:ext cx="3772227" cy="1943268"/>
          </a:xfrm>
          <a:prstGeom prst="rect">
            <a:avLst/>
          </a:prstGeom>
        </p:spPr>
      </p:pic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7FE3C669-B9C8-D006-96C6-C7718A246F91}"/>
              </a:ext>
            </a:extLst>
          </p:cNvPr>
          <p:cNvSpPr/>
          <p:nvPr/>
        </p:nvSpPr>
        <p:spPr>
          <a:xfrm>
            <a:off x="7886941" y="1872100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input.py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666D25-A3E2-A407-F0C7-F174426071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581" y="4760918"/>
            <a:ext cx="2225233" cy="777307"/>
          </a:xfrm>
          <a:prstGeom prst="rect">
            <a:avLst/>
          </a:prstGeom>
        </p:spPr>
      </p:pic>
      <p:sp>
        <p:nvSpPr>
          <p:cNvPr id="9" name="Rectangle: Top Corners Rounded 6">
            <a:extLst>
              <a:ext uri="{FF2B5EF4-FFF2-40B4-BE49-F238E27FC236}">
                <a16:creationId xmlns:a16="http://schemas.microsoft.com/office/drawing/2014/main" id="{B4916437-C1CF-3CD3-C901-B8D440C0266D}"/>
              </a:ext>
            </a:extLst>
          </p:cNvPr>
          <p:cNvSpPr/>
          <p:nvPr/>
        </p:nvSpPr>
        <p:spPr>
          <a:xfrm>
            <a:off x="7955581" y="4431734"/>
            <a:ext cx="132090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124223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 animBg="1"/>
      <p:bldP spid="12" grpId="0" animBg="1"/>
      <p:bldP spid="13" grpId="0" animBg="1"/>
      <p:bldP spid="14" grpId="0" build="p" animBg="1"/>
      <p:bldP spid="15" grpId="0" animBg="1"/>
      <p:bldP spid="6" grpId="0" animBg="1"/>
      <p:bldP spid="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07A7C-036D-6A43-9A0D-165C79869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dirty="0"/>
              <a:t>Keyword arguments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389C0-F3A3-494B-B83C-E8E89F11A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Arguments passed using </a:t>
            </a:r>
            <a:r>
              <a:rPr lang="en-US" b="1" dirty="0"/>
              <a:t>parameter name = value</a:t>
            </a:r>
            <a:r>
              <a:rPr lang="en-US" dirty="0"/>
              <a:t> format.</a:t>
            </a:r>
          </a:p>
          <a:p>
            <a:r>
              <a:rPr lang="en-IN" dirty="0"/>
              <a:t>Order does not matter.</a:t>
            </a:r>
          </a:p>
          <a:p>
            <a:r>
              <a:rPr lang="en-US" dirty="0"/>
              <a:t>Parameter names must match exactly.</a:t>
            </a:r>
          </a:p>
          <a:p>
            <a:r>
              <a:rPr lang="en-IN" dirty="0"/>
              <a:t>Cannot repeat same argument.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920D8E-ED10-5445-AB39-E729FE200BB0}"/>
              </a:ext>
            </a:extLst>
          </p:cNvPr>
          <p:cNvSpPr/>
          <p:nvPr/>
        </p:nvSpPr>
        <p:spPr>
          <a:xfrm>
            <a:off x="835992" y="3348473"/>
            <a:ext cx="6146805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subtract_number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(n1,n2):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"Subtraction = 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n1-n2)</a:t>
            </a:r>
          </a:p>
          <a:p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subtract_number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subtract_number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(n2=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,n1=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Keyword Arguments 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19209D-C6EB-B046-BA8A-FA98D607866A}"/>
              </a:ext>
            </a:extLst>
          </p:cNvPr>
          <p:cNvSpPr/>
          <p:nvPr/>
        </p:nvSpPr>
        <p:spPr>
          <a:xfrm>
            <a:off x="336000" y="3348473"/>
            <a:ext cx="499993" cy="1323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7C8B1114-DF3B-364E-84C7-4A01736A37DE}"/>
              </a:ext>
            </a:extLst>
          </p:cNvPr>
          <p:cNvSpPr/>
          <p:nvPr/>
        </p:nvSpPr>
        <p:spPr>
          <a:xfrm>
            <a:off x="336000" y="3019289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Demo.py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727406-12AD-0047-B686-632CD6BFBDA8}"/>
              </a:ext>
            </a:extLst>
          </p:cNvPr>
          <p:cNvSpPr/>
          <p:nvPr/>
        </p:nvSpPr>
        <p:spPr>
          <a:xfrm>
            <a:off x="336000" y="5346728"/>
            <a:ext cx="2436023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Subtraction =  10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Subtraction =  -10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B2B3AD81-8175-7046-BB17-6B504EBC1F11}"/>
              </a:ext>
            </a:extLst>
          </p:cNvPr>
          <p:cNvSpPr/>
          <p:nvPr/>
        </p:nvSpPr>
        <p:spPr>
          <a:xfrm>
            <a:off x="336000" y="5021026"/>
            <a:ext cx="132090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227D3C-0C16-1C05-C994-88C0B966C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1927" y="2024793"/>
            <a:ext cx="4846740" cy="19889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953D2C-44C5-067C-10C3-C907F39A4A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1927" y="4577605"/>
            <a:ext cx="2377646" cy="823031"/>
          </a:xfrm>
          <a:prstGeom prst="rect">
            <a:avLst/>
          </a:prstGeom>
        </p:spPr>
      </p:pic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D9369E63-BF29-A52F-2696-54B79051576E}"/>
              </a:ext>
            </a:extLst>
          </p:cNvPr>
          <p:cNvSpPr/>
          <p:nvPr/>
        </p:nvSpPr>
        <p:spPr>
          <a:xfrm>
            <a:off x="7171927" y="1672683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Demo.py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4" name="Rectangle: Top Corners Rounded 6">
            <a:extLst>
              <a:ext uri="{FF2B5EF4-FFF2-40B4-BE49-F238E27FC236}">
                <a16:creationId xmlns:a16="http://schemas.microsoft.com/office/drawing/2014/main" id="{D2AC1B4E-A6E9-3F6A-BD34-938634C48C78}"/>
              </a:ext>
            </a:extLst>
          </p:cNvPr>
          <p:cNvSpPr/>
          <p:nvPr/>
        </p:nvSpPr>
        <p:spPr>
          <a:xfrm>
            <a:off x="7216289" y="4248895"/>
            <a:ext cx="132090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209862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 animBg="1"/>
      <p:bldP spid="10" grpId="0" animBg="1"/>
      <p:bldP spid="11" grpId="0" animBg="1"/>
      <p:bldP spid="12" grpId="0" build="p" animBg="1"/>
      <p:bldP spid="13" grpId="0" animBg="1"/>
      <p:bldP spid="8" grpId="0" animBg="1"/>
      <p:bldP spid="1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AE5C2-E9C7-2049-AFB9-29D7DFF56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Default arguments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2F94D-CD24-6F4C-AA2E-C2B2DFE7A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default argument is an argument that </a:t>
            </a:r>
            <a:r>
              <a:rPr lang="en-US" dirty="0">
                <a:solidFill>
                  <a:srgbClr val="C00000"/>
                </a:solidFill>
              </a:rPr>
              <a:t>assumes a default value </a:t>
            </a:r>
            <a:r>
              <a:rPr lang="en-US" dirty="0"/>
              <a:t>if a value is not provided in the function call for that argument.</a:t>
            </a:r>
          </a:p>
          <a:p>
            <a:r>
              <a:rPr lang="en-US" dirty="0"/>
              <a:t>Default arguments are values that are provided while </a:t>
            </a:r>
            <a:r>
              <a:rPr lang="en-US" dirty="0">
                <a:solidFill>
                  <a:srgbClr val="C00000"/>
                </a:solidFill>
              </a:rPr>
              <a:t>defining functions</a:t>
            </a:r>
            <a:r>
              <a:rPr lang="en-US" dirty="0"/>
              <a:t>.</a:t>
            </a:r>
          </a:p>
          <a:p>
            <a:r>
              <a:rPr lang="en-US" dirty="0"/>
              <a:t>The assignment </a:t>
            </a:r>
            <a:r>
              <a:rPr lang="en-US" dirty="0">
                <a:solidFill>
                  <a:srgbClr val="C00000"/>
                </a:solidFill>
              </a:rPr>
              <a:t>operator = is </a:t>
            </a:r>
            <a:r>
              <a:rPr lang="en-US" dirty="0"/>
              <a:t>used to assign a default value to the argument.</a:t>
            </a:r>
          </a:p>
          <a:p>
            <a:r>
              <a:rPr lang="en-US" dirty="0"/>
              <a:t>Default arguments become </a:t>
            </a:r>
            <a:r>
              <a:rPr lang="en-US" dirty="0">
                <a:solidFill>
                  <a:srgbClr val="C00000"/>
                </a:solidFill>
              </a:rPr>
              <a:t>optional during the function calls</a:t>
            </a:r>
            <a:r>
              <a:rPr lang="en-US" dirty="0"/>
              <a:t>. </a:t>
            </a:r>
          </a:p>
          <a:p>
            <a:r>
              <a:rPr lang="en-US" dirty="0"/>
              <a:t>If we provide a value to the default arguments during function calls, it overrides the default value. </a:t>
            </a:r>
          </a:p>
          <a:p>
            <a:r>
              <a:rPr lang="en-US" dirty="0"/>
              <a:t>Default parameters must come </a:t>
            </a:r>
            <a:r>
              <a:rPr lang="en-US" b="1" dirty="0"/>
              <a:t>after non-default parameters</a:t>
            </a:r>
            <a:r>
              <a:rPr lang="en-US" dirty="0"/>
              <a:t>.</a:t>
            </a:r>
          </a:p>
          <a:p>
            <a:pPr lvl="1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FED380-C156-3846-A191-721B621CF0B5}"/>
              </a:ext>
            </a:extLst>
          </p:cNvPr>
          <p:cNvSpPr/>
          <p:nvPr/>
        </p:nvSpPr>
        <p:spPr>
          <a:xfrm>
            <a:off x="1536385" y="4888820"/>
            <a:ext cx="6146805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add_number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(n1,n2 =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"Sum = 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n1+n2)</a:t>
            </a:r>
          </a:p>
          <a:p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add_number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add_number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611733-C19C-4C4A-9FDD-83CCEE84603E}"/>
              </a:ext>
            </a:extLst>
          </p:cNvPr>
          <p:cNvSpPr/>
          <p:nvPr/>
        </p:nvSpPr>
        <p:spPr>
          <a:xfrm>
            <a:off x="1036393" y="4888820"/>
            <a:ext cx="499993" cy="1323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50502CA9-DC95-274F-B67A-686C4D1A4C03}"/>
              </a:ext>
            </a:extLst>
          </p:cNvPr>
          <p:cNvSpPr/>
          <p:nvPr/>
        </p:nvSpPr>
        <p:spPr>
          <a:xfrm>
            <a:off x="1036393" y="4559636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Demo.py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C1934D-EA6A-AD42-9EDC-E35CD5CFB84B}"/>
              </a:ext>
            </a:extLst>
          </p:cNvPr>
          <p:cNvSpPr/>
          <p:nvPr/>
        </p:nvSpPr>
        <p:spPr>
          <a:xfrm>
            <a:off x="8023821" y="4846478"/>
            <a:ext cx="2436023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Sum =  5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Sum =  13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DC025F72-8B46-AB45-9F8F-E95B23254E07}"/>
              </a:ext>
            </a:extLst>
          </p:cNvPr>
          <p:cNvSpPr/>
          <p:nvPr/>
        </p:nvSpPr>
        <p:spPr>
          <a:xfrm>
            <a:off x="8023821" y="4520776"/>
            <a:ext cx="132090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975701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 animBg="1"/>
      <p:bldP spid="10" grpId="0" animBg="1"/>
      <p:bldP spid="11" grpId="0" animBg="1"/>
      <p:bldP spid="12" grpId="0" build="p" animBg="1"/>
      <p:bldP spid="1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7BA0B-D42E-D640-828D-47ED53818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dirty="0"/>
              <a:t>Variable-length arguments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8083E-08A7-ED44-BF93-FAA8F1DD03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Variable-length arguments are also known as </a:t>
            </a:r>
            <a:r>
              <a:rPr lang="en-US" dirty="0">
                <a:solidFill>
                  <a:schemeClr val="accent6"/>
                </a:solidFill>
              </a:rPr>
              <a:t>arbitrary arguments</a:t>
            </a:r>
            <a:r>
              <a:rPr lang="en-US" dirty="0"/>
              <a:t>. </a:t>
            </a:r>
          </a:p>
          <a:p>
            <a:r>
              <a:rPr lang="en-US" dirty="0"/>
              <a:t>If we don’t know the number of arguments needed for the function in advance, we can use </a:t>
            </a:r>
            <a:r>
              <a:rPr lang="en-US" dirty="0">
                <a:solidFill>
                  <a:schemeClr val="accent6"/>
                </a:solidFill>
              </a:rPr>
              <a:t>arbitrary arguments</a:t>
            </a:r>
            <a:r>
              <a:rPr lang="en-US" dirty="0"/>
              <a:t>.</a:t>
            </a:r>
          </a:p>
          <a:p>
            <a:r>
              <a:rPr lang="en-US" dirty="0"/>
              <a:t>There are </a:t>
            </a:r>
            <a:r>
              <a:rPr lang="en-US" dirty="0">
                <a:solidFill>
                  <a:schemeClr val="accent6"/>
                </a:solidFill>
              </a:rPr>
              <a:t>two types </a:t>
            </a:r>
            <a:r>
              <a:rPr lang="en-US" dirty="0"/>
              <a:t>of variable length arguments:</a:t>
            </a:r>
          </a:p>
          <a:p>
            <a:r>
              <a:rPr lang="en-US" dirty="0">
                <a:solidFill>
                  <a:schemeClr val="accent6"/>
                </a:solidFill>
              </a:rPr>
              <a:t>Variable length positional arguments (*</a:t>
            </a:r>
            <a:r>
              <a:rPr lang="en-US" dirty="0" err="1">
                <a:solidFill>
                  <a:schemeClr val="accent6"/>
                </a:solidFill>
              </a:rPr>
              <a:t>args</a:t>
            </a:r>
            <a:r>
              <a:rPr lang="en-US" dirty="0">
                <a:solidFill>
                  <a:schemeClr val="accent6"/>
                </a:solidFill>
              </a:rPr>
              <a:t>)</a:t>
            </a:r>
            <a:endParaRPr lang="en-US" dirty="0"/>
          </a:p>
          <a:p>
            <a:pPr lvl="1"/>
            <a:r>
              <a:rPr lang="en-US" altLang="en-US" dirty="0"/>
              <a:t>You may need to process a function for more arguments than you specified while </a:t>
            </a:r>
            <a:r>
              <a:rPr lang="en-US" altLang="en-US" dirty="0">
                <a:solidFill>
                  <a:schemeClr val="accent6"/>
                </a:solidFill>
              </a:rPr>
              <a:t>defining the function</a:t>
            </a:r>
            <a:r>
              <a:rPr lang="en-US" altLang="en-US" dirty="0"/>
              <a:t>. </a:t>
            </a:r>
          </a:p>
          <a:p>
            <a:pPr lvl="1"/>
            <a:r>
              <a:rPr lang="en-US" altLang="en-US" dirty="0"/>
              <a:t>These arguments are called </a:t>
            </a:r>
            <a:r>
              <a:rPr lang="en-US" altLang="en-US" i="1" dirty="0"/>
              <a:t>variable-length</a:t>
            </a:r>
            <a:r>
              <a:rPr lang="en-US" altLang="en-US" dirty="0"/>
              <a:t> arguments and are not </a:t>
            </a:r>
            <a:r>
              <a:rPr lang="en-US" altLang="en-US" dirty="0">
                <a:solidFill>
                  <a:schemeClr val="accent6"/>
                </a:solidFill>
              </a:rPr>
              <a:t>named in the function definition</a:t>
            </a:r>
            <a:r>
              <a:rPr lang="en-US" altLang="en-US" dirty="0"/>
              <a:t>, unlike required and default arguments.</a:t>
            </a:r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marL="457200" lvl="1" indent="0">
              <a:buNone/>
            </a:pPr>
            <a:endParaRPr lang="en-US" altLang="en-US" dirty="0"/>
          </a:p>
          <a:p>
            <a:pPr lvl="1"/>
            <a:r>
              <a:rPr lang="en-US" altLang="en-US" dirty="0"/>
              <a:t>An </a:t>
            </a:r>
            <a:r>
              <a:rPr lang="en-US" altLang="en-US" dirty="0">
                <a:solidFill>
                  <a:schemeClr val="accent6"/>
                </a:solidFill>
              </a:rPr>
              <a:t>asterisk (*)</a:t>
            </a:r>
            <a:r>
              <a:rPr lang="en-US" altLang="en-US" dirty="0"/>
              <a:t> is placed before the variable name that will hold the values of all non keyword variable arguments. </a:t>
            </a:r>
          </a:p>
          <a:p>
            <a:pPr lvl="1"/>
            <a:r>
              <a:rPr lang="en-US" altLang="en-US" dirty="0"/>
              <a:t>This tuple remains empty if no additional arguments are specified during the function call.</a:t>
            </a:r>
          </a:p>
          <a:p>
            <a:pPr lvl="1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1FAB70-DAE9-4A4A-A49E-0A01BB1B12F0}"/>
              </a:ext>
            </a:extLst>
          </p:cNvPr>
          <p:cNvSpPr/>
          <p:nvPr/>
        </p:nvSpPr>
        <p:spPr>
          <a:xfrm>
            <a:off x="918253" y="4376450"/>
            <a:ext cx="6709182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functionname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([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formal_args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,] *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args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sz="1600" dirty="0">
                <a:solidFill>
                  <a:srgbClr val="008000"/>
                </a:solidFill>
                <a:latin typeface="Consolas"/>
              </a:rPr>
              <a:t>#code to execute when function is called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0" name="Rectangle: Top Corners Rounded 6">
            <a:extLst>
              <a:ext uri="{FF2B5EF4-FFF2-40B4-BE49-F238E27FC236}">
                <a16:creationId xmlns:a16="http://schemas.microsoft.com/office/drawing/2014/main" id="{2FB8D216-D16B-BC4E-8AD6-09F0E8C86ED3}"/>
              </a:ext>
            </a:extLst>
          </p:cNvPr>
          <p:cNvSpPr/>
          <p:nvPr/>
        </p:nvSpPr>
        <p:spPr>
          <a:xfrm>
            <a:off x="918253" y="4047266"/>
            <a:ext cx="128618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11" name="Line Callout 1 10">
            <a:extLst>
              <a:ext uri="{FF2B5EF4-FFF2-40B4-BE49-F238E27FC236}">
                <a16:creationId xmlns:a16="http://schemas.microsoft.com/office/drawing/2014/main" id="{A9D09450-6B02-524C-B753-FBB5BB98F443}"/>
              </a:ext>
            </a:extLst>
          </p:cNvPr>
          <p:cNvSpPr/>
          <p:nvPr/>
        </p:nvSpPr>
        <p:spPr>
          <a:xfrm>
            <a:off x="8228981" y="3896284"/>
            <a:ext cx="2565400" cy="772553"/>
          </a:xfrm>
          <a:prstGeom prst="borderCallout1">
            <a:avLst>
              <a:gd name="adj1" fmla="val 53885"/>
              <a:gd name="adj2" fmla="val -612"/>
              <a:gd name="adj3" fmla="val 79856"/>
              <a:gd name="adj4" fmla="val -92833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Tuple representing variable length arguments</a:t>
            </a:r>
          </a:p>
        </p:txBody>
      </p:sp>
    </p:spTree>
    <p:extLst>
      <p:ext uri="{BB962C8B-B14F-4D97-AF65-F5344CB8AC3E}">
        <p14:creationId xmlns:p14="http://schemas.microsoft.com/office/powerpoint/2010/main" val="2382295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 animBg="1"/>
      <p:bldP spid="10" grpId="0" animBg="1"/>
      <p:bldP spid="11" grpId="0" animBg="1"/>
      <p:bldP spid="11" grpId="1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86B6C-1779-0346-8014-05AF5E474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Variable-length arguments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5D9D9-3F2F-2044-A4F3-90323AEE8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Variable length positional arguments</a:t>
            </a:r>
            <a:r>
              <a:rPr lang="en-US" dirty="0"/>
              <a:t> </a:t>
            </a:r>
            <a:r>
              <a:rPr lang="en-US" dirty="0">
                <a:solidFill>
                  <a:schemeClr val="accent6"/>
                </a:solidFill>
              </a:rPr>
              <a:t>example</a:t>
            </a:r>
            <a:endParaRPr lang="en-US" dirty="0"/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FD8444-AFA1-A04F-9BD0-1F0C585403D1}"/>
              </a:ext>
            </a:extLst>
          </p:cNvPr>
          <p:cNvSpPr/>
          <p:nvPr/>
        </p:nvSpPr>
        <p:spPr>
          <a:xfrm>
            <a:off x="878462" y="1896099"/>
            <a:ext cx="6146805" cy="20621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add_number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(n1,*n):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sum = n1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sum = sum +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"Sum = 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sum)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add_number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add_number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00142F-EC17-5C48-8720-25C1526F4371}"/>
              </a:ext>
            </a:extLst>
          </p:cNvPr>
          <p:cNvSpPr/>
          <p:nvPr/>
        </p:nvSpPr>
        <p:spPr>
          <a:xfrm>
            <a:off x="378470" y="1896099"/>
            <a:ext cx="499993" cy="20621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41C89979-E80C-444F-B4D9-BB0F388B52C6}"/>
              </a:ext>
            </a:extLst>
          </p:cNvPr>
          <p:cNvSpPr/>
          <p:nvPr/>
        </p:nvSpPr>
        <p:spPr>
          <a:xfrm>
            <a:off x="378470" y="1566915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Demo.py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594445F-E6E5-444C-A17B-A090C0B7A5DD}"/>
              </a:ext>
            </a:extLst>
          </p:cNvPr>
          <p:cNvSpPr/>
          <p:nvPr/>
        </p:nvSpPr>
        <p:spPr>
          <a:xfrm>
            <a:off x="7365898" y="1853757"/>
            <a:ext cx="2436023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Sum =  2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Sum =  40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94A7F754-7E73-8540-9635-1884247B9515}"/>
              </a:ext>
            </a:extLst>
          </p:cNvPr>
          <p:cNvSpPr/>
          <p:nvPr/>
        </p:nvSpPr>
        <p:spPr>
          <a:xfrm>
            <a:off x="7365898" y="1528055"/>
            <a:ext cx="132090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63176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 animBg="1"/>
      <p:bldP spid="10" grpId="0" animBg="1"/>
      <p:bldP spid="11" grpId="0" animBg="1"/>
      <p:bldP spid="12" grpId="0" build="p" animBg="1"/>
      <p:bldP spid="13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F3B95-78B6-364F-9C35-6C3C867E0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dirty="0"/>
              <a:t>Variable-length arguments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B6EFF-A6A8-504D-89C8-8BCB3AB22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Variable-length keyword arguments (**</a:t>
            </a:r>
            <a:r>
              <a:rPr lang="en-US" dirty="0" err="1">
                <a:solidFill>
                  <a:schemeClr val="accent6"/>
                </a:solidFill>
              </a:rPr>
              <a:t>kwargs</a:t>
            </a:r>
            <a:r>
              <a:rPr lang="en-US" dirty="0">
                <a:solidFill>
                  <a:schemeClr val="accent6"/>
                </a:solidFill>
              </a:rPr>
              <a:t>)</a:t>
            </a:r>
          </a:p>
          <a:p>
            <a:pPr lvl="1"/>
            <a:r>
              <a:rPr lang="en-US" dirty="0"/>
              <a:t>For </a:t>
            </a:r>
            <a:r>
              <a:rPr lang="en-US" altLang="en-US" dirty="0"/>
              <a:t>Variable-length</a:t>
            </a:r>
            <a:r>
              <a:rPr lang="en-US" dirty="0"/>
              <a:t> keyword argument, </a:t>
            </a:r>
            <a:r>
              <a:rPr lang="en-US" dirty="0">
                <a:solidFill>
                  <a:schemeClr val="accent6"/>
                </a:solidFill>
              </a:rPr>
              <a:t>a double asterisk (**) </a:t>
            </a:r>
            <a:r>
              <a:rPr lang="en-US" dirty="0"/>
              <a:t>is placed before a parameter in a function which can hold keyword variable-length arguments. </a:t>
            </a:r>
          </a:p>
          <a:p>
            <a:pPr lvl="1"/>
            <a:r>
              <a:rPr lang="en-IN" dirty="0"/>
              <a:t>Stored as dictionary.</a:t>
            </a:r>
            <a:endParaRPr lang="en-US" dirty="0"/>
          </a:p>
          <a:p>
            <a:pPr lvl="1"/>
            <a:r>
              <a:rPr lang="en-US" dirty="0"/>
              <a:t>Must be written at last in parameter list.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A1C3C0-8B7F-A847-9FAC-A531711F10B4}"/>
              </a:ext>
            </a:extLst>
          </p:cNvPr>
          <p:cNvSpPr/>
          <p:nvPr/>
        </p:nvSpPr>
        <p:spPr>
          <a:xfrm>
            <a:off x="1056882" y="3335083"/>
            <a:ext cx="5187801" cy="23083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add_Number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(**a):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sum = 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lvl="1"/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sum = a[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'a'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] + a[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'b'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]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"Sum="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,sum)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for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i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in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a.items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():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	print(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i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print(a) 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add_Number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(a=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4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,b=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3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,c=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4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6CE646-F116-BF47-BEC1-B443B60CF110}"/>
              </a:ext>
            </a:extLst>
          </p:cNvPr>
          <p:cNvSpPr/>
          <p:nvPr/>
        </p:nvSpPr>
        <p:spPr>
          <a:xfrm>
            <a:off x="556890" y="3335083"/>
            <a:ext cx="499993" cy="23083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</p:txBody>
      </p:sp>
      <p:sp>
        <p:nvSpPr>
          <p:cNvPr id="12" name="Rectangle: Top Corners Rounded 6">
            <a:extLst>
              <a:ext uri="{FF2B5EF4-FFF2-40B4-BE49-F238E27FC236}">
                <a16:creationId xmlns:a16="http://schemas.microsoft.com/office/drawing/2014/main" id="{F725046E-F450-A347-85D5-E9D2729FFD9D}"/>
              </a:ext>
            </a:extLst>
          </p:cNvPr>
          <p:cNvSpPr/>
          <p:nvPr/>
        </p:nvSpPr>
        <p:spPr>
          <a:xfrm>
            <a:off x="556890" y="3005899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Demo.py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EC71B42-A6E7-D544-A26C-743D305FC054}"/>
              </a:ext>
            </a:extLst>
          </p:cNvPr>
          <p:cNvSpPr/>
          <p:nvPr/>
        </p:nvSpPr>
        <p:spPr>
          <a:xfrm>
            <a:off x="6551859" y="3331601"/>
            <a:ext cx="4942213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Sum= 7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('a', 4)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('b', 3)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('c', 4)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{'a': 4, 'b': 3, 'c': 4}</a:t>
            </a:r>
          </a:p>
        </p:txBody>
      </p:sp>
      <p:sp>
        <p:nvSpPr>
          <p:cNvPr id="14" name="Rectangle: Top Corners Rounded 6">
            <a:extLst>
              <a:ext uri="{FF2B5EF4-FFF2-40B4-BE49-F238E27FC236}">
                <a16:creationId xmlns:a16="http://schemas.microsoft.com/office/drawing/2014/main" id="{5D8728C2-6CBB-9C43-9BE8-4C013D5E2519}"/>
              </a:ext>
            </a:extLst>
          </p:cNvPr>
          <p:cNvSpPr/>
          <p:nvPr/>
        </p:nvSpPr>
        <p:spPr>
          <a:xfrm>
            <a:off x="6551859" y="3005899"/>
            <a:ext cx="132090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4218396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animBg="1"/>
      <p:bldP spid="11" grpId="0" animBg="1"/>
      <p:bldP spid="12" grpId="0" animBg="1"/>
      <p:bldP spid="13" grpId="0" build="p" animBg="1"/>
      <p:bldP spid="1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CD43C-51A5-CB5A-12C6-00536F694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9FEC3-C8ED-0C04-58E3-ADDE6DE16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Positional Only arguments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B46B8-E91A-8A7B-764A-578B7D8EC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positional-only argument</a:t>
            </a:r>
            <a:r>
              <a:rPr lang="en-US" dirty="0"/>
              <a:t> is a function parameter that </a:t>
            </a:r>
            <a:r>
              <a:rPr lang="en-US" b="1" dirty="0"/>
              <a:t>must be passed by position</a:t>
            </a:r>
            <a:r>
              <a:rPr lang="en-US" dirty="0"/>
              <a:t>, not by keyword.</a:t>
            </a:r>
          </a:p>
          <a:p>
            <a:r>
              <a:rPr lang="en-US" dirty="0"/>
              <a:t>A </a:t>
            </a:r>
            <a:r>
              <a:rPr lang="en-US" b="1" dirty="0"/>
              <a:t>positional-only argument</a:t>
            </a:r>
            <a:r>
              <a:rPr lang="en-US" dirty="0"/>
              <a:t> is defined using a </a:t>
            </a:r>
            <a:r>
              <a:rPr lang="en-US" b="1" dirty="0"/>
              <a:t>/ (forward slash)</a:t>
            </a:r>
            <a:r>
              <a:rPr lang="en-US" dirty="0"/>
              <a:t> in the function definition.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F795C0AA-5E8D-FD09-F30B-3D4CEB1060E1}"/>
              </a:ext>
            </a:extLst>
          </p:cNvPr>
          <p:cNvSpPr/>
          <p:nvPr/>
        </p:nvSpPr>
        <p:spPr>
          <a:xfrm>
            <a:off x="758521" y="2127720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Demo.py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903B8B-E85F-E590-3377-70E4EB3EC3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18" y="2456904"/>
            <a:ext cx="3962743" cy="1767993"/>
          </a:xfrm>
          <a:prstGeom prst="rect">
            <a:avLst/>
          </a:prstGeom>
        </p:spPr>
      </p:pic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2D532FFB-D546-DC01-414E-70A6190A7923}"/>
              </a:ext>
            </a:extLst>
          </p:cNvPr>
          <p:cNvSpPr/>
          <p:nvPr/>
        </p:nvSpPr>
        <p:spPr>
          <a:xfrm>
            <a:off x="805909" y="4293556"/>
            <a:ext cx="132090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2F60E70-E85F-3F59-5934-97D677FAB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909" y="4735478"/>
            <a:ext cx="1524132" cy="43437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370F166-F017-FD52-1351-8AF5894D1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4185" y="2456904"/>
            <a:ext cx="3799561" cy="1699917"/>
          </a:xfrm>
          <a:prstGeom prst="rect">
            <a:avLst/>
          </a:prstGeom>
        </p:spPr>
      </p:pic>
      <p:sp>
        <p:nvSpPr>
          <p:cNvPr id="18" name="Rectangle: Top Corners Rounded 6">
            <a:extLst>
              <a:ext uri="{FF2B5EF4-FFF2-40B4-BE49-F238E27FC236}">
                <a16:creationId xmlns:a16="http://schemas.microsoft.com/office/drawing/2014/main" id="{37C7BA5D-E167-0E4C-9A41-8DAAA32B4DDD}"/>
              </a:ext>
            </a:extLst>
          </p:cNvPr>
          <p:cNvSpPr/>
          <p:nvPr/>
        </p:nvSpPr>
        <p:spPr>
          <a:xfrm>
            <a:off x="5193884" y="2127720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Demo.py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9" name="Rectangle: Top Corners Rounded 6">
            <a:extLst>
              <a:ext uri="{FF2B5EF4-FFF2-40B4-BE49-F238E27FC236}">
                <a16:creationId xmlns:a16="http://schemas.microsoft.com/office/drawing/2014/main" id="{FB29C947-FA58-3986-34CE-2E452EB6353E}"/>
              </a:ext>
            </a:extLst>
          </p:cNvPr>
          <p:cNvSpPr/>
          <p:nvPr/>
        </p:nvSpPr>
        <p:spPr>
          <a:xfrm>
            <a:off x="5193884" y="4220437"/>
            <a:ext cx="132090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78494F4-0D90-2D91-7FBB-415BEAD070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3884" y="4579278"/>
            <a:ext cx="6031835" cy="1333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47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8" grpId="0" animBg="1"/>
      <p:bldP spid="18" grpId="0" animBg="1"/>
      <p:bldP spid="19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5CF26-549A-68F8-9DE4-F4E2A7B71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775A7-2F4C-796A-B93F-F1AAB28F1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Keyword Only arguments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679DE-5BDA-96C4-816F-FD8173D26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keyword-only argument</a:t>
            </a:r>
            <a:r>
              <a:rPr lang="en-US" dirty="0"/>
              <a:t> is a function parameter that must be passed using its parameter name and cannot be passed by position.</a:t>
            </a:r>
          </a:p>
          <a:p>
            <a:r>
              <a:rPr lang="en-US" dirty="0"/>
              <a:t>A </a:t>
            </a:r>
            <a:r>
              <a:rPr lang="en-US" b="1" dirty="0"/>
              <a:t>keyword-only argument</a:t>
            </a:r>
            <a:r>
              <a:rPr lang="en-US" dirty="0"/>
              <a:t> Is defined using * in the function definition.</a:t>
            </a:r>
          </a:p>
          <a:p>
            <a:pPr lvl="1"/>
            <a:endParaRPr lang="en-US" dirty="0"/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07DD7C7B-78AD-8B06-8F69-05AE283C119F}"/>
              </a:ext>
            </a:extLst>
          </p:cNvPr>
          <p:cNvSpPr/>
          <p:nvPr/>
        </p:nvSpPr>
        <p:spPr>
          <a:xfrm>
            <a:off x="758521" y="2127720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Demo.py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B11F519F-99EE-AD89-EA2D-5819818EAA1A}"/>
              </a:ext>
            </a:extLst>
          </p:cNvPr>
          <p:cNvSpPr/>
          <p:nvPr/>
        </p:nvSpPr>
        <p:spPr>
          <a:xfrm>
            <a:off x="696036" y="4284054"/>
            <a:ext cx="132090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408C6F6-DF47-DE4A-636D-B2273B6AC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36" y="4750939"/>
            <a:ext cx="1524132" cy="434378"/>
          </a:xfrm>
          <a:prstGeom prst="rect">
            <a:avLst/>
          </a:prstGeom>
        </p:spPr>
      </p:pic>
      <p:sp>
        <p:nvSpPr>
          <p:cNvPr id="18" name="Rectangle: Top Corners Rounded 6">
            <a:extLst>
              <a:ext uri="{FF2B5EF4-FFF2-40B4-BE49-F238E27FC236}">
                <a16:creationId xmlns:a16="http://schemas.microsoft.com/office/drawing/2014/main" id="{D3D2F3E1-8D83-740A-00F8-7AC52A1AC797}"/>
              </a:ext>
            </a:extLst>
          </p:cNvPr>
          <p:cNvSpPr/>
          <p:nvPr/>
        </p:nvSpPr>
        <p:spPr>
          <a:xfrm>
            <a:off x="5193884" y="2127720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Demo.py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9" name="Rectangle: Top Corners Rounded 6">
            <a:extLst>
              <a:ext uri="{FF2B5EF4-FFF2-40B4-BE49-F238E27FC236}">
                <a16:creationId xmlns:a16="http://schemas.microsoft.com/office/drawing/2014/main" id="{514E480A-46C4-0A4B-2B2B-378271EB2AAE}"/>
              </a:ext>
            </a:extLst>
          </p:cNvPr>
          <p:cNvSpPr/>
          <p:nvPr/>
        </p:nvSpPr>
        <p:spPr>
          <a:xfrm>
            <a:off x="5193884" y="4220437"/>
            <a:ext cx="132090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D13123-C3D3-8E60-495E-74065CD092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36" y="2484359"/>
            <a:ext cx="3486826" cy="16724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5AA4327-AEC7-BA9B-8157-46D2F1A8F6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3884" y="2484359"/>
            <a:ext cx="3599920" cy="167246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F99204-05EE-DBA2-7758-8EAC68D34A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3883" y="4613238"/>
            <a:ext cx="5350899" cy="1281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522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8" grpId="0" animBg="1"/>
      <p:bldP spid="18" grpId="0" animBg="1"/>
      <p:bldP spid="19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343DB-F29F-F848-8798-6E824035A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 by reference vs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C3EE4-1E9B-034B-BD16-42B8E169EF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call by value method, the value of the </a:t>
            </a:r>
            <a:r>
              <a:rPr lang="en-US" dirty="0">
                <a:solidFill>
                  <a:srgbClr val="C00000"/>
                </a:solidFill>
              </a:rPr>
              <a:t>actual parameters is copied </a:t>
            </a:r>
            <a:r>
              <a:rPr lang="en-US" dirty="0"/>
              <a:t>into the formal parameters. </a:t>
            </a:r>
          </a:p>
          <a:p>
            <a:r>
              <a:rPr lang="en-US" dirty="0"/>
              <a:t>In call by reference, the </a:t>
            </a:r>
            <a:r>
              <a:rPr lang="en-US" dirty="0">
                <a:solidFill>
                  <a:srgbClr val="C00000"/>
                </a:solidFill>
              </a:rPr>
              <a:t>address of the variable </a:t>
            </a:r>
            <a:r>
              <a:rPr lang="en-US" dirty="0"/>
              <a:t>is passed into the function call as the </a:t>
            </a:r>
            <a:r>
              <a:rPr lang="en-US" dirty="0">
                <a:solidFill>
                  <a:srgbClr val="C00000"/>
                </a:solidFill>
              </a:rPr>
              <a:t>actual parameter.</a:t>
            </a:r>
          </a:p>
          <a:p>
            <a:r>
              <a:rPr lang="en-US" dirty="0"/>
              <a:t>In python value is passed as </a:t>
            </a:r>
            <a:r>
              <a:rPr lang="en-IN" dirty="0"/>
              <a:t>“</a:t>
            </a:r>
            <a:r>
              <a:rPr lang="en-IN" dirty="0">
                <a:solidFill>
                  <a:srgbClr val="C00000"/>
                </a:solidFill>
              </a:rPr>
              <a:t>Call by Object Reference</a:t>
            </a:r>
            <a:r>
              <a:rPr lang="en-IN" dirty="0"/>
              <a:t>” or “</a:t>
            </a:r>
            <a:r>
              <a:rPr lang="en-IN" dirty="0">
                <a:solidFill>
                  <a:srgbClr val="C00000"/>
                </a:solidFill>
              </a:rPr>
              <a:t>Call by assignment</a:t>
            </a:r>
            <a:r>
              <a:rPr lang="en-IN" dirty="0"/>
              <a:t>”.</a:t>
            </a:r>
          </a:p>
          <a:p>
            <a:r>
              <a:rPr lang="en-US" dirty="0"/>
              <a:t>When we pass </a:t>
            </a:r>
            <a:r>
              <a:rPr lang="en-IN" dirty="0"/>
              <a:t>whole numbers, strings or tuples to a function,  the passing is like </a:t>
            </a:r>
            <a:r>
              <a:rPr lang="en-IN" dirty="0">
                <a:solidFill>
                  <a:srgbClr val="C00000"/>
                </a:solidFill>
              </a:rPr>
              <a:t>call-by-value</a:t>
            </a:r>
            <a:r>
              <a:rPr lang="en-IN" dirty="0"/>
              <a:t> because you </a:t>
            </a:r>
            <a:r>
              <a:rPr lang="en-IN" dirty="0">
                <a:solidFill>
                  <a:srgbClr val="C00000"/>
                </a:solidFill>
              </a:rPr>
              <a:t>can not change the value of the immutable </a:t>
            </a:r>
            <a:r>
              <a:rPr lang="en-IN" dirty="0"/>
              <a:t>objects being passed to the function.</a:t>
            </a:r>
          </a:p>
          <a:p>
            <a:r>
              <a:rPr lang="en-IN" dirty="0"/>
              <a:t>Whereas passing mutable objects can be considered as call by reference because when their values are </a:t>
            </a:r>
            <a:r>
              <a:rPr lang="en-IN" dirty="0">
                <a:solidFill>
                  <a:srgbClr val="C00000"/>
                </a:solidFill>
              </a:rPr>
              <a:t>changed inside the function</a:t>
            </a:r>
            <a:r>
              <a:rPr lang="en-IN" dirty="0"/>
              <a:t>, then it will also be </a:t>
            </a:r>
            <a:r>
              <a:rPr lang="en-IN" dirty="0">
                <a:solidFill>
                  <a:srgbClr val="C00000"/>
                </a:solidFill>
              </a:rPr>
              <a:t>reflected outside the function</a:t>
            </a:r>
            <a:r>
              <a:rPr lang="en-IN" dirty="0"/>
              <a:t>.</a:t>
            </a:r>
          </a:p>
          <a:p>
            <a:endParaRPr lang="en-US" dirty="0"/>
          </a:p>
        </p:txBody>
      </p:sp>
      <p:pic>
        <p:nvPicPr>
          <p:cNvPr id="1026" name="Picture 2" descr="Pass by value/reference :EXPLAINED WITH SINGLE GIF (Believe me it&amp;#39;s true) -  DEV Community">
            <a:extLst>
              <a:ext uri="{FF2B5EF4-FFF2-40B4-BE49-F238E27FC236}">
                <a16:creationId xmlns:a16="http://schemas.microsoft.com/office/drawing/2014/main" id="{08C70D9C-117A-8446-AA62-A8E53399B4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8681" y="4686660"/>
            <a:ext cx="3923371" cy="1817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1841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1F1B7-D796-8B43-91C3-E1AF8C521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 by reference vs value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19936C-EC13-5F44-8904-73554A2A6091}"/>
              </a:ext>
            </a:extLst>
          </p:cNvPr>
          <p:cNvSpPr/>
          <p:nvPr/>
        </p:nvSpPr>
        <p:spPr>
          <a:xfrm>
            <a:off x="688892" y="1316236"/>
            <a:ext cx="4362610" cy="23083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Call by Value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modifiy_String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(s):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 = 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"Darshan University"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"Inside Function:"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s)</a:t>
            </a:r>
          </a:p>
          <a:p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 = 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"Darshan"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modifiy_String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(str)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"Outside </a:t>
            </a:r>
            <a:r>
              <a:rPr lang="en-IN" sz="1600" dirty="0" err="1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Function:"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,str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07E88D-77C8-F746-8317-12EA92354F7E}"/>
              </a:ext>
            </a:extLst>
          </p:cNvPr>
          <p:cNvSpPr/>
          <p:nvPr/>
        </p:nvSpPr>
        <p:spPr>
          <a:xfrm>
            <a:off x="188899" y="1316236"/>
            <a:ext cx="499993" cy="23083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2743F716-0241-6447-A579-E0EB87791B51}"/>
              </a:ext>
            </a:extLst>
          </p:cNvPr>
          <p:cNvSpPr/>
          <p:nvPr/>
        </p:nvSpPr>
        <p:spPr>
          <a:xfrm>
            <a:off x="188899" y="987052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CallByValue.py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844690-AF7E-F542-9831-D0D1C22F7FB4}"/>
              </a:ext>
            </a:extLst>
          </p:cNvPr>
          <p:cNvSpPr/>
          <p:nvPr/>
        </p:nvSpPr>
        <p:spPr>
          <a:xfrm>
            <a:off x="188899" y="4390705"/>
            <a:ext cx="4472312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Inside Function: Darshan University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Outside Function: Darshan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03E3F65A-59EA-CA4F-B290-C55468095DB9}"/>
              </a:ext>
            </a:extLst>
          </p:cNvPr>
          <p:cNvSpPr/>
          <p:nvPr/>
        </p:nvSpPr>
        <p:spPr>
          <a:xfrm>
            <a:off x="188899" y="4065003"/>
            <a:ext cx="132090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A91ECE-AEDA-6A43-A03A-583A1BF4C04F}"/>
              </a:ext>
            </a:extLst>
          </p:cNvPr>
          <p:cNvSpPr/>
          <p:nvPr/>
        </p:nvSpPr>
        <p:spPr>
          <a:xfrm>
            <a:off x="6051487" y="1313133"/>
            <a:ext cx="4989985" cy="23083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Call by Reference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add_more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(list):</a:t>
            </a:r>
          </a:p>
          <a:p>
            <a:pPr lvl="1"/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list.append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"Inside Function:"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list)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list = [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add_more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(list)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"Outside </a:t>
            </a:r>
            <a:r>
              <a:rPr lang="en-IN" sz="1600" dirty="0" err="1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Function:"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,list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92A309-CB07-814B-A056-294306C33C93}"/>
              </a:ext>
            </a:extLst>
          </p:cNvPr>
          <p:cNvSpPr/>
          <p:nvPr/>
        </p:nvSpPr>
        <p:spPr>
          <a:xfrm>
            <a:off x="5551495" y="1313133"/>
            <a:ext cx="499993" cy="23083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4DC4ED1F-C23E-5641-8907-07FFDA00032D}"/>
              </a:ext>
            </a:extLst>
          </p:cNvPr>
          <p:cNvSpPr/>
          <p:nvPr/>
        </p:nvSpPr>
        <p:spPr>
          <a:xfrm>
            <a:off x="5551495" y="983949"/>
            <a:ext cx="180831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CallByReference.py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513B98-78CC-1F4E-9563-18953E57DCFD}"/>
              </a:ext>
            </a:extLst>
          </p:cNvPr>
          <p:cNvSpPr/>
          <p:nvPr/>
        </p:nvSpPr>
        <p:spPr>
          <a:xfrm>
            <a:off x="5551495" y="4387602"/>
            <a:ext cx="4472312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Inside Function: [1, 2, 3, 4, 5, 50]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Outside Function: [1, 2, 3, 4, 5, 50]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A60E1B03-8050-3C4F-A823-3071778F9863}"/>
              </a:ext>
            </a:extLst>
          </p:cNvPr>
          <p:cNvSpPr/>
          <p:nvPr/>
        </p:nvSpPr>
        <p:spPr>
          <a:xfrm>
            <a:off x="5551495" y="4061900"/>
            <a:ext cx="132090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231924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  <p:bldP spid="9" grpId="0" build="p" animBg="1"/>
      <p:bldP spid="10" grpId="0" animBg="1"/>
      <p:bldP spid="11" grpId="0" animBg="1"/>
      <p:bldP spid="12" grpId="0" build="p" animBg="1"/>
      <p:bldP spid="13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D22F4-E59D-864B-BD9F-77BCCE3C0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 by reference vs value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9F5543-3892-7B4B-9A54-A5F699A9B3F4}"/>
              </a:ext>
            </a:extLst>
          </p:cNvPr>
          <p:cNvSpPr/>
          <p:nvPr/>
        </p:nvSpPr>
        <p:spPr>
          <a:xfrm>
            <a:off x="390293" y="994939"/>
            <a:ext cx="3088887" cy="71119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printA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(a):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a = </a:t>
            </a:r>
            <a:r>
              <a:rPr lang="en-IN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endParaRPr lang="en-IN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307D31-52C7-6544-9416-67D30F3AA809}"/>
              </a:ext>
            </a:extLst>
          </p:cNvPr>
          <p:cNvSpPr/>
          <p:nvPr/>
        </p:nvSpPr>
        <p:spPr>
          <a:xfrm>
            <a:off x="390293" y="2306443"/>
            <a:ext cx="3088887" cy="112255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>
                <a:solidFill>
                  <a:srgbClr val="000000"/>
                </a:solidFill>
                <a:latin typeface="Menlo" panose="020B0609030804020204" pitchFamily="49" charset="0"/>
              </a:rPr>
              <a:t>x=</a:t>
            </a:r>
            <a:r>
              <a:rPr lang="en-IN" dirty="0">
                <a:solidFill>
                  <a:srgbClr val="098658"/>
                </a:solidFill>
                <a:latin typeface="Menlo" panose="020B0609030804020204" pitchFamily="49" charset="0"/>
              </a:rPr>
              <a:t>2</a:t>
            </a:r>
            <a:endParaRPr lang="en-I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dirty="0" err="1">
                <a:solidFill>
                  <a:srgbClr val="000000"/>
                </a:solidFill>
                <a:latin typeface="Menlo" panose="020B0609030804020204" pitchFamily="49" charset="0"/>
              </a:rPr>
              <a:t>printA</a:t>
            </a:r>
            <a:r>
              <a:rPr lang="en-IN" dirty="0">
                <a:solidFill>
                  <a:srgbClr val="000000"/>
                </a:solidFill>
                <a:latin typeface="Menlo" panose="020B0609030804020204" pitchFamily="49" charset="0"/>
              </a:rPr>
              <a:t>(x)</a:t>
            </a:r>
          </a:p>
          <a:p>
            <a:r>
              <a:rPr lang="en-IN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dirty="0">
                <a:solidFill>
                  <a:srgbClr val="A31515"/>
                </a:solidFill>
                <a:latin typeface="Menlo" panose="020B0609030804020204" pitchFamily="49" charset="0"/>
              </a:rPr>
              <a:t>"A = "</a:t>
            </a:r>
            <a:r>
              <a:rPr lang="en-IN" dirty="0">
                <a:solidFill>
                  <a:srgbClr val="000000"/>
                </a:solidFill>
                <a:latin typeface="Menlo" panose="020B0609030804020204" pitchFamily="49" charset="0"/>
              </a:rPr>
              <a:t>,x)</a:t>
            </a:r>
          </a:p>
        </p:txBody>
      </p:sp>
      <p:sp>
        <p:nvSpPr>
          <p:cNvPr id="10" name="Can 9">
            <a:extLst>
              <a:ext uri="{FF2B5EF4-FFF2-40B4-BE49-F238E27FC236}">
                <a16:creationId xmlns:a16="http://schemas.microsoft.com/office/drawing/2014/main" id="{FC57526A-1912-0841-94A8-35D156019CEC}"/>
              </a:ext>
            </a:extLst>
          </p:cNvPr>
          <p:cNvSpPr/>
          <p:nvPr/>
        </p:nvSpPr>
        <p:spPr>
          <a:xfrm>
            <a:off x="390293" y="5687121"/>
            <a:ext cx="825190" cy="577383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3B13632-C408-AD45-BC0C-45F8684AB874}"/>
              </a:ext>
            </a:extLst>
          </p:cNvPr>
          <p:cNvCxnSpPr/>
          <p:nvPr/>
        </p:nvCxnSpPr>
        <p:spPr>
          <a:xfrm>
            <a:off x="814039" y="4850780"/>
            <a:ext cx="0" cy="6913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A89C2C3-3114-3F48-B1C2-B668CC4FE7C4}"/>
              </a:ext>
            </a:extLst>
          </p:cNvPr>
          <p:cNvSpPr txBox="1"/>
          <p:nvPr/>
        </p:nvSpPr>
        <p:spPr>
          <a:xfrm>
            <a:off x="658387" y="459363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4" name="Can 13">
            <a:extLst>
              <a:ext uri="{FF2B5EF4-FFF2-40B4-BE49-F238E27FC236}">
                <a16:creationId xmlns:a16="http://schemas.microsoft.com/office/drawing/2014/main" id="{D858511F-9614-DA43-A1E7-5C200F3CADBA}"/>
              </a:ext>
            </a:extLst>
          </p:cNvPr>
          <p:cNvSpPr/>
          <p:nvPr/>
        </p:nvSpPr>
        <p:spPr>
          <a:xfrm>
            <a:off x="2092712" y="5687121"/>
            <a:ext cx="825190" cy="577383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A9C29A4-81B2-6349-A7E4-5C1A3AB5EF3F}"/>
              </a:ext>
            </a:extLst>
          </p:cNvPr>
          <p:cNvCxnSpPr/>
          <p:nvPr/>
        </p:nvCxnSpPr>
        <p:spPr>
          <a:xfrm>
            <a:off x="2516458" y="4850780"/>
            <a:ext cx="0" cy="6913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D063392-BF73-AF4C-9301-0228EE24B37A}"/>
              </a:ext>
            </a:extLst>
          </p:cNvPr>
          <p:cNvSpPr txBox="1"/>
          <p:nvPr/>
        </p:nvSpPr>
        <p:spPr>
          <a:xfrm>
            <a:off x="2368821" y="4481448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7C882D-C93F-9C44-BBAB-006E5C639835}"/>
              </a:ext>
            </a:extLst>
          </p:cNvPr>
          <p:cNvSpPr txBox="1"/>
          <p:nvPr/>
        </p:nvSpPr>
        <p:spPr>
          <a:xfrm>
            <a:off x="1142433" y="3878612"/>
            <a:ext cx="1362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 by Value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FD0DCF3-021F-7C48-B9AB-7ADF59284282}"/>
              </a:ext>
            </a:extLst>
          </p:cNvPr>
          <p:cNvSpPr/>
          <p:nvPr/>
        </p:nvSpPr>
        <p:spPr>
          <a:xfrm>
            <a:off x="5917581" y="994939"/>
            <a:ext cx="3088887" cy="71119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>
                <a:solidFill>
                  <a:srgbClr val="0000FF"/>
                </a:solidFill>
                <a:latin typeface="Menlo" panose="020B0609030804020204" pitchFamily="49" charset="0"/>
              </a:rPr>
              <a:t>def</a:t>
            </a:r>
            <a:r>
              <a:rPr lang="en-I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dirty="0" err="1">
                <a:solidFill>
                  <a:srgbClr val="000000"/>
                </a:solidFill>
                <a:latin typeface="Menlo" panose="020B0609030804020204" pitchFamily="49" charset="0"/>
              </a:rPr>
              <a:t>printList</a:t>
            </a:r>
            <a:r>
              <a:rPr lang="en-IN" dirty="0">
                <a:solidFill>
                  <a:srgbClr val="000000"/>
                </a:solidFill>
                <a:latin typeface="Menlo" panose="020B0609030804020204" pitchFamily="49" charset="0"/>
              </a:rPr>
              <a:t>(a):</a:t>
            </a:r>
          </a:p>
          <a:p>
            <a:r>
              <a:rPr lang="en-IN" dirty="0">
                <a:solidFill>
                  <a:srgbClr val="000000"/>
                </a:solidFill>
                <a:latin typeface="Menlo" panose="020B0609030804020204" pitchFamily="49" charset="0"/>
              </a:rPr>
              <a:t>	</a:t>
            </a:r>
            <a:r>
              <a:rPr lang="en-IN" dirty="0" err="1">
                <a:solidFill>
                  <a:srgbClr val="000000"/>
                </a:solidFill>
                <a:latin typeface="Menlo" panose="020B0609030804020204" pitchFamily="49" charset="0"/>
              </a:rPr>
              <a:t>a.append</a:t>
            </a:r>
            <a:r>
              <a:rPr lang="en-I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IN" dirty="0">
                <a:solidFill>
                  <a:srgbClr val="098658"/>
                </a:solidFill>
                <a:latin typeface="Menlo" panose="020B0609030804020204" pitchFamily="49" charset="0"/>
              </a:rPr>
              <a:t>3</a:t>
            </a:r>
            <a:r>
              <a:rPr lang="en-I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1FB2B47-E422-FA40-B517-2F66E4F45A7E}"/>
              </a:ext>
            </a:extLst>
          </p:cNvPr>
          <p:cNvSpPr/>
          <p:nvPr/>
        </p:nvSpPr>
        <p:spPr>
          <a:xfrm>
            <a:off x="5917581" y="2306443"/>
            <a:ext cx="3088887" cy="112255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x= [</a:t>
            </a:r>
            <a:r>
              <a:rPr lang="en-IN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printList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(x)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IN" dirty="0" err="1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List"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,x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30" name="Can 29">
            <a:extLst>
              <a:ext uri="{FF2B5EF4-FFF2-40B4-BE49-F238E27FC236}">
                <a16:creationId xmlns:a16="http://schemas.microsoft.com/office/drawing/2014/main" id="{AC4698FA-F0F8-B846-A162-66924F03CEAC}"/>
              </a:ext>
            </a:extLst>
          </p:cNvPr>
          <p:cNvSpPr/>
          <p:nvPr/>
        </p:nvSpPr>
        <p:spPr>
          <a:xfrm>
            <a:off x="5917581" y="5687121"/>
            <a:ext cx="825190" cy="577383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[1,2]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9C4B094-323A-5F41-A42B-8D40124A5475}"/>
              </a:ext>
            </a:extLst>
          </p:cNvPr>
          <p:cNvCxnSpPr/>
          <p:nvPr/>
        </p:nvCxnSpPr>
        <p:spPr>
          <a:xfrm>
            <a:off x="6341327" y="4850780"/>
            <a:ext cx="0" cy="6913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5FB3643-0765-FC4F-9CC5-F920A44D355D}"/>
              </a:ext>
            </a:extLst>
          </p:cNvPr>
          <p:cNvSpPr txBox="1"/>
          <p:nvPr/>
        </p:nvSpPr>
        <p:spPr>
          <a:xfrm>
            <a:off x="6185675" y="459363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41D88E2-876C-3C44-B968-9A622B728DAE}"/>
              </a:ext>
            </a:extLst>
          </p:cNvPr>
          <p:cNvCxnSpPr>
            <a:cxnSpLocks/>
          </p:cNvCxnSpPr>
          <p:nvPr/>
        </p:nvCxnSpPr>
        <p:spPr>
          <a:xfrm flipH="1">
            <a:off x="6669722" y="4868177"/>
            <a:ext cx="497028" cy="6739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8A60EC00-41B2-1D42-B195-5F3AD44676A3}"/>
              </a:ext>
            </a:extLst>
          </p:cNvPr>
          <p:cNvSpPr txBox="1"/>
          <p:nvPr/>
        </p:nvSpPr>
        <p:spPr>
          <a:xfrm>
            <a:off x="7166750" y="4592290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5B2D499-C2E3-804F-9E8D-4DFC34AB1B38}"/>
              </a:ext>
            </a:extLst>
          </p:cNvPr>
          <p:cNvSpPr txBox="1"/>
          <p:nvPr/>
        </p:nvSpPr>
        <p:spPr>
          <a:xfrm>
            <a:off x="6669721" y="3878612"/>
            <a:ext cx="1770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 by Reference</a:t>
            </a:r>
          </a:p>
        </p:txBody>
      </p:sp>
    </p:spTree>
    <p:extLst>
      <p:ext uri="{BB962C8B-B14F-4D97-AF65-F5344CB8AC3E}">
        <p14:creationId xmlns:p14="http://schemas.microsoft.com/office/powerpoint/2010/main" val="3378131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3" grpId="0"/>
      <p:bldP spid="14" grpId="0" animBg="1"/>
      <p:bldP spid="16" grpId="0"/>
      <p:bldP spid="17" grpId="0"/>
      <p:bldP spid="28" grpId="0" animBg="1"/>
      <p:bldP spid="29" grpId="0" animBg="1"/>
      <p:bldP spid="30" grpId="0" animBg="1"/>
      <p:bldP spid="32" grpId="0"/>
      <p:bldP spid="35" grpId="0"/>
      <p:bldP spid="36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A64AB-0F9B-4F48-A9C0-B1A22C913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D09E3-4713-E246-9FB8-C30C225855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return statement </a:t>
            </a:r>
            <a:r>
              <a:rPr lang="en-IN" dirty="0"/>
              <a:t>: return allows us to assign the output of the </a:t>
            </a:r>
            <a:r>
              <a:rPr lang="en-IN" dirty="0">
                <a:solidFill>
                  <a:srgbClr val="C00000"/>
                </a:solidFill>
              </a:rPr>
              <a:t>function to a new variable</a:t>
            </a:r>
            <a:r>
              <a:rPr lang="en-IN" dirty="0"/>
              <a:t>, return is use to send back the </a:t>
            </a:r>
            <a:r>
              <a:rPr lang="en-IN" dirty="0">
                <a:solidFill>
                  <a:srgbClr val="C00000"/>
                </a:solidFill>
              </a:rPr>
              <a:t>result of the function</a:t>
            </a:r>
            <a:r>
              <a:rPr lang="en-IN" dirty="0"/>
              <a:t>, instead of just </a:t>
            </a:r>
            <a:r>
              <a:rPr lang="en-IN" dirty="0">
                <a:solidFill>
                  <a:srgbClr val="C00000"/>
                </a:solidFill>
              </a:rPr>
              <a:t>printing it out</a:t>
            </a:r>
            <a:r>
              <a:rPr lang="en-IN" dirty="0"/>
              <a:t>.</a:t>
            </a:r>
          </a:p>
          <a:p>
            <a:r>
              <a:rPr lang="en-IN" dirty="0"/>
              <a:t>A return statement is used to </a:t>
            </a:r>
            <a:r>
              <a:rPr lang="en-IN" dirty="0">
                <a:solidFill>
                  <a:srgbClr val="C00000"/>
                </a:solidFill>
              </a:rPr>
              <a:t>end the execution </a:t>
            </a:r>
            <a:r>
              <a:rPr lang="en-IN" dirty="0"/>
              <a:t>of the function call. The statements after the return statements are </a:t>
            </a:r>
            <a:r>
              <a:rPr lang="en-IN" dirty="0">
                <a:solidFill>
                  <a:srgbClr val="C00000"/>
                </a:solidFill>
              </a:rPr>
              <a:t>not executed</a:t>
            </a:r>
            <a:r>
              <a:rPr lang="en-IN" dirty="0"/>
              <a:t>. </a:t>
            </a:r>
          </a:p>
          <a:p>
            <a:r>
              <a:rPr lang="en-IN" dirty="0"/>
              <a:t>If the return statement is without any expression, then the special value </a:t>
            </a:r>
            <a:r>
              <a:rPr lang="en-IN" dirty="0">
                <a:solidFill>
                  <a:srgbClr val="C00000"/>
                </a:solidFill>
              </a:rPr>
              <a:t>None is returned</a:t>
            </a:r>
            <a:r>
              <a:rPr lang="en-IN" dirty="0"/>
              <a:t>. </a:t>
            </a:r>
          </a:p>
          <a:p>
            <a:r>
              <a:rPr lang="en-IN" dirty="0"/>
              <a:t>In python we can return multiple values from function using </a:t>
            </a:r>
            <a:r>
              <a:rPr lang="en-IN" dirty="0">
                <a:solidFill>
                  <a:srgbClr val="C00000"/>
                </a:solidFill>
              </a:rPr>
              <a:t>object, tuple, list, Dictionary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dirty="0"/>
              <a:t>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B35A4B-2506-BB40-9FFD-590B1BD9DB2D}"/>
              </a:ext>
            </a:extLst>
          </p:cNvPr>
          <p:cNvSpPr/>
          <p:nvPr/>
        </p:nvSpPr>
        <p:spPr>
          <a:xfrm>
            <a:off x="946914" y="3836412"/>
            <a:ext cx="4881667" cy="18158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def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add_number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(n1,n2) 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n1 + n2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/>
              </a:rPr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sum1 =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add_number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5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sum2 =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add_number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6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  <a:br>
              <a:rPr lang="en-US" sz="1600" dirty="0">
                <a:solidFill>
                  <a:srgbClr val="000000"/>
                </a:solidFill>
                <a:latin typeface="Consolas"/>
              </a:rPr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print(sum1)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print(sum2)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4BAEF2-01CB-3048-BAE7-826CA10D191B}"/>
              </a:ext>
            </a:extLst>
          </p:cNvPr>
          <p:cNvSpPr/>
          <p:nvPr/>
        </p:nvSpPr>
        <p:spPr>
          <a:xfrm>
            <a:off x="446921" y="3836412"/>
            <a:ext cx="499993" cy="1815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</p:txBody>
      </p:sp>
      <p:sp>
        <p:nvSpPr>
          <p:cNvPr id="10" name="Rectangle: Top Corners Rounded 6">
            <a:extLst>
              <a:ext uri="{FF2B5EF4-FFF2-40B4-BE49-F238E27FC236}">
                <a16:creationId xmlns:a16="http://schemas.microsoft.com/office/drawing/2014/main" id="{3B9A112A-EFB4-7246-B9FB-B12E04580EF8}"/>
              </a:ext>
            </a:extLst>
          </p:cNvPr>
          <p:cNvSpPr/>
          <p:nvPr/>
        </p:nvSpPr>
        <p:spPr>
          <a:xfrm>
            <a:off x="446921" y="3507228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returnDemo.py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1" name="Line Callout 1 10">
            <a:extLst>
              <a:ext uri="{FF2B5EF4-FFF2-40B4-BE49-F238E27FC236}">
                <a16:creationId xmlns:a16="http://schemas.microsoft.com/office/drawing/2014/main" id="{74195BCD-1DFA-3446-BE37-AD48E0DDBBC0}"/>
              </a:ext>
            </a:extLst>
          </p:cNvPr>
          <p:cNvSpPr/>
          <p:nvPr/>
        </p:nvSpPr>
        <p:spPr>
          <a:xfrm>
            <a:off x="4689364" y="3983329"/>
            <a:ext cx="1406636" cy="1449238"/>
          </a:xfrm>
          <a:prstGeom prst="borderCallout1">
            <a:avLst>
              <a:gd name="adj1" fmla="val 53885"/>
              <a:gd name="adj2" fmla="val -612"/>
              <a:gd name="adj3" fmla="val 94290"/>
              <a:gd name="adj4" fmla="val -162381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Output :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8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7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7028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animBg="1"/>
      <p:bldP spid="9" grpId="0" animBg="1"/>
      <p:bldP spid="10" grpId="0" animBg="1"/>
      <p:bldP spid="11" grpId="0" animBg="1"/>
      <p:bldP spid="11" grpId="1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EB8DA-1E0E-8044-A4BE-5C0CAAAC5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 Multiple values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1849BF-8FE0-BB49-B537-7EF7A4B5E6B6}"/>
              </a:ext>
            </a:extLst>
          </p:cNvPr>
          <p:cNvSpPr/>
          <p:nvPr/>
        </p:nvSpPr>
        <p:spPr>
          <a:xfrm>
            <a:off x="790797" y="1305085"/>
            <a:ext cx="5487339" cy="28007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test():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a=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b=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c=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a,b,c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return multiple values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test()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a,b,c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test()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print(x)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print(x[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"a, b, c="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a,b,c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17C725-8335-1947-905E-92141ABDF25E}"/>
              </a:ext>
            </a:extLst>
          </p:cNvPr>
          <p:cNvSpPr/>
          <p:nvPr/>
        </p:nvSpPr>
        <p:spPr>
          <a:xfrm>
            <a:off x="290804" y="1305085"/>
            <a:ext cx="499993" cy="28007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AF8FEC0C-B3E4-7C4A-A394-4DA990671618}"/>
              </a:ext>
            </a:extLst>
          </p:cNvPr>
          <p:cNvSpPr/>
          <p:nvPr/>
        </p:nvSpPr>
        <p:spPr>
          <a:xfrm>
            <a:off x="290804" y="975901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returndemo.py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D41EB0-1D96-7A4F-B96A-E57E8D80F345}"/>
              </a:ext>
            </a:extLst>
          </p:cNvPr>
          <p:cNvSpPr/>
          <p:nvPr/>
        </p:nvSpPr>
        <p:spPr>
          <a:xfrm>
            <a:off x="6497443" y="1301603"/>
            <a:ext cx="4472312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(1, 2, 3)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2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a, b, c= 1 2 3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DB36B5C3-3AA9-F042-803F-CDE8A8766F8A}"/>
              </a:ext>
            </a:extLst>
          </p:cNvPr>
          <p:cNvSpPr/>
          <p:nvPr/>
        </p:nvSpPr>
        <p:spPr>
          <a:xfrm>
            <a:off x="6497443" y="975901"/>
            <a:ext cx="132090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489919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0972C-CEBB-184E-8A07-32DBEF042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8C5EC-3AF4-8044-A5A4-D06B44D5E3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WAP that define a function to find factorial of given number.</a:t>
            </a:r>
          </a:p>
          <a:p>
            <a:r>
              <a:rPr lang="en-US" dirty="0"/>
              <a:t>WAP that defines a function which returns 1 if the number is prime otherwise return 0.</a:t>
            </a:r>
          </a:p>
          <a:p>
            <a:r>
              <a:rPr lang="en-US" dirty="0"/>
              <a:t>WAP to generate Fibonacci series of N given number using function name </a:t>
            </a:r>
            <a:r>
              <a:rPr lang="en-US" dirty="0" err="1"/>
              <a:t>fibbo</a:t>
            </a:r>
            <a:r>
              <a:rPr lang="en-US" dirty="0"/>
              <a:t>.</a:t>
            </a:r>
          </a:p>
          <a:p>
            <a:r>
              <a:rPr lang="en-US" dirty="0"/>
              <a:t>WAP that defines a function to add first n numbers.</a:t>
            </a:r>
          </a:p>
        </p:txBody>
      </p:sp>
    </p:spTree>
    <p:extLst>
      <p:ext uri="{BB962C8B-B14F-4D97-AF65-F5344CB8AC3E}">
        <p14:creationId xmlns:p14="http://schemas.microsoft.com/office/powerpoint/2010/main" val="3865793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B4257-21DC-0045-958F-445B93959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 dirty="0"/>
              <a:t>Scope of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E9D4F-CFFA-A849-AFF0-13F7B1CA6E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variables in a program </a:t>
            </a:r>
            <a:r>
              <a:rPr lang="en-US" dirty="0">
                <a:solidFill>
                  <a:schemeClr val="accent6"/>
                </a:solidFill>
              </a:rPr>
              <a:t>may not be accessible at all locations</a:t>
            </a:r>
            <a:r>
              <a:rPr lang="en-US" dirty="0"/>
              <a:t> in that program. This depends on where you have </a:t>
            </a:r>
            <a:r>
              <a:rPr lang="en-US" dirty="0">
                <a:solidFill>
                  <a:schemeClr val="accent6"/>
                </a:solidFill>
              </a:rPr>
              <a:t>declared a variable</a:t>
            </a:r>
            <a:r>
              <a:rPr lang="en-US" dirty="0"/>
              <a:t>.</a:t>
            </a:r>
          </a:p>
          <a:p>
            <a:r>
              <a:rPr lang="en-US" dirty="0"/>
              <a:t>The scope of a variable determines the portion of the program where you can access a particular identifier. There are two basic scopes of variables in Python:</a:t>
            </a:r>
          </a:p>
          <a:p>
            <a:pPr lvl="1"/>
            <a:r>
              <a:rPr lang="en-US" dirty="0"/>
              <a:t>Global variables</a:t>
            </a:r>
          </a:p>
          <a:p>
            <a:pPr lvl="1"/>
            <a:r>
              <a:rPr lang="en-US" dirty="0"/>
              <a:t>Local variables</a:t>
            </a:r>
          </a:p>
          <a:p>
            <a:r>
              <a:rPr lang="en-US" altLang="en-US" dirty="0"/>
              <a:t>Variables that are defined inside a </a:t>
            </a:r>
            <a:r>
              <a:rPr lang="en-US" altLang="en-US" dirty="0">
                <a:solidFill>
                  <a:schemeClr val="accent6"/>
                </a:solidFill>
              </a:rPr>
              <a:t>function body have a local scope</a:t>
            </a:r>
            <a:r>
              <a:rPr lang="en-US" altLang="en-US" dirty="0"/>
              <a:t>, and those defined outside have a </a:t>
            </a:r>
            <a:r>
              <a:rPr lang="en-US" altLang="en-US" dirty="0">
                <a:solidFill>
                  <a:schemeClr val="accent6"/>
                </a:solidFill>
              </a:rPr>
              <a:t>global scope</a:t>
            </a:r>
            <a:r>
              <a:rPr lang="en-US" altLang="en-US" dirty="0"/>
              <a:t>.</a:t>
            </a:r>
          </a:p>
          <a:p>
            <a:r>
              <a:rPr lang="en-US" altLang="en-US" dirty="0"/>
              <a:t>This means that local variables can be accessed </a:t>
            </a:r>
            <a:r>
              <a:rPr lang="en-US" altLang="en-US" dirty="0">
                <a:solidFill>
                  <a:schemeClr val="accent6"/>
                </a:solidFill>
              </a:rPr>
              <a:t>only inside the function </a:t>
            </a:r>
            <a:r>
              <a:rPr lang="en-US" altLang="en-US" dirty="0"/>
              <a:t>in which they are declared.</a:t>
            </a:r>
          </a:p>
          <a:p>
            <a:r>
              <a:rPr lang="en-US" altLang="en-US" dirty="0"/>
              <a:t>whereas global variables can be accessed throughout the </a:t>
            </a:r>
            <a:r>
              <a:rPr lang="en-US" altLang="en-US" dirty="0">
                <a:solidFill>
                  <a:schemeClr val="accent6"/>
                </a:solidFill>
              </a:rPr>
              <a:t>program body by all functions</a:t>
            </a:r>
            <a:r>
              <a:rPr lang="en-US" altLang="en-US" dirty="0"/>
              <a:t>.</a:t>
            </a:r>
          </a:p>
          <a:p>
            <a:r>
              <a:rPr lang="en-US" altLang="en-US" dirty="0"/>
              <a:t>When we call a function, the variables declared inside it are </a:t>
            </a:r>
            <a:r>
              <a:rPr lang="en-US" altLang="en-US" dirty="0">
                <a:solidFill>
                  <a:schemeClr val="accent6"/>
                </a:solidFill>
              </a:rPr>
              <a:t>brought into scope</a:t>
            </a:r>
            <a:r>
              <a:rPr lang="en-US" alt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537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2C91D-212D-4148-837B-9B8853D92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 of Variables </a:t>
            </a:r>
            <a:r>
              <a:rPr lang="en-IN" dirty="0"/>
              <a:t>(cont.)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CC69DB-A9B9-D043-A01B-6DAC1D135AE7}"/>
              </a:ext>
            </a:extLst>
          </p:cNvPr>
          <p:cNvSpPr/>
          <p:nvPr/>
        </p:nvSpPr>
        <p:spPr>
          <a:xfrm>
            <a:off x="688892" y="1316236"/>
            <a:ext cx="6473236" cy="20621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total = 0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sum( arg1, arg2 ):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total = arg1 + arg2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 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"Inside the function local total : 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total)</a:t>
            </a: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total; </a:t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Now you can call sum function 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sum(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); 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 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"Outside the function global total : 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total)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15C9D8-9231-8F40-B942-09F0136C3410}"/>
              </a:ext>
            </a:extLst>
          </p:cNvPr>
          <p:cNvSpPr/>
          <p:nvPr/>
        </p:nvSpPr>
        <p:spPr>
          <a:xfrm>
            <a:off x="188899" y="1316236"/>
            <a:ext cx="499993" cy="20621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C6CD528B-D059-ED4D-A937-B6EECE9F21D9}"/>
              </a:ext>
            </a:extLst>
          </p:cNvPr>
          <p:cNvSpPr/>
          <p:nvPr/>
        </p:nvSpPr>
        <p:spPr>
          <a:xfrm>
            <a:off x="188899" y="987052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Local.py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102AC2-B5BA-5746-A9E2-366CA231CFCA}"/>
              </a:ext>
            </a:extLst>
          </p:cNvPr>
          <p:cNvSpPr/>
          <p:nvPr/>
        </p:nvSpPr>
        <p:spPr>
          <a:xfrm>
            <a:off x="7356088" y="1312754"/>
            <a:ext cx="4647013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400" b="1" dirty="0">
                <a:latin typeface="Consolas" pitchFamily="49" charset="0"/>
                <a:cs typeface="Consolas" panose="020B0609020204030204" pitchFamily="49" charset="0"/>
              </a:rPr>
              <a:t>Inside the function local total :  30</a:t>
            </a:r>
          </a:p>
          <a:p>
            <a:r>
              <a:rPr lang="en-IN" sz="1400" b="1" dirty="0">
                <a:latin typeface="Consolas" pitchFamily="49" charset="0"/>
                <a:cs typeface="Consolas" panose="020B0609020204030204" pitchFamily="49" charset="0"/>
              </a:rPr>
              <a:t>Outside the function global total :  0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04D8C5D3-8927-FD47-A36B-D38D104D9310}"/>
              </a:ext>
            </a:extLst>
          </p:cNvPr>
          <p:cNvSpPr/>
          <p:nvPr/>
        </p:nvSpPr>
        <p:spPr>
          <a:xfrm>
            <a:off x="7356088" y="987052"/>
            <a:ext cx="132090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DADAEE-7DA8-9F41-9492-818C624211A4}"/>
              </a:ext>
            </a:extLst>
          </p:cNvPr>
          <p:cNvSpPr/>
          <p:nvPr/>
        </p:nvSpPr>
        <p:spPr>
          <a:xfrm>
            <a:off x="688892" y="4100324"/>
            <a:ext cx="6473236" cy="23083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total = 0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sum( arg1, arg2 ):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global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total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total = arg1 + arg2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 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"Inside the function local total : 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total)</a:t>
            </a: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total; </a:t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Now you can call sum function 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sum(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); 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 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"Outside the function global total : 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total)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D7B9C8-9AD5-C447-8038-A9B4CDF0FA1C}"/>
              </a:ext>
            </a:extLst>
          </p:cNvPr>
          <p:cNvSpPr/>
          <p:nvPr/>
        </p:nvSpPr>
        <p:spPr>
          <a:xfrm>
            <a:off x="188899" y="4100324"/>
            <a:ext cx="499993" cy="23083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DA56560C-80CA-E44B-A6C6-3A350CF67FCC}"/>
              </a:ext>
            </a:extLst>
          </p:cNvPr>
          <p:cNvSpPr/>
          <p:nvPr/>
        </p:nvSpPr>
        <p:spPr>
          <a:xfrm>
            <a:off x="188899" y="3771140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Global.py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05EB0A-DF87-1640-AF69-6F6E6890652A}"/>
              </a:ext>
            </a:extLst>
          </p:cNvPr>
          <p:cNvSpPr/>
          <p:nvPr/>
        </p:nvSpPr>
        <p:spPr>
          <a:xfrm>
            <a:off x="7356088" y="4096842"/>
            <a:ext cx="4647013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400" b="1" dirty="0">
                <a:latin typeface="Consolas" pitchFamily="49" charset="0"/>
                <a:cs typeface="Consolas" panose="020B0609020204030204" pitchFamily="49" charset="0"/>
              </a:rPr>
              <a:t>Inside the function local total :  30</a:t>
            </a:r>
          </a:p>
          <a:p>
            <a:r>
              <a:rPr lang="en-IN" sz="1400" b="1" dirty="0">
                <a:latin typeface="Consolas" pitchFamily="49" charset="0"/>
                <a:cs typeface="Consolas" panose="020B0609020204030204" pitchFamily="49" charset="0"/>
              </a:rPr>
              <a:t>Outside the function global total :  30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ED4B0AE6-2716-C44C-9FE0-A9BEA464C609}"/>
              </a:ext>
            </a:extLst>
          </p:cNvPr>
          <p:cNvSpPr/>
          <p:nvPr/>
        </p:nvSpPr>
        <p:spPr>
          <a:xfrm>
            <a:off x="7356088" y="3771140"/>
            <a:ext cx="132090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24984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  <p:bldP spid="9" grpId="0" build="p" animBg="1"/>
      <p:bldP spid="10" grpId="0" animBg="1"/>
      <p:bldP spid="11" grpId="0" animBg="1"/>
      <p:bldP spid="12" grpId="0" build="p" animBg="1"/>
      <p:bldP spid="13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21E46-B0A0-274C-8A15-23F4D1E80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lambda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489B3-BBE1-3148-93B6-1F5D08D9F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use the </a:t>
            </a:r>
            <a:r>
              <a:rPr lang="en-US" dirty="0">
                <a:solidFill>
                  <a:schemeClr val="accent6"/>
                </a:solidFill>
              </a:rPr>
              <a:t>lambda keyword</a:t>
            </a:r>
            <a:r>
              <a:rPr lang="en-US" dirty="0"/>
              <a:t> to create small anonymous functions.</a:t>
            </a:r>
          </a:p>
          <a:p>
            <a:r>
              <a:rPr lang="en-US" altLang="en-US" dirty="0"/>
              <a:t>These functions are called anonymous because they are not declared in the standard manner by using the </a:t>
            </a:r>
            <a:r>
              <a:rPr lang="en-US" altLang="en-US" i="1" dirty="0">
                <a:solidFill>
                  <a:schemeClr val="accent6"/>
                </a:solidFill>
              </a:rPr>
              <a:t>def</a:t>
            </a:r>
            <a:r>
              <a:rPr lang="en-US" altLang="en-US" dirty="0">
                <a:solidFill>
                  <a:schemeClr val="accent6"/>
                </a:solidFill>
              </a:rPr>
              <a:t> keyword</a:t>
            </a:r>
            <a:r>
              <a:rPr lang="en-US" altLang="en-US" dirty="0"/>
              <a:t>.</a:t>
            </a:r>
          </a:p>
          <a:p>
            <a:r>
              <a:rPr lang="en-US" altLang="en-US" dirty="0"/>
              <a:t>lambda forms can take any number of arguments but return </a:t>
            </a:r>
            <a:r>
              <a:rPr lang="en-US" altLang="en-US" dirty="0">
                <a:solidFill>
                  <a:schemeClr val="accent6"/>
                </a:solidFill>
              </a:rPr>
              <a:t>just one value in the form of an expression</a:t>
            </a:r>
            <a:r>
              <a:rPr lang="en-US" altLang="en-US" dirty="0"/>
              <a:t>. They cannot contain </a:t>
            </a:r>
            <a:r>
              <a:rPr lang="en-US" altLang="en-US" dirty="0">
                <a:solidFill>
                  <a:schemeClr val="accent6"/>
                </a:solidFill>
              </a:rPr>
              <a:t>multiple expressions</a:t>
            </a:r>
            <a:r>
              <a:rPr lang="en-US" altLang="en-US" dirty="0"/>
              <a:t>.</a:t>
            </a:r>
          </a:p>
          <a:p>
            <a:r>
              <a:rPr lang="en-US" altLang="en-US" dirty="0"/>
              <a:t>An anonymous function cannot be a direct call to </a:t>
            </a:r>
            <a:r>
              <a:rPr lang="en-US" altLang="en-US" dirty="0">
                <a:solidFill>
                  <a:schemeClr val="accent6"/>
                </a:solidFill>
              </a:rPr>
              <a:t>print</a:t>
            </a:r>
            <a:r>
              <a:rPr lang="en-US" altLang="en-US" dirty="0"/>
              <a:t> because lambda requires an expression.</a:t>
            </a:r>
          </a:p>
          <a:p>
            <a:r>
              <a:rPr lang="en-US" altLang="en-US" dirty="0"/>
              <a:t>lambda functions have their own </a:t>
            </a:r>
            <a:r>
              <a:rPr lang="en-US" altLang="en-US" dirty="0">
                <a:solidFill>
                  <a:schemeClr val="accent6"/>
                </a:solidFill>
              </a:rPr>
              <a:t>local namespace and cannot access variables </a:t>
            </a:r>
            <a:r>
              <a:rPr lang="en-US" altLang="en-US" dirty="0"/>
              <a:t>other than those in their parameter list and those in the global namespace.</a:t>
            </a:r>
          </a:p>
          <a:p>
            <a:r>
              <a:rPr lang="en-US" altLang="en-US" dirty="0"/>
              <a:t>Although it appears that lambda's are a one-line version of a function, they are not equivalent to </a:t>
            </a:r>
            <a:r>
              <a:rPr lang="en-US" altLang="en-US" dirty="0">
                <a:solidFill>
                  <a:schemeClr val="accent6"/>
                </a:solidFill>
              </a:rPr>
              <a:t>inline statements </a:t>
            </a:r>
            <a:r>
              <a:rPr lang="en-US" altLang="en-US" dirty="0"/>
              <a:t>in C or C++.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301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4D511-1B2D-E347-BB12-D95391DE9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lambda Function (cont.)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C4F1BB0-B966-F44C-A9B7-F465DA5A1A9C}"/>
              </a:ext>
            </a:extLst>
          </p:cNvPr>
          <p:cNvSpPr/>
          <p:nvPr/>
        </p:nvSpPr>
        <p:spPr>
          <a:xfrm>
            <a:off x="1000793" y="1171175"/>
            <a:ext cx="4753236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lambda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arg1,arg2..argN: expression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17CC1BA-B59E-934F-A041-DE7253B1D8BD}"/>
              </a:ext>
            </a:extLst>
          </p:cNvPr>
          <p:cNvSpPr/>
          <p:nvPr/>
        </p:nvSpPr>
        <p:spPr>
          <a:xfrm>
            <a:off x="500800" y="1171175"/>
            <a:ext cx="4999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20" name="Rectangle: Top Corners Rounded 6">
            <a:extLst>
              <a:ext uri="{FF2B5EF4-FFF2-40B4-BE49-F238E27FC236}">
                <a16:creationId xmlns:a16="http://schemas.microsoft.com/office/drawing/2014/main" id="{03F4003D-B5E6-EE45-8FEC-E786E70CA076}"/>
              </a:ext>
            </a:extLst>
          </p:cNvPr>
          <p:cNvSpPr/>
          <p:nvPr/>
        </p:nvSpPr>
        <p:spPr>
          <a:xfrm>
            <a:off x="500800" y="841991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63901A8-FBEA-EA4B-9BB4-75308BC29795}"/>
              </a:ext>
            </a:extLst>
          </p:cNvPr>
          <p:cNvSpPr txBox="1">
            <a:spLocks/>
          </p:cNvSpPr>
          <p:nvPr/>
        </p:nvSpPr>
        <p:spPr>
          <a:xfrm>
            <a:off x="131180" y="1751091"/>
            <a:ext cx="11929641" cy="222989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parameters are </a:t>
            </a:r>
            <a:r>
              <a:rPr lang="en-US" dirty="0">
                <a:solidFill>
                  <a:schemeClr val="accent6"/>
                </a:solidFill>
              </a:rPr>
              <a:t>optional, </a:t>
            </a:r>
            <a:r>
              <a:rPr lang="en-US" dirty="0"/>
              <a:t>and if supplied they are normally just comma- separated variable names, that is, </a:t>
            </a:r>
            <a:r>
              <a:rPr lang="en-US" dirty="0">
                <a:solidFill>
                  <a:schemeClr val="accent6"/>
                </a:solidFill>
              </a:rPr>
              <a:t>positional arguments</a:t>
            </a:r>
            <a:r>
              <a:rPr lang="en-US" dirty="0"/>
              <a:t>.</a:t>
            </a:r>
          </a:p>
          <a:p>
            <a:r>
              <a:rPr lang="en-US" dirty="0"/>
              <a:t>Lambda functions accept all kinds of arguments, just like normal def function</a:t>
            </a:r>
          </a:p>
          <a:p>
            <a:r>
              <a:rPr lang="en-US" dirty="0"/>
              <a:t>The expression can </a:t>
            </a:r>
            <a:r>
              <a:rPr lang="en-US" dirty="0">
                <a:solidFill>
                  <a:schemeClr val="accent6"/>
                </a:solidFill>
              </a:rPr>
              <a:t>not contain branches or loops </a:t>
            </a:r>
            <a:r>
              <a:rPr lang="en-US" dirty="0"/>
              <a:t>(although conditional expressions are allowed), and cannot have a return statement. The result of a lambda expression is an </a:t>
            </a:r>
            <a:r>
              <a:rPr lang="en-US" dirty="0">
                <a:solidFill>
                  <a:schemeClr val="accent6"/>
                </a:solidFill>
              </a:rPr>
              <a:t>anonymous function</a:t>
            </a:r>
            <a:r>
              <a:rPr lang="en-US" dirty="0"/>
              <a:t>. </a:t>
            </a:r>
          </a:p>
          <a:p>
            <a:r>
              <a:rPr lang="en-US" dirty="0"/>
              <a:t>When a lambda function is called it </a:t>
            </a:r>
            <a:r>
              <a:rPr lang="en-US" dirty="0">
                <a:solidFill>
                  <a:schemeClr val="accent6"/>
                </a:solidFill>
              </a:rPr>
              <a:t>returns the result of computing the expression </a:t>
            </a:r>
            <a:r>
              <a:rPr lang="en-US" dirty="0"/>
              <a:t>as its result.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45A8C04-9352-8E4D-A0E9-46597911841B}"/>
              </a:ext>
            </a:extLst>
          </p:cNvPr>
          <p:cNvSpPr/>
          <p:nvPr/>
        </p:nvSpPr>
        <p:spPr>
          <a:xfrm>
            <a:off x="1000793" y="4864170"/>
            <a:ext cx="4262635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sum = 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lambda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arg1,arg2: arg1 + arg2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IN" sz="1600" dirty="0" err="1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Total"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,sum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C77F1AB-3AE4-0F43-BA1B-D81E2560668F}"/>
              </a:ext>
            </a:extLst>
          </p:cNvPr>
          <p:cNvSpPr/>
          <p:nvPr/>
        </p:nvSpPr>
        <p:spPr>
          <a:xfrm>
            <a:off x="500800" y="4864170"/>
            <a:ext cx="499993" cy="584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24" name="Rectangle: Top Corners Rounded 6">
            <a:extLst>
              <a:ext uri="{FF2B5EF4-FFF2-40B4-BE49-F238E27FC236}">
                <a16:creationId xmlns:a16="http://schemas.microsoft.com/office/drawing/2014/main" id="{A281FFCC-ACB6-D141-B785-0488B2C65A70}"/>
              </a:ext>
            </a:extLst>
          </p:cNvPr>
          <p:cNvSpPr/>
          <p:nvPr/>
        </p:nvSpPr>
        <p:spPr>
          <a:xfrm>
            <a:off x="500800" y="4534986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13B0B4D-F172-BD41-BDDB-A0BDB8A5E829}"/>
              </a:ext>
            </a:extLst>
          </p:cNvPr>
          <p:cNvSpPr/>
          <p:nvPr/>
        </p:nvSpPr>
        <p:spPr>
          <a:xfrm>
            <a:off x="546252" y="6016009"/>
            <a:ext cx="1505628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400" b="1" dirty="0">
                <a:latin typeface="Consolas" pitchFamily="49" charset="0"/>
                <a:cs typeface="Consolas" panose="020B0609020204030204" pitchFamily="49" charset="0"/>
              </a:rPr>
              <a:t>Total 10</a:t>
            </a:r>
          </a:p>
        </p:txBody>
      </p:sp>
      <p:sp>
        <p:nvSpPr>
          <p:cNvPr id="26" name="Rectangle: Top Corners Rounded 6">
            <a:extLst>
              <a:ext uri="{FF2B5EF4-FFF2-40B4-BE49-F238E27FC236}">
                <a16:creationId xmlns:a16="http://schemas.microsoft.com/office/drawing/2014/main" id="{83E483C5-A7FE-8645-9426-0D5BC7E98939}"/>
              </a:ext>
            </a:extLst>
          </p:cNvPr>
          <p:cNvSpPr/>
          <p:nvPr/>
        </p:nvSpPr>
        <p:spPr>
          <a:xfrm>
            <a:off x="546251" y="5690307"/>
            <a:ext cx="803047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307513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uiExpand="1" build="p" animBg="1"/>
      <p:bldP spid="19" grpId="0" animBg="1"/>
      <p:bldP spid="20" grpId="0" animBg="1"/>
      <p:bldP spid="22" grpId="0" build="p" animBg="1"/>
      <p:bldP spid="23" grpId="0" animBg="1"/>
      <p:bldP spid="24" grpId="0" animBg="1"/>
      <p:bldP spid="25" grpId="0" build="p" animBg="1"/>
      <p:bldP spid="26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7AEC5-9F77-7D43-9C4F-30638DFF8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lambda Function (cont.)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5A4383-2032-D943-9031-6B2A3EB43FF7}"/>
              </a:ext>
            </a:extLst>
          </p:cNvPr>
          <p:cNvSpPr/>
          <p:nvPr/>
        </p:nvSpPr>
        <p:spPr>
          <a:xfrm>
            <a:off x="688892" y="1316236"/>
            <a:ext cx="6473236" cy="20621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cube(y):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y*y*y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lambda_cube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lambda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y: y*y*y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using the normally defined function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print(cube(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</a:p>
          <a:p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using the lambda function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lambda_cube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4AD1EB-B8CE-6A4C-98AA-2F27F0FD3A00}"/>
              </a:ext>
            </a:extLst>
          </p:cNvPr>
          <p:cNvSpPr/>
          <p:nvPr/>
        </p:nvSpPr>
        <p:spPr>
          <a:xfrm>
            <a:off x="188899" y="1316236"/>
            <a:ext cx="499993" cy="20621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FB0191A9-E61F-1F44-9B40-FEBB8AB9A9DE}"/>
              </a:ext>
            </a:extLst>
          </p:cNvPr>
          <p:cNvSpPr/>
          <p:nvPr/>
        </p:nvSpPr>
        <p:spPr>
          <a:xfrm>
            <a:off x="188899" y="987052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Cube.py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01C471-BCC3-064D-A97A-A76CACA96D3D}"/>
              </a:ext>
            </a:extLst>
          </p:cNvPr>
          <p:cNvSpPr/>
          <p:nvPr/>
        </p:nvSpPr>
        <p:spPr>
          <a:xfrm>
            <a:off x="7969405" y="1312754"/>
            <a:ext cx="1514861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400" b="1" dirty="0">
                <a:latin typeface="Consolas" pitchFamily="49" charset="0"/>
                <a:cs typeface="Consolas" panose="020B0609020204030204" pitchFamily="49" charset="0"/>
              </a:rPr>
              <a:t>125</a:t>
            </a:r>
          </a:p>
          <a:p>
            <a:r>
              <a:rPr lang="en-IN" sz="1400" b="1" dirty="0">
                <a:latin typeface="Consolas" pitchFamily="49" charset="0"/>
                <a:cs typeface="Consolas" panose="020B0609020204030204" pitchFamily="49" charset="0"/>
              </a:rPr>
              <a:t>125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74257248-2D0C-EA4C-9AA7-367C5378D838}"/>
              </a:ext>
            </a:extLst>
          </p:cNvPr>
          <p:cNvSpPr/>
          <p:nvPr/>
        </p:nvSpPr>
        <p:spPr>
          <a:xfrm>
            <a:off x="7969406" y="987052"/>
            <a:ext cx="85121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2695F6-67F6-1B4B-8141-FABBB05B0BFB}"/>
              </a:ext>
            </a:extLst>
          </p:cNvPr>
          <p:cNvSpPr/>
          <p:nvPr/>
        </p:nvSpPr>
        <p:spPr>
          <a:xfrm>
            <a:off x="688892" y="3879771"/>
            <a:ext cx="6473236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Example of lambda function using if-else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Max = 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lambda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a, b : a 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 &gt; b) 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print(Max(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31C183-0DA8-5044-9767-C8FF2E86FDE6}"/>
              </a:ext>
            </a:extLst>
          </p:cNvPr>
          <p:cNvSpPr/>
          <p:nvPr/>
        </p:nvSpPr>
        <p:spPr>
          <a:xfrm>
            <a:off x="188899" y="3879771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4C8CFE06-B15F-5849-B4C0-180E2AEA184E}"/>
              </a:ext>
            </a:extLst>
          </p:cNvPr>
          <p:cNvSpPr/>
          <p:nvPr/>
        </p:nvSpPr>
        <p:spPr>
          <a:xfrm>
            <a:off x="188899" y="3550587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WithIfElse.py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D84D73-694F-C544-8BA2-F9726DD50156}"/>
              </a:ext>
            </a:extLst>
          </p:cNvPr>
          <p:cNvSpPr/>
          <p:nvPr/>
        </p:nvSpPr>
        <p:spPr>
          <a:xfrm>
            <a:off x="7969405" y="3876289"/>
            <a:ext cx="1514861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400" b="1" dirty="0">
                <a:latin typeface="Consolas" pitchFamily="49" charset="0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2F05F35D-DBD2-E944-999C-9B2D68F8A99A}"/>
              </a:ext>
            </a:extLst>
          </p:cNvPr>
          <p:cNvSpPr/>
          <p:nvPr/>
        </p:nvSpPr>
        <p:spPr>
          <a:xfrm>
            <a:off x="7969405" y="3550587"/>
            <a:ext cx="85121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D8D68F5-B33D-8149-87C2-44546E334CB2}"/>
              </a:ext>
            </a:extLst>
          </p:cNvPr>
          <p:cNvSpPr/>
          <p:nvPr/>
        </p:nvSpPr>
        <p:spPr>
          <a:xfrm>
            <a:off x="688892" y="5212200"/>
            <a:ext cx="6473236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Lambda functions can be Immediately Invoked	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print((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lambda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x: x*x)(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66FA0DA-7840-0549-A6C4-68E95E0B3C83}"/>
              </a:ext>
            </a:extLst>
          </p:cNvPr>
          <p:cNvSpPr/>
          <p:nvPr/>
        </p:nvSpPr>
        <p:spPr>
          <a:xfrm>
            <a:off x="188899" y="5212200"/>
            <a:ext cx="499993" cy="584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25" name="Rectangle: Top Corners Rounded 6">
            <a:extLst>
              <a:ext uri="{FF2B5EF4-FFF2-40B4-BE49-F238E27FC236}">
                <a16:creationId xmlns:a16="http://schemas.microsoft.com/office/drawing/2014/main" id="{64FA6205-402F-0746-8C5E-EF4D832B1074}"/>
              </a:ext>
            </a:extLst>
          </p:cNvPr>
          <p:cNvSpPr/>
          <p:nvPr/>
        </p:nvSpPr>
        <p:spPr>
          <a:xfrm>
            <a:off x="188899" y="4883016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call.py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B0B1CF3-CB81-2C4B-8CF8-9EC092C3C6B2}"/>
              </a:ext>
            </a:extLst>
          </p:cNvPr>
          <p:cNvSpPr/>
          <p:nvPr/>
        </p:nvSpPr>
        <p:spPr>
          <a:xfrm>
            <a:off x="7969405" y="5373310"/>
            <a:ext cx="1514861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400" b="1" dirty="0">
                <a:latin typeface="Consolas" pitchFamily="49" charset="0"/>
                <a:cs typeface="Consolas" panose="020B0609020204030204" pitchFamily="49" charset="0"/>
              </a:rPr>
              <a:t>9</a:t>
            </a:r>
          </a:p>
        </p:txBody>
      </p:sp>
      <p:sp>
        <p:nvSpPr>
          <p:cNvPr id="27" name="Rectangle: Top Corners Rounded 6">
            <a:extLst>
              <a:ext uri="{FF2B5EF4-FFF2-40B4-BE49-F238E27FC236}">
                <a16:creationId xmlns:a16="http://schemas.microsoft.com/office/drawing/2014/main" id="{D00B70CE-F934-F444-8B9F-C92CCC13C692}"/>
              </a:ext>
            </a:extLst>
          </p:cNvPr>
          <p:cNvSpPr/>
          <p:nvPr/>
        </p:nvSpPr>
        <p:spPr>
          <a:xfrm>
            <a:off x="7969405" y="5047608"/>
            <a:ext cx="85121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437887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  <p:bldP spid="9" grpId="0" build="p" animBg="1"/>
      <p:bldP spid="10" grpId="0" animBg="1"/>
      <p:bldP spid="11" grpId="0" animBg="1"/>
      <p:bldP spid="12" grpId="0" build="p" animBg="1"/>
      <p:bldP spid="13" grpId="0" animBg="1"/>
      <p:bldP spid="18" grpId="0" build="p" animBg="1"/>
      <p:bldP spid="24" grpId="0" animBg="1"/>
      <p:bldP spid="25" grpId="0" animBg="1"/>
      <p:bldP spid="26" grpId="0" build="p" animBg="1"/>
      <p:bldP spid="27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3B5ED-1585-FC42-A468-649D9C2E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1570A-B462-7D4A-BBDF-95C99F6F7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WAP to find square of given number using lambda expression.</a:t>
            </a:r>
          </a:p>
          <a:p>
            <a:r>
              <a:rPr lang="en-US" dirty="0"/>
              <a:t>WAP to find simple interest using lambda function.</a:t>
            </a:r>
          </a:p>
          <a:p>
            <a:r>
              <a:rPr lang="en-US" dirty="0"/>
              <a:t>WAP to make simple calculator using lambda expression.</a:t>
            </a:r>
          </a:p>
        </p:txBody>
      </p:sp>
    </p:spTree>
    <p:extLst>
      <p:ext uri="{BB962C8B-B14F-4D97-AF65-F5344CB8AC3E}">
        <p14:creationId xmlns:p14="http://schemas.microsoft.com/office/powerpoint/2010/main" val="2331614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23AD2-453A-D16E-4A4D-E258EC48F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55F5B-0C2C-28F3-FB57-51A3465CCE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950096"/>
          </a:xfrm>
        </p:spPr>
        <p:txBody>
          <a:bodyPr/>
          <a:lstStyle/>
          <a:p>
            <a:r>
              <a:rPr lang="en-US" dirty="0"/>
              <a:t>map() function returns a map </a:t>
            </a:r>
            <a:r>
              <a:rPr lang="en-US" dirty="0">
                <a:solidFill>
                  <a:srgbClr val="C62827"/>
                </a:solidFill>
              </a:rPr>
              <a:t>object(which is an iterator) </a:t>
            </a:r>
            <a:r>
              <a:rPr lang="en-US" dirty="0"/>
              <a:t>of the results after applying the given function to each item of a given </a:t>
            </a:r>
            <a:r>
              <a:rPr lang="en-US" dirty="0" err="1">
                <a:solidFill>
                  <a:srgbClr val="C62827"/>
                </a:solidFill>
              </a:rPr>
              <a:t>iterable</a:t>
            </a:r>
            <a:r>
              <a:rPr lang="en-US" dirty="0">
                <a:solidFill>
                  <a:srgbClr val="C62827"/>
                </a:solidFill>
              </a:rPr>
              <a:t> (list, tuple etc.)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97828A-9D7A-9F89-A43B-20AF6F1709F1}"/>
              </a:ext>
            </a:extLst>
          </p:cNvPr>
          <p:cNvSpPr/>
          <p:nvPr/>
        </p:nvSpPr>
        <p:spPr>
          <a:xfrm>
            <a:off x="1103663" y="2142725"/>
            <a:ext cx="4753236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map(fun, </a:t>
            </a:r>
            <a:r>
              <a:rPr lang="en-IN" sz="16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iterable</a:t>
            </a:r>
            <a:r>
              <a:rPr lang="en-IN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0DE704-BB0E-E9E0-C45F-DC0C8CE93D44}"/>
              </a:ext>
            </a:extLst>
          </p:cNvPr>
          <p:cNvSpPr/>
          <p:nvPr/>
        </p:nvSpPr>
        <p:spPr>
          <a:xfrm>
            <a:off x="603670" y="2142725"/>
            <a:ext cx="4999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C970D219-49F2-20BA-3D1B-3A7062B0BC2E}"/>
              </a:ext>
            </a:extLst>
          </p:cNvPr>
          <p:cNvSpPr/>
          <p:nvPr/>
        </p:nvSpPr>
        <p:spPr>
          <a:xfrm>
            <a:off x="603670" y="1813541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75BA6F-0CC6-3BFD-1D26-DC6F124AE18A}"/>
              </a:ext>
            </a:extLst>
          </p:cNvPr>
          <p:cNvSpPr/>
          <p:nvPr/>
        </p:nvSpPr>
        <p:spPr>
          <a:xfrm>
            <a:off x="1103663" y="3092821"/>
            <a:ext cx="6473236" cy="18158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addition(n):</a:t>
            </a: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return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 * n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numbers = [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result = list(map(addition, numbers))</a:t>
            </a:r>
          </a:p>
          <a:p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result = list(map(lambda </a:t>
            </a:r>
            <a:r>
              <a:rPr lang="en-IN" sz="1600" dirty="0" err="1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n:n</a:t>
            </a:r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en-IN" sz="1600" dirty="0" err="1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n,numbers</a:t>
            </a:r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print(result)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411D93-D4F5-E916-0448-186FAB9D5E22}"/>
              </a:ext>
            </a:extLst>
          </p:cNvPr>
          <p:cNvSpPr/>
          <p:nvPr/>
        </p:nvSpPr>
        <p:spPr>
          <a:xfrm>
            <a:off x="603670" y="3092821"/>
            <a:ext cx="499993" cy="1815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</p:txBody>
      </p:sp>
      <p:sp>
        <p:nvSpPr>
          <p:cNvPr id="9" name="Rectangle: Top Corners Rounded 6">
            <a:extLst>
              <a:ext uri="{FF2B5EF4-FFF2-40B4-BE49-F238E27FC236}">
                <a16:creationId xmlns:a16="http://schemas.microsoft.com/office/drawing/2014/main" id="{D2228FCD-B1A6-4A51-E6AE-56AE1D88D26D}"/>
              </a:ext>
            </a:extLst>
          </p:cNvPr>
          <p:cNvSpPr/>
          <p:nvPr/>
        </p:nvSpPr>
        <p:spPr>
          <a:xfrm>
            <a:off x="603670" y="2763637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demo1.py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06E3EC-4AFF-1124-D736-4D3DE8E2249F}"/>
              </a:ext>
            </a:extLst>
          </p:cNvPr>
          <p:cNvSpPr/>
          <p:nvPr/>
        </p:nvSpPr>
        <p:spPr>
          <a:xfrm>
            <a:off x="8384176" y="3089339"/>
            <a:ext cx="1514861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400" b="1" dirty="0">
                <a:latin typeface="Consolas" pitchFamily="49" charset="0"/>
                <a:cs typeface="Consolas" panose="020B0609020204030204" pitchFamily="49" charset="0"/>
              </a:rPr>
              <a:t>[1, 4, 9, 16]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98F51169-E704-032E-3524-5B7BB22C2354}"/>
              </a:ext>
            </a:extLst>
          </p:cNvPr>
          <p:cNvSpPr/>
          <p:nvPr/>
        </p:nvSpPr>
        <p:spPr>
          <a:xfrm>
            <a:off x="8384177" y="2763637"/>
            <a:ext cx="85121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DB74D2-E731-FE0A-2E3C-4322DC8AE5C6}"/>
              </a:ext>
            </a:extLst>
          </p:cNvPr>
          <p:cNvSpPr/>
          <p:nvPr/>
        </p:nvSpPr>
        <p:spPr>
          <a:xfrm>
            <a:off x="1103663" y="5358636"/>
            <a:ext cx="6473236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strdata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[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IN" sz="1600" dirty="0" err="1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Darshan"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 err="1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"University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lengthdata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IN" sz="1600" dirty="0">
                <a:solidFill>
                  <a:srgbClr val="2B91A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list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2B91A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map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len,strdata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lengthdata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BF6B85-0889-DF20-88FD-A967817C1BEA}"/>
              </a:ext>
            </a:extLst>
          </p:cNvPr>
          <p:cNvSpPr/>
          <p:nvPr/>
        </p:nvSpPr>
        <p:spPr>
          <a:xfrm>
            <a:off x="603670" y="5358636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14" name="Rectangle: Top Corners Rounded 6">
            <a:extLst>
              <a:ext uri="{FF2B5EF4-FFF2-40B4-BE49-F238E27FC236}">
                <a16:creationId xmlns:a16="http://schemas.microsoft.com/office/drawing/2014/main" id="{BDF8E526-936F-D23A-43DA-55D5BFF17255}"/>
              </a:ext>
            </a:extLst>
          </p:cNvPr>
          <p:cNvSpPr/>
          <p:nvPr/>
        </p:nvSpPr>
        <p:spPr>
          <a:xfrm>
            <a:off x="603670" y="5029452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demo2.py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93A55E4-007D-7D47-91B3-DB7E97790FF1}"/>
              </a:ext>
            </a:extLst>
          </p:cNvPr>
          <p:cNvSpPr/>
          <p:nvPr/>
        </p:nvSpPr>
        <p:spPr>
          <a:xfrm>
            <a:off x="8076892" y="5524598"/>
            <a:ext cx="1514861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400" b="1" dirty="0">
                <a:latin typeface="Consolas" pitchFamily="49" charset="0"/>
                <a:cs typeface="Consolas" panose="020B0609020204030204" pitchFamily="49" charset="0"/>
              </a:rPr>
              <a:t>[7, 10]</a:t>
            </a:r>
          </a:p>
        </p:txBody>
      </p:sp>
      <p:sp>
        <p:nvSpPr>
          <p:cNvPr id="16" name="Rectangle: Top Corners Rounded 6">
            <a:extLst>
              <a:ext uri="{FF2B5EF4-FFF2-40B4-BE49-F238E27FC236}">
                <a16:creationId xmlns:a16="http://schemas.microsoft.com/office/drawing/2014/main" id="{9E02F882-F23C-0855-8191-EC4A7523E39F}"/>
              </a:ext>
            </a:extLst>
          </p:cNvPr>
          <p:cNvSpPr/>
          <p:nvPr/>
        </p:nvSpPr>
        <p:spPr>
          <a:xfrm>
            <a:off x="8076893" y="5198896"/>
            <a:ext cx="85121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697574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animBg="1"/>
      <p:bldP spid="5" grpId="0" animBg="1"/>
      <p:bldP spid="6" grpId="0" animBg="1"/>
      <p:bldP spid="7" grpId="0" build="p" animBg="1"/>
      <p:bldP spid="8" grpId="0" animBg="1"/>
      <p:bldP spid="9" grpId="0" animBg="1"/>
      <p:bldP spid="10" grpId="0" build="p" animBg="1"/>
      <p:bldP spid="11" grpId="0" animBg="1"/>
      <p:bldP spid="12" grpId="0" build="p" animBg="1"/>
      <p:bldP spid="13" grpId="0" animBg="1"/>
      <p:bldP spid="14" grpId="0" animBg="1"/>
      <p:bldP spid="15" grpId="0" build="p" animBg="1"/>
      <p:bldP spid="16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23F67-859B-947D-D381-7AD92A855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filter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8FC77-602B-C036-839D-65E2A2856E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919635"/>
          </a:xfrm>
        </p:spPr>
        <p:txBody>
          <a:bodyPr/>
          <a:lstStyle/>
          <a:p>
            <a:r>
              <a:rPr lang="en-US" dirty="0"/>
              <a:t>To find out items based on a test function we can use a Filter.</a:t>
            </a:r>
          </a:p>
          <a:p>
            <a:r>
              <a:rPr lang="en-US" dirty="0"/>
              <a:t>For example, the following filter call picks out items in a sequence that are divide by 2: 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D4DE2B-F868-91A8-0066-B436C337D2A2}"/>
              </a:ext>
            </a:extLst>
          </p:cNvPr>
          <p:cNvSpPr/>
          <p:nvPr/>
        </p:nvSpPr>
        <p:spPr>
          <a:xfrm>
            <a:off x="955073" y="2264508"/>
            <a:ext cx="6473236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lista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= [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2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3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4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5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6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7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8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9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10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]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ans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IN" sz="1600" dirty="0">
                <a:solidFill>
                  <a:srgbClr val="2B91AF"/>
                </a:solidFill>
                <a:latin typeface="Menlo" panose="020B0609030804020204" pitchFamily="49" charset="0"/>
              </a:rPr>
              <a:t>list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IN" sz="1600" dirty="0">
                <a:solidFill>
                  <a:srgbClr val="2B91AF"/>
                </a:solidFill>
                <a:latin typeface="Menlo" panose="020B0609030804020204" pitchFamily="49" charset="0"/>
              </a:rPr>
              <a:t>filter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lambda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>
                <a:solidFill>
                  <a:srgbClr val="808080"/>
                </a:solidFill>
                <a:latin typeface="Menlo" panose="020B0609030804020204" pitchFamily="49" charset="0"/>
              </a:rPr>
              <a:t>x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: </a:t>
            </a:r>
            <a:r>
              <a:rPr lang="en-IN" sz="1600" dirty="0">
                <a:solidFill>
                  <a:srgbClr val="808080"/>
                </a:solidFill>
                <a:latin typeface="Menlo" panose="020B0609030804020204" pitchFamily="49" charset="0"/>
              </a:rPr>
              <a:t>x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% 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2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== 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,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lista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ans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7B445E-7B8E-A535-3A50-CCE5DE8E7464}"/>
              </a:ext>
            </a:extLst>
          </p:cNvPr>
          <p:cNvSpPr/>
          <p:nvPr/>
        </p:nvSpPr>
        <p:spPr>
          <a:xfrm>
            <a:off x="455080" y="2264508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E56461F4-D8DD-B5AC-AF93-E08502149666}"/>
              </a:ext>
            </a:extLst>
          </p:cNvPr>
          <p:cNvSpPr/>
          <p:nvPr/>
        </p:nvSpPr>
        <p:spPr>
          <a:xfrm>
            <a:off x="455080" y="1935324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demo1.py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EB9B76-5C39-7489-0679-FBF720FA53F6}"/>
              </a:ext>
            </a:extLst>
          </p:cNvPr>
          <p:cNvSpPr/>
          <p:nvPr/>
        </p:nvSpPr>
        <p:spPr>
          <a:xfrm>
            <a:off x="7928302" y="2430470"/>
            <a:ext cx="1947218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400" b="1" dirty="0">
                <a:latin typeface="Consolas" pitchFamily="49" charset="0"/>
                <a:cs typeface="Consolas" panose="020B0609020204030204" pitchFamily="49" charset="0"/>
              </a:rPr>
              <a:t>[2, 4, 6, 8, 10]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8570AEE5-6C16-9D3B-1120-A77938B62F8D}"/>
              </a:ext>
            </a:extLst>
          </p:cNvPr>
          <p:cNvSpPr/>
          <p:nvPr/>
        </p:nvSpPr>
        <p:spPr>
          <a:xfrm>
            <a:off x="7928303" y="2104768"/>
            <a:ext cx="85121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985200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96C35-11AE-D641-8C00-674AA7656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765A0-0874-664D-A18B-9E12D89C9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Any function which calls </a:t>
            </a:r>
            <a:r>
              <a:rPr lang="en-US" dirty="0">
                <a:solidFill>
                  <a:schemeClr val="accent6"/>
                </a:solidFill>
              </a:rPr>
              <a:t>itself is </a:t>
            </a:r>
            <a:r>
              <a:rPr lang="en-US" dirty="0"/>
              <a:t>called recursive function and such function calls are called recursive calls. </a:t>
            </a:r>
          </a:p>
          <a:p>
            <a:r>
              <a:rPr lang="en-US" dirty="0"/>
              <a:t>Recursion cannot be applied to </a:t>
            </a:r>
            <a:r>
              <a:rPr lang="en-US" dirty="0">
                <a:solidFill>
                  <a:schemeClr val="accent6"/>
                </a:solidFill>
              </a:rPr>
              <a:t>all problems</a:t>
            </a:r>
            <a:r>
              <a:rPr lang="en-US" dirty="0"/>
              <a:t>, but it is more useful for the tasks that can be defined in terms of a </a:t>
            </a:r>
            <a:r>
              <a:rPr lang="en-US" dirty="0">
                <a:solidFill>
                  <a:schemeClr val="accent6"/>
                </a:solidFill>
              </a:rPr>
              <a:t>similar subtask</a:t>
            </a:r>
            <a:r>
              <a:rPr lang="en-US" dirty="0"/>
              <a:t>.</a:t>
            </a:r>
          </a:p>
          <a:p>
            <a:r>
              <a:rPr lang="en-US" dirty="0"/>
              <a:t>It is idea of representing </a:t>
            </a:r>
            <a:r>
              <a:rPr lang="en-US" dirty="0">
                <a:solidFill>
                  <a:schemeClr val="accent6"/>
                </a:solidFill>
              </a:rPr>
              <a:t>problem a with smaller problems</a:t>
            </a:r>
            <a:r>
              <a:rPr lang="en-US" dirty="0"/>
              <a:t>.</a:t>
            </a:r>
          </a:p>
          <a:p>
            <a:r>
              <a:rPr lang="en-US" dirty="0"/>
              <a:t>Any problem that can be solved recursively can be solved </a:t>
            </a:r>
            <a:r>
              <a:rPr lang="en-US" dirty="0">
                <a:solidFill>
                  <a:schemeClr val="accent6"/>
                </a:solidFill>
              </a:rPr>
              <a:t>iteratively</a:t>
            </a:r>
            <a:r>
              <a:rPr lang="en-US" dirty="0"/>
              <a:t>.</a:t>
            </a:r>
          </a:p>
          <a:p>
            <a:r>
              <a:rPr lang="en-US" dirty="0"/>
              <a:t>When recursive function call itself, the memory for called function allocated and different copy of the local variable </a:t>
            </a:r>
            <a:r>
              <a:rPr lang="en-US" dirty="0">
                <a:solidFill>
                  <a:schemeClr val="accent6"/>
                </a:solidFill>
              </a:rPr>
              <a:t>is created for each function call</a:t>
            </a:r>
            <a:r>
              <a:rPr lang="en-US" dirty="0"/>
              <a:t>.</a:t>
            </a:r>
          </a:p>
          <a:p>
            <a:r>
              <a:rPr lang="en-US" dirty="0"/>
              <a:t>Some of the problem best suitable for recursion are</a:t>
            </a:r>
          </a:p>
          <a:p>
            <a:pPr lvl="1"/>
            <a:r>
              <a:rPr lang="en-US" dirty="0"/>
              <a:t>Factorial</a:t>
            </a:r>
          </a:p>
          <a:p>
            <a:pPr lvl="1"/>
            <a:r>
              <a:rPr lang="en-US" dirty="0"/>
              <a:t>Fibonacci</a:t>
            </a:r>
          </a:p>
          <a:p>
            <a:pPr lvl="1"/>
            <a:r>
              <a:rPr lang="en-US" dirty="0"/>
              <a:t>Tower of Hanoi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3560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9FACF-2080-C842-96A0-55E3925D9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Recursion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52901-72BC-3348-A7A1-A791659F0D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recursive function can </a:t>
            </a:r>
            <a:r>
              <a:rPr lang="en-US" dirty="0">
                <a:solidFill>
                  <a:schemeClr val="accent6"/>
                </a:solidFill>
              </a:rPr>
              <a:t>go infinite like a loop</a:t>
            </a:r>
            <a:r>
              <a:rPr lang="en-US" dirty="0"/>
              <a:t>. To avoid infinite running of recursive function, there are two properties that a recursive function must have.</a:t>
            </a:r>
          </a:p>
          <a:p>
            <a:r>
              <a:rPr lang="en-US" dirty="0">
                <a:solidFill>
                  <a:schemeClr val="accent6"/>
                </a:solidFill>
              </a:rPr>
              <a:t>Base Case or Base criteria </a:t>
            </a:r>
          </a:p>
          <a:p>
            <a:pPr lvl="1"/>
            <a:r>
              <a:rPr lang="en-US" dirty="0"/>
              <a:t>It allows the recursion algorithm to stop.</a:t>
            </a:r>
          </a:p>
          <a:p>
            <a:pPr lvl="1"/>
            <a:r>
              <a:rPr lang="en-US" dirty="0"/>
              <a:t>A base case is typically a problem that is small enough to solve directly.</a:t>
            </a:r>
          </a:p>
          <a:p>
            <a:r>
              <a:rPr lang="en-US" dirty="0">
                <a:solidFill>
                  <a:schemeClr val="accent6"/>
                </a:solidFill>
              </a:rPr>
              <a:t>Progressive approach</a:t>
            </a:r>
          </a:p>
          <a:p>
            <a:pPr lvl="1"/>
            <a:r>
              <a:rPr lang="en-US" dirty="0"/>
              <a:t>A recursive algorithm must change its state in such a way that it moves forward to the base case.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817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A4029-BBBA-3A43-A984-6AD82C343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Recursion - factorial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018E6-4B42-434F-9E9C-4D171FD224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factorial of a integer n, is product of</a:t>
            </a:r>
          </a:p>
          <a:p>
            <a:pPr lvl="1"/>
            <a:r>
              <a:rPr lang="en-US" dirty="0"/>
              <a:t>n * (n-1) * (n-2) *  …. * 1</a:t>
            </a:r>
          </a:p>
          <a:p>
            <a:r>
              <a:rPr lang="en-US" dirty="0"/>
              <a:t>Recursive definition of factorial</a:t>
            </a:r>
          </a:p>
          <a:p>
            <a:pPr lvl="1"/>
            <a:r>
              <a:rPr lang="en-US" dirty="0"/>
              <a:t>n! = n * (n-1)!</a:t>
            </a:r>
          </a:p>
          <a:p>
            <a:pPr lvl="1"/>
            <a:r>
              <a:rPr lang="en-US" dirty="0"/>
              <a:t>Example</a:t>
            </a:r>
          </a:p>
          <a:p>
            <a:pPr lvl="2"/>
            <a:r>
              <a:rPr lang="en-US" dirty="0"/>
              <a:t>3! = 3 * 2 * 1</a:t>
            </a:r>
          </a:p>
          <a:p>
            <a:pPr lvl="2"/>
            <a:r>
              <a:rPr lang="en-US" dirty="0"/>
              <a:t>3! = 3 * (2 * 1)</a:t>
            </a:r>
          </a:p>
          <a:p>
            <a:pPr lvl="2"/>
            <a:r>
              <a:rPr lang="en-US" dirty="0"/>
              <a:t>3! = 3 * (2!) </a:t>
            </a:r>
          </a:p>
          <a:p>
            <a:endParaRPr lang="en-US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A116461B-B91D-6C4D-9594-2667175E4A25}"/>
              </a:ext>
            </a:extLst>
          </p:cNvPr>
          <p:cNvSpPr/>
          <p:nvPr/>
        </p:nvSpPr>
        <p:spPr>
          <a:xfrm>
            <a:off x="5694556" y="2166485"/>
            <a:ext cx="1252251" cy="398057"/>
          </a:xfrm>
          <a:custGeom>
            <a:avLst/>
            <a:gdLst>
              <a:gd name="connsiteX0" fmla="*/ 0 w 2778640"/>
              <a:gd name="connsiteY0" fmla="*/ 0 h 854424"/>
              <a:gd name="connsiteX1" fmla="*/ 2778640 w 2778640"/>
              <a:gd name="connsiteY1" fmla="*/ 0 h 854424"/>
              <a:gd name="connsiteX2" fmla="*/ 2778640 w 2778640"/>
              <a:gd name="connsiteY2" fmla="*/ 854424 h 854424"/>
              <a:gd name="connsiteX3" fmla="*/ 0 w 2778640"/>
              <a:gd name="connsiteY3" fmla="*/ 854424 h 854424"/>
              <a:gd name="connsiteX4" fmla="*/ 0 w 2778640"/>
              <a:gd name="connsiteY4" fmla="*/ 0 h 854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8640" h="854424">
                <a:moveTo>
                  <a:pt x="0" y="0"/>
                </a:moveTo>
                <a:lnTo>
                  <a:pt x="2778640" y="0"/>
                </a:lnTo>
                <a:lnTo>
                  <a:pt x="2778640" y="854424"/>
                </a:lnTo>
                <a:lnTo>
                  <a:pt x="0" y="854424"/>
                </a:lnTo>
                <a:lnTo>
                  <a:pt x="0" y="0"/>
                </a:lnTo>
                <a:close/>
              </a:path>
            </a:pathLst>
          </a:cu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spcFirstLastPara="0" vert="horz" wrap="square" lIns="15240" tIns="15240" rIns="15240" bIns="15240" numCol="1" spcCol="1270" anchor="ctr" anchorCtr="0">
            <a:noAutofit/>
          </a:bodyPr>
          <a:lstStyle/>
          <a:p>
            <a:pPr lvl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kern="1200" dirty="0">
                <a:solidFill>
                  <a:schemeClr val="bg1"/>
                </a:solidFill>
              </a:rPr>
              <a:t>Fact(5)</a:t>
            </a:r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980B115C-AAC7-A747-B695-327B9DF531C8}"/>
              </a:ext>
            </a:extLst>
          </p:cNvPr>
          <p:cNvSpPr/>
          <p:nvPr/>
        </p:nvSpPr>
        <p:spPr>
          <a:xfrm>
            <a:off x="6419833" y="3069627"/>
            <a:ext cx="1252251" cy="398057"/>
          </a:xfrm>
          <a:custGeom>
            <a:avLst/>
            <a:gdLst>
              <a:gd name="connsiteX0" fmla="*/ 0 w 2778640"/>
              <a:gd name="connsiteY0" fmla="*/ 0 h 854424"/>
              <a:gd name="connsiteX1" fmla="*/ 2778640 w 2778640"/>
              <a:gd name="connsiteY1" fmla="*/ 0 h 854424"/>
              <a:gd name="connsiteX2" fmla="*/ 2778640 w 2778640"/>
              <a:gd name="connsiteY2" fmla="*/ 854424 h 854424"/>
              <a:gd name="connsiteX3" fmla="*/ 0 w 2778640"/>
              <a:gd name="connsiteY3" fmla="*/ 854424 h 854424"/>
              <a:gd name="connsiteX4" fmla="*/ 0 w 2778640"/>
              <a:gd name="connsiteY4" fmla="*/ 0 h 854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8640" h="854424">
                <a:moveTo>
                  <a:pt x="0" y="0"/>
                </a:moveTo>
                <a:lnTo>
                  <a:pt x="2778640" y="0"/>
                </a:lnTo>
                <a:lnTo>
                  <a:pt x="2778640" y="854424"/>
                </a:lnTo>
                <a:lnTo>
                  <a:pt x="0" y="854424"/>
                </a:lnTo>
                <a:lnTo>
                  <a:pt x="0" y="0"/>
                </a:lnTo>
                <a:close/>
              </a:path>
            </a:pathLst>
          </a:cu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spcFirstLastPara="0" vert="horz" wrap="square" lIns="15240" tIns="15240" rIns="15240" bIns="15240" numCol="1" spcCol="1270" anchor="ctr" anchorCtr="0">
            <a:noAutofit/>
          </a:bodyPr>
          <a:lstStyle/>
          <a:p>
            <a:pPr lvl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kern="1200" dirty="0">
                <a:solidFill>
                  <a:schemeClr val="bg1"/>
                </a:solidFill>
              </a:rPr>
              <a:t>Fact(4)</a:t>
            </a:r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72A123A8-2240-3D47-A828-DE17365DF241}"/>
              </a:ext>
            </a:extLst>
          </p:cNvPr>
          <p:cNvSpPr/>
          <p:nvPr/>
        </p:nvSpPr>
        <p:spPr>
          <a:xfrm>
            <a:off x="7132201" y="3972769"/>
            <a:ext cx="1252251" cy="398057"/>
          </a:xfrm>
          <a:custGeom>
            <a:avLst/>
            <a:gdLst>
              <a:gd name="connsiteX0" fmla="*/ 0 w 2778640"/>
              <a:gd name="connsiteY0" fmla="*/ 0 h 854424"/>
              <a:gd name="connsiteX1" fmla="*/ 2778640 w 2778640"/>
              <a:gd name="connsiteY1" fmla="*/ 0 h 854424"/>
              <a:gd name="connsiteX2" fmla="*/ 2778640 w 2778640"/>
              <a:gd name="connsiteY2" fmla="*/ 854424 h 854424"/>
              <a:gd name="connsiteX3" fmla="*/ 0 w 2778640"/>
              <a:gd name="connsiteY3" fmla="*/ 854424 h 854424"/>
              <a:gd name="connsiteX4" fmla="*/ 0 w 2778640"/>
              <a:gd name="connsiteY4" fmla="*/ 0 h 854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8640" h="854424">
                <a:moveTo>
                  <a:pt x="0" y="0"/>
                </a:moveTo>
                <a:lnTo>
                  <a:pt x="2778640" y="0"/>
                </a:lnTo>
                <a:lnTo>
                  <a:pt x="2778640" y="854424"/>
                </a:lnTo>
                <a:lnTo>
                  <a:pt x="0" y="854424"/>
                </a:lnTo>
                <a:lnTo>
                  <a:pt x="0" y="0"/>
                </a:lnTo>
                <a:close/>
              </a:path>
            </a:pathLst>
          </a:cu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spcFirstLastPara="0" vert="horz" wrap="square" lIns="15240" tIns="15240" rIns="15240" bIns="15240" numCol="1" spcCol="1270" anchor="ctr" anchorCtr="0">
            <a:noAutofit/>
          </a:bodyPr>
          <a:lstStyle/>
          <a:p>
            <a:pPr lvl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kern="1200" dirty="0">
                <a:solidFill>
                  <a:schemeClr val="bg1"/>
                </a:solidFill>
              </a:rPr>
              <a:t>Fact(3)</a:t>
            </a:r>
          </a:p>
        </p:txBody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id="{A3070383-1E06-7E4A-84DA-5258A3BC02D3}"/>
              </a:ext>
            </a:extLst>
          </p:cNvPr>
          <p:cNvSpPr/>
          <p:nvPr/>
        </p:nvSpPr>
        <p:spPr>
          <a:xfrm>
            <a:off x="7871544" y="4875911"/>
            <a:ext cx="1252251" cy="398057"/>
          </a:xfrm>
          <a:custGeom>
            <a:avLst/>
            <a:gdLst>
              <a:gd name="connsiteX0" fmla="*/ 0 w 2778640"/>
              <a:gd name="connsiteY0" fmla="*/ 0 h 854424"/>
              <a:gd name="connsiteX1" fmla="*/ 2778640 w 2778640"/>
              <a:gd name="connsiteY1" fmla="*/ 0 h 854424"/>
              <a:gd name="connsiteX2" fmla="*/ 2778640 w 2778640"/>
              <a:gd name="connsiteY2" fmla="*/ 854424 h 854424"/>
              <a:gd name="connsiteX3" fmla="*/ 0 w 2778640"/>
              <a:gd name="connsiteY3" fmla="*/ 854424 h 854424"/>
              <a:gd name="connsiteX4" fmla="*/ 0 w 2778640"/>
              <a:gd name="connsiteY4" fmla="*/ 0 h 854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8640" h="854424">
                <a:moveTo>
                  <a:pt x="0" y="0"/>
                </a:moveTo>
                <a:lnTo>
                  <a:pt x="2778640" y="0"/>
                </a:lnTo>
                <a:lnTo>
                  <a:pt x="2778640" y="854424"/>
                </a:lnTo>
                <a:lnTo>
                  <a:pt x="0" y="854424"/>
                </a:lnTo>
                <a:lnTo>
                  <a:pt x="0" y="0"/>
                </a:lnTo>
                <a:close/>
              </a:path>
            </a:pathLst>
          </a:cu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spcFirstLastPara="0" vert="horz" wrap="square" lIns="15240" tIns="15240" rIns="15240" bIns="15240" numCol="1" spcCol="1270" anchor="ctr" anchorCtr="0">
            <a:noAutofit/>
          </a:bodyPr>
          <a:lstStyle/>
          <a:p>
            <a:pPr lvl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kern="1200" dirty="0">
                <a:solidFill>
                  <a:schemeClr val="bg1"/>
                </a:solidFill>
              </a:rPr>
              <a:t>Fact(2)</a:t>
            </a:r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9AE233B3-E4CF-2144-8FE4-9792E4604726}"/>
              </a:ext>
            </a:extLst>
          </p:cNvPr>
          <p:cNvSpPr/>
          <p:nvPr/>
        </p:nvSpPr>
        <p:spPr>
          <a:xfrm>
            <a:off x="8615127" y="5779053"/>
            <a:ext cx="1252251" cy="398057"/>
          </a:xfrm>
          <a:custGeom>
            <a:avLst/>
            <a:gdLst>
              <a:gd name="connsiteX0" fmla="*/ 0 w 2778640"/>
              <a:gd name="connsiteY0" fmla="*/ 0 h 854424"/>
              <a:gd name="connsiteX1" fmla="*/ 2778640 w 2778640"/>
              <a:gd name="connsiteY1" fmla="*/ 0 h 854424"/>
              <a:gd name="connsiteX2" fmla="*/ 2778640 w 2778640"/>
              <a:gd name="connsiteY2" fmla="*/ 854424 h 854424"/>
              <a:gd name="connsiteX3" fmla="*/ 0 w 2778640"/>
              <a:gd name="connsiteY3" fmla="*/ 854424 h 854424"/>
              <a:gd name="connsiteX4" fmla="*/ 0 w 2778640"/>
              <a:gd name="connsiteY4" fmla="*/ 0 h 854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8640" h="854424">
                <a:moveTo>
                  <a:pt x="0" y="0"/>
                </a:moveTo>
                <a:lnTo>
                  <a:pt x="2778640" y="0"/>
                </a:lnTo>
                <a:lnTo>
                  <a:pt x="2778640" y="854424"/>
                </a:lnTo>
                <a:lnTo>
                  <a:pt x="0" y="854424"/>
                </a:lnTo>
                <a:lnTo>
                  <a:pt x="0" y="0"/>
                </a:lnTo>
                <a:close/>
              </a:path>
            </a:pathLst>
          </a:cu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spcFirstLastPara="0" vert="horz" wrap="square" lIns="15240" tIns="15240" rIns="15240" bIns="15240" numCol="1" spcCol="1270" anchor="ctr" anchorCtr="0">
            <a:noAutofit/>
          </a:bodyPr>
          <a:lstStyle/>
          <a:p>
            <a:pPr lvl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kern="1200" dirty="0">
                <a:solidFill>
                  <a:schemeClr val="bg1"/>
                </a:solidFill>
              </a:rPr>
              <a:t>Fact(1)</a:t>
            </a:r>
          </a:p>
        </p:txBody>
      </p:sp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C2AC85E9-346B-3149-B6C8-D079E7AB4B6D}"/>
              </a:ext>
            </a:extLst>
          </p:cNvPr>
          <p:cNvCxnSpPr>
            <a:cxnSpLocks/>
          </p:cNvCxnSpPr>
          <p:nvPr/>
        </p:nvCxnSpPr>
        <p:spPr>
          <a:xfrm rot="16200000" flipH="1">
            <a:off x="6429485" y="2456824"/>
            <a:ext cx="503999" cy="721606"/>
          </a:xfrm>
          <a:prstGeom prst="bentConnector3">
            <a:avLst>
              <a:gd name="adj1" fmla="val 5563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DEC38AB0-AFB3-044D-8739-51696AF15A6F}"/>
              </a:ext>
            </a:extLst>
          </p:cNvPr>
          <p:cNvCxnSpPr>
            <a:cxnSpLocks/>
          </p:cNvCxnSpPr>
          <p:nvPr/>
        </p:nvCxnSpPr>
        <p:spPr>
          <a:xfrm rot="16200000" flipH="1">
            <a:off x="7151092" y="3358881"/>
            <a:ext cx="503999" cy="721606"/>
          </a:xfrm>
          <a:prstGeom prst="bentConnector3">
            <a:avLst>
              <a:gd name="adj1" fmla="val 5563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38664780-EC32-4841-ADD5-4DF4126742DF}"/>
              </a:ext>
            </a:extLst>
          </p:cNvPr>
          <p:cNvCxnSpPr>
            <a:cxnSpLocks/>
          </p:cNvCxnSpPr>
          <p:nvPr/>
        </p:nvCxnSpPr>
        <p:spPr>
          <a:xfrm rot="16200000" flipH="1">
            <a:off x="7850818" y="4260938"/>
            <a:ext cx="503999" cy="721606"/>
          </a:xfrm>
          <a:prstGeom prst="bentConnector3">
            <a:avLst>
              <a:gd name="adj1" fmla="val 5563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0320FF02-4EF8-C146-9106-D740251EC440}"/>
              </a:ext>
            </a:extLst>
          </p:cNvPr>
          <p:cNvCxnSpPr>
            <a:cxnSpLocks/>
          </p:cNvCxnSpPr>
          <p:nvPr/>
        </p:nvCxnSpPr>
        <p:spPr>
          <a:xfrm rot="16200000" flipH="1">
            <a:off x="8606472" y="5143599"/>
            <a:ext cx="503999" cy="721606"/>
          </a:xfrm>
          <a:prstGeom prst="bentConnector3">
            <a:avLst>
              <a:gd name="adj1" fmla="val 5563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A93CE37B-197F-764A-B5BD-4341310B6FB6}"/>
              </a:ext>
            </a:extLst>
          </p:cNvPr>
          <p:cNvCxnSpPr>
            <a:cxnSpLocks/>
          </p:cNvCxnSpPr>
          <p:nvPr/>
        </p:nvCxnSpPr>
        <p:spPr>
          <a:xfrm rot="16200000" flipV="1">
            <a:off x="9055153" y="5143581"/>
            <a:ext cx="681464" cy="544180"/>
          </a:xfrm>
          <a:prstGeom prst="bentConnector3">
            <a:avLst>
              <a:gd name="adj1" fmla="val 10011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E4BD6038-46CE-5843-84D0-A46EFFB020B4}"/>
              </a:ext>
            </a:extLst>
          </p:cNvPr>
          <p:cNvCxnSpPr>
            <a:cxnSpLocks/>
          </p:cNvCxnSpPr>
          <p:nvPr/>
        </p:nvCxnSpPr>
        <p:spPr>
          <a:xfrm rot="16200000" flipV="1">
            <a:off x="8315810" y="4219430"/>
            <a:ext cx="681464" cy="544180"/>
          </a:xfrm>
          <a:prstGeom prst="bentConnector3">
            <a:avLst>
              <a:gd name="adj1" fmla="val 10011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A2FE8461-7901-1349-9180-952AD897766B}"/>
              </a:ext>
            </a:extLst>
          </p:cNvPr>
          <p:cNvCxnSpPr>
            <a:cxnSpLocks/>
          </p:cNvCxnSpPr>
          <p:nvPr/>
        </p:nvCxnSpPr>
        <p:spPr>
          <a:xfrm rot="16200000" flipV="1">
            <a:off x="7603442" y="3306711"/>
            <a:ext cx="681464" cy="544180"/>
          </a:xfrm>
          <a:prstGeom prst="bentConnector3">
            <a:avLst>
              <a:gd name="adj1" fmla="val 10011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BFF41A4D-1A71-284C-A876-8F1C5E7D2DD4}"/>
              </a:ext>
            </a:extLst>
          </p:cNvPr>
          <p:cNvCxnSpPr>
            <a:cxnSpLocks/>
          </p:cNvCxnSpPr>
          <p:nvPr/>
        </p:nvCxnSpPr>
        <p:spPr>
          <a:xfrm rot="16200000" flipV="1">
            <a:off x="6878165" y="2376745"/>
            <a:ext cx="681464" cy="544180"/>
          </a:xfrm>
          <a:prstGeom prst="bentConnector3">
            <a:avLst>
              <a:gd name="adj1" fmla="val 10011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717C1453-9020-AC4A-97F3-4C11DF8B73E0}"/>
              </a:ext>
            </a:extLst>
          </p:cNvPr>
          <p:cNvSpPr txBox="1"/>
          <p:nvPr/>
        </p:nvSpPr>
        <p:spPr>
          <a:xfrm>
            <a:off x="5694556" y="2664261"/>
            <a:ext cx="587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  <a:latin typeface="Calibri"/>
              </a:rPr>
              <a:t>call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C4B8F6E-71C1-764F-A9A3-357F3DAA2879}"/>
              </a:ext>
            </a:extLst>
          </p:cNvPr>
          <p:cNvSpPr txBox="1"/>
          <p:nvPr/>
        </p:nvSpPr>
        <p:spPr>
          <a:xfrm>
            <a:off x="6476215" y="3602895"/>
            <a:ext cx="587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  <a:latin typeface="Calibri"/>
              </a:rPr>
              <a:t>call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58A1794-A3AA-9843-B46E-0BB4B7B66B54}"/>
              </a:ext>
            </a:extLst>
          </p:cNvPr>
          <p:cNvSpPr txBox="1"/>
          <p:nvPr/>
        </p:nvSpPr>
        <p:spPr>
          <a:xfrm>
            <a:off x="7149983" y="4444405"/>
            <a:ext cx="587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  <a:latin typeface="Calibri"/>
              </a:rPr>
              <a:t>call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0ADFFA2-EE09-C744-AFC9-CC7EA07883AD}"/>
              </a:ext>
            </a:extLst>
          </p:cNvPr>
          <p:cNvSpPr txBox="1"/>
          <p:nvPr/>
        </p:nvSpPr>
        <p:spPr>
          <a:xfrm>
            <a:off x="7871544" y="5407353"/>
            <a:ext cx="587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  <a:latin typeface="Calibri"/>
              </a:rPr>
              <a:t>call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F42B363-D36A-7047-9681-13089CE43F4E}"/>
              </a:ext>
            </a:extLst>
          </p:cNvPr>
          <p:cNvSpPr txBox="1"/>
          <p:nvPr/>
        </p:nvSpPr>
        <p:spPr>
          <a:xfrm>
            <a:off x="9867251" y="5273968"/>
            <a:ext cx="1144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accent6"/>
                </a:solidFill>
                <a:latin typeface="Calibri"/>
              </a:rPr>
              <a:t>return </a:t>
            </a:r>
            <a:r>
              <a:rPr lang="en-IN" b="1" dirty="0">
                <a:solidFill>
                  <a:schemeClr val="accent6"/>
                </a:solidFill>
                <a:latin typeface="Calibri"/>
              </a:rPr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4A7229A-4F56-9C43-A908-BED15AB49E4C}"/>
              </a:ext>
            </a:extLst>
          </p:cNvPr>
          <p:cNvSpPr txBox="1"/>
          <p:nvPr/>
        </p:nvSpPr>
        <p:spPr>
          <a:xfrm>
            <a:off x="9123794" y="4306854"/>
            <a:ext cx="1888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accent6"/>
                </a:solidFill>
                <a:latin typeface="Calibri"/>
              </a:rPr>
              <a:t>return </a:t>
            </a:r>
            <a:r>
              <a:rPr lang="en-IN" b="1" dirty="0">
                <a:solidFill>
                  <a:schemeClr val="accent6"/>
                </a:solidFill>
                <a:latin typeface="Calibri"/>
              </a:rPr>
              <a:t>2 * 1 = 2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C053BA0-61C6-4E4C-9D71-1262D1C73AD8}"/>
              </a:ext>
            </a:extLst>
          </p:cNvPr>
          <p:cNvSpPr txBox="1"/>
          <p:nvPr/>
        </p:nvSpPr>
        <p:spPr>
          <a:xfrm>
            <a:off x="8372452" y="3380001"/>
            <a:ext cx="1888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accent6"/>
                </a:solidFill>
                <a:latin typeface="Calibri"/>
              </a:rPr>
              <a:t>return </a:t>
            </a:r>
            <a:r>
              <a:rPr lang="en-IN" b="1" dirty="0">
                <a:solidFill>
                  <a:schemeClr val="accent6"/>
                </a:solidFill>
                <a:latin typeface="Calibri"/>
              </a:rPr>
              <a:t>3 * 2 = 6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210857B-A67C-0B40-AC43-D31504893EF1}"/>
              </a:ext>
            </a:extLst>
          </p:cNvPr>
          <p:cNvSpPr txBox="1"/>
          <p:nvPr/>
        </p:nvSpPr>
        <p:spPr>
          <a:xfrm>
            <a:off x="7611151" y="2507754"/>
            <a:ext cx="1888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accent6"/>
                </a:solidFill>
                <a:latin typeface="Calibri"/>
              </a:rPr>
              <a:t>return </a:t>
            </a:r>
            <a:r>
              <a:rPr lang="en-IN" b="1" dirty="0">
                <a:solidFill>
                  <a:schemeClr val="accent6"/>
                </a:solidFill>
                <a:latin typeface="Calibri"/>
              </a:rPr>
              <a:t>4 * 6 = 24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386613D-736C-884E-9274-55EE48204294}"/>
              </a:ext>
            </a:extLst>
          </p:cNvPr>
          <p:cNvSpPr txBox="1"/>
          <p:nvPr/>
        </p:nvSpPr>
        <p:spPr>
          <a:xfrm>
            <a:off x="6814208" y="1701756"/>
            <a:ext cx="2685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Calibri"/>
              </a:rPr>
              <a:t>Final </a:t>
            </a:r>
            <a:r>
              <a:rPr lang="en-IN" b="1" dirty="0">
                <a:solidFill>
                  <a:schemeClr val="accent6"/>
                </a:solidFill>
                <a:latin typeface="Calibri"/>
              </a:rPr>
              <a:t>Ans 5 *24 = 120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9763FC1-3DC8-6543-91C0-38EB5039A1AD}"/>
              </a:ext>
            </a:extLst>
          </p:cNvPr>
          <p:cNvSpPr txBox="1"/>
          <p:nvPr/>
        </p:nvSpPr>
        <p:spPr>
          <a:xfrm>
            <a:off x="6200405" y="993513"/>
            <a:ext cx="31480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6"/>
                </a:solidFill>
              </a:rPr>
              <a:t>Recursive</a:t>
            </a:r>
            <a:r>
              <a:rPr lang="en-US" sz="2400" b="1" dirty="0">
                <a:solidFill>
                  <a:schemeClr val="accent6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chemeClr val="accent6"/>
                </a:solidFill>
              </a:rPr>
              <a:t>trace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D0BF1ED-9B05-1344-BE3D-96E857CE0BE5}"/>
              </a:ext>
            </a:extLst>
          </p:cNvPr>
          <p:cNvSpPr txBox="1"/>
          <p:nvPr/>
        </p:nvSpPr>
        <p:spPr>
          <a:xfrm>
            <a:off x="10332205" y="24681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249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1" grpId="0" animBg="1"/>
      <p:bldP spid="32" grpId="0" animBg="1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1BF2E-781D-CD43-8E88-023268950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15222F-C749-494B-9C5D-43C6395137D2}"/>
              </a:ext>
            </a:extLst>
          </p:cNvPr>
          <p:cNvSpPr/>
          <p:nvPr/>
        </p:nvSpPr>
        <p:spPr>
          <a:xfrm>
            <a:off x="688892" y="1096015"/>
            <a:ext cx="7429196" cy="25545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recursive_factorial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(n): 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 ==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return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 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return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 *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recursive_factorial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(n-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# recursive function call</a:t>
            </a:r>
          </a:p>
          <a:p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user input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num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int(input(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"Enter the number="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"Factorial of number"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num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"="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recursive_factorial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num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7F20F0-5337-2D46-BD61-E070A23A0753}"/>
              </a:ext>
            </a:extLst>
          </p:cNvPr>
          <p:cNvSpPr/>
          <p:nvPr/>
        </p:nvSpPr>
        <p:spPr>
          <a:xfrm>
            <a:off x="188899" y="1096015"/>
            <a:ext cx="499993" cy="255454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CE63FC7C-FB36-BE4B-AA5C-FB184EEA29CD}"/>
              </a:ext>
            </a:extLst>
          </p:cNvPr>
          <p:cNvSpPr/>
          <p:nvPr/>
        </p:nvSpPr>
        <p:spPr>
          <a:xfrm>
            <a:off x="188899" y="766831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Factorial.py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3A537F-616A-474A-B208-BE28193DAB0B}"/>
              </a:ext>
            </a:extLst>
          </p:cNvPr>
          <p:cNvSpPr/>
          <p:nvPr/>
        </p:nvSpPr>
        <p:spPr>
          <a:xfrm>
            <a:off x="8618081" y="1148162"/>
            <a:ext cx="3148361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400" b="1" dirty="0">
                <a:latin typeface="Consolas" pitchFamily="49" charset="0"/>
                <a:cs typeface="Consolas" panose="020B0609020204030204" pitchFamily="49" charset="0"/>
              </a:rPr>
              <a:t>Enter the number=5</a:t>
            </a:r>
          </a:p>
          <a:p>
            <a:r>
              <a:rPr lang="en-IN" sz="1400" b="1" dirty="0">
                <a:latin typeface="Consolas" pitchFamily="49" charset="0"/>
                <a:cs typeface="Consolas" panose="020B0609020204030204" pitchFamily="49" charset="0"/>
              </a:rPr>
              <a:t>Factorial of number 5 = 120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D3C90013-EDB3-874B-BFBF-53323310D11F}"/>
              </a:ext>
            </a:extLst>
          </p:cNvPr>
          <p:cNvSpPr/>
          <p:nvPr/>
        </p:nvSpPr>
        <p:spPr>
          <a:xfrm>
            <a:off x="8618081" y="822460"/>
            <a:ext cx="132090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FF9AE4-87FE-4446-9637-93FCAC3019DD}"/>
              </a:ext>
            </a:extLst>
          </p:cNvPr>
          <p:cNvSpPr/>
          <p:nvPr/>
        </p:nvSpPr>
        <p:spPr>
          <a:xfrm>
            <a:off x="688892" y="4144336"/>
            <a:ext cx="7429196" cy="23083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r_fibonacci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(n):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if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n &lt;= 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	return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n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else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	return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r_fibonacci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(n-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 +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r_fibonacci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(n-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2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n = 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8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"Fibonacci series:"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for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i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in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range(n):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	print(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r_fibonacci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i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B48337-A617-1B49-9D65-B7908702D5CC}"/>
              </a:ext>
            </a:extLst>
          </p:cNvPr>
          <p:cNvSpPr/>
          <p:nvPr/>
        </p:nvSpPr>
        <p:spPr>
          <a:xfrm>
            <a:off x="188899" y="4144336"/>
            <a:ext cx="499993" cy="23083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03AABC27-27C4-7842-9597-4506985C59C4}"/>
              </a:ext>
            </a:extLst>
          </p:cNvPr>
          <p:cNvSpPr/>
          <p:nvPr/>
        </p:nvSpPr>
        <p:spPr>
          <a:xfrm>
            <a:off x="188899" y="3815152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fibonacci.py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3E381D-432C-0641-8463-4411048969C7}"/>
              </a:ext>
            </a:extLst>
          </p:cNvPr>
          <p:cNvSpPr/>
          <p:nvPr/>
        </p:nvSpPr>
        <p:spPr>
          <a:xfrm>
            <a:off x="8618081" y="4196483"/>
            <a:ext cx="3148361" cy="16004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400" b="1" dirty="0">
                <a:latin typeface="Consolas" pitchFamily="49" charset="0"/>
                <a:cs typeface="Consolas" panose="020B0609020204030204" pitchFamily="49" charset="0"/>
              </a:rPr>
              <a:t>Fibonacci series:</a:t>
            </a:r>
          </a:p>
          <a:p>
            <a:r>
              <a:rPr lang="en-IN" sz="1400" b="1" dirty="0">
                <a:latin typeface="Consolas" pitchFamily="49" charset="0"/>
                <a:cs typeface="Consolas" panose="020B0609020204030204" pitchFamily="49" charset="0"/>
              </a:rPr>
              <a:t>0</a:t>
            </a:r>
          </a:p>
          <a:p>
            <a:r>
              <a:rPr lang="en-IN" sz="1400" b="1" dirty="0">
                <a:latin typeface="Consolas" pitchFamily="49" charset="0"/>
                <a:cs typeface="Consolas" panose="020B0609020204030204" pitchFamily="49" charset="0"/>
              </a:rPr>
              <a:t>1</a:t>
            </a:r>
          </a:p>
          <a:p>
            <a:r>
              <a:rPr lang="en-IN" sz="1400" b="1" dirty="0">
                <a:latin typeface="Consolas" pitchFamily="49" charset="0"/>
                <a:cs typeface="Consolas" panose="020B0609020204030204" pitchFamily="49" charset="0"/>
              </a:rPr>
              <a:t>1</a:t>
            </a:r>
          </a:p>
          <a:p>
            <a:r>
              <a:rPr lang="en-IN" sz="1400" b="1" dirty="0">
                <a:latin typeface="Consolas" pitchFamily="49" charset="0"/>
                <a:cs typeface="Consolas" panose="020B0609020204030204" pitchFamily="49" charset="0"/>
              </a:rPr>
              <a:t>-</a:t>
            </a:r>
          </a:p>
          <a:p>
            <a:r>
              <a:rPr lang="en-IN" sz="1400" b="1" dirty="0">
                <a:latin typeface="Consolas" pitchFamily="49" charset="0"/>
                <a:cs typeface="Consolas" panose="020B0609020204030204" pitchFamily="49" charset="0"/>
              </a:rPr>
              <a:t>-</a:t>
            </a:r>
          </a:p>
          <a:p>
            <a:r>
              <a:rPr lang="en-IN" sz="1400" b="1" dirty="0">
                <a:latin typeface="Consolas" pitchFamily="49" charset="0"/>
                <a:cs typeface="Consolas" panose="020B0609020204030204" pitchFamily="49" charset="0"/>
              </a:rPr>
              <a:t>13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F31E21F5-FB7D-8741-A04A-3D5BB24E2B5D}"/>
              </a:ext>
            </a:extLst>
          </p:cNvPr>
          <p:cNvSpPr/>
          <p:nvPr/>
        </p:nvSpPr>
        <p:spPr>
          <a:xfrm>
            <a:off x="8618081" y="3870781"/>
            <a:ext cx="132090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538861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  <p:bldP spid="9" grpId="0" build="p" animBg="1"/>
      <p:bldP spid="10" grpId="0" animBg="1"/>
      <p:bldP spid="11" grpId="0" animBg="1"/>
      <p:bldP spid="12" grpId="0" build="p" animBg="1"/>
      <p:bldP spid="13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C3ADC-2C74-144C-A7E5-575AAAD96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ACD95-371C-9348-ABBB-BD2447BC92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program to find factorial of a given number using recursion. </a:t>
            </a:r>
          </a:p>
          <a:p>
            <a:r>
              <a:rPr lang="en-US" dirty="0"/>
              <a:t>WAP to convert decimal number into binary using recursion.</a:t>
            </a:r>
          </a:p>
          <a:p>
            <a:r>
              <a:rPr lang="en-US" dirty="0"/>
              <a:t>WAP to use recursive calls to evaluate F(x) = x – x3/3! + x5/5! – x7/7! + … + </a:t>
            </a:r>
            <a:r>
              <a:rPr lang="en-US" dirty="0" err="1"/>
              <a:t>xn</a:t>
            </a:r>
            <a:r>
              <a:rPr lang="en-US" dirty="0"/>
              <a:t>/n!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675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4634</TotalTime>
  <Words>5333</Words>
  <Application>Microsoft Office PowerPoint</Application>
  <PresentationFormat>Widescreen</PresentationFormat>
  <Paragraphs>1708</Paragraphs>
  <Slides>73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84" baseType="lpstr">
      <vt:lpstr>Wingdings 2</vt:lpstr>
      <vt:lpstr>Menlo</vt:lpstr>
      <vt:lpstr>Roboto Condensed Light</vt:lpstr>
      <vt:lpstr>Segoe UI Black</vt:lpstr>
      <vt:lpstr>Calibri</vt:lpstr>
      <vt:lpstr>Wingdings</vt:lpstr>
      <vt:lpstr>Roboto Condensed</vt:lpstr>
      <vt:lpstr>Consolas</vt:lpstr>
      <vt:lpstr>Arial</vt:lpstr>
      <vt:lpstr>Wingdings 3</vt:lpstr>
      <vt:lpstr>Office Theme</vt:lpstr>
      <vt:lpstr>Unit-02.1  Python Operators  </vt:lpstr>
      <vt:lpstr>PowerPoint Presentation</vt:lpstr>
      <vt:lpstr>Operators in Python</vt:lpstr>
      <vt:lpstr>Arithmetic Operators</vt:lpstr>
      <vt:lpstr>Assignment Operators</vt:lpstr>
      <vt:lpstr>Relational Operators</vt:lpstr>
      <vt:lpstr>Logical Operators</vt:lpstr>
      <vt:lpstr>Bitwise Operators</vt:lpstr>
      <vt:lpstr>Example</vt:lpstr>
      <vt:lpstr>Identity &amp; Membership Operators</vt:lpstr>
      <vt:lpstr>Example</vt:lpstr>
      <vt:lpstr>Unit-02.2  Conditional and Looping Statements </vt:lpstr>
      <vt:lpstr>PowerPoint Presentation</vt:lpstr>
      <vt:lpstr>Introduction</vt:lpstr>
      <vt:lpstr>if statement</vt:lpstr>
      <vt:lpstr>if else statement</vt:lpstr>
      <vt:lpstr>Example of if else</vt:lpstr>
      <vt:lpstr>Nested if statement</vt:lpstr>
      <vt:lpstr>Example</vt:lpstr>
      <vt:lpstr>if, elif and else statement</vt:lpstr>
      <vt:lpstr>if, elif and else statement</vt:lpstr>
      <vt:lpstr>Example</vt:lpstr>
      <vt:lpstr>match case</vt:lpstr>
      <vt:lpstr>match case</vt:lpstr>
      <vt:lpstr>for loop </vt:lpstr>
      <vt:lpstr>range() function</vt:lpstr>
      <vt:lpstr>for loop (tuple unpacking)</vt:lpstr>
      <vt:lpstr>for loop with else</vt:lpstr>
      <vt:lpstr>Example</vt:lpstr>
      <vt:lpstr>Example</vt:lpstr>
      <vt:lpstr>while loop</vt:lpstr>
      <vt:lpstr>Example</vt:lpstr>
      <vt:lpstr>Exercise programs</vt:lpstr>
      <vt:lpstr>break keyword</vt:lpstr>
      <vt:lpstr>continue keyword</vt:lpstr>
      <vt:lpstr>pass keyword</vt:lpstr>
      <vt:lpstr>Unit-02.3  Functions</vt:lpstr>
      <vt:lpstr>PowerPoint Presentation</vt:lpstr>
      <vt:lpstr>Functions</vt:lpstr>
      <vt:lpstr>Function</vt:lpstr>
      <vt:lpstr>Function Name</vt:lpstr>
      <vt:lpstr>DOCSTRING</vt:lpstr>
      <vt:lpstr>Function Types</vt:lpstr>
      <vt:lpstr>Exercise</vt:lpstr>
      <vt:lpstr>Function Arguments</vt:lpstr>
      <vt:lpstr>Function Arguments</vt:lpstr>
      <vt:lpstr>Positional Arguments</vt:lpstr>
      <vt:lpstr>Keyword arguments</vt:lpstr>
      <vt:lpstr>Default arguments</vt:lpstr>
      <vt:lpstr>Variable-length arguments</vt:lpstr>
      <vt:lpstr>Variable-length arguments</vt:lpstr>
      <vt:lpstr>Variable-length arguments</vt:lpstr>
      <vt:lpstr>Positional Only arguments</vt:lpstr>
      <vt:lpstr>Keyword Only arguments</vt:lpstr>
      <vt:lpstr>Pass by reference vs value</vt:lpstr>
      <vt:lpstr>Pass by reference vs value</vt:lpstr>
      <vt:lpstr>Pass by reference vs value</vt:lpstr>
      <vt:lpstr>return Statement</vt:lpstr>
      <vt:lpstr>return Multiple values</vt:lpstr>
      <vt:lpstr>Exercise</vt:lpstr>
      <vt:lpstr>Scope of Variables</vt:lpstr>
      <vt:lpstr>Scope of Variables (cont.)</vt:lpstr>
      <vt:lpstr>lambda Function</vt:lpstr>
      <vt:lpstr>lambda Function (cont.)</vt:lpstr>
      <vt:lpstr>lambda Function (cont.)</vt:lpstr>
      <vt:lpstr>Exercise</vt:lpstr>
      <vt:lpstr>map</vt:lpstr>
      <vt:lpstr>filter</vt:lpstr>
      <vt:lpstr>Recursion</vt:lpstr>
      <vt:lpstr>Properties of Recursion</vt:lpstr>
      <vt:lpstr>Recursion - factorial example</vt:lpstr>
      <vt:lpstr>Examples</vt:lpstr>
      <vt:lpstr>Exercise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DELL</cp:lastModifiedBy>
  <cp:revision>698</cp:revision>
  <dcterms:created xsi:type="dcterms:W3CDTF">2020-05-01T05:09:15Z</dcterms:created>
  <dcterms:modified xsi:type="dcterms:W3CDTF">2026-02-18T16:17:22Z</dcterms:modified>
</cp:coreProperties>
</file>