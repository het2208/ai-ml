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374" r:id="rId2"/>
    <p:sldId id="392" r:id="rId3"/>
    <p:sldId id="394" r:id="rId4"/>
    <p:sldId id="395" r:id="rId5"/>
    <p:sldId id="396" r:id="rId6"/>
    <p:sldId id="287" r:id="rId7"/>
    <p:sldId id="397" r:id="rId8"/>
    <p:sldId id="398" r:id="rId9"/>
    <p:sldId id="399" r:id="rId10"/>
    <p:sldId id="435" r:id="rId11"/>
    <p:sldId id="436" r:id="rId12"/>
    <p:sldId id="433" r:id="rId13"/>
    <p:sldId id="409" r:id="rId14"/>
    <p:sldId id="410" r:id="rId15"/>
    <p:sldId id="434" r:id="rId16"/>
    <p:sldId id="432" r:id="rId17"/>
    <p:sldId id="415" r:id="rId18"/>
    <p:sldId id="417" r:id="rId19"/>
    <p:sldId id="438" r:id="rId20"/>
    <p:sldId id="418" r:id="rId21"/>
    <p:sldId id="440" r:id="rId22"/>
    <p:sldId id="420" r:id="rId23"/>
    <p:sldId id="437" r:id="rId24"/>
    <p:sldId id="423" r:id="rId25"/>
    <p:sldId id="424" r:id="rId26"/>
    <p:sldId id="425" r:id="rId27"/>
    <p:sldId id="426" r:id="rId28"/>
    <p:sldId id="439" r:id="rId29"/>
    <p:sldId id="295" r:id="rId30"/>
    <p:sldId id="412" r:id="rId31"/>
    <p:sldId id="413" r:id="rId32"/>
    <p:sldId id="414" r:id="rId33"/>
    <p:sldId id="421" r:id="rId34"/>
    <p:sldId id="400" r:id="rId35"/>
    <p:sldId id="401" r:id="rId36"/>
    <p:sldId id="403" r:id="rId37"/>
    <p:sldId id="404" r:id="rId38"/>
    <p:sldId id="405" r:id="rId39"/>
    <p:sldId id="408" r:id="rId40"/>
    <p:sldId id="299" r:id="rId41"/>
    <p:sldId id="402" r:id="rId42"/>
    <p:sldId id="407" r:id="rId43"/>
    <p:sldId id="406" r:id="rId44"/>
    <p:sldId id="427" r:id="rId45"/>
    <p:sldId id="431" r:id="rId46"/>
    <p:sldId id="429" r:id="rId47"/>
    <p:sldId id="430" r:id="rId48"/>
  </p:sldIdLst>
  <p:sldSz cx="12192000" cy="6858000"/>
  <p:notesSz cx="6858000" cy="9144000"/>
  <p:embeddedFontLst>
    <p:embeddedFont>
      <p:font typeface="Roboto Condensed Light" panose="02000000000000000000" pitchFamily="2" charset="0"/>
      <p:regular r:id="rId50"/>
      <p:italic r:id="rId51"/>
    </p:embeddedFont>
    <p:embeddedFont>
      <p:font typeface="Wingdings 3" panose="05040102010807070707" pitchFamily="18" charset="2"/>
      <p:regular r:id="rId52"/>
    </p:embeddedFont>
    <p:embeddedFont>
      <p:font typeface="Wingdings 2" panose="05020102010507070707" pitchFamily="18" charset="2"/>
      <p:regular r:id="rId53"/>
    </p:embeddedFont>
    <p:embeddedFont>
      <p:font typeface="Segoe UI Black" panose="020B0A02040204020203" pitchFamily="34" charset="0"/>
      <p:bold r:id="rId54"/>
      <p:boldItalic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Cambria" panose="02040503050406030204" pitchFamily="18" charset="0"/>
      <p:regular r:id="rId60"/>
      <p:bold r:id="rId61"/>
      <p:italic r:id="rId62"/>
      <p:boldItalic r:id="rId63"/>
    </p:embeddedFont>
    <p:embeddedFont>
      <p:font typeface="Consolas" panose="020B0609020204030204" pitchFamily="49" charset="0"/>
      <p:regular r:id="rId64"/>
      <p:bold r:id="rId65"/>
      <p:italic r:id="rId66"/>
      <p:boldItalic r:id="rId67"/>
    </p:embeddedFont>
    <p:embeddedFont>
      <p:font typeface="Roboto Condensed" panose="02000000000000000000" pitchFamily="2" charset="0"/>
      <p:regular r:id="rId68"/>
      <p:bold r:id="rId69"/>
      <p:italic r:id="rId70"/>
      <p:boldItalic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Db02MXVJSnBgeQrzZUaZA==" hashData="iYnOZmMRtLDeWc46Qn/kEMsqMy6LY2NYgtZ1lYa3D5TE83Xg78h0V7Nrtj+/caUxH56NxOo3xCscbkqy/jJa0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1A60"/>
    <a:srgbClr val="C62827"/>
    <a:srgbClr val="301B92"/>
    <a:srgbClr val="673BB7"/>
    <a:srgbClr val="607D8B"/>
    <a:srgbClr val="ED524F"/>
    <a:srgbClr val="B71B1C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4" autoAdjust="0"/>
    <p:restoredTop sz="94660"/>
  </p:normalViewPr>
  <p:slideViewPr>
    <p:cSldViewPr snapToGrid="0">
      <p:cViewPr varScale="1">
        <p:scale>
          <a:sx n="83" d="100"/>
          <a:sy n="83" d="100"/>
        </p:scale>
        <p:origin x="7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font" Target="fonts/font21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4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D580564-796A-C059-A134-E48BDF247D79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Unit- 5 Object Oriented Programming with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Unit- 5 Object Oriented Programming with Python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1FBD5D-AB37-4F4E-A127-DAB7A6E35DEA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51F16C-249B-E345-B841-8128601D1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1CEFF-5022-B343-970D-93BF7837B19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3F8D339-A0AA-4150-B7E8-C84E7F2AB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600" y="5890392"/>
            <a:ext cx="1931131" cy="5874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12BAB0-1CB8-413D-970D-4F482F1A0EDB}"/>
              </a:ext>
            </a:extLst>
          </p:cNvPr>
          <p:cNvSpPr/>
          <p:nvPr userDrawn="1"/>
        </p:nvSpPr>
        <p:spPr>
          <a:xfrm>
            <a:off x="75479" y="5836776"/>
            <a:ext cx="2554142" cy="5874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52550" y="863445"/>
            <a:ext cx="10708271" cy="520398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5526BFC-D893-1037-584B-FD1713F74B62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Unit- 5 Object Oriented Programming with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827F4-CE70-CDC3-45B7-3768C164C1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36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Unit-05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Object Oriented Programming with python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16209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779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IN" dirty="0"/>
              <a:t>Object Oriented Approach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dirty="0"/>
              <a:t>Custom Classes: Attributes and Methods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dirty="0"/>
              <a:t>Inheritance</a:t>
            </a:r>
          </a:p>
          <a:p>
            <a:pPr indent="446088">
              <a:buFont typeface="Wingdings" pitchFamily="2" charset="2"/>
              <a:buChar char="ü"/>
            </a:pPr>
            <a:r>
              <a:rPr lang="en-IN" dirty="0"/>
              <a:t>Polymorphism </a:t>
            </a:r>
            <a:endParaRPr lang="en-US" dirty="0"/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Abstract class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Abstract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11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D7E3-2E8E-C344-BE48-AA62ABE8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36351-A39F-B546-8208-CA16DE0AF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Object-Oriented Programming </a:t>
            </a:r>
            <a:r>
              <a:rPr lang="en-US" dirty="0"/>
              <a:t>(OOP) is a programming paradigm that uses </a:t>
            </a:r>
            <a:r>
              <a:rPr lang="en-US" b="1" dirty="0"/>
              <a:t>objects</a:t>
            </a:r>
            <a:r>
              <a:rPr lang="en-US" dirty="0"/>
              <a:t> to organize and structure the code.</a:t>
            </a:r>
          </a:p>
          <a:p>
            <a:r>
              <a:rPr lang="en-US" dirty="0"/>
              <a:t>Python is a </a:t>
            </a:r>
            <a:r>
              <a:rPr lang="en-US" b="1" dirty="0">
                <a:solidFill>
                  <a:srgbClr val="C00000"/>
                </a:solidFill>
              </a:rPr>
              <a:t>multi-paradigm programming language</a:t>
            </a:r>
            <a:r>
              <a:rPr lang="en-US" dirty="0"/>
              <a:t> because it supports both:</a:t>
            </a:r>
          </a:p>
          <a:p>
            <a:pPr lvl="1"/>
            <a:r>
              <a:rPr lang="en-US" sz="2200" dirty="0"/>
              <a:t>Procedural Programming  (C, Pascal, FORTRAN, etc.)</a:t>
            </a:r>
          </a:p>
          <a:p>
            <a:pPr lvl="1"/>
            <a:r>
              <a:rPr lang="en-US" sz="2200" dirty="0"/>
              <a:t>Object-Oriented Programming (C++, C#,  java, etc.)</a:t>
            </a:r>
          </a:p>
          <a:p>
            <a:r>
              <a:rPr lang="en-US" dirty="0"/>
              <a:t>In Python, </a:t>
            </a:r>
            <a:r>
              <a:rPr lang="en-US" b="1" dirty="0"/>
              <a:t>everything is an object</a:t>
            </a:r>
            <a:r>
              <a:rPr lang="en-US" dirty="0"/>
              <a:t>, and you can use OOP principles to create and manipulate these objects.</a:t>
            </a:r>
          </a:p>
          <a:p>
            <a:r>
              <a:rPr lang="en-US" dirty="0"/>
              <a:t>OOP concepts in Python :</a:t>
            </a:r>
          </a:p>
          <a:p>
            <a:pPr lvl="1" fontAlgn="base"/>
            <a:r>
              <a:rPr lang="en-IN" dirty="0"/>
              <a:t>Class</a:t>
            </a:r>
          </a:p>
          <a:p>
            <a:pPr lvl="1" fontAlgn="base"/>
            <a:r>
              <a:rPr lang="en-IN" dirty="0"/>
              <a:t>Objects</a:t>
            </a:r>
          </a:p>
          <a:p>
            <a:pPr lvl="1" fontAlgn="base"/>
            <a:r>
              <a:rPr lang="en-IN" dirty="0"/>
              <a:t>Polymorphism</a:t>
            </a:r>
          </a:p>
          <a:p>
            <a:pPr lvl="1" fontAlgn="base"/>
            <a:r>
              <a:rPr lang="en-IN" dirty="0"/>
              <a:t>Encapsulation</a:t>
            </a:r>
          </a:p>
          <a:p>
            <a:pPr lvl="1" fontAlgn="base"/>
            <a:r>
              <a:rPr lang="en-IN" dirty="0"/>
              <a:t>Inheritance</a:t>
            </a:r>
          </a:p>
          <a:p>
            <a:pPr lvl="1" fontAlgn="base"/>
            <a:r>
              <a:rPr lang="en-IN" dirty="0"/>
              <a:t>Data Abstraction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44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02B4-4A0D-9D40-875B-E7E7E396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F5E4E-E694-5540-95EB-CBBB4FC82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class is a </a:t>
            </a:r>
            <a:r>
              <a:rPr lang="en-IN" b="1" dirty="0">
                <a:solidFill>
                  <a:srgbClr val="C00000"/>
                </a:solidFill>
              </a:rPr>
              <a:t>blueprint</a:t>
            </a:r>
            <a:r>
              <a:rPr lang="en-IN" dirty="0"/>
              <a:t> or prototype, from which objects are created.</a:t>
            </a:r>
          </a:p>
          <a:p>
            <a:r>
              <a:rPr lang="en-IN" dirty="0"/>
              <a:t>It defines the set of </a:t>
            </a:r>
            <a:r>
              <a:rPr lang="en-IN" b="1" dirty="0"/>
              <a:t>attributes</a:t>
            </a:r>
            <a:r>
              <a:rPr lang="en-IN" dirty="0"/>
              <a:t> (variables) and </a:t>
            </a:r>
            <a:r>
              <a:rPr lang="en-IN" b="1" dirty="0"/>
              <a:t>methods,</a:t>
            </a:r>
            <a:r>
              <a:rPr lang="en-IN" dirty="0"/>
              <a:t> that </a:t>
            </a:r>
            <a:r>
              <a:rPr lang="en-US" dirty="0"/>
              <a:t>the objects created from the class will have.</a:t>
            </a:r>
          </a:p>
          <a:p>
            <a:r>
              <a:rPr lang="en-US" dirty="0"/>
              <a:t>It defines </a:t>
            </a:r>
            <a:r>
              <a:rPr lang="en-US" b="1" dirty="0"/>
              <a:t>new datatype </a:t>
            </a:r>
            <a:r>
              <a:rPr lang="en-US" dirty="0"/>
              <a:t>(primitive ones are not enough). </a:t>
            </a:r>
          </a:p>
          <a:p>
            <a:r>
              <a:rPr lang="en-US" dirty="0"/>
              <a:t>In Python, the class can be created as follows:</a:t>
            </a:r>
            <a:endParaRPr lang="en-US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51783-DDC2-C04D-86ED-F48E33EB0E2A}"/>
              </a:ext>
            </a:extLst>
          </p:cNvPr>
          <p:cNvSpPr/>
          <p:nvPr/>
        </p:nvSpPr>
        <p:spPr>
          <a:xfrm>
            <a:off x="602583" y="3758184"/>
            <a:ext cx="3893257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className</a:t>
            </a:r>
            <a:r>
              <a:rPr lang="en-IN" sz="22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IN" sz="2200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IN" sz="2200" dirty="0">
                <a:solidFill>
                  <a:srgbClr val="0000FF"/>
                </a:solidFill>
                <a:latin typeface="Menlo" panose="020B0609030804020204" pitchFamily="49" charset="0"/>
              </a:rPr>
              <a:t>pass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4029EC6-812B-6A41-8409-69CBE9433D3E}"/>
              </a:ext>
            </a:extLst>
          </p:cNvPr>
          <p:cNvSpPr/>
          <p:nvPr/>
        </p:nvSpPr>
        <p:spPr>
          <a:xfrm>
            <a:off x="602584" y="3429000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500F96-94F1-A076-C34D-EC635389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643" y="3209667"/>
            <a:ext cx="3680779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D4D9-5504-CE42-9CB0-8EEA25811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15FEE-9C7F-434D-B834-830A821F8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3173"/>
            <a:ext cx="11929641" cy="4321872"/>
          </a:xfrm>
        </p:spPr>
        <p:txBody>
          <a:bodyPr/>
          <a:lstStyle/>
          <a:p>
            <a:r>
              <a:rPr lang="en-US" dirty="0"/>
              <a:t>An object is an </a:t>
            </a:r>
            <a:r>
              <a:rPr lang="en-US" b="1" dirty="0"/>
              <a:t>instance</a:t>
            </a:r>
            <a:r>
              <a:rPr lang="en-US" dirty="0"/>
              <a:t> of a </a:t>
            </a:r>
            <a:r>
              <a:rPr lang="en-US" b="1" dirty="0"/>
              <a:t>class</a:t>
            </a:r>
            <a:r>
              <a:rPr lang="en-US" dirty="0"/>
              <a:t>.</a:t>
            </a:r>
          </a:p>
          <a:p>
            <a:r>
              <a:rPr lang="en-US" dirty="0"/>
              <a:t>The object is an entity that has a </a:t>
            </a:r>
            <a:r>
              <a:rPr lang="en-US" b="1" dirty="0"/>
              <a:t>state</a:t>
            </a:r>
            <a:r>
              <a:rPr lang="en-US" dirty="0"/>
              <a:t> and </a:t>
            </a:r>
            <a:r>
              <a:rPr lang="en-US" b="1" dirty="0"/>
              <a:t>behavior</a:t>
            </a:r>
            <a:r>
              <a:rPr lang="en-US" dirty="0"/>
              <a:t> associated with it. </a:t>
            </a:r>
          </a:p>
          <a:p>
            <a:r>
              <a:rPr lang="en-US" dirty="0"/>
              <a:t>The </a:t>
            </a:r>
            <a:r>
              <a:rPr lang="en-US" b="1" dirty="0"/>
              <a:t>state</a:t>
            </a:r>
            <a:r>
              <a:rPr lang="en-US" dirty="0"/>
              <a:t> of an object is stored in </a:t>
            </a:r>
            <a:r>
              <a:rPr lang="en-US" b="1" dirty="0"/>
              <a:t>fields</a:t>
            </a:r>
            <a:r>
              <a:rPr lang="en-US" dirty="0"/>
              <a:t>(variables), while </a:t>
            </a:r>
            <a:r>
              <a:rPr lang="en-US" b="1" dirty="0"/>
              <a:t>methods</a:t>
            </a:r>
            <a:r>
              <a:rPr lang="en-US" dirty="0"/>
              <a:t>(functions) describe the object's </a:t>
            </a:r>
            <a:r>
              <a:rPr lang="en-US" b="1" dirty="0"/>
              <a:t>behavior</a:t>
            </a:r>
            <a:r>
              <a:rPr lang="en-US" dirty="0"/>
              <a:t>. </a:t>
            </a:r>
          </a:p>
          <a:p>
            <a:r>
              <a:rPr lang="en-US" dirty="0"/>
              <a:t>As said earlier - everything is an object in Python, following are some examples: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object/instance can be invoked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000" dirty="0">
              <a:solidFill>
                <a:srgbClr val="0000FF"/>
              </a:solidFill>
              <a:latin typeface="Menlo" panose="020B060903080402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1B2312-85B3-B548-87A5-303B0573CD47}"/>
              </a:ext>
            </a:extLst>
          </p:cNvPr>
          <p:cNvSpPr/>
          <p:nvPr/>
        </p:nvSpPr>
        <p:spPr>
          <a:xfrm>
            <a:off x="553855" y="5277921"/>
            <a:ext cx="3893257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200" dirty="0" err="1"/>
              <a:t>objectName</a:t>
            </a:r>
            <a:r>
              <a:rPr lang="en-IN" sz="2200" dirty="0"/>
              <a:t> =</a:t>
            </a:r>
            <a:r>
              <a:rPr lang="en-IN" sz="2200" dirty="0">
                <a:solidFill>
                  <a:srgbClr val="273239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 err="1"/>
              <a:t>ClassName</a:t>
            </a:r>
            <a:r>
              <a:rPr lang="en-IN" sz="2200" dirty="0"/>
              <a:t>()</a:t>
            </a:r>
            <a:endParaRPr lang="en-IN" sz="22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3157DCFD-75D2-2448-9BD8-448266C1DB9E}"/>
              </a:ext>
            </a:extLst>
          </p:cNvPr>
          <p:cNvSpPr/>
          <p:nvPr/>
        </p:nvSpPr>
        <p:spPr>
          <a:xfrm>
            <a:off x="553855" y="4948737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1860889-70A2-CDEC-E82F-94B2FE084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9" y="3042589"/>
            <a:ext cx="2568163" cy="12574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821339-3298-11E9-785D-342D80889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262" y="3080692"/>
            <a:ext cx="2568164" cy="11812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34A77EF-CC9D-1A95-A57B-B74CB1488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424" y="3054019"/>
            <a:ext cx="2644369" cy="123454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051E96C-945F-20A1-ADED-C4D68C000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19" y="3054019"/>
            <a:ext cx="4343776" cy="1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0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C7F1295-E38A-8296-BA75-75758687F9E2}"/>
              </a:ext>
            </a:extLst>
          </p:cNvPr>
          <p:cNvSpPr/>
          <p:nvPr/>
        </p:nvSpPr>
        <p:spPr>
          <a:xfrm>
            <a:off x="1702341" y="911108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44EDA-2694-8D46-B8EA-240329F3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F8A4E8-9ADD-4746-84F7-895FEED1EE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11" y="711201"/>
            <a:ext cx="5334000" cy="18620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8C47E1-DF93-064C-A3A0-0DA5B3AB9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17946"/>
              </p:ext>
            </p:extLst>
          </p:nvPr>
        </p:nvGraphicFramePr>
        <p:xfrm>
          <a:off x="326578" y="2550454"/>
          <a:ext cx="3352800" cy="401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Attributes (Properties)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Company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Mfg.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Fuel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Mileage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Gear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Power Steering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Anti-Lock braking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61DF61-5BFD-AE4E-84B3-08C2FAAD1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02992"/>
              </p:ext>
            </p:extLst>
          </p:nvPr>
        </p:nvGraphicFramePr>
        <p:xfrm>
          <a:off x="8752112" y="3259114"/>
          <a:ext cx="304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Methods (Functions)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Drive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On_break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On_lock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On_turn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3526D3-15C6-8C4C-B9B7-C2ABD722A186}"/>
              </a:ext>
            </a:extLst>
          </p:cNvPr>
          <p:cNvCxnSpPr>
            <a:cxnSpLocks/>
          </p:cNvCxnSpPr>
          <p:nvPr/>
        </p:nvCxnSpPr>
        <p:spPr>
          <a:xfrm flipH="1">
            <a:off x="1698173" y="1808320"/>
            <a:ext cx="1502227" cy="742134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9A20D3-0500-224A-A952-CE37D9575A1C}"/>
              </a:ext>
            </a:extLst>
          </p:cNvPr>
          <p:cNvCxnSpPr>
            <a:cxnSpLocks/>
          </p:cNvCxnSpPr>
          <p:nvPr/>
        </p:nvCxnSpPr>
        <p:spPr>
          <a:xfrm>
            <a:off x="8186057" y="2111829"/>
            <a:ext cx="2090054" cy="114728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2571FE-6DDB-CDD9-999A-5C091100C3AA}"/>
              </a:ext>
            </a:extLst>
          </p:cNvPr>
          <p:cNvGrpSpPr/>
          <p:nvPr/>
        </p:nvGrpSpPr>
        <p:grpSpPr>
          <a:xfrm>
            <a:off x="3857012" y="3392581"/>
            <a:ext cx="1267220" cy="1292534"/>
            <a:chOff x="3857012" y="3392581"/>
            <a:chExt cx="1267220" cy="12925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810D2C-7B79-1F3F-EEE4-42161BBF9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7012" y="3392581"/>
              <a:ext cx="1267220" cy="88705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F1763C8-2610-0637-1D61-4974E4975643}"/>
                </a:ext>
              </a:extLst>
            </p:cNvPr>
            <p:cNvSpPr txBox="1"/>
            <p:nvPr/>
          </p:nvSpPr>
          <p:spPr>
            <a:xfrm>
              <a:off x="4095144" y="4131117"/>
              <a:ext cx="8298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Honda City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244AE3-FE02-44FE-D40D-C0DD8F25E653}"/>
              </a:ext>
            </a:extLst>
          </p:cNvPr>
          <p:cNvGrpSpPr/>
          <p:nvPr/>
        </p:nvGrpSpPr>
        <p:grpSpPr>
          <a:xfrm>
            <a:off x="5582135" y="3429000"/>
            <a:ext cx="1267220" cy="1169038"/>
            <a:chOff x="5600070" y="3507118"/>
            <a:chExt cx="1267220" cy="11690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0C1D16-3561-B274-1E1E-49612A36D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0070" y="3507118"/>
              <a:ext cx="1267220" cy="6579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50972D-3AE9-D42A-20FE-3A521102FF1F}"/>
                </a:ext>
              </a:extLst>
            </p:cNvPr>
            <p:cNvSpPr txBox="1"/>
            <p:nvPr/>
          </p:nvSpPr>
          <p:spPr>
            <a:xfrm>
              <a:off x="5832376" y="4122158"/>
              <a:ext cx="8298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Hyundai i20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A45A0C-D2FC-DD1E-A8FC-A65A7185ECE1}"/>
              </a:ext>
            </a:extLst>
          </p:cNvPr>
          <p:cNvGrpSpPr/>
          <p:nvPr/>
        </p:nvGrpSpPr>
        <p:grpSpPr>
          <a:xfrm>
            <a:off x="7267014" y="3429000"/>
            <a:ext cx="1267218" cy="1185323"/>
            <a:chOff x="7274943" y="3507118"/>
            <a:chExt cx="1267218" cy="11853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D4F1CA-0AA1-99C1-3021-26426E57B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4943" y="3507118"/>
              <a:ext cx="1267218" cy="70994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7DE9C18-F54F-9C51-83D6-7730C40AB949}"/>
                </a:ext>
              </a:extLst>
            </p:cNvPr>
            <p:cNvSpPr txBox="1"/>
            <p:nvPr/>
          </p:nvSpPr>
          <p:spPr>
            <a:xfrm>
              <a:off x="7613896" y="4138443"/>
              <a:ext cx="8298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Sumo Grand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1EE267-ACC5-5362-3EBB-D919EF328E52}"/>
              </a:ext>
            </a:extLst>
          </p:cNvPr>
          <p:cNvGrpSpPr/>
          <p:nvPr/>
        </p:nvGrpSpPr>
        <p:grpSpPr>
          <a:xfrm>
            <a:off x="4790351" y="4942005"/>
            <a:ext cx="1267220" cy="931229"/>
            <a:chOff x="4790351" y="4942005"/>
            <a:chExt cx="1267220" cy="93122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216321-B865-9F64-5EEE-13BA5E115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0351" y="4942005"/>
              <a:ext cx="1267220" cy="5430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21EA48-C027-99E6-C90B-9B786CB50252}"/>
                </a:ext>
              </a:extLst>
            </p:cNvPr>
            <p:cNvSpPr txBox="1"/>
            <p:nvPr/>
          </p:nvSpPr>
          <p:spPr>
            <a:xfrm>
              <a:off x="4924988" y="5550069"/>
              <a:ext cx="111749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Mercedes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5E7285-4BB6-551B-BE04-8D3F0F06AE53}"/>
              </a:ext>
            </a:extLst>
          </p:cNvPr>
          <p:cNvGrpSpPr/>
          <p:nvPr/>
        </p:nvGrpSpPr>
        <p:grpSpPr>
          <a:xfrm>
            <a:off x="6534934" y="4796423"/>
            <a:ext cx="1267220" cy="1209720"/>
            <a:chOff x="6534934" y="4796423"/>
            <a:chExt cx="1267220" cy="120972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B38014E-323A-5F3B-400E-9B21C72D5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4934" y="4796423"/>
              <a:ext cx="1267220" cy="60985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4A10FF-D19D-2C6A-8950-2E6A3F8E5C69}"/>
                </a:ext>
              </a:extLst>
            </p:cNvPr>
            <p:cNvSpPr txBox="1"/>
            <p:nvPr/>
          </p:nvSpPr>
          <p:spPr>
            <a:xfrm>
              <a:off x="6806962" y="5452145"/>
              <a:ext cx="80693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Swift  Dezire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09CAE16-6B71-2DC3-ECCF-B63CCEB1C527}"/>
              </a:ext>
            </a:extLst>
          </p:cNvPr>
          <p:cNvSpPr txBox="1"/>
          <p:nvPr/>
        </p:nvSpPr>
        <p:spPr>
          <a:xfrm>
            <a:off x="1760705" y="920836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Class</a:t>
            </a:r>
            <a:endParaRPr lang="en-IN" sz="2400" b="1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3BFEEAC-CC48-6E3B-63FF-C7F9254330B2}"/>
              </a:ext>
            </a:extLst>
          </p:cNvPr>
          <p:cNvSpPr/>
          <p:nvPr/>
        </p:nvSpPr>
        <p:spPr>
          <a:xfrm>
            <a:off x="3927166" y="2921188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90195C-BDE4-BE1D-1937-0F71FF9B1A6E}"/>
              </a:ext>
            </a:extLst>
          </p:cNvPr>
          <p:cNvSpPr txBox="1"/>
          <p:nvPr/>
        </p:nvSpPr>
        <p:spPr>
          <a:xfrm>
            <a:off x="3985530" y="2930916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Ob-1</a:t>
            </a:r>
            <a:endParaRPr lang="en-IN" sz="2400" b="1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739823F-C5FB-C225-F3F8-4642867680E0}"/>
              </a:ext>
            </a:extLst>
          </p:cNvPr>
          <p:cNvSpPr/>
          <p:nvPr/>
        </p:nvSpPr>
        <p:spPr>
          <a:xfrm>
            <a:off x="5658284" y="2917168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184EA8-F2DB-2A47-BFF0-89751D0112D6}"/>
              </a:ext>
            </a:extLst>
          </p:cNvPr>
          <p:cNvSpPr txBox="1"/>
          <p:nvPr/>
        </p:nvSpPr>
        <p:spPr>
          <a:xfrm>
            <a:off x="5687464" y="2926896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Ob-2</a:t>
            </a:r>
            <a:endParaRPr lang="en-IN" sz="2400" b="1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2F17AE4-4494-07A9-49B7-6C94566DB2EA}"/>
              </a:ext>
            </a:extLst>
          </p:cNvPr>
          <p:cNvSpPr/>
          <p:nvPr/>
        </p:nvSpPr>
        <p:spPr>
          <a:xfrm>
            <a:off x="7421185" y="2907797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674FF8-A853-0890-FDEE-CE32F8FA863C}"/>
              </a:ext>
            </a:extLst>
          </p:cNvPr>
          <p:cNvSpPr txBox="1"/>
          <p:nvPr/>
        </p:nvSpPr>
        <p:spPr>
          <a:xfrm>
            <a:off x="7479549" y="2917525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Ob-3</a:t>
            </a:r>
            <a:endParaRPr lang="en-IN" sz="2400" b="1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8235ECE-9B40-06B7-E49C-69F9F263C894}"/>
              </a:ext>
            </a:extLst>
          </p:cNvPr>
          <p:cNvSpPr/>
          <p:nvPr/>
        </p:nvSpPr>
        <p:spPr>
          <a:xfrm>
            <a:off x="4991891" y="6005611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E9690E-92C1-32D8-6EF3-6C4927A66953}"/>
              </a:ext>
            </a:extLst>
          </p:cNvPr>
          <p:cNvSpPr txBox="1"/>
          <p:nvPr/>
        </p:nvSpPr>
        <p:spPr>
          <a:xfrm>
            <a:off x="5034713" y="6005612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Ob-4</a:t>
            </a:r>
            <a:endParaRPr lang="en-IN" sz="2400" b="1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6E0E2A-A0C7-8F42-DC3F-13C55471E6E2}"/>
              </a:ext>
            </a:extLst>
          </p:cNvPr>
          <p:cNvSpPr/>
          <p:nvPr/>
        </p:nvSpPr>
        <p:spPr>
          <a:xfrm>
            <a:off x="6790991" y="5996415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A98AE1-1B77-1D8E-C32D-1132FCE55199}"/>
              </a:ext>
            </a:extLst>
          </p:cNvPr>
          <p:cNvSpPr txBox="1"/>
          <p:nvPr/>
        </p:nvSpPr>
        <p:spPr>
          <a:xfrm>
            <a:off x="6849355" y="6006143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Ob-5</a:t>
            </a:r>
            <a:endParaRPr lang="en-IN" sz="24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57AD14-26B9-DFA6-5BA7-7558BA11BB3B}"/>
              </a:ext>
            </a:extLst>
          </p:cNvPr>
          <p:cNvSpPr txBox="1"/>
          <p:nvPr/>
        </p:nvSpPr>
        <p:spPr>
          <a:xfrm>
            <a:off x="8297694" y="911108"/>
            <a:ext cx="3297676" cy="381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Car’s Blueprint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95273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B32F-DB9B-634E-8209-B9EA4F43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self 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EA181-1945-4E41-AFC9-D2CB46736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Python, </a:t>
            </a:r>
            <a:r>
              <a:rPr lang="en-IN" b="1" dirty="0"/>
              <a:t>class methods must have an extra first parameter </a:t>
            </a:r>
            <a:r>
              <a:rPr lang="en-IN" dirty="0"/>
              <a:t>in the method definition. </a:t>
            </a:r>
          </a:p>
          <a:p>
            <a:r>
              <a:rPr lang="en-IN" dirty="0"/>
              <a:t>We </a:t>
            </a:r>
            <a:r>
              <a:rPr lang="en-IN" b="1" dirty="0"/>
              <a:t>do not give a value for this parameter when we call </a:t>
            </a:r>
            <a:r>
              <a:rPr lang="en-IN" dirty="0"/>
              <a:t>the method. Python provides it.</a:t>
            </a:r>
          </a:p>
          <a:p>
            <a:r>
              <a:rPr lang="en-IN" dirty="0"/>
              <a:t>If we have a method that takes no arguments, then we still have to have one parameter(self) in the method definition.</a:t>
            </a:r>
          </a:p>
          <a:p>
            <a:r>
              <a:rPr lang="en-IN" dirty="0"/>
              <a:t>For Example: Method definition of </a:t>
            </a:r>
            <a:r>
              <a:rPr lang="en-IN" dirty="0" err="1"/>
              <a:t>MyClass</a:t>
            </a:r>
            <a:r>
              <a:rPr lang="en-IN" dirty="0"/>
              <a:t> : </a:t>
            </a:r>
            <a:r>
              <a:rPr lang="en-IN" b="1" dirty="0">
                <a:solidFill>
                  <a:srgbClr val="C00000"/>
                </a:solidFill>
              </a:rPr>
              <a:t>def </a:t>
            </a:r>
            <a:r>
              <a:rPr lang="en-IN" b="1" dirty="0" err="1">
                <a:solidFill>
                  <a:srgbClr val="C00000"/>
                </a:solidFill>
              </a:rPr>
              <a:t>my_method</a:t>
            </a:r>
            <a:r>
              <a:rPr lang="en-IN" b="1" dirty="0">
                <a:solidFill>
                  <a:srgbClr val="C00000"/>
                </a:solidFill>
              </a:rPr>
              <a:t>(self, par1, par2):</a:t>
            </a:r>
            <a:endParaRPr lang="en-IN" dirty="0"/>
          </a:p>
          <a:p>
            <a:r>
              <a:rPr lang="en-IN" dirty="0"/>
              <a:t>Method call : </a:t>
            </a:r>
            <a:r>
              <a:rPr lang="en-IN" b="1" dirty="0" err="1">
                <a:solidFill>
                  <a:srgbClr val="C00000"/>
                </a:solidFill>
              </a:rPr>
              <a:t>myobject.my_method</a:t>
            </a:r>
            <a:r>
              <a:rPr lang="en-IN" b="1" dirty="0">
                <a:solidFill>
                  <a:srgbClr val="C00000"/>
                </a:solidFill>
              </a:rPr>
              <a:t>(arg1, arg2)</a:t>
            </a:r>
          </a:p>
          <a:p>
            <a:r>
              <a:rPr lang="en-IN" dirty="0"/>
              <a:t>Python converts the method call as : </a:t>
            </a:r>
            <a:r>
              <a:rPr lang="en-IN" b="1" dirty="0" err="1">
                <a:solidFill>
                  <a:srgbClr val="C00000"/>
                </a:solidFill>
              </a:rPr>
              <a:t>MyClass.my_method</a:t>
            </a:r>
            <a:r>
              <a:rPr lang="en-IN" b="1" dirty="0">
                <a:solidFill>
                  <a:srgbClr val="C00000"/>
                </a:solidFill>
              </a:rPr>
              <a:t>(</a:t>
            </a:r>
            <a:r>
              <a:rPr lang="en-IN" b="1" dirty="0" err="1">
                <a:solidFill>
                  <a:srgbClr val="C00000"/>
                </a:solidFill>
              </a:rPr>
              <a:t>myobject</a:t>
            </a:r>
            <a:r>
              <a:rPr lang="en-IN" b="1" dirty="0">
                <a:solidFill>
                  <a:srgbClr val="C00000"/>
                </a:solidFill>
              </a:rPr>
              <a:t>, arg1, arg2) 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BBDACE9-C6E0-A541-97F8-3F33E7DA0C85}"/>
              </a:ext>
            </a:extLst>
          </p:cNvPr>
          <p:cNvSpPr/>
          <p:nvPr/>
        </p:nvSpPr>
        <p:spPr>
          <a:xfrm>
            <a:off x="422264" y="393561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8B5B18-939A-D949-9A5B-C62386E8A63E}"/>
              </a:ext>
            </a:extLst>
          </p:cNvPr>
          <p:cNvSpPr/>
          <p:nvPr/>
        </p:nvSpPr>
        <p:spPr>
          <a:xfrm>
            <a:off x="6953868" y="4453715"/>
            <a:ext cx="45384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 name is = DIET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B9231E2-CF4C-614D-877F-3E1F7E588DBA}"/>
              </a:ext>
            </a:extLst>
          </p:cNvPr>
          <p:cNvSpPr/>
          <p:nvPr/>
        </p:nvSpPr>
        <p:spPr>
          <a:xfrm>
            <a:off x="6953868" y="412453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99CCC-6577-97EE-B66B-846DC17E790C}"/>
              </a:ext>
            </a:extLst>
          </p:cNvPr>
          <p:cNvSpPr/>
          <p:nvPr/>
        </p:nvSpPr>
        <p:spPr>
          <a:xfrm>
            <a:off x="922257" y="4264803"/>
            <a:ext cx="5712719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Demo: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of Class Demo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printMyName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'My name is ='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,name)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Demo()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Object created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object1.printMyName(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"DIET"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Called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00D059-C35D-0377-82EB-D1B96493A917}"/>
              </a:ext>
            </a:extLst>
          </p:cNvPr>
          <p:cNvSpPr/>
          <p:nvPr/>
        </p:nvSpPr>
        <p:spPr>
          <a:xfrm>
            <a:off x="422264" y="4264803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5914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 animBg="1"/>
      <p:bldP spid="8" grpId="0" animBg="1"/>
      <p:bldP spid="9" grpId="0" build="p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9DA2-2B57-2646-B6E0-1753448C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__init__ method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7423-DB4E-1649-BC48-EA08ABC24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__</a:t>
            </a:r>
            <a:r>
              <a:rPr lang="en-US" dirty="0" err="1"/>
              <a:t>init</a:t>
            </a:r>
            <a:r>
              <a:rPr lang="en-US" dirty="0"/>
              <a:t>__ method is </a:t>
            </a:r>
            <a:r>
              <a:rPr lang="en-US" b="1" dirty="0"/>
              <a:t>similar to constructors </a:t>
            </a:r>
            <a:r>
              <a:rPr lang="en-US" dirty="0"/>
              <a:t>in C++ and Java.</a:t>
            </a:r>
          </a:p>
          <a:p>
            <a:r>
              <a:rPr lang="en-US" dirty="0"/>
              <a:t>It is </a:t>
            </a:r>
            <a:r>
              <a:rPr lang="en-US" b="1" dirty="0"/>
              <a:t>called when object is created </a:t>
            </a:r>
            <a:r>
              <a:rPr lang="en-US" dirty="0"/>
              <a:t>of the class.</a:t>
            </a:r>
          </a:p>
          <a:p>
            <a:r>
              <a:rPr lang="en-US" dirty="0"/>
              <a:t>This method is </a:t>
            </a:r>
            <a:r>
              <a:rPr lang="en-US" b="1" dirty="0"/>
              <a:t>used to initialize </a:t>
            </a:r>
            <a:r>
              <a:rPr lang="en-US" dirty="0"/>
              <a:t>object data members.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B7263A-CE9D-8C42-B8EA-37318B3C2820}"/>
              </a:ext>
            </a:extLst>
          </p:cNvPr>
          <p:cNvSpPr/>
          <p:nvPr/>
        </p:nvSpPr>
        <p:spPr>
          <a:xfrm>
            <a:off x="966862" y="2612285"/>
            <a:ext cx="5712719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Demo: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#class Attributes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#Constructor Method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of Class Demo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printMyName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'My name is ='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Demo(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"DIET"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Object created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object1.printMyName()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Called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959D5F-5F92-444E-BBB0-56552F65E04F}"/>
              </a:ext>
            </a:extLst>
          </p:cNvPr>
          <p:cNvSpPr/>
          <p:nvPr/>
        </p:nvSpPr>
        <p:spPr>
          <a:xfrm>
            <a:off x="466869" y="2612285"/>
            <a:ext cx="499993" cy="37856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BD850D1-55F6-2B45-9386-993DE409C256}"/>
              </a:ext>
            </a:extLst>
          </p:cNvPr>
          <p:cNvSpPr/>
          <p:nvPr/>
        </p:nvSpPr>
        <p:spPr>
          <a:xfrm>
            <a:off x="466869" y="228310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5A9BA5-8094-EE43-A4C3-9BC3061E820C}"/>
              </a:ext>
            </a:extLst>
          </p:cNvPr>
          <p:cNvSpPr/>
          <p:nvPr/>
        </p:nvSpPr>
        <p:spPr>
          <a:xfrm>
            <a:off x="7017928" y="2612285"/>
            <a:ext cx="45384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 name is = DIET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549BDC45-B415-DD4A-844F-C54C2BC2BB1E}"/>
              </a:ext>
            </a:extLst>
          </p:cNvPr>
          <p:cNvSpPr/>
          <p:nvPr/>
        </p:nvSpPr>
        <p:spPr>
          <a:xfrm>
            <a:off x="7017928" y="228310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4053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54CB-8C28-0849-AF3E-C3207D22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AB01C-5D07-2046-8BAE-B9DA07CFCB38}"/>
              </a:ext>
            </a:extLst>
          </p:cNvPr>
          <p:cNvSpPr/>
          <p:nvPr/>
        </p:nvSpPr>
        <p:spPr>
          <a:xfrm>
            <a:off x="699232" y="1204977"/>
            <a:ext cx="5712719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Write a Program to create Circle class and define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findarea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method to calculate area of circle.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Circle: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r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findarea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3.14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 = int(input(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radius="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Circle(r)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area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c.findarea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"Area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,area)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0B562-746C-064D-AF1F-ECB007EFF267}"/>
              </a:ext>
            </a:extLst>
          </p:cNvPr>
          <p:cNvSpPr/>
          <p:nvPr/>
        </p:nvSpPr>
        <p:spPr>
          <a:xfrm>
            <a:off x="199239" y="1204977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AF1C1A0-7944-3D48-AEFB-581615D90CF0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67913-5749-0E47-8638-0E91F9DFC11E}"/>
              </a:ext>
            </a:extLst>
          </p:cNvPr>
          <p:cNvSpPr/>
          <p:nvPr/>
        </p:nvSpPr>
        <p:spPr>
          <a:xfrm>
            <a:off x="6750298" y="1204977"/>
            <a:ext cx="453845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Enter radius=1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Area =  3.14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85CF754-7F34-884D-9D16-D7FD0CC5D97F}"/>
              </a:ext>
            </a:extLst>
          </p:cNvPr>
          <p:cNvSpPr/>
          <p:nvPr/>
        </p:nvSpPr>
        <p:spPr>
          <a:xfrm>
            <a:off x="6750298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1698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1ED44-5360-450E-2355-56B85434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32F5C-38F6-7A3A-008F-77220DAA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CB8F1-0749-FAED-3519-F064E94AE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and implement a </a:t>
            </a:r>
            <a:r>
              <a:rPr lang="en-US" b="1" dirty="0"/>
              <a:t>Bank Account Management System</a:t>
            </a:r>
            <a:r>
              <a:rPr lang="en-US" dirty="0"/>
              <a:t> using </a:t>
            </a:r>
            <a:r>
              <a:rPr lang="en-US" b="1" dirty="0"/>
              <a:t>Object-Oriented Programming (OOP) in Python</a:t>
            </a:r>
            <a:r>
              <a:rPr lang="en-US" dirty="0"/>
              <a:t>. </a:t>
            </a:r>
          </a:p>
          <a:p>
            <a:r>
              <a:rPr lang="en-US" dirty="0"/>
              <a:t>The system should allow users to :</a:t>
            </a:r>
          </a:p>
          <a:p>
            <a:pPr lvl="1"/>
            <a:r>
              <a:rPr lang="en-US" sz="2400" dirty="0"/>
              <a:t>Create a bank account (Name, Account_Opening_Balance)</a:t>
            </a:r>
          </a:p>
          <a:p>
            <a:pPr lvl="1"/>
            <a:r>
              <a:rPr lang="en-US" sz="2400" dirty="0"/>
              <a:t>Deposit money</a:t>
            </a:r>
          </a:p>
          <a:p>
            <a:pPr lvl="1"/>
            <a:r>
              <a:rPr lang="en-US" sz="2400" dirty="0"/>
              <a:t>Withdraw money </a:t>
            </a:r>
          </a:p>
          <a:p>
            <a:pPr lvl="2"/>
            <a:r>
              <a:rPr lang="en-US" sz="2400" dirty="0"/>
              <a:t>only if  account holder has sufficient fund for withdrawal </a:t>
            </a:r>
          </a:p>
          <a:p>
            <a:pPr lvl="2"/>
            <a:r>
              <a:rPr lang="en-US" sz="2400" dirty="0"/>
              <a:t>otherwise print “INSUFFICIENT BALANCE”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8672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80E8CD-06AB-5199-1FAC-C7D5436F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Attributes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BB78F-8540-3099-B0F3-6A8794DD9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878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76B9-4381-2A7C-F144-33694AEB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BF8E-11A9-A7DE-2877-B4DB255F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 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3EF82-CDC9-36DE-E0FA-01F81BBC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4474071" cy="4992606"/>
          </a:xfrm>
        </p:spPr>
        <p:txBody>
          <a:bodyPr/>
          <a:lstStyle/>
          <a:p>
            <a:r>
              <a:rPr lang="en-US" dirty="0"/>
              <a:t>Class attribute is a </a:t>
            </a:r>
            <a:r>
              <a:rPr lang="en-US" b="1" dirty="0">
                <a:solidFill>
                  <a:srgbClr val="C00000"/>
                </a:solidFill>
              </a:rPr>
              <a:t>variable that is shared</a:t>
            </a:r>
            <a:r>
              <a:rPr lang="en-US" dirty="0"/>
              <a:t> across all the objects/instances of the class.</a:t>
            </a:r>
          </a:p>
          <a:p>
            <a:r>
              <a:rPr lang="en-US" dirty="0"/>
              <a:t>It is defined within the class, but outside any methods.</a:t>
            </a:r>
          </a:p>
          <a:p>
            <a:r>
              <a:rPr lang="en-US" dirty="0"/>
              <a:t>Class attributes are </a:t>
            </a:r>
            <a:r>
              <a:rPr lang="en-US" b="1" dirty="0"/>
              <a:t>defined at the class level</a:t>
            </a:r>
            <a:r>
              <a:rPr lang="en-US" dirty="0"/>
              <a:t> (instead of object level).</a:t>
            </a:r>
          </a:p>
          <a:p>
            <a:r>
              <a:rPr lang="en-US" dirty="0"/>
              <a:t>So, they maintain the same value across all the instances.</a:t>
            </a:r>
          </a:p>
          <a:p>
            <a:r>
              <a:rPr lang="en-US" dirty="0"/>
              <a:t>The value could be modified using </a:t>
            </a:r>
            <a:r>
              <a:rPr lang="en-US" b="1" dirty="0" err="1">
                <a:solidFill>
                  <a:srgbClr val="C00000"/>
                </a:solidFill>
              </a:rPr>
              <a:t>className.attributeName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FCE67B-1203-3D00-ABC5-9746FEC85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371" y="1163045"/>
            <a:ext cx="6535060" cy="192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828DD1-EA1E-330F-649B-0E6E0F0D7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24" y="3083451"/>
            <a:ext cx="6242407" cy="1501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E603CA-D755-A63E-FB32-0E75D6342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961" y="4584721"/>
            <a:ext cx="6117157" cy="1204064"/>
          </a:xfrm>
          <a:prstGeom prst="rect">
            <a:avLst/>
          </a:prstGeom>
        </p:spPr>
      </p:pic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634E7D8B-23A8-1B77-2530-770F9C32C39D}"/>
              </a:ext>
            </a:extLst>
          </p:cNvPr>
          <p:cNvSpPr/>
          <p:nvPr/>
        </p:nvSpPr>
        <p:spPr>
          <a:xfrm>
            <a:off x="5904489" y="90462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69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5E27-9004-7642-9B6D-A6D60B8C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Built-in class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88505-B035-EC4D-9431-D2E04AFA5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class also contains some built-in class attributes which provide information about the class.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EB1D1456-BF4B-C845-87F1-4E6FD9CE0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363933"/>
              </p:ext>
            </p:extLst>
          </p:nvPr>
        </p:nvGraphicFramePr>
        <p:xfrm>
          <a:off x="556078" y="1887211"/>
          <a:ext cx="11130399" cy="731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69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0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attributes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__</a:t>
                      </a:r>
                      <a:r>
                        <a:rPr lang="en-US" b="1" dirty="0" err="1"/>
                        <a:t>dict</a:t>
                      </a:r>
                      <a:r>
                        <a:rPr lang="en-US" b="1" dirty="0"/>
                        <a:t>__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provides the dictionary containing the information about the class namespace.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55D1BD-281E-FBE2-D786-35C4BD709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1284"/>
              </p:ext>
            </p:extLst>
          </p:nvPr>
        </p:nvGraphicFramePr>
        <p:xfrm>
          <a:off x="556078" y="2618731"/>
          <a:ext cx="11130399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69607">
                  <a:extLst>
                    <a:ext uri="{9D8B030D-6E8A-4147-A177-3AD203B41FA5}">
                      <a16:colId xmlns:a16="http://schemas.microsoft.com/office/drawing/2014/main" val="3692655725"/>
                    </a:ext>
                  </a:extLst>
                </a:gridCol>
                <a:gridCol w="9160792">
                  <a:extLst>
                    <a:ext uri="{9D8B030D-6E8A-4147-A177-3AD203B41FA5}">
                      <a16:colId xmlns:a16="http://schemas.microsoft.com/office/drawing/2014/main" val="151969523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__doc__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contains a string which has the class documentation.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0539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3287CA-5250-C067-AD9D-F0FBD7FE1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67814"/>
              </p:ext>
            </p:extLst>
          </p:nvPr>
        </p:nvGraphicFramePr>
        <p:xfrm>
          <a:off x="556077" y="2983723"/>
          <a:ext cx="11130399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69607">
                  <a:extLst>
                    <a:ext uri="{9D8B030D-6E8A-4147-A177-3AD203B41FA5}">
                      <a16:colId xmlns:a16="http://schemas.microsoft.com/office/drawing/2014/main" val="509306860"/>
                    </a:ext>
                  </a:extLst>
                </a:gridCol>
                <a:gridCol w="9160792">
                  <a:extLst>
                    <a:ext uri="{9D8B030D-6E8A-4147-A177-3AD203B41FA5}">
                      <a16:colId xmlns:a16="http://schemas.microsoft.com/office/drawing/2014/main" val="649872926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__module__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used to access the module in which, this class is defined.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59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82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F550-6175-354A-9195-19708BA7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built-in class attributes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D6A07-3692-7D47-BD50-7C4158EB5BAD}"/>
              </a:ext>
            </a:extLst>
          </p:cNvPr>
          <p:cNvSpPr/>
          <p:nvPr/>
        </p:nvSpPr>
        <p:spPr>
          <a:xfrm>
            <a:off x="877653" y="1285290"/>
            <a:ext cx="5712719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Student:</a:t>
            </a:r>
          </a:p>
          <a:p>
            <a:pPr lvl="1"/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''' This is Student Class'''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self,rno,sname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.rollno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rno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.studentName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sname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.rollno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.studentName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 = Student(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"ABC"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print(s1.__doc__)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print(s1.__dict__)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print(s1.__module__)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BE548-7303-5444-A3B5-E1C271DA979F}"/>
              </a:ext>
            </a:extLst>
          </p:cNvPr>
          <p:cNvSpPr/>
          <p:nvPr/>
        </p:nvSpPr>
        <p:spPr>
          <a:xfrm>
            <a:off x="377660" y="1285290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E6D84F2-43ED-3542-9588-5111885B0EF9}"/>
              </a:ext>
            </a:extLst>
          </p:cNvPr>
          <p:cNvSpPr/>
          <p:nvPr/>
        </p:nvSpPr>
        <p:spPr>
          <a:xfrm>
            <a:off x="377660" y="95610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ACC2F9-5751-7342-BFE1-6E6747972F52}"/>
              </a:ext>
            </a:extLst>
          </p:cNvPr>
          <p:cNvSpPr/>
          <p:nvPr/>
        </p:nvSpPr>
        <p:spPr>
          <a:xfrm>
            <a:off x="6895265" y="1285290"/>
            <a:ext cx="453845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onsolas"/>
              </a:rPr>
              <a:t>This is Student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Class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{'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rollno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': 23, 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studentName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': 'ABC'}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__main__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6D9B6CD1-2695-D04B-8550-7BC89A835469}"/>
              </a:ext>
            </a:extLst>
          </p:cNvPr>
          <p:cNvSpPr/>
          <p:nvPr/>
        </p:nvSpPr>
        <p:spPr>
          <a:xfrm>
            <a:off x="6895265" y="95610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7123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D34D-0D42-C00C-2498-E8F18504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EE9B-307C-9F8A-239F-22CE5FCB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Instance 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80F06-DE37-C9C5-56C3-C6963D561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4474071" cy="5590565"/>
          </a:xfrm>
        </p:spPr>
        <p:txBody>
          <a:bodyPr>
            <a:normAutofit/>
          </a:bodyPr>
          <a:lstStyle/>
          <a:p>
            <a:r>
              <a:rPr lang="en-US" dirty="0"/>
              <a:t>An Instance attribute is a </a:t>
            </a:r>
            <a:r>
              <a:rPr lang="en-US" b="1" dirty="0"/>
              <a:t>variable that is specific to each instance/object</a:t>
            </a:r>
            <a:r>
              <a:rPr lang="en-US" dirty="0"/>
              <a:t> of a class.</a:t>
            </a:r>
          </a:p>
          <a:p>
            <a:r>
              <a:rPr lang="en-US" dirty="0"/>
              <a:t>It is defined inside the __</a:t>
            </a:r>
            <a:r>
              <a:rPr lang="en-US" dirty="0" err="1"/>
              <a:t>init</a:t>
            </a:r>
            <a:r>
              <a:rPr lang="en-US" dirty="0"/>
              <a:t>__ method (or other instance methods) </a:t>
            </a:r>
            <a:r>
              <a:rPr lang="en-US" b="1" dirty="0"/>
              <a:t>using self</a:t>
            </a:r>
            <a:r>
              <a:rPr lang="en-US" dirty="0"/>
              <a:t>.</a:t>
            </a:r>
          </a:p>
          <a:p>
            <a:r>
              <a:rPr lang="en-US" dirty="0"/>
              <a:t>This means that each object will get its own copy of attribute.</a:t>
            </a:r>
          </a:p>
          <a:p>
            <a:r>
              <a:rPr lang="en-US" dirty="0"/>
              <a:t>If an attribute is not found in the instance, Python looks for it in the class (class attribute).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B100A-8C36-1F98-6216-5F077F71C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251" y="1087182"/>
            <a:ext cx="7184672" cy="2072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DFD6DF-478E-B0E8-E31F-9C2C53A47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974" y="3164865"/>
            <a:ext cx="6755949" cy="19432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7ED392-EC01-56BC-95DB-87C546B4C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573" y="5098405"/>
            <a:ext cx="6717350" cy="1470787"/>
          </a:xfrm>
          <a:prstGeom prst="rect">
            <a:avLst/>
          </a:prstGeom>
        </p:spPr>
      </p:pic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F28A8F5B-2695-6A34-55B6-565C7D22B053}"/>
              </a:ext>
            </a:extLst>
          </p:cNvPr>
          <p:cNvSpPr/>
          <p:nvPr/>
        </p:nvSpPr>
        <p:spPr>
          <a:xfrm>
            <a:off x="5170073" y="75556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63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3950-9BC8-06A2-EFDF-A9CEED00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036-6A78-F096-B694-43557F03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class &amp; instance attributes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B4771D3-9DDB-D2F9-9C7C-CB5DFF352146}"/>
              </a:ext>
            </a:extLst>
          </p:cNvPr>
          <p:cNvSpPr/>
          <p:nvPr/>
        </p:nvSpPr>
        <p:spPr>
          <a:xfrm>
            <a:off x="377660" y="95610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AC38F2-5A76-498B-DCF3-D3E84EBA2694}"/>
              </a:ext>
            </a:extLst>
          </p:cNvPr>
          <p:cNvSpPr/>
          <p:nvPr/>
        </p:nvSpPr>
        <p:spPr>
          <a:xfrm>
            <a:off x="6895265" y="1285290"/>
            <a:ext cx="453845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Brand: Toyota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Model: Corolla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Number of Wheels: 4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------------------------------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Brand: Honda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Model: Civic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Number of Wheels: 4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------------------------------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1FD1EA9-FCBF-9117-A365-81766759B2F1}"/>
              </a:ext>
            </a:extLst>
          </p:cNvPr>
          <p:cNvSpPr/>
          <p:nvPr/>
        </p:nvSpPr>
        <p:spPr>
          <a:xfrm>
            <a:off x="6895265" y="95610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375844-DB4B-7890-9212-20C4C922F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63" y="1285290"/>
            <a:ext cx="6237872" cy="14978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AF1969-5140-79BA-620A-0D175BDBE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47" y="2783166"/>
            <a:ext cx="6237872" cy="15456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2A6DAB-161A-9D90-0185-B501774EC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96" y="4328809"/>
            <a:ext cx="6159323" cy="193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8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uiExpand="1" build="p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8BDF-2147-3345-817D-1B12CB4F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Attributes </a:t>
            </a:r>
            <a:r>
              <a:rPr lang="en-US" sz="2400" dirty="0"/>
              <a:t>vs</a:t>
            </a:r>
            <a:r>
              <a:rPr lang="en-US" dirty="0"/>
              <a:t> Instance Attributes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814DCA4E-CACC-0BFA-27AB-0323A96C4A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4661481"/>
              </p:ext>
            </p:extLst>
          </p:nvPr>
        </p:nvGraphicFramePr>
        <p:xfrm>
          <a:off x="248432" y="4759481"/>
          <a:ext cx="11516975" cy="10972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 value will be reflected to all the objects if it changed using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dirty="0" err="1">
                          <a:solidFill>
                            <a:schemeClr val="tx1"/>
                          </a:solidFill>
                        </a:rPr>
                        <a:t>classname.class_attribute</a:t>
                      </a:r>
                      <a:r>
                        <a:rPr lang="en-IN" sz="2200" b="1" dirty="0">
                          <a:solidFill>
                            <a:schemeClr val="tx1"/>
                          </a:solidFill>
                        </a:rPr>
                        <a:t> = value</a:t>
                      </a:r>
                      <a:r>
                        <a:rPr lang="en-IN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 value of </a:t>
                      </a:r>
                      <a:r>
                        <a:rPr lang="en-IN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instance attribute will not be reflected to other</a:t>
                      </a:r>
                      <a:r>
                        <a:rPr lang="en-IN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objects.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87523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DC8E13-7303-F0EB-5668-82406AF9B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90354"/>
              </p:ext>
            </p:extLst>
          </p:nvPr>
        </p:nvGraphicFramePr>
        <p:xfrm>
          <a:off x="248434" y="806679"/>
          <a:ext cx="11516975" cy="6632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3509822163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249954708"/>
                    </a:ext>
                  </a:extLst>
                </a:gridCol>
              </a:tblGrid>
              <a:tr h="6632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Class Attributes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Instance Attributes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585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732699-C3F0-2205-6314-0ACCDCD14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746805"/>
              </p:ext>
            </p:extLst>
          </p:nvPr>
        </p:nvGraphicFramePr>
        <p:xfrm>
          <a:off x="248433" y="1469951"/>
          <a:ext cx="11516975" cy="1432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3453507907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1630690874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2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attributes </a:t>
                      </a:r>
                      <a:r>
                        <a:rPr lang="en-IN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the variables defined directly in the class that are shared by all objects of the class.</a:t>
                      </a:r>
                      <a:endParaRPr lang="en-US" sz="22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Instance attributes </a:t>
                      </a:r>
                      <a:r>
                        <a:rPr lang="en-IN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attributes or properties attached to an instance of a class.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Instance attributes are defined in the constructor.</a:t>
                      </a:r>
                      <a:endParaRPr lang="en-IN" sz="2200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310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BD6BC0-7D70-47BD-0840-AFB902897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08377"/>
              </p:ext>
            </p:extLst>
          </p:nvPr>
        </p:nvGraphicFramePr>
        <p:xfrm>
          <a:off x="248433" y="2902511"/>
          <a:ext cx="11516975" cy="43169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4281665178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92616257"/>
                    </a:ext>
                  </a:extLst>
                </a:gridCol>
              </a:tblGrid>
              <a:tr h="4316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Shared across all the objects of a class.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Specific to an object.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16804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8F1018-41AF-428F-DA6A-C77669C26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259711"/>
              </p:ext>
            </p:extLst>
          </p:nvPr>
        </p:nvGraphicFramePr>
        <p:xfrm>
          <a:off x="248432" y="3334210"/>
          <a:ext cx="11516975" cy="1432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4115102247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3210885692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Accessed using class name as well as using object with dot notation,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e.g. </a:t>
                      </a:r>
                      <a:r>
                        <a:rPr lang="en-US" sz="2200" b="1" dirty="0" err="1">
                          <a:solidFill>
                            <a:schemeClr val="tx1"/>
                          </a:solidFill>
                        </a:rPr>
                        <a:t>classname.class_attribute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  or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err="1">
                          <a:solidFill>
                            <a:schemeClr val="tx1"/>
                          </a:solidFill>
                        </a:rPr>
                        <a:t>object.class_attribute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Accessed using object dot notation e.g.</a:t>
                      </a:r>
                      <a:r>
                        <a:rPr lang="en-IN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2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object.instance_attribute</a:t>
                      </a:r>
                      <a:endParaRPr lang="en-IN" sz="2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556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804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54CB-8C28-0849-AF3E-C3207D22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Class Attributes </a:t>
            </a:r>
            <a:r>
              <a:rPr lang="en-US" sz="2400" dirty="0"/>
              <a:t>vs</a:t>
            </a:r>
            <a:r>
              <a:rPr lang="en-US" dirty="0"/>
              <a:t> Instance Attributes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AB01C-5D07-2046-8BAE-B9DA07CFCB38}"/>
              </a:ext>
            </a:extLst>
          </p:cNvPr>
          <p:cNvSpPr/>
          <p:nvPr/>
        </p:nvSpPr>
        <p:spPr>
          <a:xfrm>
            <a:off x="699232" y="1204977"/>
            <a:ext cx="5712719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Counter: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#Class Attribute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Counter.count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Counter.count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 = Counter()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Object 1 created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 = Counter()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Object 2 created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print(s1.count)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Counter Value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print(s2.count) </a:t>
            </a:r>
            <a:r>
              <a:rPr lang="en-IN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Counter Value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Counter.count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Counter value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Counter.count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Updating Class Attribute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print(s1.count)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print(s2.count)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0B562-746C-064D-AF1F-ECB007EFF267}"/>
              </a:ext>
            </a:extLst>
          </p:cNvPr>
          <p:cNvSpPr/>
          <p:nvPr/>
        </p:nvSpPr>
        <p:spPr>
          <a:xfrm>
            <a:off x="199239" y="1204977"/>
            <a:ext cx="499993" cy="4278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AF1C1A0-7944-3D48-AEFB-581615D90CF0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67913-5749-0E47-8638-0E91F9DFC11E}"/>
              </a:ext>
            </a:extLst>
          </p:cNvPr>
          <p:cNvSpPr/>
          <p:nvPr/>
        </p:nvSpPr>
        <p:spPr>
          <a:xfrm>
            <a:off x="6750298" y="1204977"/>
            <a:ext cx="453845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2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2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2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100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100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85CF754-7F34-884D-9D16-D7FD0CC5D97F}"/>
              </a:ext>
            </a:extLst>
          </p:cNvPr>
          <p:cNvSpPr/>
          <p:nvPr/>
        </p:nvSpPr>
        <p:spPr>
          <a:xfrm>
            <a:off x="6750298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4200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CAF48-8596-E384-892A-828304F14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2F84C8-C2BF-113E-FA0B-4BFF6676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E0B13-D59A-FD1F-4E41-465176673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Modifiers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6330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17B9-5AD0-FDE9-4975-9ABF0914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EC90F-B321-89C0-706C-D359E4E4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Encapsulation means wrapping up properties and methods together inside a class and controlling access to them.</a:t>
            </a:r>
          </a:p>
          <a:p>
            <a:r>
              <a:rPr lang="en-US" dirty="0"/>
              <a:t>It protects data from direct manipulation by restricting access using Access Modifiers.</a:t>
            </a:r>
          </a:p>
          <a:p>
            <a:r>
              <a:rPr lang="en-US" dirty="0"/>
              <a:t>Access modifiers control how attributes and methods of a class can be accessed outside the class.</a:t>
            </a:r>
          </a:p>
          <a:p>
            <a:r>
              <a:rPr lang="en-US" dirty="0"/>
              <a:t>Python does not strictly enforce access modifiers like other programming languages </a:t>
            </a:r>
            <a:r>
              <a:rPr lang="en-US" dirty="0" err="1"/>
              <a:t>c++</a:t>
            </a:r>
            <a:r>
              <a:rPr lang="en-US" dirty="0"/>
              <a:t> and java, but it uses naming conventions to indicate the level of access to the members of a class.</a:t>
            </a:r>
          </a:p>
          <a:p>
            <a:r>
              <a:rPr lang="en-US" dirty="0"/>
              <a:t>There are mainly three types of access modifiers in Python: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Public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Private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Protected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71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061CD-7A24-E2AA-6260-2704FD89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73D0-F6FC-DDEE-5720-AF8098B2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59C41-FB24-1070-C874-301FE8EE7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863024" cy="5527627"/>
          </a:xfrm>
        </p:spPr>
        <p:txBody>
          <a:bodyPr/>
          <a:lstStyle/>
          <a:p>
            <a:r>
              <a:rPr lang="en-US" b="1" dirty="0"/>
              <a:t>Public Access Modifier:</a:t>
            </a:r>
          </a:p>
          <a:p>
            <a:pPr lvl="1"/>
            <a:r>
              <a:rPr lang="en-US" dirty="0"/>
              <a:t>The members of a class that are declared public, are </a:t>
            </a:r>
            <a:r>
              <a:rPr lang="en-US" b="1" dirty="0"/>
              <a:t>accessible from any part of the program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All attributes and methods of a class are </a:t>
            </a:r>
            <a:r>
              <a:rPr lang="en-US" b="1" dirty="0"/>
              <a:t>public by default</a:t>
            </a:r>
            <a:r>
              <a:rPr lang="en-US" dirty="0"/>
              <a:t>.</a:t>
            </a:r>
          </a:p>
          <a:p>
            <a:r>
              <a:rPr lang="en-US" b="1" dirty="0"/>
              <a:t>Private Access Modifier:</a:t>
            </a:r>
          </a:p>
          <a:p>
            <a:pPr lvl="1"/>
            <a:r>
              <a:rPr lang="en-US" dirty="0"/>
              <a:t>The members of a class that are declared private, are accessible </a:t>
            </a:r>
            <a:r>
              <a:rPr lang="en-US" b="1" dirty="0"/>
              <a:t>within the class only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 members of a class are declared private, by adding a </a:t>
            </a:r>
            <a:r>
              <a:rPr lang="en-US" b="1" dirty="0"/>
              <a:t>double underscore ‘__’ symbol </a:t>
            </a:r>
            <a:r>
              <a:rPr lang="en-US" dirty="0"/>
              <a:t>before the data member name.</a:t>
            </a:r>
          </a:p>
          <a:p>
            <a:pPr lvl="1"/>
            <a:r>
              <a:rPr lang="en-US" dirty="0"/>
              <a:t>Python does </a:t>
            </a:r>
            <a:r>
              <a:rPr lang="en-US" b="1" dirty="0"/>
              <a:t>not make variables truly private, </a:t>
            </a:r>
            <a:r>
              <a:rPr lang="en-US" dirty="0"/>
              <a:t>Instead, it </a:t>
            </a:r>
            <a:r>
              <a:rPr lang="en-US" b="1" dirty="0"/>
              <a:t>renames the variable internally this is called name mangling.</a:t>
            </a:r>
          </a:p>
          <a:p>
            <a:pPr lvl="1"/>
            <a:r>
              <a:rPr lang="en-US" b="1" dirty="0"/>
              <a:t>For Example, </a:t>
            </a:r>
            <a:r>
              <a:rPr lang="en-IN" dirty="0"/>
              <a:t>__salary attribute of Employee can directly can’t be accessed outside the class, but can be accessed using _</a:t>
            </a:r>
            <a:r>
              <a:rPr lang="en-IN" dirty="0" err="1"/>
              <a:t>Employee__salary</a:t>
            </a:r>
            <a:endParaRPr lang="en-US" b="1" dirty="0"/>
          </a:p>
          <a:p>
            <a:r>
              <a:rPr lang="en-US" b="1" dirty="0"/>
              <a:t>Protected Access Modifier:</a:t>
            </a:r>
          </a:p>
          <a:p>
            <a:pPr lvl="1"/>
            <a:r>
              <a:rPr lang="en-US" dirty="0"/>
              <a:t>The members of a class that are declared protected, are </a:t>
            </a:r>
            <a:r>
              <a:rPr lang="en-US" b="1" dirty="0"/>
              <a:t>only accessible inside the class and to a class derived from it(child class)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 members of a class are declared protected, by adding a </a:t>
            </a:r>
            <a:r>
              <a:rPr lang="en-US" b="1" dirty="0"/>
              <a:t>single underscore ‘_’ symbol </a:t>
            </a:r>
            <a:r>
              <a:rPr lang="en-US" dirty="0"/>
              <a:t>before the data member name.</a:t>
            </a:r>
          </a:p>
        </p:txBody>
      </p:sp>
    </p:spTree>
    <p:extLst>
      <p:ext uri="{BB962C8B-B14F-4D97-AF65-F5344CB8AC3E}">
        <p14:creationId xmlns:p14="http://schemas.microsoft.com/office/powerpoint/2010/main" val="228830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54CB-8C28-0849-AF3E-C3207D22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Access Modifiers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AB01C-5D07-2046-8BAE-B9DA07CFCB38}"/>
              </a:ext>
            </a:extLst>
          </p:cNvPr>
          <p:cNvSpPr/>
          <p:nvPr/>
        </p:nvSpPr>
        <p:spPr>
          <a:xfrm>
            <a:off x="699232" y="1204977"/>
            <a:ext cx="7575524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self,d,m,y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d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Private 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m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Private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y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Private</a:t>
            </a:r>
          </a:p>
          <a:p>
            <a:pPr lvl="2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#Private 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displaydate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"{}-{}-{}"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.format(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.__d,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.__m,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Public 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self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.__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displaydate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y1 = Date(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2022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y1.display()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y1.__displaydate()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#AttributeError :  object has no attribute ‘__</a:t>
            </a:r>
            <a:r>
              <a:rPr lang="en-IN" sz="1600" dirty="0" err="1">
                <a:solidFill>
                  <a:srgbClr val="008000"/>
                </a:solidFill>
                <a:latin typeface="Menlo" panose="020B0609030804020204" pitchFamily="49" charset="0"/>
              </a:rPr>
              <a:t>displaydate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’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y1.__m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#AttributeError : object has no attribute ‘__m’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0B562-746C-064D-AF1F-ECB007EFF267}"/>
              </a:ext>
            </a:extLst>
          </p:cNvPr>
          <p:cNvSpPr/>
          <p:nvPr/>
        </p:nvSpPr>
        <p:spPr>
          <a:xfrm>
            <a:off x="199239" y="1204977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AF1C1A0-7944-3D48-AEFB-581615D90CF0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67913-5749-0E47-8638-0E91F9DFC11E}"/>
              </a:ext>
            </a:extLst>
          </p:cNvPr>
          <p:cNvSpPr/>
          <p:nvPr/>
        </p:nvSpPr>
        <p:spPr>
          <a:xfrm>
            <a:off x="8918222" y="1204977"/>
            <a:ext cx="2370532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/>
              <a:t>10-10-2022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85CF754-7F34-884D-9D16-D7FD0CC5D97F}"/>
              </a:ext>
            </a:extLst>
          </p:cNvPr>
          <p:cNvSpPr/>
          <p:nvPr/>
        </p:nvSpPr>
        <p:spPr>
          <a:xfrm>
            <a:off x="8918222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81683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F0464-BB93-3A5C-BB2A-C82B5CE0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3CBBA7-3067-58DF-FA1B-D1443F44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EC7B7-2BDA-79CE-B071-460BEACF5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154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F89C-AFDD-61FE-D209-A9FFD776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E64B1-DC63-9FD4-52AD-C0DD89D17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17365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We can classify the methods in the following 3 types: </a:t>
            </a:r>
          </a:p>
          <a:p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Instance methods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Instance methods are bound to instances and hence called as: </a:t>
            </a:r>
            <a:r>
              <a:rPr lang="en-IN" b="0" i="0" u="none" strike="noStrike" dirty="0" err="1">
                <a:solidFill>
                  <a:srgbClr val="C62827"/>
                </a:solidFill>
                <a:effectLst/>
              </a:rPr>
              <a:t>instancename.method</a:t>
            </a:r>
            <a:r>
              <a:rPr lang="en-IN" b="0" i="0" u="none" strike="noStrike" dirty="0">
                <a:solidFill>
                  <a:srgbClr val="C62827"/>
                </a:solidFill>
                <a:effectLst/>
              </a:rPr>
              <a:t>(). 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The purpose of instance methods is to </a:t>
            </a:r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set or get details about instances </a:t>
            </a:r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(objects), and that is why they’re known as instance methods.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They have </a:t>
            </a:r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one default parameter- self</a:t>
            </a:r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, which points to an instance of the class. 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Although you don’t have to pass that every time. You can change the name of this parameter but it is better to stick to the convention </a:t>
            </a:r>
            <a:r>
              <a:rPr lang="en-IN" b="0" i="0" u="none" strike="noStrike" dirty="0" err="1">
                <a:solidFill>
                  <a:srgbClr val="222222"/>
                </a:solidFill>
                <a:effectLst/>
              </a:rPr>
              <a:t>i.e</a:t>
            </a:r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 self.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In order to call an instance method, you’ve to create an object/instance of the class. With the help of this object, you can access any method of the class.</a:t>
            </a:r>
          </a:p>
          <a:p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Class methods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These methods act on class level. 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Class methods are the methods which act on the class variables.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These methods are written using </a:t>
            </a:r>
            <a:r>
              <a:rPr lang="en-IN" b="1" i="0" u="none" strike="noStrike" dirty="0">
                <a:solidFill>
                  <a:srgbClr val="C62827"/>
                </a:solidFill>
                <a:effectLst/>
              </a:rPr>
              <a:t>@</a:t>
            </a:r>
            <a:r>
              <a:rPr lang="en-IN" b="1" i="0" u="none" strike="noStrike" dirty="0" err="1">
                <a:solidFill>
                  <a:srgbClr val="C62827"/>
                </a:solidFill>
                <a:effectLst/>
              </a:rPr>
              <a:t>classmethod</a:t>
            </a:r>
            <a:r>
              <a:rPr lang="en-IN" b="1" i="0" u="none" strike="noStrike" dirty="0">
                <a:solidFill>
                  <a:srgbClr val="C62827"/>
                </a:solidFill>
                <a:effectLst/>
              </a:rPr>
              <a:t> </a:t>
            </a:r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decorator </a:t>
            </a:r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above them. </a:t>
            </a:r>
          </a:p>
          <a:p>
            <a:pPr marL="457200" lvl="1" indent="0">
              <a:buNone/>
            </a:pPr>
            <a:endParaRPr lang="en-IN" b="0" i="0" u="none" strike="noStrike" dirty="0">
              <a:solidFill>
                <a:srgbClr val="22222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4612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E5C4-A1FD-0DDC-D3AF-311BD5DE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86DC-0CD3-CFC8-7049-68F831894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Class methods:</a:t>
            </a:r>
          </a:p>
          <a:p>
            <a:pPr lvl="1"/>
            <a:r>
              <a:rPr lang="en-US" dirty="0"/>
              <a:t>By default, </a:t>
            </a:r>
            <a:r>
              <a:rPr lang="en-US" b="1" dirty="0"/>
              <a:t>the first parameter for class methods is “</a:t>
            </a:r>
            <a:r>
              <a:rPr lang="en-US" b="1" dirty="0" err="1"/>
              <a:t>cls</a:t>
            </a:r>
            <a:r>
              <a:rPr lang="en-US" b="1" dirty="0"/>
              <a:t>” </a:t>
            </a:r>
            <a:r>
              <a:rPr lang="en-US" dirty="0"/>
              <a:t>which refers to the class itself. </a:t>
            </a:r>
          </a:p>
          <a:p>
            <a:pPr lvl="1"/>
            <a:r>
              <a:rPr lang="en-US" dirty="0"/>
              <a:t>Without creating an instance of the class, you can call the class method with –</a:t>
            </a:r>
            <a:r>
              <a:rPr lang="en-US" dirty="0">
                <a:solidFill>
                  <a:srgbClr val="C62827"/>
                </a:solidFill>
              </a:rPr>
              <a:t> </a:t>
            </a:r>
            <a:r>
              <a:rPr lang="en-US" dirty="0" err="1">
                <a:solidFill>
                  <a:srgbClr val="C62827"/>
                </a:solidFill>
              </a:rPr>
              <a:t>Class_name.Method_name</a:t>
            </a:r>
            <a:r>
              <a:rPr lang="en-US" dirty="0">
                <a:solidFill>
                  <a:srgbClr val="C62827"/>
                </a:solidFill>
              </a:rPr>
              <a:t>().</a:t>
            </a:r>
          </a:p>
          <a:p>
            <a:r>
              <a:rPr lang="en-US" b="1" dirty="0"/>
              <a:t>Static methods:</a:t>
            </a:r>
          </a:p>
          <a:p>
            <a:pPr lvl="1"/>
            <a:r>
              <a:rPr lang="en-US" dirty="0"/>
              <a:t>Static methods can not access the class data.</a:t>
            </a:r>
          </a:p>
          <a:p>
            <a:pPr lvl="1"/>
            <a:r>
              <a:rPr lang="en-US" dirty="0"/>
              <a:t>They are self-sufficient and can work on their own. </a:t>
            </a:r>
          </a:p>
          <a:p>
            <a:pPr lvl="1"/>
            <a:r>
              <a:rPr lang="en-US" dirty="0"/>
              <a:t>They can not get or set the instance state or class state.</a:t>
            </a:r>
          </a:p>
          <a:p>
            <a:pPr lvl="1"/>
            <a:r>
              <a:rPr lang="en-US" dirty="0"/>
              <a:t>In order to define a static method, we can use the </a:t>
            </a:r>
            <a:r>
              <a:rPr lang="en-US" b="1" dirty="0">
                <a:solidFill>
                  <a:srgbClr val="FF0000"/>
                </a:solidFill>
              </a:rPr>
              <a:t>@</a:t>
            </a:r>
            <a:r>
              <a:rPr lang="en-US" b="1" dirty="0" err="1">
                <a:solidFill>
                  <a:srgbClr val="FF0000"/>
                </a:solidFill>
              </a:rPr>
              <a:t>staticmethod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decorator </a:t>
            </a:r>
          </a:p>
          <a:p>
            <a:pPr lvl="1"/>
            <a:r>
              <a:rPr lang="en-US" dirty="0"/>
              <a:t>We do not need to pass any special or default parameters.</a:t>
            </a:r>
          </a:p>
          <a:p>
            <a:pPr lvl="1"/>
            <a:r>
              <a:rPr lang="en-US" dirty="0"/>
              <a:t>We </a:t>
            </a:r>
            <a:r>
              <a:rPr lang="en-US" b="1" dirty="0"/>
              <a:t>can call them using object/instance of the class or class name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13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BAD6-F79C-E25F-744E-7B303436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3F399-210C-71DE-57A2-F666ED68F97A}"/>
              </a:ext>
            </a:extLst>
          </p:cNvPr>
          <p:cNvSpPr/>
          <p:nvPr/>
        </p:nvSpPr>
        <p:spPr>
          <a:xfrm>
            <a:off x="699232" y="1204977"/>
            <a:ext cx="5396768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Student: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firstname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"”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#Instance Methods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method1(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self,lname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.lastname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lname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D81A6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D81A60"/>
                </a:solidFill>
                <a:latin typeface="Menlo" panose="020B0609030804020204" pitchFamily="49" charset="0"/>
              </a:rPr>
              <a:t>classmethod</a:t>
            </a:r>
            <a:r>
              <a:rPr lang="en-IN" sz="1600" dirty="0">
                <a:solidFill>
                  <a:srgbClr val="D81A60"/>
                </a:solidFill>
                <a:latin typeface="Menlo" panose="020B0609030804020204" pitchFamily="49" charset="0"/>
              </a:rPr>
              <a:t>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classMethod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cls,fname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cls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.firstname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fname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D81A6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D81A60"/>
                </a:solidFill>
                <a:latin typeface="Menlo" panose="020B0609030804020204" pitchFamily="49" charset="0"/>
              </a:rPr>
              <a:t>staticmethod</a:t>
            </a:r>
            <a:r>
              <a:rPr lang="en-IN" sz="1600" dirty="0">
                <a:solidFill>
                  <a:srgbClr val="D81A60"/>
                </a:solidFill>
                <a:latin typeface="Menlo" panose="020B0609030804020204" pitchFamily="49" charset="0"/>
              </a:rPr>
              <a:t>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staticMethod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(x):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print(x)</a:t>
            </a:r>
          </a:p>
          <a:p>
            <a:pPr lvl="1"/>
            <a:endParaRPr lang="en-IN" sz="1600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#Instance Methods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printData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.firstname,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.lastname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57F84-B328-A8B8-37DB-82472B4B6A50}"/>
              </a:ext>
            </a:extLst>
          </p:cNvPr>
          <p:cNvSpPr/>
          <p:nvPr/>
        </p:nvSpPr>
        <p:spPr>
          <a:xfrm>
            <a:off x="199239" y="1204977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A13E72B-158E-41BE-0337-A14E90AE5B8D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70A0F2-CD79-4DF0-5E15-1B13D87D8FAC}"/>
              </a:ext>
            </a:extLst>
          </p:cNvPr>
          <p:cNvSpPr/>
          <p:nvPr/>
        </p:nvSpPr>
        <p:spPr>
          <a:xfrm>
            <a:off x="6348101" y="3056256"/>
            <a:ext cx="237053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/>
              <a:t>Hello </a:t>
            </a:r>
          </a:p>
          <a:p>
            <a:r>
              <a:rPr lang="en-IN" sz="1600" dirty="0"/>
              <a:t>Ajay Mehta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03D8168-D92C-6AAC-2BFC-BE2E273D8312}"/>
              </a:ext>
            </a:extLst>
          </p:cNvPr>
          <p:cNvSpPr/>
          <p:nvPr/>
        </p:nvSpPr>
        <p:spPr>
          <a:xfrm>
            <a:off x="6348101" y="272707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290AF3-5DCC-F9EA-B694-5140444CF2DE}"/>
              </a:ext>
            </a:extLst>
          </p:cNvPr>
          <p:cNvSpPr/>
          <p:nvPr/>
        </p:nvSpPr>
        <p:spPr>
          <a:xfrm>
            <a:off x="6847211" y="1204977"/>
            <a:ext cx="492568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s1 = Student()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s1.method1(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 Mehta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Student.classMethod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“Ajay"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Student.staticMethod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“Hello"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s1.printData()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3EE462-A3D3-1781-833D-72E3F9B16EB2}"/>
              </a:ext>
            </a:extLst>
          </p:cNvPr>
          <p:cNvSpPr/>
          <p:nvPr/>
        </p:nvSpPr>
        <p:spPr>
          <a:xfrm>
            <a:off x="6347218" y="120497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62BDAFF0-B3C8-810A-5E1B-12DE8924737C}"/>
              </a:ext>
            </a:extLst>
          </p:cNvPr>
          <p:cNvSpPr/>
          <p:nvPr/>
        </p:nvSpPr>
        <p:spPr>
          <a:xfrm>
            <a:off x="6347218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86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11" grpId="0" build="p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984B-EF98-1B07-862A-875553A4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Object as function Arguments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823AA-0305-E9E2-E2EA-6C34C1FCDF3D}"/>
              </a:ext>
            </a:extLst>
          </p:cNvPr>
          <p:cNvSpPr/>
          <p:nvPr/>
        </p:nvSpPr>
        <p:spPr>
          <a:xfrm>
            <a:off x="699232" y="1204977"/>
            <a:ext cx="5396768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Time: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#Constructor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self,h,m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h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m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#add Two Time Objects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addTime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(self,t1,t2):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t1.h + t2.h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t1.m + t2.m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Display Time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displayTime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.h,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t1 = Time(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t2 = Time(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t3 = Time(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C08E6-87B6-E261-48D6-C1071A02BA20}"/>
              </a:ext>
            </a:extLst>
          </p:cNvPr>
          <p:cNvSpPr/>
          <p:nvPr/>
        </p:nvSpPr>
        <p:spPr>
          <a:xfrm>
            <a:off x="199239" y="1204977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3CF1CD51-284D-32F2-8D26-38146EE88DDA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A76F9-5D0C-C5DB-7BEB-5A4A9892767F}"/>
              </a:ext>
            </a:extLst>
          </p:cNvPr>
          <p:cNvSpPr/>
          <p:nvPr/>
        </p:nvSpPr>
        <p:spPr>
          <a:xfrm>
            <a:off x="6347218" y="2775971"/>
            <a:ext cx="237053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/>
              <a:t>4 4 </a:t>
            </a:r>
          </a:p>
          <a:p>
            <a:r>
              <a:rPr lang="en-IN" sz="1600" dirty="0"/>
              <a:t>3 2 </a:t>
            </a:r>
          </a:p>
          <a:p>
            <a:r>
              <a:rPr lang="en-IN" sz="1600" dirty="0"/>
              <a:t>7 6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7209B3E-F4A5-563E-12C1-A93EEDD76D7D}"/>
              </a:ext>
            </a:extLst>
          </p:cNvPr>
          <p:cNvSpPr/>
          <p:nvPr/>
        </p:nvSpPr>
        <p:spPr>
          <a:xfrm>
            <a:off x="6347218" y="244678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D11C3-42AA-6577-61EA-584141431A1D}"/>
              </a:ext>
            </a:extLst>
          </p:cNvPr>
          <p:cNvSpPr/>
          <p:nvPr/>
        </p:nvSpPr>
        <p:spPr>
          <a:xfrm>
            <a:off x="6847211" y="1204977"/>
            <a:ext cx="492568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t3.addTime(t1,t2)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t1.displayTime()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t2.displayTime()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t3.displayTime()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3E4BA-485C-347C-0C38-4390D9F08FB2}"/>
              </a:ext>
            </a:extLst>
          </p:cNvPr>
          <p:cNvSpPr/>
          <p:nvPr/>
        </p:nvSpPr>
        <p:spPr>
          <a:xfrm>
            <a:off x="6347218" y="120497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C4ADA35A-A0E8-2C6D-EDDF-29D314025737}"/>
              </a:ext>
            </a:extLst>
          </p:cNvPr>
          <p:cNvSpPr/>
          <p:nvPr/>
        </p:nvSpPr>
        <p:spPr>
          <a:xfrm>
            <a:off x="6347218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25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2EE0D-18ED-241C-A769-9E7552DF3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8661-EDEE-4CAF-6A10-0E4C0708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Inheritance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1DA07-9D8E-6D96-56FA-93706516B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Inheritance is a feature of OOP that allows a class to </a:t>
            </a:r>
            <a:r>
              <a:rPr lang="en-IN" b="1" dirty="0"/>
              <a:t>inherit attributes and methods from another class</a:t>
            </a:r>
            <a:r>
              <a:rPr lang="en-IN" dirty="0"/>
              <a:t>.</a:t>
            </a:r>
          </a:p>
          <a:p>
            <a:r>
              <a:rPr lang="en-IN" dirty="0"/>
              <a:t>A class from which features are derived, is called Parent Class (Base Class).</a:t>
            </a:r>
          </a:p>
          <a:p>
            <a:r>
              <a:rPr lang="en-IN" dirty="0"/>
              <a:t>A class who derives features, is called Child Class (Derived Class).</a:t>
            </a:r>
            <a:endParaRPr lang="en-US" dirty="0"/>
          </a:p>
          <a:p>
            <a:r>
              <a:rPr lang="en-US" dirty="0"/>
              <a:t>This helps in </a:t>
            </a:r>
            <a:r>
              <a:rPr lang="en-US" b="1" dirty="0"/>
              <a:t>code reusability</a:t>
            </a:r>
            <a:r>
              <a:rPr lang="en-US" dirty="0"/>
              <a:t>, as we can create a class having the same attributes and methods without rewriting the existing code.</a:t>
            </a:r>
          </a:p>
          <a:p>
            <a:r>
              <a:rPr lang="en-IN" dirty="0"/>
              <a:t>It represents real-world relationships.</a:t>
            </a:r>
            <a:endParaRPr lang="en-US" dirty="0"/>
          </a:p>
          <a:p>
            <a:r>
              <a:rPr lang="en-US" dirty="0"/>
              <a:t>Inheritance defines </a:t>
            </a:r>
            <a:r>
              <a:rPr lang="en-US" b="1" dirty="0"/>
              <a:t>IS-A </a:t>
            </a:r>
            <a:r>
              <a:rPr lang="en-US" dirty="0"/>
              <a:t>relationship between a </a:t>
            </a:r>
            <a:r>
              <a:rPr lang="en-US" b="1" dirty="0"/>
              <a:t>Parent class </a:t>
            </a:r>
            <a:r>
              <a:rPr lang="en-US" dirty="0"/>
              <a:t>and its </a:t>
            </a:r>
            <a:r>
              <a:rPr lang="en-US" b="1" dirty="0"/>
              <a:t>Child class</a:t>
            </a:r>
            <a:r>
              <a:rPr lang="en-US" dirty="0"/>
              <a:t>. </a:t>
            </a:r>
          </a:p>
          <a:p>
            <a:r>
              <a:rPr lang="en-IN" dirty="0"/>
              <a:t>It is </a:t>
            </a:r>
            <a:r>
              <a:rPr lang="en-IN" b="1" dirty="0"/>
              <a:t>transitive</a:t>
            </a:r>
            <a:r>
              <a:rPr lang="en-IN" dirty="0"/>
              <a:t> in nature.</a:t>
            </a:r>
          </a:p>
          <a:p>
            <a:pPr lvl="1"/>
            <a:r>
              <a:rPr lang="en-IN" dirty="0"/>
              <a:t>For example : Multilevel Inheritance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89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84314-768E-E34E-8611-45C06488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689D1-2563-2748-80DF-88B06BF65EB3}"/>
              </a:ext>
            </a:extLst>
          </p:cNvPr>
          <p:cNvSpPr/>
          <p:nvPr/>
        </p:nvSpPr>
        <p:spPr>
          <a:xfrm>
            <a:off x="424543" y="1859339"/>
            <a:ext cx="3657600" cy="3139321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A {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latin typeface="Consolas"/>
              </a:rPr>
              <a:t>	// code</a:t>
            </a:r>
          </a:p>
          <a:p>
            <a:r>
              <a:rPr lang="en-US" dirty="0"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A{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latin typeface="Consolas"/>
              </a:rPr>
              <a:t>	// code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3B02B-8776-6F4B-91F8-ACB35CE2CF9D}"/>
              </a:ext>
            </a:extLst>
          </p:cNvPr>
          <p:cNvSpPr txBox="1"/>
          <p:nvPr/>
        </p:nvSpPr>
        <p:spPr>
          <a:xfrm>
            <a:off x="424543" y="1325939"/>
            <a:ext cx="10992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Syntax :</a:t>
            </a:r>
            <a:endParaRPr lang="en-US" sz="22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A1F9C2-6B21-8845-9D76-CD9039F87E6C}"/>
              </a:ext>
            </a:extLst>
          </p:cNvPr>
          <p:cNvSpPr/>
          <p:nvPr/>
        </p:nvSpPr>
        <p:spPr>
          <a:xfrm>
            <a:off x="4901338" y="1756826"/>
            <a:ext cx="4231511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	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8AC46143-2322-8047-94EF-519A03D6A605}"/>
              </a:ext>
            </a:extLst>
          </p:cNvPr>
          <p:cNvSpPr/>
          <p:nvPr/>
        </p:nvSpPr>
        <p:spPr>
          <a:xfrm>
            <a:off x="4901339" y="1427642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258803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 uiExpand="1" build="p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5C58-C5EA-C949-B338-B94BE2B6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99AF6-97C1-494A-A594-B445EA3135FB}"/>
              </a:ext>
            </a:extLst>
          </p:cNvPr>
          <p:cNvSpPr/>
          <p:nvPr/>
        </p:nvSpPr>
        <p:spPr>
          <a:xfrm>
            <a:off x="699232" y="1204977"/>
            <a:ext cx="3482475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Parent():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first(self):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'Parent Class’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IN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Child(Parent):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second(self):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'Child Class’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Child()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ob.first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ob.second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099B4-8A19-E54A-808C-E46817B854C0}"/>
              </a:ext>
            </a:extLst>
          </p:cNvPr>
          <p:cNvSpPr/>
          <p:nvPr/>
        </p:nvSpPr>
        <p:spPr>
          <a:xfrm>
            <a:off x="199239" y="1204977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9C42E30-B13F-464A-851C-4F9B6A3E1C50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C1DEFD-3DB6-FB47-BDDC-F06AC6288186}"/>
              </a:ext>
            </a:extLst>
          </p:cNvPr>
          <p:cNvSpPr/>
          <p:nvPr/>
        </p:nvSpPr>
        <p:spPr>
          <a:xfrm>
            <a:off x="199239" y="4625505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Parent Class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Child Class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AE84C30-8C9D-3449-87D9-282BD2F7C137}"/>
              </a:ext>
            </a:extLst>
          </p:cNvPr>
          <p:cNvSpPr/>
          <p:nvPr/>
        </p:nvSpPr>
        <p:spPr>
          <a:xfrm>
            <a:off x="199239" y="429632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5D4801-D456-4D4B-9721-2B7DA960202B}"/>
              </a:ext>
            </a:extLst>
          </p:cNvPr>
          <p:cNvSpPr/>
          <p:nvPr/>
        </p:nvSpPr>
        <p:spPr>
          <a:xfrm>
            <a:off x="4921828" y="1204977"/>
            <a:ext cx="7166094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Person: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Self,fName,lName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2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Self.firstName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Self.lastName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displayPerson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.firstName,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.lastName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Student(Person):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__(Self,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lName,gYear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Self.graduateYear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gYear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Person.__</a:t>
            </a:r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Self,fName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displayStudent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.firstName,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.lastName,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.graduateYear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Student(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"Ajay"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"Mehta"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"2024"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ob.displayStudent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5F20BD-2D62-1C41-B520-6C04B2A9A21E}"/>
              </a:ext>
            </a:extLst>
          </p:cNvPr>
          <p:cNvSpPr/>
          <p:nvPr/>
        </p:nvSpPr>
        <p:spPr>
          <a:xfrm>
            <a:off x="4421836" y="1204977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C9115ACA-E4F8-8A42-AB77-BC89F48DC1A3}"/>
              </a:ext>
            </a:extLst>
          </p:cNvPr>
          <p:cNvSpPr/>
          <p:nvPr/>
        </p:nvSpPr>
        <p:spPr>
          <a:xfrm>
            <a:off x="4421836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80302A-7AD1-CD43-8C00-84778FA0A553}"/>
              </a:ext>
            </a:extLst>
          </p:cNvPr>
          <p:cNvSpPr/>
          <p:nvPr/>
        </p:nvSpPr>
        <p:spPr>
          <a:xfrm>
            <a:off x="4421836" y="6146799"/>
            <a:ext cx="45384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Ajay Mehta 2024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84A77F16-71B8-5043-9DC1-8DEB2EE41398}"/>
              </a:ext>
            </a:extLst>
          </p:cNvPr>
          <p:cNvSpPr/>
          <p:nvPr/>
        </p:nvSpPr>
        <p:spPr>
          <a:xfrm>
            <a:off x="4421836" y="581761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76364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uiExpand="1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660-CB08-524B-94EF-01BE14B7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CD78-D029-0849-BAFD-DA98435CE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Single:</a:t>
            </a:r>
          </a:p>
          <a:p>
            <a:pPr lvl="1"/>
            <a:r>
              <a:rPr lang="en-IN" dirty="0"/>
              <a:t>When a child class inherits only a single parent class.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US" dirty="0"/>
              <a:t>Multilevel:</a:t>
            </a:r>
          </a:p>
          <a:p>
            <a:pPr lvl="1"/>
            <a:r>
              <a:rPr lang="en-IN" dirty="0"/>
              <a:t>When a child class becomes a parent class for another child class.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81A02-DA6A-4849-80B2-99613593A816}"/>
              </a:ext>
            </a:extLst>
          </p:cNvPr>
          <p:cNvSpPr/>
          <p:nvPr/>
        </p:nvSpPr>
        <p:spPr>
          <a:xfrm>
            <a:off x="6951279" y="863444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EBEBB-F045-7246-904F-A0D0DF5E3BFB}"/>
              </a:ext>
            </a:extLst>
          </p:cNvPr>
          <p:cNvSpPr/>
          <p:nvPr/>
        </p:nvSpPr>
        <p:spPr>
          <a:xfrm>
            <a:off x="6951279" y="2126668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A51668-482D-6541-995A-9ACB28B950E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7358299" y="1499064"/>
            <a:ext cx="0" cy="627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AC45E96-442F-DF49-B849-67D6A343E1FA}"/>
              </a:ext>
            </a:extLst>
          </p:cNvPr>
          <p:cNvSpPr/>
          <p:nvPr/>
        </p:nvSpPr>
        <p:spPr>
          <a:xfrm>
            <a:off x="8298743" y="1192628"/>
            <a:ext cx="3893257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	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686E3A4D-EE17-F84C-90BC-50E3FECE1529}"/>
              </a:ext>
            </a:extLst>
          </p:cNvPr>
          <p:cNvSpPr/>
          <p:nvPr/>
        </p:nvSpPr>
        <p:spPr>
          <a:xfrm>
            <a:off x="8298744" y="863444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7F4C91-E85F-824D-94B9-1E65C845B4F4}"/>
              </a:ext>
            </a:extLst>
          </p:cNvPr>
          <p:cNvSpPr/>
          <p:nvPr/>
        </p:nvSpPr>
        <p:spPr>
          <a:xfrm>
            <a:off x="3334567" y="3813164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D41AAC-0936-664A-B661-1AEB0290AD97}"/>
              </a:ext>
            </a:extLst>
          </p:cNvPr>
          <p:cNvSpPr/>
          <p:nvPr/>
        </p:nvSpPr>
        <p:spPr>
          <a:xfrm>
            <a:off x="3334566" y="4890032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1BE696-1A62-F346-AE32-6F672298B645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3741586" y="4448784"/>
            <a:ext cx="1" cy="44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4848B51-21DC-1946-836B-989658AAFE02}"/>
              </a:ext>
            </a:extLst>
          </p:cNvPr>
          <p:cNvSpPr/>
          <p:nvPr/>
        </p:nvSpPr>
        <p:spPr>
          <a:xfrm>
            <a:off x="3334566" y="5946521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60EC13-2407-5841-A0D4-6DDC912E4312}"/>
              </a:ext>
            </a:extLst>
          </p:cNvPr>
          <p:cNvCxnSpPr>
            <a:stCxn id="17" idx="0"/>
          </p:cNvCxnSpPr>
          <p:nvPr/>
        </p:nvCxnSpPr>
        <p:spPr>
          <a:xfrm flipV="1">
            <a:off x="3741586" y="5505273"/>
            <a:ext cx="1" cy="44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F3CBB32-C754-544C-B722-3E54CF7D63BE}"/>
              </a:ext>
            </a:extLst>
          </p:cNvPr>
          <p:cNvSpPr/>
          <p:nvPr/>
        </p:nvSpPr>
        <p:spPr>
          <a:xfrm>
            <a:off x="4567028" y="4149089"/>
            <a:ext cx="3893257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Child1(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Child2(Child1):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 	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129AC0CC-B210-5E46-AC5C-F779A3843B2E}"/>
              </a:ext>
            </a:extLst>
          </p:cNvPr>
          <p:cNvSpPr/>
          <p:nvPr/>
        </p:nvSpPr>
        <p:spPr>
          <a:xfrm>
            <a:off x="4567029" y="3819905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62552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build="p" animBg="1"/>
      <p:bldP spid="11" grpId="0" animBg="1"/>
      <p:bldP spid="12" grpId="0" animBg="1"/>
      <p:bldP spid="13" grpId="0" animBg="1"/>
      <p:bldP spid="17" grpId="0" animBg="1"/>
      <p:bldP spid="19" grpId="0" build="p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660-CB08-524B-94EF-01BE14B7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Types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CD78-D029-0849-BAFD-DA98435CE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Multiple:</a:t>
            </a:r>
          </a:p>
          <a:p>
            <a:pPr lvl="1"/>
            <a:r>
              <a:rPr lang="en-IN" dirty="0"/>
              <a:t>When a child class inherits from more than </a:t>
            </a:r>
          </a:p>
          <a:p>
            <a:pPr marL="457200" lvl="1" indent="0">
              <a:buNone/>
            </a:pPr>
            <a:r>
              <a:rPr lang="en-IN" dirty="0"/>
              <a:t>       one parent class.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US" dirty="0"/>
              <a:t>Hierarchical :</a:t>
            </a:r>
          </a:p>
          <a:p>
            <a:pPr lvl="1"/>
            <a:r>
              <a:rPr lang="en-IN" dirty="0"/>
              <a:t>When a more then one chid is derived from parent class.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81A02-DA6A-4849-80B2-99613593A816}"/>
              </a:ext>
            </a:extLst>
          </p:cNvPr>
          <p:cNvSpPr/>
          <p:nvPr/>
        </p:nvSpPr>
        <p:spPr>
          <a:xfrm>
            <a:off x="5917580" y="917649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EBEBB-F045-7246-904F-A0D0DF5E3BFB}"/>
              </a:ext>
            </a:extLst>
          </p:cNvPr>
          <p:cNvSpPr/>
          <p:nvPr/>
        </p:nvSpPr>
        <p:spPr>
          <a:xfrm>
            <a:off x="6513656" y="2126668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A51668-482D-6541-995A-9ACB28B950E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H="1" flipV="1">
            <a:off x="6324600" y="1553269"/>
            <a:ext cx="596076" cy="57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AC45E96-442F-DF49-B849-67D6A343E1FA}"/>
              </a:ext>
            </a:extLst>
          </p:cNvPr>
          <p:cNvSpPr/>
          <p:nvPr/>
        </p:nvSpPr>
        <p:spPr>
          <a:xfrm>
            <a:off x="8298743" y="1192628"/>
            <a:ext cx="3893257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ParentClass1: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ParentClass2: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(ParentClass1, ParentClass2):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	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686E3A4D-EE17-F84C-90BC-50E3FECE1529}"/>
              </a:ext>
            </a:extLst>
          </p:cNvPr>
          <p:cNvSpPr/>
          <p:nvPr/>
        </p:nvSpPr>
        <p:spPr>
          <a:xfrm>
            <a:off x="8298744" y="863444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7F4C91-E85F-824D-94B9-1E65C845B4F4}"/>
              </a:ext>
            </a:extLst>
          </p:cNvPr>
          <p:cNvSpPr/>
          <p:nvPr/>
        </p:nvSpPr>
        <p:spPr>
          <a:xfrm>
            <a:off x="1784547" y="3831279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D41AAC-0936-664A-B661-1AEB0290AD97}"/>
              </a:ext>
            </a:extLst>
          </p:cNvPr>
          <p:cNvSpPr/>
          <p:nvPr/>
        </p:nvSpPr>
        <p:spPr>
          <a:xfrm>
            <a:off x="970859" y="4869653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1BE696-1A62-F346-AE32-6F672298B645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1377879" y="4466899"/>
            <a:ext cx="813688" cy="402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4848B51-21DC-1946-836B-989658AAFE02}"/>
              </a:ext>
            </a:extLst>
          </p:cNvPr>
          <p:cNvSpPr/>
          <p:nvPr/>
        </p:nvSpPr>
        <p:spPr>
          <a:xfrm>
            <a:off x="2752519" y="4908147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60EC13-2407-5841-A0D4-6DDC912E4312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H="1" flipV="1">
            <a:off x="2191567" y="4466899"/>
            <a:ext cx="967972" cy="44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F3CBB32-C754-544C-B722-3E54CF7D63BE}"/>
              </a:ext>
            </a:extLst>
          </p:cNvPr>
          <p:cNvSpPr/>
          <p:nvPr/>
        </p:nvSpPr>
        <p:spPr>
          <a:xfrm>
            <a:off x="4567028" y="4149089"/>
            <a:ext cx="3893257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Child1(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Child2(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 	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129AC0CC-B210-5E46-AC5C-F779A3843B2E}"/>
              </a:ext>
            </a:extLst>
          </p:cNvPr>
          <p:cNvSpPr/>
          <p:nvPr/>
        </p:nvSpPr>
        <p:spPr>
          <a:xfrm>
            <a:off x="4567029" y="3819905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CF7507-FC03-A64F-9A78-A160A990FCF3}"/>
              </a:ext>
            </a:extLst>
          </p:cNvPr>
          <p:cNvSpPr/>
          <p:nvPr/>
        </p:nvSpPr>
        <p:spPr>
          <a:xfrm>
            <a:off x="7077685" y="917650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21F767-588D-0D43-836A-34540DDCF465}"/>
              </a:ext>
            </a:extLst>
          </p:cNvPr>
          <p:cNvCxnSpPr>
            <a:cxnSpLocks/>
            <a:stCxn id="5" idx="0"/>
            <a:endCxn id="21" idx="2"/>
          </p:cNvCxnSpPr>
          <p:nvPr/>
        </p:nvCxnSpPr>
        <p:spPr>
          <a:xfrm flipV="1">
            <a:off x="6920676" y="1553270"/>
            <a:ext cx="564029" cy="573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24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uiExpand="1" build="p" animBg="1"/>
      <p:bldP spid="11" grpId="0" animBg="1"/>
      <p:bldP spid="12" grpId="0" animBg="1"/>
      <p:bldP spid="13" grpId="0" animBg="1"/>
      <p:bldP spid="17" grpId="0" animBg="1"/>
      <p:bldP spid="19" grpId="0" uiExpand="1" build="p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660-CB08-524B-94EF-01BE14B7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Types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CD78-D029-0849-BAFD-DA98435CE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Hybrid:</a:t>
            </a:r>
          </a:p>
          <a:p>
            <a:pPr lvl="1"/>
            <a:r>
              <a:rPr lang="en-IN" dirty="0"/>
              <a:t>This form combines more than one form of inheritance. Basically, it is a blend of more than one type of inheritance.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81A02-DA6A-4849-80B2-99613593A816}"/>
              </a:ext>
            </a:extLst>
          </p:cNvPr>
          <p:cNvSpPr/>
          <p:nvPr/>
        </p:nvSpPr>
        <p:spPr>
          <a:xfrm>
            <a:off x="547994" y="2148756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EBEBB-F045-7246-904F-A0D0DF5E3BFB}"/>
              </a:ext>
            </a:extLst>
          </p:cNvPr>
          <p:cNvSpPr/>
          <p:nvPr/>
        </p:nvSpPr>
        <p:spPr>
          <a:xfrm>
            <a:off x="1144070" y="3357775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A51668-482D-6541-995A-9ACB28B950E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H="1" flipV="1">
            <a:off x="955014" y="2784376"/>
            <a:ext cx="596076" cy="57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AC45E96-442F-DF49-B849-67D6A343E1FA}"/>
              </a:ext>
            </a:extLst>
          </p:cNvPr>
          <p:cNvSpPr/>
          <p:nvPr/>
        </p:nvSpPr>
        <p:spPr>
          <a:xfrm>
            <a:off x="3475608" y="1976744"/>
            <a:ext cx="4130927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ParentClass1: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ParentClass2: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ChildClass1(ParentClass1, ParentClass2):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ChildClass2(ChildClass1):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ChildClass3(ChildClass2):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686E3A4D-EE17-F84C-90BC-50E3FECE1529}"/>
              </a:ext>
            </a:extLst>
          </p:cNvPr>
          <p:cNvSpPr/>
          <p:nvPr/>
        </p:nvSpPr>
        <p:spPr>
          <a:xfrm>
            <a:off x="3475609" y="1647560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CF7507-FC03-A64F-9A78-A160A990FCF3}"/>
              </a:ext>
            </a:extLst>
          </p:cNvPr>
          <p:cNvSpPr/>
          <p:nvPr/>
        </p:nvSpPr>
        <p:spPr>
          <a:xfrm>
            <a:off x="1708099" y="2148757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21F767-588D-0D43-836A-34540DDCF465}"/>
              </a:ext>
            </a:extLst>
          </p:cNvPr>
          <p:cNvCxnSpPr>
            <a:cxnSpLocks/>
            <a:stCxn id="5" idx="0"/>
            <a:endCxn id="21" idx="2"/>
          </p:cNvCxnSpPr>
          <p:nvPr/>
        </p:nvCxnSpPr>
        <p:spPr>
          <a:xfrm flipV="1">
            <a:off x="1551090" y="2784377"/>
            <a:ext cx="564029" cy="573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98C8DDB-9AEA-B44B-8F39-9C7C5E6E21B7}"/>
              </a:ext>
            </a:extLst>
          </p:cNvPr>
          <p:cNvSpPr/>
          <p:nvPr/>
        </p:nvSpPr>
        <p:spPr>
          <a:xfrm>
            <a:off x="1128046" y="4535943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742CD2-D986-C14E-9320-63A0D8F1547F}"/>
              </a:ext>
            </a:extLst>
          </p:cNvPr>
          <p:cNvSpPr/>
          <p:nvPr/>
        </p:nvSpPr>
        <p:spPr>
          <a:xfrm>
            <a:off x="1098896" y="5580441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84FDC8-1CE9-9E45-81EF-09CFEAA70EE7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535065" y="3993395"/>
            <a:ext cx="16025" cy="57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018A70-1469-514F-9F23-E7320DE32D3A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1505915" y="5171563"/>
            <a:ext cx="29151" cy="43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08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uiExpand="1" build="p" animBg="1"/>
      <p:bldP spid="11" grpId="0" animBg="1"/>
      <p:bldP spid="21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B985-3AD5-274D-B16D-C29DAF17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77DDC-0F19-574E-A15B-651870DCF233}"/>
              </a:ext>
            </a:extLst>
          </p:cNvPr>
          <p:cNvSpPr/>
          <p:nvPr/>
        </p:nvSpPr>
        <p:spPr>
          <a:xfrm>
            <a:off x="699232" y="1204977"/>
            <a:ext cx="3482475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 = B()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BECF4-373F-2848-9BA8-FC0353F7E659}"/>
              </a:ext>
            </a:extLst>
          </p:cNvPr>
          <p:cNvSpPr/>
          <p:nvPr/>
        </p:nvSpPr>
        <p:spPr>
          <a:xfrm>
            <a:off x="199239" y="1204977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5912368-1A85-CC4C-9518-1A34929F5505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Single.py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71C39-77E9-D54A-9597-0028A3A33471}"/>
              </a:ext>
            </a:extLst>
          </p:cNvPr>
          <p:cNvSpPr/>
          <p:nvPr/>
        </p:nvSpPr>
        <p:spPr>
          <a:xfrm>
            <a:off x="199239" y="4625505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B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4B2C63C-E417-E84A-9AF2-A8D1EE3990FC}"/>
              </a:ext>
            </a:extLst>
          </p:cNvPr>
          <p:cNvSpPr/>
          <p:nvPr/>
        </p:nvSpPr>
        <p:spPr>
          <a:xfrm>
            <a:off x="199239" y="429632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9B61B-6CC7-E249-A219-A057352AFFE9}"/>
              </a:ext>
            </a:extLst>
          </p:cNvPr>
          <p:cNvSpPr/>
          <p:nvPr/>
        </p:nvSpPr>
        <p:spPr>
          <a:xfrm>
            <a:off x="4944129" y="1204977"/>
            <a:ext cx="3482475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C(B):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C"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 = C()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DEADF-717C-F04E-906C-F8A913344C5D}"/>
              </a:ext>
            </a:extLst>
          </p:cNvPr>
          <p:cNvSpPr/>
          <p:nvPr/>
        </p:nvSpPr>
        <p:spPr>
          <a:xfrm>
            <a:off x="4444136" y="1204977"/>
            <a:ext cx="499993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39FBB424-AB2C-0047-91B5-64524A48CFA3}"/>
              </a:ext>
            </a:extLst>
          </p:cNvPr>
          <p:cNvSpPr/>
          <p:nvPr/>
        </p:nvSpPr>
        <p:spPr>
          <a:xfrm>
            <a:off x="4444136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Multi.py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9AB90-1A1F-C04F-8925-9120E21DBDA8}"/>
              </a:ext>
            </a:extLst>
          </p:cNvPr>
          <p:cNvSpPr/>
          <p:nvPr/>
        </p:nvSpPr>
        <p:spPr>
          <a:xfrm>
            <a:off x="4444136" y="5653023"/>
            <a:ext cx="398246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C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8DFDBC2F-7E5D-E04A-9654-5B1E6888A9C5}"/>
              </a:ext>
            </a:extLst>
          </p:cNvPr>
          <p:cNvSpPr/>
          <p:nvPr/>
        </p:nvSpPr>
        <p:spPr>
          <a:xfrm>
            <a:off x="4444136" y="532383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2505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B985-3AD5-274D-B16D-C29DAF17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77DDC-0F19-574E-A15B-651870DCF233}"/>
              </a:ext>
            </a:extLst>
          </p:cNvPr>
          <p:cNvSpPr/>
          <p:nvPr/>
        </p:nvSpPr>
        <p:spPr>
          <a:xfrm>
            <a:off x="699232" y="1204977"/>
            <a:ext cx="3482475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C(A,B):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C"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 = C()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BECF4-373F-2848-9BA8-FC0353F7E659}"/>
              </a:ext>
            </a:extLst>
          </p:cNvPr>
          <p:cNvSpPr/>
          <p:nvPr/>
        </p:nvSpPr>
        <p:spPr>
          <a:xfrm>
            <a:off x="199239" y="1204977"/>
            <a:ext cx="499993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5912368-1A85-CC4C-9518-1A34929F5505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Multiple.py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71C39-77E9-D54A-9597-0028A3A33471}"/>
              </a:ext>
            </a:extLst>
          </p:cNvPr>
          <p:cNvSpPr/>
          <p:nvPr/>
        </p:nvSpPr>
        <p:spPr>
          <a:xfrm>
            <a:off x="199239" y="5730626"/>
            <a:ext cx="398246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C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4B2C63C-E417-E84A-9AF2-A8D1EE3990FC}"/>
              </a:ext>
            </a:extLst>
          </p:cNvPr>
          <p:cNvSpPr/>
          <p:nvPr/>
        </p:nvSpPr>
        <p:spPr>
          <a:xfrm>
            <a:off x="199239" y="540144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9B61B-6CC7-E249-A219-A057352AFFE9}"/>
              </a:ext>
            </a:extLst>
          </p:cNvPr>
          <p:cNvSpPr/>
          <p:nvPr/>
        </p:nvSpPr>
        <p:spPr>
          <a:xfrm>
            <a:off x="4944129" y="1204977"/>
            <a:ext cx="3597705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C(A):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C"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 = C()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object1.diplayA()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object1.diplayB()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object2.diplayA()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object2.diplayC()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DEADF-717C-F04E-906C-F8A913344C5D}"/>
              </a:ext>
            </a:extLst>
          </p:cNvPr>
          <p:cNvSpPr/>
          <p:nvPr/>
        </p:nvSpPr>
        <p:spPr>
          <a:xfrm>
            <a:off x="4444136" y="1204977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39FBB424-AB2C-0047-91B5-64524A48CFA3}"/>
              </a:ext>
            </a:extLst>
          </p:cNvPr>
          <p:cNvSpPr/>
          <p:nvPr/>
        </p:nvSpPr>
        <p:spPr>
          <a:xfrm>
            <a:off x="4444136" y="875793"/>
            <a:ext cx="16518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Hierarchical.py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9AB90-1A1F-C04F-8925-9120E21DBDA8}"/>
              </a:ext>
            </a:extLst>
          </p:cNvPr>
          <p:cNvSpPr/>
          <p:nvPr/>
        </p:nvSpPr>
        <p:spPr>
          <a:xfrm>
            <a:off x="8771035" y="1204977"/>
            <a:ext cx="317033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C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8DFDBC2F-7E5D-E04A-9654-5B1E6888A9C5}"/>
              </a:ext>
            </a:extLst>
          </p:cNvPr>
          <p:cNvSpPr/>
          <p:nvPr/>
        </p:nvSpPr>
        <p:spPr>
          <a:xfrm>
            <a:off x="8771035" y="875793"/>
            <a:ext cx="106644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6148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540E-DE69-6D48-B941-7EAF242E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Method Overriding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FF98-C6D2-2C40-AD16-C80703474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overriding allows a subclass or child class to </a:t>
            </a:r>
            <a:r>
              <a:rPr lang="en-US" dirty="0">
                <a:solidFill>
                  <a:schemeClr val="accent6"/>
                </a:solidFill>
              </a:rPr>
              <a:t>provide a specific implementation </a:t>
            </a:r>
            <a:r>
              <a:rPr lang="en-US" dirty="0"/>
              <a:t>of a method that is already provided by one of </a:t>
            </a:r>
            <a:r>
              <a:rPr lang="en-US" dirty="0">
                <a:solidFill>
                  <a:schemeClr val="accent6"/>
                </a:solidFill>
              </a:rPr>
              <a:t>its super-classes or parent classes</a:t>
            </a:r>
            <a:r>
              <a:rPr lang="en-US" dirty="0"/>
              <a:t>.</a:t>
            </a:r>
          </a:p>
          <a:p>
            <a:r>
              <a:rPr lang="en-US" dirty="0"/>
              <a:t>When a method in a subclass has the </a:t>
            </a:r>
            <a:r>
              <a:rPr lang="en-US" dirty="0">
                <a:solidFill>
                  <a:srgbClr val="C00000"/>
                </a:solidFill>
              </a:rPr>
              <a:t>same name, same parameters or signature and same return type(or sub-type)</a:t>
            </a:r>
            <a:r>
              <a:rPr lang="en-US" dirty="0"/>
              <a:t> as a method in its super-class, then the method in the subclass is said to override the method in the super-class.</a:t>
            </a:r>
          </a:p>
          <a:p>
            <a:r>
              <a:rPr lang="en-IN" dirty="0"/>
              <a:t>If an object of a </a:t>
            </a:r>
            <a:r>
              <a:rPr lang="en-IN" dirty="0">
                <a:solidFill>
                  <a:schemeClr val="accent6"/>
                </a:solidFill>
              </a:rPr>
              <a:t>parent class </a:t>
            </a:r>
            <a:r>
              <a:rPr lang="en-IN" dirty="0"/>
              <a:t>is used to invoke the method, then the version in the </a:t>
            </a:r>
            <a:r>
              <a:rPr lang="en-IN" dirty="0">
                <a:solidFill>
                  <a:schemeClr val="accent6"/>
                </a:solidFill>
              </a:rPr>
              <a:t>parent class </a:t>
            </a:r>
            <a:r>
              <a:rPr lang="en-IN" dirty="0"/>
              <a:t>will be executed.</a:t>
            </a:r>
          </a:p>
          <a:p>
            <a:r>
              <a:rPr lang="en-IN" dirty="0"/>
              <a:t>if an object of the </a:t>
            </a:r>
            <a:r>
              <a:rPr lang="en-IN" dirty="0">
                <a:solidFill>
                  <a:schemeClr val="accent6"/>
                </a:solidFill>
              </a:rPr>
              <a:t>subclass</a:t>
            </a:r>
            <a:r>
              <a:rPr lang="en-IN" dirty="0"/>
              <a:t> is used to invoke the method, then the version in the </a:t>
            </a:r>
            <a:r>
              <a:rPr lang="en-IN" dirty="0">
                <a:solidFill>
                  <a:schemeClr val="accent6"/>
                </a:solidFill>
              </a:rPr>
              <a:t>child class </a:t>
            </a:r>
            <a:r>
              <a:rPr lang="en-IN" dirty="0"/>
              <a:t>will be executed.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6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3991-8927-E44B-8A1C-DDDECAA7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0A2D01-B463-F940-9F31-567CEBD6B317}"/>
              </a:ext>
            </a:extLst>
          </p:cNvPr>
          <p:cNvSpPr/>
          <p:nvPr/>
        </p:nvSpPr>
        <p:spPr>
          <a:xfrm>
            <a:off x="803312" y="1343426"/>
            <a:ext cx="4426609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    # Method override by </a:t>
            </a:r>
            <a:r>
              <a:rPr lang="en-IN" sz="1600" dirty="0" err="1">
                <a:solidFill>
                  <a:srgbClr val="008000"/>
                </a:solidFill>
                <a:latin typeface="Menlo" panose="020B0609030804020204" pitchFamily="49" charset="0"/>
              </a:rPr>
              <a:t>Sublcass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object1.display()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60E05-58A9-7D4E-8B46-932A55C9DB06}"/>
              </a:ext>
            </a:extLst>
          </p:cNvPr>
          <p:cNvSpPr/>
          <p:nvPr/>
        </p:nvSpPr>
        <p:spPr>
          <a:xfrm>
            <a:off x="303320" y="1343426"/>
            <a:ext cx="499993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0D10328-C0FD-C24A-BEE1-311E3246465C}"/>
              </a:ext>
            </a:extLst>
          </p:cNvPr>
          <p:cNvSpPr/>
          <p:nvPr/>
        </p:nvSpPr>
        <p:spPr>
          <a:xfrm>
            <a:off x="303320" y="101424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41D0C-6D00-3B44-B7F7-F323B796FA60}"/>
              </a:ext>
            </a:extLst>
          </p:cNvPr>
          <p:cNvSpPr/>
          <p:nvPr/>
        </p:nvSpPr>
        <p:spPr>
          <a:xfrm>
            <a:off x="303320" y="5022639"/>
            <a:ext cx="398246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B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7B23863-C63E-914C-B155-7233FF3E8962}"/>
              </a:ext>
            </a:extLst>
          </p:cNvPr>
          <p:cNvSpPr/>
          <p:nvPr/>
        </p:nvSpPr>
        <p:spPr>
          <a:xfrm>
            <a:off x="303320" y="469345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A08C87-EF83-6144-955A-6DC42FCE81CD}"/>
              </a:ext>
            </a:extLst>
          </p:cNvPr>
          <p:cNvSpPr/>
          <p:nvPr/>
        </p:nvSpPr>
        <p:spPr>
          <a:xfrm>
            <a:off x="6096000" y="1343426"/>
            <a:ext cx="4426609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override by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Sublcass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A()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object1.display()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object2.display()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17E763-0C00-7B47-8676-E811DB9887DB}"/>
              </a:ext>
            </a:extLst>
          </p:cNvPr>
          <p:cNvSpPr/>
          <p:nvPr/>
        </p:nvSpPr>
        <p:spPr>
          <a:xfrm>
            <a:off x="5596008" y="1343426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15B1AF39-D9B4-684E-AC15-862BE760F7EF}"/>
              </a:ext>
            </a:extLst>
          </p:cNvPr>
          <p:cNvSpPr/>
          <p:nvPr/>
        </p:nvSpPr>
        <p:spPr>
          <a:xfrm>
            <a:off x="5596008" y="101424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E25A65-22AE-BD44-88DB-63C7206ECE94}"/>
              </a:ext>
            </a:extLst>
          </p:cNvPr>
          <p:cNvSpPr/>
          <p:nvPr/>
        </p:nvSpPr>
        <p:spPr>
          <a:xfrm>
            <a:off x="5596008" y="5376632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B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91DB730A-D962-3642-9E50-F10EAB0684C8}"/>
              </a:ext>
            </a:extLst>
          </p:cNvPr>
          <p:cNvSpPr/>
          <p:nvPr/>
        </p:nvSpPr>
        <p:spPr>
          <a:xfrm>
            <a:off x="5596008" y="504744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7620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uiExpand="1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E65B-DBA8-614E-9CCD-1757E77B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Calling the Parent’s method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B68A9-9205-4B46-9E5C-1C513DE1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Parent class methods can also be called within the overridden methods. This can generally be achieved by two ways.</a:t>
            </a:r>
          </a:p>
          <a:p>
            <a:r>
              <a:rPr lang="en-IN" b="1" dirty="0"/>
              <a:t>Using </a:t>
            </a:r>
            <a:r>
              <a:rPr lang="en-IN" b="1" dirty="0" err="1"/>
              <a:t>Classname</a:t>
            </a:r>
            <a:endParaRPr lang="en-IN" b="1" dirty="0"/>
          </a:p>
          <a:p>
            <a:pPr lvl="1"/>
            <a:r>
              <a:rPr lang="en-IN" dirty="0"/>
              <a:t>Parent’s class methods can be called by using the Parent </a:t>
            </a:r>
            <a:r>
              <a:rPr lang="en-IN" dirty="0" err="1"/>
              <a:t>classname.method</a:t>
            </a:r>
            <a:r>
              <a:rPr lang="en-IN" dirty="0"/>
              <a:t> inside the overridden method.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FCC06-1720-9E4A-A8C6-2148204369DE}"/>
              </a:ext>
            </a:extLst>
          </p:cNvPr>
          <p:cNvSpPr/>
          <p:nvPr/>
        </p:nvSpPr>
        <p:spPr>
          <a:xfrm>
            <a:off x="1483536" y="2947568"/>
            <a:ext cx="4426609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override by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Sublcass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2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#Calling Super Class Method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A.display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object1.display()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EE034-EAFB-A644-9A99-F1E09A74C7C3}"/>
              </a:ext>
            </a:extLst>
          </p:cNvPr>
          <p:cNvSpPr/>
          <p:nvPr/>
        </p:nvSpPr>
        <p:spPr>
          <a:xfrm>
            <a:off x="983544" y="2947568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B9D7457-EF5C-3741-9912-92E5843B911A}"/>
              </a:ext>
            </a:extLst>
          </p:cNvPr>
          <p:cNvSpPr/>
          <p:nvPr/>
        </p:nvSpPr>
        <p:spPr>
          <a:xfrm>
            <a:off x="983544" y="2618384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F7EA7-A394-7542-B02A-F939C59EDE66}"/>
              </a:ext>
            </a:extLst>
          </p:cNvPr>
          <p:cNvSpPr/>
          <p:nvPr/>
        </p:nvSpPr>
        <p:spPr>
          <a:xfrm>
            <a:off x="6281857" y="2970869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B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CF0C745-F808-D944-B8BB-3418261388E7}"/>
              </a:ext>
            </a:extLst>
          </p:cNvPr>
          <p:cNvSpPr/>
          <p:nvPr/>
        </p:nvSpPr>
        <p:spPr>
          <a:xfrm>
            <a:off x="6281857" y="264168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2657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E65B-DBA8-614E-9CCD-1757E77B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Calling the Parent’s method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B68A9-9205-4B46-9E5C-1C513DE1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Using Super()</a:t>
            </a:r>
          </a:p>
          <a:p>
            <a:pPr lvl="1"/>
            <a:r>
              <a:rPr lang="en-IN" dirty="0"/>
              <a:t>Python super() function provides us the facility to refer to the parent class explicitly. It is basically useful where we have to call superclass functions.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FCC06-1720-9E4A-A8C6-2148204369DE}"/>
              </a:ext>
            </a:extLst>
          </p:cNvPr>
          <p:cNvSpPr/>
          <p:nvPr/>
        </p:nvSpPr>
        <p:spPr>
          <a:xfrm>
            <a:off x="1459747" y="2278495"/>
            <a:ext cx="4426609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override by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Sublcass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2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#Calling Super Class Method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super().display()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object1.display()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EE034-EAFB-A644-9A99-F1E09A74C7C3}"/>
              </a:ext>
            </a:extLst>
          </p:cNvPr>
          <p:cNvSpPr/>
          <p:nvPr/>
        </p:nvSpPr>
        <p:spPr>
          <a:xfrm>
            <a:off x="959755" y="2278495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B9D7457-EF5C-3741-9912-92E5843B911A}"/>
              </a:ext>
            </a:extLst>
          </p:cNvPr>
          <p:cNvSpPr/>
          <p:nvPr/>
        </p:nvSpPr>
        <p:spPr>
          <a:xfrm>
            <a:off x="959755" y="194931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F7EA7-A394-7542-B02A-F939C59EDE66}"/>
              </a:ext>
            </a:extLst>
          </p:cNvPr>
          <p:cNvSpPr/>
          <p:nvPr/>
        </p:nvSpPr>
        <p:spPr>
          <a:xfrm>
            <a:off x="6203799" y="2278495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B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CF0C745-F808-D944-B8BB-3418261388E7}"/>
              </a:ext>
            </a:extLst>
          </p:cNvPr>
          <p:cNvSpPr/>
          <p:nvPr/>
        </p:nvSpPr>
        <p:spPr>
          <a:xfrm>
            <a:off x="6203799" y="194931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5353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FB58-7365-4742-A199-6A4DF797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E72C1-4115-9F4E-BACB-64E5C5796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 one task is performed in different ways, it is known as polymorphism.</a:t>
            </a:r>
          </a:p>
          <a:p>
            <a:r>
              <a:rPr lang="en-IN" dirty="0"/>
              <a:t>OOP concept lets programmers use the same word to mean different things in different contexts. </a:t>
            </a:r>
          </a:p>
          <a:p>
            <a:r>
              <a:rPr lang="en-IN" dirty="0"/>
              <a:t>Polymorphism is taken from the Greek words Poly (many) and morphism (forms).</a:t>
            </a:r>
            <a:endParaRPr lang="en-US" dirty="0"/>
          </a:p>
        </p:txBody>
      </p:sp>
      <p:pic>
        <p:nvPicPr>
          <p:cNvPr id="1026" name="Picture 2" descr="Image result for polymorphism images">
            <a:extLst>
              <a:ext uri="{FF2B5EF4-FFF2-40B4-BE49-F238E27FC236}">
                <a16:creationId xmlns:a16="http://schemas.microsoft.com/office/drawing/2014/main" id="{45674AF4-5FCA-4044-863F-06968C0E0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79" y="2815290"/>
            <a:ext cx="4407367" cy="340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4FDBD7-152A-0A46-8A48-9EEC1958A876}"/>
              </a:ext>
            </a:extLst>
          </p:cNvPr>
          <p:cNvSpPr/>
          <p:nvPr/>
        </p:nvSpPr>
        <p:spPr>
          <a:xfrm>
            <a:off x="4170981" y="3115820"/>
            <a:ext cx="2597809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num1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num2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print(num1+num2)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str1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"Python 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str2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"Programming"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print(str1+str2)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7B6EA-F886-A049-A44A-E01ABC058935}"/>
              </a:ext>
            </a:extLst>
          </p:cNvPr>
          <p:cNvSpPr/>
          <p:nvPr/>
        </p:nvSpPr>
        <p:spPr>
          <a:xfrm>
            <a:off x="3670988" y="3115820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6A8E8372-1D26-2C41-ACB1-B615D83C4B7E}"/>
              </a:ext>
            </a:extLst>
          </p:cNvPr>
          <p:cNvSpPr/>
          <p:nvPr/>
        </p:nvSpPr>
        <p:spPr>
          <a:xfrm>
            <a:off x="3670988" y="278663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C8B57-E3CB-CDD3-9C1F-FEF56C3F5497}"/>
              </a:ext>
            </a:extLst>
          </p:cNvPr>
          <p:cNvSpPr/>
          <p:nvPr/>
        </p:nvSpPr>
        <p:spPr>
          <a:xfrm>
            <a:off x="7768776" y="3144474"/>
            <a:ext cx="2597809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print(x1*x2)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"hi"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print(x1*x2)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E1BB26-5FB6-B13C-92C5-64FFB415B740}"/>
              </a:ext>
            </a:extLst>
          </p:cNvPr>
          <p:cNvSpPr/>
          <p:nvPr/>
        </p:nvSpPr>
        <p:spPr>
          <a:xfrm>
            <a:off x="7268783" y="3144474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F25BBD4F-7149-C593-6525-E3AF8AA4FAA0}"/>
              </a:ext>
            </a:extLst>
          </p:cNvPr>
          <p:cNvSpPr/>
          <p:nvPr/>
        </p:nvSpPr>
        <p:spPr>
          <a:xfrm>
            <a:off x="7268783" y="281529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</p:spTree>
    <p:extLst>
      <p:ext uri="{BB962C8B-B14F-4D97-AF65-F5344CB8AC3E}">
        <p14:creationId xmlns:p14="http://schemas.microsoft.com/office/powerpoint/2010/main" val="362674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animBg="1"/>
      <p:bldP spid="7" grpId="0" animBg="1"/>
      <p:bldP spid="4" grpId="0" build="p" animBg="1"/>
      <p:bldP spid="11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AF49E-86BB-B245-8AE5-ED1EF9DD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Method Overloading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5D8A-2C59-0049-94A0-A940B98BC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problem with method overloading in Python is that we may overload the methods but can only use the latest defined method.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 the above code, we have defined two display method, </a:t>
            </a:r>
            <a:r>
              <a:rPr lang="en-IN" dirty="0">
                <a:solidFill>
                  <a:srgbClr val="FF0000"/>
                </a:solidFill>
              </a:rPr>
              <a:t>but we can only use the second display </a:t>
            </a:r>
            <a:r>
              <a:rPr lang="en-IN" dirty="0"/>
              <a:t>method, </a:t>
            </a:r>
            <a:r>
              <a:rPr lang="en-IN" dirty="0">
                <a:solidFill>
                  <a:srgbClr val="FF0000"/>
                </a:solidFill>
              </a:rPr>
              <a:t>as python does not support method overloading.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28175C-CAAE-CC4E-B478-D895542C7C61}"/>
              </a:ext>
            </a:extLst>
          </p:cNvPr>
          <p:cNvSpPr/>
          <p:nvPr/>
        </p:nvSpPr>
        <p:spPr>
          <a:xfrm>
            <a:off x="1015186" y="2089908"/>
            <a:ext cx="357911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display(name):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print(name)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#display() Error Message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"Name"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416AB-80A3-A240-A8E9-A9BFEEB36F58}"/>
              </a:ext>
            </a:extLst>
          </p:cNvPr>
          <p:cNvSpPr/>
          <p:nvPr/>
        </p:nvSpPr>
        <p:spPr>
          <a:xfrm>
            <a:off x="515193" y="2089908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D0D2032-C86C-6C41-ACEE-48DE4F58A753}"/>
              </a:ext>
            </a:extLst>
          </p:cNvPr>
          <p:cNvSpPr/>
          <p:nvPr/>
        </p:nvSpPr>
        <p:spPr>
          <a:xfrm>
            <a:off x="515193" y="1760724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</p:spTree>
    <p:extLst>
      <p:ext uri="{BB962C8B-B14F-4D97-AF65-F5344CB8AC3E}">
        <p14:creationId xmlns:p14="http://schemas.microsoft.com/office/powerpoint/2010/main" val="280169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8598-A5A0-5B46-8840-EB4E266D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31D7-9222-274A-9CBD-6234271A8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overcome the above problem, </a:t>
            </a:r>
            <a:r>
              <a:rPr lang="en-US" dirty="0">
                <a:solidFill>
                  <a:schemeClr val="accent6"/>
                </a:solidFill>
              </a:rPr>
              <a:t>we can use different ways to achieve the method overloading</a:t>
            </a:r>
            <a:r>
              <a:rPr lang="en-US" dirty="0"/>
              <a:t>. </a:t>
            </a:r>
          </a:p>
          <a:p>
            <a:r>
              <a:rPr lang="en-US" dirty="0"/>
              <a:t>We need to write the method’s logic so that different code inside the function, executes </a:t>
            </a:r>
            <a:r>
              <a:rPr lang="en-US" dirty="0">
                <a:solidFill>
                  <a:schemeClr val="accent6"/>
                </a:solidFill>
              </a:rPr>
              <a:t>depending on the parameter passes</a:t>
            </a:r>
            <a:r>
              <a:rPr lang="en-US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4B522-901A-1941-A87A-BDC8E28CE71F}"/>
              </a:ext>
            </a:extLst>
          </p:cNvPr>
          <p:cNvSpPr/>
          <p:nvPr/>
        </p:nvSpPr>
        <p:spPr>
          <a:xfrm>
            <a:off x="1015184" y="2840233"/>
            <a:ext cx="6523039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Shape: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function with two default parameters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area(self, a, b=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2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 &gt;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'Area of Rectangle is:'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 * b)</a:t>
            </a:r>
          </a:p>
          <a:p>
            <a:pPr lvl="2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'Area of Square is:'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 **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 = Shape()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square.area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square.area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579AA-CC4B-4E4A-9E51-26DB7D92BC80}"/>
              </a:ext>
            </a:extLst>
          </p:cNvPr>
          <p:cNvSpPr/>
          <p:nvPr/>
        </p:nvSpPr>
        <p:spPr>
          <a:xfrm>
            <a:off x="515193" y="2840233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1059133-6CA5-3A4C-8C6D-7C117CB97DE8}"/>
              </a:ext>
            </a:extLst>
          </p:cNvPr>
          <p:cNvSpPr/>
          <p:nvPr/>
        </p:nvSpPr>
        <p:spPr>
          <a:xfrm>
            <a:off x="515193" y="251104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84CC18-3AD0-C448-8C3B-B9C591A50DFE}"/>
              </a:ext>
            </a:extLst>
          </p:cNvPr>
          <p:cNvSpPr/>
          <p:nvPr/>
        </p:nvSpPr>
        <p:spPr>
          <a:xfrm>
            <a:off x="7694339" y="2840233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Area of Square is: 25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Area of Rectangle is: 2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839AE55-0984-D04F-9049-B49B409F8410}"/>
              </a:ext>
            </a:extLst>
          </p:cNvPr>
          <p:cNvSpPr/>
          <p:nvPr/>
        </p:nvSpPr>
        <p:spPr>
          <a:xfrm>
            <a:off x="7694339" y="251104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2456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4DC8-CF30-5B46-BC5D-CBCC5853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Polymorphism with Function and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03DF3-3EF7-6346-963A-BEA6AADC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</a:t>
            </a:r>
            <a:r>
              <a:rPr lang="en-US" dirty="0">
                <a:solidFill>
                  <a:schemeClr val="accent6"/>
                </a:solidFill>
              </a:rPr>
              <a:t>polymorphism with a function </a:t>
            </a:r>
            <a:r>
              <a:rPr lang="en-US" dirty="0"/>
              <a:t>that can take any </a:t>
            </a:r>
            <a:r>
              <a:rPr lang="en-US" dirty="0">
                <a:solidFill>
                  <a:schemeClr val="accent6"/>
                </a:solidFill>
              </a:rPr>
              <a:t>object as a parameter </a:t>
            </a:r>
            <a:r>
              <a:rPr lang="en-US" dirty="0"/>
              <a:t>and execute its </a:t>
            </a:r>
            <a:r>
              <a:rPr lang="en-US" dirty="0">
                <a:solidFill>
                  <a:schemeClr val="accent6"/>
                </a:solidFill>
              </a:rPr>
              <a:t>method without checking its class type</a:t>
            </a:r>
            <a:r>
              <a:rPr lang="en-US" dirty="0"/>
              <a:t>.</a:t>
            </a:r>
          </a:p>
          <a:p>
            <a:r>
              <a:rPr lang="en-IN" dirty="0"/>
              <a:t>Using this, we </a:t>
            </a:r>
            <a:r>
              <a:rPr lang="en-IN" dirty="0">
                <a:solidFill>
                  <a:schemeClr val="accent6"/>
                </a:solidFill>
              </a:rPr>
              <a:t>can call object </a:t>
            </a:r>
            <a:r>
              <a:rPr lang="en-IN" dirty="0"/>
              <a:t>actions using the </a:t>
            </a:r>
            <a:r>
              <a:rPr lang="en-IN" dirty="0">
                <a:solidFill>
                  <a:schemeClr val="accent6"/>
                </a:solidFill>
              </a:rPr>
              <a:t>same function instead</a:t>
            </a:r>
            <a:r>
              <a:rPr lang="en-IN" dirty="0"/>
              <a:t> of repeating method calls.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F2F94A-B986-984D-8D90-9918E0AB1EE1}"/>
              </a:ext>
            </a:extLst>
          </p:cNvPr>
          <p:cNvSpPr/>
          <p:nvPr/>
        </p:nvSpPr>
        <p:spPr>
          <a:xfrm>
            <a:off x="1015185" y="2840233"/>
            <a:ext cx="4426609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Honda: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fuel_type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"Petrol"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max_speed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"Max speed 180"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Skoda: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fuel_type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"Diesel"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max_speed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"Max speed is 220"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B03047-AC2B-DF41-8E25-8ECEC168BEE9}"/>
              </a:ext>
            </a:extLst>
          </p:cNvPr>
          <p:cNvSpPr/>
          <p:nvPr/>
        </p:nvSpPr>
        <p:spPr>
          <a:xfrm>
            <a:off x="515193" y="2840233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1B32728-AD32-4547-8DCE-1A1EC32691F7}"/>
              </a:ext>
            </a:extLst>
          </p:cNvPr>
          <p:cNvSpPr/>
          <p:nvPr/>
        </p:nvSpPr>
        <p:spPr>
          <a:xfrm>
            <a:off x="515193" y="251104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5693D9-0304-B543-A367-D50B7AD41E36}"/>
              </a:ext>
            </a:extLst>
          </p:cNvPr>
          <p:cNvSpPr/>
          <p:nvPr/>
        </p:nvSpPr>
        <p:spPr>
          <a:xfrm>
            <a:off x="5596008" y="5427270"/>
            <a:ext cx="3982468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Petrol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Max speed 180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Diesel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Max speed is 220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B18B5ED-1609-4042-9596-868DDEF43D2D}"/>
              </a:ext>
            </a:extLst>
          </p:cNvPr>
          <p:cNvSpPr/>
          <p:nvPr/>
        </p:nvSpPr>
        <p:spPr>
          <a:xfrm>
            <a:off x="5596008" y="509808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39EEB7-8A9C-D448-A416-378A106E138B}"/>
              </a:ext>
            </a:extLst>
          </p:cNvPr>
          <p:cNvSpPr/>
          <p:nvPr/>
        </p:nvSpPr>
        <p:spPr>
          <a:xfrm>
            <a:off x="6096000" y="2701347"/>
            <a:ext cx="2858429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normal function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car_details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obj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obj.fuel_type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obj.max_speed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honda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Honda()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skoda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Skoda()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car_details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honda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car_details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skoda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A9120-30B0-D843-8E24-550C3382DE84}"/>
              </a:ext>
            </a:extLst>
          </p:cNvPr>
          <p:cNvSpPr/>
          <p:nvPr/>
        </p:nvSpPr>
        <p:spPr>
          <a:xfrm>
            <a:off x="5596008" y="2701347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CDD453F2-D12C-1D4A-90B4-A5C070FCF63D}"/>
              </a:ext>
            </a:extLst>
          </p:cNvPr>
          <p:cNvSpPr/>
          <p:nvPr/>
        </p:nvSpPr>
        <p:spPr>
          <a:xfrm>
            <a:off x="5596008" y="237216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</p:spTree>
    <p:extLst>
      <p:ext uri="{BB962C8B-B14F-4D97-AF65-F5344CB8AC3E}">
        <p14:creationId xmlns:p14="http://schemas.microsoft.com/office/powerpoint/2010/main" val="309991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78BD-7491-289F-9AAA-00D6AB2A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6AD2D-14DD-B004-F344-B13E5EBCD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3548535"/>
          </a:xfrm>
        </p:spPr>
        <p:txBody>
          <a:bodyPr/>
          <a:lstStyle/>
          <a:p>
            <a:r>
              <a:rPr lang="en-US" dirty="0"/>
              <a:t>Python supports all the features of object-oriented programming including abstraction and abstract classes.</a:t>
            </a:r>
          </a:p>
          <a:p>
            <a:r>
              <a:rPr lang="en-US" dirty="0"/>
              <a:t>We cannot create an abstract class in Python directly. However, Python does provide a module that allows us to define abstract classes. </a:t>
            </a:r>
          </a:p>
          <a:p>
            <a:r>
              <a:rPr lang="en-US" dirty="0"/>
              <a:t>The module we can use to create an abstract class in Python is </a:t>
            </a:r>
            <a:r>
              <a:rPr lang="en-US" dirty="0" err="1">
                <a:solidFill>
                  <a:srgbClr val="C00000"/>
                </a:solidFill>
              </a:rPr>
              <a:t>abc</a:t>
            </a:r>
            <a:r>
              <a:rPr lang="en-US" dirty="0">
                <a:solidFill>
                  <a:srgbClr val="C00000"/>
                </a:solidFill>
              </a:rPr>
              <a:t>(abstract base class) </a:t>
            </a:r>
            <a:r>
              <a:rPr lang="en-US" dirty="0"/>
              <a:t>module.</a:t>
            </a:r>
          </a:p>
          <a:p>
            <a:r>
              <a:rPr lang="en-US" dirty="0"/>
              <a:t>Abstract methods force the child classes to give the implementation of these methods in them and thus help us achieve abstraction as each subclass can give its own implementation. </a:t>
            </a:r>
          </a:p>
          <a:p>
            <a:r>
              <a:rPr lang="en-US" dirty="0"/>
              <a:t>A class containing one or more than one abstract method is called an abstract class.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A82CDD-C6B6-1E6A-822E-ABC68E2B1292}"/>
              </a:ext>
            </a:extLst>
          </p:cNvPr>
          <p:cNvSpPr/>
          <p:nvPr/>
        </p:nvSpPr>
        <p:spPr>
          <a:xfrm>
            <a:off x="479415" y="4795897"/>
            <a:ext cx="428689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ABC</a:t>
            </a: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&lt;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Abstract_Class_Name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&gt;(ABC):</a:t>
            </a:r>
          </a:p>
          <a:p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	# body of the class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D3F6FCA-20DF-FE76-8D01-DEDE4986FF52}"/>
              </a:ext>
            </a:extLst>
          </p:cNvPr>
          <p:cNvSpPr/>
          <p:nvPr/>
        </p:nvSpPr>
        <p:spPr>
          <a:xfrm>
            <a:off x="479414" y="446671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33577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E991-9D9F-2034-F1DD-74C3038F1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BCFD-E81A-E40C-3535-F4BD5CC35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cannot create an instance or object of an abstract class in Python.</a:t>
            </a:r>
          </a:p>
          <a:p>
            <a:r>
              <a:rPr lang="en-US" dirty="0"/>
              <a:t>abstract classes are used to create a blueprint of our classes as they don't contain the method implementation.</a:t>
            </a:r>
          </a:p>
          <a:p>
            <a:r>
              <a:rPr lang="en-US" dirty="0"/>
              <a:t>This is a very useful capability, especially in situations where child classes should provide their own separate implementation.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55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BD666-F144-DB88-DDE7-29FD99E4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095FF-69E8-2BB1-1700-9ED58DE93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119785"/>
          </a:xfrm>
        </p:spPr>
        <p:txBody>
          <a:bodyPr/>
          <a:lstStyle/>
          <a:p>
            <a:r>
              <a:rPr lang="en-US" dirty="0"/>
              <a:t>To define an abstract method we use the @</a:t>
            </a:r>
            <a:r>
              <a:rPr lang="en-US" dirty="0" err="1"/>
              <a:t>abstractmethod</a:t>
            </a:r>
            <a:r>
              <a:rPr lang="en-US" dirty="0"/>
              <a:t> decorator of the </a:t>
            </a:r>
            <a:r>
              <a:rPr lang="en-US" dirty="0" err="1"/>
              <a:t>abc</a:t>
            </a:r>
            <a:r>
              <a:rPr lang="en-US" dirty="0"/>
              <a:t> module. </a:t>
            </a:r>
          </a:p>
          <a:p>
            <a:r>
              <a:rPr lang="en-US" dirty="0"/>
              <a:t>It tells Python that the declared method is abstract and should be overridden in the child classes.</a:t>
            </a:r>
          </a:p>
          <a:p>
            <a:r>
              <a:rPr lang="en-US" dirty="0"/>
              <a:t>We just need to put this decorator over any function we want to make abstract, and the </a:t>
            </a:r>
            <a:r>
              <a:rPr lang="en-US" dirty="0" err="1"/>
              <a:t>abc</a:t>
            </a:r>
            <a:r>
              <a:rPr lang="en-US" dirty="0"/>
              <a:t> module takes care of the rest.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063B8A-BD29-744C-2052-DC800F0FB164}"/>
              </a:ext>
            </a:extLst>
          </p:cNvPr>
          <p:cNvSpPr/>
          <p:nvPr/>
        </p:nvSpPr>
        <p:spPr>
          <a:xfrm>
            <a:off x="471794" y="3213051"/>
            <a:ext cx="749491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ABC,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&lt;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Abstract_Class_Name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&gt;(ABC):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&lt;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abstract_method_name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&gt;(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,other_parameters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pass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6917B456-0063-B9F9-5163-2A8222242332}"/>
              </a:ext>
            </a:extLst>
          </p:cNvPr>
          <p:cNvSpPr/>
          <p:nvPr/>
        </p:nvSpPr>
        <p:spPr>
          <a:xfrm>
            <a:off x="471794" y="288386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8DCFA-4213-0744-ADE8-72928125213F}"/>
              </a:ext>
            </a:extLst>
          </p:cNvPr>
          <p:cNvSpPr/>
          <p:nvPr/>
        </p:nvSpPr>
        <p:spPr>
          <a:xfrm>
            <a:off x="471794" y="5228485"/>
            <a:ext cx="749491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ABC,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Demo(ABC):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pass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A0F8166-6625-C933-7A5B-4693E50BDF15}"/>
              </a:ext>
            </a:extLst>
          </p:cNvPr>
          <p:cNvSpPr/>
          <p:nvPr/>
        </p:nvSpPr>
        <p:spPr>
          <a:xfrm>
            <a:off x="471794" y="489930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5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build="p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28EC-76FD-BA7D-71E2-51EFA691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930E62-FE3D-35E9-DD71-A3608E9D303C}"/>
              </a:ext>
            </a:extLst>
          </p:cNvPr>
          <p:cNvSpPr/>
          <p:nvPr/>
        </p:nvSpPr>
        <p:spPr>
          <a:xfrm>
            <a:off x="751087" y="1249795"/>
            <a:ext cx="4426609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ABC,abstractmethod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IN" sz="160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Shape(ABC):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drawShape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pass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IN" sz="160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Circle(Shape):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drawShape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"Drawing a Circle"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Circle()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a.drawShape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B = Shape()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933786-219B-C83C-4147-530C0F9E282A}"/>
              </a:ext>
            </a:extLst>
          </p:cNvPr>
          <p:cNvSpPr/>
          <p:nvPr/>
        </p:nvSpPr>
        <p:spPr>
          <a:xfrm>
            <a:off x="251095" y="1249795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46C25B0-80A0-7C81-ED39-C3EDBA744461}"/>
              </a:ext>
            </a:extLst>
          </p:cNvPr>
          <p:cNvSpPr/>
          <p:nvPr/>
        </p:nvSpPr>
        <p:spPr>
          <a:xfrm>
            <a:off x="251095" y="92061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C0868C-0CA3-EDC3-2783-214259035D63}"/>
              </a:ext>
            </a:extLst>
          </p:cNvPr>
          <p:cNvSpPr/>
          <p:nvPr/>
        </p:nvSpPr>
        <p:spPr>
          <a:xfrm>
            <a:off x="5495138" y="1249795"/>
            <a:ext cx="548909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Drawing a Circle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IN" sz="1600" dirty="0" err="1">
                <a:solidFill>
                  <a:srgbClr val="E75C58"/>
                </a:solidFill>
              </a:rPr>
              <a:t>TypeError</a:t>
            </a:r>
            <a:r>
              <a:rPr lang="en-IN" sz="1600" dirty="0"/>
              <a:t>: Can't instantiate abstract class Shape without implementation of abstract method </a:t>
            </a:r>
            <a:r>
              <a:rPr lang="en-IN" sz="1600" dirty="0" err="1"/>
              <a:t>drawShape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3EBAF4A-4990-78CA-405B-5707D26F8B05}"/>
              </a:ext>
            </a:extLst>
          </p:cNvPr>
          <p:cNvSpPr/>
          <p:nvPr/>
        </p:nvSpPr>
        <p:spPr>
          <a:xfrm>
            <a:off x="5495139" y="92061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3521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6086</TotalTime>
  <Words>2499</Words>
  <Application>Microsoft Office PowerPoint</Application>
  <PresentationFormat>Widescreen</PresentationFormat>
  <Paragraphs>1126</Paragraphs>
  <Slides>47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Roboto Condensed Light</vt:lpstr>
      <vt:lpstr>Arial</vt:lpstr>
      <vt:lpstr>Wingdings 3</vt:lpstr>
      <vt:lpstr>Wingdings 2</vt:lpstr>
      <vt:lpstr>Menlo</vt:lpstr>
      <vt:lpstr>Segoe UI Black</vt:lpstr>
      <vt:lpstr>Calibri</vt:lpstr>
      <vt:lpstr>Cambria</vt:lpstr>
      <vt:lpstr>Wingdings</vt:lpstr>
      <vt:lpstr>Consolas</vt:lpstr>
      <vt:lpstr>Roboto Condensed</vt:lpstr>
      <vt:lpstr>Office Theme</vt:lpstr>
      <vt:lpstr>Unit-05 Object Oriented Programming with python</vt:lpstr>
      <vt:lpstr>PowerPoint Presentation</vt:lpstr>
      <vt:lpstr>Introduction</vt:lpstr>
      <vt:lpstr>Class</vt:lpstr>
      <vt:lpstr>Objects</vt:lpstr>
      <vt:lpstr>Example </vt:lpstr>
      <vt:lpstr>The self  </vt:lpstr>
      <vt:lpstr>The __init__ method </vt:lpstr>
      <vt:lpstr>Example</vt:lpstr>
      <vt:lpstr>Example</vt:lpstr>
      <vt:lpstr>Types of Attributes</vt:lpstr>
      <vt:lpstr>Class Attribute</vt:lpstr>
      <vt:lpstr>Built-in class attributes</vt:lpstr>
      <vt:lpstr>Example : built-in class attributes</vt:lpstr>
      <vt:lpstr>Instance Attribute</vt:lpstr>
      <vt:lpstr>Example : class &amp; instance attributes</vt:lpstr>
      <vt:lpstr>Class Attributes vs Instance Attributes</vt:lpstr>
      <vt:lpstr>Example : Class Attributes vs Instance Attributes</vt:lpstr>
      <vt:lpstr>Encapsulation</vt:lpstr>
      <vt:lpstr>Encapsulation</vt:lpstr>
      <vt:lpstr>Access Modifiers</vt:lpstr>
      <vt:lpstr>Example : Access Modifiers</vt:lpstr>
      <vt:lpstr>Types of Methods</vt:lpstr>
      <vt:lpstr>Types of Methods</vt:lpstr>
      <vt:lpstr>Types of Methods</vt:lpstr>
      <vt:lpstr>Types of Methods</vt:lpstr>
      <vt:lpstr>Passing Object as function Arguments</vt:lpstr>
      <vt:lpstr>Inheritance in Python</vt:lpstr>
      <vt:lpstr>Syntax</vt:lpstr>
      <vt:lpstr>Example</vt:lpstr>
      <vt:lpstr>Inheritance Types</vt:lpstr>
      <vt:lpstr>Inheritance Types (cont.)</vt:lpstr>
      <vt:lpstr>Inheritance Types (cont.)</vt:lpstr>
      <vt:lpstr>Examples</vt:lpstr>
      <vt:lpstr>Examples</vt:lpstr>
      <vt:lpstr>Method Overriding </vt:lpstr>
      <vt:lpstr>Example</vt:lpstr>
      <vt:lpstr>Calling the Parent’s method </vt:lpstr>
      <vt:lpstr>Calling the Parent’s method </vt:lpstr>
      <vt:lpstr>Polymorphism</vt:lpstr>
      <vt:lpstr>Method Overloading</vt:lpstr>
      <vt:lpstr>Method Overloading</vt:lpstr>
      <vt:lpstr>Polymorphism with Function and Objects</vt:lpstr>
      <vt:lpstr>Abstract class</vt:lpstr>
      <vt:lpstr>Abstract class</vt:lpstr>
      <vt:lpstr>Abstract Method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778</cp:revision>
  <dcterms:created xsi:type="dcterms:W3CDTF">2020-05-01T05:09:15Z</dcterms:created>
  <dcterms:modified xsi:type="dcterms:W3CDTF">2026-03-18T10:44:30Z</dcterms:modified>
</cp:coreProperties>
</file>