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wdp" ContentType="image/vnd.ms-photo"/>
  <Default Extension="crdownload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76"/>
  </p:notesMasterIdLst>
  <p:sldIdLst>
    <p:sldId id="308" r:id="rId2"/>
    <p:sldId id="352" r:id="rId3"/>
    <p:sldId id="406" r:id="rId4"/>
    <p:sldId id="310" r:id="rId5"/>
    <p:sldId id="407" r:id="rId6"/>
    <p:sldId id="420" r:id="rId7"/>
    <p:sldId id="482" r:id="rId8"/>
    <p:sldId id="483" r:id="rId9"/>
    <p:sldId id="484" r:id="rId10"/>
    <p:sldId id="431" r:id="rId11"/>
    <p:sldId id="432" r:id="rId12"/>
    <p:sldId id="363" r:id="rId13"/>
    <p:sldId id="395" r:id="rId14"/>
    <p:sldId id="364" r:id="rId15"/>
    <p:sldId id="391" r:id="rId16"/>
    <p:sldId id="312" r:id="rId17"/>
    <p:sldId id="440" r:id="rId18"/>
    <p:sldId id="313" r:id="rId19"/>
    <p:sldId id="396" r:id="rId20"/>
    <p:sldId id="400" r:id="rId21"/>
    <p:sldId id="397" r:id="rId22"/>
    <p:sldId id="398" r:id="rId23"/>
    <p:sldId id="401" r:id="rId24"/>
    <p:sldId id="414" r:id="rId25"/>
    <p:sldId id="442" r:id="rId26"/>
    <p:sldId id="362" r:id="rId27"/>
    <p:sldId id="443" r:id="rId28"/>
    <p:sldId id="446" r:id="rId29"/>
    <p:sldId id="359" r:id="rId30"/>
    <p:sldId id="445" r:id="rId31"/>
    <p:sldId id="415" r:id="rId32"/>
    <p:sldId id="447" r:id="rId33"/>
    <p:sldId id="448" r:id="rId34"/>
    <p:sldId id="361" r:id="rId35"/>
    <p:sldId id="316" r:id="rId36"/>
    <p:sldId id="356" r:id="rId37"/>
    <p:sldId id="357" r:id="rId38"/>
    <p:sldId id="416" r:id="rId39"/>
    <p:sldId id="481" r:id="rId40"/>
    <p:sldId id="370" r:id="rId41"/>
    <p:sldId id="408" r:id="rId42"/>
    <p:sldId id="314" r:id="rId43"/>
    <p:sldId id="410" r:id="rId44"/>
    <p:sldId id="409" r:id="rId45"/>
    <p:sldId id="411" r:id="rId46"/>
    <p:sldId id="412" r:id="rId47"/>
    <p:sldId id="413" r:id="rId48"/>
    <p:sldId id="417" r:id="rId49"/>
    <p:sldId id="324" r:id="rId50"/>
    <p:sldId id="332" r:id="rId51"/>
    <p:sldId id="325" r:id="rId52"/>
    <p:sldId id="326" r:id="rId53"/>
    <p:sldId id="330" r:id="rId54"/>
    <p:sldId id="328" r:id="rId55"/>
    <p:sldId id="329" r:id="rId56"/>
    <p:sldId id="331" r:id="rId57"/>
    <p:sldId id="333" r:id="rId58"/>
    <p:sldId id="334" r:id="rId59"/>
    <p:sldId id="419" r:id="rId60"/>
    <p:sldId id="467" r:id="rId61"/>
    <p:sldId id="418" r:id="rId62"/>
    <p:sldId id="335" r:id="rId63"/>
    <p:sldId id="336" r:id="rId64"/>
    <p:sldId id="338" r:id="rId65"/>
    <p:sldId id="339" r:id="rId66"/>
    <p:sldId id="340" r:id="rId67"/>
    <p:sldId id="371" r:id="rId68"/>
    <p:sldId id="372" r:id="rId69"/>
    <p:sldId id="341" r:id="rId70"/>
    <p:sldId id="345" r:id="rId71"/>
    <p:sldId id="342" r:id="rId72"/>
    <p:sldId id="344" r:id="rId73"/>
    <p:sldId id="355" r:id="rId74"/>
    <p:sldId id="426" r:id="rId75"/>
  </p:sldIdLst>
  <p:sldSz cx="12192000" cy="6858000"/>
  <p:notesSz cx="6858000" cy="9144000"/>
  <p:embeddedFontLst>
    <p:embeddedFont>
      <p:font typeface="Wingdings 3" panose="05040102010807070707" pitchFamily="18" charset="2"/>
      <p:regular r:id="rId77"/>
    </p:embeddedFont>
    <p:embeddedFont>
      <p:font typeface="Roboto Condensed" panose="02000000000000000000" pitchFamily="2" charset="0"/>
      <p:regular r:id="rId78"/>
      <p:bold r:id="rId79"/>
      <p:italic r:id="rId80"/>
      <p:boldItalic r:id="rId81"/>
    </p:embeddedFont>
    <p:embeddedFont>
      <p:font typeface="Wingdings 2" panose="05020102010507070707" pitchFamily="18" charset="2"/>
      <p:regular r:id="rId82"/>
    </p:embeddedFont>
    <p:embeddedFont>
      <p:font typeface="Roboto Condensed Light" panose="02000000000000000000" pitchFamily="2" charset="0"/>
      <p:regular r:id="rId83"/>
      <p:italic r:id="rId84"/>
    </p:embeddedFont>
    <p:embeddedFont>
      <p:font typeface="Calibri" panose="020F0502020204030204" pitchFamily="34" charset="0"/>
      <p:regular r:id="rId85"/>
      <p:bold r:id="rId86"/>
      <p:italic r:id="rId87"/>
      <p:boldItalic r:id="rId88"/>
    </p:embeddedFont>
    <p:embeddedFont>
      <p:font typeface="Consolas" panose="020B0609020204030204" pitchFamily="49" charset="0"/>
      <p:regular r:id="rId89"/>
      <p:bold r:id="rId90"/>
      <p:italic r:id="rId91"/>
      <p:boldItalic r:id="rId92"/>
    </p:embeddedFont>
    <p:embeddedFont>
      <p:font typeface="Segoe UI Black" panose="020B0A02040204020203" pitchFamily="34" charset="0"/>
      <p:bold r:id="rId93"/>
      <p:boldItalic r:id="rId94"/>
    </p:embeddedFont>
    <p:embeddedFont>
      <p:font typeface="Arial Rounded MT Bold" panose="020F0704030504030204" pitchFamily="34" charset="0"/>
      <p:regular r:id="rId95"/>
    </p:embeddedFont>
    <p:embeddedFont>
      <p:font typeface="Ebrima" panose="02000000000000000000" pitchFamily="2" charset="0"/>
      <p:regular r:id="rId96"/>
      <p:bold r:id="rId9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modifyVerifier cryptProviderType="rsaAES" cryptAlgorithmClass="hash" cryptAlgorithmType="typeAny" cryptAlgorithmSid="14" spinCount="100000" saltData="o3w42KMo6N9yLwvJnXXPzw==" hashData="/fy4TlC5a3yCj+j5/b5IpnamESSjCoK/V5Kpb7knqk0AfOgquNMOUsahDQNQzk0KaNn5emxx3ofYY++64iuydw=="/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01B92"/>
    <a:srgbClr val="B71B1C"/>
    <a:srgbClr val="D81A60"/>
    <a:srgbClr val="673BB7"/>
    <a:srgbClr val="607D8B"/>
    <a:srgbClr val="ED524F"/>
    <a:srgbClr val="F54337"/>
    <a:srgbClr val="890E4F"/>
    <a:srgbClr val="EA1E63"/>
    <a:srgbClr val="C6282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018" autoAdjust="0"/>
    <p:restoredTop sz="94660"/>
  </p:normalViewPr>
  <p:slideViewPr>
    <p:cSldViewPr snapToGrid="0">
      <p:cViewPr varScale="1">
        <p:scale>
          <a:sx n="83" d="100"/>
          <a:sy n="83" d="100"/>
        </p:scale>
        <p:origin x="797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font" Target="fonts/font8.fntdata"/><Relationship Id="rId89" Type="http://schemas.openxmlformats.org/officeDocument/2006/relationships/font" Target="fonts/font13.fntdata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font" Target="fonts/font3.fntdata"/><Relationship Id="rId5" Type="http://schemas.openxmlformats.org/officeDocument/2006/relationships/slide" Target="slides/slide4.xml"/><Relationship Id="rId90" Type="http://schemas.openxmlformats.org/officeDocument/2006/relationships/font" Target="fonts/font14.fntdata"/><Relationship Id="rId95" Type="http://schemas.openxmlformats.org/officeDocument/2006/relationships/font" Target="fonts/font19.fntdata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font" Target="fonts/font4.fntdata"/><Relationship Id="rId85" Type="http://schemas.openxmlformats.org/officeDocument/2006/relationships/font" Target="fonts/font9.fntdata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font" Target="fonts/font7.fntdata"/><Relationship Id="rId88" Type="http://schemas.openxmlformats.org/officeDocument/2006/relationships/font" Target="fonts/font12.fntdata"/><Relationship Id="rId91" Type="http://schemas.openxmlformats.org/officeDocument/2006/relationships/font" Target="fonts/font15.fntdata"/><Relationship Id="rId96" Type="http://schemas.openxmlformats.org/officeDocument/2006/relationships/font" Target="fonts/font2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font" Target="fonts/font2.fntdata"/><Relationship Id="rId81" Type="http://schemas.openxmlformats.org/officeDocument/2006/relationships/font" Target="fonts/font5.fntdata"/><Relationship Id="rId86" Type="http://schemas.openxmlformats.org/officeDocument/2006/relationships/font" Target="fonts/font10.fntdata"/><Relationship Id="rId94" Type="http://schemas.openxmlformats.org/officeDocument/2006/relationships/font" Target="fonts/font18.fntdata"/><Relationship Id="rId99" Type="http://schemas.openxmlformats.org/officeDocument/2006/relationships/viewProps" Target="viewProps.xml"/><Relationship Id="rId10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notesMaster" Target="notesMasters/notesMaster1.xml"/><Relationship Id="rId97" Type="http://schemas.openxmlformats.org/officeDocument/2006/relationships/font" Target="fonts/font21.fntdata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font" Target="fonts/font16.fntdata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font" Target="fonts/font11.fntdata"/><Relationship Id="rId61" Type="http://schemas.openxmlformats.org/officeDocument/2006/relationships/slide" Target="slides/slide60.xml"/><Relationship Id="rId82" Type="http://schemas.openxmlformats.org/officeDocument/2006/relationships/font" Target="fonts/font6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font" Target="fonts/font1.fntdata"/><Relationship Id="rId100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font" Target="fonts/font17.fntdata"/><Relationship Id="rId98" Type="http://schemas.openxmlformats.org/officeDocument/2006/relationships/presProps" Target="presProps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48E3F3-8B31-41D2-AA9B-9796555DB866}" type="datetimeFigureOut">
              <a:rPr lang="en-US" smtClean="0"/>
              <a:pPr/>
              <a:t>1/7/2026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79BDEF-6165-4E72-B1A6-6E8034CEC24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013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11" Type="http://schemas.openxmlformats.org/officeDocument/2006/relationships/image" Target="../media/image9.jpeg"/><Relationship Id="rId5" Type="http://schemas.openxmlformats.org/officeDocument/2006/relationships/image" Target="../media/image4.png"/><Relationship Id="rId10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1.png"/><Relationship Id="rId4" Type="http://schemas.microsoft.com/office/2007/relationships/hdphoto" Target="../media/hdphoto2.wdp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2.png"/><Relationship Id="rId7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10" Type="http://schemas.openxmlformats.org/officeDocument/2006/relationships/image" Target="../media/image3.png"/><Relationship Id="rId4" Type="http://schemas.openxmlformats.org/officeDocument/2006/relationships/image" Target="../media/image4.png"/><Relationship Id="rId9" Type="http://schemas.openxmlformats.org/officeDocument/2006/relationships/image" Target="../media/image11.png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11" Type="http://schemas.openxmlformats.org/officeDocument/2006/relationships/image" Target="../media/image9.jpeg"/><Relationship Id="rId5" Type="http://schemas.openxmlformats.org/officeDocument/2006/relationships/image" Target="../media/image4.png"/><Relationship Id="rId10" Type="http://schemas.openxmlformats.org/officeDocument/2006/relationships/image" Target="../media/image14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efault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731716" y="307556"/>
            <a:ext cx="2702140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hq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0042908-6588-4C7A-9615-8D5899E8A9F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383" t="-16142" r="-144383" b="22103"/>
          <a:stretch/>
        </p:blipFill>
        <p:spPr>
          <a:xfrm>
            <a:off x="1834747" y="3985791"/>
            <a:ext cx="3075940" cy="2892592"/>
          </a:xfrm>
          <a:prstGeom prst="rect">
            <a:avLst/>
          </a:prstGeom>
        </p:spPr>
      </p:pic>
      <p:pic>
        <p:nvPicPr>
          <p:cNvPr id="36" name="Picture 35" descr="User icon Royalty Free Vector Image - VectorStock">
            <a:extLst>
              <a:ext uri="{FF2B5EF4-FFF2-40B4-BE49-F238E27FC236}">
                <a16:creationId xmlns:a16="http://schemas.microsoft.com/office/drawing/2014/main" id="{3C805A05-DDF6-4BA6-8EDB-D97128A43B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C4AACC20-C1A0-45ED-8640-28D84A9F84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5932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23F8D339-A0AA-4150-B7E8-C84E7F2AB7D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129689" y="813992"/>
            <a:ext cx="1931131" cy="58745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112BAB0-1CB8-413D-970D-4F482F1A0EDB}"/>
              </a:ext>
            </a:extLst>
          </p:cNvPr>
          <p:cNvSpPr/>
          <p:nvPr userDrawn="1"/>
        </p:nvSpPr>
        <p:spPr>
          <a:xfrm>
            <a:off x="9678128" y="764317"/>
            <a:ext cx="2554142" cy="587454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Shruti R. Maniar</a:t>
            </a: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3556000" y="6604000"/>
            <a:ext cx="50800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 2301CS404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01 – Introduction to Python, Object and Data Structure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3" cstate="print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 userDrawn="1">
            <p:ph idx="1"/>
          </p:nvPr>
        </p:nvSpPr>
        <p:spPr>
          <a:xfrm>
            <a:off x="131180" y="895352"/>
            <a:ext cx="11929640" cy="5558657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66333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 cstate="print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5"/>
            <a:ext cx="11929641" cy="4321872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1F51F16C-249B-E345-B841-8128601D1DD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3386" y="5940670"/>
            <a:ext cx="1649042" cy="501287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86E1CEFF-5022-B343-970D-93BF7837B193}"/>
              </a:ext>
            </a:extLst>
          </p:cNvPr>
          <p:cNvSpPr/>
          <p:nvPr userDrawn="1"/>
        </p:nvSpPr>
        <p:spPr>
          <a:xfrm>
            <a:off x="10313387" y="5940670"/>
            <a:ext cx="1649042" cy="501286"/>
          </a:xfrm>
          <a:prstGeom prst="rect">
            <a:avLst/>
          </a:pr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Date Placeholder 1">
            <a:extLst>
              <a:ext uri="{FF2B5EF4-FFF2-40B4-BE49-F238E27FC236}">
                <a16:creationId xmlns:a16="http://schemas.microsoft.com/office/drawing/2014/main" id="{005C2D9D-009B-9EB6-82C4-B7A969649391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Shruti R. Maniar</a:t>
            </a:r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9E7070E7-D463-5A8C-E033-4ECEE4C20A6E}"/>
              </a:ext>
            </a:extLst>
          </p:cNvPr>
          <p:cNvSpPr txBox="1">
            <a:spLocks/>
          </p:cNvSpPr>
          <p:nvPr userDrawn="1"/>
        </p:nvSpPr>
        <p:spPr>
          <a:xfrm>
            <a:off x="3556000" y="6604000"/>
            <a:ext cx="50800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 2301CS404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01 – Introduction to Python, Object and Data Structure</a:t>
            </a:r>
          </a:p>
        </p:txBody>
      </p:sp>
    </p:spTree>
    <p:extLst>
      <p:ext uri="{BB962C8B-B14F-4D97-AF65-F5344CB8AC3E}">
        <p14:creationId xmlns:p14="http://schemas.microsoft.com/office/powerpoint/2010/main" val="42027612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02C0DDD-3E9D-6FA2-01AF-80EEB51198D5}"/>
              </a:ext>
            </a:extLst>
          </p:cNvPr>
          <p:cNvSpPr/>
          <p:nvPr userDrawn="1"/>
        </p:nvSpPr>
        <p:spPr>
          <a:xfrm>
            <a:off x="0" y="5554716"/>
            <a:ext cx="2554142" cy="755307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 cstate="print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 userDrawn="1">
            <p:ph idx="1"/>
          </p:nvPr>
        </p:nvSpPr>
        <p:spPr>
          <a:xfrm>
            <a:off x="171450" y="863444"/>
            <a:ext cx="11889371" cy="561437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1">
            <a:extLst>
              <a:ext uri="{FF2B5EF4-FFF2-40B4-BE49-F238E27FC236}">
                <a16:creationId xmlns:a16="http://schemas.microsoft.com/office/drawing/2014/main" id="{856EAF62-25EF-CE1D-88DD-7E37C05998C3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Shruti R. Maniar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210E5F5-5C01-BC13-1D9D-9B9FB3CE86D9}"/>
              </a:ext>
            </a:extLst>
          </p:cNvPr>
          <p:cNvGrpSpPr/>
          <p:nvPr userDrawn="1"/>
        </p:nvGrpSpPr>
        <p:grpSpPr>
          <a:xfrm>
            <a:off x="75479" y="5848750"/>
            <a:ext cx="2554142" cy="587454"/>
            <a:chOff x="131178" y="5775962"/>
            <a:chExt cx="2530238" cy="581956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4882651-041F-B108-92F9-8D0C482FDB6D}"/>
                </a:ext>
              </a:extLst>
            </p:cNvPr>
            <p:cNvSpPr/>
            <p:nvPr userDrawn="1"/>
          </p:nvSpPr>
          <p:spPr>
            <a:xfrm>
              <a:off x="131178" y="5775962"/>
              <a:ext cx="2530238" cy="58195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4BA7640B-DE7F-A09A-1943-190EBBAFE63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439767" y="5775962"/>
              <a:ext cx="1913058" cy="581955"/>
            </a:xfrm>
            <a:prstGeom prst="rect">
              <a:avLst/>
            </a:prstGeom>
          </p:spPr>
        </p:pic>
      </p:grpSp>
      <p:sp>
        <p:nvSpPr>
          <p:cNvPr id="14" name="Footer Placeholder 2">
            <a:extLst>
              <a:ext uri="{FF2B5EF4-FFF2-40B4-BE49-F238E27FC236}">
                <a16:creationId xmlns:a16="http://schemas.microsoft.com/office/drawing/2014/main" id="{9340BFD3-7AE9-8A90-F297-21D579DBAAD8}"/>
              </a:ext>
            </a:extLst>
          </p:cNvPr>
          <p:cNvSpPr txBox="1">
            <a:spLocks/>
          </p:cNvSpPr>
          <p:nvPr userDrawn="1"/>
        </p:nvSpPr>
        <p:spPr>
          <a:xfrm>
            <a:off x="3556000" y="6604000"/>
            <a:ext cx="50800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 2301CS404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01 – Introduction to Python, Object and Data Structure</a:t>
            </a:r>
          </a:p>
        </p:txBody>
      </p:sp>
    </p:spTree>
    <p:extLst>
      <p:ext uri="{BB962C8B-B14F-4D97-AF65-F5344CB8AC3E}">
        <p14:creationId xmlns:p14="http://schemas.microsoft.com/office/powerpoint/2010/main" val="3468628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07171932-FFF4-4D27-9425-8CB5D27A92F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581" b="21180"/>
          <a:stretch/>
        </p:blipFill>
        <p:spPr>
          <a:xfrm rot="16200000">
            <a:off x="9807099" y="606901"/>
            <a:ext cx="2991808" cy="177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639DF2A-5426-428D-B32D-78E9191D8A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hq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9646" t="18062" r="2731" b="17724"/>
          <a:stretch/>
        </p:blipFill>
        <p:spPr>
          <a:xfrm>
            <a:off x="0" y="401568"/>
            <a:ext cx="543946" cy="77215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B8C6168-C8A4-4660-9D38-045657B80D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lang="en-US" sz="60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Write here Section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6C89DA-344D-4448-822C-2826084EF12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Write here Section Subtitle</a:t>
            </a:r>
          </a:p>
        </p:txBody>
      </p:sp>
      <p:sp>
        <p:nvSpPr>
          <p:cNvPr id="8" name="Freeform 17">
            <a:extLst>
              <a:ext uri="{FF2B5EF4-FFF2-40B4-BE49-F238E27FC236}">
                <a16:creationId xmlns:a16="http://schemas.microsoft.com/office/drawing/2014/main" id="{910DC0DC-3FC7-402D-8C9F-62D3ACC8DC86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2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F525FD31-DBEE-9A49-8D30-8AA370CD1AC6}"/>
              </a:ext>
            </a:extLst>
          </p:cNvPr>
          <p:cNvGrpSpPr/>
          <p:nvPr userDrawn="1"/>
        </p:nvGrpSpPr>
        <p:grpSpPr>
          <a:xfrm>
            <a:off x="10313386" y="6223181"/>
            <a:ext cx="1649043" cy="501287"/>
            <a:chOff x="10721798" y="852808"/>
            <a:chExt cx="1339023" cy="407045"/>
          </a:xfrm>
        </p:grpSpPr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2E2024B0-256A-DE40-97A3-3554EEB4DEA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F7E3F7EC-9A5A-AA4D-ADD8-31449DFF9791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016929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FE191CF5-3D57-422B-B2EB-FF235E30DB22}"/>
              </a:ext>
            </a:extLst>
          </p:cNvPr>
          <p:cNvGrpSpPr/>
          <p:nvPr userDrawn="1"/>
        </p:nvGrpSpPr>
        <p:grpSpPr>
          <a:xfrm>
            <a:off x="9576896" y="99192"/>
            <a:ext cx="2554142" cy="587454"/>
            <a:chOff x="131178" y="5775962"/>
            <a:chExt cx="2530238" cy="581956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2445F4B-50F2-4CA0-A5C5-6D690A29F3F2}"/>
                </a:ext>
              </a:extLst>
            </p:cNvPr>
            <p:cNvSpPr/>
            <p:nvPr userDrawn="1"/>
          </p:nvSpPr>
          <p:spPr>
            <a:xfrm>
              <a:off x="131178" y="5775962"/>
              <a:ext cx="2530238" cy="58195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C9B183D5-5DE8-48E7-85E7-60CE9D0FD2D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439767" y="5775962"/>
              <a:ext cx="1913058" cy="581955"/>
            </a:xfrm>
            <a:prstGeom prst="rect">
              <a:avLst/>
            </a:prstGeom>
          </p:spPr>
        </p:pic>
      </p:grpSp>
      <p:sp>
        <p:nvSpPr>
          <p:cNvPr id="3" name="Date Placeholder 1">
            <a:extLst>
              <a:ext uri="{FF2B5EF4-FFF2-40B4-BE49-F238E27FC236}">
                <a16:creationId xmlns:a16="http://schemas.microsoft.com/office/drawing/2014/main" id="{71DE99F3-0128-5445-E186-1CE78E6C11DC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Shruti R. Maniar</a:t>
            </a:r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E2CBED7B-5100-8AC7-CB6D-6972AE8053EF}"/>
              </a:ext>
            </a:extLst>
          </p:cNvPr>
          <p:cNvSpPr txBox="1">
            <a:spLocks/>
          </p:cNvSpPr>
          <p:nvPr userDrawn="1"/>
        </p:nvSpPr>
        <p:spPr>
          <a:xfrm>
            <a:off x="3556000" y="6604000"/>
            <a:ext cx="50800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 2301CS404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01 – Introduction to Python, Object and Data Structure</a:t>
            </a:r>
          </a:p>
        </p:txBody>
      </p:sp>
    </p:spTree>
    <p:extLst>
      <p:ext uri="{BB962C8B-B14F-4D97-AF65-F5344CB8AC3E}">
        <p14:creationId xmlns:p14="http://schemas.microsoft.com/office/powerpoint/2010/main" val="29719725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913602D2-CAF0-4790-95E8-87990761ED0C}"/>
              </a:ext>
            </a:extLst>
          </p:cNvPr>
          <p:cNvGrpSpPr/>
          <p:nvPr userDrawn="1"/>
        </p:nvGrpSpPr>
        <p:grpSpPr>
          <a:xfrm>
            <a:off x="9576896" y="5890392"/>
            <a:ext cx="2554142" cy="587454"/>
            <a:chOff x="131178" y="5775962"/>
            <a:chExt cx="2530238" cy="581956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1DE4F58-7D48-453D-89E1-B25767150977}"/>
                </a:ext>
              </a:extLst>
            </p:cNvPr>
            <p:cNvSpPr/>
            <p:nvPr userDrawn="1"/>
          </p:nvSpPr>
          <p:spPr>
            <a:xfrm>
              <a:off x="131178" y="5775962"/>
              <a:ext cx="2530238" cy="58195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A378A2C8-EF9C-479C-ACF0-D9819B46DF5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439767" y="5775962"/>
              <a:ext cx="1913058" cy="581955"/>
            </a:xfrm>
            <a:prstGeom prst="rect">
              <a:avLst/>
            </a:prstGeom>
          </p:spPr>
        </p:pic>
      </p:grpSp>
      <p:sp>
        <p:nvSpPr>
          <p:cNvPr id="3" name="Date Placeholder 1">
            <a:extLst>
              <a:ext uri="{FF2B5EF4-FFF2-40B4-BE49-F238E27FC236}">
                <a16:creationId xmlns:a16="http://schemas.microsoft.com/office/drawing/2014/main" id="{7D5E867D-AF4C-0DF5-88B0-64A003DF62C5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Shruti R. Maniar</a:t>
            </a:r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D80E67B4-E064-17F5-433D-7ECD6F730F73}"/>
              </a:ext>
            </a:extLst>
          </p:cNvPr>
          <p:cNvSpPr txBox="1">
            <a:spLocks/>
          </p:cNvSpPr>
          <p:nvPr userDrawn="1"/>
        </p:nvSpPr>
        <p:spPr>
          <a:xfrm>
            <a:off x="3556000" y="6604000"/>
            <a:ext cx="50800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 2301CS404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01 – Introduction to Python, Object and Data Structure</a:t>
            </a:r>
          </a:p>
        </p:txBody>
      </p:sp>
    </p:spTree>
    <p:extLst>
      <p:ext uri="{BB962C8B-B14F-4D97-AF65-F5344CB8AC3E}">
        <p14:creationId xmlns:p14="http://schemas.microsoft.com/office/powerpoint/2010/main" val="32062478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15C60ED7-12D4-496E-AF73-0995BE8C12FD}"/>
              </a:ext>
            </a:extLst>
          </p:cNvPr>
          <p:cNvGrpSpPr/>
          <p:nvPr userDrawn="1"/>
        </p:nvGrpSpPr>
        <p:grpSpPr>
          <a:xfrm>
            <a:off x="128096" y="5890392"/>
            <a:ext cx="2554142" cy="587454"/>
            <a:chOff x="131178" y="5775962"/>
            <a:chExt cx="2530238" cy="581956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3F480CB-A4AF-424E-90DB-5B677403441A}"/>
                </a:ext>
              </a:extLst>
            </p:cNvPr>
            <p:cNvSpPr/>
            <p:nvPr userDrawn="1"/>
          </p:nvSpPr>
          <p:spPr>
            <a:xfrm>
              <a:off x="131178" y="5775962"/>
              <a:ext cx="2530238" cy="58195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30CB04CE-0025-4B1F-B962-A759D179D84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439767" y="5775962"/>
              <a:ext cx="1913058" cy="581955"/>
            </a:xfrm>
            <a:prstGeom prst="rect">
              <a:avLst/>
            </a:prstGeom>
          </p:spPr>
        </p:pic>
      </p:grpSp>
      <p:sp>
        <p:nvSpPr>
          <p:cNvPr id="3" name="Date Placeholder 1">
            <a:extLst>
              <a:ext uri="{FF2B5EF4-FFF2-40B4-BE49-F238E27FC236}">
                <a16:creationId xmlns:a16="http://schemas.microsoft.com/office/drawing/2014/main" id="{B06346B7-A07D-2EA4-FC24-B861772FA0EA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Shruti R. Maniar</a:t>
            </a:r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D496A798-7FE5-59DF-9F03-8EE8FA0CC7F9}"/>
              </a:ext>
            </a:extLst>
          </p:cNvPr>
          <p:cNvSpPr txBox="1">
            <a:spLocks/>
          </p:cNvSpPr>
          <p:nvPr userDrawn="1"/>
        </p:nvSpPr>
        <p:spPr>
          <a:xfrm>
            <a:off x="3556000" y="6604000"/>
            <a:ext cx="50800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 2301CS404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01 – Introduction to Python, Object and Data Structure</a:t>
            </a:r>
          </a:p>
        </p:txBody>
      </p:sp>
    </p:spTree>
    <p:extLst>
      <p:ext uri="{BB962C8B-B14F-4D97-AF65-F5344CB8AC3E}">
        <p14:creationId xmlns:p14="http://schemas.microsoft.com/office/powerpoint/2010/main" val="42433145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23116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D71C1D1-D056-4C60-9F03-E6291617B71F}"/>
              </a:ext>
            </a:extLst>
          </p:cNvPr>
          <p:cNvSpPr txBox="1"/>
          <p:nvPr userDrawn="1"/>
        </p:nvSpPr>
        <p:spPr>
          <a:xfrm>
            <a:off x="375920" y="457200"/>
            <a:ext cx="41857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How to Crop Circular Photo?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0451329-7800-417A-9D19-D93464C6306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13200" y="1808163"/>
            <a:ext cx="3890962" cy="3890962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3120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Te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4">
                        <a:lumMod val="50000"/>
                      </a:schemeClr>
                    </a:gs>
                    <a:gs pos="100000">
                      <a:srgbClr val="009788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hq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0" name="Picture 19" descr="User icon Royalty Free Vector Image - VectorStock">
            <a:extLst>
              <a:ext uri="{FF2B5EF4-FFF2-40B4-BE49-F238E27FC236}">
                <a16:creationId xmlns:a16="http://schemas.microsoft.com/office/drawing/2014/main" id="{4A8E0F54-DC01-449D-B951-DC7CBAFD954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65D60AFC-04BC-4FCA-A89D-6FCD04B6DC3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8808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Cy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2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hq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0" name="Picture 29" descr="User icon Royalty Free Vector Image - VectorStock">
            <a:extLst>
              <a:ext uri="{FF2B5EF4-FFF2-40B4-BE49-F238E27FC236}">
                <a16:creationId xmlns:a16="http://schemas.microsoft.com/office/drawing/2014/main" id="{5F55812D-505A-4B1A-9EB5-16DCD08F2B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0974588E-8956-4BF5-BF58-B7E42070A56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5704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Light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3">
                        <a:lumMod val="50000"/>
                      </a:schemeClr>
                    </a:gs>
                    <a:gs pos="100000">
                      <a:schemeClr val="accent3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hq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E6570A8-081D-45CE-A0DD-F78F5EDB0F9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0B000B32-CB56-440D-9FAE-7DE703A93A0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0339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A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5">
                        <a:lumMod val="75000"/>
                      </a:schemeClr>
                    </a:gs>
                    <a:gs pos="100000">
                      <a:schemeClr val="accent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hq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00C9ED70-1CC8-4EF2-BE10-AAFE24AAC5D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7FD1CDD6-829C-4C5B-BFB7-74153A66FF2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AFBF56C4-A1BE-EE44-A786-4A827E0E8E1E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1721" y="318857"/>
            <a:ext cx="2976891" cy="90493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026A30E-B0EE-991E-0979-12649F2AAFAC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58597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Maro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hq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80BF4AFD-B365-46D4-AAC5-485DFA5A7D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2BC70C35-8BA7-4D49-9AF7-DC36FAB8FDA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6259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ue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273238"/>
                    </a:gs>
                    <a:gs pos="100000">
                      <a:srgbClr val="607D8B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hq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EB45C91-0DA6-4973-9AEA-FF1388508AC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F70CF6D9-DDB4-41AA-BB82-F8ED04AD8BC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88163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r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3E2622"/>
                    </a:gs>
                    <a:gs pos="100000">
                      <a:srgbClr val="795547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hq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7E386D9D-B92A-4F40-9089-A1FD00CD387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A295F85-D43D-42E5-9539-A471116A43B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52624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eep Pu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301B92"/>
                    </a:gs>
                    <a:gs pos="100000">
                      <a:srgbClr val="673BB7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hq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BE300026-40E8-4FB1-998A-9CEB5F7A1B8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B3B5E9B-B4F0-4E85-954A-F7CC04BBF24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28099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0E47A1"/>
                    </a:gs>
                    <a:gs pos="100000">
                      <a:srgbClr val="03A9F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hq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C3A13D11-EC6C-4E81-AD83-7AC73D273FD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5035EF3-F5FB-41C2-A0BE-B3AEF7556AB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80755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B71B1C"/>
                    </a:gs>
                    <a:gs pos="100000">
                      <a:srgbClr val="ED524F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hq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77B7B864-C091-4493-B14B-F5B61B586EED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46" t="7575" r="25761" b="18186"/>
          <a:stretch>
            <a:fillRect/>
          </a:stretch>
        </p:blipFill>
        <p:spPr>
          <a:xfrm>
            <a:off x="356499" y="5214354"/>
            <a:ext cx="1354234" cy="1354234"/>
          </a:xfrm>
          <a:custGeom>
            <a:avLst/>
            <a:gdLst>
              <a:gd name="connsiteX0" fmla="*/ 2286000 w 4572000"/>
              <a:gd name="connsiteY0" fmla="*/ 0 h 4572000"/>
              <a:gd name="connsiteX1" fmla="*/ 4572000 w 4572000"/>
              <a:gd name="connsiteY1" fmla="*/ 2286000 h 4572000"/>
              <a:gd name="connsiteX2" fmla="*/ 2286000 w 4572000"/>
              <a:gd name="connsiteY2" fmla="*/ 4572000 h 4572000"/>
              <a:gd name="connsiteX3" fmla="*/ 0 w 4572000"/>
              <a:gd name="connsiteY3" fmla="*/ 2286000 h 4572000"/>
              <a:gd name="connsiteX4" fmla="*/ 2286000 w 4572000"/>
              <a:gd name="connsiteY4" fmla="*/ 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72000" h="4572000">
                <a:moveTo>
                  <a:pt x="2286000" y="0"/>
                </a:moveTo>
                <a:cubicBezTo>
                  <a:pt x="3548523" y="0"/>
                  <a:pt x="4572000" y="1023477"/>
                  <a:pt x="4572000" y="2286000"/>
                </a:cubicBezTo>
                <a:cubicBezTo>
                  <a:pt x="4572000" y="3548523"/>
                  <a:pt x="3548523" y="4572000"/>
                  <a:pt x="2286000" y="4572000"/>
                </a:cubicBezTo>
                <a:cubicBezTo>
                  <a:pt x="1023477" y="4572000"/>
                  <a:pt x="0" y="3548523"/>
                  <a:pt x="0" y="2286000"/>
                </a:cubicBezTo>
                <a:cubicBezTo>
                  <a:pt x="0" y="1023477"/>
                  <a:pt x="1023477" y="0"/>
                  <a:pt x="2286000" y="0"/>
                </a:cubicBezTo>
                <a:close/>
              </a:path>
            </a:pathLst>
          </a:custGeom>
          <a:noFill/>
          <a:ln w="6350">
            <a:solidFill>
              <a:schemeClr val="bg1">
                <a:lumMod val="65000"/>
              </a:schemeClr>
            </a:solidFill>
          </a:ln>
          <a:effectLst/>
        </p:spPr>
      </p:pic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177B86E9-222D-4757-BE64-59540DB794E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ABCD18B-D4E0-41E4-8162-7E83CB11DAE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13194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Pi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890E4F"/>
                    </a:gs>
                    <a:gs pos="100000">
                      <a:srgbClr val="D81A60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hq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2F1AAAC-C051-4A31-837B-4A9977722A4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ADF34BDA-AFB4-4120-81EF-C0AB56D388C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5025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F5063B-909B-4A7F-B502-780228043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27DDF1-16E2-4622-B8FD-0148CD5CE0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7EA166-F18A-4D32-AA1F-AE475D4910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D21B45-1703-4330-B544-825BD8F37AF2}" type="datetimeFigureOut">
              <a:rPr lang="en-US" smtClean="0"/>
              <a:pPr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5C5379-5B41-4775-9279-F9F7608E66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A4B342-6FD5-4BB7-B9AE-3C5081C089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41F3C7-36DD-4595-AA08-2525D86280B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954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70" r:id="rId2"/>
    <p:sldLayoutId id="2147483687" r:id="rId3"/>
    <p:sldLayoutId id="2147483688" r:id="rId4"/>
    <p:sldLayoutId id="2147483671" r:id="rId5"/>
    <p:sldLayoutId id="2147483672" r:id="rId6"/>
    <p:sldLayoutId id="2147483689" r:id="rId7"/>
    <p:sldLayoutId id="2147483690" r:id="rId8"/>
    <p:sldLayoutId id="2147483673" r:id="rId9"/>
    <p:sldLayoutId id="2147483691" r:id="rId10"/>
    <p:sldLayoutId id="2147483674" r:id="rId11"/>
    <p:sldLayoutId id="2147483676" r:id="rId12"/>
    <p:sldLayoutId id="2147483677" r:id="rId13"/>
    <p:sldLayoutId id="2147483678" r:id="rId14"/>
    <p:sldLayoutId id="2147483679" r:id="rId15"/>
    <p:sldLayoutId id="2147483681" r:id="rId16"/>
    <p:sldLayoutId id="2147483683" r:id="rId17"/>
    <p:sldLayoutId id="2147483682" r:id="rId18"/>
    <p:sldLayoutId id="2147483684" r:id="rId19"/>
    <p:sldLayoutId id="2147483685" r:id="rId20"/>
    <p:sldLayoutId id="2147483686" r:id="rId2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crdownload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6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9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0E0A5353-D4D5-43D7-A039-6CFC6871D64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800" b="0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Unit-01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Introduction to Python, Object and Data Structure</a:t>
            </a:r>
            <a:br>
              <a:rPr lang="en-US" dirty="0"/>
            </a:b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C137D2E-F7D0-465C-8541-F4CFBBD673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IN" dirty="0"/>
              <a:t>shruti.maniar@darshan.ac.in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83760C-09CC-1D19-AE75-4D7848D5D65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4FACC96-BA70-4FDA-AB13-3B133AD498A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IN" dirty="0"/>
              <a:t>Computer Engineering Department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03A79D48-3C85-46E3-9CAE-59240F299A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IN" dirty="0"/>
              <a:t>Prof. Shruti R. Maniar</a:t>
            </a:r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062CA4D6-180D-44EB-978C-EAE6FB447DC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IN" dirty="0"/>
              <a:t>Python Programming(</a:t>
            </a:r>
            <a:r>
              <a:rPr lang="en-IN" sz="1800" dirty="0">
                <a:effectLst/>
                <a:latin typeface="Roboto Condensed" panose="02000000000000000000" pitchFamily="2" charset="0"/>
              </a:rPr>
              <a:t>2301CS404</a:t>
            </a:r>
            <a:r>
              <a:rPr lang="en-IN" dirty="0"/>
              <a:t>)</a:t>
            </a:r>
            <a:endParaRPr lang="en-US" dirty="0"/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A161DE45-276D-7849-BC99-BAB0D00EC12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/>
      </p:pic>
    </p:spTree>
    <p:extLst>
      <p:ext uri="{BB962C8B-B14F-4D97-AF65-F5344CB8AC3E}">
        <p14:creationId xmlns:p14="http://schemas.microsoft.com/office/powerpoint/2010/main" val="24365200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9EBF344-4A7B-4C4A-AF6D-6441BD040AB3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1191446" y="0"/>
            <a:ext cx="0" cy="68290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A925EF2-D58F-4AC0-ACED-F747CC08D69F}"/>
              </a:ext>
            </a:extLst>
          </p:cNvPr>
          <p:cNvCxnSpPr>
            <a:cxnSpLocks/>
          </p:cNvCxnSpPr>
          <p:nvPr/>
        </p:nvCxnSpPr>
        <p:spPr>
          <a:xfrm>
            <a:off x="1191446" y="3622876"/>
            <a:ext cx="0" cy="264173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4BD1E24D-7739-4C4F-8234-2614FB54ADBC}"/>
              </a:ext>
            </a:extLst>
          </p:cNvPr>
          <p:cNvSpPr/>
          <p:nvPr/>
        </p:nvSpPr>
        <p:spPr>
          <a:xfrm>
            <a:off x="954165" y="682906"/>
            <a:ext cx="474562" cy="474562"/>
          </a:xfrm>
          <a:prstGeom prst="ellips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ym typeface="Wingdings 2" panose="05020102010507070707" pitchFamily="18" charset="2"/>
              </a:rPr>
              <a:t></a:t>
            </a:r>
            <a:endParaRPr 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F422F9-3B3A-4A97-ADB3-F83B13E11C16}"/>
              </a:ext>
            </a:extLst>
          </p:cNvPr>
          <p:cNvSpPr txBox="1"/>
          <p:nvPr/>
        </p:nvSpPr>
        <p:spPr>
          <a:xfrm>
            <a:off x="1527893" y="720132"/>
            <a:ext cx="11753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Looping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34260FD-CAA3-43A0-977C-7E4B57013872}"/>
              </a:ext>
            </a:extLst>
          </p:cNvPr>
          <p:cNvCxnSpPr>
            <a:cxnSpLocks/>
          </p:cNvCxnSpPr>
          <p:nvPr/>
        </p:nvCxnSpPr>
        <p:spPr>
          <a:xfrm>
            <a:off x="1191446" y="1157468"/>
            <a:ext cx="0" cy="246540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DA2F9A4-6988-4274-8384-12496EC9D59D}"/>
              </a:ext>
            </a:extLst>
          </p:cNvPr>
          <p:cNvSpPr txBox="1"/>
          <p:nvPr/>
        </p:nvSpPr>
        <p:spPr>
          <a:xfrm>
            <a:off x="1458964" y="673475"/>
            <a:ext cx="4909938" cy="5970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Outline</a:t>
            </a:r>
          </a:p>
          <a:p>
            <a:endParaRPr lang="en-US" b="1" dirty="0"/>
          </a:p>
          <a:p>
            <a:pPr indent="446088">
              <a:buFont typeface="Wingdings" pitchFamily="2" charset="2"/>
              <a:buChar char="ü"/>
            </a:pPr>
            <a:r>
              <a:rPr lang="en-US" sz="2000" dirty="0"/>
              <a:t>Introduction to Python</a:t>
            </a:r>
          </a:p>
          <a:p>
            <a:pPr indent="446088">
              <a:buFont typeface="Wingdings" pitchFamily="2" charset="2"/>
              <a:buChar char="ü"/>
            </a:pPr>
            <a:r>
              <a:rPr lang="en-US" sz="2000" dirty="0"/>
              <a:t>Advantages of Python</a:t>
            </a:r>
          </a:p>
          <a:p>
            <a:pPr indent="446088">
              <a:buFont typeface="Wingdings" pitchFamily="2" charset="2"/>
              <a:buChar char="ü"/>
            </a:pPr>
            <a:r>
              <a:rPr lang="en-US" sz="2000" dirty="0"/>
              <a:t>Installing Python</a:t>
            </a:r>
          </a:p>
          <a:p>
            <a:pPr indent="446088">
              <a:buFont typeface="Wingdings" pitchFamily="2" charset="2"/>
              <a:buChar char="ü"/>
            </a:pPr>
            <a:r>
              <a:rPr lang="en-US" sz="2000" dirty="0"/>
              <a:t>User Interface and IDE</a:t>
            </a:r>
          </a:p>
          <a:p>
            <a:pPr indent="446088">
              <a:buFont typeface="Wingdings" pitchFamily="2" charset="2"/>
              <a:buChar char="ü"/>
            </a:pPr>
            <a:r>
              <a:rPr lang="en-US" sz="2000" dirty="0"/>
              <a:t>Program Structure</a:t>
            </a:r>
          </a:p>
          <a:p>
            <a:pPr indent="446088">
              <a:buFont typeface="Wingdings" pitchFamily="2" charset="2"/>
              <a:buChar char="ü"/>
            </a:pPr>
            <a:r>
              <a:rPr lang="en-US" sz="2000" dirty="0"/>
              <a:t>Indentation</a:t>
            </a:r>
          </a:p>
          <a:p>
            <a:pPr indent="446088">
              <a:buFont typeface="Wingdings" pitchFamily="2" charset="2"/>
              <a:buChar char="ü"/>
            </a:pPr>
            <a:r>
              <a:rPr lang="en-US" sz="2000" dirty="0"/>
              <a:t>Comments</a:t>
            </a:r>
          </a:p>
          <a:p>
            <a:pPr indent="446088">
              <a:buFont typeface="Wingdings" pitchFamily="2" charset="2"/>
              <a:buChar char="ü"/>
            </a:pPr>
            <a:r>
              <a:rPr lang="en-US" sz="2000" dirty="0"/>
              <a:t>Reading Input</a:t>
            </a:r>
          </a:p>
          <a:p>
            <a:pPr indent="446088">
              <a:buFont typeface="Wingdings" pitchFamily="2" charset="2"/>
              <a:buChar char="ü"/>
            </a:pPr>
            <a:r>
              <a:rPr lang="en-US" sz="2000" dirty="0"/>
              <a:t>Print Output</a:t>
            </a:r>
          </a:p>
          <a:p>
            <a:pPr indent="446088">
              <a:buFont typeface="Wingdings" pitchFamily="2" charset="2"/>
              <a:buChar char="ü"/>
            </a:pPr>
            <a:r>
              <a:rPr lang="en-US" sz="2000" dirty="0"/>
              <a:t>Data types</a:t>
            </a:r>
          </a:p>
          <a:p>
            <a:pPr indent="446088">
              <a:buFont typeface="Wingdings" pitchFamily="2" charset="2"/>
              <a:buChar char="ü"/>
            </a:pPr>
            <a:r>
              <a:rPr lang="en-US" sz="2000" dirty="0"/>
              <a:t>Tokens</a:t>
            </a:r>
          </a:p>
          <a:p>
            <a:pPr indent="446088">
              <a:buFont typeface="Wingdings" pitchFamily="2" charset="2"/>
              <a:buChar char="ü"/>
            </a:pPr>
            <a:r>
              <a:rPr lang="en-US" sz="2000" dirty="0"/>
              <a:t>Variables</a:t>
            </a:r>
          </a:p>
          <a:p>
            <a:pPr indent="446088">
              <a:buFont typeface="Wingdings" pitchFamily="2" charset="2"/>
              <a:buChar char="ü"/>
            </a:pPr>
            <a:r>
              <a:rPr lang="en-US" sz="2000" dirty="0"/>
              <a:t>String </a:t>
            </a:r>
          </a:p>
          <a:p>
            <a:pPr indent="446088">
              <a:buFont typeface="Wingdings" pitchFamily="2" charset="2"/>
              <a:buChar char="ü"/>
            </a:pPr>
            <a:r>
              <a:rPr lang="en-US" sz="2000" dirty="0"/>
              <a:t>List</a:t>
            </a:r>
          </a:p>
          <a:p>
            <a:pPr indent="446088">
              <a:buFont typeface="Wingdings" pitchFamily="2" charset="2"/>
              <a:buChar char="ü"/>
            </a:pPr>
            <a:r>
              <a:rPr lang="en-US" sz="2000" dirty="0"/>
              <a:t>Tuple</a:t>
            </a:r>
          </a:p>
          <a:p>
            <a:pPr indent="446088">
              <a:buFont typeface="Wingdings" pitchFamily="2" charset="2"/>
              <a:buChar char="ü"/>
            </a:pPr>
            <a:r>
              <a:rPr lang="en-US" sz="2000" dirty="0"/>
              <a:t>Set</a:t>
            </a:r>
          </a:p>
          <a:p>
            <a:pPr indent="446088">
              <a:buFont typeface="Wingdings" pitchFamily="2" charset="2"/>
              <a:buChar char="ü"/>
            </a:pPr>
            <a:r>
              <a:rPr lang="en-US" sz="2000" dirty="0"/>
              <a:t>Dictionary</a:t>
            </a:r>
          </a:p>
        </p:txBody>
      </p:sp>
    </p:spTree>
    <p:extLst>
      <p:ext uri="{BB962C8B-B14F-4D97-AF65-F5344CB8AC3E}">
        <p14:creationId xmlns:p14="http://schemas.microsoft.com/office/powerpoint/2010/main" val="4216305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0631E3-ECBC-F381-3340-D902C86866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42D3247-A647-CFE8-CA94-0784292019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 to Python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09A34B-9E5C-040B-BA85-A855445721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52127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 to Python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Python is </a:t>
            </a:r>
            <a:r>
              <a:rPr lang="en-US" b="1" dirty="0">
                <a:solidFill>
                  <a:srgbClr val="C00000"/>
                </a:solidFill>
              </a:rPr>
              <a:t>high-level</a:t>
            </a:r>
            <a:r>
              <a:rPr lang="en-US" dirty="0">
                <a:solidFill>
                  <a:srgbClr val="C00000"/>
                </a:solidFill>
              </a:rPr>
              <a:t>, </a:t>
            </a:r>
            <a:r>
              <a:rPr lang="en-US" b="1" dirty="0">
                <a:solidFill>
                  <a:srgbClr val="C00000"/>
                </a:solidFill>
              </a:rPr>
              <a:t>general-purpose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programming language.</a:t>
            </a:r>
          </a:p>
          <a:p>
            <a:r>
              <a:rPr lang="en-US" dirty="0"/>
              <a:t>Python was developed by </a:t>
            </a:r>
            <a:r>
              <a:rPr lang="en-US" b="1" dirty="0">
                <a:solidFill>
                  <a:srgbClr val="C00000"/>
                </a:solidFill>
              </a:rPr>
              <a:t>Guido van Rossum </a:t>
            </a:r>
            <a:r>
              <a:rPr lang="en-US" dirty="0"/>
              <a:t>and first released in </a:t>
            </a:r>
            <a:r>
              <a:rPr lang="en-US" b="1" dirty="0">
                <a:solidFill>
                  <a:srgbClr val="C00000"/>
                </a:solidFill>
              </a:rPr>
              <a:t>1991</a:t>
            </a:r>
            <a:r>
              <a:rPr lang="en-US" dirty="0"/>
              <a:t>.</a:t>
            </a:r>
          </a:p>
          <a:p>
            <a:r>
              <a:rPr lang="en-US" dirty="0"/>
              <a:t>Python is designed with a focus on </a:t>
            </a:r>
            <a:r>
              <a:rPr lang="en-US" b="1" dirty="0">
                <a:solidFill>
                  <a:srgbClr val="C00000"/>
                </a:solidFill>
              </a:rPr>
              <a:t>simplicity</a:t>
            </a:r>
            <a:r>
              <a:rPr lang="en-US" dirty="0"/>
              <a:t>, </a:t>
            </a:r>
            <a:r>
              <a:rPr lang="en-US" b="1" dirty="0">
                <a:solidFill>
                  <a:srgbClr val="C00000"/>
                </a:solidFill>
              </a:rPr>
              <a:t>readability</a:t>
            </a:r>
            <a:r>
              <a:rPr lang="en-US" dirty="0"/>
              <a:t> and </a:t>
            </a:r>
            <a:r>
              <a:rPr lang="en-US" b="1" dirty="0">
                <a:solidFill>
                  <a:srgbClr val="C00000"/>
                </a:solidFill>
              </a:rPr>
              <a:t>ease of use</a:t>
            </a:r>
            <a:r>
              <a:rPr lang="en-US" dirty="0"/>
              <a:t>.</a:t>
            </a:r>
          </a:p>
          <a:p>
            <a:r>
              <a:rPr lang="en-US" dirty="0"/>
              <a:t>Python follows multiple programming paradigm:</a:t>
            </a:r>
          </a:p>
          <a:p>
            <a:pPr lvl="1"/>
            <a:r>
              <a:rPr lang="en-US" dirty="0"/>
              <a:t>Procedural Programming</a:t>
            </a:r>
          </a:p>
          <a:p>
            <a:pPr lvl="1"/>
            <a:r>
              <a:rPr lang="en-US" dirty="0"/>
              <a:t>Functional Programming</a:t>
            </a:r>
          </a:p>
          <a:p>
            <a:pPr lvl="1"/>
            <a:r>
              <a:rPr lang="en-US" dirty="0"/>
              <a:t>Object Oriented Programming</a:t>
            </a:r>
          </a:p>
          <a:p>
            <a:r>
              <a:rPr lang="en-US" dirty="0"/>
              <a:t>Python comes with a large </a:t>
            </a:r>
            <a:r>
              <a:rPr lang="en-US" b="1" dirty="0">
                <a:solidFill>
                  <a:srgbClr val="C00000"/>
                </a:solidFill>
              </a:rPr>
              <a:t>standard library </a:t>
            </a:r>
            <a:r>
              <a:rPr lang="en-US" dirty="0"/>
              <a:t>and strong </a:t>
            </a:r>
            <a:r>
              <a:rPr lang="en-US" b="1" dirty="0">
                <a:solidFill>
                  <a:srgbClr val="C00000"/>
                </a:solidFill>
              </a:rPr>
              <a:t>community support</a:t>
            </a:r>
            <a:r>
              <a:rPr lang="en-US" dirty="0"/>
              <a:t>.</a:t>
            </a:r>
          </a:p>
          <a:p>
            <a:r>
              <a:rPr lang="en-US" dirty="0"/>
              <a:t>Python is widely used in Web Development, Data Science &amp; Machine Learning, Artificial Intelligence, Automation &amp; Scripting, Cybersecurity, and general Software Development.</a:t>
            </a:r>
          </a:p>
          <a:p>
            <a:r>
              <a:rPr lang="en-US" dirty="0"/>
              <a:t>Latest </a:t>
            </a:r>
            <a:r>
              <a:rPr lang="en-IN" dirty="0"/>
              <a:t>version of python is </a:t>
            </a:r>
            <a:r>
              <a:rPr lang="en-IN" b="1" dirty="0">
                <a:solidFill>
                  <a:srgbClr val="C00000"/>
                </a:solidFill>
              </a:rPr>
              <a:t>3.14.0</a:t>
            </a:r>
            <a:r>
              <a:rPr lang="en-IN" dirty="0"/>
              <a:t> (as of Oct 2025)</a:t>
            </a:r>
            <a:endParaRPr lang="en-US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3BB9DA3D-DD6D-C896-8021-6DFBF81DFC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11007" y="1582672"/>
            <a:ext cx="2071992" cy="2466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150AC9-CB5B-4B0A-48C2-DCDFEC89F6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AEF4C7B-8F06-9417-D856-7D49AECA01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Advantages of Python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BF2EE8-8B9C-C559-8923-E73C325F98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97159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Advantages of Python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81" y="863444"/>
            <a:ext cx="6493356" cy="5590565"/>
          </a:xfrm>
        </p:spPr>
        <p:txBody>
          <a:bodyPr/>
          <a:lstStyle/>
          <a:p>
            <a:r>
              <a:rPr lang="en-IN" b="1" dirty="0">
                <a:solidFill>
                  <a:srgbClr val="C00000"/>
                </a:solidFill>
              </a:rPr>
              <a:t>Easy to Read, Learn and Understand </a:t>
            </a:r>
          </a:p>
          <a:p>
            <a:pPr lvl="1"/>
            <a:r>
              <a:rPr lang="en-IN" dirty="0"/>
              <a:t>Code written in Python is simple and readable.</a:t>
            </a:r>
          </a:p>
          <a:p>
            <a:pPr lvl="1"/>
            <a:r>
              <a:rPr lang="en-IN" dirty="0"/>
              <a:t>Uses more English keywords.</a:t>
            </a:r>
          </a:p>
          <a:p>
            <a:pPr lvl="1"/>
            <a:r>
              <a:rPr lang="en-IN" dirty="0"/>
              <a:t>It has fewer syntax constructions than other languages.</a:t>
            </a:r>
          </a:p>
          <a:p>
            <a:r>
              <a:rPr lang="en-US" b="1" dirty="0">
                <a:solidFill>
                  <a:srgbClr val="C00000"/>
                </a:solidFill>
              </a:rPr>
              <a:t>High-Level Language </a:t>
            </a:r>
            <a:endParaRPr lang="en-IN" b="1" dirty="0">
              <a:solidFill>
                <a:srgbClr val="C00000"/>
              </a:solidFill>
            </a:endParaRPr>
          </a:p>
          <a:p>
            <a:pPr lvl="1"/>
            <a:r>
              <a:rPr lang="en-US" dirty="0"/>
              <a:t>Python is closer to human language than machine code (low-level language). </a:t>
            </a:r>
          </a:p>
          <a:p>
            <a:pPr lvl="1"/>
            <a:r>
              <a:rPr lang="en-US" dirty="0"/>
              <a:t>We do not need to manually allocate/deallocate memory, as </a:t>
            </a:r>
            <a:r>
              <a:rPr lang="en-US" dirty="0">
                <a:solidFill>
                  <a:srgbClr val="C00000"/>
                </a:solidFill>
              </a:rPr>
              <a:t>garbage collector </a:t>
            </a:r>
            <a:r>
              <a:rPr lang="en-US" dirty="0"/>
              <a:t>takes care of unused memory automatically.</a:t>
            </a:r>
            <a:endParaRPr lang="en-IN" dirty="0"/>
          </a:p>
          <a:p>
            <a:pPr lvl="1"/>
            <a:r>
              <a:rPr lang="en-US" dirty="0"/>
              <a:t>This gives you the ability to program at a faster rate.</a:t>
            </a:r>
            <a:endParaRPr lang="en-IN" dirty="0">
              <a:solidFill>
                <a:srgbClr val="C00000"/>
              </a:solidFill>
            </a:endParaRPr>
          </a:p>
          <a:p>
            <a:pPr lvl="1"/>
            <a:endParaRPr lang="en-IN" dirty="0"/>
          </a:p>
          <a:p>
            <a:pPr lvl="1"/>
            <a:endParaRPr lang="en-IN" dirty="0"/>
          </a:p>
          <a:p>
            <a:pPr lvl="1"/>
            <a:endParaRPr lang="en-IN" dirty="0"/>
          </a:p>
          <a:p>
            <a:pPr lvl="1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AF38C5C-2160-A074-2753-76D80EAAF9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1008" y="2809787"/>
            <a:ext cx="2270957" cy="213378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47E6FDF-A81D-84C9-DB8A-24D6498173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1295" y="2809787"/>
            <a:ext cx="2301439" cy="214902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F3AA036-2E18-7D01-0E1E-37407ACE457E}"/>
              </a:ext>
            </a:extLst>
          </p:cNvPr>
          <p:cNvSpPr txBox="1"/>
          <p:nvPr/>
        </p:nvSpPr>
        <p:spPr>
          <a:xfrm>
            <a:off x="6255896" y="2322571"/>
            <a:ext cx="2745880" cy="400110"/>
          </a:xfrm>
          <a:prstGeom prst="rect">
            <a:avLst/>
          </a:prstGeom>
          <a:solidFill>
            <a:srgbClr val="002060"/>
          </a:solidFill>
          <a:ln>
            <a:solidFill>
              <a:schemeClr val="tx1">
                <a:lumMod val="10000"/>
                <a:lumOff val="90000"/>
              </a:schemeClr>
            </a:solidFill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>
            <a:defPPr>
              <a:defRPr lang="en-US"/>
            </a:defPPr>
            <a:lvl1pPr>
              <a:defRPr sz="2000">
                <a:solidFill>
                  <a:schemeClr val="lt1"/>
                </a:solidFill>
                <a:latin typeface="Arial Rounded MT Bold" panose="020F070403050403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dirty="0"/>
              <a:t>Low-Level Language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0DE9F0A-621B-1E45-0736-ABDF7E7CD56B}"/>
              </a:ext>
            </a:extLst>
          </p:cNvPr>
          <p:cNvSpPr txBox="1"/>
          <p:nvPr/>
        </p:nvSpPr>
        <p:spPr>
          <a:xfrm>
            <a:off x="9185305" y="4951296"/>
            <a:ext cx="2875514" cy="400110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>
                <a:solidFill>
                  <a:schemeClr val="lt1"/>
                </a:solidFill>
                <a:latin typeface="Arial Rounded MT Bold" panose="020F070403050403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dirty="0"/>
              <a:t>High-Level Language</a:t>
            </a:r>
            <a:endParaRPr lang="en-IN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5927D9B-449B-8133-D5BD-9F40EBFC8A86}"/>
              </a:ext>
            </a:extLst>
          </p:cNvPr>
          <p:cNvGrpSpPr/>
          <p:nvPr/>
        </p:nvGrpSpPr>
        <p:grpSpPr>
          <a:xfrm>
            <a:off x="6940939" y="1815134"/>
            <a:ext cx="4751093" cy="1856600"/>
            <a:chOff x="96255" y="2555790"/>
            <a:chExt cx="6374104" cy="2975625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6F485F27-FEF2-1171-CB52-71F4C3C07C6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6255" y="3336665"/>
              <a:ext cx="6374104" cy="2194750"/>
            </a:xfrm>
            <a:prstGeom prst="rect">
              <a:avLst/>
            </a:prstGeom>
            <a:ln w="28575">
              <a:solidFill>
                <a:srgbClr val="002060"/>
              </a:solidFill>
            </a:ln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BD76CCE7-3A25-DE9B-703F-2C84EF3824C0}"/>
                </a:ext>
              </a:extLst>
            </p:cNvPr>
            <p:cNvSpPr txBox="1"/>
            <p:nvPr/>
          </p:nvSpPr>
          <p:spPr>
            <a:xfrm>
              <a:off x="96255" y="2555790"/>
              <a:ext cx="1292041" cy="641267"/>
            </a:xfrm>
            <a:prstGeom prst="rect">
              <a:avLst/>
            </a:prstGeom>
            <a:solidFill>
              <a:srgbClr val="002060"/>
            </a:solidFill>
            <a:ln>
              <a:solidFill>
                <a:schemeClr val="bg1"/>
              </a:solidFill>
            </a:ln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lang="en-US" sz="2000" dirty="0">
                  <a:latin typeface="Arial Rounded MT Bold" panose="020F0704030504030204" pitchFamily="34" charset="0"/>
                </a:rPr>
                <a:t>Java</a:t>
              </a:r>
              <a:endParaRPr lang="en-IN" sz="2000" dirty="0">
                <a:latin typeface="Arial Rounded MT Bold" panose="020F0704030504030204" pitchFamily="34" charset="0"/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953F9A29-4CB8-A8DC-5611-D83032FE37D4}"/>
              </a:ext>
            </a:extLst>
          </p:cNvPr>
          <p:cNvGrpSpPr/>
          <p:nvPr/>
        </p:nvGrpSpPr>
        <p:grpSpPr>
          <a:xfrm>
            <a:off x="6972409" y="3876680"/>
            <a:ext cx="3747471" cy="1123341"/>
            <a:chOff x="6972410" y="3876680"/>
            <a:chExt cx="2736121" cy="1123341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1C20B310-2C12-C3BD-BFD7-C47D74D4197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972410" y="4351320"/>
              <a:ext cx="2736121" cy="648701"/>
            </a:xfrm>
            <a:prstGeom prst="rect">
              <a:avLst/>
            </a:prstGeom>
            <a:ln w="28575">
              <a:solidFill>
                <a:srgbClr val="002060"/>
              </a:solidFill>
            </a:ln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BA966043-B6C6-CE83-39DB-47155C245A0B}"/>
                </a:ext>
              </a:extLst>
            </p:cNvPr>
            <p:cNvSpPr txBox="1"/>
            <p:nvPr/>
          </p:nvSpPr>
          <p:spPr>
            <a:xfrm>
              <a:off x="6972410" y="3876680"/>
              <a:ext cx="1091820" cy="400110"/>
            </a:xfrm>
            <a:prstGeom prst="rect">
              <a:avLst/>
            </a:prstGeom>
            <a:solidFill>
              <a:srgbClr val="002060"/>
            </a:solidFill>
            <a:ln>
              <a:solidFill>
                <a:schemeClr val="bg1"/>
              </a:solidFill>
            </a:ln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lang="en-US" sz="2000" dirty="0">
                  <a:latin typeface="Arial Rounded MT Bold" panose="020F0704030504030204" pitchFamily="34" charset="0"/>
                </a:rPr>
                <a:t>Python</a:t>
              </a:r>
              <a:endParaRPr lang="en-IN" sz="2000" dirty="0">
                <a:latin typeface="Arial Rounded MT Bold" panose="020F07040305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819444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8" grpId="1" animBg="1"/>
      <p:bldP spid="9" grpId="0" animBg="1"/>
      <p:bldP spid="9" grpId="1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0425BD-452D-A579-253A-A5D4E29E1F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67AABB-522E-2BA2-394B-71C2D8FE50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Garbage Collection is done?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E215E5-D543-F5F1-716F-2B8BA2FAFD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702725"/>
          </a:xfrm>
        </p:spPr>
        <p:txBody>
          <a:bodyPr/>
          <a:lstStyle/>
          <a:p>
            <a:r>
              <a:rPr lang="en-IN" dirty="0"/>
              <a:t>When we write x = 10 , </a:t>
            </a:r>
            <a:r>
              <a:rPr lang="en-US" dirty="0"/>
              <a:t>Python performs </a:t>
            </a:r>
            <a:r>
              <a:rPr lang="en-US" b="1" dirty="0"/>
              <a:t>following steps</a:t>
            </a:r>
            <a:r>
              <a:rPr lang="en-US" dirty="0"/>
              <a:t> internally:</a:t>
            </a:r>
          </a:p>
          <a:p>
            <a:r>
              <a:rPr lang="en-US" b="1" dirty="0">
                <a:solidFill>
                  <a:srgbClr val="C00000"/>
                </a:solidFill>
              </a:rPr>
              <a:t>Python creates an object for the value</a:t>
            </a:r>
          </a:p>
          <a:p>
            <a:pPr lvl="1"/>
            <a:r>
              <a:rPr lang="en-US" dirty="0"/>
              <a:t>Python stores all data as </a:t>
            </a:r>
            <a:r>
              <a:rPr lang="en-US" b="1" dirty="0"/>
              <a:t>objects</a:t>
            </a:r>
            <a:r>
              <a:rPr lang="en-US" dirty="0"/>
              <a:t>, not as raw values.</a:t>
            </a:r>
          </a:p>
          <a:p>
            <a:pPr lvl="1"/>
            <a:r>
              <a:rPr lang="en-US" dirty="0"/>
              <a:t>So, Python first creates an </a:t>
            </a:r>
            <a:r>
              <a:rPr lang="en-US" b="1" dirty="0"/>
              <a:t>integer object</a:t>
            </a:r>
            <a:r>
              <a:rPr lang="en-US" dirty="0"/>
              <a:t> with value </a:t>
            </a:r>
            <a:r>
              <a:rPr lang="en-US" b="1" dirty="0"/>
              <a:t>10</a:t>
            </a:r>
            <a:r>
              <a:rPr lang="en-US" dirty="0"/>
              <a:t> in memory.</a:t>
            </a:r>
          </a:p>
          <a:p>
            <a:r>
              <a:rPr lang="en-IN" b="1" dirty="0">
                <a:solidFill>
                  <a:srgbClr val="C00000"/>
                </a:solidFill>
              </a:rPr>
              <a:t>A name binding happens (x → object)</a:t>
            </a:r>
          </a:p>
          <a:p>
            <a:pPr lvl="1"/>
            <a:r>
              <a:rPr lang="en-US" dirty="0"/>
              <a:t>In Python, x is </a:t>
            </a:r>
            <a:r>
              <a:rPr lang="en-US" b="1" dirty="0"/>
              <a:t>not a box</a:t>
            </a:r>
            <a:r>
              <a:rPr lang="en-US" dirty="0"/>
              <a:t> that stores data.</a:t>
            </a:r>
          </a:p>
          <a:p>
            <a:pPr lvl="1"/>
            <a:r>
              <a:rPr lang="en-US" dirty="0"/>
              <a:t>x is just a </a:t>
            </a:r>
            <a:r>
              <a:rPr lang="en-US" b="1" dirty="0"/>
              <a:t>name (reference)</a:t>
            </a:r>
            <a:r>
              <a:rPr lang="en-US" dirty="0"/>
              <a:t> pointing to the object 10.</a:t>
            </a:r>
          </a:p>
          <a:p>
            <a:pPr lvl="1"/>
            <a:r>
              <a:rPr lang="en-US" dirty="0"/>
              <a:t>Python stores this mapping in a </a:t>
            </a:r>
            <a:r>
              <a:rPr lang="en-US" b="1" dirty="0"/>
              <a:t>namespace (dictionary)</a:t>
            </a:r>
            <a:r>
              <a:rPr lang="en-US" dirty="0"/>
              <a:t> for that scope.</a:t>
            </a:r>
          </a:p>
          <a:p>
            <a:r>
              <a:rPr lang="en-US" b="1" dirty="0">
                <a:solidFill>
                  <a:srgbClr val="C00000"/>
                </a:solidFill>
              </a:rPr>
              <a:t>Reference counting is used to manage object lifetime</a:t>
            </a:r>
          </a:p>
          <a:p>
            <a:pPr lvl="1"/>
            <a:r>
              <a:rPr lang="en-US" dirty="0"/>
              <a:t>Python uses </a:t>
            </a:r>
            <a:r>
              <a:rPr lang="en-US" b="1" dirty="0"/>
              <a:t>Reference Counting</a:t>
            </a:r>
            <a:r>
              <a:rPr lang="en-US" dirty="0"/>
              <a:t> to track how many names refer to an object.</a:t>
            </a:r>
          </a:p>
          <a:p>
            <a:pPr lvl="1"/>
            <a:r>
              <a:rPr lang="en-US" dirty="0"/>
              <a:t>If all references to an object are removed then </a:t>
            </a:r>
            <a:r>
              <a:rPr lang="en-IN" dirty="0"/>
              <a:t>reference count becomes zero, so now Python automatically </a:t>
            </a:r>
            <a:r>
              <a:rPr lang="en-IN" b="1" dirty="0"/>
              <a:t>deallocates</a:t>
            </a:r>
            <a:r>
              <a:rPr lang="en-IN" dirty="0"/>
              <a:t> it.</a:t>
            </a:r>
          </a:p>
          <a:p>
            <a:endParaRPr lang="en-US" dirty="0"/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672316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C41E1B-F237-F8F2-D321-300917C4FE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490BF0-9414-4C8D-3F78-F1B858B5ED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Garbage Collection is done? -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B2E7D9-268E-8B55-BF65-14D35859AE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702725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rgbClr val="C00000"/>
                </a:solidFill>
              </a:rPr>
              <a:t>x = 10</a:t>
            </a:r>
          </a:p>
          <a:p>
            <a:pPr lvl="1"/>
            <a:r>
              <a:rPr lang="en-US" dirty="0"/>
              <a:t>Python creates (or reuses) an integer object </a:t>
            </a:r>
            <a:r>
              <a:rPr lang="en-US" b="1" dirty="0"/>
              <a:t>10</a:t>
            </a:r>
            <a:r>
              <a:rPr lang="en-US" dirty="0"/>
              <a:t> in memory.</a:t>
            </a:r>
          </a:p>
          <a:p>
            <a:pPr lvl="1"/>
            <a:r>
              <a:rPr lang="en-US" dirty="0"/>
              <a:t>The name </a:t>
            </a:r>
            <a:r>
              <a:rPr lang="en-US" b="1" dirty="0"/>
              <a:t>x</a:t>
            </a:r>
            <a:r>
              <a:rPr lang="en-US" dirty="0"/>
              <a:t> is bound to this object.</a:t>
            </a:r>
          </a:p>
          <a:p>
            <a:pPr marL="0" indent="0">
              <a:buNone/>
            </a:pPr>
            <a:r>
              <a:rPr lang="en-IN" b="1" dirty="0">
                <a:solidFill>
                  <a:srgbClr val="C00000"/>
                </a:solidFill>
              </a:rPr>
              <a:t>y = x</a:t>
            </a:r>
          </a:p>
          <a:p>
            <a:pPr lvl="1"/>
            <a:r>
              <a:rPr lang="en-US" dirty="0"/>
              <a:t>Python does </a:t>
            </a:r>
            <a:r>
              <a:rPr lang="en-US" b="1" dirty="0"/>
              <a:t>not copy</a:t>
            </a:r>
            <a:r>
              <a:rPr lang="en-US" dirty="0"/>
              <a:t> the value It simply creates another name </a:t>
            </a:r>
            <a:r>
              <a:rPr lang="en-US" b="1" dirty="0"/>
              <a:t>y</a:t>
            </a:r>
            <a:r>
              <a:rPr lang="en-US" dirty="0"/>
              <a:t> pointing to the same object </a:t>
            </a:r>
            <a:r>
              <a:rPr lang="en-US" b="1" dirty="0"/>
              <a:t>10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Reference count of object 10 becomes </a:t>
            </a:r>
            <a:r>
              <a:rPr lang="en-US" b="1" dirty="0"/>
              <a:t>2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b="1" dirty="0">
                <a:solidFill>
                  <a:srgbClr val="C00000"/>
                </a:solidFill>
              </a:rPr>
              <a:t>x = 20</a:t>
            </a:r>
          </a:p>
          <a:p>
            <a:pPr lvl="1"/>
            <a:r>
              <a:rPr lang="en-US" dirty="0"/>
              <a:t>Python creates (or reuses) an integer object </a:t>
            </a:r>
            <a:r>
              <a:rPr lang="en-US" b="1" dirty="0"/>
              <a:t>20</a:t>
            </a:r>
            <a:r>
              <a:rPr lang="en-US" dirty="0"/>
              <a:t>, now the name </a:t>
            </a:r>
            <a:r>
              <a:rPr lang="en-US" b="1" dirty="0"/>
              <a:t>x</a:t>
            </a:r>
            <a:r>
              <a:rPr lang="en-US" dirty="0"/>
              <a:t> is </a:t>
            </a:r>
            <a:r>
              <a:rPr lang="en-US" b="1" dirty="0"/>
              <a:t>rebound</a:t>
            </a:r>
            <a:r>
              <a:rPr lang="en-US" dirty="0"/>
              <a:t> to this new object</a:t>
            </a:r>
            <a:r>
              <a:rPr lang="en-IN" dirty="0"/>
              <a:t>.</a:t>
            </a:r>
          </a:p>
          <a:p>
            <a:pPr lvl="1"/>
            <a:r>
              <a:rPr lang="en-US" b="1" dirty="0"/>
              <a:t>y remains unchanged</a:t>
            </a:r>
            <a:r>
              <a:rPr lang="en-US" dirty="0"/>
              <a:t>, still pointing to </a:t>
            </a:r>
            <a:r>
              <a:rPr lang="en-US" b="1" dirty="0"/>
              <a:t>10.</a:t>
            </a:r>
          </a:p>
          <a:p>
            <a:pPr lvl="1"/>
            <a:r>
              <a:rPr lang="en-US" dirty="0"/>
              <a:t>Reference count of object 10 becomes 1 and Reference count of object 20 becomes 1.</a:t>
            </a:r>
          </a:p>
          <a:p>
            <a:pPr lvl="1"/>
            <a:r>
              <a:rPr lang="en-US" dirty="0"/>
              <a:t>The object 10 is </a:t>
            </a:r>
            <a:r>
              <a:rPr lang="en-US" b="1" dirty="0"/>
              <a:t>not deleted</a:t>
            </a:r>
            <a:r>
              <a:rPr lang="en-US" dirty="0"/>
              <a:t>, because y still refers to it.</a:t>
            </a:r>
          </a:p>
          <a:p>
            <a:pPr lvl="1"/>
            <a:r>
              <a:rPr lang="en-US" dirty="0"/>
              <a:t>Only when </a:t>
            </a:r>
            <a:r>
              <a:rPr lang="en-US" i="1" dirty="0"/>
              <a:t>no</a:t>
            </a:r>
            <a:r>
              <a:rPr lang="en-US" dirty="0"/>
              <a:t> name refers to 10, it becomes eligible for garbage collection.</a:t>
            </a:r>
            <a:endParaRPr lang="en-IN" dirty="0"/>
          </a:p>
          <a:p>
            <a:pPr marL="0" indent="0">
              <a:buNone/>
            </a:pPr>
            <a:r>
              <a:rPr lang="en-US" b="1" dirty="0">
                <a:solidFill>
                  <a:srgbClr val="C00000"/>
                </a:solidFill>
              </a:rPr>
              <a:t>y = 5</a:t>
            </a:r>
          </a:p>
          <a:p>
            <a:pPr lvl="1"/>
            <a:r>
              <a:rPr lang="en-US" dirty="0"/>
              <a:t>Now 10 has zero references Python will clean it up.</a:t>
            </a:r>
          </a:p>
          <a:p>
            <a:pPr lvl="1"/>
            <a:r>
              <a:rPr lang="en-US" dirty="0"/>
              <a:t>This is how Garbage Collection is done.</a:t>
            </a:r>
          </a:p>
          <a:p>
            <a:endParaRPr lang="en-US" dirty="0"/>
          </a:p>
          <a:p>
            <a:endParaRPr lang="en-US" dirty="0"/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5451E9-661D-9E4B-40BE-9B612A2EEFCC}"/>
              </a:ext>
            </a:extLst>
          </p:cNvPr>
          <p:cNvSpPr txBox="1"/>
          <p:nvPr/>
        </p:nvSpPr>
        <p:spPr>
          <a:xfrm>
            <a:off x="8841559" y="1254869"/>
            <a:ext cx="369651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500" b="1" dirty="0">
                <a:solidFill>
                  <a:srgbClr val="B71B1C"/>
                </a:solidFill>
              </a:rPr>
              <a:t>x  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1944B64-7639-1448-7755-A670A7E2EC48}"/>
              </a:ext>
            </a:extLst>
          </p:cNvPr>
          <p:cNvCxnSpPr>
            <a:cxnSpLocks/>
          </p:cNvCxnSpPr>
          <p:nvPr/>
        </p:nvCxnSpPr>
        <p:spPr>
          <a:xfrm>
            <a:off x="9387191" y="1503124"/>
            <a:ext cx="1120598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816FAE47-74A4-5B7A-6777-51087B656DF9}"/>
              </a:ext>
            </a:extLst>
          </p:cNvPr>
          <p:cNvSpPr txBox="1"/>
          <p:nvPr/>
        </p:nvSpPr>
        <p:spPr>
          <a:xfrm>
            <a:off x="10814797" y="1264597"/>
            <a:ext cx="586902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500" b="1" dirty="0">
                <a:solidFill>
                  <a:srgbClr val="B71B1C"/>
                </a:solidFill>
              </a:rPr>
              <a:t>10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CD3E786-E0A5-3857-7042-B276FE8507E8}"/>
              </a:ext>
            </a:extLst>
          </p:cNvPr>
          <p:cNvSpPr txBox="1"/>
          <p:nvPr/>
        </p:nvSpPr>
        <p:spPr>
          <a:xfrm>
            <a:off x="10507789" y="873827"/>
            <a:ext cx="1000032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500" b="1" dirty="0">
                <a:solidFill>
                  <a:schemeClr val="accent4">
                    <a:lumMod val="75000"/>
                  </a:schemeClr>
                </a:solidFill>
              </a:rPr>
              <a:t>object</a:t>
            </a:r>
            <a:r>
              <a:rPr lang="en-IN" sz="2500" b="1" dirty="0">
                <a:solidFill>
                  <a:srgbClr val="B71B1C"/>
                </a:solidFill>
              </a:rPr>
              <a:t> 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9C9844A-5562-811F-DAD4-6E1A08833030}"/>
              </a:ext>
            </a:extLst>
          </p:cNvPr>
          <p:cNvSpPr txBox="1"/>
          <p:nvPr/>
        </p:nvSpPr>
        <p:spPr>
          <a:xfrm>
            <a:off x="8180966" y="873827"/>
            <a:ext cx="168937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500" b="1" dirty="0">
                <a:solidFill>
                  <a:schemeClr val="accent4">
                    <a:lumMod val="75000"/>
                  </a:schemeClr>
                </a:solidFill>
              </a:rPr>
              <a:t>namespace</a:t>
            </a:r>
            <a:r>
              <a:rPr lang="en-IN" sz="2500" b="1" dirty="0">
                <a:solidFill>
                  <a:srgbClr val="B71B1C"/>
                </a:solidFill>
              </a:rPr>
              <a:t> 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26B7D9F-5CBC-05DD-0493-38B393B30419}"/>
              </a:ext>
            </a:extLst>
          </p:cNvPr>
          <p:cNvSpPr txBox="1"/>
          <p:nvPr/>
        </p:nvSpPr>
        <p:spPr>
          <a:xfrm>
            <a:off x="9366857" y="1683938"/>
            <a:ext cx="1296579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500" b="1" dirty="0">
                <a:solidFill>
                  <a:srgbClr val="301B92"/>
                </a:solidFill>
              </a:rPr>
              <a:t>binding</a:t>
            </a:r>
            <a:r>
              <a:rPr lang="en-IN" sz="2500" b="1" dirty="0">
                <a:solidFill>
                  <a:srgbClr val="B71B1C"/>
                </a:solidFill>
              </a:rPr>
              <a:t> 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53AA581-E576-1217-9B8A-877AD650FA9B}"/>
              </a:ext>
            </a:extLst>
          </p:cNvPr>
          <p:cNvSpPr txBox="1"/>
          <p:nvPr/>
        </p:nvSpPr>
        <p:spPr>
          <a:xfrm>
            <a:off x="8841559" y="1884166"/>
            <a:ext cx="369651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500" b="1" dirty="0">
                <a:solidFill>
                  <a:srgbClr val="B71B1C"/>
                </a:solidFill>
              </a:rPr>
              <a:t>y  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AA92888-3B49-2EC4-435A-CD3B60B5C4D0}"/>
              </a:ext>
            </a:extLst>
          </p:cNvPr>
          <p:cNvCxnSpPr>
            <a:cxnSpLocks/>
          </p:cNvCxnSpPr>
          <p:nvPr/>
        </p:nvCxnSpPr>
        <p:spPr>
          <a:xfrm flipV="1">
            <a:off x="9387191" y="1683938"/>
            <a:ext cx="1120598" cy="47705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6B6EF817-DD72-8838-B6B8-EC68B3B0AD9C}"/>
              </a:ext>
            </a:extLst>
          </p:cNvPr>
          <p:cNvSpPr txBox="1"/>
          <p:nvPr/>
        </p:nvSpPr>
        <p:spPr>
          <a:xfrm>
            <a:off x="9281073" y="4980813"/>
            <a:ext cx="212062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301B92"/>
                </a:solidFill>
              </a:rPr>
              <a:t>Reference Count </a:t>
            </a:r>
          </a:p>
          <a:p>
            <a:r>
              <a:rPr lang="en-IN" sz="2000" b="1" dirty="0">
                <a:solidFill>
                  <a:srgbClr val="301B92"/>
                </a:solidFill>
              </a:rPr>
              <a:t>of object 10: </a:t>
            </a:r>
            <a:r>
              <a:rPr lang="en-IN" sz="2000" b="1" dirty="0">
                <a:solidFill>
                  <a:srgbClr val="B71B1C"/>
                </a:solidFill>
              </a:rPr>
              <a:t> 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39DC604-8485-80B6-91C9-F99C61C7AAD7}"/>
              </a:ext>
            </a:extLst>
          </p:cNvPr>
          <p:cNvSpPr txBox="1"/>
          <p:nvPr/>
        </p:nvSpPr>
        <p:spPr>
          <a:xfrm>
            <a:off x="11456968" y="4953299"/>
            <a:ext cx="586902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500" b="1" dirty="0">
                <a:solidFill>
                  <a:srgbClr val="B71B1C"/>
                </a:solidFill>
              </a:rPr>
              <a:t>0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A3E6ED7-3762-576F-0657-C09A0DAD264C}"/>
              </a:ext>
            </a:extLst>
          </p:cNvPr>
          <p:cNvSpPr txBox="1"/>
          <p:nvPr/>
        </p:nvSpPr>
        <p:spPr>
          <a:xfrm>
            <a:off x="11448492" y="4942916"/>
            <a:ext cx="586902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500" b="1" dirty="0">
                <a:solidFill>
                  <a:srgbClr val="B71B1C"/>
                </a:solidFill>
              </a:rPr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217FED1-EE3B-91A1-42BB-095BB7A8EB13}"/>
              </a:ext>
            </a:extLst>
          </p:cNvPr>
          <p:cNvSpPr txBox="1"/>
          <p:nvPr/>
        </p:nvSpPr>
        <p:spPr>
          <a:xfrm>
            <a:off x="11456968" y="4942916"/>
            <a:ext cx="586902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500" b="1" dirty="0">
                <a:solidFill>
                  <a:srgbClr val="B71B1C"/>
                </a:solidFill>
              </a:rPr>
              <a:t>2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3F35859A-F2CB-3273-C6CA-564A49ECE29D}"/>
              </a:ext>
            </a:extLst>
          </p:cNvPr>
          <p:cNvCxnSpPr>
            <a:cxnSpLocks/>
          </p:cNvCxnSpPr>
          <p:nvPr/>
        </p:nvCxnSpPr>
        <p:spPr>
          <a:xfrm flipH="1">
            <a:off x="8083685" y="1575881"/>
            <a:ext cx="750731" cy="34658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D3CED994-971A-3EB8-3568-8B6FE7B3D2D3}"/>
              </a:ext>
            </a:extLst>
          </p:cNvPr>
          <p:cNvSpPr txBox="1"/>
          <p:nvPr/>
        </p:nvSpPr>
        <p:spPr>
          <a:xfrm>
            <a:off x="7551244" y="1884166"/>
            <a:ext cx="586902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500" b="1" dirty="0">
                <a:solidFill>
                  <a:srgbClr val="B71B1C"/>
                </a:solidFill>
              </a:rPr>
              <a:t>20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F149AE9-73DA-AC9C-F0C9-614DAF8ACFA7}"/>
              </a:ext>
            </a:extLst>
          </p:cNvPr>
          <p:cNvSpPr txBox="1"/>
          <p:nvPr/>
        </p:nvSpPr>
        <p:spPr>
          <a:xfrm>
            <a:off x="7398737" y="5723718"/>
            <a:ext cx="212062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301B92"/>
                </a:solidFill>
              </a:rPr>
              <a:t>Reference Count </a:t>
            </a:r>
          </a:p>
          <a:p>
            <a:r>
              <a:rPr lang="en-IN" sz="2000" b="1" dirty="0">
                <a:solidFill>
                  <a:srgbClr val="301B92"/>
                </a:solidFill>
              </a:rPr>
              <a:t>of object 20: </a:t>
            </a:r>
            <a:r>
              <a:rPr lang="en-IN" sz="2000" b="1" dirty="0">
                <a:solidFill>
                  <a:srgbClr val="B71B1C"/>
                </a:solidFill>
              </a:rPr>
              <a:t>  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D5189FA-FF06-4382-569E-D2942038E93E}"/>
              </a:ext>
            </a:extLst>
          </p:cNvPr>
          <p:cNvSpPr txBox="1"/>
          <p:nvPr/>
        </p:nvSpPr>
        <p:spPr>
          <a:xfrm>
            <a:off x="9366857" y="5877826"/>
            <a:ext cx="503479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500" b="1" dirty="0">
                <a:solidFill>
                  <a:srgbClr val="B71B1C"/>
                </a:solidFill>
              </a:rPr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503AF49-CFE6-EB8B-1896-7AA0376271A5}"/>
              </a:ext>
            </a:extLst>
          </p:cNvPr>
          <p:cNvSpPr txBox="1"/>
          <p:nvPr/>
        </p:nvSpPr>
        <p:spPr>
          <a:xfrm>
            <a:off x="11456968" y="4926804"/>
            <a:ext cx="586902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500" b="1" dirty="0">
                <a:solidFill>
                  <a:srgbClr val="B71B1C"/>
                </a:solidFill>
              </a:rPr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0E2E9FD-DB35-28B8-2386-5B99ACA0CDA6}"/>
              </a:ext>
            </a:extLst>
          </p:cNvPr>
          <p:cNvSpPr txBox="1"/>
          <p:nvPr/>
        </p:nvSpPr>
        <p:spPr>
          <a:xfrm>
            <a:off x="10840144" y="1941859"/>
            <a:ext cx="586902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500" b="1" dirty="0">
                <a:solidFill>
                  <a:srgbClr val="B71B1C"/>
                </a:solidFill>
              </a:rPr>
              <a:t>5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F13041DA-936C-524F-6AEA-3CF41C86A8EC}"/>
              </a:ext>
            </a:extLst>
          </p:cNvPr>
          <p:cNvCxnSpPr>
            <a:cxnSpLocks/>
          </p:cNvCxnSpPr>
          <p:nvPr/>
        </p:nvCxnSpPr>
        <p:spPr>
          <a:xfrm>
            <a:off x="9366857" y="2152123"/>
            <a:ext cx="1296579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F3D2E485-D6B7-6303-9487-AE467B38697C}"/>
              </a:ext>
            </a:extLst>
          </p:cNvPr>
          <p:cNvSpPr txBox="1"/>
          <p:nvPr/>
        </p:nvSpPr>
        <p:spPr>
          <a:xfrm>
            <a:off x="11465444" y="4942916"/>
            <a:ext cx="586902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500" b="1" dirty="0">
                <a:solidFill>
                  <a:srgbClr val="B71B1C"/>
                </a:solidFill>
              </a:rPr>
              <a:t>0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032EED7-2091-27C3-8DB4-E45A61869FBD}"/>
              </a:ext>
            </a:extLst>
          </p:cNvPr>
          <p:cNvSpPr txBox="1"/>
          <p:nvPr/>
        </p:nvSpPr>
        <p:spPr>
          <a:xfrm>
            <a:off x="9779831" y="3882157"/>
            <a:ext cx="19419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301B92"/>
                </a:solidFill>
              </a:rPr>
              <a:t>Reference Count </a:t>
            </a:r>
          </a:p>
          <a:p>
            <a:r>
              <a:rPr lang="en-IN" sz="2000" b="1" dirty="0">
                <a:solidFill>
                  <a:srgbClr val="301B92"/>
                </a:solidFill>
              </a:rPr>
              <a:t>of object 5: </a:t>
            </a:r>
            <a:r>
              <a:rPr lang="en-IN" sz="2000" b="1" dirty="0">
                <a:solidFill>
                  <a:srgbClr val="B71B1C"/>
                </a:solidFill>
              </a:rPr>
              <a:t>  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39C917A-1386-2FD1-B95B-77423A89BDEA}"/>
              </a:ext>
            </a:extLst>
          </p:cNvPr>
          <p:cNvSpPr txBox="1"/>
          <p:nvPr/>
        </p:nvSpPr>
        <p:spPr>
          <a:xfrm>
            <a:off x="11205228" y="4236100"/>
            <a:ext cx="503479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500" b="1" dirty="0">
                <a:solidFill>
                  <a:srgbClr val="B71B1C"/>
                </a:solidFill>
              </a:rPr>
              <a:t>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A8CAC6-0D88-045A-09C1-58B90038C68B}"/>
              </a:ext>
            </a:extLst>
          </p:cNvPr>
          <p:cNvSpPr txBox="1"/>
          <p:nvPr/>
        </p:nvSpPr>
        <p:spPr>
          <a:xfrm>
            <a:off x="1365406" y="2304367"/>
            <a:ext cx="84144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a </a:t>
            </a:r>
            <a:r>
              <a:rPr lang="en-US" sz="2400" b="1" dirty="0">
                <a:solidFill>
                  <a:srgbClr val="C00000"/>
                </a:solidFill>
              </a:rPr>
              <a:t>namespace</a:t>
            </a:r>
            <a:r>
              <a:rPr lang="en-US" sz="2400" dirty="0">
                <a:solidFill>
                  <a:srgbClr val="C00000"/>
                </a:solidFill>
              </a:rPr>
              <a:t> is simply a </a:t>
            </a:r>
            <a:r>
              <a:rPr lang="en-US" sz="2400" i="1" dirty="0">
                <a:solidFill>
                  <a:srgbClr val="C00000"/>
                </a:solidFill>
              </a:rPr>
              <a:t>container that maps names to objects</a:t>
            </a:r>
            <a:endParaRPr lang="en-IN" sz="24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07871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9" grpId="0"/>
      <p:bldP spid="10" grpId="0"/>
      <p:bldP spid="11" grpId="0"/>
      <p:bldP spid="14" grpId="0"/>
      <p:bldP spid="14" grpId="1"/>
      <p:bldP spid="15" grpId="0"/>
      <p:bldP spid="20" grpId="0"/>
      <p:bldP spid="21" grpId="0"/>
      <p:bldP spid="21" grpId="1"/>
      <p:bldP spid="22" grpId="0"/>
      <p:bldP spid="22" grpId="1"/>
      <p:bldP spid="23" grpId="0"/>
      <p:bldP spid="23" grpId="1"/>
      <p:bldP spid="23" grpId="2"/>
      <p:bldP spid="28" grpId="0"/>
      <p:bldP spid="29" grpId="0"/>
      <p:bldP spid="30" grpId="0"/>
      <p:bldP spid="31" grpId="0"/>
      <p:bldP spid="31" grpId="1"/>
      <p:bldP spid="32" grpId="0"/>
      <p:bldP spid="37" grpId="0"/>
      <p:bldP spid="39" grpId="0"/>
      <p:bldP spid="40" grpId="0"/>
      <p:bldP spid="5" grpId="0"/>
      <p:bldP spid="5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6123DE-F2C8-37BF-997B-87E4FFEB2D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EF90D4-3B2A-392A-5272-1E3CF094F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Advantages of Python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A7B8AF-3FE9-0E2C-B06B-06018307E3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1" y="863444"/>
            <a:ext cx="6493356" cy="5590565"/>
          </a:xfrm>
        </p:spPr>
        <p:txBody>
          <a:bodyPr/>
          <a:lstStyle/>
          <a:p>
            <a:r>
              <a:rPr lang="en-IN" b="1" dirty="0">
                <a:solidFill>
                  <a:srgbClr val="C00000"/>
                </a:solidFill>
              </a:rPr>
              <a:t>Easy to Read, Learn and Understand </a:t>
            </a:r>
          </a:p>
          <a:p>
            <a:pPr lvl="1"/>
            <a:r>
              <a:rPr lang="en-IN" dirty="0"/>
              <a:t>Code written in Python is simple and readable.</a:t>
            </a:r>
          </a:p>
          <a:p>
            <a:pPr lvl="1"/>
            <a:r>
              <a:rPr lang="en-IN" dirty="0"/>
              <a:t>Uses more English keywords.</a:t>
            </a:r>
          </a:p>
          <a:p>
            <a:pPr lvl="1"/>
            <a:r>
              <a:rPr lang="en-IN" dirty="0"/>
              <a:t>It has fewer syntax constructions than other languages.</a:t>
            </a:r>
          </a:p>
          <a:p>
            <a:r>
              <a:rPr lang="en-US" b="1" dirty="0">
                <a:solidFill>
                  <a:srgbClr val="C00000"/>
                </a:solidFill>
              </a:rPr>
              <a:t>High-Level Language </a:t>
            </a:r>
            <a:endParaRPr lang="en-IN" b="1" dirty="0">
              <a:solidFill>
                <a:srgbClr val="C00000"/>
              </a:solidFill>
            </a:endParaRPr>
          </a:p>
          <a:p>
            <a:pPr lvl="1"/>
            <a:r>
              <a:rPr lang="en-US" dirty="0"/>
              <a:t>Python is closer to human language than machine code (low-level language). </a:t>
            </a:r>
          </a:p>
          <a:p>
            <a:pPr lvl="1"/>
            <a:r>
              <a:rPr lang="en-US" dirty="0"/>
              <a:t>We do not need to manually allocate/deallocate memory, as </a:t>
            </a:r>
            <a:r>
              <a:rPr lang="en-US" dirty="0">
                <a:solidFill>
                  <a:srgbClr val="C00000"/>
                </a:solidFill>
              </a:rPr>
              <a:t>garbage collector </a:t>
            </a:r>
            <a:r>
              <a:rPr lang="en-US" dirty="0"/>
              <a:t>takes care of unused memory automatically.</a:t>
            </a:r>
            <a:endParaRPr lang="en-IN" dirty="0"/>
          </a:p>
          <a:p>
            <a:pPr lvl="1"/>
            <a:r>
              <a:rPr lang="en-US" dirty="0"/>
              <a:t>This gives you the ability to program at a faster rate.</a:t>
            </a:r>
            <a:endParaRPr lang="en-IN" dirty="0">
              <a:solidFill>
                <a:srgbClr val="C00000"/>
              </a:solidFill>
            </a:endParaRPr>
          </a:p>
          <a:p>
            <a:r>
              <a:rPr lang="en-IN" b="1" dirty="0">
                <a:solidFill>
                  <a:srgbClr val="C00000"/>
                </a:solidFill>
              </a:rPr>
              <a:t>Dynamically Typed</a:t>
            </a:r>
          </a:p>
          <a:p>
            <a:pPr lvl="1"/>
            <a:r>
              <a:rPr lang="en-IN" dirty="0"/>
              <a:t>Python automatically assigns the data type during </a:t>
            </a:r>
            <a:r>
              <a:rPr lang="en-IN" dirty="0">
                <a:solidFill>
                  <a:srgbClr val="C00000"/>
                </a:solidFill>
              </a:rPr>
              <a:t>execution</a:t>
            </a:r>
            <a:r>
              <a:rPr lang="en-IN" dirty="0"/>
              <a:t>. </a:t>
            </a:r>
          </a:p>
          <a:p>
            <a:pPr lvl="1"/>
            <a:r>
              <a:rPr lang="en-IN" dirty="0"/>
              <a:t>The programmer doesn’t need to worry about declaring variables and their data types.</a:t>
            </a:r>
          </a:p>
          <a:p>
            <a:pPr lvl="1"/>
            <a:endParaRPr lang="en-IN" dirty="0"/>
          </a:p>
          <a:p>
            <a:pPr lvl="1"/>
            <a:endParaRPr lang="en-IN" dirty="0"/>
          </a:p>
          <a:p>
            <a:pPr lvl="1"/>
            <a:endParaRPr lang="en-IN" dirty="0"/>
          </a:p>
          <a:p>
            <a:pPr lvl="1"/>
            <a:endParaRPr lang="en-US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2BD68639-1944-81FA-0A06-51BC1A7E11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2477" y="2254477"/>
            <a:ext cx="4652206" cy="3026667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C11BDF0A-24AF-5840-E032-00895FD0A2C3}"/>
              </a:ext>
            </a:extLst>
          </p:cNvPr>
          <p:cNvSpPr txBox="1"/>
          <p:nvPr/>
        </p:nvSpPr>
        <p:spPr>
          <a:xfrm>
            <a:off x="7012477" y="5386688"/>
            <a:ext cx="4246675" cy="400110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>
                <a:solidFill>
                  <a:schemeClr val="lt1"/>
                </a:solidFill>
                <a:latin typeface="Arial Rounded MT Bold" panose="020F070403050403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dirty="0"/>
              <a:t>Automatic Data type Assignment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089830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C4EFEA-F1AE-396A-91B3-EFD312ADDD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6A4AEF-876A-C711-48D7-A318E673FA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Advantages of Python (cont.)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AFC3FC-185B-3106-6FB9-04935F0F21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>
                <a:solidFill>
                  <a:srgbClr val="C00000"/>
                </a:solidFill>
              </a:rPr>
              <a:t>Interpreted Language</a:t>
            </a:r>
          </a:p>
          <a:p>
            <a:pPr lvl="1"/>
            <a:r>
              <a:rPr lang="en-IN" dirty="0"/>
              <a:t>A program written in high-level language has to be either </a:t>
            </a:r>
            <a:r>
              <a:rPr lang="en-IN" dirty="0">
                <a:solidFill>
                  <a:srgbClr val="C00000"/>
                </a:solidFill>
              </a:rPr>
              <a:t>compiled </a:t>
            </a:r>
            <a:r>
              <a:rPr lang="en-IN" dirty="0"/>
              <a:t>or</a:t>
            </a:r>
            <a:r>
              <a:rPr lang="en-IN" dirty="0">
                <a:solidFill>
                  <a:srgbClr val="C00000"/>
                </a:solidFill>
              </a:rPr>
              <a:t> interpreted</a:t>
            </a:r>
            <a:r>
              <a:rPr lang="en-IN" dirty="0"/>
              <a:t>.</a:t>
            </a:r>
          </a:p>
          <a:p>
            <a:pPr lvl="1"/>
            <a:r>
              <a:rPr lang="en-IN" dirty="0"/>
              <a:t>Python is an </a:t>
            </a:r>
            <a:r>
              <a:rPr lang="en-IN" dirty="0">
                <a:solidFill>
                  <a:srgbClr val="C00000"/>
                </a:solidFill>
              </a:rPr>
              <a:t>interpreted language </a:t>
            </a:r>
            <a:r>
              <a:rPr lang="en-IN" dirty="0"/>
              <a:t>which means that Python directly </a:t>
            </a:r>
            <a:r>
              <a:rPr lang="en-IN" dirty="0">
                <a:solidFill>
                  <a:srgbClr val="C00000"/>
                </a:solidFill>
              </a:rPr>
              <a:t>executes the code line by line</a:t>
            </a:r>
            <a:r>
              <a:rPr lang="en-IN" dirty="0"/>
              <a:t>. </a:t>
            </a:r>
          </a:p>
          <a:p>
            <a:pPr lvl="1"/>
            <a:r>
              <a:rPr lang="en-IN" dirty="0"/>
              <a:t>In case of any error, it stops further execution and reports back the error which has occurred.</a:t>
            </a:r>
            <a:endParaRPr lang="en-IN" dirty="0">
              <a:solidFill>
                <a:srgbClr val="C00000"/>
              </a:solidFill>
            </a:endParaRPr>
          </a:p>
          <a:p>
            <a:pPr lvl="1"/>
            <a:endParaRPr lang="en-IN" dirty="0"/>
          </a:p>
          <a:p>
            <a:pPr lvl="1"/>
            <a:endParaRPr lang="en-IN" dirty="0"/>
          </a:p>
          <a:p>
            <a:endParaRPr lang="en-IN" dirty="0"/>
          </a:p>
          <a:p>
            <a:pPr lvl="1"/>
            <a:endParaRPr lang="en-US" dirty="0"/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5FCAAD59-AB83-937D-AD13-94772B69CBB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CA64A61-27DC-6130-31D1-D418480CE3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572" y="2448300"/>
            <a:ext cx="7997151" cy="381413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9DCC9E9F-68FF-B099-2BB6-1B276E18A5C3}"/>
              </a:ext>
            </a:extLst>
          </p:cNvPr>
          <p:cNvSpPr/>
          <p:nvPr/>
        </p:nvSpPr>
        <p:spPr>
          <a:xfrm>
            <a:off x="1049572" y="2859932"/>
            <a:ext cx="730590" cy="214008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DCE2EBF-0E66-B992-781F-58828C21D9B5}"/>
              </a:ext>
            </a:extLst>
          </p:cNvPr>
          <p:cNvSpPr/>
          <p:nvPr/>
        </p:nvSpPr>
        <p:spPr>
          <a:xfrm>
            <a:off x="1049572" y="4597187"/>
            <a:ext cx="730590" cy="214008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7B03A8A-9CF3-3406-EB7F-CC5DCD7F939D}"/>
              </a:ext>
            </a:extLst>
          </p:cNvPr>
          <p:cNvSpPr txBox="1"/>
          <p:nvPr/>
        </p:nvSpPr>
        <p:spPr>
          <a:xfrm>
            <a:off x="8044775" y="4477364"/>
            <a:ext cx="4016046" cy="400110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>
                <a:solidFill>
                  <a:schemeClr val="lt1"/>
                </a:solidFill>
                <a:latin typeface="Arial Rounded MT Bold" panose="020F070403050403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r"/>
            <a:r>
              <a:rPr lang="en-US" dirty="0"/>
              <a:t>C : compiled language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DEF5E45-2151-9BF5-A062-F90FC26E8EC8}"/>
              </a:ext>
            </a:extLst>
          </p:cNvPr>
          <p:cNvSpPr txBox="1"/>
          <p:nvPr/>
        </p:nvSpPr>
        <p:spPr>
          <a:xfrm>
            <a:off x="8044774" y="4985262"/>
            <a:ext cx="4016045" cy="400110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>
                <a:solidFill>
                  <a:schemeClr val="lt1"/>
                </a:solidFill>
                <a:latin typeface="Arial Rounded MT Bold" panose="020F070403050403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r"/>
            <a:r>
              <a:rPr lang="en-US" dirty="0"/>
              <a:t>Python  : interpreted language</a:t>
            </a:r>
          </a:p>
        </p:txBody>
      </p:sp>
    </p:spTree>
    <p:extLst>
      <p:ext uri="{BB962C8B-B14F-4D97-AF65-F5344CB8AC3E}">
        <p14:creationId xmlns:p14="http://schemas.microsoft.com/office/powerpoint/2010/main" val="265488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8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5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8EB6FB-1964-1CE2-E5DE-D5A22DE45A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52036D-B826-DCF5-7E1C-7F4895997B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Advantages of Python (cont.)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285878-5ED3-2B0E-9B15-059FE9B172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>
                <a:solidFill>
                  <a:srgbClr val="C00000"/>
                </a:solidFill>
              </a:rPr>
              <a:t>Free and Open-Source</a:t>
            </a:r>
          </a:p>
          <a:p>
            <a:pPr lvl="1"/>
            <a:r>
              <a:rPr lang="en-US" dirty="0"/>
              <a:t>Python is completely </a:t>
            </a:r>
            <a:r>
              <a:rPr lang="en-US" dirty="0">
                <a:solidFill>
                  <a:srgbClr val="C00000"/>
                </a:solidFill>
              </a:rPr>
              <a:t>free to use and share </a:t>
            </a:r>
            <a:r>
              <a:rPr lang="en-US" dirty="0"/>
              <a:t>because it is released under an OSI-approved open-source license.</a:t>
            </a:r>
          </a:p>
          <a:p>
            <a:pPr lvl="1"/>
            <a:r>
              <a:rPr lang="en-US" dirty="0"/>
              <a:t>The Python Software Foundation (PSF) provides ready-to-install Python builds called </a:t>
            </a:r>
            <a:r>
              <a:rPr lang="en-US" dirty="0" err="1">
                <a:solidFill>
                  <a:srgbClr val="C00000"/>
                </a:solidFill>
              </a:rPr>
              <a:t>CPython</a:t>
            </a:r>
            <a:r>
              <a:rPr lang="en-US" dirty="0"/>
              <a:t> (C Implementation of Python) for all major operating systems.</a:t>
            </a:r>
          </a:p>
          <a:p>
            <a:pPr lvl="1"/>
            <a:r>
              <a:rPr lang="en-US" dirty="0"/>
              <a:t>You can also</a:t>
            </a:r>
            <a:r>
              <a:rPr lang="en-US" dirty="0">
                <a:solidFill>
                  <a:srgbClr val="C00000"/>
                </a:solidFill>
              </a:rPr>
              <a:t> download the </a:t>
            </a:r>
            <a:r>
              <a:rPr lang="en-US" dirty="0" err="1">
                <a:solidFill>
                  <a:srgbClr val="C00000"/>
                </a:solidFill>
              </a:rPr>
              <a:t>CPython</a:t>
            </a:r>
            <a:r>
              <a:rPr lang="en-US" dirty="0">
                <a:solidFill>
                  <a:srgbClr val="C00000"/>
                </a:solidFill>
              </a:rPr>
              <a:t> source code </a:t>
            </a:r>
            <a:r>
              <a:rPr lang="en-US" dirty="0"/>
              <a:t>from the </a:t>
            </a:r>
            <a:r>
              <a:rPr lang="en-US" dirty="0">
                <a:solidFill>
                  <a:srgbClr val="C00000"/>
                </a:solidFill>
              </a:rPr>
              <a:t>official Python website </a:t>
            </a:r>
            <a:r>
              <a:rPr lang="en-US" dirty="0"/>
              <a:t>or </a:t>
            </a:r>
            <a:r>
              <a:rPr lang="en-US" dirty="0">
                <a:solidFill>
                  <a:srgbClr val="C00000"/>
                </a:solidFill>
              </a:rPr>
              <a:t>its GitHub repository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If you want, you are </a:t>
            </a:r>
            <a:r>
              <a:rPr lang="en-US" dirty="0">
                <a:solidFill>
                  <a:srgbClr val="C00000"/>
                </a:solidFill>
              </a:rPr>
              <a:t>allowed to modify the source code and redistribute it</a:t>
            </a:r>
            <a:r>
              <a:rPr lang="en-US" dirty="0"/>
              <a:t>, as permitted by the </a:t>
            </a:r>
            <a:r>
              <a:rPr lang="en-US" dirty="0" err="1"/>
              <a:t>CPython</a:t>
            </a:r>
            <a:r>
              <a:rPr lang="en-US" dirty="0"/>
              <a:t> license.</a:t>
            </a:r>
            <a:endParaRPr lang="en-IN" dirty="0"/>
          </a:p>
          <a:p>
            <a:r>
              <a:rPr lang="en-IN" b="1" dirty="0">
                <a:solidFill>
                  <a:srgbClr val="C00000"/>
                </a:solidFill>
              </a:rPr>
              <a:t>Platform Independent and Portable</a:t>
            </a:r>
          </a:p>
          <a:p>
            <a:pPr lvl="1"/>
            <a:r>
              <a:rPr lang="en-IN" dirty="0"/>
              <a:t>In many languages like C/C++, you need to change your code to run the program on different platforms. </a:t>
            </a:r>
          </a:p>
          <a:p>
            <a:pPr lvl="1"/>
            <a:r>
              <a:rPr lang="en-IN" dirty="0"/>
              <a:t>That is not the same with Python. You only </a:t>
            </a:r>
            <a:r>
              <a:rPr lang="en-IN" dirty="0">
                <a:solidFill>
                  <a:srgbClr val="C00000"/>
                </a:solidFill>
              </a:rPr>
              <a:t>write once and run it anywhere</a:t>
            </a:r>
            <a:r>
              <a:rPr lang="en-IN" dirty="0"/>
              <a:t>.</a:t>
            </a:r>
          </a:p>
          <a:p>
            <a:pPr lvl="1"/>
            <a:r>
              <a:rPr lang="en-US" dirty="0"/>
              <a:t>Python runs on all major operating systems like Microsoft Windows, Linux, and Mac OS X.</a:t>
            </a:r>
          </a:p>
          <a:p>
            <a:pPr lvl="1"/>
            <a:r>
              <a:rPr lang="en-US" dirty="0"/>
              <a:t>The </a:t>
            </a:r>
            <a:r>
              <a:rPr lang="en-US" dirty="0">
                <a:solidFill>
                  <a:srgbClr val="C00000"/>
                </a:solidFill>
              </a:rPr>
              <a:t>same</a:t>
            </a:r>
            <a:r>
              <a:rPr lang="en-US" dirty="0"/>
              <a:t> </a:t>
            </a:r>
            <a:r>
              <a:rPr lang="en-US" dirty="0">
                <a:solidFill>
                  <a:srgbClr val="C00000"/>
                </a:solidFill>
              </a:rPr>
              <a:t>Python source file </a:t>
            </a:r>
            <a:r>
              <a:rPr lang="en-US" dirty="0"/>
              <a:t>can be executed across these platforms </a:t>
            </a:r>
            <a:r>
              <a:rPr lang="en-US" dirty="0">
                <a:solidFill>
                  <a:srgbClr val="C00000"/>
                </a:solidFill>
              </a:rPr>
              <a:t>without modification</a:t>
            </a:r>
            <a:r>
              <a:rPr lang="en-US" dirty="0"/>
              <a:t>.</a:t>
            </a:r>
            <a:endParaRPr lang="en-IN" dirty="0">
              <a:solidFill>
                <a:srgbClr val="C00000"/>
              </a:solidFill>
            </a:endParaRPr>
          </a:p>
          <a:p>
            <a:endParaRPr lang="en-IN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06156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DD38F9-DBF8-6748-BE8B-7E6B7F93BB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Advantages of Python(cont.)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A378B9-13E3-1F40-BB5D-41965DDE43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1" y="863445"/>
            <a:ext cx="6588099" cy="5381712"/>
          </a:xfrm>
        </p:spPr>
        <p:txBody>
          <a:bodyPr/>
          <a:lstStyle/>
          <a:p>
            <a:r>
              <a:rPr lang="en-IN" b="1" dirty="0">
                <a:solidFill>
                  <a:srgbClr val="C00000"/>
                </a:solidFill>
              </a:rPr>
              <a:t>Vast Libraries Support</a:t>
            </a:r>
          </a:p>
          <a:p>
            <a:pPr lvl="1"/>
            <a:r>
              <a:rPr lang="en-US" dirty="0"/>
              <a:t>Python provides a </a:t>
            </a:r>
            <a:r>
              <a:rPr lang="en-US" dirty="0">
                <a:solidFill>
                  <a:srgbClr val="C00000"/>
                </a:solidFill>
              </a:rPr>
              <a:t>huge standard library </a:t>
            </a:r>
            <a:r>
              <a:rPr lang="en-US" dirty="0"/>
              <a:t>for common tasks like file handling, networking, and data processing.</a:t>
            </a:r>
          </a:p>
          <a:p>
            <a:pPr lvl="1"/>
            <a:r>
              <a:rPr lang="en-US" dirty="0"/>
              <a:t>Thousands of </a:t>
            </a:r>
            <a:r>
              <a:rPr lang="en-US" dirty="0">
                <a:solidFill>
                  <a:srgbClr val="C00000"/>
                </a:solidFill>
              </a:rPr>
              <a:t>external libraries </a:t>
            </a:r>
            <a:r>
              <a:rPr lang="en-US" dirty="0"/>
              <a:t>(NumPy, Pandas, Django, etc.) are available for almost every domain.</a:t>
            </a:r>
          </a:p>
          <a:p>
            <a:pPr lvl="1"/>
            <a:r>
              <a:rPr lang="en-US" dirty="0"/>
              <a:t>Library support helps in </a:t>
            </a:r>
            <a:r>
              <a:rPr lang="en-US" dirty="0">
                <a:solidFill>
                  <a:srgbClr val="C00000"/>
                </a:solidFill>
              </a:rPr>
              <a:t>quick development </a:t>
            </a:r>
            <a:r>
              <a:rPr lang="en-US" dirty="0"/>
              <a:t>without writing everything from scratch.</a:t>
            </a:r>
            <a:endParaRPr lang="en-US" dirty="0">
              <a:solidFill>
                <a:srgbClr val="C00000"/>
              </a:solidFill>
            </a:endParaRPr>
          </a:p>
          <a:p>
            <a:r>
              <a:rPr lang="en-US" b="1" dirty="0">
                <a:solidFill>
                  <a:srgbClr val="C00000"/>
                </a:solidFill>
              </a:rPr>
              <a:t>It’s Safe</a:t>
            </a:r>
          </a:p>
          <a:p>
            <a:pPr lvl="1"/>
            <a:r>
              <a:rPr lang="en-US" dirty="0"/>
              <a:t>Python is considered safe because it </a:t>
            </a:r>
            <a:r>
              <a:rPr lang="en-US" dirty="0">
                <a:solidFill>
                  <a:srgbClr val="C00000"/>
                </a:solidFill>
              </a:rPr>
              <a:t>doesn’t use pointers</a:t>
            </a:r>
            <a:r>
              <a:rPr lang="en-US" dirty="0"/>
              <a:t> like C-based languages, which reduces many common programming errors.</a:t>
            </a:r>
          </a:p>
          <a:p>
            <a:pPr lvl="1"/>
            <a:r>
              <a:rPr lang="en-US" dirty="0"/>
              <a:t>Also, Python </a:t>
            </a:r>
            <a:r>
              <a:rPr lang="en-US" dirty="0">
                <a:solidFill>
                  <a:srgbClr val="C00000"/>
                </a:solidFill>
              </a:rPr>
              <a:t>never hides errors</a:t>
            </a:r>
            <a:r>
              <a:rPr lang="en-US" dirty="0"/>
              <a:t>. If something goes wrong, it </a:t>
            </a:r>
            <a:r>
              <a:rPr lang="en-US" dirty="0">
                <a:solidFill>
                  <a:srgbClr val="C00000"/>
                </a:solidFill>
              </a:rPr>
              <a:t>clearly shows an error message </a:t>
            </a:r>
            <a:r>
              <a:rPr lang="en-US" dirty="0"/>
              <a:t>so you can understand what happened and fix it easily.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F8014D3-2441-353B-8EC1-0713EC9324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9280" y="1658566"/>
            <a:ext cx="5472720" cy="3540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53942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54EB143-9EDC-10E9-4DE9-EF5611789C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Installing Python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464F4B7-A690-164A-C08F-1904A6F7FD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54294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142150-EE49-3A42-AD1E-CC8F957200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Installing Python for Windows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D949917-2CD7-953B-D49A-5D8F007E69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1451" y="863444"/>
            <a:ext cx="3567012" cy="5614375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b="1" dirty="0">
                <a:solidFill>
                  <a:srgbClr val="C00000"/>
                </a:solidFill>
              </a:rPr>
              <a:t>Download Python</a:t>
            </a:r>
          </a:p>
          <a:p>
            <a:r>
              <a:rPr lang="en-US" sz="2200" dirty="0"/>
              <a:t>Open your web browser.</a:t>
            </a:r>
          </a:p>
          <a:p>
            <a:r>
              <a:rPr lang="en-US" sz="2200" dirty="0"/>
              <a:t>Visit the official Python website: </a:t>
            </a:r>
            <a:r>
              <a:rPr lang="en-US" u="sng" dirty="0"/>
              <a:t>https://www.python.org</a:t>
            </a:r>
          </a:p>
          <a:p>
            <a:r>
              <a:rPr lang="en-US" sz="2200" dirty="0"/>
              <a:t>Hover on the 'Downloads' menu.</a:t>
            </a:r>
          </a:p>
          <a:p>
            <a:r>
              <a:rPr lang="en-US" sz="2200" dirty="0"/>
              <a:t>Click the latest version of python.(Python 3.14.0)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F68D6AF-E567-BBB1-072E-AEBD0965B4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9431" y="863444"/>
            <a:ext cx="8071120" cy="5165390"/>
          </a:xfrm>
          <a:prstGeom prst="rect">
            <a:avLst/>
          </a:prstGeom>
          <a:ln w="3175">
            <a:solidFill>
              <a:schemeClr val="tx2"/>
            </a:solidFill>
          </a:ln>
        </p:spPr>
      </p:pic>
    </p:spTree>
    <p:extLst>
      <p:ext uri="{BB962C8B-B14F-4D97-AF65-F5344CB8AC3E}">
        <p14:creationId xmlns:p14="http://schemas.microsoft.com/office/powerpoint/2010/main" val="147226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9723624-CADD-2DDB-4015-C3AB9E80E6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3E3A8C-DC78-BDAA-8A51-5898CE32D7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Installing Python for Windows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74866F6-F4C8-DA2B-CAE5-205BAC0D5C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 startAt="2"/>
            </a:pPr>
            <a:r>
              <a:rPr lang="en-US" b="1" dirty="0">
                <a:solidFill>
                  <a:srgbClr val="C00000"/>
                </a:solidFill>
              </a:rPr>
              <a:t>Run the Installer</a:t>
            </a:r>
          </a:p>
          <a:p>
            <a:r>
              <a:rPr lang="en-US" sz="2200" dirty="0"/>
              <a:t>After downloading, open the installer file.</a:t>
            </a:r>
          </a:p>
          <a:p>
            <a:r>
              <a:rPr lang="en-US" sz="2200" dirty="0"/>
              <a:t>Check the box that says 'Add python.exe to PATH’.</a:t>
            </a:r>
          </a:p>
          <a:p>
            <a:r>
              <a:rPr lang="en-US" sz="2200" dirty="0"/>
              <a:t>Click on 'Install Now’.</a:t>
            </a:r>
          </a:p>
          <a:p>
            <a:endParaRPr lang="en-US" dirty="0"/>
          </a:p>
          <a:p>
            <a:pPr marL="457200" indent="-457200">
              <a:buFont typeface="+mj-lt"/>
              <a:buAutoNum type="arabicPeriod" startAt="3"/>
            </a:pPr>
            <a:endParaRPr lang="en-US" b="1" dirty="0">
              <a:solidFill>
                <a:srgbClr val="C00000"/>
              </a:solidFill>
            </a:endParaRPr>
          </a:p>
          <a:p>
            <a:pPr marL="457200" indent="-457200">
              <a:buFont typeface="+mj-lt"/>
              <a:buAutoNum type="arabicPeriod" startAt="3"/>
            </a:pPr>
            <a:r>
              <a:rPr lang="en-US" b="1" dirty="0">
                <a:solidFill>
                  <a:srgbClr val="C00000"/>
                </a:solidFill>
              </a:rPr>
              <a:t>Verify Successful Installation</a:t>
            </a:r>
          </a:p>
          <a:p>
            <a:r>
              <a:rPr lang="en-US" dirty="0"/>
              <a:t>Open Command Prompt.</a:t>
            </a:r>
          </a:p>
          <a:p>
            <a:r>
              <a:rPr lang="en-US" dirty="0"/>
              <a:t>Type: </a:t>
            </a:r>
            <a:r>
              <a:rPr lang="en-US" b="1" dirty="0">
                <a:solidFill>
                  <a:srgbClr val="C00000"/>
                </a:solidFill>
              </a:rPr>
              <a:t>python --version. </a:t>
            </a:r>
          </a:p>
          <a:p>
            <a:r>
              <a:rPr lang="en-US" dirty="0"/>
              <a:t>You should see the installed Python version displayed.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D3BD8DA-20A7-BFE2-17E5-214F68FEC7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6517" y="863445"/>
            <a:ext cx="4364652" cy="2978981"/>
          </a:xfrm>
          <a:prstGeom prst="rect">
            <a:avLst/>
          </a:prstGeom>
          <a:ln w="6350">
            <a:solidFill>
              <a:schemeClr val="tx2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DB0990C-B365-ADBA-319D-3F51095443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6834" y="4142764"/>
            <a:ext cx="4434335" cy="2034716"/>
          </a:xfrm>
          <a:prstGeom prst="rect">
            <a:avLst/>
          </a:prstGeom>
          <a:ln w="31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5965272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Installing Python for Linux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IN" dirty="0">
                <a:solidFill>
                  <a:srgbClr val="C00000"/>
                </a:solidFill>
              </a:rPr>
              <a:t>Update System Packages:</a:t>
            </a:r>
          </a:p>
          <a:p>
            <a:pPr lvl="1"/>
            <a:r>
              <a:rPr lang="en-IN" dirty="0"/>
              <a:t>Open the Terminal</a:t>
            </a:r>
          </a:p>
          <a:p>
            <a:pPr lvl="1"/>
            <a:r>
              <a:rPr lang="en-IN" dirty="0"/>
              <a:t>Run: </a:t>
            </a:r>
            <a:r>
              <a:rPr lang="en-IN" b="1" dirty="0" err="1"/>
              <a:t>sudo</a:t>
            </a:r>
            <a:r>
              <a:rPr lang="en-IN" b="1" dirty="0"/>
              <a:t> apt update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>
                <a:solidFill>
                  <a:srgbClr val="C00000"/>
                </a:solidFill>
              </a:rPr>
              <a:t>Install Python:</a:t>
            </a:r>
          </a:p>
          <a:p>
            <a:pPr lvl="1"/>
            <a:r>
              <a:rPr lang="en-IN" dirty="0"/>
              <a:t>Run: </a:t>
            </a:r>
            <a:r>
              <a:rPr lang="en-IN" b="1" dirty="0" err="1"/>
              <a:t>sudo</a:t>
            </a:r>
            <a:r>
              <a:rPr lang="en-IN" b="1" dirty="0"/>
              <a:t> apt install python3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>
                <a:solidFill>
                  <a:srgbClr val="C00000"/>
                </a:solidFill>
              </a:rPr>
              <a:t>Verify Python Installation:</a:t>
            </a:r>
          </a:p>
          <a:p>
            <a:pPr lvl="1"/>
            <a:r>
              <a:rPr lang="en-IN" dirty="0"/>
              <a:t>Check Python version:</a:t>
            </a:r>
          </a:p>
          <a:p>
            <a:pPr lvl="1"/>
            <a:r>
              <a:rPr lang="en-IN" dirty="0"/>
              <a:t>Run: </a:t>
            </a:r>
            <a:r>
              <a:rPr lang="en-IN" b="1" dirty="0"/>
              <a:t>python3 --version</a:t>
            </a:r>
          </a:p>
        </p:txBody>
      </p:sp>
    </p:spTree>
    <p:extLst>
      <p:ext uri="{BB962C8B-B14F-4D97-AF65-F5344CB8AC3E}">
        <p14:creationId xmlns:p14="http://schemas.microsoft.com/office/powerpoint/2010/main" val="42175294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A8919E-A8B4-B76F-11A2-3575B2E24E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User Interface and IDE (Integrated Development Environment)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FB660D-37F6-133B-715E-BDF117E093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1" y="863445"/>
            <a:ext cx="6045884" cy="4321872"/>
          </a:xfrm>
        </p:spPr>
        <p:txBody>
          <a:bodyPr/>
          <a:lstStyle/>
          <a:p>
            <a:r>
              <a:rPr lang="en-IN" dirty="0"/>
              <a:t>Python supports </a:t>
            </a:r>
            <a:r>
              <a:rPr lang="en-IN" dirty="0">
                <a:solidFill>
                  <a:srgbClr val="C00000"/>
                </a:solidFill>
              </a:rPr>
              <a:t>two modes </a:t>
            </a:r>
            <a:r>
              <a:rPr lang="en-IN" dirty="0"/>
              <a:t>of programming:</a:t>
            </a:r>
          </a:p>
          <a:p>
            <a:pPr marL="457200" indent="-457200">
              <a:buFont typeface="+mj-lt"/>
              <a:buAutoNum type="arabicPeriod"/>
            </a:pPr>
            <a:r>
              <a:rPr lang="en-IN" b="1" dirty="0">
                <a:solidFill>
                  <a:srgbClr val="C00000"/>
                </a:solidFill>
              </a:rPr>
              <a:t>Interactive Mode</a:t>
            </a:r>
          </a:p>
          <a:p>
            <a:pPr marL="1001712" lvl="1" indent="-457200"/>
            <a:r>
              <a:rPr lang="en-IN" dirty="0"/>
              <a:t>The code is written directly at the </a:t>
            </a:r>
            <a:r>
              <a:rPr lang="en-IN" dirty="0">
                <a:solidFill>
                  <a:srgbClr val="C00000"/>
                </a:solidFill>
              </a:rPr>
              <a:t>Python prompt</a:t>
            </a:r>
            <a:r>
              <a:rPr lang="en-IN" dirty="0"/>
              <a:t> (&gt;&gt;&gt;).</a:t>
            </a:r>
          </a:p>
          <a:p>
            <a:pPr marL="1001712" lvl="1" indent="-457200"/>
            <a:r>
              <a:rPr lang="en-IN" dirty="0"/>
              <a:t>The output is displayed immediately.</a:t>
            </a:r>
          </a:p>
          <a:p>
            <a:pPr marL="1001712" lvl="1" indent="-457200"/>
            <a:r>
              <a:rPr lang="en-IN" dirty="0"/>
              <a:t>The code written in this mode is </a:t>
            </a:r>
            <a:r>
              <a:rPr lang="en-IN" dirty="0">
                <a:solidFill>
                  <a:srgbClr val="C00000"/>
                </a:solidFill>
              </a:rPr>
              <a:t>not saved</a:t>
            </a:r>
            <a:r>
              <a:rPr lang="en-IN" dirty="0"/>
              <a:t>, so it has to be written each time.</a:t>
            </a:r>
          </a:p>
          <a:p>
            <a:pPr marL="1001712" lvl="1" indent="-457200"/>
            <a:r>
              <a:rPr lang="en-IN" dirty="0"/>
              <a:t>Thus it is preferred for experimentation purposes.</a:t>
            </a:r>
          </a:p>
          <a:p>
            <a:pPr marL="457200" indent="-457200">
              <a:buFont typeface="+mj-lt"/>
              <a:buAutoNum type="arabicPeriod"/>
            </a:pPr>
            <a:r>
              <a:rPr lang="en-IN" b="1" dirty="0">
                <a:solidFill>
                  <a:srgbClr val="C00000"/>
                </a:solidFill>
              </a:rPr>
              <a:t>Script Mode</a:t>
            </a:r>
          </a:p>
          <a:p>
            <a:pPr lvl="1"/>
            <a:r>
              <a:rPr lang="en-IN" dirty="0"/>
              <a:t>The code is written in the file and then the file is run.</a:t>
            </a:r>
          </a:p>
          <a:p>
            <a:pPr lvl="1"/>
            <a:r>
              <a:rPr lang="en-IN" dirty="0"/>
              <a:t>The advantage of script mode is that </a:t>
            </a:r>
            <a:r>
              <a:rPr lang="en-IN" dirty="0">
                <a:solidFill>
                  <a:srgbClr val="C00000"/>
                </a:solidFill>
              </a:rPr>
              <a:t>the file can be saved for later use</a:t>
            </a:r>
            <a:r>
              <a:rPr lang="en-IN" dirty="0"/>
              <a:t>.</a:t>
            </a:r>
          </a:p>
          <a:p>
            <a:pPr lvl="1"/>
            <a:r>
              <a:rPr lang="en-IN" dirty="0">
                <a:solidFill>
                  <a:srgbClr val="C00000"/>
                </a:solidFill>
              </a:rPr>
              <a:t>To Save </a:t>
            </a:r>
            <a:r>
              <a:rPr lang="en-IN" dirty="0"/>
              <a:t>: IDLE -&gt; File -&gt; New File -&gt; write code -&gt; Save As -&gt; .</a:t>
            </a:r>
            <a:r>
              <a:rPr lang="en-IN" dirty="0" err="1"/>
              <a:t>py</a:t>
            </a:r>
            <a:r>
              <a:rPr lang="en-IN" dirty="0"/>
              <a:t> extension</a:t>
            </a:r>
          </a:p>
          <a:p>
            <a:pPr lvl="1"/>
            <a:r>
              <a:rPr lang="en-IN" dirty="0">
                <a:solidFill>
                  <a:srgbClr val="C00000"/>
                </a:solidFill>
              </a:rPr>
              <a:t>To Run </a:t>
            </a:r>
            <a:r>
              <a:rPr lang="en-IN" dirty="0"/>
              <a:t>: Run -&gt; Run Module OR (F5)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E2F2377-4A57-A732-B7E3-5C6EE28835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5249" y="808481"/>
            <a:ext cx="5776751" cy="2360043"/>
          </a:xfrm>
          <a:prstGeom prst="rect">
            <a:avLst/>
          </a:prstGeom>
          <a:ln w="3175">
            <a:solidFill>
              <a:schemeClr val="tx2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F2F2AB4-5FE4-F958-9F57-3CBD69E3FE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5248" y="3510604"/>
            <a:ext cx="5776752" cy="2993911"/>
          </a:xfrm>
          <a:prstGeom prst="rect">
            <a:avLst/>
          </a:prstGeom>
          <a:ln w="3175">
            <a:solidFill>
              <a:schemeClr val="tx2"/>
            </a:solidFill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2BF785D-F43E-B0FE-2EAF-FE4D3B886042}"/>
              </a:ext>
            </a:extLst>
          </p:cNvPr>
          <p:cNvSpPr txBox="1"/>
          <p:nvPr/>
        </p:nvSpPr>
        <p:spPr>
          <a:xfrm>
            <a:off x="7704305" y="2442884"/>
            <a:ext cx="37354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solidFill>
                  <a:srgbClr val="C00000"/>
                </a:solidFill>
              </a:rPr>
              <a:t>Interactive Mode Programming</a:t>
            </a:r>
            <a:endParaRPr lang="en-IN" b="1" dirty="0">
              <a:solidFill>
                <a:schemeClr val="tx2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C361C91-23CC-58A7-2854-0F4032E086BC}"/>
              </a:ext>
            </a:extLst>
          </p:cNvPr>
          <p:cNvSpPr txBox="1"/>
          <p:nvPr/>
        </p:nvSpPr>
        <p:spPr>
          <a:xfrm>
            <a:off x="7756925" y="6000879"/>
            <a:ext cx="37354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solidFill>
                  <a:srgbClr val="C00000"/>
                </a:solidFill>
              </a:rPr>
              <a:t>Script Mode Programming</a:t>
            </a:r>
            <a:endParaRPr lang="en-IN" b="1" dirty="0">
              <a:solidFill>
                <a:schemeClr val="tx2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D1B37B1-9613-FB80-38DB-1BAE0BF1B42D}"/>
              </a:ext>
            </a:extLst>
          </p:cNvPr>
          <p:cNvSpPr txBox="1"/>
          <p:nvPr/>
        </p:nvSpPr>
        <p:spPr>
          <a:xfrm>
            <a:off x="6415248" y="3168524"/>
            <a:ext cx="41180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000" b="1" dirty="0">
                <a:solidFill>
                  <a:srgbClr val="C00000"/>
                </a:solidFill>
              </a:rPr>
              <a:t>File</a:t>
            </a:r>
            <a:endParaRPr lang="en-IN" sz="1000" b="1" dirty="0">
              <a:solidFill>
                <a:schemeClr val="tx2"/>
              </a:solidFill>
            </a:endParaRPr>
          </a:p>
        </p:txBody>
      </p:sp>
      <p:sp>
        <p:nvSpPr>
          <p:cNvPr id="17" name="Speech Bubble: Oval 16">
            <a:extLst>
              <a:ext uri="{FF2B5EF4-FFF2-40B4-BE49-F238E27FC236}">
                <a16:creationId xmlns:a16="http://schemas.microsoft.com/office/drawing/2014/main" id="{F5EE57A4-8ACC-D8E4-8A35-E3C59BFD05F7}"/>
              </a:ext>
            </a:extLst>
          </p:cNvPr>
          <p:cNvSpPr/>
          <p:nvPr/>
        </p:nvSpPr>
        <p:spPr>
          <a:xfrm>
            <a:off x="6261225" y="3024222"/>
            <a:ext cx="758759" cy="504916"/>
          </a:xfrm>
          <a:prstGeom prst="wedgeEllipseCallou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195A250-AA5D-0CB3-B7C8-6A8D1002BA52}"/>
              </a:ext>
            </a:extLst>
          </p:cNvPr>
          <p:cNvSpPr txBox="1"/>
          <p:nvPr/>
        </p:nvSpPr>
        <p:spPr>
          <a:xfrm>
            <a:off x="7750917" y="3781826"/>
            <a:ext cx="41180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000" b="1" dirty="0">
                <a:solidFill>
                  <a:srgbClr val="C00000"/>
                </a:solidFill>
              </a:rPr>
              <a:t>Run</a:t>
            </a:r>
            <a:endParaRPr lang="en-IN" sz="1000" b="1" dirty="0">
              <a:solidFill>
                <a:schemeClr val="tx2"/>
              </a:solidFill>
            </a:endParaRPr>
          </a:p>
        </p:txBody>
      </p:sp>
      <p:sp>
        <p:nvSpPr>
          <p:cNvPr id="21" name="Speech Bubble: Oval 20">
            <a:extLst>
              <a:ext uri="{FF2B5EF4-FFF2-40B4-BE49-F238E27FC236}">
                <a16:creationId xmlns:a16="http://schemas.microsoft.com/office/drawing/2014/main" id="{EDDDDFFD-4B23-1602-9D1D-F652B9F12C65}"/>
              </a:ext>
            </a:extLst>
          </p:cNvPr>
          <p:cNvSpPr/>
          <p:nvPr/>
        </p:nvSpPr>
        <p:spPr>
          <a:xfrm>
            <a:off x="7597302" y="3658715"/>
            <a:ext cx="719037" cy="369332"/>
          </a:xfrm>
          <a:prstGeom prst="wedgeEllipseCallout">
            <a:avLst>
              <a:gd name="adj1" fmla="val -7304"/>
              <a:gd name="adj2" fmla="val 67768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25906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/>
      <p:bldP spid="17" grpId="0" animBg="1"/>
      <p:bldP spid="20" grpId="0"/>
      <p:bldP spid="21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Hello World using Python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To write python programs, we can use any text editor also.</a:t>
            </a:r>
          </a:p>
          <a:p>
            <a:r>
              <a:rPr lang="en-IN" dirty="0"/>
              <a:t>Create a new file in editor, save it as </a:t>
            </a:r>
            <a:r>
              <a:rPr lang="en-IN" b="1" dirty="0"/>
              <a:t>first</a:t>
            </a:r>
            <a:r>
              <a:rPr lang="en-IN" b="1" dirty="0">
                <a:solidFill>
                  <a:srgbClr val="FF0000"/>
                </a:solidFill>
              </a:rPr>
              <a:t>.py </a:t>
            </a:r>
            <a:r>
              <a:rPr lang="en-IN" dirty="0"/>
              <a:t>(.</a:t>
            </a:r>
            <a:r>
              <a:rPr lang="en-IN" dirty="0" err="1"/>
              <a:t>py</a:t>
            </a:r>
            <a:r>
              <a:rPr lang="en-IN" dirty="0"/>
              <a:t> – file extension)</a:t>
            </a:r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To run the python file open command prompt and change directory to where your python file is.</a:t>
            </a:r>
          </a:p>
          <a:p>
            <a:r>
              <a:rPr lang="en-IN" dirty="0"/>
              <a:t>Next, run python command (python filename.py)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456EBDA-49A4-A843-A786-6989C63A54AA}"/>
              </a:ext>
            </a:extLst>
          </p:cNvPr>
          <p:cNvSpPr/>
          <p:nvPr/>
        </p:nvSpPr>
        <p:spPr>
          <a:xfrm>
            <a:off x="1515509" y="2314302"/>
            <a:ext cx="4034391" cy="3385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print(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"Hello World..!!"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</a:t>
            </a:r>
            <a:endParaRPr lang="en-US" sz="1600" b="0" dirty="0">
              <a:solidFill>
                <a:srgbClr val="000000"/>
              </a:solidFill>
              <a:latin typeface="Consola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5F9F4A0-4592-C04D-B2D0-0BF66A3BFA20}"/>
              </a:ext>
            </a:extLst>
          </p:cNvPr>
          <p:cNvSpPr/>
          <p:nvPr/>
        </p:nvSpPr>
        <p:spPr>
          <a:xfrm>
            <a:off x="1015516" y="2314302"/>
            <a:ext cx="499993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</p:txBody>
      </p:sp>
      <p:sp>
        <p:nvSpPr>
          <p:cNvPr id="11" name="Rectangle: Top Corners Rounded 6">
            <a:extLst>
              <a:ext uri="{FF2B5EF4-FFF2-40B4-BE49-F238E27FC236}">
                <a16:creationId xmlns:a16="http://schemas.microsoft.com/office/drawing/2014/main" id="{0336C271-A2A3-9445-9946-5006F0A250F4}"/>
              </a:ext>
            </a:extLst>
          </p:cNvPr>
          <p:cNvSpPr/>
          <p:nvPr/>
        </p:nvSpPr>
        <p:spPr>
          <a:xfrm>
            <a:off x="1015516" y="1985118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first.py</a:t>
            </a:r>
          </a:p>
        </p:txBody>
      </p:sp>
      <p:sp>
        <p:nvSpPr>
          <p:cNvPr id="10" name="Line Callout 1 9"/>
          <p:cNvSpPr/>
          <p:nvPr/>
        </p:nvSpPr>
        <p:spPr>
          <a:xfrm>
            <a:off x="5884333" y="1923732"/>
            <a:ext cx="4495800" cy="626533"/>
          </a:xfrm>
          <a:prstGeom prst="borderCallout1">
            <a:avLst>
              <a:gd name="adj1" fmla="val 53885"/>
              <a:gd name="adj2" fmla="val -612"/>
              <a:gd name="adj3" fmla="val 89527"/>
              <a:gd name="adj4" fmla="val -14792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Python line does not end with </a:t>
            </a:r>
            <a:r>
              <a:rPr lang="en-IN" b="1" dirty="0">
                <a:solidFill>
                  <a:srgbClr val="FF0000"/>
                </a:solidFill>
              </a:rPr>
              <a:t>;</a:t>
            </a:r>
            <a:endParaRPr lang="en-US" b="1" dirty="0">
              <a:solidFill>
                <a:srgbClr val="FF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2323E5C-04F9-9D91-1570-0DBEBA2AEE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8077" y="3429000"/>
            <a:ext cx="5562744" cy="304881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6261C70-566A-1A57-7EB5-8FE4B708AF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565" y="4088408"/>
            <a:ext cx="8715984" cy="1057523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CBE27E7-DA20-E13A-3214-DDC4E2DF51DC}"/>
              </a:ext>
            </a:extLst>
          </p:cNvPr>
          <p:cNvCxnSpPr>
            <a:cxnSpLocks/>
          </p:cNvCxnSpPr>
          <p:nvPr/>
        </p:nvCxnSpPr>
        <p:spPr>
          <a:xfrm>
            <a:off x="7179013" y="4679004"/>
            <a:ext cx="817123" cy="0"/>
          </a:xfrm>
          <a:prstGeom prst="line">
            <a:avLst/>
          </a:prstGeom>
          <a:ln w="38100">
            <a:solidFill>
              <a:srgbClr val="B71B1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0D5ED02-403D-A0B2-F725-5A395B2BA680}"/>
              </a:ext>
            </a:extLst>
          </p:cNvPr>
          <p:cNvCxnSpPr>
            <a:cxnSpLocks/>
          </p:cNvCxnSpPr>
          <p:nvPr/>
        </p:nvCxnSpPr>
        <p:spPr>
          <a:xfrm>
            <a:off x="8129080" y="4679004"/>
            <a:ext cx="1073285" cy="0"/>
          </a:xfrm>
          <a:prstGeom prst="line">
            <a:avLst/>
          </a:prstGeom>
          <a:ln w="38100">
            <a:solidFill>
              <a:srgbClr val="B71B1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38861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8" grpId="0" build="p" animBg="1"/>
      <p:bldP spid="9" grpId="0" animBg="1"/>
      <p:bldP spid="11" grpId="0" animBg="1"/>
      <p:bldP spid="10" grpId="0" animBg="1"/>
      <p:bldP spid="10" grpId="1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FA93B7DD-44CE-B8F1-A112-F166009E53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324442-CEAD-768D-C266-3CE5A7F5D3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Anaconda for Python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4B0E45-97AE-53C3-F893-C029D124DB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5"/>
            <a:ext cx="11929641" cy="5637108"/>
          </a:xfrm>
        </p:spPr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Anaconda</a:t>
            </a:r>
            <a:r>
              <a:rPr lang="en-US" dirty="0"/>
              <a:t> is a popular open-source distribution of the Python and R programming languages.</a:t>
            </a:r>
          </a:p>
          <a:p>
            <a:r>
              <a:rPr lang="en-US" dirty="0"/>
              <a:t>Anaconda comes packed with a suite of powerful tools designed to enhance your data science and machine learning workflow. </a:t>
            </a:r>
          </a:p>
          <a:p>
            <a:r>
              <a:rPr lang="en-US" dirty="0"/>
              <a:t>Following are some most useful ones:</a:t>
            </a:r>
          </a:p>
          <a:p>
            <a:pPr lvl="1"/>
            <a:r>
              <a:rPr lang="en-IN" dirty="0" err="1"/>
              <a:t>Jupyter</a:t>
            </a:r>
            <a:r>
              <a:rPr lang="en-IN" dirty="0"/>
              <a:t> Notebook</a:t>
            </a:r>
          </a:p>
          <a:p>
            <a:pPr lvl="1"/>
            <a:r>
              <a:rPr lang="en-IN" dirty="0"/>
              <a:t>Spyder</a:t>
            </a:r>
          </a:p>
          <a:p>
            <a:pPr lvl="1"/>
            <a:r>
              <a:rPr lang="en-IN" dirty="0" err="1"/>
              <a:t>Rstudio</a:t>
            </a:r>
            <a:endParaRPr lang="en-IN" dirty="0"/>
          </a:p>
          <a:p>
            <a:pPr lvl="1"/>
            <a:r>
              <a:rPr lang="en-IN" dirty="0"/>
              <a:t>VS Code (Visual Studio Code)</a:t>
            </a:r>
          </a:p>
          <a:p>
            <a:pPr lvl="1"/>
            <a:r>
              <a:rPr lang="en-IN" dirty="0"/>
              <a:t>Anaconda Navigator</a:t>
            </a:r>
          </a:p>
          <a:p>
            <a:pPr lvl="1"/>
            <a:r>
              <a:rPr lang="en-IN" dirty="0"/>
              <a:t>TensorFlow, etc…</a:t>
            </a:r>
            <a:endParaRPr lang="en-US" dirty="0"/>
          </a:p>
          <a:p>
            <a:endParaRPr lang="en-US" dirty="0"/>
          </a:p>
          <a:p>
            <a:r>
              <a:rPr lang="en-US" dirty="0"/>
              <a:t>We will use </a:t>
            </a:r>
            <a:r>
              <a:rPr lang="en-US" b="1" dirty="0" err="1">
                <a:solidFill>
                  <a:srgbClr val="C00000"/>
                </a:solidFill>
              </a:rPr>
              <a:t>Jupyter</a:t>
            </a:r>
            <a:r>
              <a:rPr lang="en-US" b="1" dirty="0">
                <a:solidFill>
                  <a:srgbClr val="C00000"/>
                </a:solidFill>
              </a:rPr>
              <a:t> Notebook</a:t>
            </a:r>
            <a:r>
              <a:rPr lang="en-US" sz="2000" b="1" dirty="0">
                <a:solidFill>
                  <a:srgbClr val="C00000"/>
                </a:solidFill>
              </a:rPr>
              <a:t> </a:t>
            </a:r>
            <a:r>
              <a:rPr lang="en-US" dirty="0"/>
              <a:t>for doing interactive programming and getting immediate visualization.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910C28A-6527-F803-3D25-7D384BD95F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0305" y="1770612"/>
            <a:ext cx="5152078" cy="32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73034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C3E986B-9C97-8199-9D96-B329834B9A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EE95944-6B8F-1713-9DCF-3E4AD50A2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Installing Anaconda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8058D25-24F5-A416-72EB-592B014BB9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48382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65BFDD49-2BD0-82D1-D6F2-B11C7A8B8F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73CCBC-F0F2-49E4-70CE-EA6774CE2D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Installing Anaconda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06819C-7214-6F98-0023-8AE3949B06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1451" y="863444"/>
            <a:ext cx="2348014" cy="5614375"/>
          </a:xfrm>
        </p:spPr>
        <p:txBody>
          <a:bodyPr/>
          <a:lstStyle/>
          <a:p>
            <a:pPr marL="457200" marR="0" lvl="0" indent="-4572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84742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Roboto Condensed"/>
                <a:ea typeface="+mn-ea"/>
                <a:cs typeface="+mn-cs"/>
              </a:rPr>
              <a:t>Download </a:t>
            </a:r>
            <a:r>
              <a:rPr lang="en-US" b="1" dirty="0">
                <a:solidFill>
                  <a:srgbClr val="C00000"/>
                </a:solidFill>
                <a:latin typeface="Roboto Condensed"/>
              </a:rPr>
              <a:t>Anaconda</a:t>
            </a:r>
            <a:endParaRPr lang="en-US" dirty="0"/>
          </a:p>
          <a:p>
            <a:pPr lvl="0"/>
            <a:r>
              <a:rPr lang="en-US" dirty="0"/>
              <a:t>Download Anaconda from Open official website:  </a:t>
            </a:r>
            <a:r>
              <a:rPr lang="en-US" u="sng" dirty="0">
                <a:solidFill>
                  <a:schemeClr val="accent3"/>
                </a:solidFill>
              </a:rPr>
              <a:t>repo.anaconda.com</a:t>
            </a:r>
            <a:endParaRPr lang="en-US" dirty="0">
              <a:solidFill>
                <a:schemeClr val="accent3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1FD3ADB-6B41-23D9-B6B7-EC56978380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9464" y="720929"/>
            <a:ext cx="9672536" cy="582578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CA4719B-24EC-E5FB-2490-2FF8DD28DB14}"/>
              </a:ext>
            </a:extLst>
          </p:cNvPr>
          <p:cNvSpPr/>
          <p:nvPr/>
        </p:nvSpPr>
        <p:spPr>
          <a:xfrm>
            <a:off x="3988340" y="5058384"/>
            <a:ext cx="2577830" cy="1488332"/>
          </a:xfrm>
          <a:prstGeom prst="rect">
            <a:avLst/>
          </a:prstGeom>
          <a:noFill/>
          <a:ln w="38100">
            <a:solidFill>
              <a:srgbClr val="B71B1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 w="38100">
                <a:solidFill>
                  <a:schemeClr val="tx1"/>
                </a:solidFill>
              </a:ln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89616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6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6E93272-24FB-0ED7-24CE-6027F4D4F1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D537E24-81A3-CE13-0D7F-7D9C2B068C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4919" y="711201"/>
            <a:ext cx="7367081" cy="588415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F225944-B14D-1FB9-6628-9EF49A24E6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Installing Anaconda 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46A672-7DE1-CA6E-ADDD-8E9D0130CF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marR="0" lvl="0" indent="-4572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84742"/>
              </a:buClr>
              <a:buSzTx/>
              <a:buFont typeface="+mj-lt"/>
              <a:buAutoNum type="arabicPeriod" startAt="2"/>
              <a:tabLst/>
              <a:defRPr/>
            </a:pP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Roboto Condensed"/>
                <a:ea typeface="+mn-ea"/>
                <a:cs typeface="+mn-cs"/>
              </a:rPr>
              <a:t>Run the Installer</a:t>
            </a:r>
            <a:endParaRPr lang="en-IN" dirty="0"/>
          </a:p>
          <a:p>
            <a:r>
              <a:rPr lang="en-IN" dirty="0"/>
              <a:t>Download the suitable installer.</a:t>
            </a:r>
          </a:p>
          <a:p>
            <a:r>
              <a:rPr lang="en-US" dirty="0"/>
              <a:t>Open installer.</a:t>
            </a:r>
          </a:p>
          <a:p>
            <a:r>
              <a:rPr lang="en-US" dirty="0"/>
              <a:t>Click on Next.</a:t>
            </a:r>
          </a:p>
          <a:p>
            <a:r>
              <a:rPr lang="en-US" dirty="0"/>
              <a:t>Check Agree to License Agreement.</a:t>
            </a:r>
          </a:p>
          <a:p>
            <a:r>
              <a:rPr lang="en-US" dirty="0"/>
              <a:t>Select Installation Type: </a:t>
            </a:r>
          </a:p>
          <a:p>
            <a:pPr lvl="1"/>
            <a:r>
              <a:rPr lang="en-US" dirty="0"/>
              <a:t>Just Me (recommended)</a:t>
            </a:r>
          </a:p>
          <a:p>
            <a:r>
              <a:rPr lang="en-US" dirty="0"/>
              <a:t>Choose installation location.</a:t>
            </a:r>
          </a:p>
          <a:p>
            <a:r>
              <a:rPr lang="en-US" dirty="0"/>
              <a:t>Select :</a:t>
            </a:r>
          </a:p>
          <a:p>
            <a:pPr lvl="1"/>
            <a:r>
              <a:rPr lang="en-US" dirty="0"/>
              <a:t>Add to PATH environment variables.</a:t>
            </a:r>
          </a:p>
          <a:p>
            <a:r>
              <a:rPr lang="en-US" dirty="0"/>
              <a:t>Click on install.</a:t>
            </a:r>
          </a:p>
          <a:p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B6ED91E-7208-8AF5-9E44-A11757DB4AC6}"/>
              </a:ext>
            </a:extLst>
          </p:cNvPr>
          <p:cNvSpPr/>
          <p:nvPr/>
        </p:nvSpPr>
        <p:spPr>
          <a:xfrm>
            <a:off x="4669282" y="2470826"/>
            <a:ext cx="2266541" cy="254037"/>
          </a:xfrm>
          <a:prstGeom prst="rect">
            <a:avLst/>
          </a:prstGeom>
          <a:noFill/>
          <a:ln w="38100">
            <a:solidFill>
              <a:srgbClr val="B71B1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 w="38100">
                <a:solidFill>
                  <a:schemeClr val="tx1"/>
                </a:solidFill>
              </a:ln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67149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1A5DF37-043B-366E-9822-8FB79EC1F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BB1C44-99EE-E101-DFEB-4D3BB9F46E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Installing Anaconda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77A851-19F6-5D89-A242-D90B1E7F32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 startAt="3"/>
            </a:pPr>
            <a:r>
              <a:rPr lang="en-US" b="1" dirty="0">
                <a:solidFill>
                  <a:srgbClr val="C00000"/>
                </a:solidFill>
              </a:rPr>
              <a:t>Verify Successful Installation</a:t>
            </a:r>
            <a:endParaRPr lang="en-US" dirty="0">
              <a:solidFill>
                <a:srgbClr val="C00000"/>
              </a:solidFill>
            </a:endParaRPr>
          </a:p>
          <a:p>
            <a:r>
              <a:rPr lang="en-US" sz="2200" dirty="0">
                <a:solidFill>
                  <a:srgbClr val="C00000"/>
                </a:solidFill>
              </a:rPr>
              <a:t>Option 1: Using Anaconda Navigator</a:t>
            </a:r>
          </a:p>
          <a:p>
            <a:pPr lvl="1"/>
            <a:r>
              <a:rPr lang="en-US" dirty="0"/>
              <a:t>Open </a:t>
            </a:r>
            <a:r>
              <a:rPr lang="en-US" b="1" dirty="0"/>
              <a:t>Anaconda Navigator</a:t>
            </a:r>
            <a:r>
              <a:rPr lang="en-US" dirty="0"/>
              <a:t> from the Start Menu</a:t>
            </a:r>
          </a:p>
          <a:p>
            <a:pPr lvl="1"/>
            <a:r>
              <a:rPr lang="en-IN" dirty="0"/>
              <a:t>Find </a:t>
            </a:r>
            <a:r>
              <a:rPr lang="en-IN" b="1" dirty="0" err="1"/>
              <a:t>Jupyter</a:t>
            </a:r>
            <a:r>
              <a:rPr lang="en-IN" b="1" dirty="0"/>
              <a:t> Notebook</a:t>
            </a:r>
          </a:p>
          <a:p>
            <a:pPr lvl="1"/>
            <a:r>
              <a:rPr lang="en-IN" dirty="0"/>
              <a:t>Click </a:t>
            </a:r>
            <a:r>
              <a:rPr lang="en-IN" b="1" dirty="0"/>
              <a:t>Launch</a:t>
            </a:r>
            <a:r>
              <a:rPr lang="en-US" dirty="0"/>
              <a:t>. </a:t>
            </a:r>
          </a:p>
          <a:p>
            <a:pPr marL="457200" lvl="1" indent="0">
              <a:buNone/>
            </a:pPr>
            <a:r>
              <a:rPr lang="en-US" dirty="0"/>
              <a:t>     (It will open in your system’s default user folder)</a:t>
            </a:r>
          </a:p>
          <a:p>
            <a:pPr marL="457200" lvl="1" indent="0">
              <a:buNone/>
            </a:pPr>
            <a:endParaRPr lang="en-IN" dirty="0"/>
          </a:p>
          <a:p>
            <a:r>
              <a:rPr lang="en-US" sz="2200" dirty="0">
                <a:solidFill>
                  <a:srgbClr val="C00000"/>
                </a:solidFill>
              </a:rPr>
              <a:t>Option 2: </a:t>
            </a:r>
            <a:r>
              <a:rPr lang="en-IN" sz="2200" dirty="0">
                <a:solidFill>
                  <a:srgbClr val="C00000"/>
                </a:solidFill>
              </a:rPr>
              <a:t>Using Anaconda Prompt</a:t>
            </a:r>
            <a:endParaRPr lang="en-US" sz="2200" dirty="0">
              <a:solidFill>
                <a:srgbClr val="C00000"/>
              </a:solidFill>
            </a:endParaRPr>
          </a:p>
          <a:p>
            <a:pPr lvl="1"/>
            <a:r>
              <a:rPr lang="en-IN" dirty="0"/>
              <a:t>Open </a:t>
            </a:r>
            <a:r>
              <a:rPr lang="en-IN" b="1" dirty="0"/>
              <a:t>Anaconda Prompt</a:t>
            </a:r>
          </a:p>
          <a:p>
            <a:pPr lvl="1"/>
            <a:r>
              <a:rPr lang="en-US" dirty="0"/>
              <a:t>Navigate to the folder you want to use in </a:t>
            </a:r>
            <a:r>
              <a:rPr lang="en-US" dirty="0" err="1"/>
              <a:t>Jupyter</a:t>
            </a:r>
            <a:r>
              <a:rPr lang="en-US" dirty="0"/>
              <a:t> Notebook</a:t>
            </a:r>
          </a:p>
          <a:p>
            <a:pPr marL="457200" lvl="1" indent="0">
              <a:buNone/>
            </a:pPr>
            <a:r>
              <a:rPr lang="en-US" dirty="0"/>
              <a:t>      </a:t>
            </a:r>
            <a:r>
              <a:rPr lang="en-IN" dirty="0"/>
              <a:t>(Example: cd Desktop\Python)</a:t>
            </a:r>
            <a:endParaRPr lang="en-US" dirty="0"/>
          </a:p>
          <a:p>
            <a:pPr lvl="1"/>
            <a:r>
              <a:rPr lang="en-IN" dirty="0"/>
              <a:t>Type: </a:t>
            </a:r>
            <a:r>
              <a:rPr lang="en-IN" dirty="0" err="1"/>
              <a:t>jupyter</a:t>
            </a:r>
            <a:r>
              <a:rPr lang="en-IN" dirty="0"/>
              <a:t> notebook</a:t>
            </a:r>
          </a:p>
          <a:p>
            <a:pPr lvl="1"/>
            <a:r>
              <a:rPr lang="en-US" dirty="0"/>
              <a:t>Press </a:t>
            </a:r>
            <a:r>
              <a:rPr lang="en-US" b="1" dirty="0"/>
              <a:t>Enter</a:t>
            </a:r>
            <a:r>
              <a:rPr lang="en-US" dirty="0"/>
              <a:t> to open </a:t>
            </a:r>
            <a:r>
              <a:rPr lang="en-US" dirty="0" err="1"/>
              <a:t>Jupyter</a:t>
            </a:r>
            <a:r>
              <a:rPr lang="en-US" dirty="0"/>
              <a:t> Notebook (By default, it opens in the </a:t>
            </a:r>
            <a:r>
              <a:rPr lang="en-US" b="1" dirty="0"/>
              <a:t>default working directory)</a:t>
            </a:r>
            <a:r>
              <a:rPr lang="en-US" dirty="0"/>
              <a:t>.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DAB71DF-9818-0918-118F-2F71C83C35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4961" y="863446"/>
            <a:ext cx="6165859" cy="472023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1009049-5988-1F37-8C96-D341E1AADC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4961" y="1526322"/>
            <a:ext cx="6165859" cy="2996118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386A890F-D79C-7596-0A04-01ACE205E6D1}"/>
              </a:ext>
            </a:extLst>
          </p:cNvPr>
          <p:cNvSpPr/>
          <p:nvPr/>
        </p:nvSpPr>
        <p:spPr>
          <a:xfrm>
            <a:off x="8852170" y="3745149"/>
            <a:ext cx="1566153" cy="1838529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9A50638-C771-4D00-3D99-838A7949DA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179" y="787941"/>
            <a:ext cx="11929640" cy="5097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65170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2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D79CAB0-C556-D5F6-A3C7-A3FA361B0A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68A66D1-FB87-5DCE-CFF9-98AB768276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Indentation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6353FA-D86F-AB89-FA7C-D82552DBB0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10064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3C2B39-49AA-CB4F-9792-AC1F5B051E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6112FE-BC6B-D149-963D-833B6B7C78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Indentation means </a:t>
            </a:r>
            <a:r>
              <a:rPr lang="en-US" dirty="0">
                <a:solidFill>
                  <a:srgbClr val="C00000"/>
                </a:solidFill>
              </a:rPr>
              <a:t>adding spaces or tabs at the beginning of a line </a:t>
            </a:r>
            <a:r>
              <a:rPr lang="en-US" dirty="0"/>
              <a:t>to define the block of code.</a:t>
            </a:r>
          </a:p>
          <a:p>
            <a:r>
              <a:rPr lang="en-US" dirty="0"/>
              <a:t>In Python, indentation is mandatory.</a:t>
            </a:r>
          </a:p>
          <a:p>
            <a:r>
              <a:rPr lang="en-US" dirty="0"/>
              <a:t>The </a:t>
            </a:r>
            <a:r>
              <a:rPr lang="en-US" dirty="0">
                <a:solidFill>
                  <a:srgbClr val="C00000"/>
                </a:solidFill>
              </a:rPr>
              <a:t>statements with the same indentation </a:t>
            </a:r>
            <a:r>
              <a:rPr lang="en-US" dirty="0"/>
              <a:t>belong to the same group called a </a:t>
            </a:r>
            <a:r>
              <a:rPr lang="en-US" dirty="0">
                <a:solidFill>
                  <a:srgbClr val="C00000"/>
                </a:solidFill>
              </a:rPr>
              <a:t>suite</a:t>
            </a:r>
            <a:r>
              <a:rPr lang="en-US" dirty="0"/>
              <a:t>. </a:t>
            </a:r>
            <a:endParaRPr lang="en-IN" dirty="0"/>
          </a:p>
          <a:p>
            <a:r>
              <a:rPr lang="en-US" dirty="0"/>
              <a:t>Most programming languages like C, C++, Java, etc. use </a:t>
            </a:r>
            <a:r>
              <a:rPr lang="en-US" dirty="0">
                <a:solidFill>
                  <a:srgbClr val="C00000"/>
                </a:solidFill>
              </a:rPr>
              <a:t>curly braces {} </a:t>
            </a:r>
            <a:r>
              <a:rPr lang="en-US" dirty="0"/>
              <a:t>to define/identify a block of code in the program, While in </a:t>
            </a:r>
            <a:r>
              <a:rPr lang="en-US" dirty="0">
                <a:solidFill>
                  <a:srgbClr val="C00000"/>
                </a:solidFill>
              </a:rPr>
              <a:t>Python</a:t>
            </a:r>
            <a:r>
              <a:rPr lang="en-US" dirty="0"/>
              <a:t>, it is done using </a:t>
            </a:r>
            <a:r>
              <a:rPr lang="en-US" dirty="0">
                <a:solidFill>
                  <a:srgbClr val="C00000"/>
                </a:solidFill>
              </a:rPr>
              <a:t>the spaces or tabs</a:t>
            </a:r>
            <a:r>
              <a:rPr lang="en-US" dirty="0"/>
              <a:t>, which is known as </a:t>
            </a:r>
            <a:r>
              <a:rPr lang="en-US" dirty="0">
                <a:solidFill>
                  <a:srgbClr val="C00000"/>
                </a:solidFill>
              </a:rPr>
              <a:t>Indentation</a:t>
            </a:r>
            <a:r>
              <a:rPr lang="en-US" dirty="0"/>
              <a:t>.</a:t>
            </a:r>
          </a:p>
          <a:p>
            <a:r>
              <a:rPr lang="en-US" dirty="0"/>
              <a:t>It is generally known as </a:t>
            </a:r>
            <a:r>
              <a:rPr lang="en-US" dirty="0">
                <a:solidFill>
                  <a:srgbClr val="C00000"/>
                </a:solidFill>
              </a:rPr>
              <a:t>4 space rule </a:t>
            </a:r>
            <a:r>
              <a:rPr lang="en-US" dirty="0"/>
              <a:t>in PEP8 (Python Enhancement Proposal) documentation of rules for styling and designing the code for Python.</a:t>
            </a:r>
          </a:p>
          <a:p>
            <a:r>
              <a:rPr lang="en-US" dirty="0"/>
              <a:t>A </a:t>
            </a:r>
            <a:r>
              <a:rPr lang="en-US" dirty="0">
                <a:solidFill>
                  <a:srgbClr val="C00000"/>
                </a:solidFill>
              </a:rPr>
              <a:t>colon (:) is mandatory </a:t>
            </a:r>
            <a:r>
              <a:rPr lang="en-US" dirty="0"/>
              <a:t>after statements that begin a block of code.</a:t>
            </a:r>
          </a:p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DC41F98-171C-F049-B94D-01AB8E4006F0}"/>
              </a:ext>
            </a:extLst>
          </p:cNvPr>
          <p:cNvSpPr/>
          <p:nvPr/>
        </p:nvSpPr>
        <p:spPr>
          <a:xfrm>
            <a:off x="969099" y="5213795"/>
            <a:ext cx="2721955" cy="1077218"/>
          </a:xfrm>
          <a:prstGeom prst="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b="1" dirty="0">
                <a:solidFill>
                  <a:srgbClr val="000000"/>
                </a:solidFill>
                <a:latin typeface="Menlo" panose="020B0609030804020204" pitchFamily="49" charset="0"/>
              </a:rPr>
              <a:t>if Condition:</a:t>
            </a:r>
          </a:p>
          <a:p>
            <a:r>
              <a:rPr lang="en-IN" sz="1600" b="1" dirty="0">
                <a:solidFill>
                  <a:srgbClr val="000000"/>
                </a:solidFill>
                <a:latin typeface="Menlo" panose="020B0609030804020204" pitchFamily="49" charset="0"/>
              </a:rPr>
              <a:t>    print("True")</a:t>
            </a:r>
          </a:p>
          <a:p>
            <a:r>
              <a:rPr lang="en-IN" sz="1600" b="1" dirty="0">
                <a:solidFill>
                  <a:srgbClr val="000000"/>
                </a:solidFill>
                <a:latin typeface="Menlo" panose="020B0609030804020204" pitchFamily="49" charset="0"/>
              </a:rPr>
              <a:t> else:</a:t>
            </a:r>
          </a:p>
          <a:p>
            <a:r>
              <a:rPr lang="en-IN" sz="1600" b="1" dirty="0">
                <a:solidFill>
                  <a:srgbClr val="000000"/>
                </a:solidFill>
                <a:latin typeface="Menlo" panose="020B0609030804020204" pitchFamily="49" charset="0"/>
              </a:rPr>
              <a:t>    print("False")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4DE6E85-8CBB-9D49-B753-6D6F6A54C3B4}"/>
              </a:ext>
            </a:extLst>
          </p:cNvPr>
          <p:cNvSpPr/>
          <p:nvPr/>
        </p:nvSpPr>
        <p:spPr>
          <a:xfrm>
            <a:off x="469106" y="5213795"/>
            <a:ext cx="499993" cy="1077218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US" sz="1600" b="1" dirty="0"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US" sz="1600" b="1" dirty="0"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US" sz="1600" b="1">
                <a:latin typeface="Consolas" panose="020B0609020204030204" pitchFamily="49" charset="0"/>
              </a:rPr>
              <a:t>4</a:t>
            </a:r>
            <a:endParaRPr lang="en-US" sz="1600" b="1" dirty="0">
              <a:latin typeface="Consolas" panose="020B0609020204030204" pitchFamily="49" charset="0"/>
            </a:endParaRP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96E7C351-8E9D-A643-96D0-723972564798}"/>
              </a:ext>
            </a:extLst>
          </p:cNvPr>
          <p:cNvSpPr/>
          <p:nvPr/>
        </p:nvSpPr>
        <p:spPr>
          <a:xfrm>
            <a:off x="469106" y="4884611"/>
            <a:ext cx="1778770" cy="329184"/>
          </a:xfrm>
          <a:prstGeom prst="round2Same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 err="1">
                <a:solidFill>
                  <a:schemeClr val="bg1"/>
                </a:solidFill>
              </a:rPr>
              <a:t>Example.py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7" name="Line Callout 1 6">
            <a:extLst>
              <a:ext uri="{FF2B5EF4-FFF2-40B4-BE49-F238E27FC236}">
                <a16:creationId xmlns:a16="http://schemas.microsoft.com/office/drawing/2014/main" id="{CEFEDD48-434B-B64B-8342-9C23C8980A0E}"/>
              </a:ext>
            </a:extLst>
          </p:cNvPr>
          <p:cNvSpPr/>
          <p:nvPr/>
        </p:nvSpPr>
        <p:spPr>
          <a:xfrm>
            <a:off x="5003387" y="5331740"/>
            <a:ext cx="4495800" cy="626533"/>
          </a:xfrm>
          <a:prstGeom prst="borderCallout1">
            <a:avLst>
              <a:gd name="adj1" fmla="val 53885"/>
              <a:gd name="adj2" fmla="val -612"/>
              <a:gd name="adj3" fmla="val 82408"/>
              <a:gd name="adj4" fmla="val -70600"/>
            </a:avLst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IndentationError: </a:t>
            </a:r>
            <a:r>
              <a:rPr lang="en-US" dirty="0">
                <a:solidFill>
                  <a:schemeClr val="tx1"/>
                </a:solidFill>
              </a:rPr>
              <a:t>unindent does not match any outer indentation level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22C4EBD-79A5-2D5A-C10C-90100A63AC9A}"/>
              </a:ext>
            </a:extLst>
          </p:cNvPr>
          <p:cNvCxnSpPr/>
          <p:nvPr/>
        </p:nvCxnSpPr>
        <p:spPr>
          <a:xfrm>
            <a:off x="969099" y="5958273"/>
            <a:ext cx="130127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910272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  <p:bldP spid="5" grpId="0" animBg="1"/>
      <p:bldP spid="6" grpId="0" animBg="1"/>
      <p:bldP spid="7" grpId="0" animBg="1"/>
      <p:bldP spid="7" grpId="1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3C2B39-49AA-CB4F-9792-AC1F5B051E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Indentation in Python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9390C48-B65A-69C4-D60D-A2044D29FB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231" y="1027084"/>
            <a:ext cx="3093988" cy="1984441"/>
          </a:xfrm>
          <a:prstGeom prst="rect">
            <a:avLst/>
          </a:prstGeom>
          <a:ln w="12700">
            <a:noFill/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5DB673F-84CB-2E7C-1828-68E526AC81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027084"/>
            <a:ext cx="3632701" cy="2105221"/>
          </a:xfrm>
          <a:prstGeom prst="rect">
            <a:avLst/>
          </a:prstGeom>
          <a:ln w="12700">
            <a:noFill/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EDC60D4-A4A6-75DB-971D-E4A09D79B4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6231" y="3740285"/>
            <a:ext cx="8652469" cy="2453853"/>
          </a:xfrm>
          <a:prstGeom prst="rect">
            <a:avLst/>
          </a:prstGeom>
          <a:ln w="12700">
            <a:noFill/>
          </a:ln>
        </p:spPr>
      </p:pic>
    </p:spTree>
    <p:extLst>
      <p:ext uri="{BB962C8B-B14F-4D97-AF65-F5344CB8AC3E}">
        <p14:creationId xmlns:p14="http://schemas.microsoft.com/office/powerpoint/2010/main" val="18627082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C2F5AD-98F3-C226-A87D-66EF196981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253311F-8FBF-AC22-2C9B-8E170BDB6D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Printing Output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DE83369-B78F-0DA7-6EEC-48A2052D4B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0547322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8E574-D468-C44A-A4AF-B590E757BF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Printing Output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95012C-9519-5847-A901-781E248F4F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 print() function prints the </a:t>
            </a:r>
            <a:r>
              <a:rPr lang="en-US" dirty="0">
                <a:solidFill>
                  <a:srgbClr val="C00000"/>
                </a:solidFill>
              </a:rPr>
              <a:t>specified message </a:t>
            </a:r>
            <a:r>
              <a:rPr lang="en-US" dirty="0"/>
              <a:t>to the screen, or other standard output device. The object will be converted into a </a:t>
            </a:r>
            <a:r>
              <a:rPr lang="en-US" dirty="0">
                <a:solidFill>
                  <a:srgbClr val="C00000"/>
                </a:solidFill>
              </a:rPr>
              <a:t>string</a:t>
            </a:r>
            <a:r>
              <a:rPr lang="en-US" dirty="0"/>
              <a:t> before written to the screen.</a:t>
            </a:r>
          </a:p>
          <a:p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23013E2-558B-0A48-9212-BFAAC5A1E50B}"/>
              </a:ext>
            </a:extLst>
          </p:cNvPr>
          <p:cNvSpPr/>
          <p:nvPr/>
        </p:nvSpPr>
        <p:spPr>
          <a:xfrm>
            <a:off x="934455" y="2113815"/>
            <a:ext cx="8012106" cy="338554"/>
          </a:xfrm>
          <a:prstGeom prst="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b="1" dirty="0">
                <a:solidFill>
                  <a:srgbClr val="000000"/>
                </a:solidFill>
                <a:latin typeface="Menlo" panose="020B0609030804020204" pitchFamily="49" charset="0"/>
              </a:rPr>
              <a:t>print(object(s), </a:t>
            </a:r>
            <a:r>
              <a:rPr lang="en-IN" sz="1600" b="1" dirty="0" err="1">
                <a:solidFill>
                  <a:srgbClr val="000000"/>
                </a:solidFill>
                <a:latin typeface="Menlo" panose="020B0609030804020204" pitchFamily="49" charset="0"/>
              </a:rPr>
              <a:t>sep</a:t>
            </a:r>
            <a:r>
              <a:rPr lang="en-IN" sz="1600" b="1" dirty="0">
                <a:solidFill>
                  <a:srgbClr val="000000"/>
                </a:solidFill>
                <a:latin typeface="Menlo" panose="020B0609030804020204" pitchFamily="49" charset="0"/>
              </a:rPr>
              <a:t>=</a:t>
            </a:r>
            <a:r>
              <a:rPr lang="en-IN" sz="1600" b="1" dirty="0">
                <a:solidFill>
                  <a:srgbClr val="000000"/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‘ ‘</a:t>
            </a:r>
            <a:r>
              <a:rPr lang="en-IN" sz="1600" b="1" dirty="0">
                <a:solidFill>
                  <a:srgbClr val="000000"/>
                </a:solidFill>
                <a:latin typeface="Menlo" panose="020B0609030804020204" pitchFamily="49" charset="0"/>
              </a:rPr>
              <a:t>, end=</a:t>
            </a:r>
            <a:r>
              <a:rPr lang="en-IN" sz="1600" b="1" dirty="0">
                <a:solidFill>
                  <a:srgbClr val="000000"/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‘</a:t>
            </a:r>
            <a:r>
              <a:rPr lang="en-IN" sz="1600" b="1" dirty="0">
                <a:solidFill>
                  <a:srgbClr val="000000"/>
                </a:solidFill>
                <a:latin typeface="Menlo" panose="020B0609030804020204" pitchFamily="49" charset="0"/>
              </a:rPr>
              <a:t>\n</a:t>
            </a:r>
            <a:r>
              <a:rPr lang="en-IN" sz="1600" b="1" dirty="0">
                <a:solidFill>
                  <a:srgbClr val="000000"/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’</a:t>
            </a:r>
            <a:r>
              <a:rPr lang="en-IN" sz="1600" b="1" dirty="0">
                <a:solidFill>
                  <a:srgbClr val="000000"/>
                </a:solidFill>
                <a:latin typeface="Menlo" panose="020B0609030804020204" pitchFamily="49" charset="0"/>
              </a:rPr>
              <a:t>, file=</a:t>
            </a:r>
            <a:r>
              <a:rPr lang="en-IN" sz="1600" b="1" dirty="0" err="1">
                <a:solidFill>
                  <a:srgbClr val="000000"/>
                </a:solidFill>
                <a:latin typeface="Menlo" panose="020B0609030804020204" pitchFamily="49" charset="0"/>
              </a:rPr>
              <a:t>sys.stdout</a:t>
            </a:r>
            <a:r>
              <a:rPr lang="en-IN" sz="1600" b="1" dirty="0">
                <a:solidFill>
                  <a:srgbClr val="000000"/>
                </a:solidFill>
                <a:latin typeface="Menlo" panose="020B0609030804020204" pitchFamily="49" charset="0"/>
              </a:rPr>
              <a:t>, flush=False)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721B5BC-EFBC-7241-9BAC-5D4CFA6857A1}"/>
              </a:ext>
            </a:extLst>
          </p:cNvPr>
          <p:cNvSpPr/>
          <p:nvPr/>
        </p:nvSpPr>
        <p:spPr>
          <a:xfrm>
            <a:off x="502558" y="2113815"/>
            <a:ext cx="433819" cy="338554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latin typeface="Consolas" panose="020B0609020204030204" pitchFamily="49" charset="0"/>
              </a:rPr>
              <a:t>1</a:t>
            </a:r>
          </a:p>
        </p:txBody>
      </p:sp>
      <p:sp>
        <p:nvSpPr>
          <p:cNvPr id="14" name="Rectangle: Top Corners Rounded 6">
            <a:extLst>
              <a:ext uri="{FF2B5EF4-FFF2-40B4-BE49-F238E27FC236}">
                <a16:creationId xmlns:a16="http://schemas.microsoft.com/office/drawing/2014/main" id="{A47D327F-5E68-5D45-9296-5BF721419726}"/>
              </a:ext>
            </a:extLst>
          </p:cNvPr>
          <p:cNvSpPr/>
          <p:nvPr/>
        </p:nvSpPr>
        <p:spPr>
          <a:xfrm>
            <a:off x="502558" y="1784631"/>
            <a:ext cx="1543348" cy="329184"/>
          </a:xfrm>
          <a:prstGeom prst="round2Same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Syntax</a:t>
            </a:r>
          </a:p>
        </p:txBody>
      </p:sp>
      <p:graphicFrame>
        <p:nvGraphicFramePr>
          <p:cNvPr id="15" name="Content Placeholder 4">
            <a:extLst>
              <a:ext uri="{FF2B5EF4-FFF2-40B4-BE49-F238E27FC236}">
                <a16:creationId xmlns:a16="http://schemas.microsoft.com/office/drawing/2014/main" id="{01E1A7F1-00F6-574F-AA49-6BF704EF668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06865855"/>
              </p:ext>
            </p:extLst>
          </p:nvPr>
        </p:nvGraphicFramePr>
        <p:xfrm>
          <a:off x="502558" y="2862360"/>
          <a:ext cx="9671467" cy="3490476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5951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762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30273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Parameter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0039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Object(s)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baseline="0" dirty="0"/>
                        <a:t>One or more items to print. </a:t>
                      </a:r>
                    </a:p>
                    <a:p>
                      <a:r>
                        <a:rPr lang="en-US" sz="1800" kern="1200" baseline="0" dirty="0"/>
                        <a:t>Can be string, number, variable, etc.</a:t>
                      </a:r>
                    </a:p>
                    <a:p>
                      <a:r>
                        <a:rPr lang="en-US" sz="1800" kern="1200" baseline="0" dirty="0"/>
                        <a:t>Will be converted into string before printing.	</a:t>
                      </a:r>
                      <a:endParaRPr lang="en-US" sz="1800" b="1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8209"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/>
                        <a:t>sep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 string inserted </a:t>
                      </a:r>
                      <a:r>
                        <a:rPr lang="en-US" b="1" dirty="0"/>
                        <a:t>between</a:t>
                      </a:r>
                      <a:r>
                        <a:rPr lang="en-US" dirty="0"/>
                        <a:t> the objects</a:t>
                      </a:r>
                      <a:r>
                        <a:rPr lang="en-US" sz="1800" kern="1200" baseline="0" dirty="0"/>
                        <a:t> (optional), Default : one space </a:t>
                      </a:r>
                      <a:r>
                        <a:rPr lang="en-US" sz="1600" b="0" kern="1200" dirty="0">
                          <a:solidFill>
                            <a:srgbClr val="000000"/>
                          </a:solidFill>
                          <a:latin typeface="Ebrima" panose="02000000000000000000" pitchFamily="2" charset="0"/>
                          <a:ea typeface="Ebrima" panose="02000000000000000000" pitchFamily="2" charset="0"/>
                          <a:cs typeface="Ebrima" panose="02000000000000000000" pitchFamily="2" charset="0"/>
                        </a:rPr>
                        <a:t>(‘ ‘)</a:t>
                      </a:r>
                      <a:r>
                        <a:rPr lang="en-US" sz="1800" kern="1200" baseline="0" dirty="0"/>
                        <a:t>	</a:t>
                      </a:r>
                      <a:endParaRPr lang="en-US" sz="1800" b="1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7472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baseline="0" dirty="0"/>
                        <a:t>A string to print at the end (optional), Default : '\n'</a:t>
                      </a:r>
                      <a:endParaRPr lang="en-US" sz="1800" b="1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1481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file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Where to send the output, Default : </a:t>
                      </a:r>
                      <a:r>
                        <a:rPr lang="en-US" sz="1800" b="0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sys.stdout</a:t>
                      </a:r>
                      <a:r>
                        <a:rPr lang="en-US" sz="18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(the screen)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output can be redirected to the file as well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0505865"/>
                  </a:ext>
                </a:extLst>
              </a:tr>
              <a:tr h="398834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flush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Flush the buffer? (True / False), Default : False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26341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869160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uiExpand="1" build="p" animBg="1"/>
      <p:bldP spid="13" grpId="0" animBg="1"/>
      <p:bldP spid="14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8E574-D468-C44A-A4AF-B590E757BF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Printing Output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95012C-9519-5847-A901-781E248F4F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6BBC37A-934A-C2A2-C9DC-495FECCD3E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817" y="1633265"/>
            <a:ext cx="2758679" cy="183657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21B7AB0-901E-92A1-0655-462264F1D7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1140" y="1650298"/>
            <a:ext cx="4214225" cy="746825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EF8A2322-EAD8-94B7-98A9-3DA2BB3C0AEE}"/>
              </a:ext>
            </a:extLst>
          </p:cNvPr>
          <p:cNvSpPr txBox="1"/>
          <p:nvPr/>
        </p:nvSpPr>
        <p:spPr>
          <a:xfrm>
            <a:off x="4982377" y="2889151"/>
            <a:ext cx="37159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solidFill>
                  <a:srgbClr val="C00000"/>
                </a:solidFill>
              </a:rPr>
              <a:t>Default </a:t>
            </a:r>
            <a:r>
              <a:rPr lang="en-IN" sz="2400" b="1" dirty="0" err="1">
                <a:solidFill>
                  <a:srgbClr val="C00000"/>
                </a:solidFill>
              </a:rPr>
              <a:t>sep</a:t>
            </a:r>
            <a:r>
              <a:rPr lang="en-IN" sz="2400" b="1" dirty="0">
                <a:solidFill>
                  <a:srgbClr val="C00000"/>
                </a:solidFill>
              </a:rPr>
              <a:t> is space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34F094B-3AE2-EE70-C1B8-FA4AA4D712B0}"/>
              </a:ext>
            </a:extLst>
          </p:cNvPr>
          <p:cNvSpPr txBox="1"/>
          <p:nvPr/>
        </p:nvSpPr>
        <p:spPr>
          <a:xfrm>
            <a:off x="530012" y="1275255"/>
            <a:ext cx="275748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b="1" dirty="0"/>
              <a:t>Basic Printing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AC0C85E-8B56-99A2-8B06-131BF53274F1}"/>
              </a:ext>
            </a:extLst>
          </p:cNvPr>
          <p:cNvSpPr txBox="1"/>
          <p:nvPr/>
        </p:nvSpPr>
        <p:spPr>
          <a:xfrm>
            <a:off x="3551139" y="1256824"/>
            <a:ext cx="322903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b="1" dirty="0"/>
              <a:t>Printing Multiple Values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24FA97C-AD10-E9C8-FE7E-16AA8D9E6C34}"/>
              </a:ext>
            </a:extLst>
          </p:cNvPr>
          <p:cNvSpPr txBox="1"/>
          <p:nvPr/>
        </p:nvSpPr>
        <p:spPr>
          <a:xfrm>
            <a:off x="7932444" y="1219411"/>
            <a:ext cx="275748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b="1" dirty="0"/>
              <a:t>Printing Variables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6C63C05B-5B95-0041-147E-BAD7BEC41F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2444" y="1595652"/>
            <a:ext cx="3756986" cy="1348857"/>
          </a:xfrm>
          <a:prstGeom prst="rect">
            <a:avLst/>
          </a:prstGeom>
        </p:spPr>
      </p:pic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96B4AA2E-5D90-D7AE-69F7-C3CB302E8A52}"/>
              </a:ext>
            </a:extLst>
          </p:cNvPr>
          <p:cNvCxnSpPr/>
          <p:nvPr/>
        </p:nvCxnSpPr>
        <p:spPr>
          <a:xfrm>
            <a:off x="175098" y="3610835"/>
            <a:ext cx="11770468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ABF66A5-8C01-9876-FA09-9DE8F8D74940}"/>
              </a:ext>
            </a:extLst>
          </p:cNvPr>
          <p:cNvSpPr txBox="1"/>
          <p:nvPr/>
        </p:nvSpPr>
        <p:spPr>
          <a:xfrm>
            <a:off x="368234" y="3830243"/>
            <a:ext cx="275748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b="1" dirty="0"/>
              <a:t>Using </a:t>
            </a:r>
            <a:r>
              <a:rPr lang="en-IN" sz="2200" b="1" dirty="0" err="1"/>
              <a:t>sep</a:t>
            </a:r>
            <a:r>
              <a:rPr lang="en-IN" sz="2200" b="1" dirty="0"/>
              <a:t> (separator)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3911313-ACF5-D872-1FC9-0713F1DB89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8235" y="4309770"/>
            <a:ext cx="6197932" cy="181371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2B44C71-AC07-1ED1-B73E-704071600D9F}"/>
              </a:ext>
            </a:extLst>
          </p:cNvPr>
          <p:cNvSpPr txBox="1"/>
          <p:nvPr/>
        </p:nvSpPr>
        <p:spPr>
          <a:xfrm>
            <a:off x="8409766" y="3823476"/>
            <a:ext cx="275748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b="1" dirty="0"/>
              <a:t>Using end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C5CE1BC-E2D5-FCA9-5BE6-8E685679FB6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75515" y="4261129"/>
            <a:ext cx="2248095" cy="214902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7C6AC5E-91E2-E5B2-AC85-98006750C19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05805" y="4254363"/>
            <a:ext cx="2911092" cy="134885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0FB1733-E03A-B4A4-DE3B-9EBEA2E461D4}"/>
              </a:ext>
            </a:extLst>
          </p:cNvPr>
          <p:cNvSpPr txBox="1"/>
          <p:nvPr/>
        </p:nvSpPr>
        <p:spPr>
          <a:xfrm>
            <a:off x="7159464" y="5862329"/>
            <a:ext cx="37159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solidFill>
                  <a:srgbClr val="C00000"/>
                </a:solidFill>
              </a:rPr>
              <a:t>Default end is \n </a:t>
            </a:r>
          </a:p>
        </p:txBody>
      </p:sp>
    </p:spTree>
    <p:extLst>
      <p:ext uri="{BB962C8B-B14F-4D97-AF65-F5344CB8AC3E}">
        <p14:creationId xmlns:p14="http://schemas.microsoft.com/office/powerpoint/2010/main" val="32626416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  <p:bldP spid="20" grpId="0"/>
      <p:bldP spid="23" grpId="0"/>
      <p:bldP spid="4" grpId="0"/>
      <p:bldP spid="8" grpId="0"/>
      <p:bldP spid="5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8D6448-E71B-38C8-4241-FB29B0F3BA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9D3D1-87F5-18BB-2A6E-2DD1C4DC88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Printing Output (f-string)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8B27257E-2A86-DBCE-DB65-C2F14F0924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f-strings are formatted string literals in Python.</a:t>
            </a:r>
          </a:p>
          <a:p>
            <a:r>
              <a:rPr lang="en-US" dirty="0"/>
              <a:t>These allow embedding variables and expressions inside strings using {} for clearer, faster, and more readable string formatting.</a:t>
            </a:r>
            <a:endParaRPr lang="en-IN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3789580D-BC58-9F22-BD9A-F0278BFB49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0049" y="4778942"/>
            <a:ext cx="3582938" cy="1778853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B0DC6D58-38F2-4CBD-E417-02859A33DAA8}"/>
              </a:ext>
            </a:extLst>
          </p:cNvPr>
          <p:cNvSpPr txBox="1"/>
          <p:nvPr/>
        </p:nvSpPr>
        <p:spPr>
          <a:xfrm>
            <a:off x="8130049" y="4351359"/>
            <a:ext cx="275748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b="1" dirty="0"/>
              <a:t>Escape Characters 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F5F2EF20-5127-27B7-6B17-3CE0C21A7C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390" y="2844790"/>
            <a:ext cx="3647482" cy="1284992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7A4A3CAC-B6D1-A7FD-9BA2-772D3A6859AB}"/>
              </a:ext>
            </a:extLst>
          </p:cNvPr>
          <p:cNvSpPr txBox="1"/>
          <p:nvPr/>
        </p:nvSpPr>
        <p:spPr>
          <a:xfrm>
            <a:off x="572390" y="2441056"/>
            <a:ext cx="275748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b="1" dirty="0"/>
              <a:t>f-String Formatting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077EF3EE-3276-DB9A-4696-E9AB04291D7D}"/>
              </a:ext>
            </a:extLst>
          </p:cNvPr>
          <p:cNvCxnSpPr/>
          <p:nvPr/>
        </p:nvCxnSpPr>
        <p:spPr>
          <a:xfrm>
            <a:off x="282492" y="4312447"/>
            <a:ext cx="11770468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9C7A06A5-2E7C-BF22-A46F-23E8751696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144" y="4760494"/>
            <a:ext cx="2671730" cy="16094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E3EB565-B20D-ABBA-089F-6EC7A9782CAC}"/>
              </a:ext>
            </a:extLst>
          </p:cNvPr>
          <p:cNvSpPr txBox="1"/>
          <p:nvPr/>
        </p:nvSpPr>
        <p:spPr>
          <a:xfrm>
            <a:off x="583358" y="4405513"/>
            <a:ext cx="356669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b="1" dirty="0"/>
              <a:t>Expressions Inside f-strings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7241BF4-5257-BD0D-DFB6-3DEA8DA1BBD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20604" y="2884785"/>
            <a:ext cx="4930567" cy="104403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F004796-01A1-400D-7B7D-9FE4F3136E2E}"/>
              </a:ext>
            </a:extLst>
          </p:cNvPr>
          <p:cNvSpPr txBox="1"/>
          <p:nvPr/>
        </p:nvSpPr>
        <p:spPr>
          <a:xfrm>
            <a:off x="4717258" y="2529627"/>
            <a:ext cx="275748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b="1" dirty="0"/>
              <a:t>Decimal Formatting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CDB3305-5AF2-ABC6-E0BE-26AD724A144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44607" y="4743428"/>
            <a:ext cx="3315463" cy="175341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16BC680-430F-A8DC-D4F1-4C867CC73C16}"/>
              </a:ext>
            </a:extLst>
          </p:cNvPr>
          <p:cNvSpPr txBox="1"/>
          <p:nvPr/>
        </p:nvSpPr>
        <p:spPr>
          <a:xfrm>
            <a:off x="4344607" y="4405513"/>
            <a:ext cx="253631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b="1" dirty="0"/>
              <a:t>Alignment</a:t>
            </a:r>
          </a:p>
        </p:txBody>
      </p:sp>
    </p:spTree>
    <p:extLst>
      <p:ext uri="{BB962C8B-B14F-4D97-AF65-F5344CB8AC3E}">
        <p14:creationId xmlns:p14="http://schemas.microsoft.com/office/powerpoint/2010/main" val="41802726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6" grpId="0"/>
      <p:bldP spid="6" grpId="0"/>
      <p:bldP spid="9" grpId="0"/>
      <p:bldP spid="12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2D37C1-5BE1-9FD7-334C-D53C8BF3BD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013C98D-2F01-A8F0-88BE-0698FA566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Reading Input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7C15708-745A-26A5-E47A-54CCDCD06A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0333969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8E574-D468-C44A-A4AF-B590E757BF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Reding Input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95012C-9519-5847-A901-781E248F4F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5"/>
            <a:ext cx="11929641" cy="5634632"/>
          </a:xfrm>
        </p:spPr>
        <p:txBody>
          <a:bodyPr/>
          <a:lstStyle/>
          <a:p>
            <a:r>
              <a:rPr lang="en-IN" dirty="0"/>
              <a:t>For taking input from the user, </a:t>
            </a:r>
            <a:r>
              <a:rPr lang="en-IN" dirty="0">
                <a:solidFill>
                  <a:srgbClr val="C00000"/>
                </a:solidFill>
              </a:rPr>
              <a:t>input() </a:t>
            </a:r>
            <a:r>
              <a:rPr lang="en-IN" dirty="0"/>
              <a:t>is used.</a:t>
            </a:r>
          </a:p>
          <a:p>
            <a:r>
              <a:rPr lang="en-IN" dirty="0"/>
              <a:t>The syntax of input function is as follows: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When input statement is executed, the </a:t>
            </a:r>
            <a:r>
              <a:rPr lang="en-IN" dirty="0">
                <a:solidFill>
                  <a:srgbClr val="C00000"/>
                </a:solidFill>
              </a:rPr>
              <a:t>prompt is displayed on the screen</a:t>
            </a:r>
            <a:r>
              <a:rPr lang="en-IN" dirty="0"/>
              <a:t>, and it waits for the user action.</a:t>
            </a:r>
          </a:p>
          <a:p>
            <a:r>
              <a:rPr lang="en-IN" dirty="0"/>
              <a:t>Whatever you enter as input, the input() </a:t>
            </a:r>
            <a:r>
              <a:rPr lang="en-IN" dirty="0">
                <a:solidFill>
                  <a:srgbClr val="C00000"/>
                </a:solidFill>
              </a:rPr>
              <a:t>converts it into a string</a:t>
            </a:r>
            <a:r>
              <a:rPr lang="en-IN" dirty="0"/>
              <a:t>. </a:t>
            </a:r>
          </a:p>
          <a:p>
            <a:r>
              <a:rPr lang="en-IN" dirty="0">
                <a:solidFill>
                  <a:srgbClr val="C00000"/>
                </a:solidFill>
              </a:rPr>
              <a:t>If you enter an integer value still input() function convert it into a string</a:t>
            </a:r>
            <a:r>
              <a:rPr lang="en-IN" dirty="0"/>
              <a:t>, </a:t>
            </a:r>
            <a:r>
              <a:rPr lang="en-IN" dirty="0">
                <a:solidFill>
                  <a:srgbClr val="C00000"/>
                </a:solidFill>
              </a:rPr>
              <a:t>that will need to be type casted</a:t>
            </a:r>
            <a:r>
              <a:rPr lang="en-IN" dirty="0"/>
              <a:t>.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66A25C1-C974-2347-B0A4-8890AA017BD0}"/>
              </a:ext>
            </a:extLst>
          </p:cNvPr>
          <p:cNvSpPr/>
          <p:nvPr/>
        </p:nvSpPr>
        <p:spPr>
          <a:xfrm>
            <a:off x="1036004" y="2155468"/>
            <a:ext cx="1778770" cy="338554"/>
          </a:xfrm>
          <a:prstGeom prst="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b="1" dirty="0">
                <a:solidFill>
                  <a:srgbClr val="000000"/>
                </a:solidFill>
                <a:latin typeface="Menlo" panose="020B0609030804020204" pitchFamily="49" charset="0"/>
              </a:rPr>
              <a:t>input([prompt])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2F5EF8B-6810-DE4E-A8D2-ED702FA5D826}"/>
              </a:ext>
            </a:extLst>
          </p:cNvPr>
          <p:cNvSpPr/>
          <p:nvPr/>
        </p:nvSpPr>
        <p:spPr>
          <a:xfrm>
            <a:off x="536011" y="2155468"/>
            <a:ext cx="499993" cy="338554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latin typeface="Consolas" panose="020B0609020204030204" pitchFamily="49" charset="0"/>
              </a:rPr>
              <a:t>1</a:t>
            </a:r>
          </a:p>
        </p:txBody>
      </p:sp>
      <p:sp>
        <p:nvSpPr>
          <p:cNvPr id="10" name="Rectangle: Top Corners Rounded 6">
            <a:extLst>
              <a:ext uri="{FF2B5EF4-FFF2-40B4-BE49-F238E27FC236}">
                <a16:creationId xmlns:a16="http://schemas.microsoft.com/office/drawing/2014/main" id="{B764F1CC-2F1C-9440-A694-A33B9B4DBBC2}"/>
              </a:ext>
            </a:extLst>
          </p:cNvPr>
          <p:cNvSpPr/>
          <p:nvPr/>
        </p:nvSpPr>
        <p:spPr>
          <a:xfrm>
            <a:off x="536011" y="1826284"/>
            <a:ext cx="1778770" cy="329184"/>
          </a:xfrm>
          <a:prstGeom prst="round2Same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Syntax</a:t>
            </a:r>
          </a:p>
        </p:txBody>
      </p:sp>
      <p:graphicFrame>
        <p:nvGraphicFramePr>
          <p:cNvPr id="11" name="Content Placeholder 4">
            <a:extLst>
              <a:ext uri="{FF2B5EF4-FFF2-40B4-BE49-F238E27FC236}">
                <a16:creationId xmlns:a16="http://schemas.microsoft.com/office/drawing/2014/main" id="{C97D32B5-246A-D348-A901-FD8C92F2D6F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81927586"/>
              </p:ext>
            </p:extLst>
          </p:nvPr>
        </p:nvGraphicFramePr>
        <p:xfrm>
          <a:off x="536011" y="2911861"/>
          <a:ext cx="7615768" cy="874184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20418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739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8424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Parameter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470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prompt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baseline="0" dirty="0"/>
                        <a:t>A string to be displayed on the screen (optional)</a:t>
                      </a:r>
                      <a:endParaRPr lang="en-US" sz="1800" b="1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507639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69FE79-C2B8-032B-F933-393A4393C1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AA8EA8-1A52-9A4D-09C8-FC99E00D4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Reading Input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3E26C68-32E8-3925-C044-9F14A5A3FA47}"/>
              </a:ext>
            </a:extLst>
          </p:cNvPr>
          <p:cNvSpPr txBox="1"/>
          <p:nvPr/>
        </p:nvSpPr>
        <p:spPr>
          <a:xfrm>
            <a:off x="598105" y="889809"/>
            <a:ext cx="275748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b="1" dirty="0"/>
              <a:t>Basic usage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98F6706-12B5-9759-EF41-322B8F2109BA}"/>
              </a:ext>
            </a:extLst>
          </p:cNvPr>
          <p:cNvSpPr txBox="1"/>
          <p:nvPr/>
        </p:nvSpPr>
        <p:spPr>
          <a:xfrm>
            <a:off x="5943616" y="925144"/>
            <a:ext cx="405244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/>
              <a:t>Converting input to a number</a:t>
            </a:r>
            <a:endParaRPr lang="en-IN" sz="2200" b="1" dirty="0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864EEB9C-992F-39AF-DC38-98DED2666A98}"/>
              </a:ext>
            </a:extLst>
          </p:cNvPr>
          <p:cNvCxnSpPr/>
          <p:nvPr/>
        </p:nvCxnSpPr>
        <p:spPr>
          <a:xfrm>
            <a:off x="190036" y="3970754"/>
            <a:ext cx="11770468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3144C48-33B0-60F0-F988-5EE35079EE56}"/>
              </a:ext>
            </a:extLst>
          </p:cNvPr>
          <p:cNvSpPr txBox="1"/>
          <p:nvPr/>
        </p:nvSpPr>
        <p:spPr>
          <a:xfrm>
            <a:off x="368233" y="4122071"/>
            <a:ext cx="548687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/>
              <a:t>Taking two inputs in one line of same datatype</a:t>
            </a:r>
            <a:endParaRPr lang="en-IN" sz="22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A23F85B-2458-D728-9A0C-805805CA8CA4}"/>
              </a:ext>
            </a:extLst>
          </p:cNvPr>
          <p:cNvSpPr txBox="1"/>
          <p:nvPr/>
        </p:nvSpPr>
        <p:spPr>
          <a:xfrm>
            <a:off x="5955424" y="4115304"/>
            <a:ext cx="600508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/>
              <a:t>Taking two inputs in one line of different datatypes</a:t>
            </a:r>
            <a:endParaRPr lang="en-IN" sz="2200" b="1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EB9FCDB-0F08-F26B-9599-EB92DD5A58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838" y="1339010"/>
            <a:ext cx="3539864" cy="159686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46FD2D9-EBA0-8CC6-7989-4B073199D0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233" y="4571272"/>
            <a:ext cx="5486875" cy="1813717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9C52DFC0-D9D2-E440-1F9F-8EF232AB46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5424" y="4540789"/>
            <a:ext cx="6005080" cy="187468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FE2CCFF-3EB4-B647-8755-765278E15A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5108" y="1339010"/>
            <a:ext cx="4229467" cy="2400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43487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4" grpId="0"/>
      <p:bldP spid="8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A0F054-021D-1D4B-8906-51692AE721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95D317D-43D1-5547-92E5-72999EE37773}"/>
              </a:ext>
            </a:extLst>
          </p:cNvPr>
          <p:cNvSpPr/>
          <p:nvPr/>
        </p:nvSpPr>
        <p:spPr>
          <a:xfrm>
            <a:off x="902191" y="1387264"/>
            <a:ext cx="4550755" cy="329320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a = </a:t>
            </a:r>
            <a:r>
              <a:rPr lang="en-IN" sz="1600" dirty="0">
                <a:solidFill>
                  <a:srgbClr val="098658"/>
                </a:solidFill>
                <a:latin typeface="Menlo" panose="020B0609030804020204" pitchFamily="49" charset="0"/>
              </a:rPr>
              <a:t>4</a:t>
            </a:r>
            <a:endParaRPr lang="en-IN" sz="16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str = input(</a:t>
            </a:r>
            <a:r>
              <a:rPr lang="en-IN" sz="1600" dirty="0">
                <a:solidFill>
                  <a:srgbClr val="A31515"/>
                </a:solidFill>
                <a:latin typeface="Menlo" panose="020B0609030804020204" pitchFamily="49" charset="0"/>
              </a:rPr>
              <a:t>"Enter your name = "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num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= int(input(</a:t>
            </a:r>
            <a:r>
              <a:rPr lang="en-IN" sz="1600" dirty="0">
                <a:solidFill>
                  <a:srgbClr val="A31515"/>
                </a:solidFill>
                <a:latin typeface="Menlo" panose="020B0609030804020204" pitchFamily="49" charset="0"/>
              </a:rPr>
              <a:t>"Enter Number = "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))</a:t>
            </a:r>
          </a:p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/>
            </a:r>
            <a:b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</a:b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print(</a:t>
            </a:r>
            <a:r>
              <a:rPr lang="en-IN" sz="1600" dirty="0">
                <a:solidFill>
                  <a:srgbClr val="098658"/>
                </a:solidFill>
                <a:latin typeface="Menlo" panose="020B0609030804020204" pitchFamily="49" charset="0"/>
              </a:rPr>
              <a:t>4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,</a:t>
            </a:r>
            <a:r>
              <a:rPr lang="en-IN" sz="1600" dirty="0">
                <a:solidFill>
                  <a:srgbClr val="098658"/>
                </a:solidFill>
                <a:latin typeface="Menlo" panose="020B0609030804020204" pitchFamily="49" charset="0"/>
              </a:rPr>
              <a:t>5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print(</a:t>
            </a:r>
            <a:r>
              <a:rPr lang="en-IN" sz="1600" dirty="0">
                <a:solidFill>
                  <a:srgbClr val="A31515"/>
                </a:solidFill>
                <a:latin typeface="Menlo" panose="020B0609030804020204" pitchFamily="49" charset="0"/>
              </a:rPr>
              <a:t>"</a:t>
            </a:r>
            <a:r>
              <a:rPr lang="en-IN" sz="1600" dirty="0" err="1">
                <a:solidFill>
                  <a:srgbClr val="A31515"/>
                </a:solidFill>
                <a:latin typeface="Menlo" panose="020B0609030804020204" pitchFamily="49" charset="0"/>
              </a:rPr>
              <a:t>Hello"</a:t>
            </a: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,</a:t>
            </a:r>
            <a:r>
              <a:rPr lang="en-IN" sz="1600" dirty="0" err="1">
                <a:solidFill>
                  <a:srgbClr val="A31515"/>
                </a:solidFill>
                <a:latin typeface="Menlo" panose="020B0609030804020204" pitchFamily="49" charset="0"/>
              </a:rPr>
              <a:t>"World</a:t>
            </a:r>
            <a:r>
              <a:rPr lang="en-IN" sz="1600" dirty="0">
                <a:solidFill>
                  <a:srgbClr val="A31515"/>
                </a:solidFill>
                <a:latin typeface="Menlo" panose="020B0609030804020204" pitchFamily="49" charset="0"/>
              </a:rPr>
              <a:t>"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print(</a:t>
            </a:r>
            <a:r>
              <a:rPr lang="en-IN" sz="1600" dirty="0">
                <a:solidFill>
                  <a:srgbClr val="A31515"/>
                </a:solidFill>
                <a:latin typeface="Menlo" panose="020B0609030804020204" pitchFamily="49" charset="0"/>
              </a:rPr>
              <a:t>"Hello"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,</a:t>
            </a:r>
            <a:r>
              <a:rPr lang="en-IN" sz="1600" dirty="0">
                <a:solidFill>
                  <a:srgbClr val="A31515"/>
                </a:solidFill>
                <a:latin typeface="Menlo" panose="020B0609030804020204" pitchFamily="49" charset="0"/>
              </a:rPr>
              <a:t>"World"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,</a:t>
            </a: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sep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=</a:t>
            </a:r>
            <a:r>
              <a:rPr lang="en-IN" sz="1600" dirty="0">
                <a:solidFill>
                  <a:srgbClr val="A31515"/>
                </a:solidFill>
                <a:latin typeface="Menlo" panose="020B0609030804020204" pitchFamily="49" charset="0"/>
              </a:rPr>
              <a:t>"-"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print(</a:t>
            </a:r>
            <a:r>
              <a:rPr lang="en-IN" sz="1600" dirty="0">
                <a:solidFill>
                  <a:srgbClr val="A31515"/>
                </a:solidFill>
                <a:latin typeface="Menlo" panose="020B0609030804020204" pitchFamily="49" charset="0"/>
              </a:rPr>
              <a:t>"Hello"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,</a:t>
            </a:r>
            <a:r>
              <a:rPr lang="en-IN" sz="1600" dirty="0">
                <a:solidFill>
                  <a:srgbClr val="A31515"/>
                </a:solidFill>
                <a:latin typeface="Menlo" panose="020B0609030804020204" pitchFamily="49" charset="0"/>
              </a:rPr>
              <a:t>"DU"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,</a:t>
            </a: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sep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=</a:t>
            </a:r>
            <a:r>
              <a:rPr lang="en-IN" sz="1600" dirty="0">
                <a:solidFill>
                  <a:srgbClr val="A31515"/>
                </a:solidFill>
                <a:latin typeface="Menlo" panose="020B0609030804020204" pitchFamily="49" charset="0"/>
              </a:rPr>
              <a:t>"-"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,end=</a:t>
            </a:r>
            <a:r>
              <a:rPr lang="en-IN" sz="1600" dirty="0">
                <a:solidFill>
                  <a:srgbClr val="A31515"/>
                </a:solidFill>
                <a:latin typeface="Menlo" panose="020B0609030804020204" pitchFamily="49" charset="0"/>
              </a:rPr>
              <a:t>" "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print(</a:t>
            </a:r>
            <a:r>
              <a:rPr lang="en-IN" sz="1600" dirty="0">
                <a:solidFill>
                  <a:srgbClr val="A31515"/>
                </a:solidFill>
                <a:latin typeface="Menlo" panose="020B0609030804020204" pitchFamily="49" charset="0"/>
              </a:rPr>
              <a:t>"Hello"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+ </a:t>
            </a:r>
            <a:r>
              <a:rPr lang="en-IN" sz="1600" dirty="0">
                <a:solidFill>
                  <a:srgbClr val="A31515"/>
                </a:solidFill>
                <a:latin typeface="Menlo" panose="020B0609030804020204" pitchFamily="49" charset="0"/>
              </a:rPr>
              <a:t>"DU "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print(</a:t>
            </a:r>
            <a:r>
              <a:rPr lang="en-IN" sz="1600" dirty="0">
                <a:solidFill>
                  <a:srgbClr val="A31515"/>
                </a:solidFill>
                <a:latin typeface="Menlo" panose="020B0609030804020204" pitchFamily="49" charset="0"/>
              </a:rPr>
              <a:t>"a = "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a,end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=</a:t>
            </a:r>
            <a:r>
              <a:rPr lang="en-IN" sz="1600" dirty="0">
                <a:solidFill>
                  <a:srgbClr val="A31515"/>
                </a:solidFill>
                <a:latin typeface="Menlo" panose="020B0609030804020204" pitchFamily="49" charset="0"/>
              </a:rPr>
              <a:t>", "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print(</a:t>
            </a:r>
            <a:r>
              <a:rPr lang="en-IN" sz="1600" dirty="0">
                <a:solidFill>
                  <a:srgbClr val="A31515"/>
                </a:solidFill>
                <a:latin typeface="Menlo" panose="020B0609030804020204" pitchFamily="49" charset="0"/>
              </a:rPr>
              <a:t>"</a:t>
            </a:r>
            <a:r>
              <a:rPr lang="en-IN" sz="1600" dirty="0" err="1">
                <a:solidFill>
                  <a:srgbClr val="A31515"/>
                </a:solidFill>
                <a:latin typeface="Menlo" panose="020B0609030804020204" pitchFamily="49" charset="0"/>
              </a:rPr>
              <a:t>num</a:t>
            </a:r>
            <a:r>
              <a:rPr lang="en-IN" sz="1600" dirty="0">
                <a:solidFill>
                  <a:srgbClr val="A31515"/>
                </a:solidFill>
                <a:latin typeface="Menlo" panose="020B0609030804020204" pitchFamily="49" charset="0"/>
              </a:rPr>
              <a:t> = "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num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print(</a:t>
            </a:r>
            <a:r>
              <a:rPr lang="en-IN" sz="1600" dirty="0">
                <a:solidFill>
                  <a:srgbClr val="A31515"/>
                </a:solidFill>
                <a:latin typeface="Menlo" panose="020B0609030804020204" pitchFamily="49" charset="0"/>
              </a:rPr>
              <a:t>"your Name ="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+ str)</a:t>
            </a:r>
          </a:p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print(</a:t>
            </a:r>
            <a:r>
              <a:rPr lang="en-IN" sz="1600" dirty="0">
                <a:solidFill>
                  <a:srgbClr val="A31515"/>
                </a:solidFill>
                <a:latin typeface="Menlo" panose="020B0609030804020204" pitchFamily="49" charset="0"/>
              </a:rPr>
              <a:t>"Your Name "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,</a:t>
            </a: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str,sep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=</a:t>
            </a:r>
            <a:r>
              <a:rPr lang="en-IN" sz="1600" dirty="0">
                <a:solidFill>
                  <a:srgbClr val="A31515"/>
                </a:solidFill>
                <a:latin typeface="Menlo" panose="020B0609030804020204" pitchFamily="49" charset="0"/>
              </a:rPr>
              <a:t>"="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34B0FA7-043A-5B4E-9781-AB6666326AAA}"/>
              </a:ext>
            </a:extLst>
          </p:cNvPr>
          <p:cNvSpPr/>
          <p:nvPr/>
        </p:nvSpPr>
        <p:spPr>
          <a:xfrm>
            <a:off x="402198" y="1387264"/>
            <a:ext cx="499993" cy="329320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7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9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10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11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12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13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14</a:t>
            </a: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3306E25C-0AE7-E840-8055-1883A531731E}"/>
              </a:ext>
            </a:extLst>
          </p:cNvPr>
          <p:cNvSpPr/>
          <p:nvPr/>
        </p:nvSpPr>
        <p:spPr>
          <a:xfrm>
            <a:off x="402198" y="1058080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 err="1">
                <a:solidFill>
                  <a:schemeClr val="bg1"/>
                </a:solidFill>
              </a:rPr>
              <a:t>Example.py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230A89F-9926-0D43-BD83-4B132C1A1159}"/>
              </a:ext>
            </a:extLst>
          </p:cNvPr>
          <p:cNvSpPr/>
          <p:nvPr/>
        </p:nvSpPr>
        <p:spPr>
          <a:xfrm>
            <a:off x="6211983" y="1375334"/>
            <a:ext cx="3545334" cy="230832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Enter your name = ABC</a:t>
            </a:r>
          </a:p>
          <a:p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Enter Number = 10</a:t>
            </a:r>
          </a:p>
          <a:p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4 5</a:t>
            </a:r>
          </a:p>
          <a:p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Hello World</a:t>
            </a:r>
          </a:p>
          <a:p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Hello-World</a:t>
            </a:r>
          </a:p>
          <a:p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Hello-DU </a:t>
            </a:r>
            <a:r>
              <a:rPr lang="en-IN" sz="1600" b="1" dirty="0" err="1">
                <a:latin typeface="Consolas" pitchFamily="49" charset="0"/>
                <a:cs typeface="Consolas" panose="020B0609020204030204" pitchFamily="49" charset="0"/>
              </a:rPr>
              <a:t>HelloDU</a:t>
            </a:r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a =  4, </a:t>
            </a:r>
            <a:r>
              <a:rPr lang="en-IN" sz="1600" b="1" dirty="0" err="1">
                <a:latin typeface="Consolas" pitchFamily="49" charset="0"/>
                <a:cs typeface="Consolas" panose="020B0609020204030204" pitchFamily="49" charset="0"/>
              </a:rPr>
              <a:t>num</a:t>
            </a:r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 =  10</a:t>
            </a:r>
          </a:p>
          <a:p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your Name =ABC</a:t>
            </a:r>
          </a:p>
          <a:p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Your Name =ABC</a:t>
            </a:r>
          </a:p>
        </p:txBody>
      </p:sp>
      <p:sp>
        <p:nvSpPr>
          <p:cNvPr id="8" name="Rectangle: Top Corners Rounded 6">
            <a:extLst>
              <a:ext uri="{FF2B5EF4-FFF2-40B4-BE49-F238E27FC236}">
                <a16:creationId xmlns:a16="http://schemas.microsoft.com/office/drawing/2014/main" id="{3E0CA86D-C187-054D-A4A2-2843ABBB5EAF}"/>
              </a:ext>
            </a:extLst>
          </p:cNvPr>
          <p:cNvSpPr/>
          <p:nvPr/>
        </p:nvSpPr>
        <p:spPr>
          <a:xfrm>
            <a:off x="6211983" y="1058080"/>
            <a:ext cx="1262472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27219476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  <p:bldP spid="5" grpId="0" animBg="1"/>
      <p:bldP spid="6" grpId="0" animBg="1"/>
      <p:bldP spid="7" grpId="0" uiExpand="1" build="p" animBg="1"/>
      <p:bldP spid="8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sz="3200" dirty="0"/>
              <a:t>Program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80" y="799944"/>
            <a:ext cx="11929641" cy="5590565"/>
          </a:xfrm>
        </p:spPr>
        <p:txBody>
          <a:bodyPr/>
          <a:lstStyle/>
          <a:p>
            <a:r>
              <a:rPr lang="en-IN" dirty="0"/>
              <a:t>WAP to develop simple calculator in python.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5201706-5425-C740-85B5-B3D6F3A723A8}"/>
              </a:ext>
            </a:extLst>
          </p:cNvPr>
          <p:cNvSpPr/>
          <p:nvPr/>
        </p:nvSpPr>
        <p:spPr>
          <a:xfrm>
            <a:off x="991401" y="1632637"/>
            <a:ext cx="7282804" cy="15696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number1 = int(input(</a:t>
            </a:r>
            <a:r>
              <a:rPr lang="en-IN" sz="1600" dirty="0">
                <a:solidFill>
                  <a:srgbClr val="A31515"/>
                </a:solidFill>
                <a:latin typeface="Menlo" panose="020B0609030804020204" pitchFamily="49" charset="0"/>
              </a:rPr>
              <a:t>"Enter first number: "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))</a:t>
            </a:r>
          </a:p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number2 = int(input(</a:t>
            </a:r>
            <a:r>
              <a:rPr lang="en-IN" sz="1600" dirty="0">
                <a:solidFill>
                  <a:srgbClr val="A31515"/>
                </a:solidFill>
                <a:latin typeface="Menlo" panose="020B0609030804020204" pitchFamily="49" charset="0"/>
              </a:rPr>
              <a:t>"Enter second number: "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))</a:t>
            </a:r>
          </a:p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print(number1, </a:t>
            </a:r>
            <a:r>
              <a:rPr lang="en-IN" sz="1600" dirty="0">
                <a:solidFill>
                  <a:srgbClr val="A31515"/>
                </a:solidFill>
                <a:latin typeface="Menlo" panose="020B0609030804020204" pitchFamily="49" charset="0"/>
              </a:rPr>
              <a:t>"+"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, number2, </a:t>
            </a:r>
            <a:r>
              <a:rPr lang="en-IN" sz="1600" dirty="0">
                <a:solidFill>
                  <a:srgbClr val="A31515"/>
                </a:solidFill>
                <a:latin typeface="Menlo" panose="020B0609030804020204" pitchFamily="49" charset="0"/>
              </a:rPr>
              <a:t>"="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, number1+number2)</a:t>
            </a:r>
          </a:p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print(number1, </a:t>
            </a:r>
            <a:r>
              <a:rPr lang="en-IN" sz="1600" dirty="0">
                <a:solidFill>
                  <a:srgbClr val="A31515"/>
                </a:solidFill>
                <a:latin typeface="Menlo" panose="020B0609030804020204" pitchFamily="49" charset="0"/>
              </a:rPr>
              <a:t>"*"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, number2, </a:t>
            </a:r>
            <a:r>
              <a:rPr lang="en-IN" sz="1600" dirty="0">
                <a:solidFill>
                  <a:srgbClr val="A31515"/>
                </a:solidFill>
                <a:latin typeface="Menlo" panose="020B0609030804020204" pitchFamily="49" charset="0"/>
              </a:rPr>
              <a:t>"="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, number1*number2)</a:t>
            </a:r>
          </a:p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print(number1, </a:t>
            </a:r>
            <a:r>
              <a:rPr lang="en-IN" sz="1600" dirty="0">
                <a:solidFill>
                  <a:srgbClr val="A31515"/>
                </a:solidFill>
                <a:latin typeface="Menlo" panose="020B0609030804020204" pitchFamily="49" charset="0"/>
              </a:rPr>
              <a:t>"-"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, number2, </a:t>
            </a:r>
            <a:r>
              <a:rPr lang="en-IN" sz="1600" dirty="0">
                <a:solidFill>
                  <a:srgbClr val="A31515"/>
                </a:solidFill>
                <a:latin typeface="Menlo" panose="020B0609030804020204" pitchFamily="49" charset="0"/>
              </a:rPr>
              <a:t>"="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, number1-number2)</a:t>
            </a:r>
          </a:p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print(number1, </a:t>
            </a:r>
            <a:r>
              <a:rPr lang="en-IN" sz="1600" dirty="0">
                <a:solidFill>
                  <a:srgbClr val="A31515"/>
                </a:solidFill>
                <a:latin typeface="Menlo" panose="020B0609030804020204" pitchFamily="49" charset="0"/>
              </a:rPr>
              <a:t>"/"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, number2, </a:t>
            </a:r>
            <a:r>
              <a:rPr lang="en-IN" sz="1600" dirty="0">
                <a:solidFill>
                  <a:srgbClr val="A31515"/>
                </a:solidFill>
                <a:latin typeface="Menlo" panose="020B0609030804020204" pitchFamily="49" charset="0"/>
              </a:rPr>
              <a:t>"="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, number1/number2)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A19642F-5D1A-FE4D-B4D4-C463D97A5E30}"/>
              </a:ext>
            </a:extLst>
          </p:cNvPr>
          <p:cNvSpPr/>
          <p:nvPr/>
        </p:nvSpPr>
        <p:spPr>
          <a:xfrm>
            <a:off x="491408" y="1632637"/>
            <a:ext cx="499993" cy="156966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</p:txBody>
      </p:sp>
      <p:sp>
        <p:nvSpPr>
          <p:cNvPr id="24" name="Rectangle: Top Corners Rounded 6">
            <a:extLst>
              <a:ext uri="{FF2B5EF4-FFF2-40B4-BE49-F238E27FC236}">
                <a16:creationId xmlns:a16="http://schemas.microsoft.com/office/drawing/2014/main" id="{BD17EFDB-5E2A-0E47-A330-1E891ECFE3E0}"/>
              </a:ext>
            </a:extLst>
          </p:cNvPr>
          <p:cNvSpPr/>
          <p:nvPr/>
        </p:nvSpPr>
        <p:spPr>
          <a:xfrm>
            <a:off x="491408" y="1303453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Example1.py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6C836B4-3A87-494C-AB65-0CA690BFC3A5}"/>
              </a:ext>
            </a:extLst>
          </p:cNvPr>
          <p:cNvSpPr/>
          <p:nvPr/>
        </p:nvSpPr>
        <p:spPr>
          <a:xfrm>
            <a:off x="491408" y="3746254"/>
            <a:ext cx="3545334" cy="15696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Enter first number: 3</a:t>
            </a:r>
          </a:p>
          <a:p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Enter second number: 3</a:t>
            </a:r>
          </a:p>
          <a:p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3 + 3 = 6</a:t>
            </a:r>
          </a:p>
          <a:p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3 * 3 = 9</a:t>
            </a:r>
          </a:p>
          <a:p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3 - 3 = 0</a:t>
            </a:r>
          </a:p>
          <a:p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3 / 3 = 1.0</a:t>
            </a:r>
          </a:p>
        </p:txBody>
      </p:sp>
      <p:sp>
        <p:nvSpPr>
          <p:cNvPr id="26" name="Rectangle: Top Corners Rounded 6">
            <a:extLst>
              <a:ext uri="{FF2B5EF4-FFF2-40B4-BE49-F238E27FC236}">
                <a16:creationId xmlns:a16="http://schemas.microsoft.com/office/drawing/2014/main" id="{62ED6631-A899-4B4C-9AC3-E75EAD79764E}"/>
              </a:ext>
            </a:extLst>
          </p:cNvPr>
          <p:cNvSpPr/>
          <p:nvPr/>
        </p:nvSpPr>
        <p:spPr>
          <a:xfrm>
            <a:off x="491408" y="3429000"/>
            <a:ext cx="1262472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28429185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build="p" animBg="1"/>
      <p:bldP spid="23" grpId="0" animBg="1"/>
      <p:bldP spid="24" grpId="0" animBg="1"/>
      <p:bldP spid="25" grpId="0" uiExpand="1" build="p" animBg="1"/>
      <p:bldP spid="26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sz="3200" dirty="0"/>
              <a:t>Program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80" y="799944"/>
            <a:ext cx="11929641" cy="5590565"/>
          </a:xfrm>
        </p:spPr>
        <p:txBody>
          <a:bodyPr/>
          <a:lstStyle/>
          <a:p>
            <a:r>
              <a:rPr lang="en-IN" dirty="0"/>
              <a:t>WAP to calculate simple interest.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22CD77B-7355-4047-B1C0-9A2D543AED50}"/>
              </a:ext>
            </a:extLst>
          </p:cNvPr>
          <p:cNvSpPr/>
          <p:nvPr/>
        </p:nvSpPr>
        <p:spPr>
          <a:xfrm>
            <a:off x="999414" y="1639271"/>
            <a:ext cx="7282804" cy="132343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P = int(input(</a:t>
            </a:r>
            <a:r>
              <a:rPr lang="en-IN" sz="1600" dirty="0">
                <a:solidFill>
                  <a:srgbClr val="A31515"/>
                </a:solidFill>
                <a:latin typeface="Menlo" panose="020B0609030804020204" pitchFamily="49" charset="0"/>
              </a:rPr>
              <a:t>"Enter P: "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))</a:t>
            </a:r>
          </a:p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R = int(input(</a:t>
            </a:r>
            <a:r>
              <a:rPr lang="en-IN" sz="1600" dirty="0">
                <a:solidFill>
                  <a:srgbClr val="A31515"/>
                </a:solidFill>
                <a:latin typeface="Menlo" panose="020B0609030804020204" pitchFamily="49" charset="0"/>
              </a:rPr>
              <a:t>"Enter R: "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))</a:t>
            </a:r>
          </a:p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T = int(input(</a:t>
            </a:r>
            <a:r>
              <a:rPr lang="en-IN" sz="1600" dirty="0">
                <a:solidFill>
                  <a:srgbClr val="A31515"/>
                </a:solidFill>
                <a:latin typeface="Menlo" panose="020B0609030804020204" pitchFamily="49" charset="0"/>
              </a:rPr>
              <a:t>"Enter N: "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))</a:t>
            </a:r>
          </a:p>
          <a:p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Simple_interest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= (P * R * T) / </a:t>
            </a:r>
            <a:r>
              <a:rPr lang="en-IN" sz="1600" dirty="0">
                <a:solidFill>
                  <a:srgbClr val="098658"/>
                </a:solidFill>
                <a:latin typeface="Menlo" panose="020B0609030804020204" pitchFamily="49" charset="0"/>
              </a:rPr>
              <a:t>100</a:t>
            </a:r>
            <a:endParaRPr lang="en-IN" sz="16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print(</a:t>
            </a:r>
            <a:r>
              <a:rPr lang="en-IN" sz="1600" dirty="0">
                <a:solidFill>
                  <a:srgbClr val="A31515"/>
                </a:solidFill>
                <a:latin typeface="Menlo" panose="020B0609030804020204" pitchFamily="49" charset="0"/>
              </a:rPr>
              <a:t>"The simple interest is:"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Simple_interest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A46B9B0-EA81-0647-88CC-67081B168111}"/>
              </a:ext>
            </a:extLst>
          </p:cNvPr>
          <p:cNvSpPr/>
          <p:nvPr/>
        </p:nvSpPr>
        <p:spPr>
          <a:xfrm>
            <a:off x="499421" y="1639271"/>
            <a:ext cx="499993" cy="132343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</p:txBody>
      </p:sp>
      <p:sp>
        <p:nvSpPr>
          <p:cNvPr id="21" name="Rectangle: Top Corners Rounded 6">
            <a:extLst>
              <a:ext uri="{FF2B5EF4-FFF2-40B4-BE49-F238E27FC236}">
                <a16:creationId xmlns:a16="http://schemas.microsoft.com/office/drawing/2014/main" id="{FCC79A3A-C32F-9445-A595-5C10C6765460}"/>
              </a:ext>
            </a:extLst>
          </p:cNvPr>
          <p:cNvSpPr/>
          <p:nvPr/>
        </p:nvSpPr>
        <p:spPr>
          <a:xfrm>
            <a:off x="499421" y="1310087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Example2.py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7217CDE-4761-B544-B129-33DE33B3D90E}"/>
              </a:ext>
            </a:extLst>
          </p:cNvPr>
          <p:cNvSpPr/>
          <p:nvPr/>
        </p:nvSpPr>
        <p:spPr>
          <a:xfrm>
            <a:off x="499421" y="3514754"/>
            <a:ext cx="4050277" cy="10772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Enter P: 10000</a:t>
            </a:r>
          </a:p>
          <a:p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Enter R: 5</a:t>
            </a:r>
          </a:p>
          <a:p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Enter N: 1</a:t>
            </a:r>
          </a:p>
          <a:p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The simple interest is: 500.0</a:t>
            </a:r>
          </a:p>
        </p:txBody>
      </p:sp>
      <p:sp>
        <p:nvSpPr>
          <p:cNvPr id="23" name="Rectangle: Top Corners Rounded 6">
            <a:extLst>
              <a:ext uri="{FF2B5EF4-FFF2-40B4-BE49-F238E27FC236}">
                <a16:creationId xmlns:a16="http://schemas.microsoft.com/office/drawing/2014/main" id="{9435A1AB-233B-8344-8059-A1098B8DFF2A}"/>
              </a:ext>
            </a:extLst>
          </p:cNvPr>
          <p:cNvSpPr/>
          <p:nvPr/>
        </p:nvSpPr>
        <p:spPr>
          <a:xfrm>
            <a:off x="499421" y="3197500"/>
            <a:ext cx="1262472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37341538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build="p" animBg="1"/>
      <p:bldP spid="20" grpId="0" animBg="1"/>
      <p:bldP spid="21" grpId="0" animBg="1"/>
      <p:bldP spid="22" grpId="0" uiExpand="1" build="p" animBg="1"/>
      <p:bldP spid="23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sz="3200" dirty="0"/>
              <a:t>Program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80" y="799944"/>
            <a:ext cx="11929641" cy="5590565"/>
          </a:xfrm>
        </p:spPr>
        <p:txBody>
          <a:bodyPr/>
          <a:lstStyle/>
          <a:p>
            <a:r>
              <a:rPr lang="en-IN" dirty="0"/>
              <a:t>WAP to calculate area of circle.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07238C0-42A4-6D4B-9339-A61E1CE24396}"/>
              </a:ext>
            </a:extLst>
          </p:cNvPr>
          <p:cNvSpPr/>
          <p:nvPr/>
        </p:nvSpPr>
        <p:spPr>
          <a:xfrm>
            <a:off x="977112" y="1650538"/>
            <a:ext cx="7282804" cy="10772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PI = </a:t>
            </a:r>
            <a:r>
              <a:rPr lang="en-IN" sz="1600" dirty="0">
                <a:solidFill>
                  <a:srgbClr val="098658"/>
                </a:solidFill>
                <a:latin typeface="Menlo" panose="020B0609030804020204" pitchFamily="49" charset="0"/>
              </a:rPr>
              <a:t>3.14</a:t>
            </a:r>
            <a:endParaRPr lang="en-IN" sz="16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r = float(input(</a:t>
            </a:r>
            <a:r>
              <a:rPr lang="en-IN" sz="1600" dirty="0">
                <a:solidFill>
                  <a:srgbClr val="A31515"/>
                </a:solidFill>
                <a:latin typeface="Menlo" panose="020B0609030804020204" pitchFamily="49" charset="0"/>
              </a:rPr>
              <a:t>"Enter the radius of a circle:"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))</a:t>
            </a:r>
          </a:p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area = PI * r * r</a:t>
            </a:r>
          </a:p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print(</a:t>
            </a:r>
            <a:r>
              <a:rPr lang="en-IN" sz="1600" dirty="0">
                <a:solidFill>
                  <a:srgbClr val="A31515"/>
                </a:solidFill>
                <a:latin typeface="Menlo" panose="020B0609030804020204" pitchFamily="49" charset="0"/>
              </a:rPr>
              <a:t>"Area of a circle = %.2f"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%area)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6B89899-B118-984E-8C49-944AF3433FAF}"/>
              </a:ext>
            </a:extLst>
          </p:cNvPr>
          <p:cNvSpPr/>
          <p:nvPr/>
        </p:nvSpPr>
        <p:spPr>
          <a:xfrm>
            <a:off x="477119" y="1650538"/>
            <a:ext cx="499993" cy="107721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</p:txBody>
      </p:sp>
      <p:sp>
        <p:nvSpPr>
          <p:cNvPr id="19" name="Rectangle: Top Corners Rounded 6">
            <a:extLst>
              <a:ext uri="{FF2B5EF4-FFF2-40B4-BE49-F238E27FC236}">
                <a16:creationId xmlns:a16="http://schemas.microsoft.com/office/drawing/2014/main" id="{12A0B103-383F-6E4D-96E4-176232B0EF8D}"/>
              </a:ext>
            </a:extLst>
          </p:cNvPr>
          <p:cNvSpPr/>
          <p:nvPr/>
        </p:nvSpPr>
        <p:spPr>
          <a:xfrm>
            <a:off x="477119" y="1321354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Example3.py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ADDA960-75F4-B948-9626-A5D4437BD180}"/>
              </a:ext>
            </a:extLst>
          </p:cNvPr>
          <p:cNvSpPr/>
          <p:nvPr/>
        </p:nvSpPr>
        <p:spPr>
          <a:xfrm>
            <a:off x="477119" y="3456322"/>
            <a:ext cx="4540930" cy="5847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Enter the radius of a circle:100</a:t>
            </a:r>
          </a:p>
          <a:p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Area of a circle = 31400.00</a:t>
            </a:r>
          </a:p>
        </p:txBody>
      </p:sp>
      <p:sp>
        <p:nvSpPr>
          <p:cNvPr id="21" name="Rectangle: Top Corners Rounded 6">
            <a:extLst>
              <a:ext uri="{FF2B5EF4-FFF2-40B4-BE49-F238E27FC236}">
                <a16:creationId xmlns:a16="http://schemas.microsoft.com/office/drawing/2014/main" id="{871562F6-23B5-434B-8966-297BB65058F3}"/>
              </a:ext>
            </a:extLst>
          </p:cNvPr>
          <p:cNvSpPr/>
          <p:nvPr/>
        </p:nvSpPr>
        <p:spPr>
          <a:xfrm>
            <a:off x="477119" y="3139068"/>
            <a:ext cx="1262472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11673909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uiExpand="1" build="p" animBg="1"/>
      <p:bldP spid="17" grpId="0" animBg="1"/>
      <p:bldP spid="19" grpId="0" animBg="1"/>
      <p:bldP spid="20" grpId="0" uiExpand="1" build="p" animBg="1"/>
      <p:bldP spid="21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3133A3-AFE8-6A05-B842-ECE6B600F1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A30941E-7E35-3D8F-AE3D-8DC87A187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Variable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E6A569-2925-A8AB-3CAE-46CCF2DDAA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687137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Variable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702725"/>
          </a:xfrm>
        </p:spPr>
        <p:txBody>
          <a:bodyPr/>
          <a:lstStyle/>
          <a:p>
            <a:r>
              <a:rPr lang="en-US" dirty="0"/>
              <a:t>A Python variable is a </a:t>
            </a:r>
            <a:r>
              <a:rPr lang="en-US" b="1" dirty="0">
                <a:solidFill>
                  <a:srgbClr val="C00000"/>
                </a:solidFill>
              </a:rPr>
              <a:t>named reference </a:t>
            </a:r>
            <a:r>
              <a:rPr lang="en-US" dirty="0"/>
              <a:t>to a value stored in memory.</a:t>
            </a:r>
          </a:p>
          <a:p>
            <a:r>
              <a:rPr lang="en-US" dirty="0"/>
              <a:t>Unlike other programming languages, Python has </a:t>
            </a:r>
            <a:r>
              <a:rPr lang="en-US" dirty="0">
                <a:solidFill>
                  <a:srgbClr val="C00000"/>
                </a:solidFill>
              </a:rPr>
              <a:t>no command </a:t>
            </a:r>
            <a:r>
              <a:rPr lang="en-US" dirty="0"/>
              <a:t>for declaring a variable.</a:t>
            </a:r>
          </a:p>
          <a:p>
            <a:r>
              <a:rPr lang="en-US" dirty="0"/>
              <a:t>A variable is created the moment you </a:t>
            </a:r>
            <a:r>
              <a:rPr lang="en-US" dirty="0">
                <a:solidFill>
                  <a:srgbClr val="C00000"/>
                </a:solidFill>
              </a:rPr>
              <a:t>first assign </a:t>
            </a:r>
            <a:r>
              <a:rPr lang="en-US" dirty="0"/>
              <a:t>a value to it.</a:t>
            </a:r>
          </a:p>
          <a:p>
            <a:r>
              <a:rPr lang="en-IN" dirty="0"/>
              <a:t>Python uses Dynamic Typing so,</a:t>
            </a:r>
            <a:endParaRPr lang="en-US" dirty="0"/>
          </a:p>
          <a:p>
            <a:pPr lvl="1"/>
            <a:r>
              <a:rPr lang="en-US" dirty="0"/>
              <a:t>You do not need to specify the data type while creating a variable.</a:t>
            </a:r>
          </a:p>
          <a:p>
            <a:pPr lvl="1"/>
            <a:r>
              <a:rPr lang="en-US" dirty="0"/>
              <a:t>Python </a:t>
            </a:r>
            <a:r>
              <a:rPr lang="en-US" b="1" dirty="0"/>
              <a:t>automatically determines</a:t>
            </a:r>
            <a:r>
              <a:rPr lang="en-US" dirty="0"/>
              <a:t> the data type based on the value assigned.</a:t>
            </a:r>
          </a:p>
          <a:p>
            <a:pPr lvl="1"/>
            <a:r>
              <a:rPr lang="en-US" dirty="0"/>
              <a:t>You can </a:t>
            </a:r>
            <a:r>
              <a:rPr lang="en-US" b="1" dirty="0"/>
              <a:t>reassign a new value of a different type</a:t>
            </a:r>
            <a:r>
              <a:rPr lang="en-US" dirty="0"/>
              <a:t>:</a:t>
            </a:r>
            <a:endParaRPr lang="en-IN" dirty="0"/>
          </a:p>
          <a:p>
            <a:r>
              <a:rPr lang="en-IN" dirty="0"/>
              <a:t>We can check the current data type of the variable with </a:t>
            </a:r>
            <a:r>
              <a:rPr lang="en-IN" b="1" dirty="0">
                <a:solidFill>
                  <a:srgbClr val="C00000"/>
                </a:solidFill>
              </a:rPr>
              <a:t>type(</a:t>
            </a:r>
            <a:r>
              <a:rPr lang="en-IN" b="1" dirty="0" err="1">
                <a:solidFill>
                  <a:srgbClr val="C00000"/>
                </a:solidFill>
              </a:rPr>
              <a:t>variablename</a:t>
            </a:r>
            <a:r>
              <a:rPr lang="en-IN" b="1" dirty="0">
                <a:solidFill>
                  <a:srgbClr val="C00000"/>
                </a:solidFill>
              </a:rPr>
              <a:t>)</a:t>
            </a:r>
            <a:r>
              <a:rPr lang="en-IN" dirty="0">
                <a:solidFill>
                  <a:srgbClr val="C00000"/>
                </a:solidFill>
              </a:rPr>
              <a:t> </a:t>
            </a:r>
            <a:r>
              <a:rPr lang="en-IN" dirty="0"/>
              <a:t>in-built function.</a:t>
            </a:r>
          </a:p>
          <a:p>
            <a:r>
              <a:rPr lang="en-IN" dirty="0"/>
              <a:t>Rules for Variable Name : </a:t>
            </a:r>
          </a:p>
          <a:p>
            <a:pPr lvl="1"/>
            <a:r>
              <a:rPr lang="en-IN" dirty="0"/>
              <a:t>Variable Name </a:t>
            </a:r>
            <a:r>
              <a:rPr lang="en-IN" dirty="0">
                <a:solidFill>
                  <a:srgbClr val="FF0000"/>
                </a:solidFill>
              </a:rPr>
              <a:t>must begin with Letter or Underscore(_),  </a:t>
            </a:r>
            <a:r>
              <a:rPr lang="en-IN" dirty="0"/>
              <a:t>it </a:t>
            </a:r>
            <a:r>
              <a:rPr lang="en-IN" dirty="0">
                <a:solidFill>
                  <a:srgbClr val="FF0000"/>
                </a:solidFill>
              </a:rPr>
              <a:t>can not start with digit</a:t>
            </a:r>
            <a:r>
              <a:rPr lang="en-IN" dirty="0"/>
              <a:t>.</a:t>
            </a:r>
          </a:p>
          <a:p>
            <a:pPr lvl="1"/>
            <a:r>
              <a:rPr lang="en-IN" dirty="0"/>
              <a:t>Spaces and Special Characters(</a:t>
            </a:r>
            <a:r>
              <a:rPr lang="en-IN" dirty="0">
                <a:solidFill>
                  <a:srgbClr val="FF0000"/>
                </a:solidFill>
              </a:rPr>
              <a:t>except underscore</a:t>
            </a:r>
            <a:r>
              <a:rPr lang="en-IN" dirty="0"/>
              <a:t>) are not allowed.</a:t>
            </a:r>
          </a:p>
          <a:p>
            <a:pPr lvl="1"/>
            <a:r>
              <a:rPr lang="en-IN" dirty="0"/>
              <a:t>Python </a:t>
            </a:r>
            <a:r>
              <a:rPr lang="en-IN" dirty="0">
                <a:solidFill>
                  <a:srgbClr val="FF0000"/>
                </a:solidFill>
              </a:rPr>
              <a:t>Keywords</a:t>
            </a:r>
            <a:r>
              <a:rPr lang="en-IN" dirty="0"/>
              <a:t> are not allowed to be a Variable Name.</a:t>
            </a:r>
          </a:p>
          <a:p>
            <a:pPr lvl="1"/>
            <a:r>
              <a:rPr lang="en-IN" dirty="0"/>
              <a:t>Variable Names are </a:t>
            </a:r>
            <a:r>
              <a:rPr lang="en-IN" dirty="0">
                <a:solidFill>
                  <a:srgbClr val="FF0000"/>
                </a:solidFill>
              </a:rPr>
              <a:t>case-sensitive</a:t>
            </a:r>
            <a:r>
              <a:rPr lang="en-IN" dirty="0"/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7349BA7-6CEE-0A02-586F-E43FA63D4E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4092" y="1682886"/>
            <a:ext cx="1982621" cy="81936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F154BDA-13C6-D9B0-019F-A637600E0B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5186" y="2654492"/>
            <a:ext cx="1864618" cy="96469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 of Variable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80" y="799944"/>
            <a:ext cx="11929641" cy="5590565"/>
          </a:xfrm>
        </p:spPr>
        <p:txBody>
          <a:bodyPr/>
          <a:lstStyle/>
          <a:p>
            <a:r>
              <a:rPr lang="en-IN" dirty="0"/>
              <a:t>Example :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456EBDA-49A4-A843-A786-6989C63A54AA}"/>
              </a:ext>
            </a:extLst>
          </p:cNvPr>
          <p:cNvSpPr/>
          <p:nvPr/>
        </p:nvSpPr>
        <p:spPr>
          <a:xfrm>
            <a:off x="1055170" y="1512070"/>
            <a:ext cx="8472276" cy="258532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x = 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10</a:t>
            </a:r>
            <a:endParaRPr lang="en-US" sz="1600" dirty="0">
              <a:solidFill>
                <a:srgbClr val="000000"/>
              </a:solidFill>
              <a:latin typeface="Consolas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print(x)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print(type(x))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/>
            </a:r>
            <a:br>
              <a:rPr lang="en-US" sz="1600" dirty="0">
                <a:solidFill>
                  <a:srgbClr val="000000"/>
                </a:solidFill>
                <a:latin typeface="Consolas"/>
              </a:rPr>
            </a:br>
            <a:r>
              <a:rPr lang="en-US" sz="1600" dirty="0">
                <a:solidFill>
                  <a:srgbClr val="000000"/>
                </a:solidFill>
                <a:latin typeface="Consolas"/>
              </a:rPr>
              <a:t>y = 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123.456</a:t>
            </a:r>
            <a:endParaRPr lang="en-US" sz="1600" dirty="0">
              <a:solidFill>
                <a:srgbClr val="000000"/>
              </a:solidFill>
              <a:latin typeface="Consolas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print(y)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/>
            </a:r>
            <a:br>
              <a:rPr lang="en-US" sz="1600" dirty="0">
                <a:solidFill>
                  <a:srgbClr val="000000"/>
                </a:solidFill>
                <a:latin typeface="Consolas"/>
              </a:rPr>
            </a:br>
            <a:r>
              <a:rPr lang="en-US" sz="1600" dirty="0">
                <a:solidFill>
                  <a:srgbClr val="000000"/>
                </a:solidFill>
                <a:latin typeface="Consolas"/>
              </a:rPr>
              <a:t>x = 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"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darshan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 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insitute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 of 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engneering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 and technology"</a:t>
            </a:r>
            <a:endParaRPr lang="en-US" sz="1600" dirty="0">
              <a:solidFill>
                <a:srgbClr val="000000"/>
              </a:solidFill>
              <a:latin typeface="Consolas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print(x)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print(type(x))</a:t>
            </a:r>
            <a:endParaRPr lang="en-US" sz="1600" b="0" dirty="0">
              <a:solidFill>
                <a:srgbClr val="000000"/>
              </a:solidFill>
              <a:latin typeface="Consola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5F9F4A0-4592-C04D-B2D0-0BF66A3BFA20}"/>
              </a:ext>
            </a:extLst>
          </p:cNvPr>
          <p:cNvSpPr/>
          <p:nvPr/>
        </p:nvSpPr>
        <p:spPr>
          <a:xfrm>
            <a:off x="555177" y="1512070"/>
            <a:ext cx="499993" cy="255454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onsolas" panose="020B0609020204030204" pitchFamily="49" charset="0"/>
              </a:rPr>
              <a:t>6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7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onsolas" panose="020B0609020204030204" pitchFamily="49" charset="0"/>
              </a:rPr>
              <a:t>8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9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onsolas" panose="020B0609020204030204" pitchFamily="49" charset="0"/>
              </a:rPr>
              <a:t>10</a:t>
            </a:r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1" name="Rectangle: Top Corners Rounded 6">
            <a:extLst>
              <a:ext uri="{FF2B5EF4-FFF2-40B4-BE49-F238E27FC236}">
                <a16:creationId xmlns:a16="http://schemas.microsoft.com/office/drawing/2014/main" id="{0336C271-A2A3-9445-9946-5006F0A250F4}"/>
              </a:ext>
            </a:extLst>
          </p:cNvPr>
          <p:cNvSpPr/>
          <p:nvPr/>
        </p:nvSpPr>
        <p:spPr>
          <a:xfrm>
            <a:off x="555177" y="1182886"/>
            <a:ext cx="109055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demo.py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456EBDA-49A4-A843-A786-6989C63A54AA}"/>
              </a:ext>
            </a:extLst>
          </p:cNvPr>
          <p:cNvSpPr/>
          <p:nvPr/>
        </p:nvSpPr>
        <p:spPr>
          <a:xfrm>
            <a:off x="1032909" y="4475738"/>
            <a:ext cx="8472276" cy="3385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python demo.py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5F9F4A0-4592-C04D-B2D0-0BF66A3BFA20}"/>
              </a:ext>
            </a:extLst>
          </p:cNvPr>
          <p:cNvSpPr/>
          <p:nvPr/>
        </p:nvSpPr>
        <p:spPr>
          <a:xfrm>
            <a:off x="532916" y="4475738"/>
            <a:ext cx="499993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</p:txBody>
      </p:sp>
      <p:sp>
        <p:nvSpPr>
          <p:cNvPr id="15" name="Rectangle: Top Corners Rounded 6">
            <a:extLst>
              <a:ext uri="{FF2B5EF4-FFF2-40B4-BE49-F238E27FC236}">
                <a16:creationId xmlns:a16="http://schemas.microsoft.com/office/drawing/2014/main" id="{0336C271-A2A3-9445-9946-5006F0A250F4}"/>
              </a:ext>
            </a:extLst>
          </p:cNvPr>
          <p:cNvSpPr/>
          <p:nvPr/>
        </p:nvSpPr>
        <p:spPr>
          <a:xfrm>
            <a:off x="532916" y="4146554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Run in terminal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456EBDA-49A4-A843-A786-6989C63A54AA}"/>
              </a:ext>
            </a:extLst>
          </p:cNvPr>
          <p:cNvSpPr/>
          <p:nvPr/>
        </p:nvSpPr>
        <p:spPr>
          <a:xfrm>
            <a:off x="1062019" y="5224040"/>
            <a:ext cx="8472276" cy="132343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10</a:t>
            </a:r>
          </a:p>
          <a:p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&lt;class 'int'&gt;</a:t>
            </a:r>
          </a:p>
          <a:p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123.456</a:t>
            </a:r>
          </a:p>
          <a:p>
            <a:r>
              <a:rPr lang="en-IN" sz="1600" b="1" dirty="0" err="1">
                <a:latin typeface="Consolas" pitchFamily="49" charset="0"/>
                <a:cs typeface="Consolas" panose="020B0609020204030204" pitchFamily="49" charset="0"/>
              </a:rPr>
              <a:t>Darshan</a:t>
            </a:r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 institute of engineering and technology</a:t>
            </a:r>
          </a:p>
          <a:p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&lt;class 'str'&gt;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5F9F4A0-4592-C04D-B2D0-0BF66A3BFA20}"/>
              </a:ext>
            </a:extLst>
          </p:cNvPr>
          <p:cNvSpPr/>
          <p:nvPr/>
        </p:nvSpPr>
        <p:spPr>
          <a:xfrm>
            <a:off x="562026" y="5224040"/>
            <a:ext cx="499993" cy="132343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</p:txBody>
      </p:sp>
      <p:sp>
        <p:nvSpPr>
          <p:cNvPr id="18" name="Rectangle: Top Corners Rounded 6">
            <a:extLst>
              <a:ext uri="{FF2B5EF4-FFF2-40B4-BE49-F238E27FC236}">
                <a16:creationId xmlns:a16="http://schemas.microsoft.com/office/drawing/2014/main" id="{0336C271-A2A3-9445-9946-5006F0A250F4}"/>
              </a:ext>
            </a:extLst>
          </p:cNvPr>
          <p:cNvSpPr/>
          <p:nvPr/>
        </p:nvSpPr>
        <p:spPr>
          <a:xfrm>
            <a:off x="562026" y="4894856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  <p:sp>
        <p:nvSpPr>
          <p:cNvPr id="19" name="Line Callout 1 18"/>
          <p:cNvSpPr/>
          <p:nvPr/>
        </p:nvSpPr>
        <p:spPr>
          <a:xfrm>
            <a:off x="4584700" y="1803400"/>
            <a:ext cx="4889500" cy="482600"/>
          </a:xfrm>
          <a:prstGeom prst="borderCallout1">
            <a:avLst>
              <a:gd name="adj1" fmla="val 50329"/>
              <a:gd name="adj2" fmla="val -392"/>
              <a:gd name="adj3" fmla="val -22139"/>
              <a:gd name="adj4" fmla="val -54096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Reassign same variable to hold different data type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21" name="Straight Connector 20"/>
          <p:cNvCxnSpPr>
            <a:endCxn id="19" idx="2"/>
          </p:cNvCxnSpPr>
          <p:nvPr/>
        </p:nvCxnSpPr>
        <p:spPr>
          <a:xfrm flipV="1">
            <a:off x="3594100" y="2044700"/>
            <a:ext cx="990600" cy="119380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uiExpand="1" build="p" animBg="1"/>
      <p:bldP spid="10" grpId="0" animBg="1"/>
      <p:bldP spid="11" grpId="0" animBg="1"/>
      <p:bldP spid="13" grpId="0" build="p" animBg="1"/>
      <p:bldP spid="14" grpId="0" animBg="1"/>
      <p:bldP spid="15" grpId="0" animBg="1"/>
      <p:bldP spid="16" grpId="0" uiExpand="1" build="p" animBg="1"/>
      <p:bldP spid="17" grpId="0" animBg="1"/>
      <p:bldP spid="18" grpId="0" animBg="1"/>
      <p:bldP spid="19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6E0C48-3262-1F81-7D1D-D7B6164FDD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49BB6FA-87AC-9517-3F67-2C4CCDD5C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Datatypes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57BA2D-1363-1F80-E829-06862B59D3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580645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4">
            <a:extLst>
              <a:ext uri="{FF2B5EF4-FFF2-40B4-BE49-F238E27FC236}">
                <a16:creationId xmlns:a16="http://schemas.microsoft.com/office/drawing/2014/main" id="{2486BC6F-42B7-4A1D-889E-1B1818D1D5F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01980942"/>
              </p:ext>
            </p:extLst>
          </p:nvPr>
        </p:nvGraphicFramePr>
        <p:xfrm>
          <a:off x="360825" y="160952"/>
          <a:ext cx="11224818" cy="31394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3804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0043">
                  <a:extLst>
                    <a:ext uri="{9D8B030D-6E8A-4147-A177-3AD203B41FA5}">
                      <a16:colId xmlns:a16="http://schemas.microsoft.com/office/drawing/2014/main" val="1960142769"/>
                    </a:ext>
                  </a:extLst>
                </a:gridCol>
                <a:gridCol w="8774349">
                  <a:extLst>
                    <a:ext uri="{9D8B030D-6E8A-4147-A177-3AD203B41FA5}">
                      <a16:colId xmlns:a16="http://schemas.microsoft.com/office/drawing/2014/main" val="154927172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Type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>
                          <a:solidFill>
                            <a:schemeClr val="tx1"/>
                          </a:solidFill>
                        </a:rPr>
                        <a:t>Class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 gridSpan="3"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9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Data Types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9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lang="en-US" sz="1900" dirty="0"/>
                        <a:t>Integer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solidFill>
                            <a:schemeClr val="tx2"/>
                          </a:solidFill>
                        </a:rPr>
                        <a:t>int</a:t>
                      </a:r>
                      <a:endParaRPr lang="en-US" sz="20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>
                          <a:solidFill>
                            <a:schemeClr val="tx1"/>
                          </a:solidFill>
                        </a:rPr>
                        <a:t>Whole number such as 0,1,5,</a:t>
                      </a:r>
                      <a:r>
                        <a:rPr lang="en-US" sz="2000" baseline="0">
                          <a:solidFill>
                            <a:schemeClr val="tx1"/>
                          </a:solidFill>
                        </a:rPr>
                        <a:t> -5 etc..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lang="en-US" sz="1900" dirty="0"/>
                        <a:t>Float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solidFill>
                            <a:schemeClr val="tx2"/>
                          </a:solidFill>
                        </a:rPr>
                        <a:t>float</a:t>
                      </a:r>
                      <a:endParaRPr lang="en-US" sz="20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>
                          <a:solidFill>
                            <a:schemeClr val="tx1"/>
                          </a:solidFill>
                        </a:rPr>
                        <a:t>Numbers with decimal points such as 1.5, 7.9</a:t>
                      </a:r>
                      <a:r>
                        <a:rPr lang="en-US" sz="2000" baseline="0">
                          <a:solidFill>
                            <a:schemeClr val="tx1"/>
                          </a:solidFill>
                        </a:rPr>
                        <a:t>, -8.2 etc..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lang="en-US" sz="1900" dirty="0"/>
                        <a:t>Complex Number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2"/>
                          </a:solidFill>
                        </a:rPr>
                        <a:t>complex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Complex number (real_part)+(imaginary_part)j such as 2 + 3j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lang="en-US" sz="1900" dirty="0"/>
                        <a:t>String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solidFill>
                            <a:schemeClr val="tx2"/>
                          </a:solidFill>
                        </a:rPr>
                        <a:t>str</a:t>
                      </a:r>
                      <a:endParaRPr lang="en-US" sz="20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Sequence of character (Ordered) such as “darshan”, ‘college’, “</a:t>
                      </a:r>
                      <a:r>
                        <a:rPr lang="gu-IN" sz="2000" dirty="0">
                          <a:solidFill>
                            <a:schemeClr val="tx1"/>
                          </a:solidFill>
                        </a:rPr>
                        <a:t>રાજકોટ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” etc..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lang="en-US" sz="1900" dirty="0"/>
                        <a:t>Boolean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2"/>
                          </a:solidFill>
                        </a:rPr>
                        <a:t>bool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Logical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</a:rPr>
                        <a:t> values indicating </a:t>
                      </a:r>
                      <a:r>
                        <a:rPr lang="en-US" sz="2000" b="1" baseline="0" dirty="0">
                          <a:solidFill>
                            <a:srgbClr val="FF0000"/>
                          </a:solidFill>
                        </a:rPr>
                        <a:t>T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</a:rPr>
                        <a:t>ure or </a:t>
                      </a:r>
                      <a:r>
                        <a:rPr lang="en-US" sz="2000" b="1" baseline="0" dirty="0">
                          <a:solidFill>
                            <a:srgbClr val="FF0000"/>
                          </a:solidFill>
                        </a:rPr>
                        <a:t>F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</a:rPr>
                        <a:t>alse (T and F here are capital in python)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321823"/>
                  </a:ext>
                </a:extLst>
              </a:tr>
            </a:tbl>
          </a:graphicData>
        </a:graphic>
      </p:graphicFrame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2486BC6F-42B7-4A1D-889E-1B1818D1D5F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47011976"/>
              </p:ext>
            </p:extLst>
          </p:nvPr>
        </p:nvGraphicFramePr>
        <p:xfrm>
          <a:off x="353734" y="3490549"/>
          <a:ext cx="11261092" cy="32156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3549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96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965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 gridSpan="3">
                  <a:txBody>
                    <a:bodyPr/>
                    <a:lstStyle/>
                    <a:p>
                      <a:pPr algn="ctr"/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Data Structures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20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lang="en-US" sz="1900" dirty="0"/>
                        <a:t>List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2"/>
                          </a:solidFill>
                        </a:rPr>
                        <a:t>list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Ordered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 Sequence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</a:rPr>
                        <a:t> of objects, will be represented with </a:t>
                      </a:r>
                      <a:r>
                        <a:rPr lang="en-US" sz="2000" b="1" baseline="0" dirty="0">
                          <a:solidFill>
                            <a:schemeClr val="tx1"/>
                          </a:solidFill>
                        </a:rPr>
                        <a:t>square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</a:rPr>
                        <a:t> brackets </a:t>
                      </a:r>
                      <a:r>
                        <a:rPr lang="en-US" sz="2000" b="1" baseline="0" dirty="0">
                          <a:solidFill>
                            <a:srgbClr val="FF0000"/>
                          </a:solidFill>
                        </a:rPr>
                        <a:t>[ ]</a:t>
                      </a:r>
                    </a:p>
                    <a:p>
                      <a:pPr algn="l"/>
                      <a:r>
                        <a:rPr lang="en-IN" sz="2000" b="0" baseline="0" dirty="0">
                          <a:solidFill>
                            <a:schemeClr val="tx1"/>
                          </a:solidFill>
                        </a:rPr>
                        <a:t>Example : [ 18, “</a:t>
                      </a:r>
                      <a:r>
                        <a:rPr lang="en-IN" sz="2000" b="0" baseline="0" dirty="0" err="1">
                          <a:solidFill>
                            <a:schemeClr val="tx1"/>
                          </a:solidFill>
                        </a:rPr>
                        <a:t>darshan</a:t>
                      </a:r>
                      <a:r>
                        <a:rPr lang="en-IN" sz="2000" b="0" baseline="0" dirty="0">
                          <a:solidFill>
                            <a:schemeClr val="tx1"/>
                          </a:solidFill>
                        </a:rPr>
                        <a:t>”,  True, 102.3 ]</a:t>
                      </a:r>
                      <a:endParaRPr 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lang="en-IN" sz="1900" dirty="0" err="1"/>
                        <a:t>Tuple</a:t>
                      </a:r>
                      <a:endParaRPr lang="en-IN" sz="19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solidFill>
                            <a:schemeClr val="tx2"/>
                          </a:solidFill>
                        </a:rPr>
                        <a:t>Tup</a:t>
                      </a:r>
                      <a:endParaRPr lang="en-US" sz="20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 b="1" dirty="0">
                          <a:solidFill>
                            <a:schemeClr val="tx1"/>
                          </a:solidFill>
                        </a:rPr>
                        <a:t>Ordered</a:t>
                      </a:r>
                      <a:r>
                        <a:rPr lang="en-IN" sz="2000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IN" sz="2000" b="1" baseline="0" dirty="0">
                          <a:solidFill>
                            <a:schemeClr val="tx1"/>
                          </a:solidFill>
                        </a:rPr>
                        <a:t>immutable</a:t>
                      </a:r>
                      <a:r>
                        <a:rPr lang="en-IN" sz="2000" baseline="0" dirty="0">
                          <a:solidFill>
                            <a:schemeClr val="tx1"/>
                          </a:solidFill>
                        </a:rPr>
                        <a:t> sequence of objects, will be represented with </a:t>
                      </a:r>
                      <a:r>
                        <a:rPr lang="en-IN" sz="2000" b="1" baseline="0" dirty="0">
                          <a:solidFill>
                            <a:schemeClr val="tx1"/>
                          </a:solidFill>
                        </a:rPr>
                        <a:t>round</a:t>
                      </a:r>
                      <a:r>
                        <a:rPr lang="en-IN" sz="2000" baseline="0" dirty="0">
                          <a:solidFill>
                            <a:schemeClr val="tx1"/>
                          </a:solidFill>
                        </a:rPr>
                        <a:t> brackets </a:t>
                      </a:r>
                      <a:r>
                        <a:rPr lang="en-IN" sz="2000" b="1" baseline="0" dirty="0">
                          <a:solidFill>
                            <a:srgbClr val="FF0000"/>
                          </a:solidFill>
                        </a:rPr>
                        <a:t>( )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b="0" baseline="0" dirty="0">
                          <a:solidFill>
                            <a:schemeClr val="tx1"/>
                          </a:solidFill>
                        </a:rPr>
                        <a:t>Example : ( 18, “</a:t>
                      </a:r>
                      <a:r>
                        <a:rPr lang="en-IN" sz="2000" b="0" baseline="0" dirty="0" err="1">
                          <a:solidFill>
                            <a:schemeClr val="tx1"/>
                          </a:solidFill>
                        </a:rPr>
                        <a:t>darshan</a:t>
                      </a:r>
                      <a:r>
                        <a:rPr lang="en-IN" sz="2000" b="0" baseline="0" dirty="0">
                          <a:solidFill>
                            <a:schemeClr val="tx1"/>
                          </a:solidFill>
                        </a:rPr>
                        <a:t>”,  True, 102.3 )</a:t>
                      </a:r>
                      <a:endParaRPr 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lang="en-IN" sz="1900" dirty="0"/>
                        <a:t>Set</a:t>
                      </a:r>
                      <a:endParaRPr lang="en-US" sz="19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solidFill>
                            <a:schemeClr val="tx2"/>
                          </a:solidFill>
                        </a:rPr>
                        <a:t>Set</a:t>
                      </a:r>
                      <a:endParaRPr lang="en-US" sz="20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 b="1" dirty="0">
                          <a:solidFill>
                            <a:schemeClr val="tx1"/>
                          </a:solidFill>
                        </a:rPr>
                        <a:t>Unordered</a:t>
                      </a:r>
                      <a:r>
                        <a:rPr lang="en-IN" sz="2000" baseline="0" dirty="0">
                          <a:solidFill>
                            <a:schemeClr val="tx1"/>
                          </a:solidFill>
                        </a:rPr>
                        <a:t> collection of </a:t>
                      </a:r>
                      <a:r>
                        <a:rPr lang="en-IN" sz="2000" b="1" baseline="0" dirty="0">
                          <a:solidFill>
                            <a:schemeClr val="tx1"/>
                          </a:solidFill>
                        </a:rPr>
                        <a:t>unique</a:t>
                      </a:r>
                      <a:r>
                        <a:rPr lang="en-IN" sz="2000" baseline="0" dirty="0">
                          <a:solidFill>
                            <a:schemeClr val="tx1"/>
                          </a:solidFill>
                        </a:rPr>
                        <a:t> objects, will be represented with the </a:t>
                      </a:r>
                      <a:r>
                        <a:rPr lang="en-IN" sz="2000" b="1" baseline="0" dirty="0">
                          <a:solidFill>
                            <a:schemeClr val="tx1"/>
                          </a:solidFill>
                        </a:rPr>
                        <a:t>curly</a:t>
                      </a:r>
                      <a:r>
                        <a:rPr lang="en-IN" sz="2000" baseline="0" dirty="0">
                          <a:solidFill>
                            <a:schemeClr val="tx1"/>
                          </a:solidFill>
                        </a:rPr>
                        <a:t> brackets </a:t>
                      </a:r>
                      <a:r>
                        <a:rPr lang="en-IN" sz="2000" b="1" baseline="0" dirty="0">
                          <a:solidFill>
                            <a:srgbClr val="FF0000"/>
                          </a:solidFill>
                        </a:rPr>
                        <a:t>{ }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b="0" baseline="0" dirty="0">
                          <a:solidFill>
                            <a:schemeClr val="tx1"/>
                          </a:solidFill>
                        </a:rPr>
                        <a:t>Example : { 18, “</a:t>
                      </a:r>
                      <a:r>
                        <a:rPr lang="en-IN" sz="2000" b="0" baseline="0" dirty="0" err="1">
                          <a:solidFill>
                            <a:schemeClr val="tx1"/>
                          </a:solidFill>
                        </a:rPr>
                        <a:t>darshan</a:t>
                      </a:r>
                      <a:r>
                        <a:rPr lang="en-IN" sz="2000" b="0" baseline="0" dirty="0">
                          <a:solidFill>
                            <a:schemeClr val="tx1"/>
                          </a:solidFill>
                        </a:rPr>
                        <a:t>”,  True, 102.3 }</a:t>
                      </a:r>
                      <a:endParaRPr 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lang="en-US" sz="1900" dirty="0"/>
                        <a:t>Dictionary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solidFill>
                            <a:schemeClr val="tx2"/>
                          </a:solidFill>
                        </a:rPr>
                        <a:t>Dict</a:t>
                      </a:r>
                      <a:endParaRPr lang="en-US" sz="20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Ordered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key </a:t>
                      </a:r>
                      <a:r>
                        <a:rPr lang="en-US" sz="2000" b="1" dirty="0">
                          <a:solidFill>
                            <a:srgbClr val="FF0000"/>
                          </a:solidFill>
                        </a:rPr>
                        <a:t>:</a:t>
                      </a: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 value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</a:rPr>
                        <a:t> pair of objects , will be represented with </a:t>
                      </a:r>
                      <a:r>
                        <a:rPr lang="en-US" sz="2000" b="1" baseline="0" dirty="0">
                          <a:solidFill>
                            <a:schemeClr val="tx1"/>
                          </a:solidFill>
                        </a:rPr>
                        <a:t>curly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</a:rPr>
                        <a:t> brackets </a:t>
                      </a:r>
                      <a:r>
                        <a:rPr lang="en-US" sz="2000" b="1" baseline="0" dirty="0">
                          <a:solidFill>
                            <a:srgbClr val="FF0000"/>
                          </a:solidFill>
                        </a:rPr>
                        <a:t>{ }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b="0" baseline="0" dirty="0">
                          <a:solidFill>
                            <a:schemeClr val="tx1"/>
                          </a:solidFill>
                        </a:rPr>
                        <a:t>Example : { “college”: “</a:t>
                      </a:r>
                      <a:r>
                        <a:rPr lang="en-IN" sz="2000" b="0" baseline="0" dirty="0" err="1">
                          <a:solidFill>
                            <a:schemeClr val="tx1"/>
                          </a:solidFill>
                        </a:rPr>
                        <a:t>darshan</a:t>
                      </a:r>
                      <a:r>
                        <a:rPr lang="en-IN" sz="2000" b="0" baseline="0" dirty="0">
                          <a:solidFill>
                            <a:schemeClr val="tx1"/>
                          </a:solidFill>
                        </a:rPr>
                        <a:t>”,  “code”: “054” }</a:t>
                      </a:r>
                      <a:endParaRPr 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F07CF9-32CF-A9D2-5D34-FE34E4B859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CB7F273-4B78-A63D-4E40-FF40B254D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Comments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A26413-6466-C98D-A6E0-220DFA17A1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202340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5EDF56-97BA-23FE-B318-23F5A5D605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88CD69-20D0-7300-41D0-4D9357377A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Comments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F9AE4E-D349-69B2-16FA-D8D7BC50DB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Python, comments are used to explain code and make it more readable. </a:t>
            </a:r>
          </a:p>
          <a:p>
            <a:r>
              <a:rPr lang="en-US" dirty="0"/>
              <a:t>They are ignored by the Python interpreter when the code is executed. </a:t>
            </a:r>
          </a:p>
          <a:p>
            <a:r>
              <a:rPr lang="en-US" dirty="0"/>
              <a:t>There are two main types of comments in Python: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>
                <a:solidFill>
                  <a:schemeClr val="accent6"/>
                </a:solidFill>
              </a:rPr>
              <a:t>Single-line Comments:</a:t>
            </a:r>
          </a:p>
          <a:p>
            <a:pPr marL="1001712" lvl="1" indent="-457200"/>
            <a:r>
              <a:rPr lang="en-IN" dirty="0"/>
              <a:t>These are created using the </a:t>
            </a:r>
            <a:r>
              <a:rPr lang="en-IN" b="1" dirty="0"/>
              <a:t>#</a:t>
            </a:r>
            <a:r>
              <a:rPr lang="en-IN" dirty="0"/>
              <a:t> symbol.</a:t>
            </a:r>
          </a:p>
          <a:p>
            <a:pPr marL="1001712" lvl="1" indent="-457200"/>
            <a:r>
              <a:rPr lang="en-IN" dirty="0"/>
              <a:t>Everything after the #, on that line is considered to be a comment.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>
                <a:solidFill>
                  <a:schemeClr val="accent6"/>
                </a:solidFill>
              </a:rPr>
              <a:t>Multi-line Comments:</a:t>
            </a:r>
          </a:p>
          <a:p>
            <a:pPr marL="1001712" lvl="1" indent="-457200"/>
            <a:r>
              <a:rPr lang="en-IN" dirty="0"/>
              <a:t>Python </a:t>
            </a:r>
            <a:r>
              <a:rPr lang="en-IN" dirty="0">
                <a:solidFill>
                  <a:srgbClr val="FF0000"/>
                </a:solidFill>
              </a:rPr>
              <a:t>does not provide </a:t>
            </a:r>
            <a:r>
              <a:rPr lang="en-IN" dirty="0"/>
              <a:t>the option for multiline comments.</a:t>
            </a:r>
          </a:p>
          <a:p>
            <a:pPr marL="1001712" lvl="1" indent="-457200"/>
            <a:r>
              <a:rPr lang="en-IN" dirty="0"/>
              <a:t>However it can be achieved using multiple #.</a:t>
            </a:r>
          </a:p>
          <a:p>
            <a:pPr marL="1001712" lvl="1" indent="-457200"/>
            <a:r>
              <a:rPr lang="en-IN" dirty="0"/>
              <a:t>Or these can be done using string literals </a:t>
            </a:r>
            <a:r>
              <a:rPr lang="en-IN" b="1" dirty="0"/>
              <a:t>(‘ ‘ ’ or “ ” ”) </a:t>
            </a:r>
            <a:r>
              <a:rPr lang="en-IN" dirty="0"/>
              <a:t>as Python ignores those string literals that are not assigned to a variable.</a:t>
            </a:r>
          </a:p>
          <a:p>
            <a:pPr marL="544512" lvl="1" indent="0">
              <a:buNone/>
            </a:pP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255C26-58CB-C9FE-019D-B02D0250FFC5}"/>
              </a:ext>
            </a:extLst>
          </p:cNvPr>
          <p:cNvSpPr txBox="1"/>
          <p:nvPr/>
        </p:nvSpPr>
        <p:spPr>
          <a:xfrm>
            <a:off x="567563" y="5453056"/>
            <a:ext cx="7705898" cy="1004506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</a:pPr>
            <a:endParaRPr lang="en-US" b="0" dirty="0">
              <a:solidFill>
                <a:srgbClr val="6A9955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This is Single-line Comment</a:t>
            </a:r>
          </a:p>
          <a:p>
            <a:pPr>
              <a:lnSpc>
                <a:spcPts val="1425"/>
              </a:lnSpc>
            </a:pP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print(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"Hello World..!!"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 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#This comment is on the same line</a:t>
            </a:r>
          </a:p>
          <a:p>
            <a:pPr>
              <a:lnSpc>
                <a:spcPts val="1425"/>
              </a:lnSpc>
            </a:pP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458EAD6-E0F2-23C8-91FE-81C3A9716401}"/>
              </a:ext>
            </a:extLst>
          </p:cNvPr>
          <p:cNvSpPr txBox="1"/>
          <p:nvPr/>
        </p:nvSpPr>
        <p:spPr>
          <a:xfrm>
            <a:off x="7872041" y="1708606"/>
            <a:ext cx="4319959" cy="2799869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</a:pPr>
            <a:endParaRPr lang="en-US" b="0" dirty="0">
              <a:solidFill>
                <a:srgbClr val="CE9178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''' This is Multiline Comment </a:t>
            </a:r>
          </a:p>
          <a:p>
            <a:pPr>
              <a:lnSpc>
                <a:spcPts val="1425"/>
              </a:lnSpc>
            </a:pP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that spans multiple lines </a:t>
            </a:r>
          </a:p>
          <a:p>
            <a:pPr>
              <a:lnSpc>
                <a:spcPts val="1425"/>
              </a:lnSpc>
            </a:pPr>
            <a:endParaRPr lang="en-US" dirty="0">
              <a:solidFill>
                <a:srgbClr val="CE9178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'''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print(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"Hello World..!!"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 </a:t>
            </a:r>
          </a:p>
          <a:p>
            <a:pPr>
              <a:lnSpc>
                <a:spcPts val="1425"/>
              </a:lnSpc>
            </a:pP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""" Another multiline comments</a:t>
            </a:r>
          </a:p>
          <a:p>
            <a:pPr>
              <a:lnSpc>
                <a:spcPts val="1425"/>
              </a:lnSpc>
            </a:pPr>
            <a:endParaRPr lang="en-US" dirty="0">
              <a:solidFill>
                <a:srgbClr val="CE9178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using  triple quotes </a:t>
            </a:r>
          </a:p>
          <a:p>
            <a:pPr>
              <a:lnSpc>
                <a:spcPts val="1425"/>
              </a:lnSpc>
            </a:pPr>
            <a:endParaRPr lang="en-US" dirty="0">
              <a:solidFill>
                <a:srgbClr val="CE9178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"""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79703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7" grpId="0" animBg="1"/>
      <p:bldP spid="7" grpId="1" animBg="1"/>
      <p:bldP spid="10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C311C2-3F66-D565-854A-6A71150216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0E56517-3DB6-78A0-3EBD-1D7EDA7CF0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Tokens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07B2CE3-8FF7-2FD8-C7E3-5115D34AD3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367641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68F5C6-CD6B-19A0-C33A-60BEAB139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F050D1-76A2-F671-E422-8139E02F44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Tokens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634C29-5119-D09C-6570-9A87FE97CC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34258"/>
            <a:ext cx="11929641" cy="5702725"/>
          </a:xfrm>
        </p:spPr>
        <p:txBody>
          <a:bodyPr/>
          <a:lstStyle/>
          <a:p>
            <a:r>
              <a:rPr lang="en-US" dirty="0"/>
              <a:t>In Python, a </a:t>
            </a:r>
            <a:r>
              <a:rPr lang="en-US" b="1" dirty="0"/>
              <a:t>Token</a:t>
            </a:r>
            <a:r>
              <a:rPr lang="en-US" dirty="0"/>
              <a:t> is the smallest unit of a program. </a:t>
            </a:r>
          </a:p>
          <a:p>
            <a:r>
              <a:rPr lang="en-US" dirty="0"/>
              <a:t>Tokens are the building blocks of a Python program. Here are the main types of tokens in Python: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>
                <a:solidFill>
                  <a:schemeClr val="accent6"/>
                </a:solidFill>
              </a:rPr>
              <a:t>Keywords : </a:t>
            </a:r>
            <a:r>
              <a:rPr lang="en-US" b="1" dirty="0"/>
              <a:t>Reserved words </a:t>
            </a:r>
            <a:r>
              <a:rPr lang="en-US" dirty="0"/>
              <a:t>that have special meaning and cannot be used as identifiers</a:t>
            </a:r>
            <a:r>
              <a:rPr lang="en-IN" dirty="0"/>
              <a:t>. Example : if, else, for, while, try, except, etc.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>
                <a:solidFill>
                  <a:schemeClr val="accent6"/>
                </a:solidFill>
              </a:rPr>
              <a:t>Identifiers: </a:t>
            </a:r>
            <a:r>
              <a:rPr lang="en-US" b="1" dirty="0"/>
              <a:t>Names given to variables, functions, classes, and other objects</a:t>
            </a:r>
            <a:r>
              <a:rPr lang="en-US" dirty="0"/>
              <a:t>.</a:t>
            </a:r>
            <a:endParaRPr lang="en-IN" dirty="0">
              <a:solidFill>
                <a:schemeClr val="accent6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IN" dirty="0">
                <a:solidFill>
                  <a:schemeClr val="accent6"/>
                </a:solidFill>
              </a:rPr>
              <a:t>Literals: </a:t>
            </a:r>
            <a:r>
              <a:rPr lang="en-US" b="1" dirty="0"/>
              <a:t>Constant values </a:t>
            </a:r>
            <a:r>
              <a:rPr lang="en-US" dirty="0"/>
              <a:t>used in programs. They can be of various types (string, numeric, </a:t>
            </a:r>
            <a:r>
              <a:rPr lang="en-US" dirty="0" err="1"/>
              <a:t>boolean</a:t>
            </a:r>
            <a:r>
              <a:rPr lang="en-US" dirty="0"/>
              <a:t>, etc..)</a:t>
            </a:r>
            <a:endParaRPr lang="en-IN" dirty="0">
              <a:solidFill>
                <a:schemeClr val="accent6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IN" dirty="0">
                <a:solidFill>
                  <a:schemeClr val="accent6"/>
                </a:solidFill>
              </a:rPr>
              <a:t>Delimiters: </a:t>
            </a:r>
            <a:r>
              <a:rPr lang="en-US" b="1" dirty="0"/>
              <a:t>Symbols used to separate code </a:t>
            </a:r>
            <a:r>
              <a:rPr lang="en-US" dirty="0"/>
              <a:t>elements. Example : (),[],{},:,.,; and comma(,).</a:t>
            </a:r>
            <a:endParaRPr lang="en-IN" dirty="0">
              <a:solidFill>
                <a:schemeClr val="accent6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IN" dirty="0">
                <a:solidFill>
                  <a:schemeClr val="accent6"/>
                </a:solidFill>
              </a:rPr>
              <a:t>Comments: </a:t>
            </a:r>
            <a:r>
              <a:rPr lang="en-US" b="1" dirty="0"/>
              <a:t>Text added to the code for documentation purposes</a:t>
            </a:r>
            <a:r>
              <a:rPr lang="en-US" dirty="0"/>
              <a:t>, which is ignored by the Python interpreter. Example : #, ’ ’ ’ ,” ” ”</a:t>
            </a:r>
            <a:endParaRPr lang="en-IN" dirty="0">
              <a:solidFill>
                <a:schemeClr val="accent6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IN" dirty="0">
                <a:solidFill>
                  <a:schemeClr val="accent6"/>
                </a:solidFill>
              </a:rPr>
              <a:t>Operators: </a:t>
            </a:r>
            <a:r>
              <a:rPr lang="en-US" b="1" dirty="0"/>
              <a:t>Symbols that perform operations </a:t>
            </a:r>
            <a:r>
              <a:rPr lang="en-US" dirty="0"/>
              <a:t>on one or more operands. Example : +,-,*,/,==, !=,etc.</a:t>
            </a:r>
            <a:endParaRPr lang="en-IN" dirty="0">
              <a:solidFill>
                <a:schemeClr val="accent6"/>
              </a:solidFill>
            </a:endParaRPr>
          </a:p>
          <a:p>
            <a:pPr marL="457200" indent="-457200">
              <a:buFont typeface="+mj-lt"/>
              <a:buAutoNum type="arabicPeriod"/>
            </a:pPr>
            <a:endParaRPr lang="en-IN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12331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D8CCA1-5570-AF98-7EC1-24E3633F7D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C434E-E735-E263-033A-93A5B235C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Tokens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1281038-7E29-5207-BE96-81E2AF66F0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B6E0499-039B-710D-C4BE-CE60917841C2}"/>
              </a:ext>
            </a:extLst>
          </p:cNvPr>
          <p:cNvSpPr txBox="1"/>
          <p:nvPr/>
        </p:nvSpPr>
        <p:spPr>
          <a:xfrm>
            <a:off x="0" y="863445"/>
            <a:ext cx="12191999" cy="2535887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This is a comment</a:t>
            </a:r>
            <a:endParaRPr lang="en-US" sz="2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sz="2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x = </a:t>
            </a:r>
            <a:r>
              <a:rPr lang="en-US" sz="2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42</a:t>
            </a:r>
            <a:r>
              <a:rPr lang="en-US" sz="2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     </a:t>
            </a:r>
            <a:r>
              <a:rPr lang="en-US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x is identifier , 42 is literal</a:t>
            </a:r>
            <a:endParaRPr lang="en-US" sz="2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sz="2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2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x &gt; </a:t>
            </a:r>
            <a:r>
              <a:rPr lang="en-US" sz="2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2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  </a:t>
            </a:r>
            <a:r>
              <a:rPr lang="en-US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if is keyword, &gt; is operator, 0 is literal</a:t>
            </a:r>
            <a:endParaRPr lang="en-US" sz="2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sz="2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print(</a:t>
            </a:r>
            <a:r>
              <a:rPr lang="en-US" sz="2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"x is positive"</a:t>
            </a:r>
            <a:r>
              <a:rPr lang="en-US" sz="2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 </a:t>
            </a:r>
            <a:r>
              <a:rPr lang="en-US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print is function, "x is positive" is string literal</a:t>
            </a:r>
          </a:p>
          <a:p>
            <a:pPr>
              <a:lnSpc>
                <a:spcPct val="150000"/>
              </a:lnSpc>
            </a:pPr>
            <a:endParaRPr lang="en-US" sz="2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8272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029A6F-0B72-94DA-B3D1-1687D10E1A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4072D88-BED5-3BD3-5256-DBA0359A48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String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04B3CDF-AEEB-5ABD-CC69-C88EE7811D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490774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String in Python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String is </a:t>
            </a:r>
            <a:r>
              <a:rPr lang="en-US" dirty="0">
                <a:solidFill>
                  <a:srgbClr val="C00000"/>
                </a:solidFill>
              </a:rPr>
              <a:t>Ordered Sequence of character </a:t>
            </a:r>
            <a:r>
              <a:rPr lang="en-US" dirty="0"/>
              <a:t>such as “</a:t>
            </a:r>
            <a:r>
              <a:rPr lang="en-US" dirty="0" err="1"/>
              <a:t>darshan</a:t>
            </a:r>
            <a:r>
              <a:rPr lang="en-US" dirty="0"/>
              <a:t>”, ‘college’, “</a:t>
            </a:r>
            <a:r>
              <a:rPr lang="en-US" dirty="0" err="1"/>
              <a:t>રાજકોટ</a:t>
            </a:r>
            <a:r>
              <a:rPr lang="en-US" dirty="0"/>
              <a:t>” etc..</a:t>
            </a:r>
          </a:p>
          <a:p>
            <a:r>
              <a:rPr lang="en-US" dirty="0"/>
              <a:t>Strings are </a:t>
            </a:r>
            <a:r>
              <a:rPr lang="en-US" dirty="0">
                <a:solidFill>
                  <a:srgbClr val="C00000"/>
                </a:solidFill>
              </a:rPr>
              <a:t>arrays of characters </a:t>
            </a:r>
            <a:r>
              <a:rPr lang="en-US" dirty="0"/>
              <a:t>representing </a:t>
            </a:r>
            <a:r>
              <a:rPr lang="en-US" dirty="0">
                <a:solidFill>
                  <a:srgbClr val="C00000"/>
                </a:solidFill>
              </a:rPr>
              <a:t>Unicode </a:t>
            </a:r>
            <a:r>
              <a:rPr lang="en-US" dirty="0"/>
              <a:t>characters.</a:t>
            </a:r>
          </a:p>
          <a:p>
            <a:r>
              <a:rPr lang="en-IN" dirty="0"/>
              <a:t>String can be represented as single, double or triple quotes.</a:t>
            </a:r>
          </a:p>
          <a:p>
            <a:pPr fontAlgn="base"/>
            <a:r>
              <a:rPr lang="en-US" dirty="0"/>
              <a:t>String with </a:t>
            </a:r>
            <a:r>
              <a:rPr lang="en-US" dirty="0">
                <a:solidFill>
                  <a:srgbClr val="C00000"/>
                </a:solidFill>
              </a:rPr>
              <a:t>triple</a:t>
            </a:r>
            <a:r>
              <a:rPr lang="en-US" dirty="0"/>
              <a:t> Quotes allows </a:t>
            </a:r>
            <a:r>
              <a:rPr lang="en-US" dirty="0">
                <a:solidFill>
                  <a:srgbClr val="C00000"/>
                </a:solidFill>
              </a:rPr>
              <a:t>multiple</a:t>
            </a:r>
            <a:r>
              <a:rPr lang="en-US" dirty="0"/>
              <a:t> lines.</a:t>
            </a:r>
          </a:p>
          <a:p>
            <a:pPr fontAlgn="base"/>
            <a:r>
              <a:rPr lang="en-IN" dirty="0"/>
              <a:t>String in Python is </a:t>
            </a:r>
            <a:r>
              <a:rPr lang="en-IN" dirty="0">
                <a:solidFill>
                  <a:srgbClr val="C00000"/>
                </a:solidFill>
              </a:rPr>
              <a:t>immutable</a:t>
            </a:r>
            <a:r>
              <a:rPr lang="en-IN" dirty="0"/>
              <a:t>.</a:t>
            </a:r>
            <a:endParaRPr lang="en-US" dirty="0"/>
          </a:p>
          <a:p>
            <a:r>
              <a:rPr lang="en-US" dirty="0"/>
              <a:t>Square brackets can be used to access elements of the string, Ex. “</a:t>
            </a:r>
            <a:r>
              <a:rPr lang="en-US" dirty="0" err="1"/>
              <a:t>Darshan</a:t>
            </a:r>
            <a:r>
              <a:rPr lang="en-US" dirty="0"/>
              <a:t>”[1] = a, characters can also be accessed with reverse index like “</a:t>
            </a:r>
            <a:r>
              <a:rPr lang="en-US" dirty="0" err="1"/>
              <a:t>Darshan</a:t>
            </a:r>
            <a:r>
              <a:rPr lang="en-US" dirty="0"/>
              <a:t>”[-1] = n.</a:t>
            </a:r>
            <a:endParaRPr lang="en-IN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456EBDA-49A4-A843-A786-6989C63A54AA}"/>
              </a:ext>
            </a:extLst>
          </p:cNvPr>
          <p:cNvSpPr/>
          <p:nvPr/>
        </p:nvSpPr>
        <p:spPr>
          <a:xfrm>
            <a:off x="452435" y="4255264"/>
            <a:ext cx="10869686" cy="15696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3200" b="1" dirty="0">
                <a:latin typeface="Consolas" pitchFamily="49" charset="0"/>
                <a:cs typeface="Consolas" panose="020B0609020204030204" pitchFamily="49" charset="0"/>
              </a:rPr>
              <a:t>            x = "  D  a  r  s  h  a  n  "</a:t>
            </a:r>
          </a:p>
          <a:p>
            <a:r>
              <a:rPr lang="en-IN" sz="3200" b="1" dirty="0">
                <a:latin typeface="Consolas" pitchFamily="49" charset="0"/>
                <a:cs typeface="Consolas" panose="020B0609020204030204" pitchFamily="49" charset="0"/>
              </a:rPr>
              <a:t>        index =    0  1  2  3  4  5  6</a:t>
            </a:r>
          </a:p>
          <a:p>
            <a:r>
              <a:rPr lang="en-IN" sz="3200" b="1" dirty="0">
                <a:latin typeface="Consolas" pitchFamily="49" charset="0"/>
                <a:cs typeface="Consolas" panose="020B0609020204030204" pitchFamily="49" charset="0"/>
              </a:rPr>
              <a:t>Reverse index </a:t>
            </a:r>
            <a:r>
              <a:rPr lang="en-IN" sz="3200" b="1">
                <a:latin typeface="Consolas" pitchFamily="49" charset="0"/>
                <a:cs typeface="Consolas" panose="020B0609020204030204" pitchFamily="49" charset="0"/>
              </a:rPr>
              <a:t>=    -7 </a:t>
            </a:r>
            <a:r>
              <a:rPr lang="en-IN" sz="3200" b="1" dirty="0">
                <a:latin typeface="Consolas" pitchFamily="49" charset="0"/>
                <a:cs typeface="Consolas" panose="020B0609020204030204" pitchFamily="49" charset="0"/>
              </a:rPr>
              <a:t>-6 -5 -4 -3 -2 -1 </a:t>
            </a:r>
          </a:p>
        </p:txBody>
      </p:sp>
      <p:sp>
        <p:nvSpPr>
          <p:cNvPr id="9" name="Rectangle: Top Corners Rounded 6">
            <a:extLst>
              <a:ext uri="{FF2B5EF4-FFF2-40B4-BE49-F238E27FC236}">
                <a16:creationId xmlns:a16="http://schemas.microsoft.com/office/drawing/2014/main" id="{0336C271-A2A3-9445-9946-5006F0A250F4}"/>
              </a:ext>
            </a:extLst>
          </p:cNvPr>
          <p:cNvSpPr/>
          <p:nvPr/>
        </p:nvSpPr>
        <p:spPr>
          <a:xfrm>
            <a:off x="452435" y="3926080"/>
            <a:ext cx="1551026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String index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 uiExpand="1" build="p" animBg="1"/>
      <p:bldP spid="9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String Slicing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can get the </a:t>
            </a:r>
            <a:r>
              <a:rPr lang="en-US" dirty="0">
                <a:solidFill>
                  <a:srgbClr val="C00000"/>
                </a:solidFill>
              </a:rPr>
              <a:t>substring</a:t>
            </a:r>
            <a:r>
              <a:rPr lang="en-US" dirty="0"/>
              <a:t> in python using string slicing, we can specify </a:t>
            </a:r>
            <a:r>
              <a:rPr lang="en-US" dirty="0">
                <a:solidFill>
                  <a:srgbClr val="C00000"/>
                </a:solidFill>
              </a:rPr>
              <a:t>start index, end index and steps </a:t>
            </a:r>
            <a:r>
              <a:rPr lang="en-US" dirty="0"/>
              <a:t>(colon separated) to slice the string.</a:t>
            </a:r>
          </a:p>
          <a:p>
            <a:endParaRPr lang="en-IN" dirty="0"/>
          </a:p>
          <a:p>
            <a:endParaRPr lang="en-IN" dirty="0"/>
          </a:p>
          <a:p>
            <a:pPr>
              <a:buNone/>
            </a:pPr>
            <a:endParaRPr lang="en-IN" dirty="0"/>
          </a:p>
          <a:p>
            <a:endParaRPr lang="en-IN" dirty="0"/>
          </a:p>
          <a:p>
            <a:endParaRPr lang="en-IN" dirty="0"/>
          </a:p>
          <a:p>
            <a:pPr>
              <a:buNone/>
            </a:pPr>
            <a:endParaRPr lang="en-IN" b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56EBDA-49A4-A843-A786-6989C63A54AA}"/>
              </a:ext>
            </a:extLst>
          </p:cNvPr>
          <p:cNvSpPr/>
          <p:nvPr/>
        </p:nvSpPr>
        <p:spPr>
          <a:xfrm>
            <a:off x="522641" y="1895324"/>
            <a:ext cx="10238491" cy="5847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x = 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darshan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 institute of engineering and technology, 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rajkot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, 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gujarat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, INDIA'</a:t>
            </a:r>
          </a:p>
          <a:p>
            <a:r>
              <a:rPr lang="en-US" sz="1600" dirty="0" err="1">
                <a:solidFill>
                  <a:srgbClr val="000000"/>
                </a:solidFill>
                <a:latin typeface="Consolas"/>
              </a:rPr>
              <a:t>subx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 = x[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startindex:endindex:steps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]</a:t>
            </a:r>
            <a:endParaRPr lang="en-US" sz="1600" b="0" dirty="0">
              <a:solidFill>
                <a:srgbClr val="000000"/>
              </a:solidFill>
              <a:latin typeface="Consolas"/>
            </a:endParaRP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0336C271-A2A3-9445-9946-5006F0A250F4}"/>
              </a:ext>
            </a:extLst>
          </p:cNvPr>
          <p:cNvSpPr/>
          <p:nvPr/>
        </p:nvSpPr>
        <p:spPr>
          <a:xfrm>
            <a:off x="522642" y="1566140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syntax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456EBDA-49A4-A843-A786-6989C63A54AA}"/>
              </a:ext>
            </a:extLst>
          </p:cNvPr>
          <p:cNvSpPr/>
          <p:nvPr/>
        </p:nvSpPr>
        <p:spPr>
          <a:xfrm>
            <a:off x="1022635" y="3165339"/>
            <a:ext cx="9679232" cy="280076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x = 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darshan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 institute of engineering and technology, 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rajkot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, 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gujarat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, INDIA'</a:t>
            </a:r>
            <a:endParaRPr lang="en-US" sz="1600" dirty="0">
              <a:solidFill>
                <a:srgbClr val="000000"/>
              </a:solidFill>
              <a:latin typeface="Consolas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subx1 = x[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0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: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7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]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subx2 = x[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49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: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55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]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subx3 = x[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66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:]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subx4 = x[::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2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]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subx5 = x[::-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1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]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print(subx1)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print(subx2)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print(subx3)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print(subx4)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print(subx5)</a:t>
            </a:r>
            <a:endParaRPr lang="en-US" sz="1600" b="0" dirty="0">
              <a:solidFill>
                <a:srgbClr val="000000"/>
              </a:solidFill>
              <a:latin typeface="Consola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5F9F4A0-4592-C04D-B2D0-0BF66A3BFA20}"/>
              </a:ext>
            </a:extLst>
          </p:cNvPr>
          <p:cNvSpPr/>
          <p:nvPr/>
        </p:nvSpPr>
        <p:spPr>
          <a:xfrm>
            <a:off x="522642" y="3165339"/>
            <a:ext cx="499993" cy="280076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7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8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9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10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11</a:t>
            </a:r>
          </a:p>
        </p:txBody>
      </p:sp>
      <p:sp>
        <p:nvSpPr>
          <p:cNvPr id="16" name="Rectangle: Top Corners Rounded 6">
            <a:extLst>
              <a:ext uri="{FF2B5EF4-FFF2-40B4-BE49-F238E27FC236}">
                <a16:creationId xmlns:a16="http://schemas.microsoft.com/office/drawing/2014/main" id="{0336C271-A2A3-9445-9946-5006F0A250F4}"/>
              </a:ext>
            </a:extLst>
          </p:cNvPr>
          <p:cNvSpPr/>
          <p:nvPr/>
        </p:nvSpPr>
        <p:spPr>
          <a:xfrm>
            <a:off x="522642" y="2836155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strslicedemo.py</a:t>
            </a:r>
          </a:p>
        </p:txBody>
      </p:sp>
      <p:sp>
        <p:nvSpPr>
          <p:cNvPr id="17" name="Line Callout 1 16"/>
          <p:cNvSpPr/>
          <p:nvPr/>
        </p:nvSpPr>
        <p:spPr>
          <a:xfrm>
            <a:off x="4665133" y="3525454"/>
            <a:ext cx="5607967" cy="420013"/>
          </a:xfrm>
          <a:prstGeom prst="borderCallout1">
            <a:avLst>
              <a:gd name="adj1" fmla="val 53885"/>
              <a:gd name="adj2" fmla="val -612"/>
              <a:gd name="adj3" fmla="val 299567"/>
              <a:gd name="adj4" fmla="val -38789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Output : </a:t>
            </a:r>
            <a:r>
              <a:rPr lang="en-IN" i="1" dirty="0" err="1">
                <a:solidFill>
                  <a:schemeClr val="tx1"/>
                </a:solidFill>
              </a:rPr>
              <a:t>darshan</a:t>
            </a:r>
            <a:endParaRPr lang="en-US" b="1" i="1" dirty="0">
              <a:solidFill>
                <a:srgbClr val="FF0000"/>
              </a:solidFill>
            </a:endParaRPr>
          </a:p>
        </p:txBody>
      </p:sp>
      <p:sp>
        <p:nvSpPr>
          <p:cNvPr id="12" name="Line Callout 1 11"/>
          <p:cNvSpPr/>
          <p:nvPr/>
        </p:nvSpPr>
        <p:spPr>
          <a:xfrm>
            <a:off x="5794233" y="2331655"/>
            <a:ext cx="4495800" cy="626533"/>
          </a:xfrm>
          <a:prstGeom prst="borderCallout1">
            <a:avLst>
              <a:gd name="adj1" fmla="val 53885"/>
              <a:gd name="adj2" fmla="val -612"/>
              <a:gd name="adj3" fmla="val 17568"/>
              <a:gd name="adj4" fmla="val -57919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err="1">
                <a:solidFill>
                  <a:schemeClr val="tx1"/>
                </a:solidFill>
              </a:rPr>
              <a:t>endindex</a:t>
            </a:r>
            <a:r>
              <a:rPr lang="en-IN" dirty="0">
                <a:solidFill>
                  <a:schemeClr val="tx1"/>
                </a:solidFill>
              </a:rPr>
              <a:t> will not be included in the substring</a:t>
            </a:r>
            <a:endParaRPr lang="en-US" b="1" i="1" dirty="0">
              <a:solidFill>
                <a:srgbClr val="FF0000"/>
              </a:solidFill>
            </a:endParaRPr>
          </a:p>
        </p:txBody>
      </p:sp>
      <p:sp>
        <p:nvSpPr>
          <p:cNvPr id="13" name="Line Callout 1 12"/>
          <p:cNvSpPr/>
          <p:nvPr/>
        </p:nvSpPr>
        <p:spPr>
          <a:xfrm>
            <a:off x="4682066" y="4016521"/>
            <a:ext cx="5607967" cy="420013"/>
          </a:xfrm>
          <a:prstGeom prst="borderCallout1">
            <a:avLst>
              <a:gd name="adj1" fmla="val 53885"/>
              <a:gd name="adj2" fmla="val -612"/>
              <a:gd name="adj3" fmla="val 247156"/>
              <a:gd name="adj4" fmla="val -39393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Output : </a:t>
            </a:r>
            <a:r>
              <a:rPr lang="en-IN" i="1" dirty="0" err="1">
                <a:solidFill>
                  <a:schemeClr val="tx1"/>
                </a:solidFill>
              </a:rPr>
              <a:t>rajkot</a:t>
            </a:r>
            <a:endParaRPr lang="en-US" b="1" i="1" dirty="0">
              <a:solidFill>
                <a:srgbClr val="FF0000"/>
              </a:solidFill>
            </a:endParaRPr>
          </a:p>
        </p:txBody>
      </p:sp>
      <p:sp>
        <p:nvSpPr>
          <p:cNvPr id="18" name="Line Callout 1 17"/>
          <p:cNvSpPr/>
          <p:nvPr/>
        </p:nvSpPr>
        <p:spPr>
          <a:xfrm>
            <a:off x="4682066" y="4524521"/>
            <a:ext cx="5607967" cy="420013"/>
          </a:xfrm>
          <a:prstGeom prst="borderCallout1">
            <a:avLst>
              <a:gd name="adj1" fmla="val 53885"/>
              <a:gd name="adj2" fmla="val -612"/>
              <a:gd name="adj3" fmla="val 180634"/>
              <a:gd name="adj4" fmla="val -38940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Output : </a:t>
            </a:r>
            <a:r>
              <a:rPr lang="en-IN" i="1" dirty="0">
                <a:solidFill>
                  <a:schemeClr val="tx1"/>
                </a:solidFill>
              </a:rPr>
              <a:t>INDIA</a:t>
            </a:r>
            <a:endParaRPr lang="en-US" b="1" i="1" dirty="0">
              <a:solidFill>
                <a:srgbClr val="FF0000"/>
              </a:solidFill>
            </a:endParaRPr>
          </a:p>
        </p:txBody>
      </p:sp>
      <p:sp>
        <p:nvSpPr>
          <p:cNvPr id="19" name="Line Callout 1 18"/>
          <p:cNvSpPr/>
          <p:nvPr/>
        </p:nvSpPr>
        <p:spPr>
          <a:xfrm>
            <a:off x="4682066" y="5049454"/>
            <a:ext cx="5607967" cy="420013"/>
          </a:xfrm>
          <a:prstGeom prst="borderCallout1">
            <a:avLst>
              <a:gd name="adj1" fmla="val 53885"/>
              <a:gd name="adj2" fmla="val -612"/>
              <a:gd name="adj3" fmla="val 116128"/>
              <a:gd name="adj4" fmla="val -39091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Output : </a:t>
            </a:r>
            <a:r>
              <a:rPr lang="en-IN" i="1" dirty="0" err="1">
                <a:solidFill>
                  <a:schemeClr val="tx1"/>
                </a:solidFill>
              </a:rPr>
              <a:t>drhnisiueo</a:t>
            </a:r>
            <a:r>
              <a:rPr lang="en-IN" i="1" dirty="0">
                <a:solidFill>
                  <a:schemeClr val="tx1"/>
                </a:solidFill>
              </a:rPr>
              <a:t> </a:t>
            </a:r>
            <a:r>
              <a:rPr lang="en-IN" i="1" dirty="0" err="1">
                <a:solidFill>
                  <a:schemeClr val="tx1"/>
                </a:solidFill>
              </a:rPr>
              <a:t>niern</a:t>
            </a:r>
            <a:r>
              <a:rPr lang="en-IN" i="1" dirty="0">
                <a:solidFill>
                  <a:schemeClr val="tx1"/>
                </a:solidFill>
              </a:rPr>
              <a:t> n </a:t>
            </a:r>
            <a:r>
              <a:rPr lang="en-IN" i="1" dirty="0" err="1">
                <a:solidFill>
                  <a:schemeClr val="tx1"/>
                </a:solidFill>
              </a:rPr>
              <a:t>ehooy</a:t>
            </a:r>
            <a:r>
              <a:rPr lang="en-IN" i="1" dirty="0">
                <a:solidFill>
                  <a:schemeClr val="tx1"/>
                </a:solidFill>
              </a:rPr>
              <a:t> </a:t>
            </a:r>
            <a:r>
              <a:rPr lang="en-IN" i="1" dirty="0" err="1">
                <a:solidFill>
                  <a:schemeClr val="tx1"/>
                </a:solidFill>
              </a:rPr>
              <a:t>akt</a:t>
            </a:r>
            <a:r>
              <a:rPr lang="en-IN" i="1" dirty="0">
                <a:solidFill>
                  <a:schemeClr val="tx1"/>
                </a:solidFill>
              </a:rPr>
              <a:t> </a:t>
            </a:r>
            <a:r>
              <a:rPr lang="en-IN" i="1" dirty="0" err="1">
                <a:solidFill>
                  <a:schemeClr val="tx1"/>
                </a:solidFill>
              </a:rPr>
              <a:t>uaa,IDA</a:t>
            </a:r>
            <a:endParaRPr lang="en-US" b="1" i="1" dirty="0">
              <a:solidFill>
                <a:srgbClr val="FF0000"/>
              </a:solidFill>
            </a:endParaRPr>
          </a:p>
        </p:txBody>
      </p:sp>
      <p:sp>
        <p:nvSpPr>
          <p:cNvPr id="20" name="Line Callout 1 19"/>
          <p:cNvSpPr/>
          <p:nvPr/>
        </p:nvSpPr>
        <p:spPr>
          <a:xfrm>
            <a:off x="2971800" y="5532054"/>
            <a:ext cx="7318233" cy="420013"/>
          </a:xfrm>
          <a:prstGeom prst="borderCallout1">
            <a:avLst>
              <a:gd name="adj1" fmla="val 53885"/>
              <a:gd name="adj2" fmla="val -612"/>
              <a:gd name="adj3" fmla="val 55654"/>
              <a:gd name="adj4" fmla="val -7189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Output : </a:t>
            </a:r>
            <a:r>
              <a:rPr lang="en-IN" i="1" dirty="0">
                <a:solidFill>
                  <a:schemeClr val="tx1"/>
                </a:solidFill>
              </a:rPr>
              <a:t>AIDNI ,</a:t>
            </a:r>
            <a:r>
              <a:rPr lang="en-IN" i="1" dirty="0" err="1">
                <a:solidFill>
                  <a:schemeClr val="tx1"/>
                </a:solidFill>
              </a:rPr>
              <a:t>tarajug</a:t>
            </a:r>
            <a:r>
              <a:rPr lang="en-IN" i="1" dirty="0">
                <a:solidFill>
                  <a:schemeClr val="tx1"/>
                </a:solidFill>
              </a:rPr>
              <a:t> ,</a:t>
            </a:r>
            <a:r>
              <a:rPr lang="en-IN" i="1" dirty="0" err="1">
                <a:solidFill>
                  <a:schemeClr val="tx1"/>
                </a:solidFill>
              </a:rPr>
              <a:t>tokjar</a:t>
            </a:r>
            <a:r>
              <a:rPr lang="en-IN" i="1" dirty="0">
                <a:solidFill>
                  <a:schemeClr val="tx1"/>
                </a:solidFill>
              </a:rPr>
              <a:t> ,</a:t>
            </a:r>
            <a:r>
              <a:rPr lang="en-IN" i="1" dirty="0" err="1">
                <a:solidFill>
                  <a:schemeClr val="tx1"/>
                </a:solidFill>
              </a:rPr>
              <a:t>ygolonhcet</a:t>
            </a:r>
            <a:r>
              <a:rPr lang="en-IN" i="1" dirty="0">
                <a:solidFill>
                  <a:schemeClr val="tx1"/>
                </a:solidFill>
              </a:rPr>
              <a:t> </a:t>
            </a:r>
            <a:r>
              <a:rPr lang="en-IN" i="1" dirty="0" err="1">
                <a:solidFill>
                  <a:schemeClr val="tx1"/>
                </a:solidFill>
              </a:rPr>
              <a:t>dna</a:t>
            </a:r>
            <a:r>
              <a:rPr lang="en-IN" i="1" dirty="0">
                <a:solidFill>
                  <a:schemeClr val="tx1"/>
                </a:solidFill>
              </a:rPr>
              <a:t> </a:t>
            </a:r>
            <a:r>
              <a:rPr lang="en-IN" i="1" dirty="0" err="1">
                <a:solidFill>
                  <a:schemeClr val="tx1"/>
                </a:solidFill>
              </a:rPr>
              <a:t>gnireenigne</a:t>
            </a:r>
            <a:r>
              <a:rPr lang="en-IN" i="1" dirty="0">
                <a:solidFill>
                  <a:schemeClr val="tx1"/>
                </a:solidFill>
              </a:rPr>
              <a:t> </a:t>
            </a:r>
            <a:r>
              <a:rPr lang="en-IN" i="1" dirty="0" err="1">
                <a:solidFill>
                  <a:schemeClr val="tx1"/>
                </a:solidFill>
              </a:rPr>
              <a:t>fo</a:t>
            </a:r>
            <a:r>
              <a:rPr lang="en-IN" i="1" dirty="0">
                <a:solidFill>
                  <a:schemeClr val="tx1"/>
                </a:solidFill>
              </a:rPr>
              <a:t> </a:t>
            </a:r>
            <a:r>
              <a:rPr lang="en-IN" i="1" dirty="0" err="1">
                <a:solidFill>
                  <a:schemeClr val="tx1"/>
                </a:solidFill>
              </a:rPr>
              <a:t>etutitsni</a:t>
            </a:r>
            <a:r>
              <a:rPr lang="en-IN" i="1" dirty="0">
                <a:solidFill>
                  <a:schemeClr val="tx1"/>
                </a:solidFill>
              </a:rPr>
              <a:t> </a:t>
            </a:r>
            <a:r>
              <a:rPr lang="en-IN" i="1" dirty="0" err="1">
                <a:solidFill>
                  <a:schemeClr val="tx1"/>
                </a:solidFill>
              </a:rPr>
              <a:t>nahsrad</a:t>
            </a:r>
            <a:endParaRPr lang="en-US" b="1" i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build="p" animBg="1"/>
      <p:bldP spid="6" grpId="0" animBg="1"/>
      <p:bldP spid="14" grpId="0" build="p" animBg="1"/>
      <p:bldP spid="15" grpId="0" animBg="1"/>
      <p:bldP spid="16" grpId="0" animBg="1"/>
      <p:bldP spid="17" grpId="0" animBg="1"/>
      <p:bldP spid="17" grpId="1" animBg="1"/>
      <p:bldP spid="12" grpId="0" animBg="1"/>
      <p:bldP spid="12" grpId="1" animBg="1"/>
      <p:bldP spid="13" grpId="0" animBg="1"/>
      <p:bldP spid="13" grpId="1" animBg="1"/>
      <p:bldP spid="18" grpId="0" animBg="1"/>
      <p:bldP spid="18" grpId="1" animBg="1"/>
      <p:bldP spid="19" grpId="0" animBg="1"/>
      <p:bldP spid="19" grpId="1" animBg="1"/>
      <p:bldP spid="20" grpId="0" animBg="1"/>
      <p:bldP spid="20" grpId="1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String Methods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Python has lots of </a:t>
            </a:r>
            <a:r>
              <a:rPr lang="en-US" dirty="0">
                <a:solidFill>
                  <a:srgbClr val="C00000"/>
                </a:solidFill>
              </a:rPr>
              <a:t>built-in methods </a:t>
            </a:r>
            <a:r>
              <a:rPr lang="en-US" dirty="0"/>
              <a:t>that you can use on strings, we are going to cover some frequently used methods for string like</a:t>
            </a:r>
          </a:p>
          <a:p>
            <a:pPr lvl="1"/>
            <a:r>
              <a:rPr lang="en-IN" b="1" dirty="0" err="1">
                <a:solidFill>
                  <a:srgbClr val="C00000"/>
                </a:solidFill>
              </a:rPr>
              <a:t>len</a:t>
            </a:r>
            <a:r>
              <a:rPr lang="en-IN" b="1" dirty="0">
                <a:solidFill>
                  <a:srgbClr val="C00000"/>
                </a:solidFill>
              </a:rPr>
              <a:t>()</a:t>
            </a:r>
          </a:p>
          <a:p>
            <a:pPr lvl="1"/>
            <a:r>
              <a:rPr lang="en-IN" dirty="0"/>
              <a:t>count()</a:t>
            </a:r>
          </a:p>
          <a:p>
            <a:pPr lvl="1"/>
            <a:r>
              <a:rPr lang="en-IN" dirty="0"/>
              <a:t>title(), lower(), upper()</a:t>
            </a:r>
          </a:p>
          <a:p>
            <a:pPr lvl="1"/>
            <a:r>
              <a:rPr lang="en-IN" dirty="0" err="1"/>
              <a:t>istitle</a:t>
            </a:r>
            <a:r>
              <a:rPr lang="en-IN" dirty="0"/>
              <a:t>(), </a:t>
            </a:r>
            <a:r>
              <a:rPr lang="en-IN" dirty="0" err="1"/>
              <a:t>islower</a:t>
            </a:r>
            <a:r>
              <a:rPr lang="en-IN" dirty="0"/>
              <a:t>(), </a:t>
            </a:r>
            <a:r>
              <a:rPr lang="en-IN" dirty="0" err="1"/>
              <a:t>isupper</a:t>
            </a:r>
            <a:r>
              <a:rPr lang="en-IN" dirty="0"/>
              <a:t>()</a:t>
            </a:r>
          </a:p>
          <a:p>
            <a:pPr lvl="1"/>
            <a:r>
              <a:rPr lang="en-IN" dirty="0"/>
              <a:t>find(), </a:t>
            </a:r>
            <a:r>
              <a:rPr lang="en-IN" dirty="0" err="1"/>
              <a:t>rfind</a:t>
            </a:r>
            <a:r>
              <a:rPr lang="en-IN" dirty="0"/>
              <a:t>(), replace()</a:t>
            </a:r>
          </a:p>
          <a:p>
            <a:pPr lvl="1"/>
            <a:r>
              <a:rPr lang="en-IN" dirty="0"/>
              <a:t>index(), </a:t>
            </a:r>
            <a:r>
              <a:rPr lang="en-IN" dirty="0" err="1"/>
              <a:t>rindex</a:t>
            </a:r>
            <a:r>
              <a:rPr lang="en-IN" dirty="0"/>
              <a:t>()</a:t>
            </a:r>
          </a:p>
          <a:p>
            <a:pPr lvl="1"/>
            <a:r>
              <a:rPr lang="en-IN" dirty="0"/>
              <a:t>Methods for validations like</a:t>
            </a:r>
          </a:p>
          <a:p>
            <a:pPr lvl="2"/>
            <a:r>
              <a:rPr lang="en-IN" dirty="0" err="1"/>
              <a:t>isalpha</a:t>
            </a:r>
            <a:r>
              <a:rPr lang="en-IN" dirty="0"/>
              <a:t>(), </a:t>
            </a:r>
            <a:r>
              <a:rPr lang="en-IN" dirty="0" err="1"/>
              <a:t>isalnum</a:t>
            </a:r>
            <a:r>
              <a:rPr lang="en-IN" dirty="0"/>
              <a:t>(), </a:t>
            </a:r>
            <a:r>
              <a:rPr lang="en-IN" dirty="0" err="1"/>
              <a:t>isdecimal</a:t>
            </a:r>
            <a:r>
              <a:rPr lang="en-IN" dirty="0"/>
              <a:t>(), </a:t>
            </a:r>
            <a:r>
              <a:rPr lang="en-IN" dirty="0" err="1"/>
              <a:t>isdigit</a:t>
            </a:r>
            <a:r>
              <a:rPr lang="en-IN" dirty="0"/>
              <a:t>()</a:t>
            </a:r>
          </a:p>
          <a:p>
            <a:pPr lvl="1"/>
            <a:r>
              <a:rPr lang="en-IN" dirty="0"/>
              <a:t>strip(), </a:t>
            </a:r>
            <a:r>
              <a:rPr lang="en-IN" dirty="0" err="1"/>
              <a:t>lstrip</a:t>
            </a:r>
            <a:r>
              <a:rPr lang="en-IN" dirty="0"/>
              <a:t>(), </a:t>
            </a:r>
            <a:r>
              <a:rPr lang="en-IN" dirty="0" err="1"/>
              <a:t>rstrip</a:t>
            </a:r>
            <a:r>
              <a:rPr lang="en-IN" dirty="0"/>
              <a:t>()</a:t>
            </a:r>
          </a:p>
          <a:p>
            <a:pPr lvl="1"/>
            <a:r>
              <a:rPr lang="en-IN" dirty="0"/>
              <a:t>split()</a:t>
            </a:r>
          </a:p>
          <a:p>
            <a:pPr lvl="1"/>
            <a:r>
              <a:rPr lang="en-IN" dirty="0"/>
              <a:t>Etc..</a:t>
            </a:r>
          </a:p>
          <a:p>
            <a:r>
              <a:rPr lang="en-IN" b="1" dirty="0"/>
              <a:t>Note</a:t>
            </a:r>
            <a:r>
              <a:rPr lang="en-IN" dirty="0"/>
              <a:t> : </a:t>
            </a:r>
            <a:r>
              <a:rPr lang="en-IN" dirty="0" err="1"/>
              <a:t>len</a:t>
            </a:r>
            <a:r>
              <a:rPr lang="en-IN" dirty="0"/>
              <a:t>() is not the method of the string but can be used to get the </a:t>
            </a:r>
            <a:r>
              <a:rPr lang="en-IN" dirty="0">
                <a:solidFill>
                  <a:srgbClr val="C00000"/>
                </a:solidFill>
              </a:rPr>
              <a:t>length of the string</a:t>
            </a:r>
          </a:p>
          <a:p>
            <a:pPr lvl="1">
              <a:buNone/>
            </a:pP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56EBDA-49A4-A843-A786-6989C63A54AA}"/>
              </a:ext>
            </a:extLst>
          </p:cNvPr>
          <p:cNvSpPr/>
          <p:nvPr/>
        </p:nvSpPr>
        <p:spPr>
          <a:xfrm>
            <a:off x="1012002" y="6024043"/>
            <a:ext cx="8472276" cy="5847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x = 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"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Darshan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"</a:t>
            </a:r>
            <a:endParaRPr lang="en-US" sz="1600" dirty="0">
              <a:solidFill>
                <a:srgbClr val="000000"/>
              </a:solidFill>
              <a:latin typeface="Consolas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print(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len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(x))</a:t>
            </a:r>
            <a:endParaRPr lang="en-US" sz="1600" b="0" dirty="0">
              <a:solidFill>
                <a:srgbClr val="000000"/>
              </a:solidFill>
              <a:latin typeface="Consola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F9F4A0-4592-C04D-B2D0-0BF66A3BFA20}"/>
              </a:ext>
            </a:extLst>
          </p:cNvPr>
          <p:cNvSpPr/>
          <p:nvPr/>
        </p:nvSpPr>
        <p:spPr>
          <a:xfrm>
            <a:off x="512009" y="6024043"/>
            <a:ext cx="499993" cy="5847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0336C271-A2A3-9445-9946-5006F0A250F4}"/>
              </a:ext>
            </a:extLst>
          </p:cNvPr>
          <p:cNvSpPr/>
          <p:nvPr/>
        </p:nvSpPr>
        <p:spPr>
          <a:xfrm>
            <a:off x="512009" y="5694859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lendemo.py</a:t>
            </a:r>
          </a:p>
        </p:txBody>
      </p:sp>
      <p:sp>
        <p:nvSpPr>
          <p:cNvPr id="7" name="Line Callout 1 6"/>
          <p:cNvSpPr/>
          <p:nvPr/>
        </p:nvSpPr>
        <p:spPr>
          <a:xfrm>
            <a:off x="3346258" y="5828534"/>
            <a:ext cx="4495800" cy="626533"/>
          </a:xfrm>
          <a:prstGeom prst="borderCallout1">
            <a:avLst>
              <a:gd name="adj1" fmla="val 53885"/>
              <a:gd name="adj2" fmla="val -612"/>
              <a:gd name="adj3" fmla="val 89527"/>
              <a:gd name="adj4" fmla="val -14792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Output : 7 (length of “</a:t>
            </a:r>
            <a:r>
              <a:rPr lang="en-IN" dirty="0" err="1">
                <a:solidFill>
                  <a:schemeClr val="tx1"/>
                </a:solidFill>
              </a:rPr>
              <a:t>Darshan</a:t>
            </a:r>
            <a:r>
              <a:rPr lang="en-IN" dirty="0">
                <a:solidFill>
                  <a:schemeClr val="tx1"/>
                </a:solidFill>
              </a:rPr>
              <a:t>”)</a:t>
            </a:r>
            <a:endParaRPr 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build="p" animBg="1"/>
      <p:bldP spid="5" grpId="0" animBg="1"/>
      <p:bldP spid="6" grpId="0" animBg="1"/>
      <p:bldP spid="7" grpId="0" animBg="1"/>
      <p:bldP spid="7" grpId="1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String Methods (cont.)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count</a:t>
            </a:r>
            <a:r>
              <a:rPr lang="en-IN" dirty="0"/>
              <a:t>() method will </a:t>
            </a:r>
            <a:r>
              <a:rPr lang="en-US" dirty="0"/>
              <a:t>returns the number of times a </a:t>
            </a:r>
            <a:r>
              <a:rPr lang="en-US" dirty="0">
                <a:solidFill>
                  <a:srgbClr val="C00000"/>
                </a:solidFill>
              </a:rPr>
              <a:t>specified value occurs </a:t>
            </a:r>
            <a:r>
              <a:rPr lang="en-US" dirty="0"/>
              <a:t>in a string.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pPr marL="265113" lvl="1" indent="-265113">
              <a:spcBef>
                <a:spcPts val="1000"/>
              </a:spcBef>
              <a:buFont typeface="Wingdings 3" panose="05040102010807070707" pitchFamily="18" charset="2"/>
              <a:buChar char=""/>
            </a:pPr>
            <a:r>
              <a:rPr lang="en-IN" sz="2400" b="1" dirty="0"/>
              <a:t>title</a:t>
            </a:r>
            <a:r>
              <a:rPr lang="en-IN" sz="2400" dirty="0"/>
              <a:t>(), </a:t>
            </a:r>
            <a:r>
              <a:rPr lang="en-IN" sz="2400" b="1" dirty="0"/>
              <a:t>lower</a:t>
            </a:r>
            <a:r>
              <a:rPr lang="en-IN" sz="2400" dirty="0"/>
              <a:t>(), </a:t>
            </a:r>
            <a:r>
              <a:rPr lang="en-IN" sz="2400" b="1" dirty="0"/>
              <a:t>upper</a:t>
            </a:r>
            <a:r>
              <a:rPr lang="en-IN" sz="2400" dirty="0"/>
              <a:t>()</a:t>
            </a:r>
            <a:r>
              <a:rPr lang="en-US" sz="2400" dirty="0"/>
              <a:t> will returns </a:t>
            </a:r>
            <a:r>
              <a:rPr lang="en-US" sz="2400" dirty="0">
                <a:solidFill>
                  <a:srgbClr val="C00000"/>
                </a:solidFill>
              </a:rPr>
              <a:t>capitalized, lower case and upper case </a:t>
            </a:r>
            <a:r>
              <a:rPr lang="en-US" sz="2400" dirty="0"/>
              <a:t>string respectively.</a:t>
            </a:r>
          </a:p>
          <a:p>
            <a:pPr marL="265113" lvl="1" indent="-265113">
              <a:spcBef>
                <a:spcPts val="1000"/>
              </a:spcBef>
              <a:buFont typeface="Wingdings 3" panose="05040102010807070707" pitchFamily="18" charset="2"/>
              <a:buChar char=""/>
            </a:pPr>
            <a:endParaRPr lang="en-IN" sz="2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56EBDA-49A4-A843-A786-6989C63A54AA}"/>
              </a:ext>
            </a:extLst>
          </p:cNvPr>
          <p:cNvSpPr/>
          <p:nvPr/>
        </p:nvSpPr>
        <p:spPr>
          <a:xfrm>
            <a:off x="1022635" y="1598979"/>
            <a:ext cx="8472276" cy="85847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x = 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"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Darshan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"</a:t>
            </a:r>
            <a:endParaRPr lang="en-US" sz="1600" dirty="0">
              <a:solidFill>
                <a:srgbClr val="000000"/>
              </a:solidFill>
              <a:latin typeface="Consolas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ca = 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x.count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'a'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print(ca)</a:t>
            </a:r>
            <a:endParaRPr lang="en-US" sz="1600" b="0" dirty="0">
              <a:solidFill>
                <a:srgbClr val="000000"/>
              </a:solidFill>
              <a:latin typeface="Consola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F9F4A0-4592-C04D-B2D0-0BF66A3BFA20}"/>
              </a:ext>
            </a:extLst>
          </p:cNvPr>
          <p:cNvSpPr/>
          <p:nvPr/>
        </p:nvSpPr>
        <p:spPr>
          <a:xfrm>
            <a:off x="522642" y="1598979"/>
            <a:ext cx="499993" cy="83099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0336C271-A2A3-9445-9946-5006F0A250F4}"/>
              </a:ext>
            </a:extLst>
          </p:cNvPr>
          <p:cNvSpPr/>
          <p:nvPr/>
        </p:nvSpPr>
        <p:spPr>
          <a:xfrm>
            <a:off x="522642" y="1269795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countdemo.py</a:t>
            </a:r>
          </a:p>
        </p:txBody>
      </p:sp>
      <p:sp>
        <p:nvSpPr>
          <p:cNvPr id="7" name="Line Callout 1 6"/>
          <p:cNvSpPr/>
          <p:nvPr/>
        </p:nvSpPr>
        <p:spPr>
          <a:xfrm>
            <a:off x="3728366" y="1679695"/>
            <a:ext cx="4495800" cy="626533"/>
          </a:xfrm>
          <a:prstGeom prst="borderCallout1">
            <a:avLst>
              <a:gd name="adj1" fmla="val 53885"/>
              <a:gd name="adj2" fmla="val -612"/>
              <a:gd name="adj3" fmla="val 98649"/>
              <a:gd name="adj4" fmla="val -33436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Output : 2 (occurrence of ‘a’ in “</a:t>
            </a:r>
            <a:r>
              <a:rPr lang="en-IN" dirty="0" err="1">
                <a:solidFill>
                  <a:schemeClr val="tx1"/>
                </a:solidFill>
              </a:rPr>
              <a:t>Darshan</a:t>
            </a:r>
            <a:r>
              <a:rPr lang="en-IN" dirty="0">
                <a:solidFill>
                  <a:schemeClr val="tx1"/>
                </a:solidFill>
              </a:rPr>
              <a:t>”)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456EBDA-49A4-A843-A786-6989C63A54AA}"/>
              </a:ext>
            </a:extLst>
          </p:cNvPr>
          <p:cNvSpPr/>
          <p:nvPr/>
        </p:nvSpPr>
        <p:spPr>
          <a:xfrm>
            <a:off x="1041471" y="3826759"/>
            <a:ext cx="8472276" cy="18466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x = 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"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darshan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 Institute, 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rajkot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"</a:t>
            </a:r>
            <a:endParaRPr lang="en-US" sz="1600" dirty="0">
              <a:solidFill>
                <a:srgbClr val="000000"/>
              </a:solidFill>
              <a:latin typeface="Consolas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c = </a:t>
            </a:r>
            <a:r>
              <a:rPr lang="en-US" sz="1600">
                <a:solidFill>
                  <a:srgbClr val="000000"/>
                </a:solidFill>
                <a:latin typeface="Consolas"/>
              </a:rPr>
              <a:t>x.title()</a:t>
            </a:r>
            <a:endParaRPr lang="en-US" sz="1600" dirty="0">
              <a:solidFill>
                <a:srgbClr val="000000"/>
              </a:solidFill>
              <a:latin typeface="Consolas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l = 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x.lower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()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u = 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x.upper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()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print(c)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print(l)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print(u)</a:t>
            </a:r>
            <a:endParaRPr lang="en-US" sz="1600" b="0" dirty="0">
              <a:solidFill>
                <a:srgbClr val="000000"/>
              </a:solidFill>
              <a:latin typeface="Consola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5F9F4A0-4592-C04D-B2D0-0BF66A3BFA20}"/>
              </a:ext>
            </a:extLst>
          </p:cNvPr>
          <p:cNvSpPr/>
          <p:nvPr/>
        </p:nvSpPr>
        <p:spPr>
          <a:xfrm>
            <a:off x="541478" y="3826759"/>
            <a:ext cx="499993" cy="181588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7</a:t>
            </a:r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10" name="Rectangle: Top Corners Rounded 6">
            <a:extLst>
              <a:ext uri="{FF2B5EF4-FFF2-40B4-BE49-F238E27FC236}">
                <a16:creationId xmlns:a16="http://schemas.microsoft.com/office/drawing/2014/main" id="{0336C271-A2A3-9445-9946-5006F0A250F4}"/>
              </a:ext>
            </a:extLst>
          </p:cNvPr>
          <p:cNvSpPr/>
          <p:nvPr/>
        </p:nvSpPr>
        <p:spPr>
          <a:xfrm>
            <a:off x="541478" y="3497575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changecase.py</a:t>
            </a:r>
          </a:p>
        </p:txBody>
      </p:sp>
      <p:sp>
        <p:nvSpPr>
          <p:cNvPr id="11" name="Line Callout 1 10"/>
          <p:cNvSpPr/>
          <p:nvPr/>
        </p:nvSpPr>
        <p:spPr>
          <a:xfrm>
            <a:off x="4723247" y="3917751"/>
            <a:ext cx="4495800" cy="510412"/>
          </a:xfrm>
          <a:prstGeom prst="borderCallout1">
            <a:avLst>
              <a:gd name="adj1" fmla="val 53885"/>
              <a:gd name="adj2" fmla="val -612"/>
              <a:gd name="adj3" fmla="val 204649"/>
              <a:gd name="adj4" fmla="val -59031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Output : </a:t>
            </a:r>
            <a:r>
              <a:rPr lang="en-IN" dirty="0" err="1">
                <a:solidFill>
                  <a:schemeClr val="tx1"/>
                </a:solidFill>
              </a:rPr>
              <a:t>Darshan</a:t>
            </a:r>
            <a:r>
              <a:rPr lang="en-IN" dirty="0">
                <a:solidFill>
                  <a:schemeClr val="tx1"/>
                </a:solidFill>
              </a:rPr>
              <a:t> Institute, Rajkot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2" name="Line Callout 1 11"/>
          <p:cNvSpPr/>
          <p:nvPr/>
        </p:nvSpPr>
        <p:spPr>
          <a:xfrm>
            <a:off x="4721535" y="4501666"/>
            <a:ext cx="4495800" cy="510412"/>
          </a:xfrm>
          <a:prstGeom prst="borderCallout1">
            <a:avLst>
              <a:gd name="adj1" fmla="val 53885"/>
              <a:gd name="adj2" fmla="val -612"/>
              <a:gd name="adj3" fmla="val 140236"/>
              <a:gd name="adj4" fmla="val -59031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Output : </a:t>
            </a:r>
            <a:r>
              <a:rPr lang="en-IN" dirty="0" err="1">
                <a:solidFill>
                  <a:schemeClr val="tx1"/>
                </a:solidFill>
              </a:rPr>
              <a:t>darshan</a:t>
            </a:r>
            <a:r>
              <a:rPr lang="en-IN" dirty="0">
                <a:solidFill>
                  <a:schemeClr val="tx1"/>
                </a:solidFill>
              </a:rPr>
              <a:t> institute, </a:t>
            </a:r>
            <a:r>
              <a:rPr lang="en-IN" dirty="0" err="1">
                <a:solidFill>
                  <a:schemeClr val="tx1"/>
                </a:solidFill>
              </a:rPr>
              <a:t>rajkot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3" name="Line Callout 1 12"/>
          <p:cNvSpPr/>
          <p:nvPr/>
        </p:nvSpPr>
        <p:spPr>
          <a:xfrm>
            <a:off x="4740371" y="5085580"/>
            <a:ext cx="4495800" cy="510412"/>
          </a:xfrm>
          <a:prstGeom prst="borderCallout1">
            <a:avLst>
              <a:gd name="adj1" fmla="val 53885"/>
              <a:gd name="adj2" fmla="val -612"/>
              <a:gd name="adj3" fmla="val 71797"/>
              <a:gd name="adj4" fmla="val -59488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Output : DARSHAN INSTITUTE, RAJKOT</a:t>
            </a:r>
            <a:endParaRPr 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build="p" animBg="1"/>
      <p:bldP spid="5" grpId="0" animBg="1"/>
      <p:bldP spid="6" grpId="0" animBg="1"/>
      <p:bldP spid="7" grpId="0" animBg="1"/>
      <p:bldP spid="7" grpId="1" animBg="1"/>
      <p:bldP spid="8" grpId="0" build="p" animBg="1"/>
      <p:bldP spid="9" grpId="0" animBg="1"/>
      <p:bldP spid="10" grpId="0" animBg="1"/>
      <p:bldP spid="11" grpId="0" animBg="1"/>
      <p:bldP spid="11" grpId="1" animBg="1"/>
      <p:bldP spid="12" grpId="0" animBg="1"/>
      <p:bldP spid="12" grpId="1" animBg="1"/>
      <p:bldP spid="13" grpId="0" animBg="1"/>
      <p:bldP spid="13" grpId="1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String Methods (cont.)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65113" lvl="1" indent="-265113">
              <a:spcBef>
                <a:spcPts val="1000"/>
              </a:spcBef>
              <a:buFont typeface="Wingdings 3" panose="05040102010807070707" pitchFamily="18" charset="2"/>
              <a:buChar char=""/>
            </a:pPr>
            <a:r>
              <a:rPr lang="en-IN" sz="2400" b="1" dirty="0" err="1"/>
              <a:t>istitle</a:t>
            </a:r>
            <a:r>
              <a:rPr lang="en-IN" sz="2400" dirty="0"/>
              <a:t>(), </a:t>
            </a:r>
            <a:r>
              <a:rPr lang="en-IN" sz="2400" b="1" dirty="0" err="1"/>
              <a:t>islower</a:t>
            </a:r>
            <a:r>
              <a:rPr lang="en-IN" sz="2400" dirty="0"/>
              <a:t>(), </a:t>
            </a:r>
            <a:r>
              <a:rPr lang="en-IN" sz="2400" b="1" dirty="0" err="1"/>
              <a:t>isupper</a:t>
            </a:r>
            <a:r>
              <a:rPr lang="en-IN" sz="2400" dirty="0"/>
              <a:t>()</a:t>
            </a:r>
            <a:r>
              <a:rPr lang="en-US" sz="2400" dirty="0"/>
              <a:t> will returns True if the given string is </a:t>
            </a:r>
            <a:r>
              <a:rPr lang="en-US" sz="2400" dirty="0">
                <a:solidFill>
                  <a:srgbClr val="C00000"/>
                </a:solidFill>
              </a:rPr>
              <a:t>capitalized, lower case and upper case</a:t>
            </a:r>
            <a:r>
              <a:rPr lang="en-US" sz="2400" dirty="0"/>
              <a:t> respectively.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pPr marL="265113" lvl="1" indent="-265113">
              <a:spcBef>
                <a:spcPts val="1000"/>
              </a:spcBef>
              <a:buFont typeface="Wingdings 3" panose="05040102010807070707" pitchFamily="18" charset="2"/>
              <a:buChar char=""/>
            </a:pPr>
            <a:endParaRPr lang="en-IN" sz="2400" dirty="0"/>
          </a:p>
          <a:p>
            <a:pPr marL="265113" lvl="1" indent="-265113">
              <a:spcBef>
                <a:spcPts val="1000"/>
              </a:spcBef>
              <a:buFont typeface="Wingdings 3" panose="05040102010807070707" pitchFamily="18" charset="2"/>
              <a:buChar char=""/>
            </a:pPr>
            <a:endParaRPr lang="en-IN" sz="2400" dirty="0"/>
          </a:p>
          <a:p>
            <a:pPr marL="265113" lvl="1" indent="-265113">
              <a:spcBef>
                <a:spcPts val="1000"/>
              </a:spcBef>
              <a:buFont typeface="Wingdings 3" panose="05040102010807070707" pitchFamily="18" charset="2"/>
              <a:buChar char=""/>
            </a:pPr>
            <a:r>
              <a:rPr lang="en-IN" sz="2400" b="1" dirty="0"/>
              <a:t>strip</a:t>
            </a:r>
            <a:r>
              <a:rPr lang="en-IN" sz="2400" dirty="0"/>
              <a:t>() method will </a:t>
            </a:r>
            <a:r>
              <a:rPr lang="en-US" sz="2400" dirty="0">
                <a:solidFill>
                  <a:srgbClr val="C00000"/>
                </a:solidFill>
              </a:rPr>
              <a:t>remove whitespaces from both</a:t>
            </a:r>
            <a:r>
              <a:rPr lang="en-US" sz="2400" dirty="0"/>
              <a:t> side of the string and returns the string.</a:t>
            </a:r>
          </a:p>
          <a:p>
            <a:pPr marL="265113" lvl="1" indent="-265113">
              <a:spcBef>
                <a:spcPts val="1000"/>
              </a:spcBef>
              <a:buFont typeface="Wingdings 3" panose="05040102010807070707" pitchFamily="18" charset="2"/>
              <a:buChar char=""/>
            </a:pPr>
            <a:endParaRPr lang="en-IN" sz="2400" dirty="0"/>
          </a:p>
          <a:p>
            <a:pPr marL="265113" lvl="1" indent="-265113">
              <a:spcBef>
                <a:spcPts val="1000"/>
              </a:spcBef>
              <a:buFont typeface="Wingdings 3" panose="05040102010807070707" pitchFamily="18" charset="2"/>
              <a:buChar char=""/>
            </a:pPr>
            <a:endParaRPr lang="en-IN" sz="2400" dirty="0"/>
          </a:p>
          <a:p>
            <a:pPr marL="265113" lvl="1" indent="-265113">
              <a:spcBef>
                <a:spcPts val="1000"/>
              </a:spcBef>
              <a:buFont typeface="Wingdings 3" panose="05040102010807070707" pitchFamily="18" charset="2"/>
              <a:buChar char=""/>
            </a:pPr>
            <a:endParaRPr lang="en-IN" sz="2400" dirty="0"/>
          </a:p>
          <a:p>
            <a:pPr marL="265113" lvl="1" indent="-265113">
              <a:spcBef>
                <a:spcPts val="1000"/>
              </a:spcBef>
              <a:buFont typeface="Wingdings 3" panose="05040102010807070707" pitchFamily="18" charset="2"/>
              <a:buChar char=""/>
            </a:pPr>
            <a:r>
              <a:rPr lang="en-IN" sz="2400" b="1" dirty="0" err="1"/>
              <a:t>rstrip</a:t>
            </a:r>
            <a:r>
              <a:rPr lang="en-IN" sz="2400" dirty="0"/>
              <a:t>() and </a:t>
            </a:r>
            <a:r>
              <a:rPr lang="en-IN" sz="2400" b="1" dirty="0" err="1"/>
              <a:t>lstrip</a:t>
            </a:r>
            <a:r>
              <a:rPr lang="en-IN" sz="2400" dirty="0"/>
              <a:t>() will remove whitespaces from </a:t>
            </a:r>
            <a:r>
              <a:rPr lang="en-IN" sz="2400" dirty="0">
                <a:solidFill>
                  <a:srgbClr val="C00000"/>
                </a:solidFill>
              </a:rPr>
              <a:t>right and left </a:t>
            </a:r>
            <a:r>
              <a:rPr lang="en-IN" sz="2400" dirty="0"/>
              <a:t>side respectively.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56EBDA-49A4-A843-A786-6989C63A54AA}"/>
              </a:ext>
            </a:extLst>
          </p:cNvPr>
          <p:cNvSpPr/>
          <p:nvPr/>
        </p:nvSpPr>
        <p:spPr>
          <a:xfrm>
            <a:off x="1005702" y="4771862"/>
            <a:ext cx="8472276" cy="86177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x = 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     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Darshan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  '</a:t>
            </a:r>
            <a:endParaRPr lang="en-US" sz="1600" dirty="0">
              <a:solidFill>
                <a:srgbClr val="000000"/>
              </a:solidFill>
              <a:latin typeface="Consolas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f = 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x.strip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()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print(f)</a:t>
            </a:r>
            <a:endParaRPr lang="en-US" sz="1600" b="0" dirty="0">
              <a:solidFill>
                <a:srgbClr val="000000"/>
              </a:solidFill>
              <a:latin typeface="Consola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F9F4A0-4592-C04D-B2D0-0BF66A3BFA20}"/>
              </a:ext>
            </a:extLst>
          </p:cNvPr>
          <p:cNvSpPr/>
          <p:nvPr/>
        </p:nvSpPr>
        <p:spPr>
          <a:xfrm>
            <a:off x="505709" y="4771862"/>
            <a:ext cx="499993" cy="83099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0336C271-A2A3-9445-9946-5006F0A250F4}"/>
              </a:ext>
            </a:extLst>
          </p:cNvPr>
          <p:cNvSpPr/>
          <p:nvPr/>
        </p:nvSpPr>
        <p:spPr>
          <a:xfrm>
            <a:off x="505709" y="4442678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stripdemo.py</a:t>
            </a:r>
          </a:p>
        </p:txBody>
      </p:sp>
      <p:sp>
        <p:nvSpPr>
          <p:cNvPr id="7" name="Line Callout 1 6"/>
          <p:cNvSpPr/>
          <p:nvPr/>
        </p:nvSpPr>
        <p:spPr>
          <a:xfrm>
            <a:off x="3711433" y="4852578"/>
            <a:ext cx="4495800" cy="626533"/>
          </a:xfrm>
          <a:prstGeom prst="borderCallout1">
            <a:avLst>
              <a:gd name="adj1" fmla="val 53885"/>
              <a:gd name="adj2" fmla="val -612"/>
              <a:gd name="adj3" fmla="val 98649"/>
              <a:gd name="adj4" fmla="val -33436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Output : </a:t>
            </a:r>
            <a:r>
              <a:rPr lang="en-IN" i="1" dirty="0" err="1">
                <a:solidFill>
                  <a:schemeClr val="tx1"/>
                </a:solidFill>
              </a:rPr>
              <a:t>Darshan</a:t>
            </a:r>
            <a:r>
              <a:rPr lang="en-IN" dirty="0">
                <a:solidFill>
                  <a:schemeClr val="tx1"/>
                </a:solidFill>
              </a:rPr>
              <a:t> (without space)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456EBDA-49A4-A843-A786-6989C63A54AA}"/>
              </a:ext>
            </a:extLst>
          </p:cNvPr>
          <p:cNvSpPr/>
          <p:nvPr/>
        </p:nvSpPr>
        <p:spPr>
          <a:xfrm>
            <a:off x="1041471" y="1964093"/>
            <a:ext cx="8472276" cy="18466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x = 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darshan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 institute, 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rajkot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</a:t>
            </a:r>
            <a:endParaRPr lang="en-US" sz="1600" dirty="0">
              <a:solidFill>
                <a:srgbClr val="000000"/>
              </a:solidFill>
              <a:latin typeface="Consolas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c = 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x.istitle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()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l = 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x.islower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()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u = 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x.isupper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()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print(c)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print(l)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print(u)</a:t>
            </a:r>
            <a:endParaRPr lang="en-US" sz="1600" b="0" dirty="0">
              <a:solidFill>
                <a:srgbClr val="000000"/>
              </a:solidFill>
              <a:latin typeface="Consola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5F9F4A0-4592-C04D-B2D0-0BF66A3BFA20}"/>
              </a:ext>
            </a:extLst>
          </p:cNvPr>
          <p:cNvSpPr/>
          <p:nvPr/>
        </p:nvSpPr>
        <p:spPr>
          <a:xfrm>
            <a:off x="541478" y="1964093"/>
            <a:ext cx="499993" cy="181588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7</a:t>
            </a:r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10" name="Rectangle: Top Corners Rounded 6">
            <a:extLst>
              <a:ext uri="{FF2B5EF4-FFF2-40B4-BE49-F238E27FC236}">
                <a16:creationId xmlns:a16="http://schemas.microsoft.com/office/drawing/2014/main" id="{0336C271-A2A3-9445-9946-5006F0A250F4}"/>
              </a:ext>
            </a:extLst>
          </p:cNvPr>
          <p:cNvSpPr/>
          <p:nvPr/>
        </p:nvSpPr>
        <p:spPr>
          <a:xfrm>
            <a:off x="541478" y="1634909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checkcase.py</a:t>
            </a:r>
          </a:p>
        </p:txBody>
      </p:sp>
      <p:sp>
        <p:nvSpPr>
          <p:cNvPr id="11" name="Line Callout 1 10"/>
          <p:cNvSpPr/>
          <p:nvPr/>
        </p:nvSpPr>
        <p:spPr>
          <a:xfrm>
            <a:off x="4723247" y="2055085"/>
            <a:ext cx="4495800" cy="510412"/>
          </a:xfrm>
          <a:prstGeom prst="borderCallout1">
            <a:avLst>
              <a:gd name="adj1" fmla="val 53885"/>
              <a:gd name="adj2" fmla="val -612"/>
              <a:gd name="adj3" fmla="val 204649"/>
              <a:gd name="adj4" fmla="val -59031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Output : </a:t>
            </a:r>
            <a:r>
              <a:rPr lang="en-IN" i="1" dirty="0">
                <a:solidFill>
                  <a:schemeClr val="tx1"/>
                </a:solidFill>
              </a:rPr>
              <a:t>False</a:t>
            </a:r>
            <a:endParaRPr lang="en-US" b="1" i="1" dirty="0">
              <a:solidFill>
                <a:srgbClr val="FF0000"/>
              </a:solidFill>
            </a:endParaRPr>
          </a:p>
        </p:txBody>
      </p:sp>
      <p:sp>
        <p:nvSpPr>
          <p:cNvPr id="12" name="Line Callout 1 11"/>
          <p:cNvSpPr/>
          <p:nvPr/>
        </p:nvSpPr>
        <p:spPr>
          <a:xfrm>
            <a:off x="4721535" y="2639000"/>
            <a:ext cx="4495800" cy="510412"/>
          </a:xfrm>
          <a:prstGeom prst="borderCallout1">
            <a:avLst>
              <a:gd name="adj1" fmla="val 53885"/>
              <a:gd name="adj2" fmla="val -612"/>
              <a:gd name="adj3" fmla="val 140236"/>
              <a:gd name="adj4" fmla="val -59031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Output : </a:t>
            </a:r>
            <a:r>
              <a:rPr lang="en-IN" i="1" dirty="0">
                <a:solidFill>
                  <a:schemeClr val="tx1"/>
                </a:solidFill>
              </a:rPr>
              <a:t>True</a:t>
            </a:r>
            <a:endParaRPr lang="en-US" b="1" i="1" dirty="0">
              <a:solidFill>
                <a:srgbClr val="FF0000"/>
              </a:solidFill>
            </a:endParaRPr>
          </a:p>
        </p:txBody>
      </p:sp>
      <p:sp>
        <p:nvSpPr>
          <p:cNvPr id="13" name="Line Callout 1 12"/>
          <p:cNvSpPr/>
          <p:nvPr/>
        </p:nvSpPr>
        <p:spPr>
          <a:xfrm>
            <a:off x="4740371" y="3222914"/>
            <a:ext cx="4495800" cy="510412"/>
          </a:xfrm>
          <a:prstGeom prst="borderCallout1">
            <a:avLst>
              <a:gd name="adj1" fmla="val 53885"/>
              <a:gd name="adj2" fmla="val -612"/>
              <a:gd name="adj3" fmla="val 71797"/>
              <a:gd name="adj4" fmla="val -59488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Output : </a:t>
            </a:r>
            <a:r>
              <a:rPr lang="en-IN" i="1" dirty="0">
                <a:solidFill>
                  <a:schemeClr val="tx1"/>
                </a:solidFill>
              </a:rPr>
              <a:t>False</a:t>
            </a:r>
            <a:endParaRPr lang="en-US" b="1" i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build="p" animBg="1"/>
      <p:bldP spid="5" grpId="0" animBg="1"/>
      <p:bldP spid="6" grpId="0" animBg="1"/>
      <p:bldP spid="7" grpId="0" animBg="1"/>
      <p:bldP spid="7" grpId="1" animBg="1"/>
      <p:bldP spid="8" grpId="0" uiExpand="1" build="p" animBg="1"/>
      <p:bldP spid="9" grpId="0" animBg="1"/>
      <p:bldP spid="10" grpId="0" animBg="1"/>
      <p:bldP spid="11" grpId="0" animBg="1"/>
      <p:bldP spid="11" grpId="1" animBg="1"/>
      <p:bldP spid="12" grpId="0" animBg="1"/>
      <p:bldP spid="12" grpId="1" animBg="1"/>
      <p:bldP spid="13" grpId="0" animBg="1"/>
      <p:bldP spid="13" grpId="1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String Methods (cont.)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find</a:t>
            </a:r>
            <a:r>
              <a:rPr lang="en-IN" dirty="0"/>
              <a:t>() method will search the string and </a:t>
            </a:r>
            <a:r>
              <a:rPr lang="en-US" dirty="0">
                <a:solidFill>
                  <a:srgbClr val="C00000"/>
                </a:solidFill>
              </a:rPr>
              <a:t>returns the index </a:t>
            </a:r>
            <a:r>
              <a:rPr lang="en-US" dirty="0"/>
              <a:t>at which they find the specified value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b="1" dirty="0" err="1"/>
              <a:t>rfind</a:t>
            </a:r>
            <a:r>
              <a:rPr lang="en-IN" dirty="0"/>
              <a:t>() will search the string and </a:t>
            </a:r>
            <a:r>
              <a:rPr lang="en-US" dirty="0"/>
              <a:t>returns the </a:t>
            </a:r>
            <a:r>
              <a:rPr lang="en-US" dirty="0">
                <a:solidFill>
                  <a:srgbClr val="C00000"/>
                </a:solidFill>
              </a:rPr>
              <a:t>last index</a:t>
            </a:r>
            <a:r>
              <a:rPr lang="en-US" dirty="0"/>
              <a:t> at which they find the specified value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pPr marL="265113" lvl="1" indent="-265113">
              <a:spcBef>
                <a:spcPts val="1000"/>
              </a:spcBef>
              <a:buFont typeface="Wingdings 3" panose="05040102010807070707" pitchFamily="18" charset="2"/>
              <a:buChar char=""/>
            </a:pPr>
            <a:r>
              <a:rPr lang="en-IN" sz="2400" b="1" dirty="0"/>
              <a:t>Note</a:t>
            </a:r>
            <a:r>
              <a:rPr lang="en-IN" sz="2400" dirty="0"/>
              <a:t> : </a:t>
            </a:r>
            <a:r>
              <a:rPr lang="en-IN" sz="2400" b="1" dirty="0"/>
              <a:t>find</a:t>
            </a:r>
            <a:r>
              <a:rPr lang="en-IN" sz="2400" dirty="0"/>
              <a:t>() and </a:t>
            </a:r>
            <a:r>
              <a:rPr lang="en-IN" sz="2400" b="1" dirty="0" err="1"/>
              <a:t>rfind</a:t>
            </a:r>
            <a:r>
              <a:rPr lang="en-IN" sz="2400" dirty="0"/>
              <a:t>() will </a:t>
            </a:r>
            <a:r>
              <a:rPr lang="en-IN" sz="2400" b="1" dirty="0"/>
              <a:t>return -1</a:t>
            </a:r>
            <a:r>
              <a:rPr lang="en-IN" sz="2400" dirty="0"/>
              <a:t> if they are unable to find the given string.</a:t>
            </a:r>
          </a:p>
          <a:p>
            <a:pPr marL="265113" lvl="1" indent="-265113">
              <a:spcBef>
                <a:spcPts val="1000"/>
              </a:spcBef>
              <a:buFont typeface="Wingdings 3" panose="05040102010807070707" pitchFamily="18" charset="2"/>
              <a:buChar char=""/>
            </a:pPr>
            <a:r>
              <a:rPr lang="en-IN" sz="2400" b="1" dirty="0"/>
              <a:t>replace</a:t>
            </a:r>
            <a:r>
              <a:rPr lang="en-IN" sz="2400" dirty="0"/>
              <a:t>() will </a:t>
            </a:r>
            <a:r>
              <a:rPr lang="en-US" sz="2400" dirty="0">
                <a:solidFill>
                  <a:srgbClr val="C00000"/>
                </a:solidFill>
              </a:rPr>
              <a:t>replace</a:t>
            </a:r>
            <a:r>
              <a:rPr lang="en-US" sz="2400" dirty="0"/>
              <a:t> str1 with str2 from our string and return the updated string</a:t>
            </a:r>
            <a:endParaRPr lang="en-IN" sz="2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56EBDA-49A4-A843-A786-6989C63A54AA}"/>
              </a:ext>
            </a:extLst>
          </p:cNvPr>
          <p:cNvSpPr/>
          <p:nvPr/>
        </p:nvSpPr>
        <p:spPr>
          <a:xfrm>
            <a:off x="1022635" y="1598979"/>
            <a:ext cx="8472276" cy="86177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x = 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darshan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 institute, 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rajkot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, 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india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</a:t>
            </a:r>
            <a:endParaRPr lang="en-US" sz="1600" dirty="0">
              <a:solidFill>
                <a:srgbClr val="000000"/>
              </a:solidFill>
              <a:latin typeface="Consolas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f = 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x.find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'in'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print(f)</a:t>
            </a:r>
            <a:endParaRPr lang="en-US" sz="1600" b="0" dirty="0">
              <a:solidFill>
                <a:srgbClr val="000000"/>
              </a:solidFill>
              <a:latin typeface="Consola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F9F4A0-4592-C04D-B2D0-0BF66A3BFA20}"/>
              </a:ext>
            </a:extLst>
          </p:cNvPr>
          <p:cNvSpPr/>
          <p:nvPr/>
        </p:nvSpPr>
        <p:spPr>
          <a:xfrm>
            <a:off x="522642" y="1598979"/>
            <a:ext cx="499993" cy="83099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0336C271-A2A3-9445-9946-5006F0A250F4}"/>
              </a:ext>
            </a:extLst>
          </p:cNvPr>
          <p:cNvSpPr/>
          <p:nvPr/>
        </p:nvSpPr>
        <p:spPr>
          <a:xfrm>
            <a:off x="522642" y="1269795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finddemo.py</a:t>
            </a:r>
          </a:p>
        </p:txBody>
      </p:sp>
      <p:sp>
        <p:nvSpPr>
          <p:cNvPr id="7" name="Line Callout 1 6"/>
          <p:cNvSpPr/>
          <p:nvPr/>
        </p:nvSpPr>
        <p:spPr>
          <a:xfrm>
            <a:off x="5794233" y="1688161"/>
            <a:ext cx="4495800" cy="626533"/>
          </a:xfrm>
          <a:prstGeom prst="borderCallout1">
            <a:avLst>
              <a:gd name="adj1" fmla="val 53885"/>
              <a:gd name="adj2" fmla="val -612"/>
              <a:gd name="adj3" fmla="val 100001"/>
              <a:gd name="adj4" fmla="val -82966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Output : 8 (occurrence of ‘in’  in x)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456EBDA-49A4-A843-A786-6989C63A54AA}"/>
              </a:ext>
            </a:extLst>
          </p:cNvPr>
          <p:cNvSpPr/>
          <p:nvPr/>
        </p:nvSpPr>
        <p:spPr>
          <a:xfrm>
            <a:off x="1022635" y="3427778"/>
            <a:ext cx="8472276" cy="86177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x = 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darshan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 institute, 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rajkot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, 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india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</a:t>
            </a:r>
            <a:endParaRPr lang="en-US" sz="1600" dirty="0">
              <a:solidFill>
                <a:srgbClr val="000000"/>
              </a:solidFill>
              <a:latin typeface="Consolas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r = 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x.rfind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'in'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print(r)</a:t>
            </a:r>
            <a:endParaRPr lang="en-US" sz="1600" b="0" dirty="0">
              <a:solidFill>
                <a:srgbClr val="000000"/>
              </a:solidFill>
              <a:latin typeface="Consola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5F9F4A0-4592-C04D-B2D0-0BF66A3BFA20}"/>
              </a:ext>
            </a:extLst>
          </p:cNvPr>
          <p:cNvSpPr/>
          <p:nvPr/>
        </p:nvSpPr>
        <p:spPr>
          <a:xfrm>
            <a:off x="522642" y="3427778"/>
            <a:ext cx="499993" cy="83099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16" name="Rectangle: Top Corners Rounded 6">
            <a:extLst>
              <a:ext uri="{FF2B5EF4-FFF2-40B4-BE49-F238E27FC236}">
                <a16:creationId xmlns:a16="http://schemas.microsoft.com/office/drawing/2014/main" id="{0336C271-A2A3-9445-9946-5006F0A250F4}"/>
              </a:ext>
            </a:extLst>
          </p:cNvPr>
          <p:cNvSpPr/>
          <p:nvPr/>
        </p:nvSpPr>
        <p:spPr>
          <a:xfrm>
            <a:off x="522642" y="3098594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rfinddemo.py</a:t>
            </a:r>
          </a:p>
        </p:txBody>
      </p:sp>
      <p:sp>
        <p:nvSpPr>
          <p:cNvPr id="17" name="Line Callout 1 16"/>
          <p:cNvSpPr/>
          <p:nvPr/>
        </p:nvSpPr>
        <p:spPr>
          <a:xfrm>
            <a:off x="5794233" y="3516960"/>
            <a:ext cx="4495800" cy="626533"/>
          </a:xfrm>
          <a:prstGeom prst="borderCallout1">
            <a:avLst>
              <a:gd name="adj1" fmla="val 53885"/>
              <a:gd name="adj2" fmla="val -612"/>
              <a:gd name="adj3" fmla="val 100001"/>
              <a:gd name="adj4" fmla="val -82966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Output : 27 (last occurrence of ‘in’  in x)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456EBDA-49A4-A843-A786-6989C63A54AA}"/>
              </a:ext>
            </a:extLst>
          </p:cNvPr>
          <p:cNvSpPr/>
          <p:nvPr/>
        </p:nvSpPr>
        <p:spPr>
          <a:xfrm>
            <a:off x="1022635" y="5696863"/>
            <a:ext cx="8472276" cy="86177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x = 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darshan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 institute, 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rajkot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, 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india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</a:t>
            </a:r>
            <a:endParaRPr lang="en-US" sz="1600" dirty="0">
              <a:solidFill>
                <a:srgbClr val="000000"/>
              </a:solidFill>
              <a:latin typeface="Consolas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r = 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x.replace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india'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,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'INDIA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print(r)</a:t>
            </a:r>
            <a:endParaRPr lang="en-US" sz="1600" b="0" dirty="0">
              <a:solidFill>
                <a:srgbClr val="000000"/>
              </a:solidFill>
              <a:latin typeface="Consolas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5F9F4A0-4592-C04D-B2D0-0BF66A3BFA20}"/>
              </a:ext>
            </a:extLst>
          </p:cNvPr>
          <p:cNvSpPr/>
          <p:nvPr/>
        </p:nvSpPr>
        <p:spPr>
          <a:xfrm>
            <a:off x="522642" y="5688396"/>
            <a:ext cx="499993" cy="83099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20" name="Rectangle: Top Corners Rounded 6">
            <a:extLst>
              <a:ext uri="{FF2B5EF4-FFF2-40B4-BE49-F238E27FC236}">
                <a16:creationId xmlns:a16="http://schemas.microsoft.com/office/drawing/2014/main" id="{0336C271-A2A3-9445-9946-5006F0A250F4}"/>
              </a:ext>
            </a:extLst>
          </p:cNvPr>
          <p:cNvSpPr/>
          <p:nvPr/>
        </p:nvSpPr>
        <p:spPr>
          <a:xfrm>
            <a:off x="522642" y="5359212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replacedemo.py</a:t>
            </a:r>
          </a:p>
        </p:txBody>
      </p:sp>
      <p:sp>
        <p:nvSpPr>
          <p:cNvPr id="21" name="Line Callout 1 20"/>
          <p:cNvSpPr/>
          <p:nvPr/>
        </p:nvSpPr>
        <p:spPr>
          <a:xfrm>
            <a:off x="5794233" y="5786045"/>
            <a:ext cx="4495800" cy="626533"/>
          </a:xfrm>
          <a:prstGeom prst="borderCallout1">
            <a:avLst>
              <a:gd name="adj1" fmla="val 53885"/>
              <a:gd name="adj2" fmla="val -612"/>
              <a:gd name="adj3" fmla="val 100001"/>
              <a:gd name="adj4" fmla="val -82966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Output : </a:t>
            </a:r>
            <a:br>
              <a:rPr lang="en-IN" dirty="0">
                <a:solidFill>
                  <a:schemeClr val="tx1"/>
                </a:solidFill>
              </a:rPr>
            </a:br>
            <a:r>
              <a:rPr lang="en-IN" dirty="0">
                <a:solidFill>
                  <a:schemeClr val="tx1"/>
                </a:solidFill>
              </a:rPr>
              <a:t>“</a:t>
            </a:r>
            <a:r>
              <a:rPr lang="en-IN" dirty="0" err="1">
                <a:solidFill>
                  <a:schemeClr val="tx1"/>
                </a:solidFill>
              </a:rPr>
              <a:t>darshan</a:t>
            </a:r>
            <a:r>
              <a:rPr lang="en-IN" dirty="0">
                <a:solidFill>
                  <a:schemeClr val="tx1"/>
                </a:solidFill>
              </a:rPr>
              <a:t> institute, </a:t>
            </a:r>
            <a:r>
              <a:rPr lang="en-IN" dirty="0" err="1">
                <a:solidFill>
                  <a:schemeClr val="tx1"/>
                </a:solidFill>
              </a:rPr>
              <a:t>rajkot</a:t>
            </a:r>
            <a:r>
              <a:rPr lang="en-IN" dirty="0">
                <a:solidFill>
                  <a:schemeClr val="tx1"/>
                </a:solidFill>
              </a:rPr>
              <a:t>, INDIA”</a:t>
            </a:r>
            <a:endParaRPr 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build="p" animBg="1"/>
      <p:bldP spid="5" grpId="0" animBg="1"/>
      <p:bldP spid="6" grpId="0" animBg="1"/>
      <p:bldP spid="7" grpId="0" animBg="1"/>
      <p:bldP spid="7" grpId="1" animBg="1"/>
      <p:bldP spid="14" grpId="0" build="p" animBg="1"/>
      <p:bldP spid="15" grpId="0" animBg="1"/>
      <p:bldP spid="16" grpId="0" animBg="1"/>
      <p:bldP spid="17" grpId="0" animBg="1"/>
      <p:bldP spid="17" grpId="1" animBg="1"/>
      <p:bldP spid="18" grpId="0" build="p" animBg="1"/>
      <p:bldP spid="19" grpId="0" animBg="1"/>
      <p:bldP spid="20" grpId="0" animBg="1"/>
      <p:bldP spid="21" grpId="0" animBg="1"/>
      <p:bldP spid="21" grpId="1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String Methods (cont.)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index</a:t>
            </a:r>
            <a:r>
              <a:rPr lang="en-IN" dirty="0"/>
              <a:t>() method will search the string and </a:t>
            </a:r>
            <a:r>
              <a:rPr lang="en-US" dirty="0"/>
              <a:t>returns the </a:t>
            </a:r>
            <a:r>
              <a:rPr lang="en-US" dirty="0">
                <a:solidFill>
                  <a:srgbClr val="C00000"/>
                </a:solidFill>
              </a:rPr>
              <a:t>index</a:t>
            </a:r>
            <a:r>
              <a:rPr lang="en-US" dirty="0"/>
              <a:t> at which they find the specified value, but if they are unable to find the string it will raise an exception.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b="1" dirty="0" err="1"/>
              <a:t>rindex</a:t>
            </a:r>
            <a:r>
              <a:rPr lang="en-IN" dirty="0"/>
              <a:t>() will search the string and </a:t>
            </a:r>
            <a:r>
              <a:rPr lang="en-US" dirty="0"/>
              <a:t>returns the </a:t>
            </a:r>
            <a:r>
              <a:rPr lang="en-US" dirty="0">
                <a:solidFill>
                  <a:srgbClr val="C00000"/>
                </a:solidFill>
              </a:rPr>
              <a:t>last index </a:t>
            </a:r>
            <a:r>
              <a:rPr lang="en-US" dirty="0"/>
              <a:t>at which they find the specified value , but if they are unable to find the string it will raise an exception.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Note : </a:t>
            </a:r>
            <a:r>
              <a:rPr lang="en-IN" b="1" dirty="0"/>
              <a:t>find</a:t>
            </a:r>
            <a:r>
              <a:rPr lang="en-IN" dirty="0"/>
              <a:t>() and </a:t>
            </a:r>
            <a:r>
              <a:rPr lang="en-IN" b="1" dirty="0"/>
              <a:t>index</a:t>
            </a:r>
            <a:r>
              <a:rPr lang="en-IN" dirty="0"/>
              <a:t>() are almost same, the only difference is if </a:t>
            </a:r>
            <a:r>
              <a:rPr lang="en-IN" b="1" dirty="0"/>
              <a:t>find</a:t>
            </a:r>
            <a:r>
              <a:rPr lang="en-IN" dirty="0"/>
              <a:t>() is unable to find the string it will </a:t>
            </a:r>
            <a:r>
              <a:rPr lang="en-IN" dirty="0">
                <a:solidFill>
                  <a:srgbClr val="C00000"/>
                </a:solidFill>
              </a:rPr>
              <a:t>return -1 </a:t>
            </a:r>
            <a:r>
              <a:rPr lang="en-IN" dirty="0"/>
              <a:t>and if </a:t>
            </a:r>
            <a:r>
              <a:rPr lang="en-IN" b="1" dirty="0"/>
              <a:t>index</a:t>
            </a:r>
            <a:r>
              <a:rPr lang="en-IN" dirty="0"/>
              <a:t>() is unable to find the </a:t>
            </a:r>
            <a:r>
              <a:rPr lang="en-IN" dirty="0">
                <a:solidFill>
                  <a:srgbClr val="C00000"/>
                </a:solidFill>
              </a:rPr>
              <a:t>string it will raise an exception</a:t>
            </a:r>
            <a:r>
              <a:rPr lang="en-IN" dirty="0"/>
              <a:t>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56EBDA-49A4-A843-A786-6989C63A54AA}"/>
              </a:ext>
            </a:extLst>
          </p:cNvPr>
          <p:cNvSpPr/>
          <p:nvPr/>
        </p:nvSpPr>
        <p:spPr>
          <a:xfrm>
            <a:off x="1022635" y="1895324"/>
            <a:ext cx="8472276" cy="86177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x = 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darshan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 institute, 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rajkot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, 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india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</a:t>
            </a:r>
            <a:endParaRPr lang="en-US" sz="1600" dirty="0">
              <a:solidFill>
                <a:srgbClr val="000000"/>
              </a:solidFill>
              <a:latin typeface="Consolas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f = 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x.index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'in'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print(f)</a:t>
            </a:r>
            <a:endParaRPr lang="en-US" sz="1600" b="0" dirty="0">
              <a:solidFill>
                <a:srgbClr val="000000"/>
              </a:solidFill>
              <a:latin typeface="Consola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F9F4A0-4592-C04D-B2D0-0BF66A3BFA20}"/>
              </a:ext>
            </a:extLst>
          </p:cNvPr>
          <p:cNvSpPr/>
          <p:nvPr/>
        </p:nvSpPr>
        <p:spPr>
          <a:xfrm>
            <a:off x="522642" y="1895324"/>
            <a:ext cx="499993" cy="83099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0336C271-A2A3-9445-9946-5006F0A250F4}"/>
              </a:ext>
            </a:extLst>
          </p:cNvPr>
          <p:cNvSpPr/>
          <p:nvPr/>
        </p:nvSpPr>
        <p:spPr>
          <a:xfrm>
            <a:off x="522642" y="1566140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indexdemo.py</a:t>
            </a:r>
          </a:p>
        </p:txBody>
      </p:sp>
      <p:sp>
        <p:nvSpPr>
          <p:cNvPr id="7" name="Line Callout 1 6"/>
          <p:cNvSpPr/>
          <p:nvPr/>
        </p:nvSpPr>
        <p:spPr>
          <a:xfrm>
            <a:off x="5794233" y="1984506"/>
            <a:ext cx="4495800" cy="626533"/>
          </a:xfrm>
          <a:prstGeom prst="borderCallout1">
            <a:avLst>
              <a:gd name="adj1" fmla="val 53885"/>
              <a:gd name="adj2" fmla="val -612"/>
              <a:gd name="adj3" fmla="val 100001"/>
              <a:gd name="adj4" fmla="val -82966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Output : 8 (occurrence of ‘in’  in x)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456EBDA-49A4-A843-A786-6989C63A54AA}"/>
              </a:ext>
            </a:extLst>
          </p:cNvPr>
          <p:cNvSpPr/>
          <p:nvPr/>
        </p:nvSpPr>
        <p:spPr>
          <a:xfrm>
            <a:off x="1022635" y="4139006"/>
            <a:ext cx="8472276" cy="86177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x = 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darshan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 institute, 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rajkot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, 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india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</a:t>
            </a:r>
            <a:endParaRPr lang="en-US" sz="1600" dirty="0">
              <a:solidFill>
                <a:srgbClr val="000000"/>
              </a:solidFill>
              <a:latin typeface="Consolas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r = 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x.rindex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'in'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print(r)</a:t>
            </a:r>
            <a:endParaRPr lang="en-US" sz="1600" b="0" dirty="0">
              <a:solidFill>
                <a:srgbClr val="000000"/>
              </a:solidFill>
              <a:latin typeface="Consola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5F9F4A0-4592-C04D-B2D0-0BF66A3BFA20}"/>
              </a:ext>
            </a:extLst>
          </p:cNvPr>
          <p:cNvSpPr/>
          <p:nvPr/>
        </p:nvSpPr>
        <p:spPr>
          <a:xfrm>
            <a:off x="522642" y="4139006"/>
            <a:ext cx="499993" cy="83099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16" name="Rectangle: Top Corners Rounded 6">
            <a:extLst>
              <a:ext uri="{FF2B5EF4-FFF2-40B4-BE49-F238E27FC236}">
                <a16:creationId xmlns:a16="http://schemas.microsoft.com/office/drawing/2014/main" id="{0336C271-A2A3-9445-9946-5006F0A250F4}"/>
              </a:ext>
            </a:extLst>
          </p:cNvPr>
          <p:cNvSpPr/>
          <p:nvPr/>
        </p:nvSpPr>
        <p:spPr>
          <a:xfrm>
            <a:off x="522642" y="3809822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rindexdemo.py</a:t>
            </a:r>
          </a:p>
        </p:txBody>
      </p:sp>
      <p:sp>
        <p:nvSpPr>
          <p:cNvPr id="17" name="Line Callout 1 16"/>
          <p:cNvSpPr/>
          <p:nvPr/>
        </p:nvSpPr>
        <p:spPr>
          <a:xfrm>
            <a:off x="5794233" y="4228188"/>
            <a:ext cx="4495800" cy="626533"/>
          </a:xfrm>
          <a:prstGeom prst="borderCallout1">
            <a:avLst>
              <a:gd name="adj1" fmla="val 53885"/>
              <a:gd name="adj2" fmla="val -612"/>
              <a:gd name="adj3" fmla="val 100001"/>
              <a:gd name="adj4" fmla="val -82966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Output : 27 (last occurrence of ‘in’  in x)</a:t>
            </a:r>
            <a:endParaRPr 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build="p" animBg="1"/>
      <p:bldP spid="5" grpId="0" animBg="1"/>
      <p:bldP spid="6" grpId="0" animBg="1"/>
      <p:bldP spid="7" grpId="0" animBg="1"/>
      <p:bldP spid="7" grpId="1" animBg="1"/>
      <p:bldP spid="14" grpId="0" build="p" animBg="1"/>
      <p:bldP spid="15" grpId="0" animBg="1"/>
      <p:bldP spid="16" grpId="0" animBg="1"/>
      <p:bldP spid="17" grpId="0" animBg="1"/>
      <p:bldP spid="17" grpId="1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String Methods (cont.)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 err="1"/>
              <a:t>isalnum</a:t>
            </a:r>
            <a:r>
              <a:rPr lang="en-IN" dirty="0"/>
              <a:t>() method will </a:t>
            </a:r>
            <a:r>
              <a:rPr lang="en-US" dirty="0"/>
              <a:t>return true if all the characters in the string are </a:t>
            </a:r>
            <a:r>
              <a:rPr lang="en-US" dirty="0">
                <a:solidFill>
                  <a:srgbClr val="C00000"/>
                </a:solidFill>
              </a:rPr>
              <a:t>alphanumeric</a:t>
            </a:r>
            <a:r>
              <a:rPr lang="en-US" dirty="0"/>
              <a:t> (</a:t>
            </a:r>
            <a:r>
              <a:rPr lang="en-US" dirty="0" err="1"/>
              <a:t>i.e</a:t>
            </a:r>
            <a:r>
              <a:rPr lang="en-US" dirty="0"/>
              <a:t> either alphabets or numeric).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b="1" dirty="0" err="1"/>
              <a:t>isalpha</a:t>
            </a:r>
            <a:r>
              <a:rPr lang="en-IN" dirty="0"/>
              <a:t>() and </a:t>
            </a:r>
            <a:r>
              <a:rPr lang="en-IN" b="1" dirty="0"/>
              <a:t>is</a:t>
            </a:r>
            <a:r>
              <a:rPr lang="en-US" b="1" dirty="0"/>
              <a:t>numeric</a:t>
            </a:r>
            <a:r>
              <a:rPr lang="en-IN" dirty="0"/>
              <a:t>() will return true if all the characters in the string are only </a:t>
            </a:r>
            <a:r>
              <a:rPr lang="en-IN" dirty="0">
                <a:solidFill>
                  <a:srgbClr val="C00000"/>
                </a:solidFill>
              </a:rPr>
              <a:t>alphabets and </a:t>
            </a:r>
            <a:r>
              <a:rPr lang="en-US" dirty="0">
                <a:solidFill>
                  <a:srgbClr val="C00000"/>
                </a:solidFill>
              </a:rPr>
              <a:t>numeric respectively.</a:t>
            </a:r>
            <a:endParaRPr lang="en-IN" dirty="0">
              <a:solidFill>
                <a:srgbClr val="C00000"/>
              </a:solidFill>
            </a:endParaRPr>
          </a:p>
          <a:p>
            <a:r>
              <a:rPr lang="en-IN" b="1" dirty="0" err="1"/>
              <a:t>isdecimal</a:t>
            </a:r>
            <a:r>
              <a:rPr lang="en-IN" dirty="0"/>
              <a:t>() will </a:t>
            </a:r>
            <a:r>
              <a:rPr lang="en-US" dirty="0"/>
              <a:t>return true is all the characters in the string are </a:t>
            </a:r>
            <a:r>
              <a:rPr lang="en-US" dirty="0">
                <a:solidFill>
                  <a:srgbClr val="C00000"/>
                </a:solidFill>
              </a:rPr>
              <a:t>decimal</a:t>
            </a:r>
            <a:r>
              <a:rPr lang="en-US" dirty="0"/>
              <a:t>.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b="1" dirty="0"/>
              <a:t>Note</a:t>
            </a:r>
            <a:r>
              <a:rPr lang="en-IN" dirty="0"/>
              <a:t> : </a:t>
            </a:r>
            <a:r>
              <a:rPr lang="en-IN" b="1" dirty="0" err="1"/>
              <a:t>isnumeric</a:t>
            </a:r>
            <a:r>
              <a:rPr lang="en-IN" dirty="0"/>
              <a:t>() and </a:t>
            </a:r>
            <a:r>
              <a:rPr lang="en-IN" b="1" dirty="0" err="1"/>
              <a:t>isdigit</a:t>
            </a:r>
            <a:r>
              <a:rPr lang="en-IN" dirty="0"/>
              <a:t>() are almost same, you suppose to find the difference as Home work assignment for the string methods.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56EBDA-49A4-A843-A786-6989C63A54AA}"/>
              </a:ext>
            </a:extLst>
          </p:cNvPr>
          <p:cNvSpPr/>
          <p:nvPr/>
        </p:nvSpPr>
        <p:spPr>
          <a:xfrm>
            <a:off x="1022635" y="1895324"/>
            <a:ext cx="8472276" cy="86177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x = 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'darshan123'</a:t>
            </a:r>
            <a:endParaRPr lang="en-US" sz="1600" dirty="0">
              <a:solidFill>
                <a:srgbClr val="000000"/>
              </a:solidFill>
              <a:latin typeface="Consolas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f = 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x.isalnum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()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print(f)</a:t>
            </a:r>
            <a:endParaRPr lang="en-US" sz="1600" b="0" dirty="0">
              <a:solidFill>
                <a:srgbClr val="000000"/>
              </a:solidFill>
              <a:latin typeface="Consola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F9F4A0-4592-C04D-B2D0-0BF66A3BFA20}"/>
              </a:ext>
            </a:extLst>
          </p:cNvPr>
          <p:cNvSpPr/>
          <p:nvPr/>
        </p:nvSpPr>
        <p:spPr>
          <a:xfrm>
            <a:off x="522642" y="1895324"/>
            <a:ext cx="499993" cy="83099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0336C271-A2A3-9445-9946-5006F0A250F4}"/>
              </a:ext>
            </a:extLst>
          </p:cNvPr>
          <p:cNvSpPr/>
          <p:nvPr/>
        </p:nvSpPr>
        <p:spPr>
          <a:xfrm>
            <a:off x="522642" y="1566140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isalnumdemo.py</a:t>
            </a:r>
          </a:p>
        </p:txBody>
      </p:sp>
      <p:sp>
        <p:nvSpPr>
          <p:cNvPr id="7" name="Line Callout 1 6"/>
          <p:cNvSpPr/>
          <p:nvPr/>
        </p:nvSpPr>
        <p:spPr>
          <a:xfrm>
            <a:off x="5794233" y="1984506"/>
            <a:ext cx="4495800" cy="626533"/>
          </a:xfrm>
          <a:prstGeom prst="borderCallout1">
            <a:avLst>
              <a:gd name="adj1" fmla="val 53885"/>
              <a:gd name="adj2" fmla="val -612"/>
              <a:gd name="adj3" fmla="val 100001"/>
              <a:gd name="adj4" fmla="val -82966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Output : </a:t>
            </a:r>
            <a:r>
              <a:rPr lang="en-IN" i="1" dirty="0">
                <a:solidFill>
                  <a:schemeClr val="tx1"/>
                </a:solidFill>
              </a:rPr>
              <a:t>True</a:t>
            </a:r>
            <a:endParaRPr lang="en-US" b="1" i="1" dirty="0">
              <a:solidFill>
                <a:srgbClr val="FF0000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456EBDA-49A4-A843-A786-6989C63A54AA}"/>
              </a:ext>
            </a:extLst>
          </p:cNvPr>
          <p:cNvSpPr/>
          <p:nvPr/>
        </p:nvSpPr>
        <p:spPr>
          <a:xfrm>
            <a:off x="1022635" y="4587739"/>
            <a:ext cx="8472276" cy="86177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x = 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'123.5'</a:t>
            </a:r>
            <a:endParaRPr lang="en-US" sz="1600" dirty="0">
              <a:solidFill>
                <a:srgbClr val="000000"/>
              </a:solidFill>
              <a:latin typeface="Consolas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r = 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x.isdecimal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()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print(r)</a:t>
            </a:r>
            <a:endParaRPr lang="en-US" sz="1600" b="0" dirty="0">
              <a:solidFill>
                <a:srgbClr val="000000"/>
              </a:solidFill>
              <a:latin typeface="Consola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5F9F4A0-4592-C04D-B2D0-0BF66A3BFA20}"/>
              </a:ext>
            </a:extLst>
          </p:cNvPr>
          <p:cNvSpPr/>
          <p:nvPr/>
        </p:nvSpPr>
        <p:spPr>
          <a:xfrm>
            <a:off x="522642" y="4587739"/>
            <a:ext cx="499993" cy="83099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16" name="Rectangle: Top Corners Rounded 6">
            <a:extLst>
              <a:ext uri="{FF2B5EF4-FFF2-40B4-BE49-F238E27FC236}">
                <a16:creationId xmlns:a16="http://schemas.microsoft.com/office/drawing/2014/main" id="{0336C271-A2A3-9445-9946-5006F0A250F4}"/>
              </a:ext>
            </a:extLst>
          </p:cNvPr>
          <p:cNvSpPr/>
          <p:nvPr/>
        </p:nvSpPr>
        <p:spPr>
          <a:xfrm>
            <a:off x="522642" y="4258555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isdecimaldemo.py</a:t>
            </a:r>
          </a:p>
        </p:txBody>
      </p:sp>
      <p:sp>
        <p:nvSpPr>
          <p:cNvPr id="17" name="Line Callout 1 16"/>
          <p:cNvSpPr/>
          <p:nvPr/>
        </p:nvSpPr>
        <p:spPr>
          <a:xfrm>
            <a:off x="5794233" y="4676921"/>
            <a:ext cx="4495800" cy="626533"/>
          </a:xfrm>
          <a:prstGeom prst="borderCallout1">
            <a:avLst>
              <a:gd name="adj1" fmla="val 53885"/>
              <a:gd name="adj2" fmla="val -612"/>
              <a:gd name="adj3" fmla="val 100001"/>
              <a:gd name="adj4" fmla="val -82966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Output : </a:t>
            </a:r>
            <a:r>
              <a:rPr lang="en-IN" i="1" dirty="0">
                <a:solidFill>
                  <a:schemeClr val="tx1"/>
                </a:solidFill>
              </a:rPr>
              <a:t>False</a:t>
            </a:r>
            <a:endParaRPr lang="en-US" b="1" i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build="p" animBg="1"/>
      <p:bldP spid="5" grpId="0" animBg="1"/>
      <p:bldP spid="6" grpId="0" animBg="1"/>
      <p:bldP spid="7" grpId="0" animBg="1"/>
      <p:bldP spid="7" grpId="1" animBg="1"/>
      <p:bldP spid="14" grpId="0" build="p" animBg="1"/>
      <p:bldP spid="15" grpId="0" animBg="1"/>
      <p:bldP spid="16" grpId="0" animBg="1"/>
      <p:bldP spid="17" grpId="0" animBg="1"/>
      <p:bldP spid="17" grpId="1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String Formatting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err="1"/>
              <a:t>str.format</a:t>
            </a:r>
            <a:r>
              <a:rPr lang="en-US" b="1" dirty="0"/>
              <a:t>()</a:t>
            </a:r>
            <a:r>
              <a:rPr lang="en-US" dirty="0"/>
              <a:t> is one of the </a:t>
            </a:r>
            <a:r>
              <a:rPr lang="en-US" i="1" dirty="0"/>
              <a:t>string formatting methods</a:t>
            </a:r>
            <a:r>
              <a:rPr lang="en-US" dirty="0"/>
              <a:t> in Python3, which allows multiple </a:t>
            </a:r>
            <a:r>
              <a:rPr lang="en-US" dirty="0">
                <a:solidFill>
                  <a:srgbClr val="C00000"/>
                </a:solidFill>
              </a:rPr>
              <a:t>substitutions</a:t>
            </a:r>
            <a:r>
              <a:rPr lang="en-US" dirty="0"/>
              <a:t> and value formatting. </a:t>
            </a:r>
          </a:p>
          <a:p>
            <a:r>
              <a:rPr lang="en-US" dirty="0"/>
              <a:t>This method lets us concatenate elements within a string through positional formatting.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We can specify multiple parameters to the function</a:t>
            </a:r>
          </a:p>
          <a:p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456EBDA-49A4-A843-A786-6989C63A54AA}"/>
              </a:ext>
            </a:extLst>
          </p:cNvPr>
          <p:cNvSpPr/>
          <p:nvPr/>
        </p:nvSpPr>
        <p:spPr>
          <a:xfrm>
            <a:off x="1022635" y="2496457"/>
            <a:ext cx="8472276" cy="10772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fr-FR" sz="1600" dirty="0">
                <a:solidFill>
                  <a:srgbClr val="000000"/>
                </a:solidFill>
                <a:latin typeface="Consolas"/>
              </a:rPr>
              <a:t>x = </a:t>
            </a:r>
            <a:r>
              <a:rPr lang="fr-FR" sz="1600" dirty="0">
                <a:solidFill>
                  <a:srgbClr val="A31515"/>
                </a:solidFill>
                <a:latin typeface="Consolas"/>
              </a:rPr>
              <a:t>'{} </a:t>
            </a:r>
            <a:r>
              <a:rPr lang="fr-FR" sz="1600" dirty="0" err="1">
                <a:solidFill>
                  <a:srgbClr val="A31515"/>
                </a:solidFill>
                <a:latin typeface="Consolas"/>
              </a:rPr>
              <a:t>institute</a:t>
            </a:r>
            <a:r>
              <a:rPr lang="fr-FR" sz="1600" dirty="0">
                <a:solidFill>
                  <a:srgbClr val="A31515"/>
                </a:solidFill>
                <a:latin typeface="Consolas"/>
              </a:rPr>
              <a:t>, </a:t>
            </a:r>
            <a:r>
              <a:rPr lang="fr-FR" sz="1600" dirty="0" err="1">
                <a:solidFill>
                  <a:srgbClr val="A31515"/>
                </a:solidFill>
                <a:latin typeface="Consolas"/>
              </a:rPr>
              <a:t>rajkot</a:t>
            </a:r>
            <a:r>
              <a:rPr lang="fr-FR" sz="1600" dirty="0">
                <a:solidFill>
                  <a:srgbClr val="A31515"/>
                </a:solidFill>
                <a:latin typeface="Consolas"/>
              </a:rPr>
              <a:t>'</a:t>
            </a:r>
            <a:endParaRPr lang="fr-FR" sz="1600" dirty="0">
              <a:solidFill>
                <a:srgbClr val="000000"/>
              </a:solidFill>
              <a:latin typeface="Consolas"/>
            </a:endParaRPr>
          </a:p>
          <a:p>
            <a:r>
              <a:rPr lang="fr-FR" sz="1600" dirty="0">
                <a:solidFill>
                  <a:srgbClr val="000000"/>
                </a:solidFill>
                <a:latin typeface="Consolas"/>
              </a:rPr>
              <a:t>y = </a:t>
            </a:r>
            <a:r>
              <a:rPr lang="fr-FR" sz="1600" dirty="0" err="1">
                <a:solidFill>
                  <a:srgbClr val="000000"/>
                </a:solidFill>
                <a:latin typeface="Consolas"/>
              </a:rPr>
              <a:t>x.format</a:t>
            </a:r>
            <a:r>
              <a:rPr lang="fr-FR" sz="16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fr-FR" sz="1600" dirty="0">
                <a:solidFill>
                  <a:srgbClr val="A31515"/>
                </a:solidFill>
                <a:latin typeface="Consolas"/>
              </a:rPr>
              <a:t>'darshan'</a:t>
            </a:r>
            <a:r>
              <a:rPr lang="fr-FR" sz="1600" dirty="0">
                <a:solidFill>
                  <a:srgbClr val="000000"/>
                </a:solidFill>
                <a:latin typeface="Consolas"/>
              </a:rPr>
              <a:t>)</a:t>
            </a:r>
          </a:p>
          <a:p>
            <a:r>
              <a:rPr lang="fr-FR" sz="1600" dirty="0" err="1">
                <a:solidFill>
                  <a:srgbClr val="000000"/>
                </a:solidFill>
                <a:latin typeface="Consolas"/>
              </a:rPr>
              <a:t>print</a:t>
            </a:r>
            <a:r>
              <a:rPr lang="fr-FR" sz="1600" dirty="0">
                <a:solidFill>
                  <a:srgbClr val="000000"/>
                </a:solidFill>
                <a:latin typeface="Consolas"/>
              </a:rPr>
              <a:t>(y)</a:t>
            </a:r>
          </a:p>
          <a:p>
            <a:r>
              <a:rPr lang="fr-FR" sz="1600" dirty="0" err="1">
                <a:solidFill>
                  <a:srgbClr val="000000"/>
                </a:solidFill>
                <a:latin typeface="Consolas"/>
              </a:rPr>
              <a:t>print</a:t>
            </a:r>
            <a:r>
              <a:rPr lang="fr-FR" sz="16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fr-FR" sz="1600" dirty="0" err="1">
                <a:solidFill>
                  <a:srgbClr val="000000"/>
                </a:solidFill>
                <a:latin typeface="Consolas"/>
              </a:rPr>
              <a:t>x.format</a:t>
            </a:r>
            <a:r>
              <a:rPr lang="fr-FR" sz="16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fr-FR" sz="1600" dirty="0">
                <a:solidFill>
                  <a:srgbClr val="A31515"/>
                </a:solidFill>
                <a:latin typeface="Consolas"/>
              </a:rPr>
              <a:t>'ABCD'</a:t>
            </a:r>
            <a:r>
              <a:rPr lang="fr-FR" sz="1600" dirty="0">
                <a:solidFill>
                  <a:srgbClr val="000000"/>
                </a:solidFill>
                <a:latin typeface="Consolas"/>
              </a:rPr>
              <a:t>))</a:t>
            </a:r>
            <a:endParaRPr lang="fr-FR" sz="1600" b="0" dirty="0">
              <a:solidFill>
                <a:srgbClr val="000000"/>
              </a:solidFill>
              <a:latin typeface="Consola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5F9F4A0-4592-C04D-B2D0-0BF66A3BFA20}"/>
              </a:ext>
            </a:extLst>
          </p:cNvPr>
          <p:cNvSpPr/>
          <p:nvPr/>
        </p:nvSpPr>
        <p:spPr>
          <a:xfrm>
            <a:off x="522642" y="2496457"/>
            <a:ext cx="499993" cy="107721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</p:txBody>
      </p:sp>
      <p:sp>
        <p:nvSpPr>
          <p:cNvPr id="9" name="Rectangle: Top Corners Rounded 6">
            <a:extLst>
              <a:ext uri="{FF2B5EF4-FFF2-40B4-BE49-F238E27FC236}">
                <a16:creationId xmlns:a16="http://schemas.microsoft.com/office/drawing/2014/main" id="{0336C271-A2A3-9445-9946-5006F0A250F4}"/>
              </a:ext>
            </a:extLst>
          </p:cNvPr>
          <p:cNvSpPr/>
          <p:nvPr/>
        </p:nvSpPr>
        <p:spPr>
          <a:xfrm>
            <a:off x="522642" y="2167273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strformat.py</a:t>
            </a:r>
          </a:p>
        </p:txBody>
      </p:sp>
      <p:sp>
        <p:nvSpPr>
          <p:cNvPr id="10" name="Line Callout 1 9"/>
          <p:cNvSpPr/>
          <p:nvPr/>
        </p:nvSpPr>
        <p:spPr>
          <a:xfrm>
            <a:off x="5794233" y="2585640"/>
            <a:ext cx="5220900" cy="428493"/>
          </a:xfrm>
          <a:prstGeom prst="borderCallout1">
            <a:avLst>
              <a:gd name="adj1" fmla="val 53885"/>
              <a:gd name="adj2" fmla="val -612"/>
              <a:gd name="adj3" fmla="val 130505"/>
              <a:gd name="adj4" fmla="val -71478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Output : </a:t>
            </a:r>
            <a:r>
              <a:rPr lang="en-IN" i="1" dirty="0" err="1">
                <a:solidFill>
                  <a:schemeClr val="tx1"/>
                </a:solidFill>
              </a:rPr>
              <a:t>darshan</a:t>
            </a:r>
            <a:r>
              <a:rPr lang="en-IN" i="1" dirty="0">
                <a:solidFill>
                  <a:schemeClr val="tx1"/>
                </a:solidFill>
              </a:rPr>
              <a:t> institute, </a:t>
            </a:r>
            <a:r>
              <a:rPr lang="en-IN" i="1" dirty="0" err="1">
                <a:solidFill>
                  <a:schemeClr val="tx1"/>
                </a:solidFill>
              </a:rPr>
              <a:t>rajkot</a:t>
            </a:r>
            <a:endParaRPr lang="en-US" b="1" i="1" dirty="0">
              <a:solidFill>
                <a:srgbClr val="FF0000"/>
              </a:solidFill>
            </a:endParaRPr>
          </a:p>
        </p:txBody>
      </p:sp>
      <p:sp>
        <p:nvSpPr>
          <p:cNvPr id="11" name="Line Callout 1 10"/>
          <p:cNvSpPr/>
          <p:nvPr/>
        </p:nvSpPr>
        <p:spPr>
          <a:xfrm>
            <a:off x="5794233" y="3068240"/>
            <a:ext cx="5220900" cy="657093"/>
          </a:xfrm>
          <a:prstGeom prst="borderCallout1">
            <a:avLst>
              <a:gd name="adj1" fmla="val 53885"/>
              <a:gd name="adj2" fmla="val -612"/>
              <a:gd name="adj3" fmla="val 57703"/>
              <a:gd name="adj4" fmla="val -39694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Inline function call</a:t>
            </a:r>
          </a:p>
          <a:p>
            <a:pPr algn="ctr"/>
            <a:r>
              <a:rPr lang="en-IN" dirty="0">
                <a:solidFill>
                  <a:schemeClr val="tx1"/>
                </a:solidFill>
              </a:rPr>
              <a:t>Output : </a:t>
            </a:r>
            <a:r>
              <a:rPr lang="en-IN" i="1" dirty="0">
                <a:solidFill>
                  <a:schemeClr val="tx1"/>
                </a:solidFill>
              </a:rPr>
              <a:t>ABCD institute, </a:t>
            </a:r>
            <a:r>
              <a:rPr lang="en-IN" i="1" dirty="0" err="1">
                <a:solidFill>
                  <a:schemeClr val="tx1"/>
                </a:solidFill>
              </a:rPr>
              <a:t>rajkot</a:t>
            </a:r>
            <a:endParaRPr lang="en-US" b="1" i="1" dirty="0">
              <a:solidFill>
                <a:srgbClr val="FF0000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456EBDA-49A4-A843-A786-6989C63A54AA}"/>
              </a:ext>
            </a:extLst>
          </p:cNvPr>
          <p:cNvSpPr/>
          <p:nvPr/>
        </p:nvSpPr>
        <p:spPr>
          <a:xfrm>
            <a:off x="1022635" y="4680857"/>
            <a:ext cx="8472276" cy="10772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x = 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'{} institute, {}'</a:t>
            </a:r>
            <a:endParaRPr lang="en-US" sz="1600" dirty="0">
              <a:solidFill>
                <a:srgbClr val="000000"/>
              </a:solidFill>
              <a:latin typeface="Consolas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y = 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x.format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darshan'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,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'rajkot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print(y)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print(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x.format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'ABCD'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,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'XYZ'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))</a:t>
            </a:r>
            <a:endParaRPr lang="en-US" sz="1600" b="0" dirty="0">
              <a:solidFill>
                <a:srgbClr val="000000"/>
              </a:solidFill>
              <a:latin typeface="Consola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5F9F4A0-4592-C04D-B2D0-0BF66A3BFA20}"/>
              </a:ext>
            </a:extLst>
          </p:cNvPr>
          <p:cNvSpPr/>
          <p:nvPr/>
        </p:nvSpPr>
        <p:spPr>
          <a:xfrm>
            <a:off x="522642" y="4680857"/>
            <a:ext cx="499993" cy="107721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</p:txBody>
      </p:sp>
      <p:sp>
        <p:nvSpPr>
          <p:cNvPr id="14" name="Rectangle: Top Corners Rounded 6">
            <a:extLst>
              <a:ext uri="{FF2B5EF4-FFF2-40B4-BE49-F238E27FC236}">
                <a16:creationId xmlns:a16="http://schemas.microsoft.com/office/drawing/2014/main" id="{0336C271-A2A3-9445-9946-5006F0A250F4}"/>
              </a:ext>
            </a:extLst>
          </p:cNvPr>
          <p:cNvSpPr/>
          <p:nvPr/>
        </p:nvSpPr>
        <p:spPr>
          <a:xfrm>
            <a:off x="522642" y="4351673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strformat.py</a:t>
            </a:r>
          </a:p>
        </p:txBody>
      </p:sp>
      <p:sp>
        <p:nvSpPr>
          <p:cNvPr id="15" name="Line Callout 1 14"/>
          <p:cNvSpPr/>
          <p:nvPr/>
        </p:nvSpPr>
        <p:spPr>
          <a:xfrm>
            <a:off x="5794233" y="4770040"/>
            <a:ext cx="5220900" cy="428493"/>
          </a:xfrm>
          <a:prstGeom prst="borderCallout1">
            <a:avLst>
              <a:gd name="adj1" fmla="val 53885"/>
              <a:gd name="adj2" fmla="val -612"/>
              <a:gd name="adj3" fmla="val 130505"/>
              <a:gd name="adj4" fmla="val -71478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Output : </a:t>
            </a:r>
            <a:r>
              <a:rPr lang="en-IN" i="1" dirty="0" err="1">
                <a:solidFill>
                  <a:schemeClr val="tx1"/>
                </a:solidFill>
              </a:rPr>
              <a:t>darshan</a:t>
            </a:r>
            <a:r>
              <a:rPr lang="en-IN" i="1" dirty="0">
                <a:solidFill>
                  <a:schemeClr val="tx1"/>
                </a:solidFill>
              </a:rPr>
              <a:t> institute, </a:t>
            </a:r>
            <a:r>
              <a:rPr lang="en-IN" i="1" dirty="0" err="1">
                <a:solidFill>
                  <a:schemeClr val="tx1"/>
                </a:solidFill>
              </a:rPr>
              <a:t>rajkot</a:t>
            </a:r>
            <a:endParaRPr lang="en-US" b="1" i="1" dirty="0">
              <a:solidFill>
                <a:srgbClr val="FF0000"/>
              </a:solidFill>
            </a:endParaRPr>
          </a:p>
        </p:txBody>
      </p:sp>
      <p:sp>
        <p:nvSpPr>
          <p:cNvPr id="16" name="Line Callout 1 15"/>
          <p:cNvSpPr/>
          <p:nvPr/>
        </p:nvSpPr>
        <p:spPr>
          <a:xfrm>
            <a:off x="5794233" y="5252640"/>
            <a:ext cx="5220900" cy="657093"/>
          </a:xfrm>
          <a:prstGeom prst="borderCallout1">
            <a:avLst>
              <a:gd name="adj1" fmla="val 53885"/>
              <a:gd name="adj2" fmla="val -612"/>
              <a:gd name="adj3" fmla="val 56415"/>
              <a:gd name="adj4" fmla="val -26234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Inline function call</a:t>
            </a:r>
          </a:p>
          <a:p>
            <a:pPr algn="ctr"/>
            <a:r>
              <a:rPr lang="en-IN" dirty="0">
                <a:solidFill>
                  <a:schemeClr val="tx1"/>
                </a:solidFill>
              </a:rPr>
              <a:t>Output : </a:t>
            </a:r>
            <a:r>
              <a:rPr lang="en-IN" i="1" dirty="0">
                <a:solidFill>
                  <a:schemeClr val="tx1"/>
                </a:solidFill>
              </a:rPr>
              <a:t>ABCD institute, XYZ</a:t>
            </a:r>
            <a:endParaRPr lang="en-US" b="1" i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7" grpId="0" build="p" animBg="1"/>
      <p:bldP spid="8" grpId="0" animBg="1"/>
      <p:bldP spid="9" grpId="0" animBg="1"/>
      <p:bldP spid="10" grpId="0" animBg="1"/>
      <p:bldP spid="10" grpId="1" animBg="1"/>
      <p:bldP spid="11" grpId="0" animBg="1"/>
      <p:bldP spid="11" grpId="1" animBg="1"/>
      <p:bldP spid="12" grpId="0" build="p" animBg="1"/>
      <p:bldP spid="13" grpId="0" animBg="1"/>
      <p:bldP spid="14" grpId="0" animBg="1"/>
      <p:bldP spid="15" grpId="0" animBg="1"/>
      <p:bldP spid="15" grpId="1" animBg="1"/>
      <p:bldP spid="16" grpId="0" animBg="1"/>
      <p:bldP spid="16" grpId="1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String Formatting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can specify the order of parameters in the string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We can also specify alias within the string to specify the order</a:t>
            </a:r>
          </a:p>
          <a:p>
            <a:endParaRPr lang="en-US" dirty="0"/>
          </a:p>
          <a:p>
            <a:pPr>
              <a:buNone/>
            </a:pPr>
            <a:endParaRPr lang="en-US" dirty="0"/>
          </a:p>
          <a:p>
            <a:r>
              <a:rPr lang="en-US" dirty="0"/>
              <a:t>We can format the decimal values using format method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456EBDA-49A4-A843-A786-6989C63A54AA}"/>
              </a:ext>
            </a:extLst>
          </p:cNvPr>
          <p:cNvSpPr/>
          <p:nvPr/>
        </p:nvSpPr>
        <p:spPr>
          <a:xfrm>
            <a:off x="1022635" y="1641324"/>
            <a:ext cx="8472276" cy="10772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x = 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'{1} institute, {0}'</a:t>
            </a:r>
            <a:endParaRPr lang="en-US" sz="1600" dirty="0">
              <a:solidFill>
                <a:srgbClr val="000000"/>
              </a:solidFill>
              <a:latin typeface="Consolas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y = 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x.format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darshan'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,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'rajkot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print(y)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print(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x.format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'ABCD'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,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'XYZ'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))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5F9F4A0-4592-C04D-B2D0-0BF66A3BFA20}"/>
              </a:ext>
            </a:extLst>
          </p:cNvPr>
          <p:cNvSpPr/>
          <p:nvPr/>
        </p:nvSpPr>
        <p:spPr>
          <a:xfrm>
            <a:off x="522642" y="1641324"/>
            <a:ext cx="499993" cy="107721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</p:txBody>
      </p:sp>
      <p:sp>
        <p:nvSpPr>
          <p:cNvPr id="14" name="Rectangle: Top Corners Rounded 6">
            <a:extLst>
              <a:ext uri="{FF2B5EF4-FFF2-40B4-BE49-F238E27FC236}">
                <a16:creationId xmlns:a16="http://schemas.microsoft.com/office/drawing/2014/main" id="{0336C271-A2A3-9445-9946-5006F0A250F4}"/>
              </a:ext>
            </a:extLst>
          </p:cNvPr>
          <p:cNvSpPr/>
          <p:nvPr/>
        </p:nvSpPr>
        <p:spPr>
          <a:xfrm>
            <a:off x="522642" y="1312140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strformat.py</a:t>
            </a:r>
          </a:p>
        </p:txBody>
      </p:sp>
      <p:sp>
        <p:nvSpPr>
          <p:cNvPr id="15" name="Line Callout 1 14"/>
          <p:cNvSpPr/>
          <p:nvPr/>
        </p:nvSpPr>
        <p:spPr>
          <a:xfrm>
            <a:off x="5794233" y="1730507"/>
            <a:ext cx="5220900" cy="428493"/>
          </a:xfrm>
          <a:prstGeom prst="borderCallout1">
            <a:avLst>
              <a:gd name="adj1" fmla="val 53885"/>
              <a:gd name="adj2" fmla="val -612"/>
              <a:gd name="adj3" fmla="val 130505"/>
              <a:gd name="adj4" fmla="val -71478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Output : </a:t>
            </a:r>
            <a:r>
              <a:rPr lang="en-IN" i="1" dirty="0" err="1">
                <a:solidFill>
                  <a:schemeClr val="tx1"/>
                </a:solidFill>
              </a:rPr>
              <a:t>rajkot</a:t>
            </a:r>
            <a:r>
              <a:rPr lang="en-IN" i="1" dirty="0">
                <a:solidFill>
                  <a:schemeClr val="tx1"/>
                </a:solidFill>
              </a:rPr>
              <a:t> institute, </a:t>
            </a:r>
            <a:r>
              <a:rPr lang="en-IN" i="1" dirty="0" err="1">
                <a:solidFill>
                  <a:schemeClr val="tx1"/>
                </a:solidFill>
              </a:rPr>
              <a:t>darshan</a:t>
            </a:r>
            <a:endParaRPr lang="en-US" b="1" i="1" dirty="0">
              <a:solidFill>
                <a:srgbClr val="FF0000"/>
              </a:solidFill>
            </a:endParaRPr>
          </a:p>
        </p:txBody>
      </p:sp>
      <p:sp>
        <p:nvSpPr>
          <p:cNvPr id="16" name="Line Callout 1 15"/>
          <p:cNvSpPr/>
          <p:nvPr/>
        </p:nvSpPr>
        <p:spPr>
          <a:xfrm>
            <a:off x="5794233" y="2213107"/>
            <a:ext cx="5220900" cy="657093"/>
          </a:xfrm>
          <a:prstGeom prst="borderCallout1">
            <a:avLst>
              <a:gd name="adj1" fmla="val 53885"/>
              <a:gd name="adj2" fmla="val -612"/>
              <a:gd name="adj3" fmla="val 55126"/>
              <a:gd name="adj4" fmla="val -27207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Inline function call</a:t>
            </a:r>
          </a:p>
          <a:p>
            <a:pPr algn="ctr"/>
            <a:r>
              <a:rPr lang="en-IN" dirty="0">
                <a:solidFill>
                  <a:schemeClr val="tx1"/>
                </a:solidFill>
              </a:rPr>
              <a:t>Output : </a:t>
            </a:r>
            <a:r>
              <a:rPr lang="en-IN" i="1" dirty="0">
                <a:solidFill>
                  <a:schemeClr val="tx1"/>
                </a:solidFill>
              </a:rPr>
              <a:t>XYZ institute, ABCD</a:t>
            </a:r>
            <a:endParaRPr lang="en-US" b="1" i="1" dirty="0">
              <a:solidFill>
                <a:srgbClr val="FF0000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456EBDA-49A4-A843-A786-6989C63A54AA}"/>
              </a:ext>
            </a:extLst>
          </p:cNvPr>
          <p:cNvSpPr/>
          <p:nvPr/>
        </p:nvSpPr>
        <p:spPr>
          <a:xfrm>
            <a:off x="1022635" y="3842657"/>
            <a:ext cx="8472276" cy="5847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x = 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'{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collegename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} institute, {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cityname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}'</a:t>
            </a:r>
            <a:endParaRPr lang="en-US" sz="1600" dirty="0">
              <a:solidFill>
                <a:srgbClr val="000000"/>
              </a:solidFill>
              <a:latin typeface="Consolas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print(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x.format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collegename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=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darshan'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,cityname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=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rajkot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5F9F4A0-4592-C04D-B2D0-0BF66A3BFA20}"/>
              </a:ext>
            </a:extLst>
          </p:cNvPr>
          <p:cNvSpPr/>
          <p:nvPr/>
        </p:nvSpPr>
        <p:spPr>
          <a:xfrm>
            <a:off x="522642" y="3842657"/>
            <a:ext cx="499993" cy="5847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</p:txBody>
      </p:sp>
      <p:sp>
        <p:nvSpPr>
          <p:cNvPr id="19" name="Rectangle: Top Corners Rounded 6">
            <a:extLst>
              <a:ext uri="{FF2B5EF4-FFF2-40B4-BE49-F238E27FC236}">
                <a16:creationId xmlns:a16="http://schemas.microsoft.com/office/drawing/2014/main" id="{0336C271-A2A3-9445-9946-5006F0A250F4}"/>
              </a:ext>
            </a:extLst>
          </p:cNvPr>
          <p:cNvSpPr/>
          <p:nvPr/>
        </p:nvSpPr>
        <p:spPr>
          <a:xfrm>
            <a:off x="522642" y="3513473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strformat.py</a:t>
            </a:r>
          </a:p>
        </p:txBody>
      </p:sp>
      <p:sp>
        <p:nvSpPr>
          <p:cNvPr id="20" name="Line Callout 1 19"/>
          <p:cNvSpPr/>
          <p:nvPr/>
        </p:nvSpPr>
        <p:spPr>
          <a:xfrm>
            <a:off x="8071767" y="3940306"/>
            <a:ext cx="3730767" cy="428493"/>
          </a:xfrm>
          <a:prstGeom prst="borderCallout1">
            <a:avLst>
              <a:gd name="adj1" fmla="val 53885"/>
              <a:gd name="adj2" fmla="val -612"/>
              <a:gd name="adj3" fmla="val 73204"/>
              <a:gd name="adj4" fmla="val -18828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Output : </a:t>
            </a:r>
            <a:r>
              <a:rPr lang="en-IN" i="1" dirty="0" err="1">
                <a:solidFill>
                  <a:schemeClr val="tx1"/>
                </a:solidFill>
              </a:rPr>
              <a:t>darshan</a:t>
            </a:r>
            <a:r>
              <a:rPr lang="en-IN" i="1" dirty="0">
                <a:solidFill>
                  <a:schemeClr val="tx1"/>
                </a:solidFill>
              </a:rPr>
              <a:t> institute, </a:t>
            </a:r>
            <a:r>
              <a:rPr lang="en-IN" i="1" dirty="0" err="1">
                <a:solidFill>
                  <a:schemeClr val="tx1"/>
                </a:solidFill>
              </a:rPr>
              <a:t>rajkot</a:t>
            </a:r>
            <a:endParaRPr lang="en-US" b="1" i="1" dirty="0">
              <a:solidFill>
                <a:srgbClr val="FF0000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456EBDA-49A4-A843-A786-6989C63A54AA}"/>
              </a:ext>
            </a:extLst>
          </p:cNvPr>
          <p:cNvSpPr/>
          <p:nvPr/>
        </p:nvSpPr>
        <p:spPr>
          <a:xfrm>
            <a:off x="1022635" y="5239657"/>
            <a:ext cx="8472276" cy="86177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it-IT" sz="1600" dirty="0">
                <a:solidFill>
                  <a:srgbClr val="000000"/>
                </a:solidFill>
                <a:latin typeface="Consolas"/>
              </a:rPr>
              <a:t>per = (</a:t>
            </a:r>
            <a:r>
              <a:rPr lang="it-IT" sz="1600" dirty="0">
                <a:solidFill>
                  <a:srgbClr val="098658"/>
                </a:solidFill>
                <a:latin typeface="Consolas"/>
              </a:rPr>
              <a:t>438</a:t>
            </a:r>
            <a:r>
              <a:rPr lang="it-IT" sz="1600" dirty="0">
                <a:solidFill>
                  <a:srgbClr val="000000"/>
                </a:solidFill>
                <a:latin typeface="Consolas"/>
              </a:rPr>
              <a:t> / </a:t>
            </a:r>
            <a:r>
              <a:rPr lang="it-IT" sz="1600" dirty="0">
                <a:solidFill>
                  <a:srgbClr val="098658"/>
                </a:solidFill>
                <a:latin typeface="Consolas"/>
              </a:rPr>
              <a:t>500</a:t>
            </a:r>
            <a:r>
              <a:rPr lang="it-IT" sz="1600" dirty="0">
                <a:solidFill>
                  <a:srgbClr val="000000"/>
                </a:solidFill>
                <a:latin typeface="Consolas"/>
              </a:rPr>
              <a:t>) * </a:t>
            </a:r>
            <a:r>
              <a:rPr lang="it-IT" sz="1600" dirty="0">
                <a:solidFill>
                  <a:srgbClr val="098658"/>
                </a:solidFill>
                <a:latin typeface="Consolas"/>
              </a:rPr>
              <a:t>100</a:t>
            </a:r>
            <a:endParaRPr lang="it-IT" sz="1600" dirty="0">
              <a:solidFill>
                <a:srgbClr val="000000"/>
              </a:solidFill>
              <a:latin typeface="Consolas"/>
            </a:endParaRPr>
          </a:p>
          <a:p>
            <a:r>
              <a:rPr lang="it-IT" sz="1600" dirty="0">
                <a:solidFill>
                  <a:srgbClr val="000000"/>
                </a:solidFill>
                <a:latin typeface="Consolas"/>
              </a:rPr>
              <a:t>x = </a:t>
            </a:r>
            <a:r>
              <a:rPr lang="it-IT" sz="1600" dirty="0">
                <a:solidFill>
                  <a:srgbClr val="A31515"/>
                </a:solidFill>
                <a:latin typeface="Consolas"/>
              </a:rPr>
              <a:t>'result = {r</a:t>
            </a:r>
            <a:r>
              <a:rPr lang="it-IT" sz="1600" dirty="0">
                <a:solidFill>
                  <a:srgbClr val="0000FF"/>
                </a:solidFill>
                <a:latin typeface="Consolas"/>
              </a:rPr>
              <a:t>:3.2f</a:t>
            </a:r>
            <a:r>
              <a:rPr lang="it-IT" sz="1600" dirty="0">
                <a:solidFill>
                  <a:srgbClr val="A31515"/>
                </a:solidFill>
                <a:latin typeface="Consolas"/>
              </a:rPr>
              <a:t>} %'</a:t>
            </a:r>
            <a:r>
              <a:rPr lang="it-IT" sz="1600" dirty="0">
                <a:solidFill>
                  <a:srgbClr val="000000"/>
                </a:solidFill>
                <a:latin typeface="Consolas"/>
              </a:rPr>
              <a:t>.format(r=per)</a:t>
            </a:r>
          </a:p>
          <a:p>
            <a:r>
              <a:rPr lang="it-IT" sz="1600" dirty="0">
                <a:solidFill>
                  <a:srgbClr val="000000"/>
                </a:solidFill>
                <a:latin typeface="Consolas"/>
              </a:rPr>
              <a:t>print(x)</a:t>
            </a:r>
            <a:endParaRPr lang="it-IT" sz="1600" b="0" dirty="0">
              <a:solidFill>
                <a:srgbClr val="000000"/>
              </a:solidFill>
              <a:latin typeface="Consolas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5F9F4A0-4592-C04D-B2D0-0BF66A3BFA20}"/>
              </a:ext>
            </a:extLst>
          </p:cNvPr>
          <p:cNvSpPr/>
          <p:nvPr/>
        </p:nvSpPr>
        <p:spPr>
          <a:xfrm>
            <a:off x="522642" y="5239657"/>
            <a:ext cx="499993" cy="83099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</p:txBody>
      </p:sp>
      <p:sp>
        <p:nvSpPr>
          <p:cNvPr id="24" name="Rectangle: Top Corners Rounded 6">
            <a:extLst>
              <a:ext uri="{FF2B5EF4-FFF2-40B4-BE49-F238E27FC236}">
                <a16:creationId xmlns:a16="http://schemas.microsoft.com/office/drawing/2014/main" id="{0336C271-A2A3-9445-9946-5006F0A250F4}"/>
              </a:ext>
            </a:extLst>
          </p:cNvPr>
          <p:cNvSpPr/>
          <p:nvPr/>
        </p:nvSpPr>
        <p:spPr>
          <a:xfrm>
            <a:off x="522642" y="4910473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strformat.py</a:t>
            </a:r>
          </a:p>
        </p:txBody>
      </p:sp>
      <p:sp>
        <p:nvSpPr>
          <p:cNvPr id="25" name="Line Callout 1 24"/>
          <p:cNvSpPr/>
          <p:nvPr/>
        </p:nvSpPr>
        <p:spPr>
          <a:xfrm>
            <a:off x="5997433" y="5481239"/>
            <a:ext cx="3730767" cy="428493"/>
          </a:xfrm>
          <a:prstGeom prst="borderCallout1">
            <a:avLst>
              <a:gd name="adj1" fmla="val 53885"/>
              <a:gd name="adj2" fmla="val -612"/>
              <a:gd name="adj3" fmla="val 114698"/>
              <a:gd name="adj4" fmla="val -106428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Output : </a:t>
            </a:r>
            <a:r>
              <a:rPr lang="en-IN" i="1" dirty="0">
                <a:solidFill>
                  <a:schemeClr val="tx1"/>
                </a:solidFill>
              </a:rPr>
              <a:t>result = 87.60 %</a:t>
            </a:r>
            <a:endParaRPr lang="en-US" b="1" i="1" dirty="0">
              <a:solidFill>
                <a:srgbClr val="FF0000"/>
              </a:solidFill>
            </a:endParaRPr>
          </a:p>
        </p:txBody>
      </p:sp>
      <p:sp>
        <p:nvSpPr>
          <p:cNvPr id="26" name="Line Callout 1 25"/>
          <p:cNvSpPr/>
          <p:nvPr/>
        </p:nvSpPr>
        <p:spPr>
          <a:xfrm>
            <a:off x="2559967" y="6124704"/>
            <a:ext cx="835167" cy="428493"/>
          </a:xfrm>
          <a:prstGeom prst="borderCallout1">
            <a:avLst>
              <a:gd name="adj1" fmla="val -3417"/>
              <a:gd name="adj2" fmla="val 50077"/>
              <a:gd name="adj3" fmla="val -88821"/>
              <a:gd name="adj4" fmla="val 57536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width</a:t>
            </a:r>
            <a:endParaRPr lang="en-US" b="1" i="1" dirty="0">
              <a:solidFill>
                <a:srgbClr val="FF0000"/>
              </a:solidFill>
            </a:endParaRPr>
          </a:p>
        </p:txBody>
      </p:sp>
      <p:sp>
        <p:nvSpPr>
          <p:cNvPr id="27" name="Line Callout 1 26"/>
          <p:cNvSpPr/>
          <p:nvPr/>
        </p:nvSpPr>
        <p:spPr>
          <a:xfrm>
            <a:off x="3550567" y="6124704"/>
            <a:ext cx="1309300" cy="428493"/>
          </a:xfrm>
          <a:prstGeom prst="borderCallout1">
            <a:avLst>
              <a:gd name="adj1" fmla="val -3417"/>
              <a:gd name="adj2" fmla="val 50077"/>
              <a:gd name="adj3" fmla="val -82893"/>
              <a:gd name="adj4" fmla="val -19669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precision</a:t>
            </a:r>
            <a:endParaRPr lang="en-US" b="1" i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2" grpId="0" build="p" animBg="1"/>
      <p:bldP spid="13" grpId="0" animBg="1"/>
      <p:bldP spid="14" grpId="0" animBg="1"/>
      <p:bldP spid="15" grpId="0" animBg="1"/>
      <p:bldP spid="15" grpId="1" animBg="1"/>
      <p:bldP spid="16" grpId="0" animBg="1"/>
      <p:bldP spid="16" grpId="1" animBg="1"/>
      <p:bldP spid="17" grpId="0" build="p" animBg="1"/>
      <p:bldP spid="18" grpId="0" animBg="1"/>
      <p:bldP spid="19" grpId="0" animBg="1"/>
      <p:bldP spid="20" grpId="0" animBg="1"/>
      <p:bldP spid="20" grpId="1" animBg="1"/>
      <p:bldP spid="22" grpId="0" uiExpand="1" build="p" animBg="1"/>
      <p:bldP spid="23" grpId="0" animBg="1"/>
      <p:bldP spid="24" grpId="0" animBg="1"/>
      <p:bldP spid="25" grpId="0" animBg="1"/>
      <p:bldP spid="25" grpId="1" animBg="1"/>
      <p:bldP spid="26" grpId="0" animBg="1"/>
      <p:bldP spid="26" grpId="1" animBg="1"/>
      <p:bldP spid="27" grpId="0" animBg="1"/>
      <p:bldP spid="27" grpId="1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51942C-5A25-2977-D647-89963EE91B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B4925-F56F-96EF-D9CB-9ACAABAE6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String Formatting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102CCE-B881-528A-1DFF-3D70D0587C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Python feature </a:t>
            </a:r>
            <a:r>
              <a:rPr lang="en-US" b="1" dirty="0">
                <a:solidFill>
                  <a:srgbClr val="C00000"/>
                </a:solidFill>
              </a:rPr>
              <a:t>f-string</a:t>
            </a:r>
            <a:r>
              <a:rPr lang="en-US" dirty="0"/>
              <a:t> (formatted string literal) provides easier way for string formatting and interpolation (the process of substituting values of variables into placeholders in a string).</a:t>
            </a:r>
          </a:p>
          <a:p>
            <a:r>
              <a:rPr lang="en-US" dirty="0"/>
              <a:t>We can use </a:t>
            </a:r>
            <a:r>
              <a:rPr lang="en-US" dirty="0" err="1"/>
              <a:t>fstring</a:t>
            </a:r>
            <a:r>
              <a:rPr lang="en-US" dirty="0"/>
              <a:t> to print the values of variables.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We can use f-string to evaluate expressions.</a:t>
            </a:r>
          </a:p>
          <a:p>
            <a:endParaRPr lang="en-US" sz="1600" dirty="0">
              <a:solidFill>
                <a:srgbClr val="A31515"/>
              </a:solidFill>
              <a:latin typeface="Consola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7B2487F-01EA-3DB1-1138-4E2012A326C3}"/>
              </a:ext>
            </a:extLst>
          </p:cNvPr>
          <p:cNvSpPr/>
          <p:nvPr/>
        </p:nvSpPr>
        <p:spPr>
          <a:xfrm>
            <a:off x="1022635" y="2496457"/>
            <a:ext cx="8472276" cy="83099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fr-FR" sz="1600" dirty="0">
                <a:solidFill>
                  <a:srgbClr val="000000"/>
                </a:solidFill>
                <a:latin typeface="Consolas"/>
              </a:rPr>
              <a:t>x</a:t>
            </a:r>
            <a:r>
              <a:rPr lang="fr-FR" sz="1600" b="0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fr-FR" sz="1600" dirty="0">
                <a:solidFill>
                  <a:srgbClr val="A31515"/>
                </a:solidFill>
                <a:latin typeface="Consolas"/>
              </a:rPr>
              <a:t>‘Darshan’</a:t>
            </a:r>
          </a:p>
          <a:p>
            <a:r>
              <a:rPr lang="fr-FR" sz="1600" dirty="0">
                <a:solidFill>
                  <a:srgbClr val="000000"/>
                </a:solidFill>
                <a:latin typeface="Consolas"/>
              </a:rPr>
              <a:t>y = </a:t>
            </a:r>
            <a:r>
              <a:rPr lang="fr-FR" sz="1600" dirty="0">
                <a:solidFill>
                  <a:srgbClr val="A31515"/>
                </a:solidFill>
                <a:latin typeface="Consolas"/>
              </a:rPr>
              <a:t>‘Rajkot’</a:t>
            </a:r>
          </a:p>
          <a:p>
            <a:r>
              <a:rPr lang="fr-FR" sz="1600" dirty="0" err="1">
                <a:solidFill>
                  <a:srgbClr val="000000"/>
                </a:solidFill>
                <a:latin typeface="Consolas"/>
              </a:rPr>
              <a:t>p</a:t>
            </a:r>
            <a:r>
              <a:rPr lang="fr-FR" sz="1600" b="0" dirty="0" err="1">
                <a:solidFill>
                  <a:srgbClr val="000000"/>
                </a:solidFill>
                <a:latin typeface="Consolas"/>
              </a:rPr>
              <a:t>rint</a:t>
            </a:r>
            <a:r>
              <a:rPr lang="fr-FR" sz="1600" b="0" dirty="0">
                <a:solidFill>
                  <a:srgbClr val="000000"/>
                </a:solidFill>
                <a:latin typeface="Consolas"/>
              </a:rPr>
              <a:t>(f</a:t>
            </a:r>
            <a:r>
              <a:rPr lang="en-US" sz="1600" dirty="0">
                <a:latin typeface="Consolas"/>
              </a:rPr>
              <a:t>"</a:t>
            </a:r>
            <a:r>
              <a:rPr lang="fr-FR" sz="1600" dirty="0">
                <a:solidFill>
                  <a:srgbClr val="A31515"/>
                </a:solidFill>
                <a:latin typeface="Consolas"/>
              </a:rPr>
              <a:t>{x} </a:t>
            </a:r>
            <a:r>
              <a:rPr lang="fr-FR" sz="1600" b="0" dirty="0">
                <a:solidFill>
                  <a:srgbClr val="000000"/>
                </a:solidFill>
                <a:latin typeface="Consolas"/>
              </a:rPr>
              <a:t>Institute , </a:t>
            </a:r>
            <a:r>
              <a:rPr lang="fr-FR" sz="1600" dirty="0">
                <a:solidFill>
                  <a:srgbClr val="A31515"/>
                </a:solidFill>
                <a:latin typeface="Consolas"/>
              </a:rPr>
              <a:t>{y}</a:t>
            </a:r>
            <a:r>
              <a:rPr lang="fr-FR" sz="1600" dirty="0">
                <a:latin typeface="Consolas"/>
              </a:rPr>
              <a:t>.</a:t>
            </a:r>
            <a:r>
              <a:rPr lang="en-US" sz="1600" dirty="0">
                <a:latin typeface="Consolas"/>
              </a:rPr>
              <a:t>"</a:t>
            </a:r>
            <a:r>
              <a:rPr lang="fr-FR" sz="1600" dirty="0">
                <a:latin typeface="Consolas"/>
              </a:rPr>
              <a:t>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A120B0B-39B9-AD57-367B-673191A05E36}"/>
              </a:ext>
            </a:extLst>
          </p:cNvPr>
          <p:cNvSpPr/>
          <p:nvPr/>
        </p:nvSpPr>
        <p:spPr>
          <a:xfrm>
            <a:off x="522642" y="2496457"/>
            <a:ext cx="499993" cy="83099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</p:txBody>
      </p:sp>
      <p:sp>
        <p:nvSpPr>
          <p:cNvPr id="9" name="Rectangle: Top Corners Rounded 6">
            <a:extLst>
              <a:ext uri="{FF2B5EF4-FFF2-40B4-BE49-F238E27FC236}">
                <a16:creationId xmlns:a16="http://schemas.microsoft.com/office/drawing/2014/main" id="{8A6E538B-2464-ACC6-2BA8-3A2149AF0ECB}"/>
              </a:ext>
            </a:extLst>
          </p:cNvPr>
          <p:cNvSpPr/>
          <p:nvPr/>
        </p:nvSpPr>
        <p:spPr>
          <a:xfrm>
            <a:off x="522642" y="2167273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fstring.py</a:t>
            </a:r>
          </a:p>
        </p:txBody>
      </p:sp>
      <p:sp>
        <p:nvSpPr>
          <p:cNvPr id="10" name="Line Callout 1 9">
            <a:extLst>
              <a:ext uri="{FF2B5EF4-FFF2-40B4-BE49-F238E27FC236}">
                <a16:creationId xmlns:a16="http://schemas.microsoft.com/office/drawing/2014/main" id="{3D7F4BDA-D3DE-C500-3358-69F28D7B190A}"/>
              </a:ext>
            </a:extLst>
          </p:cNvPr>
          <p:cNvSpPr/>
          <p:nvPr/>
        </p:nvSpPr>
        <p:spPr>
          <a:xfrm>
            <a:off x="6063365" y="2697708"/>
            <a:ext cx="5220900" cy="428493"/>
          </a:xfrm>
          <a:prstGeom prst="borderCallout1">
            <a:avLst>
              <a:gd name="adj1" fmla="val 53885"/>
              <a:gd name="adj2" fmla="val -612"/>
              <a:gd name="adj3" fmla="val 96452"/>
              <a:gd name="adj4" fmla="val -29369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Output : </a:t>
            </a:r>
            <a:r>
              <a:rPr lang="en-IN" i="1" dirty="0">
                <a:solidFill>
                  <a:schemeClr val="tx1"/>
                </a:solidFill>
              </a:rPr>
              <a:t>Darshan Institute , Rajkot.</a:t>
            </a:r>
            <a:endParaRPr lang="en-US" b="1" i="1" dirty="0">
              <a:solidFill>
                <a:srgbClr val="FF0000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B984FFA-7832-71CD-39BF-B4B0DFE3D87F}"/>
              </a:ext>
            </a:extLst>
          </p:cNvPr>
          <p:cNvSpPr/>
          <p:nvPr/>
        </p:nvSpPr>
        <p:spPr>
          <a:xfrm>
            <a:off x="1022635" y="4680857"/>
            <a:ext cx="8472276" cy="10772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x = 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25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y = 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5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z = 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1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print(f</a:t>
            </a:r>
            <a:r>
              <a:rPr lang="en-US" sz="1600" dirty="0">
                <a:latin typeface="Consolas"/>
              </a:rPr>
              <a:t>"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{x}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 * 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{y} 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- 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{z} 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= </a:t>
            </a:r>
            <a:r>
              <a:rPr lang="en-US" sz="1600" dirty="0">
                <a:solidFill>
                  <a:srgbClr val="C00000"/>
                </a:solidFill>
                <a:latin typeface="Consolas"/>
              </a:rPr>
              <a:t>{x*y-z}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")</a:t>
            </a:r>
            <a:endParaRPr lang="en-US" sz="1600" b="0" dirty="0">
              <a:solidFill>
                <a:srgbClr val="000000"/>
              </a:solidFill>
              <a:latin typeface="Consola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C1546E3-5C85-A509-EC36-C2B072D41A10}"/>
              </a:ext>
            </a:extLst>
          </p:cNvPr>
          <p:cNvSpPr/>
          <p:nvPr/>
        </p:nvSpPr>
        <p:spPr>
          <a:xfrm>
            <a:off x="522642" y="4680857"/>
            <a:ext cx="499993" cy="107721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</p:txBody>
      </p:sp>
      <p:sp>
        <p:nvSpPr>
          <p:cNvPr id="14" name="Rectangle: Top Corners Rounded 6">
            <a:extLst>
              <a:ext uri="{FF2B5EF4-FFF2-40B4-BE49-F238E27FC236}">
                <a16:creationId xmlns:a16="http://schemas.microsoft.com/office/drawing/2014/main" id="{B0940702-3C47-23F1-4E0F-21987EB77A2F}"/>
              </a:ext>
            </a:extLst>
          </p:cNvPr>
          <p:cNvSpPr/>
          <p:nvPr/>
        </p:nvSpPr>
        <p:spPr>
          <a:xfrm>
            <a:off x="522642" y="4351673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fstring.py</a:t>
            </a:r>
          </a:p>
        </p:txBody>
      </p:sp>
      <p:sp>
        <p:nvSpPr>
          <p:cNvPr id="16" name="Line Callout 1 15">
            <a:extLst>
              <a:ext uri="{FF2B5EF4-FFF2-40B4-BE49-F238E27FC236}">
                <a16:creationId xmlns:a16="http://schemas.microsoft.com/office/drawing/2014/main" id="{862DDE92-07C0-2A66-8424-356EFFCB3A23}"/>
              </a:ext>
            </a:extLst>
          </p:cNvPr>
          <p:cNvSpPr/>
          <p:nvPr/>
        </p:nvSpPr>
        <p:spPr>
          <a:xfrm>
            <a:off x="6526279" y="5100982"/>
            <a:ext cx="5220900" cy="657093"/>
          </a:xfrm>
          <a:prstGeom prst="borderCallout1">
            <a:avLst>
              <a:gd name="adj1" fmla="val 53885"/>
              <a:gd name="adj2" fmla="val -612"/>
              <a:gd name="adj3" fmla="val 69739"/>
              <a:gd name="adj4" fmla="val -27352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i="1" dirty="0">
                <a:solidFill>
                  <a:schemeClr val="tx1"/>
                </a:solidFill>
              </a:rPr>
              <a:t>Output : </a:t>
            </a:r>
            <a:r>
              <a:rPr lang="en-US" altLang="en-US" i="1" dirty="0">
                <a:solidFill>
                  <a:schemeClr val="tx1"/>
                </a:solidFill>
              </a:rPr>
              <a:t>25 * 5 - 1 = 124 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510C9F40-490A-A113-9D09-F3CC6B2C29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0411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7" grpId="0" build="p" animBg="1"/>
      <p:bldP spid="8" grpId="0" animBg="1"/>
      <p:bldP spid="9" grpId="0" animBg="1"/>
      <p:bldP spid="10" grpId="0" animBg="1"/>
      <p:bldP spid="12" grpId="0" build="p" animBg="1"/>
      <p:bldP spid="13" grpId="0" animBg="1"/>
      <p:bldP spid="14" grpId="0" animBg="1"/>
      <p:bldP spid="16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1C435-276C-1244-8962-5344CC26DD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BB67FC1-5AE1-4D4F-88D6-A05CF33FD941}"/>
              </a:ext>
            </a:extLst>
          </p:cNvPr>
          <p:cNvSpPr/>
          <p:nvPr/>
        </p:nvSpPr>
        <p:spPr>
          <a:xfrm>
            <a:off x="801829" y="1122312"/>
            <a:ext cx="5844297" cy="477053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x2 = </a:t>
            </a:r>
            <a:r>
              <a:rPr lang="en-IN" sz="1600" dirty="0">
                <a:solidFill>
                  <a:srgbClr val="A31515"/>
                </a:solidFill>
                <a:latin typeface="Menlo" panose="020B0609030804020204" pitchFamily="49" charset="0"/>
              </a:rPr>
              <a:t>'Hello'</a:t>
            </a:r>
            <a:endParaRPr lang="en-IN" sz="16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y2 = </a:t>
            </a:r>
            <a:r>
              <a:rPr lang="en-IN" sz="1600" dirty="0">
                <a:solidFill>
                  <a:srgbClr val="A31515"/>
                </a:solidFill>
                <a:latin typeface="Menlo" panose="020B0609030804020204" pitchFamily="49" charset="0"/>
              </a:rPr>
              <a:t>'Hello'</a:t>
            </a:r>
            <a:endParaRPr lang="en-IN" sz="16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x3 = [</a:t>
            </a:r>
            <a:r>
              <a:rPr lang="en-IN" sz="1600" dirty="0">
                <a:solidFill>
                  <a:srgbClr val="098658"/>
                </a:solidFill>
                <a:latin typeface="Menlo" panose="020B0609030804020204" pitchFamily="49" charset="0"/>
              </a:rPr>
              <a:t>1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,</a:t>
            </a:r>
            <a:r>
              <a:rPr lang="en-IN" sz="1600" dirty="0">
                <a:solidFill>
                  <a:srgbClr val="098658"/>
                </a:solidFill>
                <a:latin typeface="Menlo" panose="020B0609030804020204" pitchFamily="49" charset="0"/>
              </a:rPr>
              <a:t>2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,</a:t>
            </a:r>
            <a:r>
              <a:rPr lang="en-IN" sz="1600" dirty="0">
                <a:solidFill>
                  <a:srgbClr val="098658"/>
                </a:solidFill>
                <a:latin typeface="Menlo" panose="020B0609030804020204" pitchFamily="49" charset="0"/>
              </a:rPr>
              <a:t>3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]</a:t>
            </a:r>
          </a:p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y3 = x3</a:t>
            </a:r>
          </a:p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/>
            </a:r>
            <a:b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</a:b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x = </a:t>
            </a:r>
            <a:r>
              <a:rPr lang="en-IN" sz="1600" dirty="0">
                <a:solidFill>
                  <a:srgbClr val="A31515"/>
                </a:solidFill>
                <a:latin typeface="Menlo" panose="020B0609030804020204" pitchFamily="49" charset="0"/>
              </a:rPr>
              <a:t>'Hello world'</a:t>
            </a:r>
            <a:endParaRPr lang="en-IN" sz="16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y = {</a:t>
            </a:r>
            <a:r>
              <a:rPr lang="en-IN" sz="1600" dirty="0">
                <a:solidFill>
                  <a:srgbClr val="098658"/>
                </a:solidFill>
                <a:latin typeface="Menlo" panose="020B0609030804020204" pitchFamily="49" charset="0"/>
              </a:rPr>
              <a:t>1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:</a:t>
            </a:r>
            <a:r>
              <a:rPr lang="en-IN" sz="1600" dirty="0">
                <a:solidFill>
                  <a:srgbClr val="A31515"/>
                </a:solidFill>
                <a:latin typeface="Menlo" panose="020B0609030804020204" pitchFamily="49" charset="0"/>
              </a:rPr>
              <a:t>'a'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,</a:t>
            </a:r>
            <a:r>
              <a:rPr lang="en-IN" sz="1600" dirty="0">
                <a:solidFill>
                  <a:srgbClr val="098658"/>
                </a:solidFill>
                <a:latin typeface="Menlo" panose="020B0609030804020204" pitchFamily="49" charset="0"/>
              </a:rPr>
              <a:t>2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:</a:t>
            </a:r>
            <a:r>
              <a:rPr lang="en-IN" sz="1600" dirty="0">
                <a:solidFill>
                  <a:srgbClr val="A31515"/>
                </a:solidFill>
                <a:latin typeface="Menlo" panose="020B0609030804020204" pitchFamily="49" charset="0"/>
              </a:rPr>
              <a:t>'b'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</a:p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z = [</a:t>
            </a:r>
            <a:r>
              <a:rPr lang="en-IN" sz="1600" dirty="0">
                <a:solidFill>
                  <a:srgbClr val="098658"/>
                </a:solidFill>
                <a:latin typeface="Menlo" panose="020B0609030804020204" pitchFamily="49" charset="0"/>
              </a:rPr>
              <a:t>1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,</a:t>
            </a:r>
            <a:r>
              <a:rPr lang="en-IN" sz="1600" dirty="0">
                <a:solidFill>
                  <a:srgbClr val="098658"/>
                </a:solidFill>
                <a:latin typeface="Menlo" panose="020B0609030804020204" pitchFamily="49" charset="0"/>
              </a:rPr>
              <a:t>2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,</a:t>
            </a:r>
            <a:r>
              <a:rPr lang="en-IN" sz="1600" dirty="0">
                <a:solidFill>
                  <a:srgbClr val="098658"/>
                </a:solidFill>
                <a:latin typeface="Menlo" panose="020B0609030804020204" pitchFamily="49" charset="0"/>
              </a:rPr>
              <a:t>3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,</a:t>
            </a:r>
            <a:r>
              <a:rPr lang="en-IN" sz="1600" dirty="0">
                <a:solidFill>
                  <a:srgbClr val="098658"/>
                </a:solidFill>
                <a:latin typeface="Menlo" panose="020B0609030804020204" pitchFamily="49" charset="0"/>
              </a:rPr>
              <a:t>4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,</a:t>
            </a:r>
            <a:r>
              <a:rPr lang="en-IN" sz="1600" dirty="0">
                <a:solidFill>
                  <a:srgbClr val="098658"/>
                </a:solidFill>
                <a:latin typeface="Menlo" panose="020B0609030804020204" pitchFamily="49" charset="0"/>
              </a:rPr>
              <a:t>5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]</a:t>
            </a:r>
          </a:p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/>
            </a:r>
            <a:b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</a:br>
            <a:r>
              <a:rPr lang="en-IN" sz="1600" dirty="0">
                <a:solidFill>
                  <a:srgbClr val="008000"/>
                </a:solidFill>
                <a:latin typeface="Menlo" panose="020B0609030804020204" pitchFamily="49" charset="0"/>
              </a:rPr>
              <a:t># Identity Operator</a:t>
            </a:r>
            <a:endParaRPr lang="en-IN" sz="16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print(</a:t>
            </a:r>
            <a:r>
              <a:rPr lang="en-IN" sz="1600" dirty="0">
                <a:solidFill>
                  <a:srgbClr val="A31515"/>
                </a:solidFill>
                <a:latin typeface="Menlo" panose="020B0609030804020204" pitchFamily="49" charset="0"/>
              </a:rPr>
              <a:t>"x2 is y2 = "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,x2 </a:t>
            </a:r>
            <a:r>
              <a:rPr lang="en-IN" sz="1600" dirty="0">
                <a:solidFill>
                  <a:srgbClr val="0000FF"/>
                </a:solidFill>
                <a:latin typeface="Menlo" panose="020B0609030804020204" pitchFamily="49" charset="0"/>
              </a:rPr>
              <a:t>is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y2)</a:t>
            </a:r>
          </a:p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print(</a:t>
            </a:r>
            <a:r>
              <a:rPr lang="en-IN" sz="1600" dirty="0">
                <a:solidFill>
                  <a:srgbClr val="A31515"/>
                </a:solidFill>
                <a:latin typeface="Menlo" panose="020B0609030804020204" pitchFamily="49" charset="0"/>
              </a:rPr>
              <a:t>"x3 is y3 = "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,x3 </a:t>
            </a:r>
            <a:r>
              <a:rPr lang="en-IN" sz="1600" dirty="0">
                <a:solidFill>
                  <a:srgbClr val="0000FF"/>
                </a:solidFill>
                <a:latin typeface="Menlo" panose="020B0609030804020204" pitchFamily="49" charset="0"/>
              </a:rPr>
              <a:t>is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y3)</a:t>
            </a:r>
          </a:p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print(</a:t>
            </a:r>
            <a:r>
              <a:rPr lang="en-IN" sz="1600" dirty="0">
                <a:solidFill>
                  <a:srgbClr val="A31515"/>
                </a:solidFill>
                <a:latin typeface="Menlo" panose="020B0609030804020204" pitchFamily="49" charset="0"/>
              </a:rPr>
              <a:t>"x2 is not y2 ="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,x2 </a:t>
            </a:r>
            <a:r>
              <a:rPr lang="en-IN" sz="1600" dirty="0">
                <a:solidFill>
                  <a:srgbClr val="0000FF"/>
                </a:solidFill>
                <a:latin typeface="Menlo" panose="020B0609030804020204" pitchFamily="49" charset="0"/>
              </a:rPr>
              <a:t>is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IN" sz="1600" dirty="0">
                <a:solidFill>
                  <a:srgbClr val="0000FF"/>
                </a:solidFill>
                <a:latin typeface="Menlo" panose="020B0609030804020204" pitchFamily="49" charset="0"/>
              </a:rPr>
              <a:t>not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y2)</a:t>
            </a:r>
          </a:p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/>
            </a:r>
            <a:b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</a:br>
            <a:r>
              <a:rPr lang="en-IN" sz="1600" dirty="0">
                <a:solidFill>
                  <a:srgbClr val="008000"/>
                </a:solidFill>
                <a:latin typeface="Menlo" panose="020B0609030804020204" pitchFamily="49" charset="0"/>
              </a:rPr>
              <a:t># Membership Operator</a:t>
            </a:r>
            <a:endParaRPr lang="en-IN" sz="16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print(</a:t>
            </a:r>
            <a:r>
              <a:rPr lang="en-IN" sz="1600" dirty="0">
                <a:solidFill>
                  <a:srgbClr val="A31515"/>
                </a:solidFill>
                <a:latin typeface="Menlo" panose="020B0609030804020204" pitchFamily="49" charset="0"/>
              </a:rPr>
              <a:t>"'H' in x = "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-IN" sz="1600" dirty="0">
                <a:solidFill>
                  <a:srgbClr val="A31515"/>
                </a:solidFill>
                <a:latin typeface="Menlo" panose="020B0609030804020204" pitchFamily="49" charset="0"/>
              </a:rPr>
              <a:t>'H'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IN" sz="1600" dirty="0">
                <a:solidFill>
                  <a:srgbClr val="0000FF"/>
                </a:solidFill>
                <a:latin typeface="Menlo" panose="020B0609030804020204" pitchFamily="49" charset="0"/>
              </a:rPr>
              <a:t>in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x)</a:t>
            </a:r>
          </a:p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print(</a:t>
            </a:r>
            <a:r>
              <a:rPr lang="en-IN" sz="1600" dirty="0">
                <a:solidFill>
                  <a:srgbClr val="A31515"/>
                </a:solidFill>
                <a:latin typeface="Menlo" panose="020B0609030804020204" pitchFamily="49" charset="0"/>
              </a:rPr>
              <a:t>"'hello' not in x = "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,</a:t>
            </a:r>
            <a:r>
              <a:rPr lang="en-IN" sz="1600" dirty="0">
                <a:solidFill>
                  <a:srgbClr val="A31515"/>
                </a:solidFill>
                <a:latin typeface="Menlo" panose="020B0609030804020204" pitchFamily="49" charset="0"/>
              </a:rPr>
              <a:t>'hello'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IN" sz="1600" dirty="0">
                <a:solidFill>
                  <a:srgbClr val="0000FF"/>
                </a:solidFill>
                <a:latin typeface="Menlo" panose="020B0609030804020204" pitchFamily="49" charset="0"/>
              </a:rPr>
              <a:t>not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IN" sz="1600" dirty="0">
                <a:solidFill>
                  <a:srgbClr val="0000FF"/>
                </a:solidFill>
                <a:latin typeface="Menlo" panose="020B0609030804020204" pitchFamily="49" charset="0"/>
              </a:rPr>
              <a:t>in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x)</a:t>
            </a:r>
          </a:p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print(</a:t>
            </a:r>
            <a:r>
              <a:rPr lang="en-IN" sz="1600" dirty="0">
                <a:solidFill>
                  <a:srgbClr val="A31515"/>
                </a:solidFill>
                <a:latin typeface="Menlo" panose="020B0609030804020204" pitchFamily="49" charset="0"/>
              </a:rPr>
              <a:t>"5 in z = "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-IN" sz="1600" dirty="0">
                <a:solidFill>
                  <a:srgbClr val="098658"/>
                </a:solidFill>
                <a:latin typeface="Menlo" panose="020B0609030804020204" pitchFamily="49" charset="0"/>
              </a:rPr>
              <a:t>5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IN" sz="1600" dirty="0">
                <a:solidFill>
                  <a:srgbClr val="0000FF"/>
                </a:solidFill>
                <a:latin typeface="Menlo" panose="020B0609030804020204" pitchFamily="49" charset="0"/>
              </a:rPr>
              <a:t>in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z)</a:t>
            </a:r>
          </a:p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print(</a:t>
            </a:r>
            <a:r>
              <a:rPr lang="en-IN" sz="1600" dirty="0">
                <a:solidFill>
                  <a:srgbClr val="A31515"/>
                </a:solidFill>
                <a:latin typeface="Menlo" panose="020B0609030804020204" pitchFamily="49" charset="0"/>
              </a:rPr>
              <a:t>"1 in y = "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,</a:t>
            </a:r>
            <a:r>
              <a:rPr lang="en-IN" sz="1600" dirty="0">
                <a:solidFill>
                  <a:srgbClr val="098658"/>
                </a:solidFill>
                <a:latin typeface="Menlo" panose="020B0609030804020204" pitchFamily="49" charset="0"/>
              </a:rPr>
              <a:t>1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IN" sz="1600" dirty="0">
                <a:solidFill>
                  <a:srgbClr val="0000FF"/>
                </a:solidFill>
                <a:latin typeface="Menlo" panose="020B0609030804020204" pitchFamily="49" charset="0"/>
              </a:rPr>
              <a:t>in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y)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9A4F24A-435D-8B48-BE29-F78559C56C31}"/>
              </a:ext>
            </a:extLst>
          </p:cNvPr>
          <p:cNvSpPr/>
          <p:nvPr/>
        </p:nvSpPr>
        <p:spPr>
          <a:xfrm>
            <a:off x="301837" y="1122312"/>
            <a:ext cx="499993" cy="477053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7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9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10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11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12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13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14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15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16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17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18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19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20</a:t>
            </a: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EE6EBCAF-0D0F-B247-BA83-37E89C35E36D}"/>
              </a:ext>
            </a:extLst>
          </p:cNvPr>
          <p:cNvSpPr/>
          <p:nvPr/>
        </p:nvSpPr>
        <p:spPr>
          <a:xfrm>
            <a:off x="301837" y="793128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 err="1">
                <a:solidFill>
                  <a:schemeClr val="bg1"/>
                </a:solidFill>
              </a:rPr>
              <a:t>Example.py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1668655-6333-054B-B538-C364A37255F4}"/>
              </a:ext>
            </a:extLst>
          </p:cNvPr>
          <p:cNvSpPr/>
          <p:nvPr/>
        </p:nvSpPr>
        <p:spPr>
          <a:xfrm>
            <a:off x="7382861" y="1415978"/>
            <a:ext cx="3545334" cy="181588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x2 is y2 =  True</a:t>
            </a:r>
          </a:p>
          <a:p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x3 is y3 =  True</a:t>
            </a:r>
          </a:p>
          <a:p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x2 is not y2 = False</a:t>
            </a:r>
          </a:p>
          <a:p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'H' in x =  True</a:t>
            </a:r>
          </a:p>
          <a:p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'hello' not in x = True</a:t>
            </a:r>
          </a:p>
          <a:p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5 in z = True</a:t>
            </a:r>
          </a:p>
          <a:p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1 in y = True</a:t>
            </a:r>
          </a:p>
        </p:txBody>
      </p:sp>
      <p:sp>
        <p:nvSpPr>
          <p:cNvPr id="8" name="Rectangle: Top Corners Rounded 6">
            <a:extLst>
              <a:ext uri="{FF2B5EF4-FFF2-40B4-BE49-F238E27FC236}">
                <a16:creationId xmlns:a16="http://schemas.microsoft.com/office/drawing/2014/main" id="{ECE420CF-6D12-AE41-8275-CB62DCDBF9DC}"/>
              </a:ext>
            </a:extLst>
          </p:cNvPr>
          <p:cNvSpPr/>
          <p:nvPr/>
        </p:nvSpPr>
        <p:spPr>
          <a:xfrm>
            <a:off x="7382861" y="1098724"/>
            <a:ext cx="1262472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2916210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  <p:bldP spid="5" grpId="0" animBg="1"/>
      <p:bldP spid="6" grpId="0" animBg="1"/>
      <p:bldP spid="7" grpId="0" uiExpand="1" build="p" animBg="1"/>
      <p:bldP spid="8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8DFD4C-F342-C7D6-0B0C-F954E65DF8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6FA9271-8AC1-332D-6DBC-DAE6ACF5E2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Structures in Python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D779110-7055-6F52-9839-1D30F5C4DE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238595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Structures in Python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There are four built-in data structures in Python - </a:t>
            </a:r>
            <a:r>
              <a:rPr lang="en-US" i="1" dirty="0"/>
              <a:t>list, dictionary, </a:t>
            </a:r>
            <a:r>
              <a:rPr lang="en-US" i="1" dirty="0" err="1"/>
              <a:t>tuple</a:t>
            </a:r>
            <a:r>
              <a:rPr lang="en-US" i="1" dirty="0"/>
              <a:t> and set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Lets explore all the data structures in detail…</a:t>
            </a:r>
          </a:p>
        </p:txBody>
      </p:sp>
      <p:graphicFrame>
        <p:nvGraphicFramePr>
          <p:cNvPr id="21" name="Content Placeholder 4">
            <a:extLst>
              <a:ext uri="{FF2B5EF4-FFF2-40B4-BE49-F238E27FC236}">
                <a16:creationId xmlns:a16="http://schemas.microsoft.com/office/drawing/2014/main" id="{2486BC6F-42B7-4A1D-889E-1B1818D1D5F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11001243"/>
              </p:ext>
            </p:extLst>
          </p:nvPr>
        </p:nvGraphicFramePr>
        <p:xfrm>
          <a:off x="369291" y="1490045"/>
          <a:ext cx="11413358" cy="32156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3549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96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487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Name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>
                          <a:solidFill>
                            <a:schemeClr val="tx1"/>
                          </a:solidFill>
                        </a:rPr>
                        <a:t>Type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lang="en-US" sz="1900" dirty="0"/>
                        <a:t>List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2"/>
                          </a:solidFill>
                        </a:rPr>
                        <a:t>list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Ordered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 Sequence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</a:rPr>
                        <a:t> of objects, will be represented with </a:t>
                      </a:r>
                      <a:r>
                        <a:rPr lang="en-US" sz="2000" b="1" baseline="0" dirty="0">
                          <a:solidFill>
                            <a:schemeClr val="tx1"/>
                          </a:solidFill>
                        </a:rPr>
                        <a:t>square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</a:rPr>
                        <a:t> brackets </a:t>
                      </a:r>
                      <a:r>
                        <a:rPr lang="en-US" sz="2000" b="1" baseline="0" dirty="0">
                          <a:solidFill>
                            <a:srgbClr val="FF0000"/>
                          </a:solidFill>
                        </a:rPr>
                        <a:t>[ ]</a:t>
                      </a:r>
                    </a:p>
                    <a:p>
                      <a:pPr algn="l"/>
                      <a:r>
                        <a:rPr lang="en-IN" sz="2000" b="0" baseline="0" dirty="0">
                          <a:solidFill>
                            <a:schemeClr val="tx1"/>
                          </a:solidFill>
                        </a:rPr>
                        <a:t>Example : [ 18, “</a:t>
                      </a:r>
                      <a:r>
                        <a:rPr lang="en-IN" sz="2000" b="0" baseline="0" dirty="0" err="1">
                          <a:solidFill>
                            <a:schemeClr val="tx1"/>
                          </a:solidFill>
                        </a:rPr>
                        <a:t>darshan</a:t>
                      </a:r>
                      <a:r>
                        <a:rPr lang="en-IN" sz="2000" b="0" baseline="0" dirty="0">
                          <a:solidFill>
                            <a:schemeClr val="tx1"/>
                          </a:solidFill>
                        </a:rPr>
                        <a:t>”,  True, 102.3 ]</a:t>
                      </a:r>
                      <a:endParaRPr 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lang="en-US" sz="1900" dirty="0"/>
                        <a:t>Dictionary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solidFill>
                            <a:schemeClr val="tx2"/>
                          </a:solidFill>
                        </a:rPr>
                        <a:t>dict</a:t>
                      </a:r>
                      <a:endParaRPr lang="en-US" sz="20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Ordered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key </a:t>
                      </a:r>
                      <a:r>
                        <a:rPr lang="en-US" sz="2000" b="1" dirty="0">
                          <a:solidFill>
                            <a:srgbClr val="FF0000"/>
                          </a:solidFill>
                        </a:rPr>
                        <a:t>:</a:t>
                      </a: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 value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</a:rPr>
                        <a:t> pair of objects , will be represented with </a:t>
                      </a:r>
                      <a:r>
                        <a:rPr lang="en-US" sz="2000" b="1" baseline="0" dirty="0">
                          <a:solidFill>
                            <a:schemeClr val="tx1"/>
                          </a:solidFill>
                        </a:rPr>
                        <a:t>curly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</a:rPr>
                        <a:t> brackets </a:t>
                      </a:r>
                      <a:r>
                        <a:rPr lang="en-US" sz="2000" b="1" baseline="0" dirty="0">
                          <a:solidFill>
                            <a:srgbClr val="FF0000"/>
                          </a:solidFill>
                        </a:rPr>
                        <a:t>{ }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b="0" baseline="0" dirty="0">
                          <a:solidFill>
                            <a:schemeClr val="tx1"/>
                          </a:solidFill>
                        </a:rPr>
                        <a:t>Example : { “college”: “</a:t>
                      </a:r>
                      <a:r>
                        <a:rPr lang="en-IN" sz="2000" b="0" baseline="0" dirty="0" err="1">
                          <a:solidFill>
                            <a:schemeClr val="tx1"/>
                          </a:solidFill>
                        </a:rPr>
                        <a:t>darshan</a:t>
                      </a:r>
                      <a:r>
                        <a:rPr lang="en-IN" sz="2000" b="0" baseline="0" dirty="0">
                          <a:solidFill>
                            <a:schemeClr val="tx1"/>
                          </a:solidFill>
                        </a:rPr>
                        <a:t>”,  “code”: “054” }</a:t>
                      </a:r>
                      <a:endParaRPr 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lang="en-IN" sz="1900" dirty="0" err="1"/>
                        <a:t>Tuple</a:t>
                      </a:r>
                      <a:endParaRPr lang="en-IN" sz="19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 err="1">
                          <a:solidFill>
                            <a:schemeClr val="tx2"/>
                          </a:solidFill>
                        </a:rPr>
                        <a:t>tup</a:t>
                      </a:r>
                      <a:endParaRPr lang="en-US" sz="20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 b="1" dirty="0">
                          <a:solidFill>
                            <a:schemeClr val="tx1"/>
                          </a:solidFill>
                        </a:rPr>
                        <a:t>Ordered</a:t>
                      </a:r>
                      <a:r>
                        <a:rPr lang="en-IN" sz="2000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IN" sz="2000" b="1" baseline="0" dirty="0">
                          <a:solidFill>
                            <a:schemeClr val="tx1"/>
                          </a:solidFill>
                        </a:rPr>
                        <a:t>immutable</a:t>
                      </a:r>
                      <a:r>
                        <a:rPr lang="en-IN" sz="2000" baseline="0" dirty="0">
                          <a:solidFill>
                            <a:schemeClr val="tx1"/>
                          </a:solidFill>
                        </a:rPr>
                        <a:t> sequence of objects, will be represented with </a:t>
                      </a:r>
                      <a:r>
                        <a:rPr lang="en-IN" sz="2000" b="1" baseline="0" dirty="0">
                          <a:solidFill>
                            <a:schemeClr val="tx1"/>
                          </a:solidFill>
                        </a:rPr>
                        <a:t>round</a:t>
                      </a:r>
                      <a:r>
                        <a:rPr lang="en-IN" sz="2000" baseline="0" dirty="0">
                          <a:solidFill>
                            <a:schemeClr val="tx1"/>
                          </a:solidFill>
                        </a:rPr>
                        <a:t> brackets </a:t>
                      </a:r>
                      <a:r>
                        <a:rPr lang="en-IN" sz="2000" b="1" baseline="0" dirty="0">
                          <a:solidFill>
                            <a:srgbClr val="FF0000"/>
                          </a:solidFill>
                        </a:rPr>
                        <a:t>( )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b="0" baseline="0" dirty="0">
                          <a:solidFill>
                            <a:schemeClr val="tx1"/>
                          </a:solidFill>
                        </a:rPr>
                        <a:t>Example : ( 18, “</a:t>
                      </a:r>
                      <a:r>
                        <a:rPr lang="en-IN" sz="2000" b="0" baseline="0" dirty="0" err="1">
                          <a:solidFill>
                            <a:schemeClr val="tx1"/>
                          </a:solidFill>
                        </a:rPr>
                        <a:t>darshan</a:t>
                      </a:r>
                      <a:r>
                        <a:rPr lang="en-IN" sz="2000" b="0" baseline="0" dirty="0">
                          <a:solidFill>
                            <a:schemeClr val="tx1"/>
                          </a:solidFill>
                        </a:rPr>
                        <a:t>”,  True, 102.3 )</a:t>
                      </a:r>
                      <a:endParaRPr 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lang="en-IN" sz="1900" dirty="0"/>
                        <a:t>Set</a:t>
                      </a:r>
                      <a:endParaRPr lang="en-US" sz="19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solidFill>
                            <a:schemeClr val="tx2"/>
                          </a:solidFill>
                        </a:rPr>
                        <a:t>set</a:t>
                      </a:r>
                      <a:endParaRPr lang="en-US" sz="20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 b="1" dirty="0">
                          <a:solidFill>
                            <a:schemeClr val="tx1"/>
                          </a:solidFill>
                        </a:rPr>
                        <a:t>Unordered</a:t>
                      </a:r>
                      <a:r>
                        <a:rPr lang="en-IN" sz="2000" baseline="0" dirty="0">
                          <a:solidFill>
                            <a:schemeClr val="tx1"/>
                          </a:solidFill>
                        </a:rPr>
                        <a:t> collection of </a:t>
                      </a:r>
                      <a:r>
                        <a:rPr lang="en-IN" sz="2000" b="1" baseline="0" dirty="0">
                          <a:solidFill>
                            <a:schemeClr val="tx1"/>
                          </a:solidFill>
                        </a:rPr>
                        <a:t>unique</a:t>
                      </a:r>
                      <a:r>
                        <a:rPr lang="en-IN" sz="2000" baseline="0" dirty="0">
                          <a:solidFill>
                            <a:schemeClr val="tx1"/>
                          </a:solidFill>
                        </a:rPr>
                        <a:t> objects, will be represented with the </a:t>
                      </a:r>
                      <a:r>
                        <a:rPr lang="en-IN" sz="2000" b="1" baseline="0" dirty="0">
                          <a:solidFill>
                            <a:schemeClr val="tx1"/>
                          </a:solidFill>
                        </a:rPr>
                        <a:t>curly</a:t>
                      </a:r>
                      <a:r>
                        <a:rPr lang="en-IN" sz="2000" baseline="0" dirty="0">
                          <a:solidFill>
                            <a:schemeClr val="tx1"/>
                          </a:solidFill>
                        </a:rPr>
                        <a:t> brackets </a:t>
                      </a:r>
                      <a:r>
                        <a:rPr lang="en-IN" sz="2000" b="1" baseline="0" dirty="0">
                          <a:solidFill>
                            <a:srgbClr val="FF0000"/>
                          </a:solidFill>
                        </a:rPr>
                        <a:t>{ }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b="0" baseline="0" dirty="0">
                          <a:solidFill>
                            <a:schemeClr val="tx1"/>
                          </a:solidFill>
                        </a:rPr>
                        <a:t>Example : { 18, “</a:t>
                      </a:r>
                      <a:r>
                        <a:rPr lang="en-IN" sz="2000" b="0" baseline="0" dirty="0" err="1">
                          <a:solidFill>
                            <a:schemeClr val="tx1"/>
                          </a:solidFill>
                        </a:rPr>
                        <a:t>darshan</a:t>
                      </a:r>
                      <a:r>
                        <a:rPr lang="en-IN" sz="2000" b="0" baseline="0" dirty="0">
                          <a:solidFill>
                            <a:schemeClr val="tx1"/>
                          </a:solidFill>
                        </a:rPr>
                        <a:t>”,  True, 102.3 }</a:t>
                      </a:r>
                      <a:endParaRPr 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List is a </a:t>
            </a:r>
            <a:r>
              <a:rPr lang="en-US" dirty="0">
                <a:solidFill>
                  <a:srgbClr val="C00000"/>
                </a:solidFill>
              </a:rPr>
              <a:t>mutable ordered sequence of objects</a:t>
            </a:r>
            <a:r>
              <a:rPr lang="en-US" dirty="0"/>
              <a:t>, duplicate values are allowed inside list.</a:t>
            </a:r>
          </a:p>
          <a:p>
            <a:r>
              <a:rPr lang="en-US" dirty="0"/>
              <a:t>List will be represented by </a:t>
            </a:r>
            <a:r>
              <a:rPr lang="en-US" dirty="0">
                <a:solidFill>
                  <a:srgbClr val="C00000"/>
                </a:solidFill>
              </a:rPr>
              <a:t>square brackets </a:t>
            </a:r>
            <a:r>
              <a:rPr lang="en-US" dirty="0"/>
              <a:t>[ ].</a:t>
            </a:r>
          </a:p>
          <a:p>
            <a:r>
              <a:rPr lang="en-US" dirty="0"/>
              <a:t>Python does not have array, List can be used similar to Array.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We can use slicing similar to string in order to get the sub list from the list.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56EBDA-49A4-A843-A786-6989C63A54AA}"/>
              </a:ext>
            </a:extLst>
          </p:cNvPr>
          <p:cNvSpPr/>
          <p:nvPr/>
        </p:nvSpPr>
        <p:spPr>
          <a:xfrm>
            <a:off x="1022635" y="2614991"/>
            <a:ext cx="8472276" cy="15696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 err="1">
                <a:solidFill>
                  <a:srgbClr val="000000"/>
                </a:solidFill>
                <a:latin typeface="Consolas"/>
              </a:rPr>
              <a:t>my_list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= [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darshan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, 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'institute'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, 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rkot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]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print(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my_list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[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1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])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print(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len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my_list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))</a:t>
            </a:r>
          </a:p>
          <a:p>
            <a:r>
              <a:rPr lang="en-US" sz="1600" dirty="0" err="1">
                <a:solidFill>
                  <a:srgbClr val="000000"/>
                </a:solidFill>
                <a:latin typeface="Consolas"/>
              </a:rPr>
              <a:t>my_list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[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2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] = 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"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rajkot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"</a:t>
            </a:r>
            <a:endParaRPr lang="en-US" sz="1600" dirty="0">
              <a:solidFill>
                <a:srgbClr val="000000"/>
              </a:solidFill>
              <a:latin typeface="Consolas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print(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my_list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</a:t>
            </a:r>
          </a:p>
          <a:p>
            <a:r>
              <a:rPr lang="en-US" sz="1600" b="0" dirty="0">
                <a:solidFill>
                  <a:srgbClr val="000000"/>
                </a:solidFill>
                <a:latin typeface="Consolas"/>
              </a:rPr>
              <a:t>print(</a:t>
            </a:r>
            <a:r>
              <a:rPr lang="en-US" sz="1600" b="0" dirty="0" err="1">
                <a:solidFill>
                  <a:srgbClr val="000000"/>
                </a:solidFill>
                <a:latin typeface="Consolas"/>
              </a:rPr>
              <a:t>my_list</a:t>
            </a:r>
            <a:r>
              <a:rPr lang="en-US" sz="1600" b="0" dirty="0">
                <a:solidFill>
                  <a:srgbClr val="000000"/>
                </a:solidFill>
                <a:latin typeface="Consolas"/>
              </a:rPr>
              <a:t>[-1])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F9F4A0-4592-C04D-B2D0-0BF66A3BFA20}"/>
              </a:ext>
            </a:extLst>
          </p:cNvPr>
          <p:cNvSpPr/>
          <p:nvPr/>
        </p:nvSpPr>
        <p:spPr>
          <a:xfrm>
            <a:off x="522642" y="2614991"/>
            <a:ext cx="499993" cy="156966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0336C271-A2A3-9445-9946-5006F0A250F4}"/>
              </a:ext>
            </a:extLst>
          </p:cNvPr>
          <p:cNvSpPr/>
          <p:nvPr/>
        </p:nvSpPr>
        <p:spPr>
          <a:xfrm>
            <a:off x="522642" y="2285807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list.py</a:t>
            </a:r>
          </a:p>
        </p:txBody>
      </p:sp>
      <p:sp>
        <p:nvSpPr>
          <p:cNvPr id="7" name="Line Callout 1 6"/>
          <p:cNvSpPr/>
          <p:nvPr/>
        </p:nvSpPr>
        <p:spPr>
          <a:xfrm>
            <a:off x="6260060" y="2792675"/>
            <a:ext cx="5220900" cy="428493"/>
          </a:xfrm>
          <a:prstGeom prst="borderCallout1">
            <a:avLst>
              <a:gd name="adj1" fmla="val 53885"/>
              <a:gd name="adj2" fmla="val -612"/>
              <a:gd name="adj3" fmla="val 107614"/>
              <a:gd name="adj4" fmla="val -57217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Output : </a:t>
            </a:r>
            <a:r>
              <a:rPr lang="en-IN" i="1" dirty="0">
                <a:solidFill>
                  <a:schemeClr val="tx1"/>
                </a:solidFill>
              </a:rPr>
              <a:t>3 </a:t>
            </a:r>
            <a:r>
              <a:rPr lang="en-IN" dirty="0">
                <a:solidFill>
                  <a:schemeClr val="tx1"/>
                </a:solidFill>
              </a:rPr>
              <a:t>(length of the List)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8" name="Line Callout 1 7"/>
          <p:cNvSpPr/>
          <p:nvPr/>
        </p:nvSpPr>
        <p:spPr>
          <a:xfrm>
            <a:off x="6260059" y="2319501"/>
            <a:ext cx="5220900" cy="428493"/>
          </a:xfrm>
          <a:prstGeom prst="borderCallout1">
            <a:avLst>
              <a:gd name="adj1" fmla="val 53885"/>
              <a:gd name="adj2" fmla="val -612"/>
              <a:gd name="adj3" fmla="val 164842"/>
              <a:gd name="adj4" fmla="val -61265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Output : </a:t>
            </a:r>
            <a:r>
              <a:rPr lang="en-IN" i="1" dirty="0">
                <a:solidFill>
                  <a:schemeClr val="tx1"/>
                </a:solidFill>
              </a:rPr>
              <a:t>institute </a:t>
            </a:r>
            <a:r>
              <a:rPr lang="en-IN" dirty="0">
                <a:solidFill>
                  <a:schemeClr val="tx1"/>
                </a:solidFill>
              </a:rPr>
              <a:t>(List index starts with 0)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9" name="Line Callout 1 8"/>
          <p:cNvSpPr/>
          <p:nvPr/>
        </p:nvSpPr>
        <p:spPr>
          <a:xfrm>
            <a:off x="6251433" y="3257383"/>
            <a:ext cx="5220900" cy="624504"/>
          </a:xfrm>
          <a:prstGeom prst="borderCallout1">
            <a:avLst>
              <a:gd name="adj1" fmla="val 53885"/>
              <a:gd name="adj2" fmla="val -612"/>
              <a:gd name="adj3" fmla="val 77979"/>
              <a:gd name="adj4" fmla="val -67911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Output : </a:t>
            </a:r>
            <a:r>
              <a:rPr lang="en-IN" i="1" dirty="0">
                <a:solidFill>
                  <a:schemeClr val="tx1"/>
                </a:solidFill>
              </a:rPr>
              <a:t>['</a:t>
            </a:r>
            <a:r>
              <a:rPr lang="en-IN" i="1" dirty="0" err="1">
                <a:solidFill>
                  <a:schemeClr val="tx1"/>
                </a:solidFill>
              </a:rPr>
              <a:t>darshan</a:t>
            </a:r>
            <a:r>
              <a:rPr lang="en-IN" i="1" dirty="0">
                <a:solidFill>
                  <a:schemeClr val="tx1"/>
                </a:solidFill>
              </a:rPr>
              <a:t>', 'institute', '</a:t>
            </a:r>
            <a:r>
              <a:rPr lang="en-IN" i="1" dirty="0" err="1">
                <a:solidFill>
                  <a:schemeClr val="tx1"/>
                </a:solidFill>
              </a:rPr>
              <a:t>rajkot</a:t>
            </a:r>
            <a:r>
              <a:rPr lang="en-IN" i="1" dirty="0">
                <a:solidFill>
                  <a:schemeClr val="tx1"/>
                </a:solidFill>
              </a:rPr>
              <a:t>']</a:t>
            </a:r>
          </a:p>
          <a:p>
            <a:pPr algn="ctr"/>
            <a:r>
              <a:rPr lang="en-IN" b="1" i="1" dirty="0">
                <a:solidFill>
                  <a:schemeClr val="tx1"/>
                </a:solidFill>
              </a:rPr>
              <a:t>Note : </a:t>
            </a:r>
            <a:r>
              <a:rPr lang="en-IN" i="1" dirty="0">
                <a:solidFill>
                  <a:schemeClr val="tx1"/>
                </a:solidFill>
              </a:rPr>
              <a:t> spelling of </a:t>
            </a:r>
            <a:r>
              <a:rPr lang="en-IN" i="1" dirty="0" err="1">
                <a:solidFill>
                  <a:schemeClr val="tx1"/>
                </a:solidFill>
              </a:rPr>
              <a:t>rajkot</a:t>
            </a:r>
            <a:r>
              <a:rPr lang="en-IN" i="1" dirty="0">
                <a:solidFill>
                  <a:schemeClr val="tx1"/>
                </a:solidFill>
              </a:rPr>
              <a:t> is updated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456EBDA-49A4-A843-A786-6989C63A54AA}"/>
              </a:ext>
            </a:extLst>
          </p:cNvPr>
          <p:cNvSpPr/>
          <p:nvPr/>
        </p:nvSpPr>
        <p:spPr>
          <a:xfrm>
            <a:off x="1022635" y="5222724"/>
            <a:ext cx="8472276" cy="5847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 err="1">
                <a:solidFill>
                  <a:srgbClr val="000000"/>
                </a:solidFill>
                <a:latin typeface="Consolas"/>
              </a:rPr>
              <a:t>my_list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= [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darshan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, 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'institute'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, 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rajkot'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,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'gujarat'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,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'INDIA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]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print(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my_list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[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1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: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3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])</a:t>
            </a:r>
            <a:endParaRPr lang="en-US" sz="1600" b="0" dirty="0">
              <a:solidFill>
                <a:srgbClr val="000000"/>
              </a:solidFill>
              <a:latin typeface="Consola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5F9F4A0-4592-C04D-B2D0-0BF66A3BFA20}"/>
              </a:ext>
            </a:extLst>
          </p:cNvPr>
          <p:cNvSpPr/>
          <p:nvPr/>
        </p:nvSpPr>
        <p:spPr>
          <a:xfrm>
            <a:off x="522642" y="5222724"/>
            <a:ext cx="499993" cy="5847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</p:txBody>
      </p:sp>
      <p:sp>
        <p:nvSpPr>
          <p:cNvPr id="12" name="Rectangle: Top Corners Rounded 6">
            <a:extLst>
              <a:ext uri="{FF2B5EF4-FFF2-40B4-BE49-F238E27FC236}">
                <a16:creationId xmlns:a16="http://schemas.microsoft.com/office/drawing/2014/main" id="{0336C271-A2A3-9445-9946-5006F0A250F4}"/>
              </a:ext>
            </a:extLst>
          </p:cNvPr>
          <p:cNvSpPr/>
          <p:nvPr/>
        </p:nvSpPr>
        <p:spPr>
          <a:xfrm>
            <a:off x="522642" y="4893540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list.py</a:t>
            </a:r>
          </a:p>
        </p:txBody>
      </p:sp>
      <p:sp>
        <p:nvSpPr>
          <p:cNvPr id="13" name="Line Callout 1 12"/>
          <p:cNvSpPr/>
          <p:nvPr/>
        </p:nvSpPr>
        <p:spPr>
          <a:xfrm>
            <a:off x="6251433" y="5616707"/>
            <a:ext cx="5220900" cy="716360"/>
          </a:xfrm>
          <a:prstGeom prst="borderCallout1">
            <a:avLst>
              <a:gd name="adj1" fmla="val 53885"/>
              <a:gd name="adj2" fmla="val -612"/>
              <a:gd name="adj3" fmla="val 13685"/>
              <a:gd name="adj4" fmla="val -57857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Output : </a:t>
            </a:r>
            <a:r>
              <a:rPr lang="en-IN" i="1" dirty="0">
                <a:solidFill>
                  <a:schemeClr val="tx1"/>
                </a:solidFill>
              </a:rPr>
              <a:t>['institute', '</a:t>
            </a:r>
            <a:r>
              <a:rPr lang="en-IN" i="1" dirty="0" err="1">
                <a:solidFill>
                  <a:schemeClr val="tx1"/>
                </a:solidFill>
              </a:rPr>
              <a:t>rajkot</a:t>
            </a:r>
            <a:r>
              <a:rPr lang="en-IN" i="1" dirty="0">
                <a:solidFill>
                  <a:schemeClr val="tx1"/>
                </a:solidFill>
              </a:rPr>
              <a:t>']</a:t>
            </a:r>
          </a:p>
          <a:p>
            <a:pPr algn="ctr"/>
            <a:r>
              <a:rPr lang="en-IN" b="1" i="1" dirty="0">
                <a:solidFill>
                  <a:schemeClr val="tx1"/>
                </a:solidFill>
              </a:rPr>
              <a:t>Note : </a:t>
            </a:r>
            <a:r>
              <a:rPr lang="en-IN" i="1" dirty="0">
                <a:solidFill>
                  <a:schemeClr val="tx1"/>
                </a:solidFill>
              </a:rPr>
              <a:t> end index not included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4" name="Line Callout 1 13"/>
          <p:cNvSpPr/>
          <p:nvPr/>
        </p:nvSpPr>
        <p:spPr>
          <a:xfrm>
            <a:off x="6260060" y="3931362"/>
            <a:ext cx="5220900" cy="428493"/>
          </a:xfrm>
          <a:prstGeom prst="borderCallout1">
            <a:avLst>
              <a:gd name="adj1" fmla="val 53885"/>
              <a:gd name="adj2" fmla="val -612"/>
              <a:gd name="adj3" fmla="val 27086"/>
              <a:gd name="adj4" fmla="val -59200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Output : </a:t>
            </a:r>
            <a:r>
              <a:rPr lang="en-IN" i="1" dirty="0" err="1">
                <a:solidFill>
                  <a:schemeClr val="tx1"/>
                </a:solidFill>
              </a:rPr>
              <a:t>rajkot</a:t>
            </a:r>
            <a:r>
              <a:rPr lang="en-IN" i="1" dirty="0">
                <a:solidFill>
                  <a:schemeClr val="tx1"/>
                </a:solidFill>
              </a:rPr>
              <a:t> </a:t>
            </a:r>
            <a:r>
              <a:rPr lang="en-IN" dirty="0">
                <a:solidFill>
                  <a:schemeClr val="tx1"/>
                </a:solidFill>
              </a:rPr>
              <a:t>(-1 represent last element)</a:t>
            </a:r>
            <a:endParaRPr 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uiExpand="1" build="p" animBg="1"/>
      <p:bldP spid="5" grpId="0" animBg="1"/>
      <p:bldP spid="6" grpId="0" animBg="1"/>
      <p:bldP spid="7" grpId="0" animBg="1"/>
      <p:bldP spid="7" grpId="1" animBg="1"/>
      <p:bldP spid="8" grpId="0" animBg="1"/>
      <p:bldP spid="8" grpId="1" animBg="1"/>
      <p:bldP spid="9" grpId="0" animBg="1"/>
      <p:bldP spid="9" grpId="1" animBg="1"/>
      <p:bldP spid="10" grpId="0" build="p" animBg="1"/>
      <p:bldP spid="11" grpId="0" animBg="1"/>
      <p:bldP spid="12" grpId="0" animBg="1"/>
      <p:bldP spid="13" grpId="0" animBg="1"/>
      <p:bldP spid="13" grpId="1" animBg="1"/>
      <p:bldP spid="14" grpId="0" animBg="1"/>
      <p:bldP spid="14" grpId="1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append() method will </a:t>
            </a:r>
            <a:r>
              <a:rPr lang="en-US" dirty="0">
                <a:solidFill>
                  <a:srgbClr val="C00000"/>
                </a:solidFill>
              </a:rPr>
              <a:t>add element </a:t>
            </a:r>
            <a:r>
              <a:rPr lang="en-US" dirty="0"/>
              <a:t>at the end of the list.</a:t>
            </a:r>
          </a:p>
          <a:p>
            <a:endParaRPr lang="en-US" dirty="0"/>
          </a:p>
          <a:p>
            <a:endParaRPr lang="en-US" dirty="0"/>
          </a:p>
          <a:p>
            <a:pPr>
              <a:buNone/>
            </a:pPr>
            <a:endParaRPr lang="en-US" dirty="0"/>
          </a:p>
          <a:p>
            <a:r>
              <a:rPr lang="en-US" dirty="0"/>
              <a:t>insert() method will </a:t>
            </a:r>
            <a:r>
              <a:rPr lang="en-US" dirty="0">
                <a:solidFill>
                  <a:srgbClr val="C00000"/>
                </a:solidFill>
              </a:rPr>
              <a:t>add element </a:t>
            </a:r>
            <a:r>
              <a:rPr lang="en-US" dirty="0"/>
              <a:t>at the </a:t>
            </a:r>
            <a:r>
              <a:rPr lang="en-US" dirty="0">
                <a:solidFill>
                  <a:srgbClr val="C00000"/>
                </a:solidFill>
              </a:rPr>
              <a:t>specified index </a:t>
            </a:r>
            <a:r>
              <a:rPr lang="en-US" dirty="0"/>
              <a:t>in the list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sz="700" dirty="0"/>
          </a:p>
          <a:p>
            <a:r>
              <a:rPr lang="en-US" dirty="0"/>
              <a:t>extend() method will add </a:t>
            </a:r>
            <a:r>
              <a:rPr lang="en-US" dirty="0">
                <a:solidFill>
                  <a:srgbClr val="C00000"/>
                </a:solidFill>
              </a:rPr>
              <a:t>one data structure </a:t>
            </a:r>
            <a:r>
              <a:rPr lang="en-US" dirty="0"/>
              <a:t>(List or any) to current List</a:t>
            </a:r>
          </a:p>
          <a:p>
            <a:endParaRPr lang="en-US" dirty="0"/>
          </a:p>
          <a:p>
            <a:pPr>
              <a:buNone/>
            </a:pP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456EBDA-49A4-A843-A786-6989C63A54AA}"/>
              </a:ext>
            </a:extLst>
          </p:cNvPr>
          <p:cNvSpPr/>
          <p:nvPr/>
        </p:nvSpPr>
        <p:spPr>
          <a:xfrm>
            <a:off x="1022635" y="1641324"/>
            <a:ext cx="8472276" cy="86177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 err="1">
                <a:solidFill>
                  <a:srgbClr val="000000"/>
                </a:solidFill>
                <a:latin typeface="Consolas"/>
              </a:rPr>
              <a:t>my_list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= [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darshan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, 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'institute'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, 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rajkot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]</a:t>
            </a:r>
          </a:p>
          <a:p>
            <a:r>
              <a:rPr lang="en-US" sz="1600" dirty="0" err="1">
                <a:solidFill>
                  <a:srgbClr val="000000"/>
                </a:solidFill>
                <a:latin typeface="Consolas"/>
              </a:rPr>
              <a:t>my_list.append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gujarat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print(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my_list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</a:t>
            </a:r>
            <a:endParaRPr lang="en-US" sz="1600" b="0" dirty="0">
              <a:solidFill>
                <a:srgbClr val="000000"/>
              </a:solidFill>
              <a:latin typeface="Consola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5F9F4A0-4592-C04D-B2D0-0BF66A3BFA20}"/>
              </a:ext>
            </a:extLst>
          </p:cNvPr>
          <p:cNvSpPr/>
          <p:nvPr/>
        </p:nvSpPr>
        <p:spPr>
          <a:xfrm>
            <a:off x="522642" y="1641324"/>
            <a:ext cx="499993" cy="83099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</p:txBody>
      </p:sp>
      <p:sp>
        <p:nvSpPr>
          <p:cNvPr id="14" name="Rectangle: Top Corners Rounded 6">
            <a:extLst>
              <a:ext uri="{FF2B5EF4-FFF2-40B4-BE49-F238E27FC236}">
                <a16:creationId xmlns:a16="http://schemas.microsoft.com/office/drawing/2014/main" id="{0336C271-A2A3-9445-9946-5006F0A250F4}"/>
              </a:ext>
            </a:extLst>
          </p:cNvPr>
          <p:cNvSpPr/>
          <p:nvPr/>
        </p:nvSpPr>
        <p:spPr>
          <a:xfrm>
            <a:off x="522642" y="1312140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appendlistdemo.py</a:t>
            </a:r>
          </a:p>
        </p:txBody>
      </p:sp>
      <p:sp>
        <p:nvSpPr>
          <p:cNvPr id="15" name="Line Callout 1 14"/>
          <p:cNvSpPr/>
          <p:nvPr/>
        </p:nvSpPr>
        <p:spPr>
          <a:xfrm>
            <a:off x="5980499" y="1942174"/>
            <a:ext cx="5220900" cy="428493"/>
          </a:xfrm>
          <a:prstGeom prst="borderCallout1">
            <a:avLst>
              <a:gd name="adj1" fmla="val 53885"/>
              <a:gd name="adj2" fmla="val -612"/>
              <a:gd name="adj3" fmla="val 90987"/>
              <a:gd name="adj4" fmla="val -61748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Output : </a:t>
            </a:r>
            <a:r>
              <a:rPr lang="en-IN" i="1" dirty="0">
                <a:solidFill>
                  <a:schemeClr val="tx1"/>
                </a:solidFill>
              </a:rPr>
              <a:t>['</a:t>
            </a:r>
            <a:r>
              <a:rPr lang="en-IN" i="1" dirty="0" err="1">
                <a:solidFill>
                  <a:schemeClr val="tx1"/>
                </a:solidFill>
              </a:rPr>
              <a:t>darshan</a:t>
            </a:r>
            <a:r>
              <a:rPr lang="en-IN" i="1" dirty="0">
                <a:solidFill>
                  <a:schemeClr val="tx1"/>
                </a:solidFill>
              </a:rPr>
              <a:t>', 'institute', '</a:t>
            </a:r>
            <a:r>
              <a:rPr lang="en-IN" i="1" dirty="0" err="1">
                <a:solidFill>
                  <a:schemeClr val="tx1"/>
                </a:solidFill>
              </a:rPr>
              <a:t>rajkot</a:t>
            </a:r>
            <a:r>
              <a:rPr lang="en-IN" i="1" dirty="0">
                <a:solidFill>
                  <a:schemeClr val="tx1"/>
                </a:solidFill>
              </a:rPr>
              <a:t>', '</a:t>
            </a:r>
            <a:r>
              <a:rPr lang="en-IN" i="1" dirty="0" err="1">
                <a:solidFill>
                  <a:schemeClr val="tx1"/>
                </a:solidFill>
              </a:rPr>
              <a:t>gujarat</a:t>
            </a:r>
            <a:r>
              <a:rPr lang="en-IN" i="1" dirty="0">
                <a:solidFill>
                  <a:schemeClr val="tx1"/>
                </a:solidFill>
              </a:rPr>
              <a:t>']</a:t>
            </a:r>
            <a:endParaRPr lang="en-US" b="1" i="1" dirty="0">
              <a:solidFill>
                <a:srgbClr val="FF0000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456EBDA-49A4-A843-A786-6989C63A54AA}"/>
              </a:ext>
            </a:extLst>
          </p:cNvPr>
          <p:cNvSpPr/>
          <p:nvPr/>
        </p:nvSpPr>
        <p:spPr>
          <a:xfrm>
            <a:off x="1022635" y="3436257"/>
            <a:ext cx="8472276" cy="10772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 err="1">
                <a:solidFill>
                  <a:srgbClr val="000000"/>
                </a:solidFill>
                <a:latin typeface="Consolas"/>
              </a:rPr>
              <a:t>my_list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= [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darshan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, 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'institute'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, 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rajkot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]</a:t>
            </a:r>
          </a:p>
          <a:p>
            <a:r>
              <a:rPr lang="en-US" sz="1600" dirty="0" err="1">
                <a:solidFill>
                  <a:srgbClr val="000000"/>
                </a:solidFill>
                <a:latin typeface="Consolas"/>
              </a:rPr>
              <a:t>my_list.insert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2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,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'of'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</a:t>
            </a:r>
          </a:p>
          <a:p>
            <a:r>
              <a:rPr lang="en-US" sz="1600" dirty="0" err="1">
                <a:solidFill>
                  <a:srgbClr val="000000"/>
                </a:solidFill>
                <a:latin typeface="Consolas"/>
              </a:rPr>
              <a:t>my_list.insert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3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,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'engineering'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print(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my_list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</a:t>
            </a:r>
            <a:endParaRPr lang="en-US" sz="1600" b="0" dirty="0">
              <a:solidFill>
                <a:srgbClr val="000000"/>
              </a:solidFill>
              <a:latin typeface="Consolas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5F9F4A0-4592-C04D-B2D0-0BF66A3BFA20}"/>
              </a:ext>
            </a:extLst>
          </p:cNvPr>
          <p:cNvSpPr/>
          <p:nvPr/>
        </p:nvSpPr>
        <p:spPr>
          <a:xfrm>
            <a:off x="522642" y="3436257"/>
            <a:ext cx="499993" cy="107721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</p:txBody>
      </p:sp>
      <p:sp>
        <p:nvSpPr>
          <p:cNvPr id="29" name="Rectangle: Top Corners Rounded 6">
            <a:extLst>
              <a:ext uri="{FF2B5EF4-FFF2-40B4-BE49-F238E27FC236}">
                <a16:creationId xmlns:a16="http://schemas.microsoft.com/office/drawing/2014/main" id="{0336C271-A2A3-9445-9946-5006F0A250F4}"/>
              </a:ext>
            </a:extLst>
          </p:cNvPr>
          <p:cNvSpPr/>
          <p:nvPr/>
        </p:nvSpPr>
        <p:spPr>
          <a:xfrm>
            <a:off x="522642" y="3107073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insertlistdemo.py</a:t>
            </a:r>
          </a:p>
        </p:txBody>
      </p:sp>
      <p:sp>
        <p:nvSpPr>
          <p:cNvPr id="30" name="Line Callout 1 29"/>
          <p:cNvSpPr/>
          <p:nvPr/>
        </p:nvSpPr>
        <p:spPr>
          <a:xfrm>
            <a:off x="5980499" y="3737107"/>
            <a:ext cx="5220900" cy="428493"/>
          </a:xfrm>
          <a:prstGeom prst="borderCallout1">
            <a:avLst>
              <a:gd name="adj1" fmla="val 53885"/>
              <a:gd name="adj2" fmla="val -612"/>
              <a:gd name="adj3" fmla="val 150265"/>
              <a:gd name="adj4" fmla="val -62235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Output : </a:t>
            </a:r>
            <a:r>
              <a:rPr lang="en-IN" i="1" dirty="0">
                <a:solidFill>
                  <a:schemeClr val="tx1"/>
                </a:solidFill>
              </a:rPr>
              <a:t>['</a:t>
            </a:r>
            <a:r>
              <a:rPr lang="en-IN" i="1" dirty="0" err="1">
                <a:solidFill>
                  <a:schemeClr val="tx1"/>
                </a:solidFill>
              </a:rPr>
              <a:t>darshan</a:t>
            </a:r>
            <a:r>
              <a:rPr lang="en-IN" i="1" dirty="0">
                <a:solidFill>
                  <a:schemeClr val="tx1"/>
                </a:solidFill>
              </a:rPr>
              <a:t>', 'institute', 'of', 'engineering', '</a:t>
            </a:r>
            <a:r>
              <a:rPr lang="en-IN" i="1" dirty="0" err="1">
                <a:solidFill>
                  <a:schemeClr val="tx1"/>
                </a:solidFill>
              </a:rPr>
              <a:t>rajkot</a:t>
            </a:r>
            <a:r>
              <a:rPr lang="en-IN" i="1" dirty="0">
                <a:solidFill>
                  <a:schemeClr val="tx1"/>
                </a:solidFill>
              </a:rPr>
              <a:t>']</a:t>
            </a:r>
            <a:endParaRPr lang="en-US" b="1" i="1" dirty="0">
              <a:solidFill>
                <a:srgbClr val="FF0000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456EBDA-49A4-A843-A786-6989C63A54AA}"/>
              </a:ext>
            </a:extLst>
          </p:cNvPr>
          <p:cNvSpPr/>
          <p:nvPr/>
        </p:nvSpPr>
        <p:spPr>
          <a:xfrm>
            <a:off x="1039568" y="5468257"/>
            <a:ext cx="8472276" cy="10772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my_list1 = [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darshan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, 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'institute'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]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my_list2 = [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rajkot'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,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'gujarat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]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my_list1.extend(my_list2)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print(my_list1)</a:t>
            </a:r>
            <a:endParaRPr lang="en-US" sz="1600" b="0" dirty="0">
              <a:solidFill>
                <a:srgbClr val="000000"/>
              </a:solidFill>
              <a:latin typeface="Consolas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5F9F4A0-4592-C04D-B2D0-0BF66A3BFA20}"/>
              </a:ext>
            </a:extLst>
          </p:cNvPr>
          <p:cNvSpPr/>
          <p:nvPr/>
        </p:nvSpPr>
        <p:spPr>
          <a:xfrm>
            <a:off x="539575" y="5468257"/>
            <a:ext cx="499993" cy="107721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</p:txBody>
      </p:sp>
      <p:sp>
        <p:nvSpPr>
          <p:cNvPr id="33" name="Rectangle: Top Corners Rounded 6">
            <a:extLst>
              <a:ext uri="{FF2B5EF4-FFF2-40B4-BE49-F238E27FC236}">
                <a16:creationId xmlns:a16="http://schemas.microsoft.com/office/drawing/2014/main" id="{0336C271-A2A3-9445-9946-5006F0A250F4}"/>
              </a:ext>
            </a:extLst>
          </p:cNvPr>
          <p:cNvSpPr/>
          <p:nvPr/>
        </p:nvSpPr>
        <p:spPr>
          <a:xfrm>
            <a:off x="539575" y="5139073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extendlistdemo.py</a:t>
            </a:r>
          </a:p>
        </p:txBody>
      </p:sp>
      <p:sp>
        <p:nvSpPr>
          <p:cNvPr id="35" name="Line Callout 1 34"/>
          <p:cNvSpPr/>
          <p:nvPr/>
        </p:nvSpPr>
        <p:spPr>
          <a:xfrm>
            <a:off x="4194033" y="6065440"/>
            <a:ext cx="5220900" cy="428493"/>
          </a:xfrm>
          <a:prstGeom prst="borderCallout1">
            <a:avLst>
              <a:gd name="adj1" fmla="val 53885"/>
              <a:gd name="adj2" fmla="val -612"/>
              <a:gd name="adj3" fmla="val 70147"/>
              <a:gd name="adj4" fmla="val -24630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Output : </a:t>
            </a:r>
            <a:r>
              <a:rPr lang="en-IN" i="1" dirty="0">
                <a:solidFill>
                  <a:schemeClr val="tx1"/>
                </a:solidFill>
              </a:rPr>
              <a:t>['</a:t>
            </a:r>
            <a:r>
              <a:rPr lang="en-IN" i="1" dirty="0" err="1">
                <a:solidFill>
                  <a:schemeClr val="tx1"/>
                </a:solidFill>
              </a:rPr>
              <a:t>darshan</a:t>
            </a:r>
            <a:r>
              <a:rPr lang="en-IN" i="1" dirty="0">
                <a:solidFill>
                  <a:schemeClr val="tx1"/>
                </a:solidFill>
              </a:rPr>
              <a:t>', 'institute', ‘</a:t>
            </a:r>
            <a:r>
              <a:rPr lang="en-IN" i="1" dirty="0" err="1">
                <a:solidFill>
                  <a:schemeClr val="tx1"/>
                </a:solidFill>
              </a:rPr>
              <a:t>rajkot</a:t>
            </a:r>
            <a:r>
              <a:rPr lang="en-IN" i="1" dirty="0">
                <a:solidFill>
                  <a:schemeClr val="tx1"/>
                </a:solidFill>
              </a:rPr>
              <a:t>', ‘</a:t>
            </a:r>
            <a:r>
              <a:rPr lang="en-IN" i="1" dirty="0" err="1">
                <a:solidFill>
                  <a:schemeClr val="tx1"/>
                </a:solidFill>
              </a:rPr>
              <a:t>gujarat</a:t>
            </a:r>
            <a:r>
              <a:rPr lang="en-IN" i="1" dirty="0">
                <a:solidFill>
                  <a:schemeClr val="tx1"/>
                </a:solidFill>
              </a:rPr>
              <a:t>']</a:t>
            </a:r>
            <a:endParaRPr lang="en-US" b="1" i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2" grpId="0" build="p" animBg="1"/>
      <p:bldP spid="13" grpId="0" animBg="1"/>
      <p:bldP spid="14" grpId="0" animBg="1"/>
      <p:bldP spid="15" grpId="0" animBg="1"/>
      <p:bldP spid="15" grpId="1" animBg="1"/>
      <p:bldP spid="21" grpId="0" build="p" animBg="1"/>
      <p:bldP spid="28" grpId="0" animBg="1"/>
      <p:bldP spid="29" grpId="0" animBg="1"/>
      <p:bldP spid="30" grpId="0" animBg="1"/>
      <p:bldP spid="30" grpId="1" animBg="1"/>
      <p:bldP spid="31" grpId="0" build="p" animBg="1"/>
      <p:bldP spid="32" grpId="0" animBg="1"/>
      <p:bldP spid="33" grpId="0" animBg="1"/>
      <p:bldP spid="35" grpId="0" animBg="1"/>
      <p:bldP spid="35" grpId="1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 Methods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pop() method will remove the </a:t>
            </a:r>
            <a:r>
              <a:rPr lang="en-US" dirty="0">
                <a:solidFill>
                  <a:srgbClr val="C00000"/>
                </a:solidFill>
              </a:rPr>
              <a:t>last element </a:t>
            </a:r>
            <a:r>
              <a:rPr lang="en-US" dirty="0"/>
              <a:t>from the list and return it.</a:t>
            </a:r>
          </a:p>
          <a:p>
            <a:endParaRPr lang="en-US" dirty="0"/>
          </a:p>
          <a:p>
            <a:endParaRPr lang="en-US" dirty="0"/>
          </a:p>
          <a:p>
            <a:pPr>
              <a:buNone/>
            </a:pPr>
            <a:endParaRPr lang="en-US" dirty="0"/>
          </a:p>
          <a:p>
            <a:r>
              <a:rPr lang="en-US" dirty="0"/>
              <a:t>remove() method will remove </a:t>
            </a:r>
            <a:r>
              <a:rPr lang="en-US" dirty="0">
                <a:solidFill>
                  <a:srgbClr val="C00000"/>
                </a:solidFill>
              </a:rPr>
              <a:t>first occurrence </a:t>
            </a:r>
            <a:r>
              <a:rPr lang="en-US" dirty="0"/>
              <a:t>of specified element</a:t>
            </a:r>
          </a:p>
          <a:p>
            <a:endParaRPr lang="en-US" dirty="0"/>
          </a:p>
          <a:p>
            <a:endParaRPr lang="en-US" dirty="0"/>
          </a:p>
          <a:p>
            <a:pPr>
              <a:buNone/>
            </a:pPr>
            <a:endParaRPr lang="en-US" sz="700" dirty="0"/>
          </a:p>
          <a:p>
            <a:r>
              <a:rPr lang="en-US" dirty="0"/>
              <a:t>clear() method will </a:t>
            </a:r>
            <a:r>
              <a:rPr lang="en-US" dirty="0">
                <a:solidFill>
                  <a:srgbClr val="C00000"/>
                </a:solidFill>
              </a:rPr>
              <a:t>remove all </a:t>
            </a:r>
            <a:r>
              <a:rPr lang="en-US" dirty="0"/>
              <a:t>the elements from the List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index() method will return </a:t>
            </a:r>
            <a:r>
              <a:rPr lang="en-US" dirty="0">
                <a:solidFill>
                  <a:srgbClr val="C00000"/>
                </a:solidFill>
              </a:rPr>
              <a:t>first index </a:t>
            </a:r>
            <a:r>
              <a:rPr lang="en-US" dirty="0"/>
              <a:t>of the specified element.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456EBDA-49A4-A843-A786-6989C63A54AA}"/>
              </a:ext>
            </a:extLst>
          </p:cNvPr>
          <p:cNvSpPr/>
          <p:nvPr/>
        </p:nvSpPr>
        <p:spPr>
          <a:xfrm>
            <a:off x="1022635" y="1641324"/>
            <a:ext cx="8472276" cy="10772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 err="1">
                <a:solidFill>
                  <a:srgbClr val="000000"/>
                </a:solidFill>
                <a:latin typeface="Consolas"/>
              </a:rPr>
              <a:t>my_list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= [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darshan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, 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institute'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,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'rajkot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]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temp = my_list.pop()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print(temp)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print(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my_list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</a:t>
            </a:r>
            <a:endParaRPr lang="en-US" sz="1600" b="0" dirty="0">
              <a:solidFill>
                <a:srgbClr val="000000"/>
              </a:solidFill>
              <a:latin typeface="Consola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5F9F4A0-4592-C04D-B2D0-0BF66A3BFA20}"/>
              </a:ext>
            </a:extLst>
          </p:cNvPr>
          <p:cNvSpPr/>
          <p:nvPr/>
        </p:nvSpPr>
        <p:spPr>
          <a:xfrm>
            <a:off x="522642" y="1641324"/>
            <a:ext cx="499993" cy="107721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</p:txBody>
      </p:sp>
      <p:sp>
        <p:nvSpPr>
          <p:cNvPr id="14" name="Rectangle: Top Corners Rounded 6">
            <a:extLst>
              <a:ext uri="{FF2B5EF4-FFF2-40B4-BE49-F238E27FC236}">
                <a16:creationId xmlns:a16="http://schemas.microsoft.com/office/drawing/2014/main" id="{0336C271-A2A3-9445-9946-5006F0A250F4}"/>
              </a:ext>
            </a:extLst>
          </p:cNvPr>
          <p:cNvSpPr/>
          <p:nvPr/>
        </p:nvSpPr>
        <p:spPr>
          <a:xfrm>
            <a:off x="522642" y="1312140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poplistdemo.py</a:t>
            </a:r>
          </a:p>
        </p:txBody>
      </p:sp>
      <p:sp>
        <p:nvSpPr>
          <p:cNvPr id="15" name="Line Callout 1 14"/>
          <p:cNvSpPr/>
          <p:nvPr/>
        </p:nvSpPr>
        <p:spPr>
          <a:xfrm>
            <a:off x="5989126" y="1761019"/>
            <a:ext cx="5220900" cy="428493"/>
          </a:xfrm>
          <a:prstGeom prst="borderCallout1">
            <a:avLst>
              <a:gd name="adj1" fmla="val 53885"/>
              <a:gd name="adj2" fmla="val -612"/>
              <a:gd name="adj3" fmla="val 131251"/>
              <a:gd name="adj4" fmla="val -68687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Output : </a:t>
            </a:r>
            <a:r>
              <a:rPr lang="en-IN" i="1" dirty="0" err="1">
                <a:solidFill>
                  <a:schemeClr val="tx1"/>
                </a:solidFill>
              </a:rPr>
              <a:t>rajkot</a:t>
            </a:r>
            <a:endParaRPr lang="en-US" b="1" i="1" dirty="0">
              <a:solidFill>
                <a:srgbClr val="FF0000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456EBDA-49A4-A843-A786-6989C63A54AA}"/>
              </a:ext>
            </a:extLst>
          </p:cNvPr>
          <p:cNvSpPr/>
          <p:nvPr/>
        </p:nvSpPr>
        <p:spPr>
          <a:xfrm>
            <a:off x="1022635" y="3436257"/>
            <a:ext cx="8472276" cy="86177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 err="1">
                <a:solidFill>
                  <a:srgbClr val="000000"/>
                </a:solidFill>
                <a:latin typeface="Consolas"/>
              </a:rPr>
              <a:t>my_list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= [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darshan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, 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'institute'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, 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darshan'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,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'rajkot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]</a:t>
            </a:r>
          </a:p>
          <a:p>
            <a:r>
              <a:rPr lang="en-US" sz="1600" dirty="0" err="1">
                <a:solidFill>
                  <a:srgbClr val="000000"/>
                </a:solidFill>
                <a:latin typeface="Consolas"/>
              </a:rPr>
              <a:t>my_list.remove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darshan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print(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my_list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</a:t>
            </a:r>
            <a:endParaRPr lang="en-US" sz="1600" b="0" dirty="0">
              <a:solidFill>
                <a:srgbClr val="000000"/>
              </a:solidFill>
              <a:latin typeface="Consolas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5F9F4A0-4592-C04D-B2D0-0BF66A3BFA20}"/>
              </a:ext>
            </a:extLst>
          </p:cNvPr>
          <p:cNvSpPr/>
          <p:nvPr/>
        </p:nvSpPr>
        <p:spPr>
          <a:xfrm>
            <a:off x="522642" y="3436257"/>
            <a:ext cx="499993" cy="83099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</p:txBody>
      </p:sp>
      <p:sp>
        <p:nvSpPr>
          <p:cNvPr id="29" name="Rectangle: Top Corners Rounded 6">
            <a:extLst>
              <a:ext uri="{FF2B5EF4-FFF2-40B4-BE49-F238E27FC236}">
                <a16:creationId xmlns:a16="http://schemas.microsoft.com/office/drawing/2014/main" id="{0336C271-A2A3-9445-9946-5006F0A250F4}"/>
              </a:ext>
            </a:extLst>
          </p:cNvPr>
          <p:cNvSpPr/>
          <p:nvPr/>
        </p:nvSpPr>
        <p:spPr>
          <a:xfrm>
            <a:off x="522642" y="3107073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removelistdemo.py</a:t>
            </a:r>
          </a:p>
        </p:txBody>
      </p:sp>
      <p:sp>
        <p:nvSpPr>
          <p:cNvPr id="30" name="Line Callout 1 29"/>
          <p:cNvSpPr/>
          <p:nvPr/>
        </p:nvSpPr>
        <p:spPr>
          <a:xfrm>
            <a:off x="5980499" y="3737107"/>
            <a:ext cx="5220900" cy="428493"/>
          </a:xfrm>
          <a:prstGeom prst="borderCallout1">
            <a:avLst>
              <a:gd name="adj1" fmla="val 53885"/>
              <a:gd name="adj2" fmla="val -612"/>
              <a:gd name="adj3" fmla="val 91882"/>
              <a:gd name="adj4" fmla="val -62235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Output : </a:t>
            </a:r>
            <a:r>
              <a:rPr lang="en-IN" i="1" dirty="0">
                <a:solidFill>
                  <a:schemeClr val="tx1"/>
                </a:solidFill>
              </a:rPr>
              <a:t>['institute', '</a:t>
            </a:r>
            <a:r>
              <a:rPr lang="en-IN" i="1" dirty="0" err="1">
                <a:solidFill>
                  <a:schemeClr val="tx1"/>
                </a:solidFill>
              </a:rPr>
              <a:t>darshan</a:t>
            </a:r>
            <a:r>
              <a:rPr lang="en-IN" i="1" dirty="0">
                <a:solidFill>
                  <a:schemeClr val="tx1"/>
                </a:solidFill>
              </a:rPr>
              <a:t>', '</a:t>
            </a:r>
            <a:r>
              <a:rPr lang="en-IN" i="1" dirty="0" err="1">
                <a:solidFill>
                  <a:schemeClr val="tx1"/>
                </a:solidFill>
              </a:rPr>
              <a:t>rajkot</a:t>
            </a:r>
            <a:r>
              <a:rPr lang="en-IN" i="1" dirty="0">
                <a:solidFill>
                  <a:schemeClr val="tx1"/>
                </a:solidFill>
              </a:rPr>
              <a:t>']</a:t>
            </a:r>
            <a:endParaRPr lang="en-US" b="1" i="1" dirty="0">
              <a:solidFill>
                <a:srgbClr val="FF0000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456EBDA-49A4-A843-A786-6989C63A54AA}"/>
              </a:ext>
            </a:extLst>
          </p:cNvPr>
          <p:cNvSpPr/>
          <p:nvPr/>
        </p:nvSpPr>
        <p:spPr>
          <a:xfrm>
            <a:off x="1039568" y="4993805"/>
            <a:ext cx="8472276" cy="86177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 err="1">
                <a:solidFill>
                  <a:srgbClr val="000000"/>
                </a:solidFill>
                <a:latin typeface="Consolas"/>
              </a:rPr>
              <a:t>my_list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= [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darshan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, 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'institute'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, 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darshan'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,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'rajkot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]</a:t>
            </a:r>
          </a:p>
          <a:p>
            <a:r>
              <a:rPr lang="en-US" sz="1600" dirty="0" err="1">
                <a:solidFill>
                  <a:srgbClr val="000000"/>
                </a:solidFill>
                <a:latin typeface="Consolas"/>
              </a:rPr>
              <a:t>my_list.clear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()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print(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my_list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</a:t>
            </a:r>
            <a:endParaRPr lang="en-US" sz="1600" b="0" dirty="0">
              <a:solidFill>
                <a:srgbClr val="000000"/>
              </a:solidFill>
              <a:latin typeface="Consolas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5F9F4A0-4592-C04D-B2D0-0BF66A3BFA20}"/>
              </a:ext>
            </a:extLst>
          </p:cNvPr>
          <p:cNvSpPr/>
          <p:nvPr/>
        </p:nvSpPr>
        <p:spPr>
          <a:xfrm>
            <a:off x="539575" y="4993805"/>
            <a:ext cx="499993" cy="83099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</p:txBody>
      </p:sp>
      <p:sp>
        <p:nvSpPr>
          <p:cNvPr id="33" name="Rectangle: Top Corners Rounded 6">
            <a:extLst>
              <a:ext uri="{FF2B5EF4-FFF2-40B4-BE49-F238E27FC236}">
                <a16:creationId xmlns:a16="http://schemas.microsoft.com/office/drawing/2014/main" id="{0336C271-A2A3-9445-9946-5006F0A250F4}"/>
              </a:ext>
            </a:extLst>
          </p:cNvPr>
          <p:cNvSpPr/>
          <p:nvPr/>
        </p:nvSpPr>
        <p:spPr>
          <a:xfrm>
            <a:off x="539575" y="4664621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clearlistdemo.py</a:t>
            </a:r>
          </a:p>
        </p:txBody>
      </p:sp>
      <p:sp>
        <p:nvSpPr>
          <p:cNvPr id="34" name="Line Callout 1 33"/>
          <p:cNvSpPr/>
          <p:nvPr/>
        </p:nvSpPr>
        <p:spPr>
          <a:xfrm>
            <a:off x="5997432" y="5294655"/>
            <a:ext cx="3180435" cy="428493"/>
          </a:xfrm>
          <a:prstGeom prst="borderCallout1">
            <a:avLst>
              <a:gd name="adj1" fmla="val 53885"/>
              <a:gd name="adj2" fmla="val -612"/>
              <a:gd name="adj3" fmla="val 82824"/>
              <a:gd name="adj4" fmla="val -100672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Output : </a:t>
            </a:r>
            <a:r>
              <a:rPr lang="en-IN" i="1" dirty="0">
                <a:solidFill>
                  <a:schemeClr val="tx1"/>
                </a:solidFill>
              </a:rPr>
              <a:t>[]</a:t>
            </a:r>
            <a:endParaRPr lang="en-US" b="1" i="1" dirty="0">
              <a:solidFill>
                <a:srgbClr val="FF0000"/>
              </a:solidFill>
            </a:endParaRPr>
          </a:p>
        </p:txBody>
      </p:sp>
      <p:sp>
        <p:nvSpPr>
          <p:cNvPr id="16" name="Line Callout 1 15"/>
          <p:cNvSpPr/>
          <p:nvPr/>
        </p:nvSpPr>
        <p:spPr>
          <a:xfrm>
            <a:off x="5989126" y="2244098"/>
            <a:ext cx="5220900" cy="428493"/>
          </a:xfrm>
          <a:prstGeom prst="borderCallout1">
            <a:avLst>
              <a:gd name="adj1" fmla="val 53885"/>
              <a:gd name="adj2" fmla="val -612"/>
              <a:gd name="adj3" fmla="val 74882"/>
              <a:gd name="adj4" fmla="val -62078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Output : </a:t>
            </a:r>
            <a:r>
              <a:rPr lang="en-IN" i="1" dirty="0">
                <a:solidFill>
                  <a:schemeClr val="tx1"/>
                </a:solidFill>
              </a:rPr>
              <a:t>['</a:t>
            </a:r>
            <a:r>
              <a:rPr lang="en-IN" i="1" dirty="0" err="1">
                <a:solidFill>
                  <a:schemeClr val="tx1"/>
                </a:solidFill>
              </a:rPr>
              <a:t>darshan</a:t>
            </a:r>
            <a:r>
              <a:rPr lang="en-IN" i="1" dirty="0">
                <a:solidFill>
                  <a:schemeClr val="tx1"/>
                </a:solidFill>
              </a:rPr>
              <a:t>', 'institute‘]</a:t>
            </a:r>
            <a:endParaRPr lang="en-US" b="1" i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2" grpId="0" uiExpand="1" build="p" animBg="1"/>
      <p:bldP spid="13" grpId="0" animBg="1"/>
      <p:bldP spid="14" grpId="0" animBg="1"/>
      <p:bldP spid="15" grpId="0" animBg="1"/>
      <p:bldP spid="15" grpId="1" animBg="1"/>
      <p:bldP spid="21" grpId="0" build="p" animBg="1"/>
      <p:bldP spid="28" grpId="0" animBg="1"/>
      <p:bldP spid="29" grpId="0" animBg="1"/>
      <p:bldP spid="30" grpId="0" animBg="1"/>
      <p:bldP spid="30" grpId="1" animBg="1"/>
      <p:bldP spid="31" grpId="0" build="p" animBg="1"/>
      <p:bldP spid="32" grpId="0" animBg="1"/>
      <p:bldP spid="33" grpId="0" animBg="1"/>
      <p:bldP spid="34" grpId="0" animBg="1"/>
      <p:bldP spid="34" grpId="1" animBg="1"/>
      <p:bldP spid="16" grpId="0" animBg="1"/>
      <p:bldP spid="16" grpId="1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 Methods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count() method will return the </a:t>
            </a:r>
            <a:r>
              <a:rPr lang="en-US" dirty="0">
                <a:solidFill>
                  <a:srgbClr val="C00000"/>
                </a:solidFill>
              </a:rPr>
              <a:t>number of occurrence </a:t>
            </a:r>
            <a:r>
              <a:rPr lang="en-US" dirty="0"/>
              <a:t>of the specified element.</a:t>
            </a:r>
          </a:p>
          <a:p>
            <a:endParaRPr lang="en-US" dirty="0"/>
          </a:p>
          <a:p>
            <a:endParaRPr lang="en-US" dirty="0"/>
          </a:p>
          <a:p>
            <a:pPr>
              <a:buNone/>
            </a:pPr>
            <a:endParaRPr lang="en-US" dirty="0"/>
          </a:p>
          <a:p>
            <a:r>
              <a:rPr lang="en-US" dirty="0"/>
              <a:t>reverse() method will </a:t>
            </a:r>
            <a:r>
              <a:rPr lang="en-US" dirty="0">
                <a:solidFill>
                  <a:srgbClr val="C00000"/>
                </a:solidFill>
              </a:rPr>
              <a:t>reverse</a:t>
            </a:r>
            <a:r>
              <a:rPr lang="en-US" dirty="0"/>
              <a:t> the elements of the List</a:t>
            </a:r>
          </a:p>
          <a:p>
            <a:endParaRPr lang="en-US" dirty="0"/>
          </a:p>
          <a:p>
            <a:endParaRPr lang="en-US" dirty="0"/>
          </a:p>
          <a:p>
            <a:pPr>
              <a:buNone/>
            </a:pPr>
            <a:endParaRPr lang="en-US" sz="700" dirty="0"/>
          </a:p>
          <a:p>
            <a:r>
              <a:rPr lang="en-US" dirty="0"/>
              <a:t>sort() method will </a:t>
            </a:r>
            <a:r>
              <a:rPr lang="en-US" dirty="0">
                <a:solidFill>
                  <a:srgbClr val="C00000"/>
                </a:solidFill>
              </a:rPr>
              <a:t>sort</a:t>
            </a:r>
            <a:r>
              <a:rPr lang="en-US" dirty="0"/>
              <a:t> the elements in the List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456EBDA-49A4-A843-A786-6989C63A54AA}"/>
              </a:ext>
            </a:extLst>
          </p:cNvPr>
          <p:cNvSpPr/>
          <p:nvPr/>
        </p:nvSpPr>
        <p:spPr>
          <a:xfrm>
            <a:off x="1022635" y="1641324"/>
            <a:ext cx="8472276" cy="86177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 err="1">
                <a:solidFill>
                  <a:srgbClr val="000000"/>
                </a:solidFill>
                <a:latin typeface="Consolas"/>
              </a:rPr>
              <a:t>my_list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= [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darshan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, 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'institute'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, 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darshan'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,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'rajkot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]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c = 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my_list.count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darshan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print(c)</a:t>
            </a:r>
            <a:endParaRPr lang="en-US" sz="1600" b="0" dirty="0">
              <a:solidFill>
                <a:srgbClr val="000000"/>
              </a:solidFill>
              <a:latin typeface="Consola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5F9F4A0-4592-C04D-B2D0-0BF66A3BFA20}"/>
              </a:ext>
            </a:extLst>
          </p:cNvPr>
          <p:cNvSpPr/>
          <p:nvPr/>
        </p:nvSpPr>
        <p:spPr>
          <a:xfrm>
            <a:off x="522642" y="1641324"/>
            <a:ext cx="499993" cy="83099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</p:txBody>
      </p:sp>
      <p:sp>
        <p:nvSpPr>
          <p:cNvPr id="14" name="Rectangle: Top Corners Rounded 6">
            <a:extLst>
              <a:ext uri="{FF2B5EF4-FFF2-40B4-BE49-F238E27FC236}">
                <a16:creationId xmlns:a16="http://schemas.microsoft.com/office/drawing/2014/main" id="{0336C271-A2A3-9445-9946-5006F0A250F4}"/>
              </a:ext>
            </a:extLst>
          </p:cNvPr>
          <p:cNvSpPr/>
          <p:nvPr/>
        </p:nvSpPr>
        <p:spPr>
          <a:xfrm>
            <a:off x="522642" y="1312140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countlistdemo.py</a:t>
            </a:r>
          </a:p>
        </p:txBody>
      </p:sp>
      <p:sp>
        <p:nvSpPr>
          <p:cNvPr id="15" name="Line Callout 1 14"/>
          <p:cNvSpPr/>
          <p:nvPr/>
        </p:nvSpPr>
        <p:spPr>
          <a:xfrm>
            <a:off x="5989126" y="1761019"/>
            <a:ext cx="5220900" cy="428493"/>
          </a:xfrm>
          <a:prstGeom prst="borderCallout1">
            <a:avLst>
              <a:gd name="adj1" fmla="val 53885"/>
              <a:gd name="adj2" fmla="val -612"/>
              <a:gd name="adj3" fmla="val 127225"/>
              <a:gd name="adj4" fmla="val -74140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Output : </a:t>
            </a:r>
            <a:r>
              <a:rPr lang="en-IN" i="1" dirty="0">
                <a:solidFill>
                  <a:schemeClr val="tx1"/>
                </a:solidFill>
              </a:rPr>
              <a:t>2</a:t>
            </a:r>
            <a:endParaRPr lang="en-US" b="1" i="1" dirty="0">
              <a:solidFill>
                <a:srgbClr val="FF0000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456EBDA-49A4-A843-A786-6989C63A54AA}"/>
              </a:ext>
            </a:extLst>
          </p:cNvPr>
          <p:cNvSpPr/>
          <p:nvPr/>
        </p:nvSpPr>
        <p:spPr>
          <a:xfrm>
            <a:off x="1022635" y="3436257"/>
            <a:ext cx="8472276" cy="86177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 err="1">
                <a:solidFill>
                  <a:srgbClr val="000000"/>
                </a:solidFill>
                <a:latin typeface="Consolas"/>
              </a:rPr>
              <a:t>my_list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= [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darshan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, 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institute'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,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'rajkot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]</a:t>
            </a:r>
          </a:p>
          <a:p>
            <a:r>
              <a:rPr lang="en-US" sz="1600" dirty="0" err="1">
                <a:solidFill>
                  <a:srgbClr val="000000"/>
                </a:solidFill>
                <a:latin typeface="Consolas"/>
              </a:rPr>
              <a:t>my_list.reverse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()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print(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my_list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</a:t>
            </a:r>
            <a:endParaRPr lang="en-US" sz="1600" b="0" dirty="0">
              <a:solidFill>
                <a:srgbClr val="000000"/>
              </a:solidFill>
              <a:latin typeface="Consolas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5F9F4A0-4592-C04D-B2D0-0BF66A3BFA20}"/>
              </a:ext>
            </a:extLst>
          </p:cNvPr>
          <p:cNvSpPr/>
          <p:nvPr/>
        </p:nvSpPr>
        <p:spPr>
          <a:xfrm>
            <a:off x="522642" y="3436257"/>
            <a:ext cx="499993" cy="83099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</p:txBody>
      </p:sp>
      <p:sp>
        <p:nvSpPr>
          <p:cNvPr id="29" name="Rectangle: Top Corners Rounded 6">
            <a:extLst>
              <a:ext uri="{FF2B5EF4-FFF2-40B4-BE49-F238E27FC236}">
                <a16:creationId xmlns:a16="http://schemas.microsoft.com/office/drawing/2014/main" id="{0336C271-A2A3-9445-9946-5006F0A250F4}"/>
              </a:ext>
            </a:extLst>
          </p:cNvPr>
          <p:cNvSpPr/>
          <p:nvPr/>
        </p:nvSpPr>
        <p:spPr>
          <a:xfrm>
            <a:off x="522642" y="3107073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reverselistdemo.py</a:t>
            </a:r>
          </a:p>
        </p:txBody>
      </p:sp>
      <p:sp>
        <p:nvSpPr>
          <p:cNvPr id="30" name="Line Callout 1 29"/>
          <p:cNvSpPr/>
          <p:nvPr/>
        </p:nvSpPr>
        <p:spPr>
          <a:xfrm>
            <a:off x="5980499" y="3737107"/>
            <a:ext cx="5220900" cy="428493"/>
          </a:xfrm>
          <a:prstGeom prst="borderCallout1">
            <a:avLst>
              <a:gd name="adj1" fmla="val 53885"/>
              <a:gd name="adj2" fmla="val -612"/>
              <a:gd name="adj3" fmla="val 91882"/>
              <a:gd name="adj4" fmla="val -62235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Output : </a:t>
            </a:r>
            <a:r>
              <a:rPr lang="en-IN" i="1" dirty="0">
                <a:solidFill>
                  <a:schemeClr val="tx1"/>
                </a:solidFill>
              </a:rPr>
              <a:t>['</a:t>
            </a:r>
            <a:r>
              <a:rPr lang="en-IN" i="1" dirty="0" err="1">
                <a:solidFill>
                  <a:schemeClr val="tx1"/>
                </a:solidFill>
              </a:rPr>
              <a:t>rajkot</a:t>
            </a:r>
            <a:r>
              <a:rPr lang="en-IN" i="1" dirty="0">
                <a:solidFill>
                  <a:schemeClr val="tx1"/>
                </a:solidFill>
              </a:rPr>
              <a:t>', ‘</a:t>
            </a:r>
            <a:r>
              <a:rPr lang="en-IN" i="1" dirty="0" err="1">
                <a:solidFill>
                  <a:schemeClr val="tx1"/>
                </a:solidFill>
              </a:rPr>
              <a:t>institute','darshan</a:t>
            </a:r>
            <a:r>
              <a:rPr lang="en-IN" i="1" dirty="0">
                <a:solidFill>
                  <a:schemeClr val="tx1"/>
                </a:solidFill>
              </a:rPr>
              <a:t>']</a:t>
            </a:r>
            <a:endParaRPr lang="en-US" b="1" i="1" dirty="0">
              <a:solidFill>
                <a:srgbClr val="FF0000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456EBDA-49A4-A843-A786-6989C63A54AA}"/>
              </a:ext>
            </a:extLst>
          </p:cNvPr>
          <p:cNvSpPr/>
          <p:nvPr/>
        </p:nvSpPr>
        <p:spPr>
          <a:xfrm>
            <a:off x="1039568" y="4993805"/>
            <a:ext cx="8472276" cy="132343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 err="1">
                <a:solidFill>
                  <a:srgbClr val="000000"/>
                </a:solidFill>
                <a:latin typeface="Consolas"/>
              </a:rPr>
              <a:t>my_list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= [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darshan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, 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college'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,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'of'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,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'enginnering'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,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'rajkot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]</a:t>
            </a:r>
          </a:p>
          <a:p>
            <a:r>
              <a:rPr lang="en-US" sz="1600" dirty="0" err="1">
                <a:solidFill>
                  <a:srgbClr val="000000"/>
                </a:solidFill>
                <a:latin typeface="Consolas"/>
              </a:rPr>
              <a:t>my_list.sort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()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print(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my_list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</a:t>
            </a:r>
          </a:p>
          <a:p>
            <a:r>
              <a:rPr lang="en-US" sz="1600" dirty="0" err="1">
                <a:solidFill>
                  <a:srgbClr val="000000"/>
                </a:solidFill>
                <a:latin typeface="Consolas"/>
              </a:rPr>
              <a:t>my_list.sort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(reverse=</a:t>
            </a:r>
            <a:r>
              <a:rPr lang="en-US" sz="1600" dirty="0">
                <a:solidFill>
                  <a:srgbClr val="0000FF"/>
                </a:solidFill>
                <a:latin typeface="Consolas"/>
              </a:rPr>
              <a:t>True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print(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my_list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5F9F4A0-4592-C04D-B2D0-0BF66A3BFA20}"/>
              </a:ext>
            </a:extLst>
          </p:cNvPr>
          <p:cNvSpPr/>
          <p:nvPr/>
        </p:nvSpPr>
        <p:spPr>
          <a:xfrm>
            <a:off x="539575" y="4993805"/>
            <a:ext cx="499993" cy="132343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</p:txBody>
      </p:sp>
      <p:sp>
        <p:nvSpPr>
          <p:cNvPr id="33" name="Rectangle: Top Corners Rounded 6">
            <a:extLst>
              <a:ext uri="{FF2B5EF4-FFF2-40B4-BE49-F238E27FC236}">
                <a16:creationId xmlns:a16="http://schemas.microsoft.com/office/drawing/2014/main" id="{0336C271-A2A3-9445-9946-5006F0A250F4}"/>
              </a:ext>
            </a:extLst>
          </p:cNvPr>
          <p:cNvSpPr/>
          <p:nvPr/>
        </p:nvSpPr>
        <p:spPr>
          <a:xfrm>
            <a:off x="539575" y="4664621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sortlistdemo.py</a:t>
            </a:r>
          </a:p>
        </p:txBody>
      </p:sp>
      <p:sp>
        <p:nvSpPr>
          <p:cNvPr id="34" name="Line Callout 1 33"/>
          <p:cNvSpPr/>
          <p:nvPr/>
        </p:nvSpPr>
        <p:spPr>
          <a:xfrm>
            <a:off x="5997431" y="5294655"/>
            <a:ext cx="5165149" cy="428493"/>
          </a:xfrm>
          <a:prstGeom prst="borderCallout1">
            <a:avLst>
              <a:gd name="adj1" fmla="val 53885"/>
              <a:gd name="adj2" fmla="val -612"/>
              <a:gd name="adj3" fmla="val 84837"/>
              <a:gd name="adj4" fmla="val -62760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Output : </a:t>
            </a:r>
            <a:r>
              <a:rPr lang="en-IN" i="1" dirty="0">
                <a:solidFill>
                  <a:schemeClr val="tx1"/>
                </a:solidFill>
              </a:rPr>
              <a:t>['college', '</a:t>
            </a:r>
            <a:r>
              <a:rPr lang="en-IN" i="1" dirty="0" err="1">
                <a:solidFill>
                  <a:schemeClr val="tx1"/>
                </a:solidFill>
              </a:rPr>
              <a:t>darshan</a:t>
            </a:r>
            <a:r>
              <a:rPr lang="en-IN" i="1" dirty="0">
                <a:solidFill>
                  <a:schemeClr val="tx1"/>
                </a:solidFill>
              </a:rPr>
              <a:t>', '</a:t>
            </a:r>
            <a:r>
              <a:rPr lang="en-IN" i="1" dirty="0" err="1">
                <a:solidFill>
                  <a:schemeClr val="tx1"/>
                </a:solidFill>
              </a:rPr>
              <a:t>enginnering</a:t>
            </a:r>
            <a:r>
              <a:rPr lang="en-IN" i="1" dirty="0">
                <a:solidFill>
                  <a:schemeClr val="tx1"/>
                </a:solidFill>
              </a:rPr>
              <a:t>', 'of', '</a:t>
            </a:r>
            <a:r>
              <a:rPr lang="en-IN" i="1" dirty="0" err="1">
                <a:solidFill>
                  <a:schemeClr val="tx1"/>
                </a:solidFill>
              </a:rPr>
              <a:t>rajkot</a:t>
            </a:r>
            <a:r>
              <a:rPr lang="en-IN" i="1" dirty="0">
                <a:solidFill>
                  <a:schemeClr val="tx1"/>
                </a:solidFill>
              </a:rPr>
              <a:t>']</a:t>
            </a:r>
            <a:endParaRPr lang="en-US" b="1" i="1" dirty="0">
              <a:solidFill>
                <a:srgbClr val="FF0000"/>
              </a:solidFill>
            </a:endParaRPr>
          </a:p>
        </p:txBody>
      </p:sp>
      <p:sp>
        <p:nvSpPr>
          <p:cNvPr id="17" name="Line Callout 1 16"/>
          <p:cNvSpPr/>
          <p:nvPr/>
        </p:nvSpPr>
        <p:spPr>
          <a:xfrm>
            <a:off x="5997431" y="5794987"/>
            <a:ext cx="5165149" cy="428493"/>
          </a:xfrm>
          <a:prstGeom prst="borderCallout1">
            <a:avLst>
              <a:gd name="adj1" fmla="val 53885"/>
              <a:gd name="adj2" fmla="val -612"/>
              <a:gd name="adj3" fmla="val 80811"/>
              <a:gd name="adj4" fmla="val -63595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Output : </a:t>
            </a:r>
            <a:r>
              <a:rPr lang="en-IN" i="1" dirty="0">
                <a:solidFill>
                  <a:schemeClr val="tx1"/>
                </a:solidFill>
              </a:rPr>
              <a:t>['</a:t>
            </a:r>
            <a:r>
              <a:rPr lang="en-IN" i="1" dirty="0" err="1">
                <a:solidFill>
                  <a:schemeClr val="tx1"/>
                </a:solidFill>
              </a:rPr>
              <a:t>rajkot</a:t>
            </a:r>
            <a:r>
              <a:rPr lang="en-IN" i="1" dirty="0">
                <a:solidFill>
                  <a:schemeClr val="tx1"/>
                </a:solidFill>
              </a:rPr>
              <a:t>', 'of', '</a:t>
            </a:r>
            <a:r>
              <a:rPr lang="en-IN" i="1" dirty="0" err="1">
                <a:solidFill>
                  <a:schemeClr val="tx1"/>
                </a:solidFill>
              </a:rPr>
              <a:t>enginnering</a:t>
            </a:r>
            <a:r>
              <a:rPr lang="en-IN" i="1" dirty="0">
                <a:solidFill>
                  <a:schemeClr val="tx1"/>
                </a:solidFill>
              </a:rPr>
              <a:t>', '</a:t>
            </a:r>
            <a:r>
              <a:rPr lang="en-IN" i="1" dirty="0" err="1">
                <a:solidFill>
                  <a:schemeClr val="tx1"/>
                </a:solidFill>
              </a:rPr>
              <a:t>darshan</a:t>
            </a:r>
            <a:r>
              <a:rPr lang="en-IN" i="1" dirty="0">
                <a:solidFill>
                  <a:schemeClr val="tx1"/>
                </a:solidFill>
              </a:rPr>
              <a:t>', 'college']</a:t>
            </a:r>
            <a:endParaRPr lang="en-US" b="1" i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2" grpId="0" build="p" animBg="1"/>
      <p:bldP spid="13" grpId="0" animBg="1"/>
      <p:bldP spid="14" grpId="0" animBg="1"/>
      <p:bldP spid="15" grpId="0" animBg="1"/>
      <p:bldP spid="15" grpId="1" animBg="1"/>
      <p:bldP spid="21" grpId="0" build="p" animBg="1"/>
      <p:bldP spid="28" grpId="0" animBg="1"/>
      <p:bldP spid="29" grpId="0" animBg="1"/>
      <p:bldP spid="30" grpId="0" animBg="1"/>
      <p:bldP spid="30" grpId="1" animBg="1"/>
      <p:bldP spid="31" grpId="0" build="p" animBg="1"/>
      <p:bldP spid="32" grpId="0" animBg="1"/>
      <p:bldP spid="33" grpId="0" animBg="1"/>
      <p:bldP spid="34" grpId="0" animBg="1"/>
      <p:bldP spid="34" grpId="1" animBg="1"/>
      <p:bldP spid="17" grpId="0" animBg="1"/>
      <p:bldP spid="17" grpId="1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387903-D47C-B749-A7BE-4A2268DFF2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List Comprehension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6FCF50-7584-A14C-B2F1-0E0B509DFE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List comprehensions offer a way to </a:t>
            </a:r>
            <a:r>
              <a:rPr lang="en-US" dirty="0">
                <a:solidFill>
                  <a:srgbClr val="C00000"/>
                </a:solidFill>
              </a:rPr>
              <a:t>create</a:t>
            </a:r>
            <a:r>
              <a:rPr lang="en-US" dirty="0"/>
              <a:t> </a:t>
            </a:r>
            <a:r>
              <a:rPr lang="en-US" dirty="0">
                <a:solidFill>
                  <a:srgbClr val="C00000"/>
                </a:solidFill>
              </a:rPr>
              <a:t>lists</a:t>
            </a:r>
            <a:r>
              <a:rPr lang="en-US" dirty="0"/>
              <a:t> based on </a:t>
            </a:r>
            <a:r>
              <a:rPr lang="en-US" dirty="0">
                <a:solidFill>
                  <a:srgbClr val="C00000"/>
                </a:solidFill>
              </a:rPr>
              <a:t>existing </a:t>
            </a:r>
            <a:r>
              <a:rPr lang="en-US" dirty="0" err="1">
                <a:solidFill>
                  <a:srgbClr val="C00000"/>
                </a:solidFill>
              </a:rPr>
              <a:t>iterable</a:t>
            </a:r>
            <a:r>
              <a:rPr lang="en-US" dirty="0"/>
              <a:t>. When using list comprehensions, lists can be </a:t>
            </a:r>
            <a:r>
              <a:rPr lang="en-US" dirty="0">
                <a:solidFill>
                  <a:srgbClr val="C00000"/>
                </a:solidFill>
              </a:rPr>
              <a:t>built</a:t>
            </a:r>
            <a:r>
              <a:rPr lang="en-US" dirty="0"/>
              <a:t> by using any </a:t>
            </a:r>
            <a:r>
              <a:rPr lang="en-US" dirty="0" err="1">
                <a:solidFill>
                  <a:srgbClr val="C00000"/>
                </a:solidFill>
              </a:rPr>
              <a:t>iterable</a:t>
            </a:r>
            <a:r>
              <a:rPr lang="en-US" dirty="0"/>
              <a:t>, including </a:t>
            </a:r>
            <a:r>
              <a:rPr lang="en-US" dirty="0">
                <a:solidFill>
                  <a:srgbClr val="C00000"/>
                </a:solidFill>
              </a:rPr>
              <a:t>strings</a:t>
            </a:r>
            <a:r>
              <a:rPr lang="en-US" dirty="0"/>
              <a:t>, </a:t>
            </a:r>
            <a:r>
              <a:rPr lang="en-US" dirty="0">
                <a:solidFill>
                  <a:srgbClr val="C00000"/>
                </a:solidFill>
              </a:rPr>
              <a:t>list</a:t>
            </a:r>
            <a:r>
              <a:rPr lang="en-US" dirty="0"/>
              <a:t>, </a:t>
            </a:r>
            <a:r>
              <a:rPr lang="en-US" dirty="0">
                <a:solidFill>
                  <a:srgbClr val="C00000"/>
                </a:solidFill>
              </a:rPr>
              <a:t>tuples</a:t>
            </a:r>
            <a:r>
              <a:rPr lang="en-US" dirty="0"/>
              <a:t>.</a:t>
            </a:r>
            <a:endParaRPr lang="en-IN" dirty="0"/>
          </a:p>
          <a:p>
            <a:r>
              <a:rPr lang="en-US" dirty="0"/>
              <a:t>For example, if we want to create a list of characters from the string, we can use for loop like below example,</a:t>
            </a:r>
            <a:endParaRPr lang="en-IN" dirty="0"/>
          </a:p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E2181BE-ED75-C34E-9799-2E45E5B93E34}"/>
              </a:ext>
            </a:extLst>
          </p:cNvPr>
          <p:cNvSpPr/>
          <p:nvPr/>
        </p:nvSpPr>
        <p:spPr>
          <a:xfrm>
            <a:off x="966879" y="3013501"/>
            <a:ext cx="2980653" cy="132343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latinLnBrk="1"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600" dirty="0" err="1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mystr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66666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BA212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'darshan'</a:t>
            </a:r>
            <a:endParaRPr lang="en-IN" sz="16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latinLnBrk="1"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600" dirty="0" err="1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mylist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66666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[]</a:t>
            </a:r>
            <a:endParaRPr lang="en-IN" sz="16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latinLnBrk="1"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600" b="1" dirty="0">
                <a:solidFill>
                  <a:srgbClr val="008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for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c </a:t>
            </a:r>
            <a:r>
              <a:rPr lang="en-US" sz="1600" b="1" dirty="0">
                <a:solidFill>
                  <a:srgbClr val="AA22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in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mystr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:</a:t>
            </a:r>
            <a:endParaRPr lang="en-IN" sz="16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latinLnBrk="1"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   </a:t>
            </a:r>
            <a:r>
              <a:rPr lang="en-US" sz="1600" dirty="0" err="1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mylist</a:t>
            </a:r>
            <a:r>
              <a:rPr lang="en-US" sz="1600" dirty="0" err="1">
                <a:solidFill>
                  <a:srgbClr val="66666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append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(c)</a:t>
            </a:r>
            <a:endParaRPr lang="en-IN" sz="16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latinLnBrk="1"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print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mylist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)</a:t>
            </a:r>
            <a:endParaRPr lang="en-IN" sz="16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C46F95E-42B4-2043-9507-D41CADC01B4C}"/>
              </a:ext>
            </a:extLst>
          </p:cNvPr>
          <p:cNvSpPr/>
          <p:nvPr/>
        </p:nvSpPr>
        <p:spPr>
          <a:xfrm>
            <a:off x="466886" y="3013501"/>
            <a:ext cx="499993" cy="132343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88B08C7D-DD38-0E4B-8283-41F68EEE15C6}"/>
              </a:ext>
            </a:extLst>
          </p:cNvPr>
          <p:cNvSpPr/>
          <p:nvPr/>
        </p:nvSpPr>
        <p:spPr>
          <a:xfrm>
            <a:off x="466886" y="2684317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 err="1">
                <a:solidFill>
                  <a:schemeClr val="bg1"/>
                </a:solidFill>
              </a:rPr>
              <a:t>ForLoop.py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BC0E1D2-AF07-A844-AC8D-82D457F47448}"/>
              </a:ext>
            </a:extLst>
          </p:cNvPr>
          <p:cNvSpPr/>
          <p:nvPr/>
        </p:nvSpPr>
        <p:spPr>
          <a:xfrm>
            <a:off x="466886" y="4806816"/>
            <a:ext cx="4106926" cy="3385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['d', 'a', 'r', 's', 'h', 'a', 'n']</a:t>
            </a:r>
          </a:p>
        </p:txBody>
      </p:sp>
      <p:sp>
        <p:nvSpPr>
          <p:cNvPr id="9" name="Rectangle: Top Corners Rounded 6">
            <a:extLst>
              <a:ext uri="{FF2B5EF4-FFF2-40B4-BE49-F238E27FC236}">
                <a16:creationId xmlns:a16="http://schemas.microsoft.com/office/drawing/2014/main" id="{E7496F0F-88D7-F04D-9BE8-F8E170CA079C}"/>
              </a:ext>
            </a:extLst>
          </p:cNvPr>
          <p:cNvSpPr/>
          <p:nvPr/>
        </p:nvSpPr>
        <p:spPr>
          <a:xfrm>
            <a:off x="466886" y="4505190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B22F795-2948-AE4B-AC36-AC4520601224}"/>
              </a:ext>
            </a:extLst>
          </p:cNvPr>
          <p:cNvSpPr/>
          <p:nvPr/>
        </p:nvSpPr>
        <p:spPr>
          <a:xfrm>
            <a:off x="5096107" y="2550271"/>
            <a:ext cx="6289288" cy="83099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latinLnBrk="1"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[ expression for item in </a:t>
            </a:r>
            <a:r>
              <a:rPr lang="en-US" sz="1600" dirty="0" err="1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iterable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]</a:t>
            </a:r>
          </a:p>
          <a:p>
            <a:pPr latinLnBrk="1"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OR</a:t>
            </a:r>
          </a:p>
          <a:p>
            <a:pPr latinLnBrk="1"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[ expression for item in </a:t>
            </a:r>
            <a:r>
              <a:rPr lang="en-US" sz="1600" dirty="0" err="1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iterable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if condition ]</a:t>
            </a:r>
          </a:p>
        </p:txBody>
      </p:sp>
      <p:sp>
        <p:nvSpPr>
          <p:cNvPr id="15" name="Rectangle: Top Corners Rounded 6">
            <a:extLst>
              <a:ext uri="{FF2B5EF4-FFF2-40B4-BE49-F238E27FC236}">
                <a16:creationId xmlns:a16="http://schemas.microsoft.com/office/drawing/2014/main" id="{C3AA2CF3-FE0A-394A-BCCC-7040519F1EFA}"/>
              </a:ext>
            </a:extLst>
          </p:cNvPr>
          <p:cNvSpPr/>
          <p:nvPr/>
        </p:nvSpPr>
        <p:spPr>
          <a:xfrm>
            <a:off x="5096107" y="2237582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Syntax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5B3260-559D-1940-B76B-E4510377D6F8}"/>
              </a:ext>
            </a:extLst>
          </p:cNvPr>
          <p:cNvSpPr/>
          <p:nvPr/>
        </p:nvSpPr>
        <p:spPr>
          <a:xfrm>
            <a:off x="5573798" y="4023141"/>
            <a:ext cx="4106926" cy="64165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latinLnBrk="1">
              <a:lnSpc>
                <a:spcPct val="11500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600" dirty="0" err="1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mylist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66666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[c </a:t>
            </a:r>
            <a:r>
              <a:rPr lang="en-US" sz="1600" b="1" dirty="0">
                <a:solidFill>
                  <a:srgbClr val="008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for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c </a:t>
            </a:r>
            <a:r>
              <a:rPr lang="en-US" sz="1600" b="1" dirty="0">
                <a:solidFill>
                  <a:srgbClr val="AA22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in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BA212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'darshan'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]</a:t>
            </a:r>
            <a:endParaRPr lang="en-IN" sz="1600" dirty="0">
              <a:latin typeface="LM Roman 12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ct val="11500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print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lang="en-US" sz="1600" dirty="0" err="1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mylist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)</a:t>
            </a:r>
            <a:endParaRPr lang="en-IN" sz="1600" dirty="0">
              <a:latin typeface="LM Roman 12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82BEDAC-D54A-BA48-A24F-EF875CB014C5}"/>
              </a:ext>
            </a:extLst>
          </p:cNvPr>
          <p:cNvSpPr/>
          <p:nvPr/>
        </p:nvSpPr>
        <p:spPr>
          <a:xfrm>
            <a:off x="5073805" y="4023141"/>
            <a:ext cx="499993" cy="5847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</p:txBody>
      </p:sp>
      <p:sp>
        <p:nvSpPr>
          <p:cNvPr id="18" name="Rectangle: Top Corners Rounded 6">
            <a:extLst>
              <a:ext uri="{FF2B5EF4-FFF2-40B4-BE49-F238E27FC236}">
                <a16:creationId xmlns:a16="http://schemas.microsoft.com/office/drawing/2014/main" id="{AE35BFE9-3C3E-B44B-B12D-6E25A1881ECD}"/>
              </a:ext>
            </a:extLst>
          </p:cNvPr>
          <p:cNvSpPr/>
          <p:nvPr/>
        </p:nvSpPr>
        <p:spPr>
          <a:xfrm>
            <a:off x="5073805" y="3693957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Example1.py</a:t>
            </a:r>
          </a:p>
        </p:txBody>
      </p:sp>
    </p:spTree>
    <p:extLst>
      <p:ext uri="{BB962C8B-B14F-4D97-AF65-F5344CB8AC3E}">
        <p14:creationId xmlns:p14="http://schemas.microsoft.com/office/powerpoint/2010/main" val="27608528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  <p:bldP spid="5" grpId="0" animBg="1"/>
      <p:bldP spid="6" grpId="0" animBg="1"/>
      <p:bldP spid="7" grpId="0" uiExpand="1" build="p" animBg="1"/>
      <p:bldP spid="9" grpId="0" animBg="1"/>
      <p:bldP spid="13" grpId="0" build="p" animBg="1"/>
      <p:bldP spid="15" grpId="0" animBg="1"/>
      <p:bldP spid="16" grpId="0" build="p" animBg="1"/>
      <p:bldP spid="17" grpId="0" animBg="1"/>
      <p:bldP spid="18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48609B-5896-FD41-8633-E181C241E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 Comprehension (cont.)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8C8663-615F-3144-8FEE-FA89CB42F6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Similarly, we can use list comprehensions in many cases where we want to create a list out of </a:t>
            </a:r>
            <a:r>
              <a:rPr lang="en-US" dirty="0">
                <a:solidFill>
                  <a:srgbClr val="C00000"/>
                </a:solidFill>
              </a:rPr>
              <a:t>other </a:t>
            </a:r>
            <a:r>
              <a:rPr lang="en-US" dirty="0" err="1">
                <a:solidFill>
                  <a:srgbClr val="C00000"/>
                </a:solidFill>
              </a:rPr>
              <a:t>iterable</a:t>
            </a:r>
            <a:r>
              <a:rPr lang="en-US" dirty="0"/>
              <a:t>, let’s see another example of the use of List Comprehension.</a:t>
            </a:r>
            <a:endParaRPr lang="en-IN" dirty="0"/>
          </a:p>
          <a:p>
            <a:pPr lvl="0"/>
            <a:r>
              <a:rPr lang="en-US" dirty="0"/>
              <a:t>Example (Using for loop):</a:t>
            </a:r>
            <a:endParaRPr lang="en-IN" dirty="0"/>
          </a:p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5B3FDC6-1B2A-404C-8606-020D1C217545}"/>
              </a:ext>
            </a:extLst>
          </p:cNvPr>
          <p:cNvSpPr/>
          <p:nvPr/>
        </p:nvSpPr>
        <p:spPr>
          <a:xfrm>
            <a:off x="966879" y="2600906"/>
            <a:ext cx="4040019" cy="132343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altLang="en-US" sz="1600" i="1" dirty="0">
                <a:solidFill>
                  <a:srgbClr val="40808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#list of square from 1 to 10</a:t>
            </a:r>
            <a:r>
              <a:rPr lang="en-US" altLang="en-US" sz="1100" dirty="0"/>
              <a:t> </a:t>
            </a:r>
            <a:endParaRPr lang="en-US" altLang="en-US" sz="2400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altLang="en-US" sz="1600" dirty="0" err="1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mylist</a:t>
            </a:r>
            <a:r>
              <a:rPr lang="en-US" alt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altLang="en-US" sz="1600" dirty="0">
                <a:solidFill>
                  <a:srgbClr val="66666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=</a:t>
            </a:r>
            <a:r>
              <a:rPr lang="en-US" alt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[]</a:t>
            </a:r>
            <a:endParaRPr lang="en-US" altLang="en-US" sz="1100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altLang="en-US" sz="1600" b="1" dirty="0">
                <a:solidFill>
                  <a:srgbClr val="008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for</a:t>
            </a:r>
            <a:r>
              <a:rPr lang="en-US" alt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altLang="en-US" sz="1600" dirty="0" err="1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i</a:t>
            </a:r>
            <a:r>
              <a:rPr lang="en-US" alt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altLang="en-US" sz="1600" b="1" dirty="0">
                <a:solidFill>
                  <a:srgbClr val="AA22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in</a:t>
            </a:r>
            <a:r>
              <a:rPr lang="en-US" alt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altLang="en-US" sz="1600" dirty="0">
                <a:solidFill>
                  <a:srgbClr val="008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range</a:t>
            </a:r>
            <a:r>
              <a:rPr lang="en-US" alt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lang="en-US" altLang="en-US" sz="1600" dirty="0">
                <a:solidFill>
                  <a:srgbClr val="66666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1</a:t>
            </a:r>
            <a:r>
              <a:rPr lang="en-US" alt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,</a:t>
            </a:r>
            <a:r>
              <a:rPr lang="en-US" altLang="en-US" sz="1600" dirty="0">
                <a:solidFill>
                  <a:srgbClr val="66666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11</a:t>
            </a:r>
            <a:r>
              <a:rPr lang="en-US" alt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):</a:t>
            </a:r>
            <a:endParaRPr lang="en-US" altLang="en-US" sz="1100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alt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   </a:t>
            </a:r>
            <a:r>
              <a:rPr lang="en-US" altLang="en-US" sz="1600" dirty="0" err="1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mylist</a:t>
            </a:r>
            <a:r>
              <a:rPr lang="en-US" altLang="en-US" sz="1600" dirty="0" err="1">
                <a:solidFill>
                  <a:srgbClr val="66666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.</a:t>
            </a:r>
            <a:r>
              <a:rPr lang="en-US" altLang="en-US" sz="1600" dirty="0" err="1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append</a:t>
            </a:r>
            <a:r>
              <a:rPr lang="en-US" alt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lang="en-US" altLang="en-US" sz="1600" dirty="0" err="1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i</a:t>
            </a:r>
            <a:r>
              <a:rPr lang="en-US" altLang="en-US" sz="1600" dirty="0">
                <a:solidFill>
                  <a:srgbClr val="66666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**2</a:t>
            </a:r>
            <a:r>
              <a:rPr lang="en-US" alt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)</a:t>
            </a:r>
            <a:endParaRPr lang="en-US" altLang="en-US" sz="1100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altLang="en-US" sz="1600" dirty="0">
                <a:solidFill>
                  <a:srgbClr val="008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print</a:t>
            </a:r>
            <a:r>
              <a:rPr lang="en-US" alt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lang="en-US" altLang="en-US" sz="1600" dirty="0" err="1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mylist</a:t>
            </a:r>
            <a:r>
              <a:rPr lang="en-US" alt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)</a:t>
            </a:r>
            <a:endParaRPr lang="en-US" altLang="en-US" sz="2400" dirty="0">
              <a:latin typeface="Arial" panose="020B06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08387EF-4C81-384D-86F8-5E74D6E6CEA8}"/>
              </a:ext>
            </a:extLst>
          </p:cNvPr>
          <p:cNvSpPr/>
          <p:nvPr/>
        </p:nvSpPr>
        <p:spPr>
          <a:xfrm>
            <a:off x="466886" y="2600906"/>
            <a:ext cx="499993" cy="132343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83BB5533-03B9-0F47-8D36-94B9FB9D97DC}"/>
              </a:ext>
            </a:extLst>
          </p:cNvPr>
          <p:cNvSpPr/>
          <p:nvPr/>
        </p:nvSpPr>
        <p:spPr>
          <a:xfrm>
            <a:off x="466886" y="2271722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ForLoop1.py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20DBC3B-B0F1-EC40-B96D-4FEDE1ED2454}"/>
              </a:ext>
            </a:extLst>
          </p:cNvPr>
          <p:cNvSpPr/>
          <p:nvPr/>
        </p:nvSpPr>
        <p:spPr>
          <a:xfrm>
            <a:off x="466886" y="4555155"/>
            <a:ext cx="4841094" cy="3385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[1, 4, 9, 16, 25, 36, 49, 64, 81, 100]</a:t>
            </a:r>
          </a:p>
        </p:txBody>
      </p:sp>
      <p:sp>
        <p:nvSpPr>
          <p:cNvPr id="16" name="Rectangle: Top Corners Rounded 6">
            <a:extLst>
              <a:ext uri="{FF2B5EF4-FFF2-40B4-BE49-F238E27FC236}">
                <a16:creationId xmlns:a16="http://schemas.microsoft.com/office/drawing/2014/main" id="{1E66B573-50DE-5C42-B785-B70BFBED77CF}"/>
              </a:ext>
            </a:extLst>
          </p:cNvPr>
          <p:cNvSpPr/>
          <p:nvPr/>
        </p:nvSpPr>
        <p:spPr>
          <a:xfrm>
            <a:off x="466886" y="4253529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6C5B5C6-3403-1D41-A754-B9503370094E}"/>
              </a:ext>
            </a:extLst>
          </p:cNvPr>
          <p:cNvSpPr/>
          <p:nvPr/>
        </p:nvSpPr>
        <p:spPr>
          <a:xfrm>
            <a:off x="6730393" y="2600906"/>
            <a:ext cx="4710758" cy="83099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altLang="en-US" sz="1600" i="1" dirty="0">
                <a:solidFill>
                  <a:srgbClr val="40808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# list of square from 1 to 10</a:t>
            </a:r>
            <a:r>
              <a:rPr lang="en-US" altLang="en-US" sz="1100" dirty="0"/>
              <a:t> </a:t>
            </a:r>
            <a:endParaRPr lang="en-US" altLang="en-US" sz="2400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altLang="en-US" sz="1600" dirty="0" err="1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mylist</a:t>
            </a:r>
            <a:r>
              <a:rPr lang="en-US" alt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altLang="en-US" sz="1600" dirty="0">
                <a:solidFill>
                  <a:srgbClr val="66666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=</a:t>
            </a:r>
            <a:r>
              <a:rPr lang="en-US" alt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[ </a:t>
            </a:r>
            <a:r>
              <a:rPr lang="en-US" altLang="en-US" sz="1600" dirty="0" err="1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i</a:t>
            </a:r>
            <a:r>
              <a:rPr lang="en-US" altLang="en-US" sz="1600" dirty="0">
                <a:solidFill>
                  <a:srgbClr val="66666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**2</a:t>
            </a:r>
            <a:r>
              <a:rPr lang="en-US" alt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altLang="en-US" sz="1600" b="1" dirty="0">
                <a:solidFill>
                  <a:srgbClr val="008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for</a:t>
            </a:r>
            <a:r>
              <a:rPr lang="en-US" alt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altLang="en-US" sz="1600" dirty="0" err="1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i</a:t>
            </a:r>
            <a:r>
              <a:rPr lang="en-US" alt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altLang="en-US" sz="1600" b="1" dirty="0">
                <a:solidFill>
                  <a:srgbClr val="AA22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in</a:t>
            </a:r>
            <a:r>
              <a:rPr lang="en-US" alt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altLang="en-US" sz="1600" dirty="0">
                <a:solidFill>
                  <a:srgbClr val="008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range</a:t>
            </a:r>
            <a:r>
              <a:rPr lang="en-US" alt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lang="en-US" altLang="en-US" sz="1600" dirty="0">
                <a:solidFill>
                  <a:srgbClr val="66666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1</a:t>
            </a:r>
            <a:r>
              <a:rPr lang="en-US" alt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,</a:t>
            </a:r>
            <a:r>
              <a:rPr lang="en-US" altLang="en-US" sz="1600" dirty="0">
                <a:solidFill>
                  <a:srgbClr val="66666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11</a:t>
            </a:r>
            <a:r>
              <a:rPr lang="en-US" alt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) ]</a:t>
            </a:r>
            <a:endParaRPr lang="en-US" altLang="en-US" sz="1100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altLang="en-US" sz="1600" dirty="0">
                <a:solidFill>
                  <a:srgbClr val="008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print</a:t>
            </a:r>
            <a:r>
              <a:rPr lang="en-US" alt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lang="en-US" altLang="en-US" sz="1600" dirty="0" err="1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mylist</a:t>
            </a:r>
            <a:r>
              <a:rPr lang="en-US" alt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)</a:t>
            </a:r>
            <a:endParaRPr lang="en-US" altLang="en-US" sz="2400" dirty="0">
              <a:latin typeface="Arial" panose="020B0604020202020204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E17CA24-15D2-8943-942B-F3B19F563B43}"/>
              </a:ext>
            </a:extLst>
          </p:cNvPr>
          <p:cNvSpPr/>
          <p:nvPr/>
        </p:nvSpPr>
        <p:spPr>
          <a:xfrm>
            <a:off x="6230400" y="2600906"/>
            <a:ext cx="499993" cy="83099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</p:txBody>
      </p:sp>
      <p:sp>
        <p:nvSpPr>
          <p:cNvPr id="19" name="Rectangle: Top Corners Rounded 6">
            <a:extLst>
              <a:ext uri="{FF2B5EF4-FFF2-40B4-BE49-F238E27FC236}">
                <a16:creationId xmlns:a16="http://schemas.microsoft.com/office/drawing/2014/main" id="{45DCA462-BE19-FC4C-B320-1EE219AB42F6}"/>
              </a:ext>
            </a:extLst>
          </p:cNvPr>
          <p:cNvSpPr/>
          <p:nvPr/>
        </p:nvSpPr>
        <p:spPr>
          <a:xfrm>
            <a:off x="6230400" y="2271722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Example2.py</a:t>
            </a:r>
          </a:p>
        </p:txBody>
      </p:sp>
    </p:spTree>
    <p:extLst>
      <p:ext uri="{BB962C8B-B14F-4D97-AF65-F5344CB8AC3E}">
        <p14:creationId xmlns:p14="http://schemas.microsoft.com/office/powerpoint/2010/main" val="15547914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  <p:bldP spid="5" grpId="0" animBg="1"/>
      <p:bldP spid="6" grpId="0" animBg="1"/>
      <p:bldP spid="15" grpId="0" uiExpand="1" build="p" animBg="1"/>
      <p:bldP spid="16" grpId="0" animBg="1"/>
      <p:bldP spid="17" grpId="0" build="p" animBg="1"/>
      <p:bldP spid="18" grpId="0" animBg="1"/>
      <p:bldP spid="19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Tuple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Tuple</a:t>
            </a:r>
            <a:r>
              <a:rPr lang="en-US" dirty="0"/>
              <a:t> is a </a:t>
            </a:r>
            <a:r>
              <a:rPr lang="en-US" dirty="0">
                <a:solidFill>
                  <a:srgbClr val="C00000"/>
                </a:solidFill>
              </a:rPr>
              <a:t>immutable ordered sequence of objects</a:t>
            </a:r>
            <a:r>
              <a:rPr lang="en-US" dirty="0"/>
              <a:t>, </a:t>
            </a:r>
            <a:r>
              <a:rPr lang="en-US" dirty="0">
                <a:solidFill>
                  <a:srgbClr val="C00000"/>
                </a:solidFill>
              </a:rPr>
              <a:t>duplicate</a:t>
            </a:r>
            <a:r>
              <a:rPr lang="en-US" dirty="0"/>
              <a:t> values are allowed inside list.</a:t>
            </a:r>
          </a:p>
          <a:p>
            <a:r>
              <a:rPr lang="en-US" dirty="0" err="1"/>
              <a:t>Tuple</a:t>
            </a:r>
            <a:r>
              <a:rPr lang="en-US" dirty="0"/>
              <a:t> will be represented by </a:t>
            </a:r>
            <a:r>
              <a:rPr lang="en-US" dirty="0">
                <a:solidFill>
                  <a:srgbClr val="C00000"/>
                </a:solidFill>
              </a:rPr>
              <a:t>round brackets </a:t>
            </a:r>
            <a:r>
              <a:rPr lang="en-US" dirty="0"/>
              <a:t>( ).</a:t>
            </a:r>
          </a:p>
          <a:p>
            <a:r>
              <a:rPr lang="en-US" dirty="0" err="1"/>
              <a:t>Tuple</a:t>
            </a:r>
            <a:r>
              <a:rPr lang="en-US" dirty="0"/>
              <a:t> is similar to List but List is mutable whereas </a:t>
            </a:r>
            <a:r>
              <a:rPr lang="en-US" dirty="0" err="1"/>
              <a:t>Tuple</a:t>
            </a:r>
            <a:r>
              <a:rPr lang="en-US" dirty="0"/>
              <a:t> is </a:t>
            </a:r>
            <a:r>
              <a:rPr lang="en-US" dirty="0">
                <a:solidFill>
                  <a:srgbClr val="C00000"/>
                </a:solidFill>
              </a:rPr>
              <a:t>immutable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56EBDA-49A4-A843-A786-6989C63A54AA}"/>
              </a:ext>
            </a:extLst>
          </p:cNvPr>
          <p:cNvSpPr/>
          <p:nvPr/>
        </p:nvSpPr>
        <p:spPr>
          <a:xfrm>
            <a:off x="1022635" y="2614991"/>
            <a:ext cx="8472276" cy="132343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 err="1">
                <a:solidFill>
                  <a:srgbClr val="000000"/>
                </a:solidFill>
                <a:latin typeface="Consolas"/>
              </a:rPr>
              <a:t>my_tuple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= (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darshan'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,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'institute'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,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'of'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,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'engineering'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,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'of'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,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'rajkot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print(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my_tuple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print(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my_tuple.index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'engineering'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print(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my_tuple.count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'of'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print(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my_tuple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[-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1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])</a:t>
            </a:r>
            <a:endParaRPr lang="en-US" sz="1600" b="0" dirty="0">
              <a:solidFill>
                <a:srgbClr val="000000"/>
              </a:solidFill>
              <a:latin typeface="Consola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F9F4A0-4592-C04D-B2D0-0BF66A3BFA20}"/>
              </a:ext>
            </a:extLst>
          </p:cNvPr>
          <p:cNvSpPr/>
          <p:nvPr/>
        </p:nvSpPr>
        <p:spPr>
          <a:xfrm>
            <a:off x="522642" y="2614991"/>
            <a:ext cx="499993" cy="132343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0336C271-A2A3-9445-9946-5006F0A250F4}"/>
              </a:ext>
            </a:extLst>
          </p:cNvPr>
          <p:cNvSpPr/>
          <p:nvPr/>
        </p:nvSpPr>
        <p:spPr>
          <a:xfrm>
            <a:off x="522642" y="2285807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tupledemo.py</a:t>
            </a:r>
          </a:p>
        </p:txBody>
      </p:sp>
      <p:sp>
        <p:nvSpPr>
          <p:cNvPr id="7" name="Line Callout 1 6"/>
          <p:cNvSpPr/>
          <p:nvPr/>
        </p:nvSpPr>
        <p:spPr>
          <a:xfrm>
            <a:off x="6251433" y="3042841"/>
            <a:ext cx="5220900" cy="428493"/>
          </a:xfrm>
          <a:prstGeom prst="borderCallout1">
            <a:avLst>
              <a:gd name="adj1" fmla="val 53885"/>
              <a:gd name="adj2" fmla="val -612"/>
              <a:gd name="adj3" fmla="val 59298"/>
              <a:gd name="adj4" fmla="val -20206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Output : </a:t>
            </a:r>
            <a:r>
              <a:rPr lang="en-IN" i="1" dirty="0">
                <a:solidFill>
                  <a:schemeClr val="tx1"/>
                </a:solidFill>
              </a:rPr>
              <a:t>3 </a:t>
            </a:r>
            <a:r>
              <a:rPr lang="en-IN" dirty="0">
                <a:solidFill>
                  <a:schemeClr val="tx1"/>
                </a:solidFill>
              </a:rPr>
              <a:t>(index of ‘engineering’)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8" name="Line Callout 1 7"/>
          <p:cNvSpPr/>
          <p:nvPr/>
        </p:nvSpPr>
        <p:spPr>
          <a:xfrm>
            <a:off x="6251432" y="2517908"/>
            <a:ext cx="5808295" cy="428493"/>
          </a:xfrm>
          <a:prstGeom prst="borderCallout1">
            <a:avLst>
              <a:gd name="adj1" fmla="val 53885"/>
              <a:gd name="adj2" fmla="val -612"/>
              <a:gd name="adj3" fmla="val 122565"/>
              <a:gd name="adj4" fmla="val -58595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Output : </a:t>
            </a:r>
            <a:r>
              <a:rPr lang="en-IN" i="1" dirty="0">
                <a:solidFill>
                  <a:schemeClr val="tx1"/>
                </a:solidFill>
              </a:rPr>
              <a:t>('</a:t>
            </a:r>
            <a:r>
              <a:rPr lang="en-IN" i="1" dirty="0" err="1">
                <a:solidFill>
                  <a:schemeClr val="tx1"/>
                </a:solidFill>
              </a:rPr>
              <a:t>darshan</a:t>
            </a:r>
            <a:r>
              <a:rPr lang="en-IN" i="1" dirty="0">
                <a:solidFill>
                  <a:schemeClr val="tx1"/>
                </a:solidFill>
              </a:rPr>
              <a:t>', 'institute', 'of', 'engineering', 'of', '</a:t>
            </a:r>
            <a:r>
              <a:rPr lang="en-IN" i="1" dirty="0" err="1">
                <a:solidFill>
                  <a:schemeClr val="tx1"/>
                </a:solidFill>
              </a:rPr>
              <a:t>rajkot</a:t>
            </a:r>
            <a:r>
              <a:rPr lang="en-IN" i="1" dirty="0">
                <a:solidFill>
                  <a:schemeClr val="tx1"/>
                </a:solidFill>
              </a:rPr>
              <a:t>')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9" name="Line Callout 1 8"/>
          <p:cNvSpPr/>
          <p:nvPr/>
        </p:nvSpPr>
        <p:spPr>
          <a:xfrm>
            <a:off x="6251433" y="3559307"/>
            <a:ext cx="5220900" cy="434723"/>
          </a:xfrm>
          <a:prstGeom prst="borderCallout1">
            <a:avLst>
              <a:gd name="adj1" fmla="val 53885"/>
              <a:gd name="adj2" fmla="val -612"/>
              <a:gd name="adj3" fmla="val -4757"/>
              <a:gd name="adj4" fmla="val -38831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Output : </a:t>
            </a:r>
            <a:r>
              <a:rPr lang="en-IN" i="1" dirty="0">
                <a:solidFill>
                  <a:schemeClr val="tx1"/>
                </a:solidFill>
              </a:rPr>
              <a:t>2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4" name="Line Callout 1 13"/>
          <p:cNvSpPr/>
          <p:nvPr/>
        </p:nvSpPr>
        <p:spPr>
          <a:xfrm>
            <a:off x="6251433" y="4076892"/>
            <a:ext cx="5220900" cy="434723"/>
          </a:xfrm>
          <a:prstGeom prst="borderCallout1">
            <a:avLst>
              <a:gd name="adj1" fmla="val 53885"/>
              <a:gd name="adj2" fmla="val -612"/>
              <a:gd name="adj3" fmla="val -70241"/>
              <a:gd name="adj4" fmla="val -56510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Output : </a:t>
            </a:r>
            <a:r>
              <a:rPr lang="en-IN" i="1" dirty="0" err="1">
                <a:solidFill>
                  <a:schemeClr val="tx1"/>
                </a:solidFill>
              </a:rPr>
              <a:t>rajkot</a:t>
            </a:r>
            <a:endParaRPr 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uiExpand="1" build="p" animBg="1"/>
      <p:bldP spid="5" grpId="0" animBg="1"/>
      <p:bldP spid="6" grpId="0" animBg="1"/>
      <p:bldP spid="7" grpId="0" animBg="1"/>
      <p:bldP spid="7" grpId="1" animBg="1"/>
      <p:bldP spid="8" grpId="0" animBg="1"/>
      <p:bldP spid="8" grpId="1" animBg="1"/>
      <p:bldP spid="9" grpId="0" animBg="1"/>
      <p:bldP spid="9" grpId="1" animBg="1"/>
      <p:bldP spid="14" grpId="0" animBg="1"/>
      <p:bldP spid="14" grpId="1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Set is </a:t>
            </a:r>
            <a:r>
              <a:rPr lang="en-US" dirty="0">
                <a:solidFill>
                  <a:srgbClr val="C00000"/>
                </a:solidFill>
              </a:rPr>
              <a:t>a unordered collection of unique objects</a:t>
            </a:r>
            <a:r>
              <a:rPr lang="en-US" dirty="0"/>
              <a:t>.</a:t>
            </a:r>
          </a:p>
          <a:p>
            <a:r>
              <a:rPr lang="en-US" dirty="0"/>
              <a:t>Set will be represented by </a:t>
            </a:r>
            <a:r>
              <a:rPr lang="en-US" dirty="0">
                <a:solidFill>
                  <a:srgbClr val="C00000"/>
                </a:solidFill>
              </a:rPr>
              <a:t>curly brackets </a:t>
            </a:r>
            <a:r>
              <a:rPr lang="en-US" dirty="0"/>
              <a:t>{ }.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Set has many in-built methods such as add(), clear(), copy(), pop(), remove() etc.. which are similar to methods we have previously seen.</a:t>
            </a:r>
          </a:p>
          <a:p>
            <a:r>
              <a:rPr lang="en-US" dirty="0"/>
              <a:t>Only difference between Set and List is that Set will have only unique elements and List can have duplicate elements.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56EBDA-49A4-A843-A786-6989C63A54AA}"/>
              </a:ext>
            </a:extLst>
          </p:cNvPr>
          <p:cNvSpPr/>
          <p:nvPr/>
        </p:nvSpPr>
        <p:spPr>
          <a:xfrm>
            <a:off x="1022635" y="2209549"/>
            <a:ext cx="8472276" cy="5847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 err="1">
                <a:solidFill>
                  <a:srgbClr val="000000"/>
                </a:solidFill>
                <a:latin typeface="Consolas"/>
              </a:rPr>
              <a:t>my_set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= {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1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,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1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,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1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,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2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,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2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,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5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,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3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,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9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}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print(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my_set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</a:t>
            </a:r>
            <a:endParaRPr lang="en-US" sz="1600" b="0" dirty="0">
              <a:solidFill>
                <a:srgbClr val="000000"/>
              </a:solidFill>
              <a:latin typeface="Consola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F9F4A0-4592-C04D-B2D0-0BF66A3BFA20}"/>
              </a:ext>
            </a:extLst>
          </p:cNvPr>
          <p:cNvSpPr/>
          <p:nvPr/>
        </p:nvSpPr>
        <p:spPr>
          <a:xfrm>
            <a:off x="522642" y="2209549"/>
            <a:ext cx="499993" cy="5847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0336C271-A2A3-9445-9946-5006F0A250F4}"/>
              </a:ext>
            </a:extLst>
          </p:cNvPr>
          <p:cNvSpPr/>
          <p:nvPr/>
        </p:nvSpPr>
        <p:spPr>
          <a:xfrm>
            <a:off x="522642" y="1880365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setdemo.py</a:t>
            </a:r>
          </a:p>
        </p:txBody>
      </p:sp>
      <p:sp>
        <p:nvSpPr>
          <p:cNvPr id="8" name="Line Callout 1 7"/>
          <p:cNvSpPr/>
          <p:nvPr/>
        </p:nvSpPr>
        <p:spPr>
          <a:xfrm>
            <a:off x="6035771" y="2267742"/>
            <a:ext cx="5808295" cy="428493"/>
          </a:xfrm>
          <a:prstGeom prst="borderCallout1">
            <a:avLst>
              <a:gd name="adj1" fmla="val 53885"/>
              <a:gd name="adj2" fmla="val -612"/>
              <a:gd name="adj3" fmla="val 88341"/>
              <a:gd name="adj4" fmla="val -58595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Output : </a:t>
            </a:r>
            <a:r>
              <a:rPr lang="en-IN" i="1" dirty="0">
                <a:solidFill>
                  <a:schemeClr val="tx1"/>
                </a:solidFill>
              </a:rPr>
              <a:t>{1, 2, 3, 5, 9}</a:t>
            </a:r>
            <a:endParaRPr 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build="p" animBg="1"/>
      <p:bldP spid="5" grpId="0" animBg="1"/>
      <p:bldP spid="6" grpId="0" animBg="1"/>
      <p:bldP spid="8" grpId="0" animBg="1"/>
      <p:bldP spid="8" grpId="1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Dictionary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Dictionary was </a:t>
            </a:r>
            <a:r>
              <a:rPr lang="en-US" dirty="0">
                <a:solidFill>
                  <a:srgbClr val="C00000"/>
                </a:solidFill>
              </a:rPr>
              <a:t>unordered</a:t>
            </a:r>
            <a:r>
              <a:rPr lang="en-US" dirty="0"/>
              <a:t> collection of </a:t>
            </a:r>
            <a:r>
              <a:rPr lang="en-US" dirty="0">
                <a:solidFill>
                  <a:srgbClr val="C00000"/>
                </a:solidFill>
              </a:rPr>
              <a:t>key-value pair before Python 3.7 but after 3.7 it is ordered.</a:t>
            </a:r>
            <a:endParaRPr lang="en-US" dirty="0"/>
          </a:p>
          <a:p>
            <a:r>
              <a:rPr lang="en-US" dirty="0"/>
              <a:t>Dictionary will be represented by </a:t>
            </a:r>
            <a:r>
              <a:rPr lang="en-US" dirty="0">
                <a:solidFill>
                  <a:srgbClr val="C00000"/>
                </a:solidFill>
              </a:rPr>
              <a:t>curly brackets </a:t>
            </a:r>
            <a:r>
              <a:rPr lang="en-US" dirty="0"/>
              <a:t>{ }. Dictionary is </a:t>
            </a:r>
            <a:r>
              <a:rPr lang="en-US" dirty="0">
                <a:solidFill>
                  <a:srgbClr val="C00000"/>
                </a:solidFill>
              </a:rPr>
              <a:t>mutable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56EBDA-49A4-A843-A786-6989C63A54AA}"/>
              </a:ext>
            </a:extLst>
          </p:cNvPr>
          <p:cNvSpPr/>
          <p:nvPr/>
        </p:nvSpPr>
        <p:spPr>
          <a:xfrm>
            <a:off x="1022635" y="4728462"/>
            <a:ext cx="8472276" cy="83099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 err="1">
                <a:solidFill>
                  <a:srgbClr val="000000"/>
                </a:solidFill>
                <a:latin typeface="Consolas"/>
              </a:rPr>
              <a:t>my_dict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= {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'college'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: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"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darshan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"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, 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'city'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: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"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rajkot"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,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'type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: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"engineering"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}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print(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my_dict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[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'college'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])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print(my_dict.get(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'city'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))</a:t>
            </a:r>
            <a:endParaRPr lang="en-US" sz="1600" b="0" dirty="0">
              <a:solidFill>
                <a:srgbClr val="000000"/>
              </a:solidFill>
              <a:latin typeface="Consola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F9F4A0-4592-C04D-B2D0-0BF66A3BFA20}"/>
              </a:ext>
            </a:extLst>
          </p:cNvPr>
          <p:cNvSpPr/>
          <p:nvPr/>
        </p:nvSpPr>
        <p:spPr>
          <a:xfrm>
            <a:off x="522642" y="4728462"/>
            <a:ext cx="499993" cy="83099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0336C271-A2A3-9445-9946-5006F0A250F4}"/>
              </a:ext>
            </a:extLst>
          </p:cNvPr>
          <p:cNvSpPr/>
          <p:nvPr/>
        </p:nvSpPr>
        <p:spPr>
          <a:xfrm>
            <a:off x="522642" y="4399278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dictdemo.py</a:t>
            </a:r>
          </a:p>
        </p:txBody>
      </p:sp>
      <p:sp>
        <p:nvSpPr>
          <p:cNvPr id="7" name="Line Callout 1 6"/>
          <p:cNvSpPr/>
          <p:nvPr/>
        </p:nvSpPr>
        <p:spPr>
          <a:xfrm>
            <a:off x="5406044" y="5190818"/>
            <a:ext cx="5523624" cy="1020201"/>
          </a:xfrm>
          <a:prstGeom prst="borderCallout1">
            <a:avLst>
              <a:gd name="adj1" fmla="val 53885"/>
              <a:gd name="adj2" fmla="val -612"/>
              <a:gd name="adj3" fmla="val 5546"/>
              <a:gd name="adj4" fmla="val -25326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values can be accessed using key inside square brackets as well as using get() method</a:t>
            </a:r>
          </a:p>
          <a:p>
            <a:pPr algn="ctr"/>
            <a:r>
              <a:rPr lang="en-IN" dirty="0">
                <a:solidFill>
                  <a:schemeClr val="tx1"/>
                </a:solidFill>
              </a:rPr>
              <a:t>Output : </a:t>
            </a:r>
            <a:r>
              <a:rPr lang="en-IN" i="1" dirty="0" err="1">
                <a:solidFill>
                  <a:schemeClr val="tx1"/>
                </a:solidFill>
              </a:rPr>
              <a:t>darshan</a:t>
            </a:r>
            <a:endParaRPr lang="en-IN" i="1" dirty="0">
              <a:solidFill>
                <a:schemeClr val="tx1"/>
              </a:solidFill>
            </a:endParaRPr>
          </a:p>
          <a:p>
            <a:pPr algn="ctr"/>
            <a:r>
              <a:rPr lang="en-IN" i="1" dirty="0">
                <a:solidFill>
                  <a:schemeClr val="tx1"/>
                </a:solidFill>
              </a:rPr>
              <a:t>            </a:t>
            </a:r>
            <a:r>
              <a:rPr lang="en-IN" i="1" dirty="0" err="1">
                <a:solidFill>
                  <a:schemeClr val="tx1"/>
                </a:solidFill>
              </a:rPr>
              <a:t>rajkot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456EBDA-49A4-A843-A786-6989C63A54AA}"/>
              </a:ext>
            </a:extLst>
          </p:cNvPr>
          <p:cNvSpPr/>
          <p:nvPr/>
        </p:nvSpPr>
        <p:spPr>
          <a:xfrm>
            <a:off x="522641" y="2533680"/>
            <a:ext cx="10238491" cy="3385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 err="1">
                <a:solidFill>
                  <a:srgbClr val="000000"/>
                </a:solidFill>
                <a:latin typeface="Consolas"/>
              </a:rPr>
              <a:t>my_dict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= { 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'key1'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: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'value1'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, 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'key2'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: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'value2'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}</a:t>
            </a:r>
          </a:p>
        </p:txBody>
      </p:sp>
      <p:sp>
        <p:nvSpPr>
          <p:cNvPr id="20" name="Rectangle: Top Corners Rounded 6">
            <a:extLst>
              <a:ext uri="{FF2B5EF4-FFF2-40B4-BE49-F238E27FC236}">
                <a16:creationId xmlns:a16="http://schemas.microsoft.com/office/drawing/2014/main" id="{0336C271-A2A3-9445-9946-5006F0A250F4}"/>
              </a:ext>
            </a:extLst>
          </p:cNvPr>
          <p:cNvSpPr/>
          <p:nvPr/>
        </p:nvSpPr>
        <p:spPr>
          <a:xfrm>
            <a:off x="522642" y="2204496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syntax</a:t>
            </a:r>
          </a:p>
        </p:txBody>
      </p:sp>
      <p:sp>
        <p:nvSpPr>
          <p:cNvPr id="21" name="Line Callout 1 20"/>
          <p:cNvSpPr/>
          <p:nvPr/>
        </p:nvSpPr>
        <p:spPr>
          <a:xfrm>
            <a:off x="946187" y="3237430"/>
            <a:ext cx="2754544" cy="626533"/>
          </a:xfrm>
          <a:prstGeom prst="borderCallout1">
            <a:avLst>
              <a:gd name="adj1" fmla="val 2941"/>
              <a:gd name="adj2" fmla="val 50044"/>
              <a:gd name="adj3" fmla="val -69174"/>
              <a:gd name="adj4" fmla="val 61425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Key value is </a:t>
            </a:r>
            <a:r>
              <a:rPr lang="en-IN" dirty="0" err="1">
                <a:solidFill>
                  <a:schemeClr val="tx1"/>
                </a:solidFill>
              </a:rPr>
              <a:t>seperated</a:t>
            </a:r>
            <a:r>
              <a:rPr lang="en-IN" dirty="0">
                <a:solidFill>
                  <a:schemeClr val="tx1"/>
                </a:solidFill>
              </a:rPr>
              <a:t> by </a:t>
            </a:r>
            <a:r>
              <a:rPr lang="en-IN" b="1" dirty="0">
                <a:solidFill>
                  <a:srgbClr val="FF0000"/>
                </a:solidFill>
              </a:rPr>
              <a:t>:</a:t>
            </a:r>
            <a:endParaRPr lang="en-US" b="1" i="1" dirty="0">
              <a:solidFill>
                <a:srgbClr val="FF0000"/>
              </a:solidFill>
            </a:endParaRPr>
          </a:p>
        </p:txBody>
      </p:sp>
      <p:sp>
        <p:nvSpPr>
          <p:cNvPr id="22" name="Line Callout 1 21"/>
          <p:cNvSpPr/>
          <p:nvPr/>
        </p:nvSpPr>
        <p:spPr>
          <a:xfrm>
            <a:off x="4077575" y="3237430"/>
            <a:ext cx="3306635" cy="626533"/>
          </a:xfrm>
          <a:prstGeom prst="borderCallout1">
            <a:avLst>
              <a:gd name="adj1" fmla="val 2941"/>
              <a:gd name="adj2" fmla="val 50044"/>
              <a:gd name="adj3" fmla="val -60913"/>
              <a:gd name="adj4" fmla="val -11858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Key value pairs is separated by </a:t>
            </a:r>
            <a:r>
              <a:rPr lang="en-IN" b="1" dirty="0">
                <a:solidFill>
                  <a:srgbClr val="FF0000"/>
                </a:solidFill>
              </a:rPr>
              <a:t>,</a:t>
            </a:r>
            <a:endParaRPr lang="en-US" b="1" i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build="p" animBg="1"/>
      <p:bldP spid="5" grpId="0" animBg="1"/>
      <p:bldP spid="6" grpId="0" animBg="1"/>
      <p:bldP spid="7" grpId="0" animBg="1"/>
      <p:bldP spid="7" grpId="1" animBg="1"/>
      <p:bldP spid="19" grpId="0" uiExpand="1" build="p" animBg="1"/>
      <p:bldP spid="20" grpId="0" animBg="1"/>
      <p:bldP spid="21" grpId="0" animBg="1"/>
      <p:bldP spid="21" grpId="1" animBg="1"/>
      <p:bldP spid="22" grpId="0" animBg="1"/>
      <p:bldP spid="22" grpId="1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Dictionary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keys() method will return list of </a:t>
            </a:r>
            <a:r>
              <a:rPr lang="en-US" dirty="0">
                <a:solidFill>
                  <a:srgbClr val="C00000"/>
                </a:solidFill>
              </a:rPr>
              <a:t>all the keys </a:t>
            </a:r>
            <a:r>
              <a:rPr lang="en-US" dirty="0"/>
              <a:t>associated with the Dictionary.</a:t>
            </a:r>
          </a:p>
          <a:p>
            <a:endParaRPr lang="en-US" dirty="0"/>
          </a:p>
          <a:p>
            <a:endParaRPr lang="en-US" dirty="0"/>
          </a:p>
          <a:p>
            <a:pPr>
              <a:buNone/>
            </a:pPr>
            <a:endParaRPr lang="en-US" dirty="0"/>
          </a:p>
          <a:p>
            <a:r>
              <a:rPr lang="en-US" dirty="0"/>
              <a:t>values() method will return list of </a:t>
            </a:r>
            <a:r>
              <a:rPr lang="en-US" dirty="0">
                <a:solidFill>
                  <a:srgbClr val="C00000"/>
                </a:solidFill>
              </a:rPr>
              <a:t>all the values </a:t>
            </a:r>
            <a:r>
              <a:rPr lang="en-US" dirty="0"/>
              <a:t>associated with the Dictionary.</a:t>
            </a:r>
          </a:p>
          <a:p>
            <a:endParaRPr lang="en-US" dirty="0"/>
          </a:p>
          <a:p>
            <a:endParaRPr lang="en-US" dirty="0"/>
          </a:p>
          <a:p>
            <a:pPr>
              <a:buNone/>
            </a:pPr>
            <a:endParaRPr lang="en-US" sz="700" dirty="0"/>
          </a:p>
          <a:p>
            <a:r>
              <a:rPr lang="en-US" dirty="0"/>
              <a:t>items() method will return </a:t>
            </a:r>
            <a:r>
              <a:rPr lang="en-US" dirty="0">
                <a:solidFill>
                  <a:srgbClr val="C00000"/>
                </a:solidFill>
              </a:rPr>
              <a:t>list of </a:t>
            </a:r>
            <a:r>
              <a:rPr lang="en-US" dirty="0" err="1">
                <a:solidFill>
                  <a:srgbClr val="C00000"/>
                </a:solidFill>
              </a:rPr>
              <a:t>tuples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for </a:t>
            </a:r>
            <a:r>
              <a:rPr lang="en-US" dirty="0">
                <a:solidFill>
                  <a:srgbClr val="C00000"/>
                </a:solidFill>
              </a:rPr>
              <a:t>each key value pair </a:t>
            </a:r>
            <a:r>
              <a:rPr lang="en-US" dirty="0"/>
              <a:t>associated with the Dictionary.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>
              <a:buNone/>
            </a:pP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456EBDA-49A4-A843-A786-6989C63A54AA}"/>
              </a:ext>
            </a:extLst>
          </p:cNvPr>
          <p:cNvSpPr/>
          <p:nvPr/>
        </p:nvSpPr>
        <p:spPr>
          <a:xfrm>
            <a:off x="1022635" y="1641324"/>
            <a:ext cx="8472276" cy="5847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 err="1">
                <a:solidFill>
                  <a:srgbClr val="000000"/>
                </a:solidFill>
                <a:latin typeface="Consolas"/>
              </a:rPr>
              <a:t>my_dict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= {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'college'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: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"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darshan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"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, 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'city'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: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"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rajkot"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,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'type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: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"engineering"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}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print(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my_dict.keys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())</a:t>
            </a:r>
            <a:endParaRPr lang="en-US" sz="1600" b="0" dirty="0">
              <a:solidFill>
                <a:srgbClr val="000000"/>
              </a:solidFill>
              <a:latin typeface="Consola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5F9F4A0-4592-C04D-B2D0-0BF66A3BFA20}"/>
              </a:ext>
            </a:extLst>
          </p:cNvPr>
          <p:cNvSpPr/>
          <p:nvPr/>
        </p:nvSpPr>
        <p:spPr>
          <a:xfrm>
            <a:off x="522642" y="1641324"/>
            <a:ext cx="499993" cy="5847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</p:txBody>
      </p:sp>
      <p:sp>
        <p:nvSpPr>
          <p:cNvPr id="14" name="Rectangle: Top Corners Rounded 6">
            <a:extLst>
              <a:ext uri="{FF2B5EF4-FFF2-40B4-BE49-F238E27FC236}">
                <a16:creationId xmlns:a16="http://schemas.microsoft.com/office/drawing/2014/main" id="{0336C271-A2A3-9445-9946-5006F0A250F4}"/>
              </a:ext>
            </a:extLst>
          </p:cNvPr>
          <p:cNvSpPr/>
          <p:nvPr/>
        </p:nvSpPr>
        <p:spPr>
          <a:xfrm>
            <a:off x="522642" y="1312140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keydemo.py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456EBDA-49A4-A843-A786-6989C63A54AA}"/>
              </a:ext>
            </a:extLst>
          </p:cNvPr>
          <p:cNvSpPr/>
          <p:nvPr/>
        </p:nvSpPr>
        <p:spPr>
          <a:xfrm>
            <a:off x="1022635" y="3436257"/>
            <a:ext cx="8472276" cy="5847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 err="1">
                <a:solidFill>
                  <a:srgbClr val="000000"/>
                </a:solidFill>
                <a:latin typeface="Consolas"/>
              </a:rPr>
              <a:t>my_dict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= {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'college'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: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"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darshan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"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, 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'city'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: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"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rajkot"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,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'type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: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"engineering"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}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print(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my_dict.values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())</a:t>
            </a:r>
            <a:endParaRPr lang="en-US" sz="1600" b="0" dirty="0">
              <a:solidFill>
                <a:srgbClr val="000000"/>
              </a:solidFill>
              <a:latin typeface="Consolas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5F9F4A0-4592-C04D-B2D0-0BF66A3BFA20}"/>
              </a:ext>
            </a:extLst>
          </p:cNvPr>
          <p:cNvSpPr/>
          <p:nvPr/>
        </p:nvSpPr>
        <p:spPr>
          <a:xfrm>
            <a:off x="522642" y="3436257"/>
            <a:ext cx="499993" cy="5847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</p:txBody>
      </p:sp>
      <p:sp>
        <p:nvSpPr>
          <p:cNvPr id="29" name="Rectangle: Top Corners Rounded 6">
            <a:extLst>
              <a:ext uri="{FF2B5EF4-FFF2-40B4-BE49-F238E27FC236}">
                <a16:creationId xmlns:a16="http://schemas.microsoft.com/office/drawing/2014/main" id="{0336C271-A2A3-9445-9946-5006F0A250F4}"/>
              </a:ext>
            </a:extLst>
          </p:cNvPr>
          <p:cNvSpPr/>
          <p:nvPr/>
        </p:nvSpPr>
        <p:spPr>
          <a:xfrm>
            <a:off x="522642" y="3107073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valuedemo.py</a:t>
            </a:r>
          </a:p>
        </p:txBody>
      </p:sp>
      <p:sp>
        <p:nvSpPr>
          <p:cNvPr id="30" name="Line Callout 1 29"/>
          <p:cNvSpPr/>
          <p:nvPr/>
        </p:nvSpPr>
        <p:spPr>
          <a:xfrm>
            <a:off x="5980499" y="3737107"/>
            <a:ext cx="5220900" cy="428493"/>
          </a:xfrm>
          <a:prstGeom prst="borderCallout1">
            <a:avLst>
              <a:gd name="adj1" fmla="val 53885"/>
              <a:gd name="adj2" fmla="val -612"/>
              <a:gd name="adj3" fmla="val 33499"/>
              <a:gd name="adj4" fmla="val -42903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Output : </a:t>
            </a:r>
            <a:r>
              <a:rPr lang="en-IN" i="1" dirty="0">
                <a:solidFill>
                  <a:schemeClr val="tx1"/>
                </a:solidFill>
              </a:rPr>
              <a:t>['</a:t>
            </a:r>
            <a:r>
              <a:rPr lang="en-IN" i="1" dirty="0" err="1">
                <a:solidFill>
                  <a:schemeClr val="tx1"/>
                </a:solidFill>
              </a:rPr>
              <a:t>darshan</a:t>
            </a:r>
            <a:r>
              <a:rPr lang="en-IN" i="1" dirty="0">
                <a:solidFill>
                  <a:schemeClr val="tx1"/>
                </a:solidFill>
              </a:rPr>
              <a:t>', '</a:t>
            </a:r>
            <a:r>
              <a:rPr lang="en-IN" i="1" dirty="0" err="1">
                <a:solidFill>
                  <a:schemeClr val="tx1"/>
                </a:solidFill>
              </a:rPr>
              <a:t>rajkot</a:t>
            </a:r>
            <a:r>
              <a:rPr lang="en-IN" i="1" dirty="0">
                <a:solidFill>
                  <a:schemeClr val="tx1"/>
                </a:solidFill>
              </a:rPr>
              <a:t>', 'engineering']</a:t>
            </a:r>
            <a:endParaRPr lang="en-US" b="1" i="1" dirty="0">
              <a:solidFill>
                <a:srgbClr val="FF0000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456EBDA-49A4-A843-A786-6989C63A54AA}"/>
              </a:ext>
            </a:extLst>
          </p:cNvPr>
          <p:cNvSpPr/>
          <p:nvPr/>
        </p:nvSpPr>
        <p:spPr>
          <a:xfrm>
            <a:off x="1039568" y="4993805"/>
            <a:ext cx="8472276" cy="5847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 err="1">
                <a:solidFill>
                  <a:srgbClr val="000000"/>
                </a:solidFill>
                <a:latin typeface="Consolas"/>
              </a:rPr>
              <a:t>my_dict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= {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'college'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: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"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darshan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"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, 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'city'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: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"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rajkot"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,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'type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: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"engineering"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}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print(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my_dict.items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())</a:t>
            </a:r>
            <a:endParaRPr lang="en-US" sz="1600" b="0" dirty="0">
              <a:solidFill>
                <a:srgbClr val="000000"/>
              </a:solidFill>
              <a:latin typeface="Consolas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5F9F4A0-4592-C04D-B2D0-0BF66A3BFA20}"/>
              </a:ext>
            </a:extLst>
          </p:cNvPr>
          <p:cNvSpPr/>
          <p:nvPr/>
        </p:nvSpPr>
        <p:spPr>
          <a:xfrm>
            <a:off x="539575" y="4993805"/>
            <a:ext cx="499993" cy="5847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</p:txBody>
      </p:sp>
      <p:sp>
        <p:nvSpPr>
          <p:cNvPr id="33" name="Rectangle: Top Corners Rounded 6">
            <a:extLst>
              <a:ext uri="{FF2B5EF4-FFF2-40B4-BE49-F238E27FC236}">
                <a16:creationId xmlns:a16="http://schemas.microsoft.com/office/drawing/2014/main" id="{0336C271-A2A3-9445-9946-5006F0A250F4}"/>
              </a:ext>
            </a:extLst>
          </p:cNvPr>
          <p:cNvSpPr/>
          <p:nvPr/>
        </p:nvSpPr>
        <p:spPr>
          <a:xfrm>
            <a:off x="539575" y="4664621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itemsdemo.py</a:t>
            </a:r>
          </a:p>
        </p:txBody>
      </p:sp>
      <p:sp>
        <p:nvSpPr>
          <p:cNvPr id="34" name="Line Callout 1 33"/>
          <p:cNvSpPr/>
          <p:nvPr/>
        </p:nvSpPr>
        <p:spPr>
          <a:xfrm>
            <a:off x="5997432" y="5294655"/>
            <a:ext cx="4914983" cy="709330"/>
          </a:xfrm>
          <a:prstGeom prst="borderCallout1">
            <a:avLst>
              <a:gd name="adj1" fmla="val 53885"/>
              <a:gd name="adj2" fmla="val -612"/>
              <a:gd name="adj3" fmla="val 18739"/>
              <a:gd name="adj4" fmla="val -48115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Output : </a:t>
            </a:r>
            <a:r>
              <a:rPr lang="en-IN" i="1" dirty="0">
                <a:solidFill>
                  <a:schemeClr val="tx1"/>
                </a:solidFill>
              </a:rPr>
              <a:t>[('college', '</a:t>
            </a:r>
            <a:r>
              <a:rPr lang="en-IN" i="1" dirty="0" err="1">
                <a:solidFill>
                  <a:schemeClr val="tx1"/>
                </a:solidFill>
              </a:rPr>
              <a:t>darshan</a:t>
            </a:r>
            <a:r>
              <a:rPr lang="en-IN" i="1" dirty="0">
                <a:solidFill>
                  <a:schemeClr val="tx1"/>
                </a:solidFill>
              </a:rPr>
              <a:t>'), ('city', '</a:t>
            </a:r>
            <a:r>
              <a:rPr lang="en-IN" i="1" dirty="0" err="1">
                <a:solidFill>
                  <a:schemeClr val="tx1"/>
                </a:solidFill>
              </a:rPr>
              <a:t>rajkot</a:t>
            </a:r>
            <a:r>
              <a:rPr lang="en-IN" i="1" dirty="0">
                <a:solidFill>
                  <a:schemeClr val="tx1"/>
                </a:solidFill>
              </a:rPr>
              <a:t>'), ('type', 'engineering')]</a:t>
            </a:r>
            <a:endParaRPr lang="en-US" b="1" i="1" dirty="0">
              <a:solidFill>
                <a:srgbClr val="FF0000"/>
              </a:solidFill>
            </a:endParaRPr>
          </a:p>
        </p:txBody>
      </p:sp>
      <p:sp>
        <p:nvSpPr>
          <p:cNvPr id="16" name="Line Callout 1 15"/>
          <p:cNvSpPr/>
          <p:nvPr/>
        </p:nvSpPr>
        <p:spPr>
          <a:xfrm>
            <a:off x="5980499" y="2114701"/>
            <a:ext cx="5220900" cy="428493"/>
          </a:xfrm>
          <a:prstGeom prst="borderCallout1">
            <a:avLst>
              <a:gd name="adj1" fmla="val 53885"/>
              <a:gd name="adj2" fmla="val -612"/>
              <a:gd name="adj3" fmla="val -15712"/>
              <a:gd name="adj4" fmla="val -47208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Output : </a:t>
            </a:r>
            <a:r>
              <a:rPr lang="en-IN" i="1" dirty="0">
                <a:solidFill>
                  <a:schemeClr val="tx1"/>
                </a:solidFill>
              </a:rPr>
              <a:t>['college', 'city', 'type']</a:t>
            </a:r>
            <a:endParaRPr lang="en-US" b="1" i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2" grpId="0" uiExpand="1" build="p" animBg="1"/>
      <p:bldP spid="13" grpId="0" animBg="1"/>
      <p:bldP spid="14" grpId="0" animBg="1"/>
      <p:bldP spid="21" grpId="0" build="p" animBg="1"/>
      <p:bldP spid="28" grpId="0" animBg="1"/>
      <p:bldP spid="29" grpId="0" animBg="1"/>
      <p:bldP spid="30" grpId="0" animBg="1"/>
      <p:bldP spid="30" grpId="1" animBg="1"/>
      <p:bldP spid="31" grpId="0" build="p" animBg="1"/>
      <p:bldP spid="32" grpId="0" animBg="1"/>
      <p:bldP spid="33" grpId="0" animBg="1"/>
      <p:bldP spid="34" grpId="0" animBg="1"/>
      <p:bldP spid="34" grpId="1" animBg="1"/>
      <p:bldP spid="16" grpId="0" animBg="1"/>
      <p:bldP spid="16" grpId="1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781C05-4355-BD48-B6E5-6584D5415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List vs. Tuple vs. Set vs. Dictionary</a:t>
            </a:r>
            <a:endParaRPr lang="en-US" dirty="0"/>
          </a:p>
        </p:txBody>
      </p:sp>
      <p:graphicFrame>
        <p:nvGraphicFramePr>
          <p:cNvPr id="4" name="Content Placeholder 4">
            <a:extLst>
              <a:ext uri="{FF2B5EF4-FFF2-40B4-BE49-F238E27FC236}">
                <a16:creationId xmlns:a16="http://schemas.microsoft.com/office/drawing/2014/main" id="{27CA0CF7-2347-074D-ADAE-8BED1D18B0C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3033749"/>
              </p:ext>
            </p:extLst>
          </p:nvPr>
        </p:nvGraphicFramePr>
        <p:xfrm>
          <a:off x="266658" y="979973"/>
          <a:ext cx="11413357" cy="41300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25657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662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5435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27029">
                  <a:extLst>
                    <a:ext uri="{9D8B030D-6E8A-4147-A177-3AD203B41FA5}">
                      <a16:colId xmlns:a16="http://schemas.microsoft.com/office/drawing/2014/main" val="791242199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List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>
                          <a:solidFill>
                            <a:schemeClr val="tx1"/>
                          </a:solidFill>
                        </a:rPr>
                        <a:t>Tuple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>
                          <a:solidFill>
                            <a:schemeClr val="tx1"/>
                          </a:solidFill>
                        </a:rPr>
                        <a:t>Sets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Dictionaries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900" dirty="0"/>
                        <a:t>Ordered Data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Ordered Data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Unordered Data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Ordered Data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900" dirty="0"/>
                        <a:t>Mutable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immutable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mutable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mutable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900" dirty="0"/>
                        <a:t>Square braces.[]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Parenthesis ()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Curly brackets {}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Curly brackets {key : value}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Duplicate elements allowed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Duplicate elements allowed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No Duplicate elements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No Duplicate key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append()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Element cannot be added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add()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update()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68848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We can create a list using the list() function.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We can create a tuple using the tuple() function.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We can create a set using the set()function.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We can create a dictionary using the 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</a:rPr>
                        <a:t>dict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() function.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687269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my_list</a:t>
                      </a:r>
                      <a:r>
                        <a:rPr lang="en-IN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= [5,6,7,8]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err="1">
                          <a:solidFill>
                            <a:schemeClr val="tx1"/>
                          </a:solidFill>
                        </a:rPr>
                        <a:t>my_tuple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 = (5,6,7,8)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err="1">
                          <a:solidFill>
                            <a:schemeClr val="tx1"/>
                          </a:solidFill>
                        </a:rPr>
                        <a:t>my_sets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 = {3,4,5,6}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err="1">
                          <a:solidFill>
                            <a:schemeClr val="tx1"/>
                          </a:solidFill>
                        </a:rPr>
                        <a:t>my_dictionaries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 = {"name" : "XYZ", "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</a:rPr>
                        <a:t>rollno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." : "101"}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65527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646155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416BD6-D103-B1BF-CF2B-6EF5AAFA35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2798EDE-6976-D9A5-5945-7B9F1FB59D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Thank You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508162C-41D2-6F36-47FF-EC02FC3B06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908022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Jay">
      <a:dk1>
        <a:srgbClr val="212121"/>
      </a:dk1>
      <a:lt1>
        <a:sysClr val="window" lastClr="FFFFFF"/>
      </a:lt1>
      <a:dk2>
        <a:srgbClr val="1D6FA9"/>
      </a:dk2>
      <a:lt2>
        <a:srgbClr val="FFFFFF"/>
      </a:lt2>
      <a:accent1>
        <a:srgbClr val="909090"/>
      </a:accent1>
      <a:accent2>
        <a:srgbClr val="00BBD3"/>
      </a:accent2>
      <a:accent3>
        <a:srgbClr val="8BC145"/>
      </a:accent3>
      <a:accent4>
        <a:srgbClr val="1D9A78"/>
      </a:accent4>
      <a:accent5>
        <a:srgbClr val="F19D19"/>
      </a:accent5>
      <a:accent6>
        <a:srgbClr val="B84742"/>
      </a:accent6>
      <a:hlink>
        <a:srgbClr val="70AD47"/>
      </a:hlink>
      <a:folHlink>
        <a:srgbClr val="ED7D31"/>
      </a:folHlink>
    </a:clrScheme>
    <a:fontScheme name="Custom 1">
      <a:majorFont>
        <a:latin typeface="Roboto Condensed"/>
        <a:ea typeface=""/>
        <a:cs typeface=""/>
      </a:majorFont>
      <a:minorFont>
        <a:latin typeface="Roboto Condense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7358</TotalTime>
  <Words>5333</Words>
  <Application>Microsoft Office PowerPoint</Application>
  <PresentationFormat>Widescreen</PresentationFormat>
  <Paragraphs>1273</Paragraphs>
  <Slides>74</Slides>
  <Notes>0</Notes>
  <HiddenSlides>14</HiddenSlides>
  <MMClips>0</MMClips>
  <ScaleCrop>false</ScaleCrop>
  <HeadingPairs>
    <vt:vector size="6" baseType="variant">
      <vt:variant>
        <vt:lpstr>Fonts Used</vt:lpstr>
      </vt:variant>
      <vt:variant>
        <vt:i4>15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74</vt:i4>
      </vt:variant>
    </vt:vector>
  </HeadingPairs>
  <TitlesOfParts>
    <vt:vector size="90" baseType="lpstr">
      <vt:lpstr>Wingdings 3</vt:lpstr>
      <vt:lpstr>Menlo</vt:lpstr>
      <vt:lpstr>Roboto Condensed</vt:lpstr>
      <vt:lpstr>Wingdings 2</vt:lpstr>
      <vt:lpstr>Roboto Condensed Light</vt:lpstr>
      <vt:lpstr>Courier New</vt:lpstr>
      <vt:lpstr>LM Roman 12</vt:lpstr>
      <vt:lpstr>Times New Roman</vt:lpstr>
      <vt:lpstr>Wingdings</vt:lpstr>
      <vt:lpstr>Calibri</vt:lpstr>
      <vt:lpstr>Consolas</vt:lpstr>
      <vt:lpstr>Segoe UI Black</vt:lpstr>
      <vt:lpstr>Arial</vt:lpstr>
      <vt:lpstr>Arial Rounded MT Bold</vt:lpstr>
      <vt:lpstr>Ebrima</vt:lpstr>
      <vt:lpstr>Office Theme</vt:lpstr>
      <vt:lpstr>Unit-01  Introduction to Python, Object and Data Structure </vt:lpstr>
      <vt:lpstr>PowerPoint Presentation</vt:lpstr>
      <vt:lpstr>Introduction to Python</vt:lpstr>
      <vt:lpstr>Introduction to Python</vt:lpstr>
      <vt:lpstr>Advantages of Python</vt:lpstr>
      <vt:lpstr>Advantages of Python</vt:lpstr>
      <vt:lpstr>How Garbage Collection is done?</vt:lpstr>
      <vt:lpstr>How Garbage Collection is done? - Example</vt:lpstr>
      <vt:lpstr>Advantages of Python</vt:lpstr>
      <vt:lpstr>Advantages of Python (cont.)</vt:lpstr>
      <vt:lpstr>Advantages of Python (cont.)</vt:lpstr>
      <vt:lpstr>Advantages of Python(cont.)</vt:lpstr>
      <vt:lpstr>Installing Python</vt:lpstr>
      <vt:lpstr>Installing Python for Windows</vt:lpstr>
      <vt:lpstr>Installing Python for Windows</vt:lpstr>
      <vt:lpstr>Installing Python for Linux</vt:lpstr>
      <vt:lpstr>User Interface and IDE (Integrated Development Environment)</vt:lpstr>
      <vt:lpstr>Hello World using Python</vt:lpstr>
      <vt:lpstr>Anaconda for Python</vt:lpstr>
      <vt:lpstr>Installing Anaconda </vt:lpstr>
      <vt:lpstr>Installing Anaconda </vt:lpstr>
      <vt:lpstr>Installing Anaconda </vt:lpstr>
      <vt:lpstr>Installing Anaconda </vt:lpstr>
      <vt:lpstr>Indentation</vt:lpstr>
      <vt:lpstr>Indentation</vt:lpstr>
      <vt:lpstr>Indentation in Python</vt:lpstr>
      <vt:lpstr>Printing Output</vt:lpstr>
      <vt:lpstr>Printing Output</vt:lpstr>
      <vt:lpstr>Printing Output</vt:lpstr>
      <vt:lpstr>Printing Output (f-string)</vt:lpstr>
      <vt:lpstr>Reading Input</vt:lpstr>
      <vt:lpstr>Reding Input</vt:lpstr>
      <vt:lpstr>Reading Input</vt:lpstr>
      <vt:lpstr>Example</vt:lpstr>
      <vt:lpstr>Program 1</vt:lpstr>
      <vt:lpstr>Program 2</vt:lpstr>
      <vt:lpstr>Program 3</vt:lpstr>
      <vt:lpstr>Variable</vt:lpstr>
      <vt:lpstr>Variable</vt:lpstr>
      <vt:lpstr>Example of Variable</vt:lpstr>
      <vt:lpstr>Datatypes</vt:lpstr>
      <vt:lpstr>PowerPoint Presentation</vt:lpstr>
      <vt:lpstr>Comments</vt:lpstr>
      <vt:lpstr>Comments</vt:lpstr>
      <vt:lpstr>Tokens</vt:lpstr>
      <vt:lpstr>Tokens</vt:lpstr>
      <vt:lpstr>Tokens</vt:lpstr>
      <vt:lpstr>String</vt:lpstr>
      <vt:lpstr>String in Python</vt:lpstr>
      <vt:lpstr>String Slicing </vt:lpstr>
      <vt:lpstr>String Methods</vt:lpstr>
      <vt:lpstr>String Methods (cont.)</vt:lpstr>
      <vt:lpstr>String Methods (cont.)</vt:lpstr>
      <vt:lpstr>String Methods (cont.)</vt:lpstr>
      <vt:lpstr>String Methods (cont.)</vt:lpstr>
      <vt:lpstr>String Methods (cont.)</vt:lpstr>
      <vt:lpstr>String Formatting</vt:lpstr>
      <vt:lpstr>String Formatting (cont.)</vt:lpstr>
      <vt:lpstr>String Formatting</vt:lpstr>
      <vt:lpstr>Example</vt:lpstr>
      <vt:lpstr>Data Structures in Python</vt:lpstr>
      <vt:lpstr>Data Structures in Python</vt:lpstr>
      <vt:lpstr>List </vt:lpstr>
      <vt:lpstr>List Methods</vt:lpstr>
      <vt:lpstr>List Methods (cont.)</vt:lpstr>
      <vt:lpstr>List Methods (cont.)</vt:lpstr>
      <vt:lpstr>List Comprehension</vt:lpstr>
      <vt:lpstr>List Comprehension (cont.)</vt:lpstr>
      <vt:lpstr>Tuple</vt:lpstr>
      <vt:lpstr>Set</vt:lpstr>
      <vt:lpstr>Dictionary </vt:lpstr>
      <vt:lpstr>Dictionary Methods</vt:lpstr>
      <vt:lpstr>List vs. Tuple vs. Set vs. Dictionary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DELL</cp:lastModifiedBy>
  <cp:revision>721</cp:revision>
  <dcterms:created xsi:type="dcterms:W3CDTF">2020-05-01T05:09:15Z</dcterms:created>
  <dcterms:modified xsi:type="dcterms:W3CDTF">2026-01-07T07:01:52Z</dcterms:modified>
</cp:coreProperties>
</file>