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648" r:id="rId1"/>
  </p:sldMasterIdLst>
  <p:notesMasterIdLst>
    <p:notesMasterId r:id="rId267"/>
  </p:notesMasterIdLst>
  <p:handoutMasterIdLst>
    <p:handoutMasterId r:id="rId268"/>
  </p:handoutMasterIdLst>
  <p:sldIdLst>
    <p:sldId id="256" r:id="rId2"/>
    <p:sldId id="927" r:id="rId3"/>
    <p:sldId id="265" r:id="rId4"/>
    <p:sldId id="1311" r:id="rId5"/>
    <p:sldId id="1310" r:id="rId6"/>
    <p:sldId id="1449" r:id="rId7"/>
    <p:sldId id="1312" r:id="rId8"/>
    <p:sldId id="1478" r:id="rId9"/>
    <p:sldId id="1314" r:id="rId10"/>
    <p:sldId id="1451" r:id="rId11"/>
    <p:sldId id="1452" r:id="rId12"/>
    <p:sldId id="1450" r:id="rId13"/>
    <p:sldId id="1315" r:id="rId14"/>
    <p:sldId id="1453" r:id="rId15"/>
    <p:sldId id="1443" r:id="rId16"/>
    <p:sldId id="1444" r:id="rId17"/>
    <p:sldId id="1454" r:id="rId18"/>
    <p:sldId id="1320" r:id="rId19"/>
    <p:sldId id="1432" r:id="rId20"/>
    <p:sldId id="1458" r:id="rId21"/>
    <p:sldId id="1457" r:id="rId22"/>
    <p:sldId id="1455" r:id="rId23"/>
    <p:sldId id="1447" r:id="rId24"/>
    <p:sldId id="1448" r:id="rId25"/>
    <p:sldId id="1324" r:id="rId26"/>
    <p:sldId id="1460" r:id="rId27"/>
    <p:sldId id="1461" r:id="rId28"/>
    <p:sldId id="1459" r:id="rId29"/>
    <p:sldId id="1434" r:id="rId30"/>
    <p:sldId id="1406" r:id="rId31"/>
    <p:sldId id="1462" r:id="rId32"/>
    <p:sldId id="1463" r:id="rId33"/>
    <p:sldId id="1407" r:id="rId34"/>
    <p:sldId id="1408" r:id="rId35"/>
    <p:sldId id="1409" r:id="rId36"/>
    <p:sldId id="1410" r:id="rId37"/>
    <p:sldId id="1411" r:id="rId38"/>
    <p:sldId id="1473" r:id="rId39"/>
    <p:sldId id="1413" r:id="rId40"/>
    <p:sldId id="1465" r:id="rId41"/>
    <p:sldId id="1467" r:id="rId42"/>
    <p:sldId id="1466" r:id="rId43"/>
    <p:sldId id="1464" r:id="rId44"/>
    <p:sldId id="1414" r:id="rId45"/>
    <p:sldId id="1441" r:id="rId46"/>
    <p:sldId id="1468" r:id="rId47"/>
    <p:sldId id="1418" r:id="rId48"/>
    <p:sldId id="1470" r:id="rId49"/>
    <p:sldId id="1474" r:id="rId50"/>
    <p:sldId id="1471" r:id="rId51"/>
    <p:sldId id="1469" r:id="rId52"/>
    <p:sldId id="1419" r:id="rId53"/>
    <p:sldId id="1472" r:id="rId54"/>
    <p:sldId id="1421" r:id="rId55"/>
    <p:sldId id="1476" r:id="rId56"/>
    <p:sldId id="1475" r:id="rId57"/>
    <p:sldId id="1436" r:id="rId58"/>
    <p:sldId id="1477" r:id="rId59"/>
    <p:sldId id="1423" r:id="rId60"/>
    <p:sldId id="1424" r:id="rId61"/>
    <p:sldId id="1480" r:id="rId62"/>
    <p:sldId id="1481" r:id="rId63"/>
    <p:sldId id="1482" r:id="rId64"/>
    <p:sldId id="1483" r:id="rId65"/>
    <p:sldId id="1479" r:id="rId66"/>
    <p:sldId id="1425" r:id="rId67"/>
    <p:sldId id="1426" r:id="rId68"/>
    <p:sldId id="1490" r:id="rId69"/>
    <p:sldId id="1484" r:id="rId70"/>
    <p:sldId id="1492" r:id="rId71"/>
    <p:sldId id="1489" r:id="rId72"/>
    <p:sldId id="1428" r:id="rId73"/>
    <p:sldId id="1429" r:id="rId74"/>
    <p:sldId id="1430" r:id="rId75"/>
    <p:sldId id="1487" r:id="rId76"/>
    <p:sldId id="1349" r:id="rId77"/>
    <p:sldId id="1367" r:id="rId78"/>
    <p:sldId id="1368" r:id="rId79"/>
    <p:sldId id="1493" r:id="rId80"/>
    <p:sldId id="1497" r:id="rId81"/>
    <p:sldId id="1496" r:id="rId82"/>
    <p:sldId id="1369" r:id="rId83"/>
    <p:sldId id="1370" r:id="rId84"/>
    <p:sldId id="1327" r:id="rId85"/>
    <p:sldId id="1328" r:id="rId86"/>
    <p:sldId id="1517" r:id="rId87"/>
    <p:sldId id="1498" r:id="rId88"/>
    <p:sldId id="1329" r:id="rId89"/>
    <p:sldId id="1518" r:id="rId90"/>
    <p:sldId id="1330" r:id="rId91"/>
    <p:sldId id="1331" r:id="rId92"/>
    <p:sldId id="1505" r:id="rId93"/>
    <p:sldId id="1332" r:id="rId94"/>
    <p:sldId id="1333" r:id="rId95"/>
    <p:sldId id="1508" r:id="rId96"/>
    <p:sldId id="1506" r:id="rId97"/>
    <p:sldId id="1334" r:id="rId98"/>
    <p:sldId id="1509" r:id="rId99"/>
    <p:sldId id="1336" r:id="rId100"/>
    <p:sldId id="1510" r:id="rId101"/>
    <p:sldId id="1511" r:id="rId102"/>
    <p:sldId id="1338" r:id="rId103"/>
    <p:sldId id="1340" r:id="rId104"/>
    <p:sldId id="1341" r:id="rId105"/>
    <p:sldId id="1513" r:id="rId106"/>
    <p:sldId id="1514" r:id="rId107"/>
    <p:sldId id="1512" r:id="rId108"/>
    <p:sldId id="1438" r:id="rId109"/>
    <p:sldId id="1515" r:id="rId110"/>
    <p:sldId id="1344" r:id="rId111"/>
    <p:sldId id="1345" r:id="rId112"/>
    <p:sldId id="1516" r:id="rId113"/>
    <p:sldId id="1543" r:id="rId114"/>
    <p:sldId id="1544" r:id="rId115"/>
    <p:sldId id="1346" r:id="rId116"/>
    <p:sldId id="1347" r:id="rId117"/>
    <p:sldId id="1504" r:id="rId118"/>
    <p:sldId id="1348" r:id="rId119"/>
    <p:sldId id="1531" r:id="rId120"/>
    <p:sldId id="1350" r:id="rId121"/>
    <p:sldId id="1500" r:id="rId122"/>
    <p:sldId id="1501" r:id="rId123"/>
    <p:sldId id="1502" r:id="rId124"/>
    <p:sldId id="1503" r:id="rId125"/>
    <p:sldId id="1499" r:id="rId126"/>
    <p:sldId id="1351" r:id="rId127"/>
    <p:sldId id="1352" r:id="rId128"/>
    <p:sldId id="1520" r:id="rId129"/>
    <p:sldId id="1353" r:id="rId130"/>
    <p:sldId id="1354" r:id="rId131"/>
    <p:sldId id="1355" r:id="rId132"/>
    <p:sldId id="1356" r:id="rId133"/>
    <p:sldId id="1357" r:id="rId134"/>
    <p:sldId id="1358" r:id="rId135"/>
    <p:sldId id="1359" r:id="rId136"/>
    <p:sldId id="1522" r:id="rId137"/>
    <p:sldId id="1523" r:id="rId138"/>
    <p:sldId id="1521" r:id="rId139"/>
    <p:sldId id="1525" r:id="rId140"/>
    <p:sldId id="1526" r:id="rId141"/>
    <p:sldId id="1363" r:id="rId142"/>
    <p:sldId id="1527" r:id="rId143"/>
    <p:sldId id="1529" r:id="rId144"/>
    <p:sldId id="1364" r:id="rId145"/>
    <p:sldId id="1437" r:id="rId146"/>
    <p:sldId id="1530" r:id="rId147"/>
    <p:sldId id="1379" r:id="rId148"/>
    <p:sldId id="1381" r:id="rId149"/>
    <p:sldId id="1533" r:id="rId150"/>
    <p:sldId id="1545" r:id="rId151"/>
    <p:sldId id="1532" r:id="rId152"/>
    <p:sldId id="1382" r:id="rId153"/>
    <p:sldId id="1534" r:id="rId154"/>
    <p:sldId id="1383" r:id="rId155"/>
    <p:sldId id="1384" r:id="rId156"/>
    <p:sldId id="1385" r:id="rId157"/>
    <p:sldId id="1386" r:id="rId158"/>
    <p:sldId id="1535" r:id="rId159"/>
    <p:sldId id="1387" r:id="rId160"/>
    <p:sldId id="1388" r:id="rId161"/>
    <p:sldId id="1389" r:id="rId162"/>
    <p:sldId id="1537" r:id="rId163"/>
    <p:sldId id="1390" r:id="rId164"/>
    <p:sldId id="1538" r:id="rId165"/>
    <p:sldId id="1392" r:id="rId166"/>
    <p:sldId id="1393" r:id="rId167"/>
    <p:sldId id="1539" r:id="rId168"/>
    <p:sldId id="1394" r:id="rId169"/>
    <p:sldId id="1395" r:id="rId170"/>
    <p:sldId id="1540" r:id="rId171"/>
    <p:sldId id="1398" r:id="rId172"/>
    <p:sldId id="1403" r:id="rId173"/>
    <p:sldId id="1404" r:id="rId174"/>
    <p:sldId id="1400" r:id="rId175"/>
    <p:sldId id="1401" r:id="rId176"/>
    <p:sldId id="1542" r:id="rId177"/>
    <p:sldId id="1173" r:id="rId178"/>
    <p:sldId id="1549" r:id="rId179"/>
    <p:sldId id="1550" r:id="rId180"/>
    <p:sldId id="1551" r:id="rId181"/>
    <p:sldId id="1552" r:id="rId182"/>
    <p:sldId id="1553" r:id="rId183"/>
    <p:sldId id="1560" r:id="rId184"/>
    <p:sldId id="1561" r:id="rId185"/>
    <p:sldId id="1556" r:id="rId186"/>
    <p:sldId id="1554" r:id="rId187"/>
    <p:sldId id="1555" r:id="rId188"/>
    <p:sldId id="1557" r:id="rId189"/>
    <p:sldId id="1547" r:id="rId190"/>
    <p:sldId id="1559" r:id="rId191"/>
    <p:sldId id="1252" r:id="rId192"/>
    <p:sldId id="1562" r:id="rId193"/>
    <p:sldId id="1253" r:id="rId194"/>
    <p:sldId id="1563" r:id="rId195"/>
    <p:sldId id="1254" r:id="rId196"/>
    <p:sldId id="1255" r:id="rId197"/>
    <p:sldId id="1256" r:id="rId198"/>
    <p:sldId id="1257" r:id="rId199"/>
    <p:sldId id="1258" r:id="rId200"/>
    <p:sldId id="1261" r:id="rId201"/>
    <p:sldId id="1564" r:id="rId202"/>
    <p:sldId id="1262" r:id="rId203"/>
    <p:sldId id="1264" r:id="rId204"/>
    <p:sldId id="1567" r:id="rId205"/>
    <p:sldId id="1265" r:id="rId206"/>
    <p:sldId id="1565" r:id="rId207"/>
    <p:sldId id="1566" r:id="rId208"/>
    <p:sldId id="1267" r:id="rId209"/>
    <p:sldId id="1272" r:id="rId210"/>
    <p:sldId id="1273" r:id="rId211"/>
    <p:sldId id="1274" r:id="rId212"/>
    <p:sldId id="1275" r:id="rId213"/>
    <p:sldId id="1569" r:id="rId214"/>
    <p:sldId id="1568" r:id="rId215"/>
    <p:sldId id="1276" r:id="rId216"/>
    <p:sldId id="1277" r:id="rId217"/>
    <p:sldId id="1278" r:id="rId218"/>
    <p:sldId id="1571" r:id="rId219"/>
    <p:sldId id="1572" r:id="rId220"/>
    <p:sldId id="1570" r:id="rId221"/>
    <p:sldId id="1279" r:id="rId222"/>
    <p:sldId id="1280" r:id="rId223"/>
    <p:sldId id="1281" r:id="rId224"/>
    <p:sldId id="1282" r:id="rId225"/>
    <p:sldId id="1283" r:id="rId226"/>
    <p:sldId id="1284" r:id="rId227"/>
    <p:sldId id="1285" r:id="rId228"/>
    <p:sldId id="1287" r:id="rId229"/>
    <p:sldId id="1286" r:id="rId230"/>
    <p:sldId id="1574" r:id="rId231"/>
    <p:sldId id="1579" r:id="rId232"/>
    <p:sldId id="1573" r:id="rId233"/>
    <p:sldId id="1575" r:id="rId234"/>
    <p:sldId id="1288" r:id="rId235"/>
    <p:sldId id="1290" r:id="rId236"/>
    <p:sldId id="1291" r:id="rId237"/>
    <p:sldId id="1292" r:id="rId238"/>
    <p:sldId id="1293" r:id="rId239"/>
    <p:sldId id="1577" r:id="rId240"/>
    <p:sldId id="1578" r:id="rId241"/>
    <p:sldId id="1586" r:id="rId242"/>
    <p:sldId id="1576" r:id="rId243"/>
    <p:sldId id="1308" r:id="rId244"/>
    <p:sldId id="1309" r:id="rId245"/>
    <p:sldId id="1268" r:id="rId246"/>
    <p:sldId id="1269" r:id="rId247"/>
    <p:sldId id="1581" r:id="rId248"/>
    <p:sldId id="1580" r:id="rId249"/>
    <p:sldId id="1582" r:id="rId250"/>
    <p:sldId id="1271" r:id="rId251"/>
    <p:sldId id="1296" r:id="rId252"/>
    <p:sldId id="1297" r:id="rId253"/>
    <p:sldId id="1298" r:id="rId254"/>
    <p:sldId id="1583" r:id="rId255"/>
    <p:sldId id="1584" r:id="rId256"/>
    <p:sldId id="1299" r:id="rId257"/>
    <p:sldId id="1300" r:id="rId258"/>
    <p:sldId id="1301" r:id="rId259"/>
    <p:sldId id="1302" r:id="rId260"/>
    <p:sldId id="1585" r:id="rId261"/>
    <p:sldId id="1303" r:id="rId262"/>
    <p:sldId id="1304" r:id="rId263"/>
    <p:sldId id="1306" r:id="rId264"/>
    <p:sldId id="1307" r:id="rId265"/>
    <p:sldId id="1431" r:id="rId266"/>
  </p:sldIdLst>
  <p:sldSz cx="12192000" cy="6858000"/>
  <p:notesSz cx="6858000" cy="9144000"/>
  <p:embeddedFontLst>
    <p:embeddedFont>
      <p:font typeface="Cambria Math" panose="02040503050406030204" pitchFamily="18" charset="0"/>
      <p:regular r:id="rId269"/>
    </p:embeddedFont>
    <p:embeddedFont>
      <p:font typeface="Roboto Condensed" panose="02000000000000000000" pitchFamily="2" charset="0"/>
      <p:regular r:id="rId270"/>
      <p:bold r:id="rId271"/>
      <p:italic r:id="rId272"/>
      <p:boldItalic r:id="rId273"/>
    </p:embeddedFont>
    <p:embeddedFont>
      <p:font typeface="Roboto Condensed Light" panose="02000000000000000000" pitchFamily="2" charset="0"/>
      <p:regular r:id="rId274"/>
      <p:italic r:id="rId275"/>
    </p:embeddedFont>
    <p:embeddedFont>
      <p:font typeface="Wingdings 2" panose="05020102010507070707" pitchFamily="18" charset="2"/>
      <p:regular r:id="rId276"/>
    </p:embeddedFont>
    <p:embeddedFont>
      <p:font typeface="Wingdings 3" panose="05040102010807070707" pitchFamily="18" charset="2"/>
      <p:regular r:id="rId2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YF13xTNeIwVcFHpVKJmSQ==" hashData="BJT5opPZvDgif1wsz6vYeeg5lqyBwMAS8puwPXw2k5MYb0OPlvAllEf0y7+8rhyBGIIgTYqFHeqiVyHe3qCYeA=="/>
  <p:extLst>
    <p:ext uri="{521415D9-36F7-43E2-AB2F-B90AF26B5E84}">
      <p14:sectionLst xmlns:p14="http://schemas.microsoft.com/office/powerpoint/2010/main">
        <p14:section name="Unit - 5" id="{4C7717EA-605E-4A53-8581-8E510265544C}">
          <p14:sldIdLst>
            <p14:sldId id="256"/>
            <p14:sldId id="927"/>
            <p14:sldId id="265"/>
          </p14:sldIdLst>
        </p14:section>
        <p14:section name="Method : 1" id="{EF38643E-39AB-4BD0-AD94-E3B9D800469A}">
          <p14:sldIdLst>
            <p14:sldId id="1311"/>
            <p14:sldId id="1310"/>
            <p14:sldId id="1449"/>
            <p14:sldId id="1312"/>
            <p14:sldId id="1478"/>
            <p14:sldId id="1314"/>
            <p14:sldId id="1451"/>
            <p14:sldId id="1452"/>
            <p14:sldId id="1450"/>
            <p14:sldId id="1315"/>
            <p14:sldId id="1453"/>
            <p14:sldId id="1443"/>
            <p14:sldId id="1444"/>
            <p14:sldId id="1454"/>
            <p14:sldId id="1320"/>
            <p14:sldId id="1432"/>
            <p14:sldId id="1458"/>
            <p14:sldId id="1457"/>
            <p14:sldId id="1455"/>
            <p14:sldId id="1447"/>
            <p14:sldId id="1448"/>
            <p14:sldId id="1324"/>
            <p14:sldId id="1460"/>
            <p14:sldId id="1461"/>
            <p14:sldId id="1459"/>
            <p14:sldId id="1434"/>
          </p14:sldIdLst>
        </p14:section>
        <p14:section name="Method : 2" id="{160A4E6E-8C9C-4E6D-BACC-E09982EC40AB}">
          <p14:sldIdLst>
            <p14:sldId id="1406"/>
            <p14:sldId id="1462"/>
            <p14:sldId id="1463"/>
            <p14:sldId id="1407"/>
            <p14:sldId id="1408"/>
            <p14:sldId id="1409"/>
            <p14:sldId id="1410"/>
            <p14:sldId id="1411"/>
            <p14:sldId id="1473"/>
            <p14:sldId id="1413"/>
            <p14:sldId id="1465"/>
            <p14:sldId id="1467"/>
            <p14:sldId id="1466"/>
            <p14:sldId id="1464"/>
            <p14:sldId id="1414"/>
            <p14:sldId id="1441"/>
            <p14:sldId id="1468"/>
            <p14:sldId id="1418"/>
            <p14:sldId id="1470"/>
            <p14:sldId id="1474"/>
            <p14:sldId id="1471"/>
            <p14:sldId id="1469"/>
            <p14:sldId id="1419"/>
            <p14:sldId id="1472"/>
            <p14:sldId id="1421"/>
            <p14:sldId id="1476"/>
            <p14:sldId id="1475"/>
            <p14:sldId id="1436"/>
            <p14:sldId id="1477"/>
          </p14:sldIdLst>
        </p14:section>
        <p14:section name="Method : 3" id="{13DF84F0-C6D6-47FF-A1B8-E1A9BA6104C5}">
          <p14:sldIdLst>
            <p14:sldId id="1423"/>
            <p14:sldId id="1424"/>
            <p14:sldId id="1480"/>
            <p14:sldId id="1481"/>
            <p14:sldId id="1482"/>
            <p14:sldId id="1483"/>
            <p14:sldId id="1479"/>
            <p14:sldId id="1425"/>
            <p14:sldId id="1426"/>
            <p14:sldId id="1490"/>
            <p14:sldId id="1484"/>
            <p14:sldId id="1492"/>
            <p14:sldId id="1489"/>
            <p14:sldId id="1428"/>
            <p14:sldId id="1429"/>
            <p14:sldId id="1430"/>
            <p14:sldId id="1487"/>
          </p14:sldIdLst>
        </p14:section>
        <p14:section name="Small Sample" id="{AAFC06E5-6422-4EA9-BD1B-DF87C960AAFF}">
          <p14:sldIdLst>
            <p14:sldId id="1349"/>
            <p14:sldId id="1367"/>
            <p14:sldId id="1368"/>
            <p14:sldId id="1493"/>
            <p14:sldId id="1497"/>
            <p14:sldId id="1496"/>
            <p14:sldId id="1369"/>
            <p14:sldId id="1370"/>
          </p14:sldIdLst>
        </p14:section>
        <p14:section name="Method : 4" id="{484C43C3-CDBC-45BF-9CEE-382DAA97D7B1}">
          <p14:sldIdLst>
            <p14:sldId id="1327"/>
            <p14:sldId id="1328"/>
            <p14:sldId id="1517"/>
            <p14:sldId id="1498"/>
            <p14:sldId id="1329"/>
            <p14:sldId id="1518"/>
            <p14:sldId id="1330"/>
            <p14:sldId id="1331"/>
            <p14:sldId id="1505"/>
            <p14:sldId id="1332"/>
            <p14:sldId id="1333"/>
            <p14:sldId id="1508"/>
            <p14:sldId id="1506"/>
            <p14:sldId id="1334"/>
            <p14:sldId id="1509"/>
            <p14:sldId id="1336"/>
            <p14:sldId id="1510"/>
            <p14:sldId id="1511"/>
            <p14:sldId id="1338"/>
            <p14:sldId id="1340"/>
            <p14:sldId id="1341"/>
            <p14:sldId id="1513"/>
            <p14:sldId id="1514"/>
            <p14:sldId id="1512"/>
            <p14:sldId id="1438"/>
            <p14:sldId id="1515"/>
          </p14:sldIdLst>
        </p14:section>
        <p14:section name="Method : 5" id="{B5840705-D07F-4A0C-A7FB-30CDC3A6D09A}">
          <p14:sldIdLst>
            <p14:sldId id="1344"/>
            <p14:sldId id="1345"/>
            <p14:sldId id="1516"/>
            <p14:sldId id="1543"/>
            <p14:sldId id="1544"/>
            <p14:sldId id="1346"/>
            <p14:sldId id="1347"/>
            <p14:sldId id="1504"/>
            <p14:sldId id="1348"/>
            <p14:sldId id="1531"/>
            <p14:sldId id="1350"/>
            <p14:sldId id="1500"/>
            <p14:sldId id="1501"/>
            <p14:sldId id="1502"/>
            <p14:sldId id="1503"/>
            <p14:sldId id="1499"/>
            <p14:sldId id="1351"/>
            <p14:sldId id="1352"/>
            <p14:sldId id="1520"/>
            <p14:sldId id="1353"/>
            <p14:sldId id="1354"/>
            <p14:sldId id="1355"/>
            <p14:sldId id="1356"/>
            <p14:sldId id="1357"/>
            <p14:sldId id="1358"/>
            <p14:sldId id="1359"/>
            <p14:sldId id="1522"/>
            <p14:sldId id="1523"/>
            <p14:sldId id="1521"/>
            <p14:sldId id="1525"/>
            <p14:sldId id="1526"/>
            <p14:sldId id="1363"/>
            <p14:sldId id="1527"/>
            <p14:sldId id="1529"/>
            <p14:sldId id="1364"/>
            <p14:sldId id="1437"/>
            <p14:sldId id="1530"/>
          </p14:sldIdLst>
        </p14:section>
        <p14:section name="Method : 6" id="{32F47A39-F410-4300-AB2C-8EA77BF93EC6}">
          <p14:sldIdLst>
            <p14:sldId id="1379"/>
            <p14:sldId id="1381"/>
            <p14:sldId id="1533"/>
            <p14:sldId id="1545"/>
            <p14:sldId id="1532"/>
            <p14:sldId id="1382"/>
            <p14:sldId id="1534"/>
            <p14:sldId id="1383"/>
            <p14:sldId id="1384"/>
            <p14:sldId id="1385"/>
            <p14:sldId id="1386"/>
            <p14:sldId id="1535"/>
            <p14:sldId id="1387"/>
            <p14:sldId id="1388"/>
            <p14:sldId id="1389"/>
            <p14:sldId id="1537"/>
            <p14:sldId id="1390"/>
            <p14:sldId id="1538"/>
            <p14:sldId id="1392"/>
            <p14:sldId id="1393"/>
            <p14:sldId id="1539"/>
            <p14:sldId id="1394"/>
            <p14:sldId id="1395"/>
            <p14:sldId id="1540"/>
            <p14:sldId id="1398"/>
            <p14:sldId id="1403"/>
            <p14:sldId id="1404"/>
            <p14:sldId id="1400"/>
            <p14:sldId id="1401"/>
            <p14:sldId id="1542"/>
          </p14:sldIdLst>
        </p14:section>
        <p14:section name="Chi - Square Test" id="{CCE54C23-3534-4B2E-8986-18E167D56D29}">
          <p14:sldIdLst>
            <p14:sldId id="1173"/>
            <p14:sldId id="1549"/>
            <p14:sldId id="1550"/>
            <p14:sldId id="1551"/>
            <p14:sldId id="1552"/>
            <p14:sldId id="1553"/>
            <p14:sldId id="1560"/>
            <p14:sldId id="1561"/>
            <p14:sldId id="1556"/>
            <p14:sldId id="1554"/>
            <p14:sldId id="1555"/>
            <p14:sldId id="1557"/>
            <p14:sldId id="1547"/>
            <p14:sldId id="1559"/>
            <p14:sldId id="1252"/>
            <p14:sldId id="1562"/>
            <p14:sldId id="1253"/>
            <p14:sldId id="1563"/>
            <p14:sldId id="1254"/>
            <p14:sldId id="1255"/>
            <p14:sldId id="1256"/>
            <p14:sldId id="1257"/>
          </p14:sldIdLst>
        </p14:section>
        <p14:section name="Method : 7" id="{DDEFE038-8DAE-4C41-8ACD-F9AED789DCD7}">
          <p14:sldIdLst>
            <p14:sldId id="1258"/>
            <p14:sldId id="1261"/>
            <p14:sldId id="1564"/>
            <p14:sldId id="1262"/>
            <p14:sldId id="1264"/>
            <p14:sldId id="1567"/>
            <p14:sldId id="1265"/>
            <p14:sldId id="1565"/>
            <p14:sldId id="1566"/>
            <p14:sldId id="1267"/>
            <p14:sldId id="1272"/>
            <p14:sldId id="1273"/>
            <p14:sldId id="1274"/>
            <p14:sldId id="1275"/>
            <p14:sldId id="1569"/>
            <p14:sldId id="1568"/>
            <p14:sldId id="1276"/>
            <p14:sldId id="1277"/>
            <p14:sldId id="1278"/>
            <p14:sldId id="1571"/>
            <p14:sldId id="1572"/>
            <p14:sldId id="1570"/>
            <p14:sldId id="1279"/>
            <p14:sldId id="1280"/>
            <p14:sldId id="1281"/>
            <p14:sldId id="1282"/>
            <p14:sldId id="1283"/>
            <p14:sldId id="1284"/>
            <p14:sldId id="1285"/>
            <p14:sldId id="1287"/>
            <p14:sldId id="1286"/>
            <p14:sldId id="1574"/>
            <p14:sldId id="1579"/>
            <p14:sldId id="1573"/>
            <p14:sldId id="1575"/>
            <p14:sldId id="1288"/>
            <p14:sldId id="1290"/>
            <p14:sldId id="1291"/>
            <p14:sldId id="1292"/>
            <p14:sldId id="1293"/>
            <p14:sldId id="1577"/>
            <p14:sldId id="1578"/>
            <p14:sldId id="1586"/>
            <p14:sldId id="1576"/>
            <p14:sldId id="1308"/>
            <p14:sldId id="1309"/>
          </p14:sldIdLst>
        </p14:section>
        <p14:section name="Method : 8" id="{ED7EF723-61E8-4B1B-9D32-A179ADCB420A}">
          <p14:sldIdLst>
            <p14:sldId id="1268"/>
            <p14:sldId id="1269"/>
            <p14:sldId id="1581"/>
            <p14:sldId id="1580"/>
            <p14:sldId id="1582"/>
            <p14:sldId id="1271"/>
            <p14:sldId id="1296"/>
            <p14:sldId id="1297"/>
            <p14:sldId id="1298"/>
            <p14:sldId id="1583"/>
            <p14:sldId id="1584"/>
            <p14:sldId id="1299"/>
            <p14:sldId id="1300"/>
            <p14:sldId id="1301"/>
            <p14:sldId id="1302"/>
            <p14:sldId id="1585"/>
            <p14:sldId id="1303"/>
            <p14:sldId id="1304"/>
            <p14:sldId id="1306"/>
            <p14:sldId id="1307"/>
            <p14:sldId id="14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FFFFFF"/>
    <a:srgbClr val="B71B1C"/>
    <a:srgbClr val="009788"/>
    <a:srgbClr val="C00000"/>
    <a:srgbClr val="FF9801"/>
    <a:srgbClr val="99504D"/>
    <a:srgbClr val="F3E9E9"/>
    <a:srgbClr val="E6CFCF"/>
    <a:srgbClr val="B14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4" autoAdjust="0"/>
    <p:restoredTop sz="92165" autoAdjust="0"/>
  </p:normalViewPr>
  <p:slideViewPr>
    <p:cSldViewPr snapToGrid="0">
      <p:cViewPr varScale="1">
        <p:scale>
          <a:sx n="72" d="100"/>
          <a:sy n="72" d="100"/>
        </p:scale>
        <p:origin x="1205" y="67"/>
      </p:cViewPr>
      <p:guideLst/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66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handoutMaster" Target="handoutMasters/handoutMaster1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font" Target="fonts/font1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viewProps" Target="viewProps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font" Target="fonts/font2.fntdata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theme" Target="theme/theme1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font" Target="fonts/font3.fntdata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tableStyles" Target="tableStyles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font" Target="fonts/font4.fntdata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font" Target="fonts/font5.fntdata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font" Target="fonts/font6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font" Target="fonts/font7.fntdata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font" Target="fonts/font8.fntdata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font" Target="fonts/font9.fntdata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notesMaster" Target="notesMasters/notesMaster1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commentAuthors" Target="commentAuthors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83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AA7E-5D21-FAA0-C021-438C08191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FCDDA-D78C-B9F8-D22E-5FFF11383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61D6B-DE2E-6EB6-391C-2305A6A59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4EF3D-82DF-30B7-D578-4FD1E6768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5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C135-FDBF-CD76-A957-3F67A6D4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2A4E2-06F3-0EB6-C7C5-8E4FB4335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CADB-EAAA-9997-4CC1-6F8584221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9243E-C827-F03C-F21E-F58B511B9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46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09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00736-5E2D-0DEB-E874-3DD236A4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C70F7-AA7F-0C35-00A8-5E00BA5B6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FE4C6-26D5-E800-86A3-375A9AF7C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A070B-2697-FAD0-EBD3-20A61AE43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30D53-3463-76CE-F3E5-0948A832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7DBC1-91F1-E8FD-68C5-4CC0D9932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171EF-D371-FD17-8BC5-6E98FCE23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BB261-6DF5-46A1-8146-DF0AAD789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85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19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34C5-C9C1-A5BA-031A-C9B4C7BE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87711-0424-F597-A126-61210B292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6AA0D-816A-BFC2-604D-B2E520273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8EA11-ED69-4EEA-0C15-006F4EDBC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17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8A0E-D423-160A-F996-B7EB8F1B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8B6DE-7C3F-D392-F007-41753307D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9AA33-4FEB-9581-7BD1-B762BAE0F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DD2D5-EB00-F764-E778-7C2196EC1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27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79E1-259F-E0E1-834C-A61BE0E4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B307F-309E-E498-0D9F-2786195F0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3EC90-4115-5230-ADFD-B1CB9BC34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9685B-039E-C5C1-E45A-38039BCE5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69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E311-6E38-58A2-A736-55FB2A1F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7E19-8878-5181-FD2D-C7EEFAE27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FF10A-45A3-3FE6-A043-8DE7342C5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E9225-4731-7AAB-E472-6A821A140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79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00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E017-754F-D94B-4FAA-C9B06528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8768B-579F-EF39-EE37-BE15F113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D6864-A64C-D238-F275-C4B540060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866A-0AC2-5DC0-33DA-3C89BB438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6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63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65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473F-CDF1-C01B-0A28-8A8326A9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53C72-134E-A22F-1DDF-A88D1F71D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3523A-56B6-67F1-7658-24DF8CDC4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0605E-EFA9-2953-7E37-E05E4264B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37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3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CE54-0B6A-381A-D361-0DCB154A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C4F80-8C86-B1AB-B151-0BD6DED5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F416D-092C-70A3-35F2-0BC5DBC99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E6CAC-9C30-FEED-ED03-D8C3DB373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61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9B4AF-F86C-987C-6E8A-9E7EE241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DFBF-BB97-3962-745D-5D7AF4F3F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E22C7-C3E2-39F9-E265-4D9A7A173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54AAA-2F58-0B7F-D2DA-D6AE53A76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97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656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630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734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13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5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97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6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B6CB-3CDE-9498-D2A7-EB8D14A3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B3F22-22B0-A23E-1EA2-AD78CB23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39BEB-A78A-20D6-F0F8-FDCDB2152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EB68-3B69-AD32-7F00-019BF608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55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0B6A-A315-FAE1-92A1-8FEACFE5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EBAD0-D425-689B-7750-5D118E623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BCB50-6F48-864D-4448-A72486DE8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9810B-618B-6E2D-0CE3-A397DECAB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82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C57F-0FDE-C240-D2C6-26414BA1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87864-3851-AD8A-0D0A-452BAFBA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6AFDF-5D9B-7837-7D67-1E6593D7C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16F2-7E4E-127C-AE06-504B83B5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65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575C-C301-F1BD-DA88-0C1C20A6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0238-6636-5676-8C4A-49EEE93DA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9F200-160A-234B-17A2-EB5B35BD0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6F38B-5ABA-FCE9-C7D1-9761182EE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2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C725-B494-97E5-9975-11C5979A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6B0D9-9BB9-BEC9-E54E-431301844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80C46-9911-BE7E-4CB6-A75A540D0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38A05-F81F-9AD0-F3FE-63E0B82A4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923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809B-A9DF-D1D3-9378-3125E091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20329-F4D1-FB24-AAF7-FA7DBFCC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97B2E-9894-23E1-F954-72A2BA998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CBFF9-7E0F-EFC0-B974-BDF666051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913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99EF-5B00-2F7C-D321-7BD2EFB3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70E2F-B541-91EB-EF99-8C7F67D45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751E5-2BF9-C213-CC97-FA1F10CC1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16C0-52A8-F668-1604-0D7FCB7B5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62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CFD6-3275-3C31-5C5E-A3AC33C7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AD214-A5F6-0BE2-AFF3-6D6D7461B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61858-399B-917A-65AF-5A3797625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3624-1940-C12F-D809-7CFEC5D07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402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44BA-DE2A-7E27-F572-4A240C57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8A03A-343A-AB31-8D08-49CA43519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BB83A-584E-7D35-75B4-714E4AF7B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47FFE-205A-8A9E-0572-805DE3155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380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3373-91ED-162B-33F7-8A5C56EA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1820F-2744-737F-194A-153D819F6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60C9A-3C8B-F64F-A62F-79F8D3221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4F05-BBB6-67AE-D68A-9F93E4F2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3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867E9F5-91EE-9400-6FC9-FCC9CE7CE1CB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57250" indent="-400050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5208813-2B2B-07B9-810D-A370CB946AD8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50EA6C-3505-3D3F-9DF1-0FD119A40AD7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10D5B4-E1AE-F107-0F3E-0610C53896A4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/>
          <a:srcRect t="402" b="402"/>
          <a:stretch/>
        </p:blipFill>
        <p:spPr>
          <a:xfrm>
            <a:off x="9244036" y="1942278"/>
            <a:ext cx="2494310" cy="2255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AF151A-6556-8EBA-9A81-F4D4931C34CE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EBB052-5C02-6DF2-9794-B7D1AB17283B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43802D-1A9B-0344-4144-7816570C8CA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E5CF2-4D79-1F06-DD2D-65ED1E31054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32E1CAF-E704-840F-4979-C2892AC25D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C3D956E-0EC5-5F6F-3F54-2347D6378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42F49B8-7FEF-3EA1-2B90-0058F051B8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3E6ABF-8E08-4D40-3AC1-D808C2742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3" name="Picture 12" descr="User icon Royalty Free Vector Image - VectorStock">
            <a:extLst>
              <a:ext uri="{FF2B5EF4-FFF2-40B4-BE49-F238E27FC236}">
                <a16:creationId xmlns:a16="http://schemas.microsoft.com/office/drawing/2014/main" id="{D595B2D1-0061-68A4-C8F3-015FF4E68E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9">
            <a:extLst>
              <a:ext uri="{FF2B5EF4-FFF2-40B4-BE49-F238E27FC236}">
                <a16:creationId xmlns:a16="http://schemas.microsoft.com/office/drawing/2014/main" id="{900A970A-006C-23F6-C55E-320AF2FC02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89" r:id="rId5"/>
    <p:sldLayoutId id="2147483673" r:id="rId6"/>
    <p:sldLayoutId id="2147483691" r:id="rId7"/>
    <p:sldLayoutId id="2147483674" r:id="rId8"/>
    <p:sldLayoutId id="2147483676" r:id="rId9"/>
    <p:sldLayoutId id="2147483677" r:id="rId10"/>
    <p:sldLayoutId id="2147483678" r:id="rId11"/>
    <p:sldLayoutId id="2147483679" r:id="rId12"/>
    <p:sldLayoutId id="2147483681" r:id="rId13"/>
    <p:sldLayoutId id="2147483683" r:id="rId14"/>
    <p:sldLayoutId id="2147483682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10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3" Type="http://schemas.openxmlformats.org/officeDocument/2006/relationships/image" Target="../media/image3010.png"/><Relationship Id="rId12" Type="http://schemas.openxmlformats.org/officeDocument/2006/relationships/image" Target="../media/image43.png"/><Relationship Id="rId2" Type="http://schemas.openxmlformats.org/officeDocument/2006/relationships/image" Target="../media/image291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2.png"/><Relationship Id="rId15" Type="http://schemas.openxmlformats.org/officeDocument/2006/relationships/image" Target="../media/image35.png"/><Relationship Id="rId10" Type="http://schemas.openxmlformats.org/officeDocument/2006/relationships/image" Target="../media/image41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8" Type="http://schemas.openxmlformats.org/officeDocument/2006/relationships/image" Target="../media/image10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9" Type="http://schemas.openxmlformats.org/officeDocument/2006/relationships/image" Target="../media/image102.png"/><Relationship Id="rId4" Type="http://schemas.openxmlformats.org/officeDocument/2006/relationships/image" Target="../media/image37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1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11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8" Type="http://schemas.openxmlformats.org/officeDocument/2006/relationships/image" Target="../media/image101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9" Type="http://schemas.openxmlformats.org/officeDocument/2006/relationships/image" Target="../media/image102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2.png"/><Relationship Id="rId7" Type="http://schemas.openxmlformats.org/officeDocument/2006/relationships/image" Target="../media/image78.png"/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701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9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1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3" Type="http://schemas.openxmlformats.org/officeDocument/2006/relationships/image" Target="../media/image760.png"/><Relationship Id="rId7" Type="http://schemas.openxmlformats.org/officeDocument/2006/relationships/image" Target="../media/image4510.png"/><Relationship Id="rId2" Type="http://schemas.openxmlformats.org/officeDocument/2006/relationships/image" Target="../media/image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780.png"/><Relationship Id="rId4" Type="http://schemas.openxmlformats.org/officeDocument/2006/relationships/image" Target="../media/image770.png"/><Relationship Id="rId9" Type="http://schemas.openxmlformats.org/officeDocument/2006/relationships/image" Target="../media/image8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8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1.png"/><Relationship Id="rId13" Type="http://schemas.openxmlformats.org/officeDocument/2006/relationships/image" Target="../media/image120.png"/><Relationship Id="rId3" Type="http://schemas.openxmlformats.org/officeDocument/2006/relationships/image" Target="../media/image921.png"/><Relationship Id="rId7" Type="http://schemas.openxmlformats.org/officeDocument/2006/relationships/image" Target="../media/image1111.png"/><Relationship Id="rId12" Type="http://schemas.openxmlformats.org/officeDocument/2006/relationships/image" Target="../media/image1010.png"/><Relationship Id="rId2" Type="http://schemas.openxmlformats.org/officeDocument/2006/relationships/image" Target="../media/image10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1.png"/><Relationship Id="rId11" Type="http://schemas.openxmlformats.org/officeDocument/2006/relationships/image" Target="../media/image1140.png"/><Relationship Id="rId5" Type="http://schemas.openxmlformats.org/officeDocument/2006/relationships/image" Target="../media/image950.png"/><Relationship Id="rId10" Type="http://schemas.openxmlformats.org/officeDocument/2006/relationships/image" Target="../media/image1131.png"/><Relationship Id="rId4" Type="http://schemas.openxmlformats.org/officeDocument/2006/relationships/image" Target="../media/image1080.png"/><Relationship Id="rId9" Type="http://schemas.openxmlformats.org/officeDocument/2006/relationships/image" Target="../media/image1132.png"/><Relationship Id="rId14" Type="http://schemas.openxmlformats.org/officeDocument/2006/relationships/image" Target="../media/image121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1.png"/><Relationship Id="rId18" Type="http://schemas.openxmlformats.org/officeDocument/2006/relationships/image" Target="../media/image116.png"/><Relationship Id="rId3" Type="http://schemas.openxmlformats.org/officeDocument/2006/relationships/image" Target="../media/image1150.png"/><Relationship Id="rId12" Type="http://schemas.openxmlformats.org/officeDocument/2006/relationships/image" Target="../media/image130.png"/><Relationship Id="rId17" Type="http://schemas.openxmlformats.org/officeDocument/2006/relationships/image" Target="../media/image129.png"/><Relationship Id="rId2" Type="http://schemas.openxmlformats.org/officeDocument/2006/relationships/image" Target="../media/image122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091.png"/><Relationship Id="rId4" Type="http://schemas.openxmlformats.org/officeDocument/2006/relationships/image" Target="../media/image1030.png"/><Relationship Id="rId14" Type="http://schemas.openxmlformats.org/officeDocument/2006/relationships/image" Target="../media/image126.png"/></Relationships>
</file>

<file path=ppt/slides/_rels/slide3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124.png"/><Relationship Id="rId7" Type="http://schemas.openxmlformats.org/officeDocument/2006/relationships/image" Target="../media/image46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27.png"/><Relationship Id="rId19" Type="http://schemas.openxmlformats.org/officeDocument/2006/relationships/image" Target="../media/image102.png"/><Relationship Id="rId4" Type="http://schemas.openxmlformats.org/officeDocument/2006/relationships/image" Target="../media/image1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image" Target="../media/image1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48.png"/><Relationship Id="rId3" Type="http://schemas.openxmlformats.org/officeDocument/2006/relationships/image" Target="../media/image150.png"/><Relationship Id="rId7" Type="http://schemas.openxmlformats.org/officeDocument/2006/relationships/image" Target="../media/image153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57.png"/><Relationship Id="rId5" Type="http://schemas.openxmlformats.org/officeDocument/2006/relationships/image" Target="../media/image1450.png"/><Relationship Id="rId10" Type="http://schemas.openxmlformats.org/officeDocument/2006/relationships/image" Target="../media/image156.png"/><Relationship Id="rId4" Type="http://schemas.openxmlformats.org/officeDocument/2006/relationships/image" Target="../media/image146.png"/><Relationship Id="rId9" Type="http://schemas.openxmlformats.org/officeDocument/2006/relationships/image" Target="../media/image15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8" Type="http://schemas.openxmlformats.org/officeDocument/2006/relationships/image" Target="../media/image101.png"/><Relationship Id="rId3" Type="http://schemas.openxmlformats.org/officeDocument/2006/relationships/image" Target="../media/image149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8.png"/><Relationship Id="rId5" Type="http://schemas.openxmlformats.org/officeDocument/2006/relationships/image" Target="../media/image152.png"/><Relationship Id="rId19" Type="http://schemas.openxmlformats.org/officeDocument/2006/relationships/image" Target="../media/image102.png"/><Relationship Id="rId4" Type="http://schemas.openxmlformats.org/officeDocument/2006/relationships/image" Target="../media/image151.png"/><Relationship Id="rId9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5.png"/><Relationship Id="rId11" Type="http://schemas.openxmlformats.org/officeDocument/2006/relationships/image" Target="../media/image55.png"/><Relationship Id="rId5" Type="http://schemas.openxmlformats.org/officeDocument/2006/relationships/image" Target="../media/image164.png"/><Relationship Id="rId10" Type="http://schemas.openxmlformats.org/officeDocument/2006/relationships/image" Target="../media/image54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69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8" Type="http://schemas.openxmlformats.org/officeDocument/2006/relationships/image" Target="../media/image1770.png"/><Relationship Id="rId3" Type="http://schemas.openxmlformats.org/officeDocument/2006/relationships/image" Target="../media/image179.png"/><Relationship Id="rId21" Type="http://schemas.openxmlformats.org/officeDocument/2006/relationships/image" Target="../media/image197.png"/><Relationship Id="rId7" Type="http://schemas.openxmlformats.org/officeDocument/2006/relationships/image" Target="../media/image183.png"/><Relationship Id="rId17" Type="http://schemas.openxmlformats.org/officeDocument/2006/relationships/image" Target="../media/image193.png"/><Relationship Id="rId2" Type="http://schemas.openxmlformats.org/officeDocument/2006/relationships/image" Target="../media/image178.png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1.png"/><Relationship Id="rId5" Type="http://schemas.openxmlformats.org/officeDocument/2006/relationships/image" Target="../media/image1690.png"/><Relationship Id="rId10" Type="http://schemas.openxmlformats.org/officeDocument/2006/relationships/image" Target="../media/image182.png"/><Relationship Id="rId19" Type="http://schemas.openxmlformats.org/officeDocument/2006/relationships/image" Target="../media/image1790.png"/><Relationship Id="rId4" Type="http://schemas.openxmlformats.org/officeDocument/2006/relationships/image" Target="../media/image180.png"/><Relationship Id="rId9" Type="http://schemas.openxmlformats.org/officeDocument/2006/relationships/image" Target="../media/image18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6.png"/><Relationship Id="rId7" Type="http://schemas.openxmlformats.org/officeDocument/2006/relationships/image" Target="../media/image18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111.png"/><Relationship Id="rId4" Type="http://schemas.openxmlformats.org/officeDocument/2006/relationships/image" Target="../media/image21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1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/Relationships>
</file>

<file path=ppt/slides/_rels/slide7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247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19" Type="http://schemas.openxmlformats.org/officeDocument/2006/relationships/image" Target="../media/image102.png"/><Relationship Id="rId4" Type="http://schemas.openxmlformats.org/officeDocument/2006/relationships/image" Target="../media/image248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0.png"/><Relationship Id="rId3" Type="http://schemas.openxmlformats.org/officeDocument/2006/relationships/image" Target="../media/image2430.png"/><Relationship Id="rId7" Type="http://schemas.openxmlformats.org/officeDocument/2006/relationships/image" Target="../media/image2470.png"/><Relationship Id="rId12" Type="http://schemas.openxmlformats.org/officeDocument/2006/relationships/image" Target="../media/image2512.png"/><Relationship Id="rId2" Type="http://schemas.openxmlformats.org/officeDocument/2006/relationships/image" Target="../media/image2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0.png"/><Relationship Id="rId11" Type="http://schemas.openxmlformats.org/officeDocument/2006/relationships/image" Target="../media/image252.png"/><Relationship Id="rId5" Type="http://schemas.openxmlformats.org/officeDocument/2006/relationships/image" Target="../media/image2450.png"/><Relationship Id="rId10" Type="http://schemas.openxmlformats.org/officeDocument/2006/relationships/image" Target="../media/image2502.png"/><Relationship Id="rId4" Type="http://schemas.openxmlformats.org/officeDocument/2006/relationships/image" Target="../media/image2440.png"/><Relationship Id="rId9" Type="http://schemas.openxmlformats.org/officeDocument/2006/relationships/image" Target="../media/image2491.png"/></Relationships>
</file>

<file path=ppt/slides/_rels/slide7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3" Type="http://schemas.openxmlformats.org/officeDocument/2006/relationships/image" Target="../media/image2390.png"/><Relationship Id="rId21" Type="http://schemas.openxmlformats.org/officeDocument/2006/relationships/image" Target="../media/image283.png"/><Relationship Id="rId2" Type="http://schemas.openxmlformats.org/officeDocument/2006/relationships/notesSlide" Target="../notesSlides/notesSlide12.xml"/><Relationship Id="rId20" Type="http://schemas.openxmlformats.org/officeDocument/2006/relationships/image" Target="../media/image2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19" Type="http://schemas.openxmlformats.org/officeDocument/2006/relationships/image" Target="../media/image281.png"/><Relationship Id="rId4" Type="http://schemas.openxmlformats.org/officeDocument/2006/relationships/image" Target="../media/image2522.png"/><Relationship Id="rId22" Type="http://schemas.openxmlformats.org/officeDocument/2006/relationships/image" Target="../media/image28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2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Relationship Id="rId9" Type="http://schemas.openxmlformats.org/officeDocument/2006/relationships/image" Target="../media/image26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7" Type="http://schemas.openxmlformats.org/officeDocument/2006/relationships/image" Target="../media/image272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65.png"/><Relationship Id="rId4" Type="http://schemas.openxmlformats.org/officeDocument/2006/relationships/image" Target="../media/image22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0.png"/><Relationship Id="rId2" Type="http://schemas.openxmlformats.org/officeDocument/2006/relationships/image" Target="../media/image27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4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0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0.png"/><Relationship Id="rId5" Type="http://schemas.openxmlformats.org/officeDocument/2006/relationships/image" Target="../media/image27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7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6.png"/><Relationship Id="rId4" Type="http://schemas.openxmlformats.org/officeDocument/2006/relationships/image" Target="../media/image28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image" Target="../media/image28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0" Type="http://schemas.openxmlformats.org/officeDocument/2006/relationships/image" Target="../media/image297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11.png"/><Relationship Id="rId3" Type="http://schemas.openxmlformats.org/officeDocument/2006/relationships/image" Target="../media/image301.png"/><Relationship Id="rId7" Type="http://schemas.openxmlformats.org/officeDocument/2006/relationships/image" Target="../media/image305.png"/><Relationship Id="rId12" Type="http://schemas.openxmlformats.org/officeDocument/2006/relationships/image" Target="../media/image3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11" Type="http://schemas.openxmlformats.org/officeDocument/2006/relationships/image" Target="../media/image309.png"/><Relationship Id="rId5" Type="http://schemas.openxmlformats.org/officeDocument/2006/relationships/image" Target="../media/image303.png"/><Relationship Id="rId10" Type="http://schemas.openxmlformats.org/officeDocument/2006/relationships/image" Target="../media/image308.png"/><Relationship Id="rId4" Type="http://schemas.openxmlformats.org/officeDocument/2006/relationships/image" Target="../media/image302.png"/><Relationship Id="rId9" Type="http://schemas.openxmlformats.org/officeDocument/2006/relationships/image" Target="../media/image307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312.png"/><Relationship Id="rId7" Type="http://schemas.openxmlformats.org/officeDocument/2006/relationships/image" Target="../media/image3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png"/><Relationship Id="rId5" Type="http://schemas.openxmlformats.org/officeDocument/2006/relationships/image" Target="../media/image314.png"/><Relationship Id="rId4" Type="http://schemas.openxmlformats.org/officeDocument/2006/relationships/image" Target="../media/image31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9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png"/><Relationship Id="rId3" Type="http://schemas.openxmlformats.org/officeDocument/2006/relationships/image" Target="../media/image225.png"/><Relationship Id="rId7" Type="http://schemas.openxmlformats.org/officeDocument/2006/relationships/image" Target="../media/image3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321.png"/><Relationship Id="rId9" Type="http://schemas.openxmlformats.org/officeDocument/2006/relationships/image" Target="../media/image326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3" Type="http://schemas.openxmlformats.org/officeDocument/2006/relationships/image" Target="../media/image327.png"/><Relationship Id="rId7" Type="http://schemas.openxmlformats.org/officeDocument/2006/relationships/image" Target="../media/image3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35.png"/><Relationship Id="rId5" Type="http://schemas.openxmlformats.org/officeDocument/2006/relationships/image" Target="../media/image329.png"/><Relationship Id="rId10" Type="http://schemas.openxmlformats.org/officeDocument/2006/relationships/image" Target="../media/image334.png"/><Relationship Id="rId4" Type="http://schemas.openxmlformats.org/officeDocument/2006/relationships/image" Target="../media/image328.png"/><Relationship Id="rId9" Type="http://schemas.openxmlformats.org/officeDocument/2006/relationships/image" Target="../media/image333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13" Type="http://schemas.openxmlformats.org/officeDocument/2006/relationships/image" Target="../media/image347.png"/><Relationship Id="rId3" Type="http://schemas.openxmlformats.org/officeDocument/2006/relationships/image" Target="../media/image337.png"/><Relationship Id="rId7" Type="http://schemas.openxmlformats.org/officeDocument/2006/relationships/image" Target="../media/image341.png"/><Relationship Id="rId12" Type="http://schemas.openxmlformats.org/officeDocument/2006/relationships/image" Target="../media/image346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45.png"/><Relationship Id="rId5" Type="http://schemas.openxmlformats.org/officeDocument/2006/relationships/image" Target="../media/image339.png"/><Relationship Id="rId15" Type="http://schemas.openxmlformats.org/officeDocument/2006/relationships/image" Target="../media/image349.png"/><Relationship Id="rId10" Type="http://schemas.openxmlformats.org/officeDocument/2006/relationships/image" Target="../media/image344.png"/><Relationship Id="rId4" Type="http://schemas.openxmlformats.org/officeDocument/2006/relationships/image" Target="../media/image338.png"/><Relationship Id="rId9" Type="http://schemas.openxmlformats.org/officeDocument/2006/relationships/image" Target="../media/image343.png"/><Relationship Id="rId14" Type="http://schemas.openxmlformats.org/officeDocument/2006/relationships/image" Target="../media/image348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3" Type="http://schemas.openxmlformats.org/officeDocument/2006/relationships/image" Target="../media/image350.png"/><Relationship Id="rId7" Type="http://schemas.openxmlformats.org/officeDocument/2006/relationships/image" Target="../media/image3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3.png"/><Relationship Id="rId5" Type="http://schemas.openxmlformats.org/officeDocument/2006/relationships/image" Target="../media/image352.png"/><Relationship Id="rId4" Type="http://schemas.openxmlformats.org/officeDocument/2006/relationships/image" Target="../media/image35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png"/><Relationship Id="rId3" Type="http://schemas.openxmlformats.org/officeDocument/2006/relationships/image" Target="../media/image359.png"/><Relationship Id="rId7" Type="http://schemas.openxmlformats.org/officeDocument/2006/relationships/image" Target="../media/image363.png"/><Relationship Id="rId12" Type="http://schemas.openxmlformats.org/officeDocument/2006/relationships/image" Target="../media/image368.png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2.png"/><Relationship Id="rId11" Type="http://schemas.openxmlformats.org/officeDocument/2006/relationships/image" Target="../media/image367.png"/><Relationship Id="rId5" Type="http://schemas.openxmlformats.org/officeDocument/2006/relationships/image" Target="../media/image361.png"/><Relationship Id="rId10" Type="http://schemas.openxmlformats.org/officeDocument/2006/relationships/image" Target="../media/image366.png"/><Relationship Id="rId4" Type="http://schemas.openxmlformats.org/officeDocument/2006/relationships/image" Target="../media/image360.png"/><Relationship Id="rId9" Type="http://schemas.openxmlformats.org/officeDocument/2006/relationships/image" Target="../media/image365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3.png"/><Relationship Id="rId13" Type="http://schemas.openxmlformats.org/officeDocument/2006/relationships/image" Target="../media/image376.png"/><Relationship Id="rId3" Type="http://schemas.openxmlformats.org/officeDocument/2006/relationships/image" Target="../media/image370.png"/><Relationship Id="rId7" Type="http://schemas.openxmlformats.org/officeDocument/2006/relationships/image" Target="../media/image3282.png"/><Relationship Id="rId12" Type="http://schemas.openxmlformats.org/officeDocument/2006/relationships/image" Target="../media/image375.png"/><Relationship Id="rId2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2.png"/><Relationship Id="rId11" Type="http://schemas.openxmlformats.org/officeDocument/2006/relationships/image" Target="../media/image374.png"/><Relationship Id="rId5" Type="http://schemas.openxmlformats.org/officeDocument/2006/relationships/image" Target="../media/image372.png"/><Relationship Id="rId10" Type="http://schemas.openxmlformats.org/officeDocument/2006/relationships/image" Target="../media/image373.png"/><Relationship Id="rId4" Type="http://schemas.openxmlformats.org/officeDocument/2006/relationships/image" Target="../media/image371.png"/><Relationship Id="rId9" Type="http://schemas.openxmlformats.org/officeDocument/2006/relationships/image" Target="../media/image3302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378.png"/><Relationship Id="rId7" Type="http://schemas.openxmlformats.org/officeDocument/2006/relationships/image" Target="../media/image382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5" Type="http://schemas.openxmlformats.org/officeDocument/2006/relationships/image" Target="../media/image380.png"/><Relationship Id="rId4" Type="http://schemas.openxmlformats.org/officeDocument/2006/relationships/image" Target="../media/image379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image" Target="../media/image38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7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3.png"/><Relationship Id="rId2" Type="http://schemas.openxmlformats.org/officeDocument/2006/relationships/image" Target="../media/image3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3.png"/><Relationship Id="rId5" Type="http://schemas.openxmlformats.org/officeDocument/2006/relationships/image" Target="../media/image3473.png"/><Relationship Id="rId4" Type="http://schemas.openxmlformats.org/officeDocument/2006/relationships/image" Target="../media/image346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4.png"/><Relationship Id="rId5" Type="http://schemas.openxmlformats.org/officeDocument/2006/relationships/image" Target="../media/image393.png"/><Relationship Id="rId4" Type="http://schemas.openxmlformats.org/officeDocument/2006/relationships/image" Target="../media/image392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2.png"/><Relationship Id="rId2" Type="http://schemas.openxmlformats.org/officeDocument/2006/relationships/image" Target="../media/image338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3.pn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2.png"/><Relationship Id="rId2" Type="http://schemas.openxmlformats.org/officeDocument/2006/relationships/image" Target="../media/image338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0.png"/><Relationship Id="rId13" Type="http://schemas.openxmlformats.org/officeDocument/2006/relationships/image" Target="../media/image3452.png"/><Relationship Id="rId3" Type="http://schemas.openxmlformats.org/officeDocument/2006/relationships/image" Target="../media/image398.png"/><Relationship Id="rId7" Type="http://schemas.openxmlformats.org/officeDocument/2006/relationships/image" Target="../media/image400.png"/><Relationship Id="rId12" Type="http://schemas.openxmlformats.org/officeDocument/2006/relationships/image" Target="../media/image2181.png"/><Relationship Id="rId2" Type="http://schemas.openxmlformats.org/officeDocument/2006/relationships/image" Target="../media/image2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0.png"/><Relationship Id="rId11" Type="http://schemas.openxmlformats.org/officeDocument/2006/relationships/image" Target="../media/image2171.png"/><Relationship Id="rId5" Type="http://schemas.openxmlformats.org/officeDocument/2006/relationships/image" Target="../media/image399.png"/><Relationship Id="rId15" Type="http://schemas.openxmlformats.org/officeDocument/2006/relationships/image" Target="../media/image3472.png"/><Relationship Id="rId10" Type="http://schemas.openxmlformats.org/officeDocument/2006/relationships/image" Target="../media/image2160.png"/><Relationship Id="rId4" Type="http://schemas.openxmlformats.org/officeDocument/2006/relationships/image" Target="../media/image2101.png"/><Relationship Id="rId9" Type="http://schemas.openxmlformats.org/officeDocument/2006/relationships/image" Target="../media/image2150.png"/><Relationship Id="rId14" Type="http://schemas.openxmlformats.org/officeDocument/2006/relationships/image" Target="../media/image3462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0.png"/><Relationship Id="rId13" Type="http://schemas.openxmlformats.org/officeDocument/2006/relationships/image" Target="../media/image401.png"/><Relationship Id="rId3" Type="http://schemas.openxmlformats.org/officeDocument/2006/relationships/image" Target="../media/image3890.png"/><Relationship Id="rId7" Type="http://schemas.openxmlformats.org/officeDocument/2006/relationships/image" Target="../media/image3140.png"/><Relationship Id="rId12" Type="http://schemas.openxmlformats.org/officeDocument/2006/relationships/image" Target="../media/image3190.png"/><Relationship Id="rId2" Type="http://schemas.openxmlformats.org/officeDocument/2006/relationships/image" Target="../media/image3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1.png"/><Relationship Id="rId11" Type="http://schemas.openxmlformats.org/officeDocument/2006/relationships/image" Target="../media/image3180.png"/><Relationship Id="rId5" Type="http://schemas.openxmlformats.org/officeDocument/2006/relationships/image" Target="../media/image3911.png"/><Relationship Id="rId10" Type="http://schemas.openxmlformats.org/officeDocument/2006/relationships/image" Target="../media/image3170.png"/><Relationship Id="rId4" Type="http://schemas.openxmlformats.org/officeDocument/2006/relationships/image" Target="../media/image3901.png"/><Relationship Id="rId9" Type="http://schemas.openxmlformats.org/officeDocument/2006/relationships/image" Target="../media/image3160.png"/><Relationship Id="rId14" Type="http://schemas.openxmlformats.org/officeDocument/2006/relationships/image" Target="../media/image3940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2.png"/><Relationship Id="rId3" Type="http://schemas.openxmlformats.org/officeDocument/2006/relationships/image" Target="../media/image3950.png"/><Relationship Id="rId7" Type="http://schemas.openxmlformats.org/officeDocument/2006/relationships/image" Target="../media/image399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80.png"/><Relationship Id="rId5" Type="http://schemas.openxmlformats.org/officeDocument/2006/relationships/image" Target="../media/image3970.png"/><Relationship Id="rId4" Type="http://schemas.openxmlformats.org/officeDocument/2006/relationships/image" Target="../media/image402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3" Type="http://schemas.openxmlformats.org/officeDocument/2006/relationships/image" Target="../media/image4011.png"/><Relationship Id="rId7" Type="http://schemas.openxmlformats.org/officeDocument/2006/relationships/image" Target="../media/image405.png"/><Relationship Id="rId12" Type="http://schemas.openxmlformats.org/officeDocument/2006/relationships/image" Target="../media/image4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4.png"/><Relationship Id="rId11" Type="http://schemas.openxmlformats.org/officeDocument/2006/relationships/image" Target="../media/image409.png"/><Relationship Id="rId5" Type="http://schemas.openxmlformats.org/officeDocument/2006/relationships/image" Target="../media/image403.png"/><Relationship Id="rId10" Type="http://schemas.openxmlformats.org/officeDocument/2006/relationships/image" Target="../media/image408.png"/><Relationship Id="rId4" Type="http://schemas.openxmlformats.org/officeDocument/2006/relationships/image" Target="../media/image4021.png"/><Relationship Id="rId9" Type="http://schemas.openxmlformats.org/officeDocument/2006/relationships/image" Target="../media/image407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1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png"/><Relationship Id="rId3" Type="http://schemas.openxmlformats.org/officeDocument/2006/relationships/image" Target="../media/image4111.png"/><Relationship Id="rId7" Type="http://schemas.openxmlformats.org/officeDocument/2006/relationships/image" Target="../media/image415.png"/><Relationship Id="rId12" Type="http://schemas.openxmlformats.org/officeDocument/2006/relationships/image" Target="../media/image320.png"/><Relationship Id="rId2" Type="http://schemas.openxmlformats.org/officeDocument/2006/relationships/image" Target="../media/image35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4.png"/><Relationship Id="rId11" Type="http://schemas.openxmlformats.org/officeDocument/2006/relationships/image" Target="../media/image419.png"/><Relationship Id="rId5" Type="http://schemas.openxmlformats.org/officeDocument/2006/relationships/image" Target="../media/image413.png"/><Relationship Id="rId10" Type="http://schemas.openxmlformats.org/officeDocument/2006/relationships/image" Target="../media/image418.png"/><Relationship Id="rId4" Type="http://schemas.openxmlformats.org/officeDocument/2006/relationships/image" Target="../media/image412.png"/><Relationship Id="rId9" Type="http://schemas.openxmlformats.org/officeDocument/2006/relationships/image" Target="../media/image417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png"/><Relationship Id="rId3" Type="http://schemas.openxmlformats.org/officeDocument/2006/relationships/image" Target="../media/image421.png"/><Relationship Id="rId7" Type="http://schemas.openxmlformats.org/officeDocument/2006/relationships/image" Target="../media/image425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5" Type="http://schemas.openxmlformats.org/officeDocument/2006/relationships/image" Target="../media/image423.png"/><Relationship Id="rId4" Type="http://schemas.openxmlformats.org/officeDocument/2006/relationships/image" Target="../media/image422.png"/><Relationship Id="rId9" Type="http://schemas.openxmlformats.org/officeDocument/2006/relationships/image" Target="../media/image427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png"/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1.png"/><Relationship Id="rId4" Type="http://schemas.openxmlformats.org/officeDocument/2006/relationships/image" Target="../media/image43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0.png"/><Relationship Id="rId7" Type="http://schemas.openxmlformats.org/officeDocument/2006/relationships/image" Target="../media/image443.png"/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2.png"/><Relationship Id="rId5" Type="http://schemas.openxmlformats.org/officeDocument/2006/relationships/image" Target="../media/image441.png"/><Relationship Id="rId4" Type="http://schemas.openxmlformats.org/officeDocument/2006/relationships/image" Target="../media/image44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png"/><Relationship Id="rId3" Type="http://schemas.openxmlformats.org/officeDocument/2006/relationships/image" Target="../media/image448.png"/><Relationship Id="rId7" Type="http://schemas.openxmlformats.org/officeDocument/2006/relationships/image" Target="../media/image452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5" Type="http://schemas.openxmlformats.org/officeDocument/2006/relationships/image" Target="../media/image450.png"/><Relationship Id="rId10" Type="http://schemas.openxmlformats.org/officeDocument/2006/relationships/image" Target="../media/image455.png"/><Relationship Id="rId4" Type="http://schemas.openxmlformats.org/officeDocument/2006/relationships/image" Target="../media/image449.png"/><Relationship Id="rId9" Type="http://schemas.openxmlformats.org/officeDocument/2006/relationships/image" Target="../media/image454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png"/><Relationship Id="rId3" Type="http://schemas.openxmlformats.org/officeDocument/2006/relationships/image" Target="../media/image457.png"/><Relationship Id="rId7" Type="http://schemas.openxmlformats.org/officeDocument/2006/relationships/image" Target="../media/image461.png"/><Relationship Id="rId12" Type="http://schemas.openxmlformats.org/officeDocument/2006/relationships/image" Target="../media/image466.png"/><Relationship Id="rId2" Type="http://schemas.openxmlformats.org/officeDocument/2006/relationships/image" Target="../media/image4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465.png"/><Relationship Id="rId5" Type="http://schemas.openxmlformats.org/officeDocument/2006/relationships/image" Target="../media/image459.png"/><Relationship Id="rId10" Type="http://schemas.openxmlformats.org/officeDocument/2006/relationships/image" Target="../media/image464.png"/><Relationship Id="rId4" Type="http://schemas.openxmlformats.org/officeDocument/2006/relationships/image" Target="../media/image458.png"/><Relationship Id="rId9" Type="http://schemas.openxmlformats.org/officeDocument/2006/relationships/image" Target="../media/image463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png"/><Relationship Id="rId3" Type="http://schemas.openxmlformats.org/officeDocument/2006/relationships/image" Target="../media/image468.png"/><Relationship Id="rId7" Type="http://schemas.openxmlformats.org/officeDocument/2006/relationships/image" Target="../media/image472.png"/><Relationship Id="rId2" Type="http://schemas.openxmlformats.org/officeDocument/2006/relationships/image" Target="../media/image4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1.png"/><Relationship Id="rId11" Type="http://schemas.openxmlformats.org/officeDocument/2006/relationships/image" Target="../media/image476.png"/><Relationship Id="rId5" Type="http://schemas.openxmlformats.org/officeDocument/2006/relationships/image" Target="../media/image470.png"/><Relationship Id="rId10" Type="http://schemas.openxmlformats.org/officeDocument/2006/relationships/image" Target="../media/image475.png"/><Relationship Id="rId4" Type="http://schemas.openxmlformats.org/officeDocument/2006/relationships/image" Target="../media/image469.png"/><Relationship Id="rId9" Type="http://schemas.openxmlformats.org/officeDocument/2006/relationships/image" Target="../media/image474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8.png"/><Relationship Id="rId2" Type="http://schemas.openxmlformats.org/officeDocument/2006/relationships/image" Target="../media/image477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0.png"/><Relationship Id="rId13" Type="http://schemas.openxmlformats.org/officeDocument/2006/relationships/image" Target="../media/image481.png"/><Relationship Id="rId3" Type="http://schemas.openxmlformats.org/officeDocument/2006/relationships/image" Target="../media/image3270.png"/><Relationship Id="rId7" Type="http://schemas.openxmlformats.org/officeDocument/2006/relationships/image" Target="../media/image3310.png"/><Relationship Id="rId12" Type="http://schemas.openxmlformats.org/officeDocument/2006/relationships/image" Target="../media/image3330.png"/><Relationship Id="rId2" Type="http://schemas.openxmlformats.org/officeDocument/2006/relationships/image" Target="../media/image3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1.png"/><Relationship Id="rId11" Type="http://schemas.openxmlformats.org/officeDocument/2006/relationships/image" Target="../media/image2171.png"/><Relationship Id="rId5" Type="http://schemas.openxmlformats.org/officeDocument/2006/relationships/image" Target="../media/image3290.png"/><Relationship Id="rId15" Type="http://schemas.openxmlformats.org/officeDocument/2006/relationships/image" Target="../media/image483.png"/><Relationship Id="rId10" Type="http://schemas.openxmlformats.org/officeDocument/2006/relationships/image" Target="../media/image2160.png"/><Relationship Id="rId4" Type="http://schemas.openxmlformats.org/officeDocument/2006/relationships/image" Target="../media/image3280.png"/><Relationship Id="rId9" Type="http://schemas.openxmlformats.org/officeDocument/2006/relationships/image" Target="../media/image3320.png"/><Relationship Id="rId14" Type="http://schemas.openxmlformats.org/officeDocument/2006/relationships/image" Target="../media/image482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85.png"/><Relationship Id="rId7" Type="http://schemas.openxmlformats.org/officeDocument/2006/relationships/image" Target="../media/image489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8.png"/><Relationship Id="rId5" Type="http://schemas.openxmlformats.org/officeDocument/2006/relationships/image" Target="../media/image487.png"/><Relationship Id="rId4" Type="http://schemas.openxmlformats.org/officeDocument/2006/relationships/image" Target="../media/image48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png"/><Relationship Id="rId7" Type="http://schemas.openxmlformats.org/officeDocument/2006/relationships/image" Target="../media/image496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5.png"/><Relationship Id="rId5" Type="http://schemas.openxmlformats.org/officeDocument/2006/relationships/image" Target="../media/image494.png"/><Relationship Id="rId4" Type="http://schemas.openxmlformats.org/officeDocument/2006/relationships/image" Target="../media/image493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png"/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50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png"/><Relationship Id="rId7" Type="http://schemas.openxmlformats.org/officeDocument/2006/relationships/image" Target="../media/image498.png"/><Relationship Id="rId2" Type="http://schemas.openxmlformats.org/officeDocument/2006/relationships/image" Target="../media/image4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7.png"/><Relationship Id="rId5" Type="http://schemas.openxmlformats.org/officeDocument/2006/relationships/image" Target="../media/image445.png"/><Relationship Id="rId4" Type="http://schemas.openxmlformats.org/officeDocument/2006/relationships/image" Target="../media/image439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png"/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0.png"/><Relationship Id="rId2" Type="http://schemas.openxmlformats.org/officeDocument/2006/relationships/image" Target="../media/image40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7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2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4190.png"/><Relationship Id="rId3" Type="http://schemas.openxmlformats.org/officeDocument/2006/relationships/image" Target="../media/image4101.png"/><Relationship Id="rId7" Type="http://schemas.openxmlformats.org/officeDocument/2006/relationships/image" Target="../media/image4140.png"/><Relationship Id="rId12" Type="http://schemas.openxmlformats.org/officeDocument/2006/relationships/image" Target="../media/image504.png"/><Relationship Id="rId2" Type="http://schemas.openxmlformats.org/officeDocument/2006/relationships/image" Target="../media/image4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0.png"/><Relationship Id="rId11" Type="http://schemas.openxmlformats.org/officeDocument/2006/relationships/image" Target="../media/image503.png"/><Relationship Id="rId5" Type="http://schemas.openxmlformats.org/officeDocument/2006/relationships/image" Target="../media/image4120.png"/><Relationship Id="rId10" Type="http://schemas.openxmlformats.org/officeDocument/2006/relationships/image" Target="../media/image4160.png"/><Relationship Id="rId4" Type="http://schemas.openxmlformats.org/officeDocument/2006/relationships/image" Target="../media/image4110.png"/><Relationship Id="rId9" Type="http://schemas.openxmlformats.org/officeDocument/2006/relationships/image" Target="../media/image4150.png"/><Relationship Id="rId14" Type="http://schemas.openxmlformats.org/officeDocument/2006/relationships/image" Target="../media/image4201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png"/><Relationship Id="rId3" Type="http://schemas.openxmlformats.org/officeDocument/2006/relationships/image" Target="../media/image5002.png"/><Relationship Id="rId7" Type="http://schemas.openxmlformats.org/officeDocument/2006/relationships/image" Target="../media/image506.png"/><Relationship Id="rId2" Type="http://schemas.openxmlformats.org/officeDocument/2006/relationships/image" Target="../media/image4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5.png"/><Relationship Id="rId5" Type="http://schemas.openxmlformats.org/officeDocument/2006/relationships/image" Target="../media/image5041.png"/><Relationship Id="rId4" Type="http://schemas.openxmlformats.org/officeDocument/2006/relationships/image" Target="../media/image5032.png"/><Relationship Id="rId9" Type="http://schemas.openxmlformats.org/officeDocument/2006/relationships/image" Target="../media/image508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5.png"/><Relationship Id="rId3" Type="http://schemas.openxmlformats.org/officeDocument/2006/relationships/image" Target="../media/image510.png"/><Relationship Id="rId7" Type="http://schemas.openxmlformats.org/officeDocument/2006/relationships/image" Target="../media/image514.png"/><Relationship Id="rId2" Type="http://schemas.openxmlformats.org/officeDocument/2006/relationships/image" Target="../media/image5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3.png"/><Relationship Id="rId11" Type="http://schemas.openxmlformats.org/officeDocument/2006/relationships/image" Target="../media/image518.png"/><Relationship Id="rId5" Type="http://schemas.openxmlformats.org/officeDocument/2006/relationships/image" Target="../media/image512.png"/><Relationship Id="rId10" Type="http://schemas.openxmlformats.org/officeDocument/2006/relationships/image" Target="../media/image517.png"/><Relationship Id="rId4" Type="http://schemas.openxmlformats.org/officeDocument/2006/relationships/image" Target="../media/image511.png"/><Relationship Id="rId9" Type="http://schemas.openxmlformats.org/officeDocument/2006/relationships/image" Target="../media/image51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31.png"/><Relationship Id="rId2" Type="http://schemas.openxmlformats.org/officeDocument/2006/relationships/image" Target="../media/image3860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2.png"/><Relationship Id="rId18" Type="http://schemas.openxmlformats.org/officeDocument/2006/relationships/image" Target="../media/image527.png"/><Relationship Id="rId3" Type="http://schemas.openxmlformats.org/officeDocument/2006/relationships/image" Target="../media/image4460.png"/><Relationship Id="rId21" Type="http://schemas.openxmlformats.org/officeDocument/2006/relationships/image" Target="../media/image530.png"/><Relationship Id="rId12" Type="http://schemas.openxmlformats.org/officeDocument/2006/relationships/image" Target="../media/image521.png"/><Relationship Id="rId17" Type="http://schemas.openxmlformats.org/officeDocument/2006/relationships/image" Target="../media/image526.png"/><Relationship Id="rId2" Type="http://schemas.openxmlformats.org/officeDocument/2006/relationships/image" Target="../media/image4450.png"/><Relationship Id="rId16" Type="http://schemas.openxmlformats.org/officeDocument/2006/relationships/image" Target="../media/image525.png"/><Relationship Id="rId20" Type="http://schemas.openxmlformats.org/officeDocument/2006/relationships/image" Target="../media/image5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15" Type="http://schemas.openxmlformats.org/officeDocument/2006/relationships/image" Target="../media/image524.png"/><Relationship Id="rId19" Type="http://schemas.openxmlformats.org/officeDocument/2006/relationships/image" Target="../media/image528.png"/><Relationship Id="rId4" Type="http://schemas.openxmlformats.org/officeDocument/2006/relationships/image" Target="../media/image519.png"/><Relationship Id="rId14" Type="http://schemas.openxmlformats.org/officeDocument/2006/relationships/image" Target="../media/image523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png"/><Relationship Id="rId3" Type="http://schemas.openxmlformats.org/officeDocument/2006/relationships/image" Target="../media/image532.png"/><Relationship Id="rId7" Type="http://schemas.openxmlformats.org/officeDocument/2006/relationships/image" Target="../media/image536.png"/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5.png"/><Relationship Id="rId5" Type="http://schemas.openxmlformats.org/officeDocument/2006/relationships/image" Target="../media/image534.png"/><Relationship Id="rId4" Type="http://schemas.openxmlformats.org/officeDocument/2006/relationships/image" Target="../media/image533.png"/><Relationship Id="rId9" Type="http://schemas.openxmlformats.org/officeDocument/2006/relationships/image" Target="../media/image538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21.png"/><Relationship Id="rId2" Type="http://schemas.openxmlformats.org/officeDocument/2006/relationships/image" Target="../media/image531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31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41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51.png"/><Relationship Id="rId13" Type="http://schemas.openxmlformats.org/officeDocument/2006/relationships/image" Target="../media/image5070.png"/><Relationship Id="rId3" Type="http://schemas.openxmlformats.org/officeDocument/2006/relationships/image" Target="../media/image5001.png"/><Relationship Id="rId7" Type="http://schemas.openxmlformats.org/officeDocument/2006/relationships/image" Target="../media/image5040.png"/><Relationship Id="rId12" Type="http://schemas.openxmlformats.org/officeDocument/2006/relationships/image" Target="../media/image4821.png"/><Relationship Id="rId2" Type="http://schemas.openxmlformats.org/officeDocument/2006/relationships/image" Target="../media/image49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9.png"/><Relationship Id="rId11" Type="http://schemas.openxmlformats.org/officeDocument/2006/relationships/image" Target="../media/image5050.png"/><Relationship Id="rId5" Type="http://schemas.openxmlformats.org/officeDocument/2006/relationships/image" Target="../media/image5020.png"/><Relationship Id="rId10" Type="http://schemas.openxmlformats.org/officeDocument/2006/relationships/image" Target="../media/image4160.png"/><Relationship Id="rId4" Type="http://schemas.openxmlformats.org/officeDocument/2006/relationships/image" Target="../media/image5011.png"/><Relationship Id="rId9" Type="http://schemas.openxmlformats.org/officeDocument/2006/relationships/image" Target="../media/image4150.png"/><Relationship Id="rId14" Type="http://schemas.openxmlformats.org/officeDocument/2006/relationships/image" Target="../media/image5362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61.png"/><Relationship Id="rId13" Type="http://schemas.openxmlformats.org/officeDocument/2006/relationships/image" Target="../media/image541.png"/><Relationship Id="rId3" Type="http://schemas.openxmlformats.org/officeDocument/2006/relationships/image" Target="../media/image4220.png"/><Relationship Id="rId7" Type="http://schemas.openxmlformats.org/officeDocument/2006/relationships/image" Target="../media/image4260.png"/><Relationship Id="rId12" Type="http://schemas.openxmlformats.org/officeDocument/2006/relationships/image" Target="../media/image540.png"/><Relationship Id="rId2" Type="http://schemas.openxmlformats.org/officeDocument/2006/relationships/image" Target="../media/image42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390.png"/><Relationship Id="rId5" Type="http://schemas.openxmlformats.org/officeDocument/2006/relationships/image" Target="../media/image4240.png"/><Relationship Id="rId10" Type="http://schemas.openxmlformats.org/officeDocument/2006/relationships/image" Target="../media/image5380.png"/><Relationship Id="rId4" Type="http://schemas.openxmlformats.org/officeDocument/2006/relationships/image" Target="../media/image4230.png"/><Relationship Id="rId9" Type="http://schemas.openxmlformats.org/officeDocument/2006/relationships/image" Target="../media/image5370.png"/><Relationship Id="rId14" Type="http://schemas.openxmlformats.org/officeDocument/2006/relationships/image" Target="../media/image542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4.png"/><Relationship Id="rId2" Type="http://schemas.openxmlformats.org/officeDocument/2006/relationships/image" Target="../media/image5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6.png"/><Relationship Id="rId4" Type="http://schemas.openxmlformats.org/officeDocument/2006/relationships/image" Target="../media/image545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0.png"/><Relationship Id="rId13" Type="http://schemas.openxmlformats.org/officeDocument/2006/relationships/image" Target="../media/image5470.png"/><Relationship Id="rId3" Type="http://schemas.openxmlformats.org/officeDocument/2006/relationships/image" Target="../media/image4720.png"/><Relationship Id="rId7" Type="http://schemas.openxmlformats.org/officeDocument/2006/relationships/image" Target="../media/image4760.png"/><Relationship Id="rId12" Type="http://schemas.openxmlformats.org/officeDocument/2006/relationships/image" Target="../media/image4811.png"/><Relationship Id="rId17" Type="http://schemas.openxmlformats.org/officeDocument/2006/relationships/image" Target="../media/image549.png"/><Relationship Id="rId2" Type="http://schemas.openxmlformats.org/officeDocument/2006/relationships/image" Target="../media/image4711.png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7.png"/><Relationship Id="rId11" Type="http://schemas.openxmlformats.org/officeDocument/2006/relationships/image" Target="../media/image4801.png"/><Relationship Id="rId5" Type="http://schemas.openxmlformats.org/officeDocument/2006/relationships/image" Target="../media/image4740.png"/><Relationship Id="rId10" Type="http://schemas.openxmlformats.org/officeDocument/2006/relationships/image" Target="../media/image4790.png"/><Relationship Id="rId4" Type="http://schemas.openxmlformats.org/officeDocument/2006/relationships/image" Target="../media/image4730.png"/><Relationship Id="rId9" Type="http://schemas.openxmlformats.org/officeDocument/2006/relationships/image" Target="../media/image4780.png"/><Relationship Id="rId14" Type="http://schemas.openxmlformats.org/officeDocument/2006/relationships/image" Target="../media/image548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7.png"/><Relationship Id="rId3" Type="http://schemas.openxmlformats.org/officeDocument/2006/relationships/image" Target="../media/image552.png"/><Relationship Id="rId7" Type="http://schemas.openxmlformats.org/officeDocument/2006/relationships/image" Target="../media/image556.png"/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5.png"/><Relationship Id="rId5" Type="http://schemas.openxmlformats.org/officeDocument/2006/relationships/image" Target="../media/image554.png"/><Relationship Id="rId4" Type="http://schemas.openxmlformats.org/officeDocument/2006/relationships/image" Target="../media/image553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9.png"/><Relationship Id="rId7" Type="http://schemas.openxmlformats.org/officeDocument/2006/relationships/image" Target="../media/image563.png"/><Relationship Id="rId2" Type="http://schemas.openxmlformats.org/officeDocument/2006/relationships/image" Target="../media/image5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2.png"/><Relationship Id="rId5" Type="http://schemas.openxmlformats.org/officeDocument/2006/relationships/image" Target="../media/image561.png"/><Relationship Id="rId4" Type="http://schemas.openxmlformats.org/officeDocument/2006/relationships/image" Target="../media/image56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5.png"/><Relationship Id="rId2" Type="http://schemas.openxmlformats.org/officeDocument/2006/relationships/image" Target="../media/image56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68.png"/><Relationship Id="rId26" Type="http://schemas.openxmlformats.org/officeDocument/2006/relationships/image" Target="../media/image575.png"/><Relationship Id="rId21" Type="http://schemas.openxmlformats.org/officeDocument/2006/relationships/image" Target="../media/image570.png"/><Relationship Id="rId17" Type="http://schemas.openxmlformats.org/officeDocument/2006/relationships/image" Target="../media/image567.png"/><Relationship Id="rId25" Type="http://schemas.openxmlformats.org/officeDocument/2006/relationships/image" Target="../media/image574.png"/><Relationship Id="rId16" Type="http://schemas.openxmlformats.org/officeDocument/2006/relationships/image" Target="../media/image5320.png"/><Relationship Id="rId20" Type="http://schemas.openxmlformats.org/officeDocument/2006/relationships/image" Target="../media/image56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73.png"/><Relationship Id="rId15" Type="http://schemas.openxmlformats.org/officeDocument/2006/relationships/image" Target="../media/image5311.png"/><Relationship Id="rId23" Type="http://schemas.openxmlformats.org/officeDocument/2006/relationships/image" Target="../media/image572.png"/><Relationship Id="rId19" Type="http://schemas.openxmlformats.org/officeDocument/2006/relationships/image" Target="../media/image522.png"/><Relationship Id="rId14" Type="http://schemas.openxmlformats.org/officeDocument/2006/relationships/image" Target="../media/image566.png"/><Relationship Id="rId22" Type="http://schemas.openxmlformats.org/officeDocument/2006/relationships/image" Target="../media/image571.png"/><Relationship Id="rId27" Type="http://schemas.openxmlformats.org/officeDocument/2006/relationships/image" Target="../media/image576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3.png"/><Relationship Id="rId3" Type="http://schemas.openxmlformats.org/officeDocument/2006/relationships/image" Target="../media/image578.png"/><Relationship Id="rId7" Type="http://schemas.openxmlformats.org/officeDocument/2006/relationships/image" Target="../media/image582.png"/><Relationship Id="rId2" Type="http://schemas.openxmlformats.org/officeDocument/2006/relationships/image" Target="../media/image5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1.png"/><Relationship Id="rId5" Type="http://schemas.openxmlformats.org/officeDocument/2006/relationships/image" Target="../media/image580.png"/><Relationship Id="rId4" Type="http://schemas.openxmlformats.org/officeDocument/2006/relationships/image" Target="../media/image579.png"/><Relationship Id="rId9" Type="http://schemas.openxmlformats.org/officeDocument/2006/relationships/image" Target="../media/image584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0.png"/><Relationship Id="rId13" Type="http://schemas.openxmlformats.org/officeDocument/2006/relationships/image" Target="../media/image5832.png"/><Relationship Id="rId3" Type="http://schemas.openxmlformats.org/officeDocument/2006/relationships/image" Target="../media/image5320.png"/><Relationship Id="rId7" Type="http://schemas.openxmlformats.org/officeDocument/2006/relationships/image" Target="../media/image5360.png"/><Relationship Id="rId12" Type="http://schemas.openxmlformats.org/officeDocument/2006/relationships/image" Target="../media/image4811.png"/><Relationship Id="rId17" Type="http://schemas.openxmlformats.org/officeDocument/2006/relationships/image" Target="../media/image587.png"/><Relationship Id="rId2" Type="http://schemas.openxmlformats.org/officeDocument/2006/relationships/image" Target="../media/image5311.png"/><Relationship Id="rId16" Type="http://schemas.openxmlformats.org/officeDocument/2006/relationships/image" Target="../media/image5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50.png"/><Relationship Id="rId11" Type="http://schemas.openxmlformats.org/officeDocument/2006/relationships/image" Target="../media/image4801.png"/><Relationship Id="rId5" Type="http://schemas.openxmlformats.org/officeDocument/2006/relationships/image" Target="../media/image5340.png"/><Relationship Id="rId15" Type="http://schemas.openxmlformats.org/officeDocument/2006/relationships/image" Target="../media/image585.png"/><Relationship Id="rId10" Type="http://schemas.openxmlformats.org/officeDocument/2006/relationships/image" Target="../media/image4790.png"/><Relationship Id="rId4" Type="http://schemas.openxmlformats.org/officeDocument/2006/relationships/image" Target="../media/image5330.png"/><Relationship Id="rId9" Type="http://schemas.openxmlformats.org/officeDocument/2006/relationships/image" Target="../media/image4780.png"/><Relationship Id="rId14" Type="http://schemas.openxmlformats.org/officeDocument/2006/relationships/image" Target="../media/image5841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3.png"/><Relationship Id="rId3" Type="http://schemas.openxmlformats.org/officeDocument/2006/relationships/image" Target="../media/image588.png"/><Relationship Id="rId7" Type="http://schemas.openxmlformats.org/officeDocument/2006/relationships/image" Target="../media/image592.png"/><Relationship Id="rId2" Type="http://schemas.openxmlformats.org/officeDocument/2006/relationships/image" Target="../media/image5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1.png"/><Relationship Id="rId5" Type="http://schemas.openxmlformats.org/officeDocument/2006/relationships/image" Target="../media/image590.png"/><Relationship Id="rId4" Type="http://schemas.openxmlformats.org/officeDocument/2006/relationships/image" Target="../media/image589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5.png"/><Relationship Id="rId7" Type="http://schemas.openxmlformats.org/officeDocument/2006/relationships/image" Target="../media/image598.png"/><Relationship Id="rId2" Type="http://schemas.openxmlformats.org/officeDocument/2006/relationships/image" Target="../media/image5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7.png"/><Relationship Id="rId5" Type="http://schemas.openxmlformats.org/officeDocument/2006/relationships/image" Target="../media/image5601.png"/><Relationship Id="rId4" Type="http://schemas.openxmlformats.org/officeDocument/2006/relationships/image" Target="../media/image596.png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9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1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4.png"/><Relationship Id="rId2" Type="http://schemas.openxmlformats.org/officeDocument/2006/relationships/image" Target="../media/image6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5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6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7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8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9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0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3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png"/><Relationship Id="rId2" Type="http://schemas.openxmlformats.org/officeDocument/2006/relationships/image" Target="../media/image6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7.png"/><Relationship Id="rId5" Type="http://schemas.openxmlformats.org/officeDocument/2006/relationships/image" Target="../media/image616.png"/><Relationship Id="rId4" Type="http://schemas.openxmlformats.org/officeDocument/2006/relationships/image" Target="../media/image615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8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9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1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3.png"/><Relationship Id="rId2" Type="http://schemas.openxmlformats.org/officeDocument/2006/relationships/image" Target="../media/image6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6.png"/><Relationship Id="rId5" Type="http://schemas.openxmlformats.org/officeDocument/2006/relationships/image" Target="../media/image625.png"/><Relationship Id="rId4" Type="http://schemas.openxmlformats.org/officeDocument/2006/relationships/image" Target="../media/image624.png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7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4.png"/><Relationship Id="rId3" Type="http://schemas.openxmlformats.org/officeDocument/2006/relationships/image" Target="../media/image629.png"/><Relationship Id="rId7" Type="http://schemas.openxmlformats.org/officeDocument/2006/relationships/image" Target="../media/image633.png"/><Relationship Id="rId2" Type="http://schemas.openxmlformats.org/officeDocument/2006/relationships/image" Target="../media/image6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2.png"/><Relationship Id="rId5" Type="http://schemas.openxmlformats.org/officeDocument/2006/relationships/image" Target="../media/image631.png"/><Relationship Id="rId4" Type="http://schemas.openxmlformats.org/officeDocument/2006/relationships/image" Target="../media/image63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6.png"/><Relationship Id="rId2" Type="http://schemas.openxmlformats.org/officeDocument/2006/relationships/image" Target="../media/image6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9.png"/><Relationship Id="rId5" Type="http://schemas.openxmlformats.org/officeDocument/2006/relationships/image" Target="../media/image638.png"/><Relationship Id="rId4" Type="http://schemas.openxmlformats.org/officeDocument/2006/relationships/image" Target="../media/image637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1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0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0.png"/><Relationship Id="rId3" Type="http://schemas.openxmlformats.org/officeDocument/2006/relationships/image" Target="../media/image4100.png"/><Relationship Id="rId7" Type="http://schemas.openxmlformats.org/officeDocument/2006/relationships/image" Target="../media/image645.png"/><Relationship Id="rId2" Type="http://schemas.openxmlformats.org/officeDocument/2006/relationships/image" Target="../media/image6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4.png"/><Relationship Id="rId11" Type="http://schemas.openxmlformats.org/officeDocument/2006/relationships/image" Target="../media/image648.png"/><Relationship Id="rId5" Type="http://schemas.openxmlformats.org/officeDocument/2006/relationships/image" Target="../media/image4210.png"/><Relationship Id="rId10" Type="http://schemas.openxmlformats.org/officeDocument/2006/relationships/image" Target="../media/image647.png"/><Relationship Id="rId4" Type="http://schemas.openxmlformats.org/officeDocument/2006/relationships/image" Target="../media/image643.png"/><Relationship Id="rId9" Type="http://schemas.openxmlformats.org/officeDocument/2006/relationships/image" Target="../media/image646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0.png"/><Relationship Id="rId13" Type="http://schemas.openxmlformats.org/officeDocument/2006/relationships/image" Target="../media/image5610.png"/><Relationship Id="rId3" Type="http://schemas.openxmlformats.org/officeDocument/2006/relationships/image" Target="../media/image650.png"/><Relationship Id="rId7" Type="http://schemas.openxmlformats.org/officeDocument/2006/relationships/image" Target="../media/image5110.png"/><Relationship Id="rId12" Type="http://schemas.openxmlformats.org/officeDocument/2006/relationships/image" Target="../media/image653.png"/><Relationship Id="rId2" Type="http://schemas.openxmlformats.org/officeDocument/2006/relationships/image" Target="../media/image6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0.png"/><Relationship Id="rId11" Type="http://schemas.openxmlformats.org/officeDocument/2006/relationships/image" Target="../media/image652.png"/><Relationship Id="rId5" Type="http://schemas.openxmlformats.org/officeDocument/2006/relationships/image" Target="../media/image651.png"/><Relationship Id="rId10" Type="http://schemas.openxmlformats.org/officeDocument/2006/relationships/image" Target="../media/image5410.png"/><Relationship Id="rId4" Type="http://schemas.openxmlformats.org/officeDocument/2006/relationships/image" Target="../media/image4810.png"/><Relationship Id="rId9" Type="http://schemas.openxmlformats.org/officeDocument/2006/relationships/image" Target="../media/image5310.png"/><Relationship Id="rId14" Type="http://schemas.openxmlformats.org/officeDocument/2006/relationships/image" Target="../media/image654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6.png"/><Relationship Id="rId7" Type="http://schemas.openxmlformats.org/officeDocument/2006/relationships/image" Target="../media/image660.png"/><Relationship Id="rId2" Type="http://schemas.openxmlformats.org/officeDocument/2006/relationships/image" Target="../media/image6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9.png"/><Relationship Id="rId5" Type="http://schemas.openxmlformats.org/officeDocument/2006/relationships/image" Target="../media/image658.png"/><Relationship Id="rId4" Type="http://schemas.openxmlformats.org/officeDocument/2006/relationships/image" Target="../media/image657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2.png"/><Relationship Id="rId2" Type="http://schemas.openxmlformats.org/officeDocument/2006/relationships/image" Target="../media/image661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3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9.png"/><Relationship Id="rId3" Type="http://schemas.openxmlformats.org/officeDocument/2006/relationships/image" Target="../media/image664.png"/><Relationship Id="rId7" Type="http://schemas.openxmlformats.org/officeDocument/2006/relationships/image" Target="../media/image668.png"/><Relationship Id="rId2" Type="http://schemas.openxmlformats.org/officeDocument/2006/relationships/image" Target="../media/image6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7.png"/><Relationship Id="rId5" Type="http://schemas.openxmlformats.org/officeDocument/2006/relationships/image" Target="../media/image666.png"/><Relationship Id="rId4" Type="http://schemas.openxmlformats.org/officeDocument/2006/relationships/image" Target="../media/image665.png"/><Relationship Id="rId9" Type="http://schemas.openxmlformats.org/officeDocument/2006/relationships/image" Target="../media/image670.png"/></Relationships>
</file>

<file path=ppt/slides/_rels/slide2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2.png"/><Relationship Id="rId13" Type="http://schemas.openxmlformats.org/officeDocument/2006/relationships/image" Target="../media/image750.png"/><Relationship Id="rId3" Type="http://schemas.openxmlformats.org/officeDocument/2006/relationships/image" Target="../media/image6710.png"/><Relationship Id="rId7" Type="http://schemas.openxmlformats.org/officeDocument/2006/relationships/image" Target="../media/image710.png"/><Relationship Id="rId12" Type="http://schemas.openxmlformats.org/officeDocument/2006/relationships/image" Target="../media/image740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11" Type="http://schemas.openxmlformats.org/officeDocument/2006/relationships/image" Target="../media/image730.png"/><Relationship Id="rId5" Type="http://schemas.openxmlformats.org/officeDocument/2006/relationships/image" Target="../media/image690.png"/><Relationship Id="rId10" Type="http://schemas.openxmlformats.org/officeDocument/2006/relationships/image" Target="../media/image720.png"/><Relationship Id="rId4" Type="http://schemas.openxmlformats.org/officeDocument/2006/relationships/image" Target="../media/image680.png"/><Relationship Id="rId9" Type="http://schemas.openxmlformats.org/officeDocument/2006/relationships/image" Target="../media/image673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5.png"/><Relationship Id="rId7" Type="http://schemas.openxmlformats.org/officeDocument/2006/relationships/image" Target="../media/image679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8.png"/><Relationship Id="rId5" Type="http://schemas.openxmlformats.org/officeDocument/2006/relationships/image" Target="../media/image677.png"/><Relationship Id="rId4" Type="http://schemas.openxmlformats.org/officeDocument/2006/relationships/image" Target="../media/image67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2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3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4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40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2.png"/><Relationship Id="rId3" Type="http://schemas.openxmlformats.org/officeDocument/2006/relationships/image" Target="../media/image686.png"/><Relationship Id="rId7" Type="http://schemas.openxmlformats.org/officeDocument/2006/relationships/image" Target="../media/image691.png"/><Relationship Id="rId2" Type="http://schemas.openxmlformats.org/officeDocument/2006/relationships/image" Target="../media/image6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9.png"/><Relationship Id="rId11" Type="http://schemas.openxmlformats.org/officeDocument/2006/relationships/image" Target="../media/image695.png"/><Relationship Id="rId5" Type="http://schemas.openxmlformats.org/officeDocument/2006/relationships/image" Target="../media/image688.png"/><Relationship Id="rId10" Type="http://schemas.openxmlformats.org/officeDocument/2006/relationships/image" Target="../media/image694.png"/><Relationship Id="rId4" Type="http://schemas.openxmlformats.org/officeDocument/2006/relationships/image" Target="../media/image687.png"/><Relationship Id="rId9" Type="http://schemas.openxmlformats.org/officeDocument/2006/relationships/image" Target="../media/image693.png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8.png"/><Relationship Id="rId3" Type="http://schemas.openxmlformats.org/officeDocument/2006/relationships/image" Target="../media/image4710.png"/><Relationship Id="rId7" Type="http://schemas.openxmlformats.org/officeDocument/2006/relationships/image" Target="../media/image697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6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3" Type="http://schemas.openxmlformats.org/officeDocument/2006/relationships/image" Target="../media/image699.png"/><Relationship Id="rId7" Type="http://schemas.openxmlformats.org/officeDocument/2006/relationships/image" Target="../media/image8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0.png"/><Relationship Id="rId5" Type="http://schemas.openxmlformats.org/officeDocument/2006/relationships/image" Target="../media/image4710.png"/><Relationship Id="rId4" Type="http://schemas.openxmlformats.org/officeDocument/2006/relationships/image" Target="../media/image4610.png"/><Relationship Id="rId9" Type="http://schemas.openxmlformats.org/officeDocument/2006/relationships/image" Target="../media/image702.png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4.png"/><Relationship Id="rId3" Type="http://schemas.openxmlformats.org/officeDocument/2006/relationships/image" Target="../media/image4710.png"/><Relationship Id="rId7" Type="http://schemas.openxmlformats.org/officeDocument/2006/relationships/image" Target="../media/image703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9.png"/><Relationship Id="rId3" Type="http://schemas.openxmlformats.org/officeDocument/2006/relationships/image" Target="../media/image4710.png"/><Relationship Id="rId7" Type="http://schemas.openxmlformats.org/officeDocument/2006/relationships/image" Target="../media/image705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2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7.png"/><Relationship Id="rId3" Type="http://schemas.openxmlformats.org/officeDocument/2006/relationships/image" Target="../media/image4710.png"/><Relationship Id="rId7" Type="http://schemas.openxmlformats.org/officeDocument/2006/relationships/image" Target="../media/image706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9.png"/><Relationship Id="rId5" Type="http://schemas.openxmlformats.org/officeDocument/2006/relationships/image" Target="../media/image708.png"/><Relationship Id="rId4" Type="http://schemas.openxmlformats.org/officeDocument/2006/relationships/image" Target="../media/image48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3.png"/><Relationship Id="rId7" Type="http://schemas.openxmlformats.org/officeDocument/2006/relationships/image" Target="../media/image717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6.png"/><Relationship Id="rId5" Type="http://schemas.openxmlformats.org/officeDocument/2006/relationships/image" Target="../media/image715.png"/><Relationship Id="rId4" Type="http://schemas.openxmlformats.org/officeDocument/2006/relationships/image" Target="../media/image714.png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8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9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2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8.png"/><Relationship Id="rId3" Type="http://schemas.openxmlformats.org/officeDocument/2006/relationships/image" Target="../media/image723.png"/><Relationship Id="rId7" Type="http://schemas.openxmlformats.org/officeDocument/2006/relationships/image" Target="../media/image727.png"/><Relationship Id="rId2" Type="http://schemas.openxmlformats.org/officeDocument/2006/relationships/image" Target="../media/image7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6.png"/><Relationship Id="rId5" Type="http://schemas.openxmlformats.org/officeDocument/2006/relationships/image" Target="../media/image725.png"/><Relationship Id="rId10" Type="http://schemas.openxmlformats.org/officeDocument/2006/relationships/image" Target="../media/image732.png"/><Relationship Id="rId4" Type="http://schemas.openxmlformats.org/officeDocument/2006/relationships/image" Target="../media/image724.png"/><Relationship Id="rId9" Type="http://schemas.openxmlformats.org/officeDocument/2006/relationships/image" Target="../media/image729.png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3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7" Type="http://schemas.openxmlformats.org/officeDocument/2006/relationships/image" Target="../media/image7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120.png"/><Relationship Id="rId5" Type="http://schemas.openxmlformats.org/officeDocument/2006/relationships/image" Target="../media/image734.png"/><Relationship Id="rId10" Type="http://schemas.openxmlformats.org/officeDocument/2006/relationships/image" Target="../media/image1110.png"/><Relationship Id="rId4" Type="http://schemas.openxmlformats.org/officeDocument/2006/relationships/image" Target="../media/image1050.png"/><Relationship Id="rId9" Type="http://schemas.openxmlformats.org/officeDocument/2006/relationships/image" Target="../media/image736.png"/></Relationships>
</file>

<file path=ppt/slides/_rels/slide2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120.png"/><Relationship Id="rId5" Type="http://schemas.openxmlformats.org/officeDocument/2006/relationships/image" Target="../media/image737.png"/><Relationship Id="rId10" Type="http://schemas.openxmlformats.org/officeDocument/2006/relationships/image" Target="../media/image1110.png"/><Relationship Id="rId4" Type="http://schemas.openxmlformats.org/officeDocument/2006/relationships/image" Target="../media/image1050.png"/><Relationship Id="rId9" Type="http://schemas.openxmlformats.org/officeDocument/2006/relationships/image" Target="../media/image738.png"/></Relationships>
</file>

<file path=ppt/slides/_rels/slide2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5" Type="http://schemas.openxmlformats.org/officeDocument/2006/relationships/image" Target="../media/image739.png"/><Relationship Id="rId4" Type="http://schemas.openxmlformats.org/officeDocument/2006/relationships/image" Target="../media/image1050.png"/><Relationship Id="rId9" Type="http://schemas.openxmlformats.org/officeDocument/2006/relationships/image" Target="../media/image743.png"/></Relationships>
</file>

<file path=ppt/slides/_rels/slide2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0.png"/><Relationship Id="rId13" Type="http://schemas.openxmlformats.org/officeDocument/2006/relationships/image" Target="../media/image7470.png"/><Relationship Id="rId3" Type="http://schemas.openxmlformats.org/officeDocument/2006/relationships/image" Target="../media/image7340.png"/><Relationship Id="rId7" Type="http://schemas.openxmlformats.org/officeDocument/2006/relationships/image" Target="../media/image7380.png"/><Relationship Id="rId12" Type="http://schemas.openxmlformats.org/officeDocument/2006/relationships/image" Target="../media/image74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6.png"/><Relationship Id="rId11" Type="http://schemas.openxmlformats.org/officeDocument/2006/relationships/image" Target="../media/image7450.png"/><Relationship Id="rId5" Type="http://schemas.openxmlformats.org/officeDocument/2006/relationships/image" Target="../media/image745.png"/><Relationship Id="rId10" Type="http://schemas.openxmlformats.org/officeDocument/2006/relationships/image" Target="../media/image747.png"/><Relationship Id="rId4" Type="http://schemas.openxmlformats.org/officeDocument/2006/relationships/image" Target="../media/image744.png"/><Relationship Id="rId9" Type="http://schemas.openxmlformats.org/officeDocument/2006/relationships/image" Target="../media/image743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80.png"/><Relationship Id="rId2" Type="http://schemas.openxmlformats.org/officeDocument/2006/relationships/image" Target="../media/image748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9.png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2.pn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3.png"/><Relationship Id="rId2" Type="http://schemas.openxmlformats.org/officeDocument/2006/relationships/image" Target="../media/image7520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5.png"/><Relationship Id="rId7" Type="http://schemas.openxmlformats.org/officeDocument/2006/relationships/image" Target="../media/image759.png"/><Relationship Id="rId2" Type="http://schemas.openxmlformats.org/officeDocument/2006/relationships/image" Target="../media/image7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8.png"/><Relationship Id="rId5" Type="http://schemas.openxmlformats.org/officeDocument/2006/relationships/image" Target="../media/image757.png"/><Relationship Id="rId4" Type="http://schemas.openxmlformats.org/officeDocument/2006/relationships/image" Target="../media/image756.png"/></Relationships>
</file>

<file path=ppt/slides/_rels/slide2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7.png"/><Relationship Id="rId3" Type="http://schemas.openxmlformats.org/officeDocument/2006/relationships/image" Target="../media/image762.png"/><Relationship Id="rId7" Type="http://schemas.openxmlformats.org/officeDocument/2006/relationships/image" Target="../media/image766.png"/><Relationship Id="rId2" Type="http://schemas.openxmlformats.org/officeDocument/2006/relationships/image" Target="../media/image7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5.png"/><Relationship Id="rId5" Type="http://schemas.openxmlformats.org/officeDocument/2006/relationships/image" Target="../media/image764.png"/><Relationship Id="rId4" Type="http://schemas.openxmlformats.org/officeDocument/2006/relationships/image" Target="../media/image763.png"/><Relationship Id="rId9" Type="http://schemas.openxmlformats.org/officeDocument/2006/relationships/image" Target="../media/image768.png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1.png"/><Relationship Id="rId2" Type="http://schemas.openxmlformats.org/officeDocument/2006/relationships/image" Target="../media/image769.png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2.png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0.png"/><Relationship Id="rId13" Type="http://schemas.openxmlformats.org/officeDocument/2006/relationships/image" Target="../media/image5300.png"/><Relationship Id="rId18" Type="http://schemas.openxmlformats.org/officeDocument/2006/relationships/image" Target="../media/image5800.png"/><Relationship Id="rId26" Type="http://schemas.openxmlformats.org/officeDocument/2006/relationships/image" Target="../media/image6600.png"/><Relationship Id="rId3" Type="http://schemas.openxmlformats.org/officeDocument/2006/relationships/image" Target="../media/image4300.png"/><Relationship Id="rId21" Type="http://schemas.openxmlformats.org/officeDocument/2006/relationships/image" Target="../media/image6100.png"/><Relationship Id="rId7" Type="http://schemas.openxmlformats.org/officeDocument/2006/relationships/image" Target="../media/image4700.png"/><Relationship Id="rId12" Type="http://schemas.openxmlformats.org/officeDocument/2006/relationships/image" Target="../media/image5200.png"/><Relationship Id="rId17" Type="http://schemas.openxmlformats.org/officeDocument/2006/relationships/image" Target="../media/image5700.png"/><Relationship Id="rId25" Type="http://schemas.openxmlformats.org/officeDocument/2006/relationships/image" Target="../media/image6500.png"/><Relationship Id="rId2" Type="http://schemas.openxmlformats.org/officeDocument/2006/relationships/image" Target="../media/image4200.png"/><Relationship Id="rId16" Type="http://schemas.openxmlformats.org/officeDocument/2006/relationships/image" Target="../media/image5600.png"/><Relationship Id="rId20" Type="http://schemas.openxmlformats.org/officeDocument/2006/relationships/image" Target="../media/image6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0.png"/><Relationship Id="rId11" Type="http://schemas.openxmlformats.org/officeDocument/2006/relationships/image" Target="../media/image5100.png"/><Relationship Id="rId24" Type="http://schemas.openxmlformats.org/officeDocument/2006/relationships/image" Target="../media/image6400.png"/><Relationship Id="rId5" Type="http://schemas.openxmlformats.org/officeDocument/2006/relationships/image" Target="../media/image4500.png"/><Relationship Id="rId15" Type="http://schemas.openxmlformats.org/officeDocument/2006/relationships/image" Target="../media/image5500.png"/><Relationship Id="rId23" Type="http://schemas.openxmlformats.org/officeDocument/2006/relationships/image" Target="../media/image6300.png"/><Relationship Id="rId10" Type="http://schemas.openxmlformats.org/officeDocument/2006/relationships/image" Target="../media/image5000.png"/><Relationship Id="rId19" Type="http://schemas.openxmlformats.org/officeDocument/2006/relationships/image" Target="../media/image5900.png"/><Relationship Id="rId4" Type="http://schemas.openxmlformats.org/officeDocument/2006/relationships/image" Target="../media/image4400.png"/><Relationship Id="rId9" Type="http://schemas.openxmlformats.org/officeDocument/2006/relationships/image" Target="../media/image4900.png"/><Relationship Id="rId14" Type="http://schemas.openxmlformats.org/officeDocument/2006/relationships/image" Target="../media/image5400.png"/><Relationship Id="rId22" Type="http://schemas.openxmlformats.org/officeDocument/2006/relationships/image" Target="../media/image6200.png"/><Relationship Id="rId27" Type="http://schemas.openxmlformats.org/officeDocument/2006/relationships/image" Target="../media/image670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4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0.png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0.png"/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8.png"/><Relationship Id="rId4" Type="http://schemas.openxmlformats.org/officeDocument/2006/relationships/image" Target="../media/image1340.png"/></Relationships>
</file>

<file path=ppt/slides/_rels/slide2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1.png"/><Relationship Id="rId3" Type="http://schemas.openxmlformats.org/officeDocument/2006/relationships/image" Target="../media/image1360.png"/><Relationship Id="rId7" Type="http://schemas.openxmlformats.org/officeDocument/2006/relationships/image" Target="../media/image1400.png"/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0.png"/><Relationship Id="rId5" Type="http://schemas.openxmlformats.org/officeDocument/2006/relationships/image" Target="../media/image1380.png"/><Relationship Id="rId4" Type="http://schemas.openxmlformats.org/officeDocument/2006/relationships/image" Target="../media/image1370.png"/><Relationship Id="rId9" Type="http://schemas.openxmlformats.org/officeDocument/2006/relationships/image" Target="../media/image1420.png"/></Relationships>
</file>

<file path=ppt/slides/_rels/slide2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5.png"/><Relationship Id="rId3" Type="http://schemas.openxmlformats.org/officeDocument/2006/relationships/image" Target="../media/image779.png"/><Relationship Id="rId7" Type="http://schemas.openxmlformats.org/officeDocument/2006/relationships/image" Target="../media/image7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3.png"/><Relationship Id="rId5" Type="http://schemas.openxmlformats.org/officeDocument/2006/relationships/image" Target="../media/image782.png"/><Relationship Id="rId10" Type="http://schemas.openxmlformats.org/officeDocument/2006/relationships/image" Target="../media/image787.png"/><Relationship Id="rId4" Type="http://schemas.openxmlformats.org/officeDocument/2006/relationships/image" Target="../media/image781.png"/><Relationship Id="rId9" Type="http://schemas.openxmlformats.org/officeDocument/2006/relationships/image" Target="../media/image78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9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0.png"/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2.png"/><Relationship Id="rId4" Type="http://schemas.openxmlformats.org/officeDocument/2006/relationships/image" Target="../media/image134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7" Type="http://schemas.openxmlformats.org/officeDocument/2006/relationships/image" Target="../media/image1540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0.png"/><Relationship Id="rId5" Type="http://schemas.openxmlformats.org/officeDocument/2006/relationships/image" Target="../media/image1520.png"/><Relationship Id="rId4" Type="http://schemas.openxmlformats.org/officeDocument/2006/relationships/image" Target="../media/image151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7" Type="http://schemas.openxmlformats.org/officeDocument/2006/relationships/image" Target="../media/image1570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0.png"/><Relationship Id="rId5" Type="http://schemas.openxmlformats.org/officeDocument/2006/relationships/image" Target="../media/image1550.png"/><Relationship Id="rId4" Type="http://schemas.openxmlformats.org/officeDocument/2006/relationships/image" Target="../media/image1511.png"/></Relationships>
</file>

<file path=ppt/slides/_rels/slide2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8.png"/><Relationship Id="rId3" Type="http://schemas.openxmlformats.org/officeDocument/2006/relationships/image" Target="../media/image793.png"/><Relationship Id="rId7" Type="http://schemas.openxmlformats.org/officeDocument/2006/relationships/image" Target="../media/image797.png"/><Relationship Id="rId12" Type="http://schemas.openxmlformats.org/officeDocument/2006/relationships/image" Target="../media/image8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6.png"/><Relationship Id="rId11" Type="http://schemas.openxmlformats.org/officeDocument/2006/relationships/image" Target="../media/image802.png"/><Relationship Id="rId5" Type="http://schemas.openxmlformats.org/officeDocument/2006/relationships/image" Target="../media/image795.png"/><Relationship Id="rId10" Type="http://schemas.openxmlformats.org/officeDocument/2006/relationships/image" Target="../media/image801.png"/><Relationship Id="rId4" Type="http://schemas.openxmlformats.org/officeDocument/2006/relationships/image" Target="../media/image794.png"/><Relationship Id="rId9" Type="http://schemas.openxmlformats.org/officeDocument/2006/relationships/image" Target="../media/image799.png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533844"/>
            <a:ext cx="9498910" cy="1748679"/>
          </a:xfrm>
        </p:spPr>
        <p:txBody>
          <a:bodyPr/>
          <a:lstStyle/>
          <a:p>
            <a:r>
              <a:rPr lang="en-US" dirty="0"/>
              <a:t>Unit: 5</a:t>
            </a:r>
            <a:br>
              <a:rPr lang="en-US" dirty="0"/>
            </a:br>
            <a:r>
              <a:rPr lang="en-IN" dirty="0"/>
              <a:t>Inferential Statistics – II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-2476"/>
            <a:ext cx="4646358" cy="1009767"/>
          </a:xfrm>
        </p:spPr>
        <p:txBody>
          <a:bodyPr/>
          <a:lstStyle/>
          <a:p>
            <a:r>
              <a:rPr lang="en-US" b="1" dirty="0"/>
              <a:t>Probability &amp; Statistics</a:t>
            </a:r>
            <a:r>
              <a:rPr lang="en-IN" b="1" dirty="0"/>
              <a:t> (P&amp;S)</a:t>
            </a:r>
          </a:p>
          <a:p>
            <a:r>
              <a:rPr lang="en-IN" b="1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EE666A-EE37-E494-C6E7-6FBD8744D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836026-6879-9116-78D5-84D5C82F25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75D4B5-2FA1-C5A5-53C4-DBC6DCFEF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B75EB7-4A8A-2033-DBA9-9D9580AE20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BF195BC-B7D6-B1FB-2632-CE16394A78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13">
            <a:extLst>
              <a:ext uri="{FF2B5EF4-FFF2-40B4-BE49-F238E27FC236}">
                <a16:creationId xmlns:a16="http://schemas.microsoft.com/office/drawing/2014/main" id="{6A446A38-0A62-1123-1546-26F4F6A14796}"/>
              </a:ext>
            </a:extLst>
          </p:cNvPr>
          <p:cNvSpPr txBox="1">
            <a:spLocks/>
          </p:cNvSpPr>
          <p:nvPr/>
        </p:nvSpPr>
        <p:spPr>
          <a:xfrm>
            <a:off x="582350" y="3729839"/>
            <a:ext cx="8675950" cy="97932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b="0" i="1" dirty="0">
                <a:effectLst/>
              </a:rPr>
              <a:t>CO5: </a:t>
            </a:r>
            <a:r>
              <a:rPr lang="en-US" sz="2400" i="1" dirty="0">
                <a:effectLst/>
              </a:rPr>
              <a:t>At the end of this unit, students will be able to,</a:t>
            </a:r>
          </a:p>
          <a:p>
            <a:r>
              <a:rPr lang="en-US" sz="2400" b="0" i="1" dirty="0">
                <a:effectLst/>
              </a:rPr>
              <a:t>         </a:t>
            </a:r>
            <a:r>
              <a:rPr lang="en-US" sz="2400" i="1" dirty="0">
                <a:effectLst/>
              </a:rPr>
              <a:t>determine </a:t>
            </a:r>
            <a:r>
              <a:rPr lang="en-US" sz="2400" b="0" i="1" dirty="0">
                <a:effectLst/>
              </a:rPr>
              <a:t>population parameters for large and small samples.</a:t>
            </a:r>
          </a:p>
        </p:txBody>
      </p:sp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7"/>
            <a:ext cx="0" cy="49377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8868133" cy="5514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5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u="sng" dirty="0">
                <a:solidFill>
                  <a:srgbClr val="002060"/>
                </a:solidFill>
              </a:rPr>
              <a:t>Hypothesis Testing for Large Sample – II :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Test for Single Mean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Test for Difference between two Mean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Test for Difference between two Standard Deviation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u="sng" dirty="0">
                <a:solidFill>
                  <a:srgbClr val="002060"/>
                </a:solidFill>
              </a:rPr>
              <a:t>Hypothesis Testing for Small Sample :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t – test for single Mean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t – test for Difference between two Mean </a:t>
            </a:r>
          </a:p>
        </p:txBody>
      </p:sp>
    </p:spTree>
    <p:extLst>
      <p:ext uri="{BB962C8B-B14F-4D97-AF65-F5344CB8AC3E}">
        <p14:creationId xmlns:p14="http://schemas.microsoft.com/office/powerpoint/2010/main" val="406091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21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8308685" cy="2621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5 - Continue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F-test for Equality of Two Population Variances.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Chi – Square Test : Goodness of Fit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Chi – Square Test : Independence of Attributes</a:t>
            </a:r>
          </a:p>
        </p:txBody>
      </p:sp>
    </p:spTree>
    <p:extLst>
      <p:ext uri="{BB962C8B-B14F-4D97-AF65-F5344CB8AC3E}">
        <p14:creationId xmlns:p14="http://schemas.microsoft.com/office/powerpoint/2010/main" val="16928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DB39-2623-8D97-A7F2-0B98FDF5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EBF8-90FE-32AD-5FF1-5BAA109C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1</a:t>
            </a:r>
            <a:br>
              <a:rPr lang="en-US" dirty="0"/>
            </a:br>
            <a:r>
              <a:rPr lang="en-US" dirty="0"/>
              <a:t>Test for Single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36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6810"/>
                <a:ext cx="11929641" cy="5752214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A Test for a Single Mean is a statistical hypothesis test used to determine whether the mean of a population is equal to a specified value or not, based on information from a sample.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Idea in simple words: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A population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usually claimed or assumed.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A sample is taken from the population. The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dirty="0"/>
                  <a:t> (sometimes already given in the question) represents the sample.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We test whether the difference between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significant or just due to chance.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6810"/>
                <a:ext cx="11929641" cy="5752214"/>
              </a:xfrm>
              <a:blipFill>
                <a:blip r:embed="rId2"/>
                <a:stretch>
                  <a:fillRect l="-971" r="-1074" b="-2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5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0F36-6D77-2FCF-32B3-6DFECD42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3CA8-2233-5AC4-7ED5-8BA9B4C7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7FF19-774B-8512-4EAF-3041309166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 </a:t>
                </a:r>
                <a:r>
                  <a:rPr lang="en-US" dirty="0"/>
                  <a:t>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s</a:t>
                </a:r>
                <a:r>
                  <a:rPr lang="en-US" dirty="0"/>
                  <a:t> taken from the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determine whether a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differs significantly from a hypothesized population mean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7FF19-774B-8512-4EAF-304130916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586B9E-6CF3-EEC1-6D54-8EA503FD53F6}"/>
                  </a:ext>
                </a:extLst>
              </p:cNvPr>
              <p:cNvSpPr txBox="1"/>
              <p:nvPr/>
            </p:nvSpPr>
            <p:spPr>
              <a:xfrm>
                <a:off x="3018473" y="4122440"/>
                <a:ext cx="6155054" cy="2210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586B9E-6CF3-EEC1-6D54-8EA503FD5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473" y="4122440"/>
                <a:ext cx="6155054" cy="2210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1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Formula for Test Statistics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unknown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5753100" y="2324588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𝛔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2324588"/>
                <a:ext cx="2320290" cy="1517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5753100" y="4694408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694408"/>
                <a:ext cx="2320290" cy="15175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39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78EE-3724-A2E1-D2BE-4DBFC1B1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B102-9D4F-BC65-9804-751CA5CE0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Confidence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D64674A-0173-A026-06F4-CE972E051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803280"/>
                <a:ext cx="11928475" cy="140202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>
                        <a:rPr lang="en-I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𝐒𝐄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Critical value at level of Significance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D64674A-0173-A026-06F4-CE972E051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803280"/>
                <a:ext cx="11928475" cy="1402027"/>
              </a:xfrm>
              <a:blipFill>
                <a:blip r:embed="rId2"/>
                <a:stretch>
                  <a:fillRect b="-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38C759-2F95-0B69-2075-E1466557D13B}"/>
                  </a:ext>
                </a:extLst>
              </p:cNvPr>
              <p:cNvSpPr txBox="1"/>
              <p:nvPr/>
            </p:nvSpPr>
            <p:spPr>
              <a:xfrm>
                <a:off x="4722884" y="2809706"/>
                <a:ext cx="2676747" cy="102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f>
                        <m:f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38C759-2F95-0B69-2075-E1466557D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884" y="2809706"/>
                <a:ext cx="2676747" cy="1024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4CF3DA-181C-30FB-796D-A0563E7F38B6}"/>
                  </a:ext>
                </a:extLst>
              </p:cNvPr>
              <p:cNvSpPr txBox="1"/>
              <p:nvPr/>
            </p:nvSpPr>
            <p:spPr>
              <a:xfrm>
                <a:off x="4749209" y="5044888"/>
                <a:ext cx="2676747" cy="102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f>
                        <m:f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4CF3DA-181C-30FB-796D-A0563E7F3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209" y="5044888"/>
                <a:ext cx="2676747" cy="10245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3380CD-FA01-8389-4C70-0824AAA1EF9A}"/>
              </a:ext>
            </a:extLst>
          </p:cNvPr>
          <p:cNvSpPr txBox="1">
            <a:spLocks/>
          </p:cNvSpPr>
          <p:nvPr/>
        </p:nvSpPr>
        <p:spPr>
          <a:xfrm>
            <a:off x="97021" y="2068906"/>
            <a:ext cx="11928475" cy="821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If population SD is known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C55AD46-8A2C-AAB5-ADBB-C3438B354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495" y="4048294"/>
                <a:ext cx="11928475" cy="8210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If population SD is unknown then, we can estimate using sample SD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1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C55AD46-8A2C-AAB5-ADBB-C3438B354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5" y="4048294"/>
                <a:ext cx="11928475" cy="821013"/>
              </a:xfrm>
              <a:prstGeom prst="rect">
                <a:avLst/>
              </a:prstGeom>
              <a:blipFill>
                <a:blip r:embed="rId5"/>
                <a:stretch>
                  <a:fillRect l="-920" b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81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90547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be the length of a life of certain computer is approximately normally distributed with mean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and standard deviation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days. If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computers have an average life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788</m:t>
                    </m:r>
                  </m:oMath>
                </a14:m>
                <a:r>
                  <a:rPr lang="en-US" dirty="0"/>
                  <a:t> days, test the null hypothesis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5 %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 level of significance.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=1.96  ;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58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90547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6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52EF-4E05-782D-66E4-77CD50AC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C036-176C-1415-7E96-F32AD364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1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191E093-2B42-599E-E2A6-74AA0686E7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A company claims that the average life of their computers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days.</a:t>
                </a:r>
              </a:p>
              <a:p>
                <a:r>
                  <a:rPr lang="en-US" dirty="0"/>
                  <a:t>We take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computers and calculate their average life, which comes out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788</m:t>
                    </m:r>
                  </m:oMath>
                </a14:m>
                <a:r>
                  <a:rPr lang="en-US" dirty="0"/>
                  <a:t> days.</a:t>
                </a:r>
              </a:p>
              <a:p>
                <a:r>
                  <a:rPr lang="en-US" dirty="0"/>
                  <a:t>Now we want to check:</a:t>
                </a:r>
              </a:p>
              <a:p>
                <a:pPr lvl="1"/>
                <a:r>
                  <a:rPr lang="en-US" dirty="0"/>
                  <a:t>Is the difference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(claimed mean)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788</m:t>
                    </m:r>
                  </m:oMath>
                </a14:m>
                <a:r>
                  <a:rPr lang="en-US" dirty="0"/>
                  <a:t> days (sample mean) just due to random variation, or</a:t>
                </a:r>
              </a:p>
              <a:p>
                <a:pPr lvl="1"/>
                <a:r>
                  <a:rPr lang="en-US" dirty="0"/>
                  <a:t>Is the true average life actually different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191E093-2B42-599E-E2A6-74AA0686E7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93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98DE-81EA-D7A7-FF23-D42F27B9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47FD-000B-473D-B796-C4C3598A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1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975CEC-102F-FA85-FD93-D5461020A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true average life of computers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≠800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true average life is different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975CEC-102F-FA85-FD93-D5461020A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36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3278-4333-325F-F4D5-35164A6F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634A339-961D-50D0-5F51-65B02F8F3B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86987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be the length of a life of certain computer is approximately normally distributed with mean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and standard deviation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days. If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computers have an average life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788</m:t>
                    </m:r>
                  </m:oMath>
                </a14:m>
                <a:r>
                  <a:rPr lang="en-US" dirty="0"/>
                  <a:t> days, test the null hypothesis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5 %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 level of significance.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=1.96  ;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58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634A339-961D-50D0-5F51-65B02F8F3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869875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6F9C40D-E307-2B31-9A5F-63DEC929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9A8267-1E85-68CE-6674-E30EAB99DD7A}"/>
              </a:ext>
            </a:extLst>
          </p:cNvPr>
          <p:cNvSpPr/>
          <p:nvPr/>
        </p:nvSpPr>
        <p:spPr>
          <a:xfrm>
            <a:off x="131177" y="383854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6A5CF3-1A8A-8BCD-462F-521BAA4DC2D8}"/>
                  </a:ext>
                </a:extLst>
              </p:cNvPr>
              <p:cNvSpPr/>
              <p:nvPr/>
            </p:nvSpPr>
            <p:spPr>
              <a:xfrm>
                <a:off x="1794539" y="3892103"/>
                <a:ext cx="31064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days,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6A5CF3-1A8A-8BCD-462F-521BAA4DC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39" y="3892103"/>
                <a:ext cx="3106423" cy="523220"/>
              </a:xfrm>
              <a:prstGeom prst="rect">
                <a:avLst/>
              </a:prstGeom>
              <a:blipFill>
                <a:blip r:embed="rId3"/>
                <a:stretch>
                  <a:fillRect l="-3922" t="-10465" r="-98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C99205-B05B-2674-5A1E-0FB03E624370}"/>
                  </a:ext>
                </a:extLst>
              </p:cNvPr>
              <p:cNvSpPr/>
              <p:nvPr/>
            </p:nvSpPr>
            <p:spPr>
              <a:xfrm>
                <a:off x="4807052" y="3896832"/>
                <a:ext cx="21189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days,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C99205-B05B-2674-5A1E-0FB03E6243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52" y="3896832"/>
                <a:ext cx="2118998" cy="523220"/>
              </a:xfrm>
              <a:prstGeom prst="rect">
                <a:avLst/>
              </a:prstGeom>
              <a:blipFill>
                <a:blip r:embed="rId4"/>
                <a:stretch>
                  <a:fillRect t="-10465" r="-5764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3458D0-4AF3-3DC8-EE74-C5D57B5EBCAA}"/>
                  </a:ext>
                </a:extLst>
              </p:cNvPr>
              <p:cNvSpPr/>
              <p:nvPr/>
            </p:nvSpPr>
            <p:spPr>
              <a:xfrm>
                <a:off x="6828121" y="3896832"/>
                <a:ext cx="13919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3458D0-4AF3-3DC8-EE74-C5D57B5EB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21" y="3896832"/>
                <a:ext cx="13919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B5D4CCF-B028-4ECF-C25C-C798A4DB61D8}"/>
                  </a:ext>
                </a:extLst>
              </p:cNvPr>
              <p:cNvSpPr/>
              <p:nvPr/>
            </p:nvSpPr>
            <p:spPr>
              <a:xfrm>
                <a:off x="8040564" y="3896832"/>
                <a:ext cx="26132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=788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B5D4CCF-B028-4ECF-C25C-C798A4DB6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564" y="3896832"/>
                <a:ext cx="2613259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CFB861-3827-37E7-3472-7E17C8CDE316}"/>
              </a:ext>
            </a:extLst>
          </p:cNvPr>
          <p:cNvCxnSpPr>
            <a:cxnSpLocks/>
          </p:cNvCxnSpPr>
          <p:nvPr/>
        </p:nvCxnSpPr>
        <p:spPr>
          <a:xfrm>
            <a:off x="2608577" y="1965960"/>
            <a:ext cx="239776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ECFA59-9107-90D6-3BD2-076F4C4E5DB8}"/>
              </a:ext>
            </a:extLst>
          </p:cNvPr>
          <p:cNvCxnSpPr>
            <a:cxnSpLocks/>
          </p:cNvCxnSpPr>
          <p:nvPr/>
        </p:nvCxnSpPr>
        <p:spPr>
          <a:xfrm>
            <a:off x="5877557" y="1965960"/>
            <a:ext cx="4149647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8FEA48-7168-531C-5E50-7C8BE1FFEBD3}"/>
              </a:ext>
            </a:extLst>
          </p:cNvPr>
          <p:cNvCxnSpPr>
            <a:cxnSpLocks/>
          </p:cNvCxnSpPr>
          <p:nvPr/>
        </p:nvCxnSpPr>
        <p:spPr>
          <a:xfrm>
            <a:off x="210814" y="2495550"/>
            <a:ext cx="351536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7291B7-072D-9BF0-EBD2-79781BB0AA4A}"/>
              </a:ext>
            </a:extLst>
          </p:cNvPr>
          <p:cNvCxnSpPr>
            <a:cxnSpLocks/>
          </p:cNvCxnSpPr>
          <p:nvPr/>
        </p:nvCxnSpPr>
        <p:spPr>
          <a:xfrm>
            <a:off x="5066027" y="2495550"/>
            <a:ext cx="343789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A79EBC-3AF8-50E6-7833-8BEE0AECD581}"/>
              </a:ext>
            </a:extLst>
          </p:cNvPr>
          <p:cNvCxnSpPr>
            <a:cxnSpLocks/>
          </p:cNvCxnSpPr>
          <p:nvPr/>
        </p:nvCxnSpPr>
        <p:spPr>
          <a:xfrm>
            <a:off x="877564" y="3021330"/>
            <a:ext cx="199136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D5C97D-BC0C-5DE4-3AA0-21C63A9B070F}"/>
                  </a:ext>
                </a:extLst>
              </p:cNvPr>
              <p:cNvSpPr/>
              <p:nvPr/>
            </p:nvSpPr>
            <p:spPr>
              <a:xfrm>
                <a:off x="1794539" y="465039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D5C97D-BC0C-5DE4-3AA0-21C63A9B0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39" y="4650393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045758F-3986-FC44-9686-42C6BD929016}"/>
                  </a:ext>
                </a:extLst>
              </p:cNvPr>
              <p:cNvSpPr/>
              <p:nvPr/>
            </p:nvSpPr>
            <p:spPr>
              <a:xfrm>
                <a:off x="2580087" y="4648756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045758F-3986-FC44-9686-42C6BD929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87" y="4648756"/>
                <a:ext cx="2346243" cy="523220"/>
              </a:xfrm>
              <a:prstGeom prst="rect">
                <a:avLst/>
              </a:prstGeom>
              <a:blipFill>
                <a:blip r:embed="rId8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E990244-D8ED-F34D-006C-24C5F821EF74}"/>
                  </a:ext>
                </a:extLst>
              </p:cNvPr>
              <p:cNvSpPr/>
              <p:nvPr/>
            </p:nvSpPr>
            <p:spPr>
              <a:xfrm>
                <a:off x="1805969" y="535915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E990244-D8ED-F34D-006C-24C5F821EF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69" y="5359157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A4AAF65-8F66-E6B4-1FE9-E30858CBA9FF}"/>
                  </a:ext>
                </a:extLst>
              </p:cNvPr>
              <p:cNvSpPr/>
              <p:nvPr/>
            </p:nvSpPr>
            <p:spPr>
              <a:xfrm>
                <a:off x="2591517" y="5357520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A4AAF65-8F66-E6B4-1FE9-E30858CBA9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17" y="5357520"/>
                <a:ext cx="2346243" cy="523220"/>
              </a:xfrm>
              <a:prstGeom prst="rect">
                <a:avLst/>
              </a:prstGeom>
              <a:blipFill>
                <a:blip r:embed="rId10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FE1FC3-C5F2-B236-5D42-24E931FDE1F3}"/>
                  </a:ext>
                </a:extLst>
              </p:cNvPr>
              <p:cNvSpPr/>
              <p:nvPr/>
            </p:nvSpPr>
            <p:spPr>
              <a:xfrm>
                <a:off x="1805969" y="6054854"/>
                <a:ext cx="35089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  &amp;  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FE1FC3-C5F2-B236-5D42-24E931FDE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69" y="6054854"/>
                <a:ext cx="350898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59F8D1-D710-5749-3351-A21C47E1A192}"/>
              </a:ext>
            </a:extLst>
          </p:cNvPr>
          <p:cNvCxnSpPr>
            <a:cxnSpLocks/>
          </p:cNvCxnSpPr>
          <p:nvPr/>
        </p:nvCxnSpPr>
        <p:spPr>
          <a:xfrm>
            <a:off x="3289294" y="3021330"/>
            <a:ext cx="199136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5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25" grpId="0"/>
      <p:bldP spid="26" grpId="0"/>
      <p:bldP spid="27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89895" y="108519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1085195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312475-E688-6084-B680-339D0F25FABB}"/>
                  </a:ext>
                </a:extLst>
              </p:cNvPr>
              <p:cNvSpPr txBox="1"/>
              <p:nvPr/>
            </p:nvSpPr>
            <p:spPr>
              <a:xfrm>
                <a:off x="1063328" y="87945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312475-E688-6084-B680-339D0F25F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879455"/>
                <a:ext cx="2320290" cy="1517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8873DC7-CD45-6969-942A-A2059FDDF2F5}"/>
              </a:ext>
            </a:extLst>
          </p:cNvPr>
          <p:cNvGrpSpPr/>
          <p:nvPr/>
        </p:nvGrpSpPr>
        <p:grpSpPr>
          <a:xfrm>
            <a:off x="9629508" y="879455"/>
            <a:ext cx="2372597" cy="2458851"/>
            <a:chOff x="9703066" y="695829"/>
            <a:chExt cx="2372597" cy="2458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5488848-7613-F211-B9F6-1714F89B8EA5}"/>
                    </a:ext>
                  </a:extLst>
                </p:cNvPr>
                <p:cNvSpPr/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5488848-7613-F211-B9F6-1714F89B8E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  <a:blipFill>
                  <a:blip r:embed="rId10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C18EC7F-D29C-9729-B2A2-39E8F1B03153}"/>
                    </a:ext>
                  </a:extLst>
                </p:cNvPr>
                <p:cNvSpPr/>
                <p:nvPr/>
              </p:nvSpPr>
              <p:spPr>
                <a:xfrm>
                  <a:off x="9729419" y="198624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C18EC7F-D29C-9729-B2A2-39E8F1B031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19" y="1986249"/>
                  <a:ext cx="2346243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C26F570-F4B3-5330-C4ED-CEA06C06A7D1}"/>
                    </a:ext>
                  </a:extLst>
                </p:cNvPr>
                <p:cNvSpPr/>
                <p:nvPr/>
              </p:nvSpPr>
              <p:spPr>
                <a:xfrm>
                  <a:off x="9729419" y="134103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C26F570-F4B3-5330-C4ED-CEA06C06A7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19" y="1341039"/>
                  <a:ext cx="2346243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96EEDDA-19F9-DD76-44E5-69C7F256221B}"/>
                    </a:ext>
                  </a:extLst>
                </p:cNvPr>
                <p:cNvSpPr/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=788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96EEDDA-19F9-DD76-44E5-69C7F25622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2791" r="-2857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1508761" y="2893070"/>
                <a:ext cx="2320290" cy="1596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30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1" y="2893070"/>
                <a:ext cx="2320290" cy="15967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F59B9F-8A1F-267E-5149-9E7B47A9FC8C}"/>
                  </a:ext>
                </a:extLst>
              </p:cNvPr>
              <p:cNvSpPr txBox="1"/>
              <p:nvPr/>
            </p:nvSpPr>
            <p:spPr>
              <a:xfrm>
                <a:off x="1302400" y="5204619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−1.6432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F59B9F-8A1F-267E-5149-9E7B47A9F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00" y="5204619"/>
                <a:ext cx="232029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95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806D-AC47-3FB6-D6BE-1D278FBC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6DEF-F8CE-2DC9-A61B-7E27E9D0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1(Continue)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83976-C268-35EC-57DC-197EFD669E92}"/>
              </a:ext>
            </a:extLst>
          </p:cNvPr>
          <p:cNvSpPr/>
          <p:nvPr/>
        </p:nvSpPr>
        <p:spPr>
          <a:xfrm>
            <a:off x="161355" y="163419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684974-C843-2A97-979E-633D7108FCD4}"/>
                  </a:ext>
                </a:extLst>
              </p:cNvPr>
              <p:cNvSpPr txBox="1"/>
              <p:nvPr/>
            </p:nvSpPr>
            <p:spPr>
              <a:xfrm>
                <a:off x="2560338" y="2297115"/>
                <a:ext cx="32164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1.6432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684974-C843-2A97-979E-633D7108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38" y="2297115"/>
                <a:ext cx="3216458" cy="523220"/>
              </a:xfrm>
              <a:prstGeom prst="rect">
                <a:avLst/>
              </a:prstGeom>
              <a:blipFill>
                <a:blip r:embed="rId3"/>
                <a:stretch>
                  <a:fillRect l="-378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602F82-0DB1-79BD-DBB8-1B6B37A1F2F8}"/>
                  </a:ext>
                </a:extLst>
              </p:cNvPr>
              <p:cNvSpPr txBox="1"/>
              <p:nvPr/>
            </p:nvSpPr>
            <p:spPr>
              <a:xfrm>
                <a:off x="5575632" y="2157977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602F82-0DB1-79BD-DBB8-1B6B37A1F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32" y="2157977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771830-DA24-E631-0B12-708148F514A6}"/>
                  </a:ext>
                </a:extLst>
              </p:cNvPr>
              <p:cNvSpPr txBox="1"/>
              <p:nvPr/>
            </p:nvSpPr>
            <p:spPr>
              <a:xfrm>
                <a:off x="5948974" y="2294637"/>
                <a:ext cx="27150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771830-DA24-E631-0B12-708148F51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974" y="2294637"/>
                <a:ext cx="27150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8D5059-595A-50D4-7A12-9D85154620A4}"/>
                  </a:ext>
                </a:extLst>
              </p:cNvPr>
              <p:cNvSpPr txBox="1"/>
              <p:nvPr/>
            </p:nvSpPr>
            <p:spPr>
              <a:xfrm>
                <a:off x="2560338" y="3020926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8D5059-595A-50D4-7A12-9D8515462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38" y="3020926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3DBCA5-3FA9-0C6D-E903-575BFC41D69F}"/>
                  </a:ext>
                </a:extLst>
              </p:cNvPr>
              <p:cNvSpPr txBox="1"/>
              <p:nvPr/>
            </p:nvSpPr>
            <p:spPr>
              <a:xfrm>
                <a:off x="2560338" y="3762850"/>
                <a:ext cx="9546583" cy="16620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between the sample mean life and the hypothesized mean life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3DBCA5-3FA9-0C6D-E903-575BFC41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38" y="3762850"/>
                <a:ext cx="9546583" cy="1662058"/>
              </a:xfrm>
              <a:prstGeom prst="rect">
                <a:avLst/>
              </a:prstGeom>
              <a:blipFill>
                <a:blip r:embed="rId7"/>
                <a:stretch>
                  <a:fillRect l="-1277" r="-1341"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7D9260-4CB7-F7AC-B661-C8E27A4CA12A}"/>
                  </a:ext>
                </a:extLst>
              </p:cNvPr>
              <p:cNvSpPr txBox="1"/>
              <p:nvPr/>
            </p:nvSpPr>
            <p:spPr>
              <a:xfrm>
                <a:off x="275389" y="2288573"/>
                <a:ext cx="2127469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7D9260-4CB7-F7AC-B661-C8E27A4CA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89" y="2288573"/>
                <a:ext cx="2127469" cy="523220"/>
              </a:xfrm>
              <a:prstGeom prst="rect">
                <a:avLst/>
              </a:prstGeom>
              <a:blipFill>
                <a:blip r:embed="rId8"/>
                <a:stretch>
                  <a:fillRect l="-573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319DF34-A47F-867C-5DE0-80D53A803133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303997-CEE2-11A8-6FE1-EE891C4D5749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303997-CEE2-11A8-6FE1-EE891C4D5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CFE94B3-D08C-7A9B-A403-DB7AEFE44712}"/>
              </a:ext>
            </a:extLst>
          </p:cNvPr>
          <p:cNvGrpSpPr/>
          <p:nvPr/>
        </p:nvGrpSpPr>
        <p:grpSpPr>
          <a:xfrm>
            <a:off x="8579910" y="911086"/>
            <a:ext cx="3527011" cy="2270161"/>
            <a:chOff x="5659775" y="3429000"/>
            <a:chExt cx="3527011" cy="227016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9263D5E-2DF9-8EBA-7B27-2F1F73E73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D5E5C9-CCA9-80E1-ECB1-924552B97B38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26A1BD3-7A30-47CE-45D7-E312CAAAFA65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46EECF-DA29-FBD3-A61D-6C3A28FA260B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C3FCA0A-DC1C-48AF-1D24-ACDC19C25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3DB9143-95E6-0015-1C84-39DFAEE58786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6ED31E-FD4B-2AD1-E082-B4D4561CF37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AD389F1-B010-6CFF-F12F-1E2CA3BD4656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BACDD24-C117-A64E-69AB-E6EC8930DE17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113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 animBg="1"/>
      <p:bldP spid="3" grpId="0" animBg="1"/>
      <p:bldP spid="4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D764-E6F6-1131-44A8-79312EC2C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938E-557E-37BC-4AAD-BA4EBC38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1(Continue)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B768C8-69DB-FC4B-1164-DADCB2B0F2C2}"/>
              </a:ext>
            </a:extLst>
          </p:cNvPr>
          <p:cNvSpPr/>
          <p:nvPr/>
        </p:nvSpPr>
        <p:spPr>
          <a:xfrm>
            <a:off x="127194" y="150565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BC77D3-BFDD-85EA-79D4-684484AB01C2}"/>
                  </a:ext>
                </a:extLst>
              </p:cNvPr>
              <p:cNvSpPr txBox="1"/>
              <p:nvPr/>
            </p:nvSpPr>
            <p:spPr>
              <a:xfrm>
                <a:off x="2522869" y="2286993"/>
                <a:ext cx="34413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1.6432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BC77D3-BFDD-85EA-79D4-684484AB0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869" y="2286993"/>
                <a:ext cx="3441377" cy="523220"/>
              </a:xfrm>
              <a:prstGeom prst="rect">
                <a:avLst/>
              </a:prstGeom>
              <a:blipFill>
                <a:blip r:embed="rId3"/>
                <a:stretch>
                  <a:fillRect l="-372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567B76-E93C-F223-FBD0-418187C6DA4B}"/>
                  </a:ext>
                </a:extLst>
              </p:cNvPr>
              <p:cNvSpPr txBox="1"/>
              <p:nvPr/>
            </p:nvSpPr>
            <p:spPr>
              <a:xfrm>
                <a:off x="5553750" y="2126332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567B76-E93C-F223-FBD0-418187C6D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50" y="2126332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37410E-5D31-9BC4-6AA9-556D5B44F7B3}"/>
                  </a:ext>
                </a:extLst>
              </p:cNvPr>
              <p:cNvSpPr txBox="1"/>
              <p:nvPr/>
            </p:nvSpPr>
            <p:spPr>
              <a:xfrm>
                <a:off x="6021001" y="2286993"/>
                <a:ext cx="25330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37410E-5D31-9BC4-6AA9-556D5B44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001" y="2286993"/>
                <a:ext cx="253300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42579B-C93E-86FA-F13E-399865ED5FE1}"/>
                  </a:ext>
                </a:extLst>
              </p:cNvPr>
              <p:cNvSpPr txBox="1"/>
              <p:nvPr/>
            </p:nvSpPr>
            <p:spPr>
              <a:xfrm>
                <a:off x="2473436" y="3115200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42579B-C93E-86FA-F13E-399865ED5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436" y="3115200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7C48D7-D545-3A44-A4E8-09D6659CBE8F}"/>
                  </a:ext>
                </a:extLst>
              </p:cNvPr>
              <p:cNvSpPr txBox="1"/>
              <p:nvPr/>
            </p:nvSpPr>
            <p:spPr>
              <a:xfrm>
                <a:off x="2522869" y="3994055"/>
                <a:ext cx="9555716" cy="16620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between the sample mean life and the hypothesized mean life of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7C48D7-D545-3A44-A4E8-09D6659CB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869" y="3994055"/>
                <a:ext cx="9555716" cy="1662058"/>
              </a:xfrm>
              <a:prstGeom prst="rect">
                <a:avLst/>
              </a:prstGeom>
              <a:blipFill>
                <a:blip r:embed="rId7"/>
                <a:stretch>
                  <a:fillRect l="-1340" r="-1340"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85B4A2-E624-2849-5BA9-96B74271FD0E}"/>
                  </a:ext>
                </a:extLst>
              </p:cNvPr>
              <p:cNvSpPr txBox="1"/>
              <p:nvPr/>
            </p:nvSpPr>
            <p:spPr>
              <a:xfrm>
                <a:off x="218938" y="2272971"/>
                <a:ext cx="2254498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85B4A2-E624-2849-5BA9-96B74271F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38" y="2272971"/>
                <a:ext cx="2254498" cy="523220"/>
              </a:xfrm>
              <a:prstGeom prst="rect">
                <a:avLst/>
              </a:prstGeom>
              <a:blipFill>
                <a:blip r:embed="rId8"/>
                <a:stretch>
                  <a:fillRect l="-216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5275010-C5BD-41FF-0EBA-EF6A921D3D74}"/>
              </a:ext>
            </a:extLst>
          </p:cNvPr>
          <p:cNvSpPr/>
          <p:nvPr/>
        </p:nvSpPr>
        <p:spPr>
          <a:xfrm>
            <a:off x="127194" y="84681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DBAA54-3C89-CB2A-5D34-D64F449AD0B2}"/>
                  </a:ext>
                </a:extLst>
              </p:cNvPr>
              <p:cNvSpPr txBox="1"/>
              <p:nvPr/>
            </p:nvSpPr>
            <p:spPr>
              <a:xfrm>
                <a:off x="2237658" y="84681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DBAA54-3C89-CB2A-5D34-D64F449AD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658" y="846816"/>
                <a:ext cx="26974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165060C-8B96-7E53-EE49-52F96B29CD7F}"/>
              </a:ext>
            </a:extLst>
          </p:cNvPr>
          <p:cNvGrpSpPr/>
          <p:nvPr/>
        </p:nvGrpSpPr>
        <p:grpSpPr>
          <a:xfrm>
            <a:off x="8579910" y="911086"/>
            <a:ext cx="3527011" cy="2270161"/>
            <a:chOff x="5659775" y="3429000"/>
            <a:chExt cx="3527011" cy="227016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345E5F0-599D-820F-3AED-609BD9B2BF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48AAC1B-0A63-B8F3-98DE-2EB9338DAD53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7D3247-5CA2-29C8-54D6-D5A991CF1F0F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DBBB163-0CB4-A1D5-8A95-52E984EAD40F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BDCFB9E-B8AA-4AC7-CCF1-6E9E4D6F0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9E17B1-64B4-A748-0DD8-32D743016F51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C9F9D63-CFDD-33CC-B889-F44068E1ED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D4A585C-54E4-7B3F-F0B4-B76A9F44A522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−2.58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D4A585C-54E4-7B3F-F0B4-B76A9F44A5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47AA90F-5833-A632-5551-27FE0D240F12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2.58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47AA90F-5833-A632-5551-27FE0D240F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0814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5" grpId="0"/>
      <p:bldP spid="16" grpId="0"/>
      <p:bldP spid="23" grpId="0" animBg="1"/>
      <p:bldP spid="4" grpId="0" animBg="1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4DEF-7047-CE18-F4E2-5F328877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1BF400-1E94-12CC-2AFF-371CB5753E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29996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 mean IQ of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children was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dirty="0"/>
                  <a:t>. Is it likely that this was a random sample from a population with mean IQ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and SD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1BF400-1E94-12CC-2AFF-371CB5753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299963"/>
              </a:xfrm>
              <a:prstGeom prst="rect">
                <a:avLst/>
              </a:prstGeom>
              <a:blipFill>
                <a:blip r:embed="rId2"/>
                <a:stretch>
                  <a:fillRect l="-1074" r="-1074" b="-61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0A0CA45-9F39-5704-2485-2C87C55A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4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7F222B-DE2B-6B42-551A-11A6E1158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2326921"/>
                <a:ext cx="11929641" cy="4127088"/>
              </a:xfrm>
            </p:spPr>
            <p:txBody>
              <a:bodyPr/>
              <a:lstStyle/>
              <a:p>
                <a:r>
                  <a:rPr lang="en-US" dirty="0"/>
                  <a:t>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children is taken and their average IQ is found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It is already known (or believed) that in the whole population of children,</a:t>
                </a:r>
              </a:p>
              <a:p>
                <a:pPr lvl="1"/>
                <a:r>
                  <a:rPr lang="en-US" dirty="0"/>
                  <a:t>Mean IQ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and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question asks whether the observed difference between the sample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99</m:t>
                        </m:r>
                      </m:e>
                    </m:d>
                  </m:oMath>
                </a14:m>
                <a:r>
                  <a:rPr lang="en-US" dirty="0"/>
                  <a:t> and the assumed population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 dirty="0"/>
                  <a:t> is due to sampling fluctuation or indicates that the population mean IQ is different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7F222B-DE2B-6B42-551A-11A6E1158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326921"/>
                <a:ext cx="11929641" cy="4127088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05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69CE-E398-94B9-6285-0EBBF483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F19AC3-D947-A810-3328-488FB42A87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2765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 mean IQ of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children was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lang="en-US" dirty="0"/>
                  <a:t>. Is it likely that this was a random sample from a population with mean IQ 100 and SD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F19AC3-D947-A810-3328-488FB42A8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276577"/>
              </a:xfrm>
              <a:prstGeom prst="rect">
                <a:avLst/>
              </a:prstGeom>
              <a:blipFill>
                <a:blip r:embed="rId2"/>
                <a:stretch>
                  <a:fillRect l="-1074" r="-1074" b="-71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47AB05C-C808-D403-B91F-890C6DC7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4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968D7B-77E2-0836-FCE0-B5DF0AEBA126}"/>
              </a:ext>
            </a:extLst>
          </p:cNvPr>
          <p:cNvCxnSpPr>
            <a:cxnSpLocks/>
          </p:cNvCxnSpPr>
          <p:nvPr/>
        </p:nvCxnSpPr>
        <p:spPr>
          <a:xfrm>
            <a:off x="2753357" y="1539687"/>
            <a:ext cx="219583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6D623F-DCDC-C0F5-2F77-F87AB59C8305}"/>
              </a:ext>
            </a:extLst>
          </p:cNvPr>
          <p:cNvCxnSpPr>
            <a:cxnSpLocks/>
          </p:cNvCxnSpPr>
          <p:nvPr/>
        </p:nvCxnSpPr>
        <p:spPr>
          <a:xfrm flipV="1">
            <a:off x="809620" y="1522622"/>
            <a:ext cx="1270640" cy="13255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8BBCA9-FA34-50CF-B2C4-AE9FE47455D5}"/>
              </a:ext>
            </a:extLst>
          </p:cNvPr>
          <p:cNvCxnSpPr>
            <a:cxnSpLocks/>
          </p:cNvCxnSpPr>
          <p:nvPr/>
        </p:nvCxnSpPr>
        <p:spPr>
          <a:xfrm>
            <a:off x="6167118" y="1534052"/>
            <a:ext cx="104775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546F2C-8B3E-1CC7-2C80-13E74EF09D9F}"/>
              </a:ext>
            </a:extLst>
          </p:cNvPr>
          <p:cNvCxnSpPr>
            <a:cxnSpLocks/>
          </p:cNvCxnSpPr>
          <p:nvPr/>
        </p:nvCxnSpPr>
        <p:spPr>
          <a:xfrm>
            <a:off x="2341242" y="2075627"/>
            <a:ext cx="3970658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D1A9A9-207B-2321-056A-ED0B361FC7A7}"/>
              </a:ext>
            </a:extLst>
          </p:cNvPr>
          <p:cNvCxnSpPr>
            <a:cxnSpLocks/>
          </p:cNvCxnSpPr>
          <p:nvPr/>
        </p:nvCxnSpPr>
        <p:spPr>
          <a:xfrm>
            <a:off x="6863901" y="2075627"/>
            <a:ext cx="104775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FCC97A-2C64-517A-C928-14EBEC24ADA3}"/>
              </a:ext>
            </a:extLst>
          </p:cNvPr>
          <p:cNvCxnSpPr>
            <a:cxnSpLocks/>
          </p:cNvCxnSpPr>
          <p:nvPr/>
        </p:nvCxnSpPr>
        <p:spPr>
          <a:xfrm>
            <a:off x="8265332" y="2075627"/>
            <a:ext cx="199136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9FBFB-7E80-1046-2A9C-BAF6F5DA7582}"/>
              </a:ext>
            </a:extLst>
          </p:cNvPr>
          <p:cNvSpPr/>
          <p:nvPr/>
        </p:nvSpPr>
        <p:spPr>
          <a:xfrm>
            <a:off x="131177" y="22007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35C58F0-381D-DE18-F8F9-08051BE43093}"/>
                  </a:ext>
                </a:extLst>
              </p:cNvPr>
              <p:cNvSpPr/>
              <p:nvPr/>
            </p:nvSpPr>
            <p:spPr>
              <a:xfrm>
                <a:off x="1819907" y="2259030"/>
                <a:ext cx="25784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35C58F0-381D-DE18-F8F9-08051BE43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07" y="2259030"/>
                <a:ext cx="2578473" cy="523220"/>
              </a:xfrm>
              <a:prstGeom prst="rect">
                <a:avLst/>
              </a:prstGeom>
              <a:blipFill>
                <a:blip r:embed="rId3"/>
                <a:stretch>
                  <a:fillRect l="-4965" t="-11765" r="-1418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CAB1F7-7277-5B8B-9C8A-0CFD8264C8B2}"/>
                  </a:ext>
                </a:extLst>
              </p:cNvPr>
              <p:cNvSpPr/>
              <p:nvPr/>
            </p:nvSpPr>
            <p:spPr>
              <a:xfrm>
                <a:off x="4326571" y="2259030"/>
                <a:ext cx="14931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CAB1F7-7277-5B8B-9C8A-0CFD8264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571" y="2259030"/>
                <a:ext cx="1493119" cy="523220"/>
              </a:xfrm>
              <a:prstGeom prst="rect">
                <a:avLst/>
              </a:prstGeom>
              <a:blipFill>
                <a:blip r:embed="rId4"/>
                <a:stretch>
                  <a:fillRect t="-11765" r="-4082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DF878DD-16B3-646D-6F3F-6450E879A20B}"/>
                  </a:ext>
                </a:extLst>
              </p:cNvPr>
              <p:cNvSpPr/>
              <p:nvPr/>
            </p:nvSpPr>
            <p:spPr>
              <a:xfrm>
                <a:off x="5823511" y="2200743"/>
                <a:ext cx="16213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DF878DD-16B3-646D-6F3F-6450E879A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511" y="2200743"/>
                <a:ext cx="162139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8699E41-7DC0-7D96-B1AF-928732722AEA}"/>
                  </a:ext>
                </a:extLst>
              </p:cNvPr>
              <p:cNvSpPr/>
              <p:nvPr/>
            </p:nvSpPr>
            <p:spPr>
              <a:xfrm>
                <a:off x="7434603" y="2200743"/>
                <a:ext cx="13390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8699E41-7DC0-7D96-B1AF-928732722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603" y="2200743"/>
                <a:ext cx="133900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5AA245C-405F-8E2E-48BC-187DBC060311}"/>
                  </a:ext>
                </a:extLst>
              </p:cNvPr>
              <p:cNvSpPr/>
              <p:nvPr/>
            </p:nvSpPr>
            <p:spPr>
              <a:xfrm>
                <a:off x="1794539" y="301259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5AA245C-405F-8E2E-48BC-187DBC060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39" y="3012591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E78052B-6253-A96E-D33F-AB65174AD20D}"/>
                  </a:ext>
                </a:extLst>
              </p:cNvPr>
              <p:cNvSpPr/>
              <p:nvPr/>
            </p:nvSpPr>
            <p:spPr>
              <a:xfrm>
                <a:off x="2580087" y="3010954"/>
                <a:ext cx="15028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E78052B-6253-A96E-D33F-AB65174AD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87" y="3010954"/>
                <a:ext cx="150282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B3848DC-476D-D69B-6381-6E446328961B}"/>
                  </a:ext>
                </a:extLst>
              </p:cNvPr>
              <p:cNvSpPr/>
              <p:nvPr/>
            </p:nvSpPr>
            <p:spPr>
              <a:xfrm>
                <a:off x="1805969" y="372135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B3848DC-476D-D69B-6381-6E4463289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69" y="3721355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00CB337-5CC8-9B12-DC6E-FDB019BB488B}"/>
                  </a:ext>
                </a:extLst>
              </p:cNvPr>
              <p:cNvSpPr/>
              <p:nvPr/>
            </p:nvSpPr>
            <p:spPr>
              <a:xfrm>
                <a:off x="2591517" y="3719718"/>
                <a:ext cx="14913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00CB337-5CC8-9B12-DC6E-FDB019BB4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17" y="3719718"/>
                <a:ext cx="149139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212B80A-3932-C778-09C4-41B4CD869D5F}"/>
                  </a:ext>
                </a:extLst>
              </p:cNvPr>
              <p:cNvSpPr/>
              <p:nvPr/>
            </p:nvSpPr>
            <p:spPr>
              <a:xfrm>
                <a:off x="1805970" y="4417052"/>
                <a:ext cx="32761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=5%=0.05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212B80A-3932-C778-09C4-41B4CD869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70" y="4417052"/>
                <a:ext cx="327617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9F69AA1-4B05-331B-279A-0F8D64BBD784}"/>
                  </a:ext>
                </a:extLst>
              </p:cNvPr>
              <p:cNvSpPr/>
              <p:nvPr/>
            </p:nvSpPr>
            <p:spPr>
              <a:xfrm>
                <a:off x="1778665" y="5209881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9F69AA1-4B05-331B-279A-0F8D64BBD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65" y="5209881"/>
                <a:ext cx="1318866" cy="523220"/>
              </a:xfrm>
              <a:prstGeom prst="rect">
                <a:avLst/>
              </a:prstGeom>
              <a:blipFill>
                <a:blip r:embed="rId1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0769C55-3B2D-991F-4893-429D5B23C0FF}"/>
                  </a:ext>
                </a:extLst>
              </p:cNvPr>
              <p:cNvSpPr txBox="1"/>
              <p:nvPr/>
            </p:nvSpPr>
            <p:spPr>
              <a:xfrm>
                <a:off x="2652098" y="5004141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0769C55-3B2D-991F-4893-429D5B23C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098" y="5004141"/>
                <a:ext cx="2320290" cy="15175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5E7DD0-B016-656E-48E9-07B3234AC1A0}"/>
                  </a:ext>
                </a:extLst>
              </p:cNvPr>
              <p:cNvSpPr txBox="1"/>
              <p:nvPr/>
            </p:nvSpPr>
            <p:spPr>
              <a:xfrm>
                <a:off x="4686300" y="4985765"/>
                <a:ext cx="2320290" cy="1596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1600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5E7DD0-B016-656E-48E9-07B3234AC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4985765"/>
                <a:ext cx="2320290" cy="15967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EA2B37-5980-4D9D-C966-A514C6A1724C}"/>
                  </a:ext>
                </a:extLst>
              </p:cNvPr>
              <p:cNvSpPr txBox="1"/>
              <p:nvPr/>
            </p:nvSpPr>
            <p:spPr>
              <a:xfrm>
                <a:off x="6661785" y="5193966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2.6667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EA2B37-5980-4D9D-C966-A514C6A1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785" y="5193966"/>
                <a:ext cx="232029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FB5DBE-3F8E-9249-E3DE-82C10BDFF389}"/>
              </a:ext>
            </a:extLst>
          </p:cNvPr>
          <p:cNvCxnSpPr>
            <a:cxnSpLocks/>
          </p:cNvCxnSpPr>
          <p:nvPr/>
        </p:nvCxnSpPr>
        <p:spPr>
          <a:xfrm>
            <a:off x="7328108" y="1531935"/>
            <a:ext cx="461684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15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  <p:bldP spid="22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1CFF-0ACA-70CA-777F-055D7D07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F05E-56E8-82A0-D22A-60D5EF20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4(Continue)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8A1B0-D036-5F69-9C9C-AD71607B06C6}"/>
              </a:ext>
            </a:extLst>
          </p:cNvPr>
          <p:cNvSpPr/>
          <p:nvPr/>
        </p:nvSpPr>
        <p:spPr>
          <a:xfrm>
            <a:off x="142474" y="1493207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C55E2F-3744-38A1-4EF9-7D1223DB2E8E}"/>
                  </a:ext>
                </a:extLst>
              </p:cNvPr>
              <p:cNvSpPr txBox="1"/>
              <p:nvPr/>
            </p:nvSpPr>
            <p:spPr>
              <a:xfrm>
                <a:off x="2536809" y="2239504"/>
                <a:ext cx="32366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2.6667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C55E2F-3744-38A1-4EF9-7D1223DB2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809" y="2239504"/>
                <a:ext cx="3236669" cy="523220"/>
              </a:xfrm>
              <a:prstGeom prst="rect">
                <a:avLst/>
              </a:prstGeom>
              <a:blipFill>
                <a:blip r:embed="rId2"/>
                <a:stretch>
                  <a:fillRect l="-376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F99161-8B8F-DF98-3075-B03D27605F77}"/>
                  </a:ext>
                </a:extLst>
              </p:cNvPr>
              <p:cNvSpPr txBox="1"/>
              <p:nvPr/>
            </p:nvSpPr>
            <p:spPr>
              <a:xfrm>
                <a:off x="5532515" y="2107706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F99161-8B8F-DF98-3075-B03D27605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515" y="2107706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AC133-3396-A68A-E736-A7E5FE5669B5}"/>
                  </a:ext>
                </a:extLst>
              </p:cNvPr>
              <p:cNvSpPr txBox="1"/>
              <p:nvPr/>
            </p:nvSpPr>
            <p:spPr>
              <a:xfrm>
                <a:off x="5925446" y="2237026"/>
                <a:ext cx="27188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AC133-3396-A68A-E736-A7E5FE566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446" y="2237026"/>
                <a:ext cx="27188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77CAF6-84E2-D205-9DB9-ADFCD2A691CA}"/>
                  </a:ext>
                </a:extLst>
              </p:cNvPr>
              <p:cNvSpPr txBox="1"/>
              <p:nvPr/>
            </p:nvSpPr>
            <p:spPr>
              <a:xfrm>
                <a:off x="2533502" y="2902428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77CAF6-84E2-D205-9DB9-ADFCD2A69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502" y="2902428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7D1050-9056-AC5D-4759-A05FFDC67754}"/>
                  </a:ext>
                </a:extLst>
              </p:cNvPr>
              <p:cNvSpPr txBox="1"/>
              <p:nvPr/>
            </p:nvSpPr>
            <p:spPr>
              <a:xfrm>
                <a:off x="2533501" y="3671158"/>
                <a:ext cx="9576981" cy="220066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a significant difference between the sample mean IQ and the population mean IQ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(i.e., The result suggests that the true population mean IQ is probably not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7D1050-9056-AC5D-4759-A05FFDC6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501" y="3671158"/>
                <a:ext cx="9576981" cy="2200667"/>
              </a:xfrm>
              <a:prstGeom prst="rect">
                <a:avLst/>
              </a:prstGeom>
              <a:blipFill>
                <a:blip r:embed="rId6"/>
                <a:stretch>
                  <a:fillRect l="-1337" r="-1273" b="-6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52713E-E5E2-4FDE-6E04-DC26835D388D}"/>
                  </a:ext>
                </a:extLst>
              </p:cNvPr>
              <p:cNvSpPr txBox="1"/>
              <p:nvPr/>
            </p:nvSpPr>
            <p:spPr>
              <a:xfrm>
                <a:off x="236483" y="2237026"/>
                <a:ext cx="2127469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52713E-E5E2-4FDE-6E04-DC26835D3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3" y="2237026"/>
                <a:ext cx="2127469" cy="523220"/>
              </a:xfrm>
              <a:prstGeom prst="rect">
                <a:avLst/>
              </a:prstGeom>
              <a:blipFill>
                <a:blip r:embed="rId7"/>
                <a:stretch>
                  <a:fillRect l="-601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D3781B2-E3D3-C009-AA08-7D9DFF5A35B9}"/>
              </a:ext>
            </a:extLst>
          </p:cNvPr>
          <p:cNvSpPr/>
          <p:nvPr/>
        </p:nvSpPr>
        <p:spPr>
          <a:xfrm>
            <a:off x="142474" y="83534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88ACB0-2CF8-7377-265C-DA3527E0880B}"/>
                  </a:ext>
                </a:extLst>
              </p:cNvPr>
              <p:cNvSpPr txBox="1"/>
              <p:nvPr/>
            </p:nvSpPr>
            <p:spPr>
              <a:xfrm>
                <a:off x="2271819" y="845842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88ACB0-2CF8-7377-265C-DA3527E08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845842"/>
                <a:ext cx="26974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85948D6-DE0E-ED22-AB34-86B505F45816}"/>
              </a:ext>
            </a:extLst>
          </p:cNvPr>
          <p:cNvGrpSpPr/>
          <p:nvPr/>
        </p:nvGrpSpPr>
        <p:grpSpPr>
          <a:xfrm>
            <a:off x="8579910" y="911086"/>
            <a:ext cx="3527011" cy="2270161"/>
            <a:chOff x="5659775" y="3429000"/>
            <a:chExt cx="3527011" cy="227016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79C1F68-B49D-30BC-0B0A-8F0B7A699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694176A-B98A-3D02-A82D-ABFF6F8CD424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8A984DE-BB73-4FCA-7501-D2066777BC7D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4819977-E6F8-76ED-96CA-13C29E0B4DC1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C907F9-12E4-11B3-6BCA-7806BFB14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E201030-292B-1DC5-78E7-450FD29B4825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6BE9BD-8145-8DC2-AE53-857AC21B975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E5BA14F-54C3-7603-1DDD-6F2BEF331E0B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FF03F294-053C-31CA-0C39-B89F0E7017B3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847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8B27-082E-7373-E58A-27CF6D315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8A93816-F41A-A704-E88F-4209777A4B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40779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An insurance agent has claimed that the average age of policy-holders who insure through him is less than the average for all agent, which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 years.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lang="en-US" dirty="0"/>
                  <a:t> policyholder has age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lang="en-US" dirty="0"/>
                  <a:t> year and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6.35</m:t>
                    </m:r>
                  </m:oMath>
                </a14:m>
                <a:r>
                  <a:rPr lang="en-US" dirty="0"/>
                  <a:t> year. Test the agent claim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8A93816-F41A-A704-E88F-4209777A4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407794"/>
              </a:xfrm>
              <a:prstGeom prst="rect">
                <a:avLst/>
              </a:prstGeom>
              <a:blipFill>
                <a:blip r:embed="rId2"/>
                <a:stretch>
                  <a:fillRect l="-1074" r="-1074" b="-2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6B01A9-07A9-56CF-DF31-C4DD3FE0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777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0FED-4096-D61E-4AF0-C44A1070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62F8-F4E8-8664-C968-769906D9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7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35BA53B-CE55-C845-8101-4018C05E81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5543"/>
                <a:ext cx="11929641" cy="5805377"/>
              </a:xfrm>
            </p:spPr>
            <p:txBody>
              <a:bodyPr/>
              <a:lstStyle/>
              <a:p>
                <a:r>
                  <a:rPr lang="en-US" dirty="0"/>
                  <a:t>An insurance agent says that the people who take insurance through him are younger than the usual policy-holders.</a:t>
                </a:r>
              </a:p>
              <a:p>
                <a:r>
                  <a:rPr lang="en-US" dirty="0"/>
                  <a:t>The average age of all policy-holders (for all agents)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 years.</a:t>
                </a:r>
              </a:p>
              <a:p>
                <a:r>
                  <a:rPr lang="en-US" dirty="0"/>
                  <a:t>Now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lang="en-US" dirty="0"/>
                  <a:t> policy-holders from this agent is taken and we find:</a:t>
                </a:r>
              </a:p>
              <a:p>
                <a:pPr lvl="1"/>
                <a:r>
                  <a:rPr lang="en-US" dirty="0"/>
                  <a:t>Sample mean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=28.8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=6.3</m:t>
                    </m:r>
                  </m:oMath>
                </a14:m>
                <a:r>
                  <a:rPr lang="en-US" dirty="0"/>
                  <a:t>5 years</a:t>
                </a:r>
              </a:p>
              <a:p>
                <a:r>
                  <a:rPr lang="en-US" dirty="0"/>
                  <a:t>Now the question is asking: Is the lower average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lang="en-US" dirty="0"/>
                  <a:t> really showing that the agent’s policy-holders are younger, or could this difference happen just because of random sampling?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35BA53B-CE55-C845-8101-4018C05E8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5543"/>
                <a:ext cx="11929641" cy="5805377"/>
              </a:xfrm>
              <a:blipFill>
                <a:blip r:embed="rId2"/>
                <a:stretch>
                  <a:fillRect l="-971" r="-1074" b="-26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39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11DC-B0C5-644F-F15E-33438515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24DE-3844-8286-129C-DD9F7639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7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100CC9E-F345-7D7D-1A02-BB09DAE3F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5543"/>
                <a:ext cx="11929641" cy="5805377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=30.5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average age of the agent’s policy-holders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 years, the same as the general average.</a:t>
                </a:r>
              </a:p>
              <a:p>
                <a:pPr lvl="1"/>
                <a:r>
                  <a:rPr lang="en-US" dirty="0"/>
                  <a:t>The difference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) happened only by chance.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&lt;30.5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average age of policy-holders through this agent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 years.</a:t>
                </a:r>
              </a:p>
              <a:p>
                <a:pPr lvl="1"/>
                <a:r>
                  <a:rPr lang="en-US" dirty="0"/>
                  <a:t>The difference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) is not due to chance</a:t>
                </a:r>
                <a:r>
                  <a:rPr lang="en-IN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100CC9E-F345-7D7D-1A02-BB09DAE3F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5543"/>
                <a:ext cx="11929641" cy="5805377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42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6224-1683-A0B7-C758-C9B6E630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2608-B9FE-E5AC-A3E6-93A62FDF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7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863D76-ACD2-CF4F-1DB4-293292F801EE}"/>
              </a:ext>
            </a:extLst>
          </p:cNvPr>
          <p:cNvSpPr/>
          <p:nvPr/>
        </p:nvSpPr>
        <p:spPr>
          <a:xfrm>
            <a:off x="131177" y="343420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6C5938-02F1-A80E-DD19-34EC344D0C9B}"/>
                  </a:ext>
                </a:extLst>
              </p:cNvPr>
              <p:cNvSpPr/>
              <p:nvPr/>
            </p:nvSpPr>
            <p:spPr>
              <a:xfrm>
                <a:off x="1671317" y="3432275"/>
                <a:ext cx="31159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=30.5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year,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6C5938-02F1-A80E-DD19-34EC344D0C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317" y="3432275"/>
                <a:ext cx="3115946" cy="523220"/>
              </a:xfrm>
              <a:prstGeom prst="rect">
                <a:avLst/>
              </a:prstGeom>
              <a:blipFill>
                <a:blip r:embed="rId2"/>
                <a:stretch>
                  <a:fillRect l="-3914" t="-10465" r="-137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DED21D-EA39-4FB7-2F89-89FBE2CCF3EC}"/>
                  </a:ext>
                </a:extLst>
              </p:cNvPr>
              <p:cNvSpPr/>
              <p:nvPr/>
            </p:nvSpPr>
            <p:spPr>
              <a:xfrm>
                <a:off x="8282242" y="3429000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DED21D-EA39-4FB7-2F89-89FBE2CCF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242" y="3429000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 t="-11765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BF3E00-CA6C-6CD0-8724-9C2D84FCBDEA}"/>
                  </a:ext>
                </a:extLst>
              </p:cNvPr>
              <p:cNvSpPr/>
              <p:nvPr/>
            </p:nvSpPr>
            <p:spPr>
              <a:xfrm>
                <a:off x="4690911" y="3432275"/>
                <a:ext cx="14719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BF3E00-CA6C-6CD0-8724-9C2D84FCB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911" y="3432275"/>
                <a:ext cx="1471934" cy="523220"/>
              </a:xfrm>
              <a:prstGeom prst="rect">
                <a:avLst/>
              </a:prstGeom>
              <a:blipFill>
                <a:blip r:embed="rId4"/>
                <a:stretch>
                  <a:fillRect t="-10465" r="-249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44BFA9A-6B04-FC13-BF71-1BD798208F30}"/>
                  </a:ext>
                </a:extLst>
              </p:cNvPr>
              <p:cNvSpPr/>
              <p:nvPr/>
            </p:nvSpPr>
            <p:spPr>
              <a:xfrm>
                <a:off x="5947408" y="3429000"/>
                <a:ext cx="245118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=28.8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year,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44BFA9A-6B04-FC13-BF71-1BD798208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408" y="3429000"/>
                <a:ext cx="2451183" cy="523220"/>
              </a:xfrm>
              <a:prstGeom prst="rect">
                <a:avLst/>
              </a:prstGeom>
              <a:blipFill>
                <a:blip r:embed="rId5"/>
                <a:stretch>
                  <a:fillRect t="-11765" r="-1493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6E428DA-5AF7-043A-F90E-F1551ED79A2A}"/>
                  </a:ext>
                </a:extLst>
              </p:cNvPr>
              <p:cNvSpPr/>
              <p:nvPr/>
            </p:nvSpPr>
            <p:spPr>
              <a:xfrm>
                <a:off x="1655472" y="412453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6E428DA-5AF7-043A-F90E-F1551ED79A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472" y="4124530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38CBAD-D3DB-A028-55D2-2A6CB65AB272}"/>
                  </a:ext>
                </a:extLst>
              </p:cNvPr>
              <p:cNvSpPr/>
              <p:nvPr/>
            </p:nvSpPr>
            <p:spPr>
              <a:xfrm>
                <a:off x="2441020" y="4134323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38CBAD-D3DB-A028-55D2-2A6CB65AB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020" y="4134323"/>
                <a:ext cx="23462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89262B8-BBE4-E657-C1D2-C31EB7C669E9}"/>
                  </a:ext>
                </a:extLst>
              </p:cNvPr>
              <p:cNvSpPr/>
              <p:nvPr/>
            </p:nvSpPr>
            <p:spPr>
              <a:xfrm>
                <a:off x="1671317" y="5604031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89262B8-BBE4-E657-C1D2-C31EB7C66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317" y="5604031"/>
                <a:ext cx="23869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E8B640-0EC0-865F-DDC5-D778C25CE8BC}"/>
                  </a:ext>
                </a:extLst>
              </p:cNvPr>
              <p:cNvSpPr/>
              <p:nvPr/>
            </p:nvSpPr>
            <p:spPr>
              <a:xfrm>
                <a:off x="1671317" y="486509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E8B640-0EC0-865F-DDC5-D778C25CE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317" y="4865099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09A738-6B90-3CE1-F47B-5919022A2CBE}"/>
                  </a:ext>
                </a:extLst>
              </p:cNvPr>
              <p:cNvSpPr/>
              <p:nvPr/>
            </p:nvSpPr>
            <p:spPr>
              <a:xfrm>
                <a:off x="2456865" y="4863462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09A738-6B90-3CE1-F47B-5919022A2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865" y="4863462"/>
                <a:ext cx="234624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9EDE4B-6DBD-CA6B-973C-EB5756C35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40779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An insurance agent has claimed that the average age of policy-holders who insure through him is less than the average for all agent, which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dirty="0"/>
                  <a:t> years.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lang="en-US" dirty="0"/>
                  <a:t> policyholder has age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lang="en-US" dirty="0"/>
                  <a:t> year and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6.35</m:t>
                    </m:r>
                  </m:oMath>
                </a14:m>
                <a:r>
                  <a:rPr lang="en-US" dirty="0"/>
                  <a:t> year. Test the agent claim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9EDE4B-6DBD-CA6B-973C-EB5756C35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407794"/>
              </a:xfrm>
              <a:prstGeom prst="rect">
                <a:avLst/>
              </a:prstGeom>
              <a:blipFill>
                <a:blip r:embed="rId11"/>
                <a:stretch>
                  <a:fillRect l="-1074" r="-1074" b="-2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10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20" grpId="0"/>
      <p:bldP spid="21" grpId="0"/>
      <p:bldP spid="22" grpId="0"/>
      <p:bldP spid="23" grpId="0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5A5F-784F-9FD4-696F-BBE23547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C2AE-421B-D544-B2BD-AE61C1DA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7(Continue)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8C88BE-FEA6-F3CF-3618-DBC44EF8821C}"/>
                  </a:ext>
                </a:extLst>
              </p:cNvPr>
              <p:cNvSpPr/>
              <p:nvPr/>
            </p:nvSpPr>
            <p:spPr>
              <a:xfrm>
                <a:off x="189895" y="108519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1085195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16C4B0-E3AD-33AA-2FF3-AC6503994962}"/>
                  </a:ext>
                </a:extLst>
              </p:cNvPr>
              <p:cNvSpPr txBox="1"/>
              <p:nvPr/>
            </p:nvSpPr>
            <p:spPr>
              <a:xfrm>
                <a:off x="1063328" y="87945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16C4B0-E3AD-33AA-2FF3-AC6503994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879455"/>
                <a:ext cx="2320290" cy="1517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72D5297-CB25-7423-A1A1-1FB8DE4614C1}"/>
              </a:ext>
            </a:extLst>
          </p:cNvPr>
          <p:cNvGrpSpPr/>
          <p:nvPr/>
        </p:nvGrpSpPr>
        <p:grpSpPr>
          <a:xfrm>
            <a:off x="9629508" y="1549017"/>
            <a:ext cx="2372596" cy="1789289"/>
            <a:chOff x="9703066" y="1365391"/>
            <a:chExt cx="2372596" cy="17892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B986E3-186A-FF78-5CC1-410C87CD5644}"/>
                </a:ext>
              </a:extLst>
            </p:cNvPr>
            <p:cNvSpPr/>
            <p:nvPr/>
          </p:nvSpPr>
          <p:spPr>
            <a:xfrm>
              <a:off x="9729419" y="1986249"/>
              <a:ext cx="23462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3F1E806-69F8-FA64-5297-A2C93C1D469D}"/>
                </a:ext>
              </a:extLst>
            </p:cNvPr>
            <p:cNvSpPr/>
            <p:nvPr/>
          </p:nvSpPr>
          <p:spPr>
            <a:xfrm>
              <a:off x="9893758" y="1365391"/>
              <a:ext cx="13084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EAD0942-ECD0-6C2F-9D13-B33F9DC04B86}"/>
                </a:ext>
              </a:extLst>
            </p:cNvPr>
            <p:cNvSpPr/>
            <p:nvPr/>
          </p:nvSpPr>
          <p:spPr>
            <a:xfrm>
              <a:off x="9703066" y="2631460"/>
              <a:ext cx="23462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2800" dirty="0">
                <a:solidFill>
                  <a:srgbClr val="00206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CD60EC-BE4F-0542-E690-F6B6D8565F65}"/>
                  </a:ext>
                </a:extLst>
              </p:cNvPr>
              <p:cNvSpPr txBox="1"/>
              <p:nvPr/>
            </p:nvSpPr>
            <p:spPr>
              <a:xfrm>
                <a:off x="1508761" y="3052658"/>
                <a:ext cx="2637924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28.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30.5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6.35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38</m:t>
                                          </m:r>
                                        </m:e>
                                      </m:rad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CD60EC-BE4F-0542-E690-F6B6D8565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1" y="3052658"/>
                <a:ext cx="2637924" cy="161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CA99CC-D621-E33F-43D5-5A243B4F9632}"/>
                  </a:ext>
                </a:extLst>
              </p:cNvPr>
              <p:cNvSpPr txBox="1"/>
              <p:nvPr/>
            </p:nvSpPr>
            <p:spPr>
              <a:xfrm>
                <a:off x="1513710" y="5322426"/>
                <a:ext cx="18699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CA99CC-D621-E33F-43D5-5A243B4F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710" y="5322426"/>
                <a:ext cx="186990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D445C9-E99C-BB45-BA85-A0491751BADA}"/>
                  </a:ext>
                </a:extLst>
              </p:cNvPr>
              <p:cNvSpPr/>
              <p:nvPr/>
            </p:nvSpPr>
            <p:spPr>
              <a:xfrm>
                <a:off x="9655862" y="879455"/>
                <a:ext cx="234624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30.5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year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=28.8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year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=6.35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year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D445C9-E99C-BB45-BA85-A0491751B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862" y="879455"/>
                <a:ext cx="2346243" cy="2677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80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  <p:bldP spid="23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BAFE-D07A-A17C-1DBC-DBD07B2E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FCD8-9137-042F-4B1A-1E3ABE10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7(Continue)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7DD4CF-59CB-A8FA-C62D-11D6DE48CC0C}"/>
              </a:ext>
            </a:extLst>
          </p:cNvPr>
          <p:cNvSpPr/>
          <p:nvPr/>
        </p:nvSpPr>
        <p:spPr>
          <a:xfrm>
            <a:off x="97209" y="74591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354F65-B0DC-936A-88E0-7F075A5F7F55}"/>
                  </a:ext>
                </a:extLst>
              </p:cNvPr>
              <p:cNvSpPr txBox="1"/>
              <p:nvPr/>
            </p:nvSpPr>
            <p:spPr>
              <a:xfrm>
                <a:off x="215234" y="2051933"/>
                <a:ext cx="310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=−1.6503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354F65-B0DC-936A-88E0-7F075A5F7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34" y="2051933"/>
                <a:ext cx="3100105" cy="523220"/>
              </a:xfrm>
              <a:prstGeom prst="rect">
                <a:avLst/>
              </a:prstGeom>
              <a:blipFill>
                <a:blip r:embed="rId2"/>
                <a:stretch>
                  <a:fillRect l="-3929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743C08-B60D-D598-06D2-037B7360153C}"/>
                  </a:ext>
                </a:extLst>
              </p:cNvPr>
              <p:cNvSpPr txBox="1"/>
              <p:nvPr/>
            </p:nvSpPr>
            <p:spPr>
              <a:xfrm>
                <a:off x="3164864" y="1912229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743C08-B60D-D598-06D2-037B73601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864" y="1912229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A63CA-E5A8-594C-279E-1308DD7940EC}"/>
                  </a:ext>
                </a:extLst>
              </p:cNvPr>
              <p:cNvSpPr txBox="1"/>
              <p:nvPr/>
            </p:nvSpPr>
            <p:spPr>
              <a:xfrm>
                <a:off x="3680661" y="2051933"/>
                <a:ext cx="25048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1.645=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A63CA-E5A8-594C-279E-1308DD794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661" y="2051933"/>
                <a:ext cx="250489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C024A-84BE-5B87-E35C-DC97FF161ED8}"/>
                  </a:ext>
                </a:extLst>
              </p:cNvPr>
              <p:cNvSpPr txBox="1"/>
              <p:nvPr/>
            </p:nvSpPr>
            <p:spPr>
              <a:xfrm>
                <a:off x="211926" y="2657741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C024A-84BE-5B87-E35C-DC97FF161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26" y="2657741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0C3DC-B6AA-C29D-70B2-6861B5570A76}"/>
                  </a:ext>
                </a:extLst>
              </p:cNvPr>
              <p:cNvSpPr txBox="1"/>
              <p:nvPr/>
            </p:nvSpPr>
            <p:spPr>
              <a:xfrm>
                <a:off x="215234" y="3282224"/>
                <a:ext cx="5671631" cy="32509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 (LOS), the data supports the agent’s claim that the average age of his policy-holders is less than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0C3DC-B6AA-C29D-70B2-6861B5570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34" y="3282224"/>
                <a:ext cx="5671631" cy="3250955"/>
              </a:xfrm>
              <a:prstGeom prst="rect">
                <a:avLst/>
              </a:prstGeom>
              <a:blipFill>
                <a:blip r:embed="rId6"/>
                <a:stretch>
                  <a:fillRect l="-2148" r="-2148" b="-4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6871B4-FA31-6C7B-B8E0-896BC174BF3E}"/>
                  </a:ext>
                </a:extLst>
              </p:cNvPr>
              <p:cNvSpPr txBox="1"/>
              <p:nvPr/>
            </p:nvSpPr>
            <p:spPr>
              <a:xfrm>
                <a:off x="209331" y="1426470"/>
                <a:ext cx="2127469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6871B4-FA31-6C7B-B8E0-896BC174B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31" y="1426470"/>
                <a:ext cx="2127469" cy="523220"/>
              </a:xfrm>
              <a:prstGeom prst="rect">
                <a:avLst/>
              </a:prstGeom>
              <a:blipFill>
                <a:blip r:embed="rId7"/>
                <a:stretch>
                  <a:fillRect l="-5731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69B4A54-AF05-8254-26BF-64BC10EB79B8}"/>
              </a:ext>
            </a:extLst>
          </p:cNvPr>
          <p:cNvSpPr/>
          <p:nvPr/>
        </p:nvSpPr>
        <p:spPr>
          <a:xfrm>
            <a:off x="6264970" y="3325915"/>
            <a:ext cx="1143467" cy="1014120"/>
          </a:xfrm>
          <a:custGeom>
            <a:avLst/>
            <a:gdLst>
              <a:gd name="connsiteX0" fmla="*/ 831444 w 831444"/>
              <a:gd name="connsiteY0" fmla="*/ 0 h 1001614"/>
              <a:gd name="connsiteX1" fmla="*/ 831444 w 831444"/>
              <a:gd name="connsiteY1" fmla="*/ 840902 h 1001614"/>
              <a:gd name="connsiteX2" fmla="*/ 831444 w 831444"/>
              <a:gd name="connsiteY2" fmla="*/ 1001614 h 1001614"/>
              <a:gd name="connsiteX3" fmla="*/ 0 w 831444"/>
              <a:gd name="connsiteY3" fmla="*/ 1001614 h 1001614"/>
              <a:gd name="connsiteX4" fmla="*/ 0 w 831444"/>
              <a:gd name="connsiteY4" fmla="*/ 840245 h 1001614"/>
              <a:gd name="connsiteX5" fmla="*/ 779906 w 831444"/>
              <a:gd name="connsiteY5" fmla="*/ 117944 h 1001614"/>
              <a:gd name="connsiteX6" fmla="*/ 822581 w 831444"/>
              <a:gd name="connsiteY6" fmla="*/ 21762 h 1001614"/>
              <a:gd name="connsiteX7" fmla="*/ 831444 w 831444"/>
              <a:gd name="connsiteY7" fmla="*/ 0 h 10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1444" h="1001614">
                <a:moveTo>
                  <a:pt x="831444" y="0"/>
                </a:moveTo>
                <a:lnTo>
                  <a:pt x="831444" y="840902"/>
                </a:lnTo>
                <a:lnTo>
                  <a:pt x="831444" y="1001614"/>
                </a:lnTo>
                <a:lnTo>
                  <a:pt x="0" y="1001614"/>
                </a:lnTo>
                <a:lnTo>
                  <a:pt x="0" y="840245"/>
                </a:lnTo>
                <a:cubicBezTo>
                  <a:pt x="347485" y="840652"/>
                  <a:pt x="571799" y="554667"/>
                  <a:pt x="779906" y="117944"/>
                </a:cubicBezTo>
                <a:cubicBezTo>
                  <a:pt x="792913" y="90649"/>
                  <a:pt x="807168" y="58344"/>
                  <a:pt x="822581" y="21762"/>
                </a:cubicBezTo>
                <a:lnTo>
                  <a:pt x="831444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1561CF-BF09-F147-8032-B893E58E6996}"/>
              </a:ext>
            </a:extLst>
          </p:cNvPr>
          <p:cNvCxnSpPr>
            <a:cxnSpLocks/>
          </p:cNvCxnSpPr>
          <p:nvPr/>
        </p:nvCxnSpPr>
        <p:spPr>
          <a:xfrm flipV="1">
            <a:off x="7390971" y="3404095"/>
            <a:ext cx="0" cy="924225"/>
          </a:xfrm>
          <a:prstGeom prst="line">
            <a:avLst/>
          </a:prstGeom>
          <a:ln w="762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CFFA2D1-AE3F-7F08-C541-2E3C4EB6621F}"/>
              </a:ext>
            </a:extLst>
          </p:cNvPr>
          <p:cNvGrpSpPr/>
          <p:nvPr/>
        </p:nvGrpSpPr>
        <p:grpSpPr>
          <a:xfrm>
            <a:off x="6264973" y="1269133"/>
            <a:ext cx="5526249" cy="3076827"/>
            <a:chOff x="6264973" y="1269133"/>
            <a:chExt cx="5526249" cy="307682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DD7933-3B38-5FE0-7220-3F84B5C9CA0D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9003972" y="1269134"/>
              <a:ext cx="40729" cy="3070902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3B5A04-28FE-D53A-3124-3CA95A621D7E}"/>
                </a:ext>
              </a:extLst>
            </p:cNvPr>
            <p:cNvSpPr/>
            <p:nvPr/>
          </p:nvSpPr>
          <p:spPr>
            <a:xfrm>
              <a:off x="6264973" y="1269133"/>
              <a:ext cx="5526249" cy="291665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F6DBE9-90F1-5EC1-6EA0-8458ACC05800}"/>
                </a:ext>
              </a:extLst>
            </p:cNvPr>
            <p:cNvCxnSpPr>
              <a:cxnSpLocks/>
            </p:cNvCxnSpPr>
            <p:nvPr/>
          </p:nvCxnSpPr>
          <p:spPr>
            <a:xfrm>
              <a:off x="6264973" y="4345960"/>
              <a:ext cx="5526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871BACA-0739-D617-9121-72C06887F88F}"/>
                  </a:ext>
                </a:extLst>
              </p:cNvPr>
              <p:cNvSpPr/>
              <p:nvPr/>
            </p:nvSpPr>
            <p:spPr>
              <a:xfrm>
                <a:off x="7589093" y="4849686"/>
                <a:ext cx="2496997" cy="523220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871BACA-0739-D617-9121-72C06887F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093" y="4849686"/>
                <a:ext cx="24969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5112B18F-014B-1ACF-E8EA-EEC0A74406BF}"/>
              </a:ext>
            </a:extLst>
          </p:cNvPr>
          <p:cNvSpPr/>
          <p:nvPr/>
        </p:nvSpPr>
        <p:spPr>
          <a:xfrm>
            <a:off x="7300970" y="4249633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018C19F-D917-621A-A5E9-671FC3458F3A}"/>
              </a:ext>
            </a:extLst>
          </p:cNvPr>
          <p:cNvCxnSpPr>
            <a:cxnSpLocks/>
            <a:stCxn id="26" idx="4"/>
          </p:cNvCxnSpPr>
          <p:nvPr/>
        </p:nvCxnSpPr>
        <p:spPr>
          <a:xfrm rot="16200000" flipH="1">
            <a:off x="7380326" y="4440276"/>
            <a:ext cx="417534" cy="396247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AB0CB36-A153-F9AB-BC32-EDEDA739DF86}"/>
              </a:ext>
            </a:extLst>
          </p:cNvPr>
          <p:cNvCxnSpPr>
            <a:cxnSpLocks/>
            <a:stCxn id="43" idx="4"/>
          </p:cNvCxnSpPr>
          <p:nvPr/>
        </p:nvCxnSpPr>
        <p:spPr>
          <a:xfrm rot="16200000" flipH="1">
            <a:off x="6289700" y="4972798"/>
            <a:ext cx="1334558" cy="248228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261F0CA-5235-D203-4A04-A380F7C1F633}"/>
              </a:ext>
            </a:extLst>
          </p:cNvPr>
          <p:cNvSpPr/>
          <p:nvPr/>
        </p:nvSpPr>
        <p:spPr>
          <a:xfrm>
            <a:off x="6742865" y="4249633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8B83E6B-3688-1751-F77C-45E5CC44678A}"/>
                  </a:ext>
                </a:extLst>
              </p:cNvPr>
              <p:cNvSpPr/>
              <p:nvPr/>
            </p:nvSpPr>
            <p:spPr>
              <a:xfrm>
                <a:off x="6832864" y="5764192"/>
                <a:ext cx="2496997" cy="523220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=−1.6503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8B83E6B-3688-1751-F77C-45E5CC4467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864" y="5764192"/>
                <a:ext cx="24969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A9BC5EE9-34F6-F96C-3AC9-A336378CE23B}"/>
              </a:ext>
            </a:extLst>
          </p:cNvPr>
          <p:cNvSpPr/>
          <p:nvPr/>
        </p:nvSpPr>
        <p:spPr>
          <a:xfrm>
            <a:off x="7640074" y="3295526"/>
            <a:ext cx="1230588" cy="954107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n-US" sz="2800" dirty="0">
                <a:solidFill>
                  <a:srgbClr val="002060"/>
                </a:solidFill>
              </a:rPr>
              <a:t>Critical</a:t>
            </a:r>
          </a:p>
          <a:p>
            <a:pPr lvl="0" algn="ctr"/>
            <a:r>
              <a:rPr lang="en-US" sz="2800" dirty="0">
                <a:solidFill>
                  <a:srgbClr val="002060"/>
                </a:solidFill>
              </a:rPr>
              <a:t>Region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29C2D6-7007-7E8D-9188-7E043CFC314D}"/>
              </a:ext>
            </a:extLst>
          </p:cNvPr>
          <p:cNvCxnSpPr>
            <a:cxnSpLocks/>
          </p:cNvCxnSpPr>
          <p:nvPr/>
        </p:nvCxnSpPr>
        <p:spPr>
          <a:xfrm flipH="1">
            <a:off x="7146732" y="3960599"/>
            <a:ext cx="48847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1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 animBg="1"/>
      <p:bldP spid="11" grpId="0" animBg="1"/>
      <p:bldP spid="16" grpId="0" animBg="1"/>
      <p:bldP spid="25" grpId="0" animBg="1"/>
      <p:bldP spid="26" grpId="0" animBg="1"/>
      <p:bldP spid="43" grpId="0" animBg="1"/>
      <p:bldP spid="44" grpId="0" animBg="1"/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1D29-8CC0-9258-E7CA-EB9D2267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57BF6B-6692-30D6-5461-CED8FC34B4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6315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 college claims that its average class size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students.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from college has a mean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with a standard deviation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. Test 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level of significance if the claimed value is too low.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57BF6B-6692-30D6-5461-CED8FC34B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631545"/>
              </a:xfrm>
              <a:prstGeom prst="rect">
                <a:avLst/>
              </a:prstGeom>
              <a:blipFill>
                <a:blip r:embed="rId2"/>
                <a:stretch>
                  <a:fillRect l="-1074" t="-375" r="-1074" b="-11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A51E336-1C67-0853-0D93-A7D30B86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10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C0B0FAB1-46F9-8556-C281-607C2154F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2585686"/>
                <a:ext cx="11929641" cy="3795506"/>
              </a:xfrm>
            </p:spPr>
            <p:txBody>
              <a:bodyPr/>
              <a:lstStyle/>
              <a:p>
                <a:r>
                  <a:rPr lang="en-US" dirty="0"/>
                  <a:t>A college claims that the average class size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students.</a:t>
                </a:r>
              </a:p>
              <a:p>
                <a:pPr lvl="1"/>
                <a:r>
                  <a:rPr lang="en-US" dirty="0"/>
                  <a:t>This means that on average each class has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students.</a:t>
                </a:r>
              </a:p>
              <a:p>
                <a:r>
                  <a:rPr lang="en-US" dirty="0"/>
                  <a:t>To check whether this claim is correct,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is taken from the college.</a:t>
                </a:r>
              </a:p>
              <a:p>
                <a:pPr lvl="1"/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is the sample size, meaning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were asked about the number of students in their class.</a:t>
                </a:r>
                <a:endParaRPr lang="en-IN" dirty="0"/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C0B0FAB1-46F9-8556-C281-607C2154F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2585686"/>
                <a:ext cx="11929641" cy="3795506"/>
              </a:xfrm>
              <a:blipFill>
                <a:blip r:embed="rId3"/>
                <a:stretch>
                  <a:fillRect l="-971" r="-1074" b="-62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08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E88E-9A57-E231-3124-460F7CDC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DF8A-BA73-21D9-5C5C-8BE17066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10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DE7E4569-EFF4-13BF-569D-1C5D40AA6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923516"/>
              </a:xfrm>
            </p:spPr>
            <p:txBody>
              <a:bodyPr/>
              <a:lstStyle/>
              <a:p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is the sample size, meaning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were asked about the number of students in their class.</a:t>
                </a:r>
              </a:p>
              <a:p>
                <a:r>
                  <a:rPr lang="en-US" dirty="0"/>
                  <a:t>From these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observations we find:</a:t>
                </a:r>
              </a:p>
              <a:p>
                <a:pPr lvl="1"/>
                <a:r>
                  <a:rPr lang="en-US" dirty="0"/>
                  <a:t>Sample mean class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=37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phrase “Test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if the claimed value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</m:oMath>
                </a14:m>
                <a:r>
                  <a:rPr lang="en-US" dirty="0"/>
                  <a:t> is too low.”, means:</a:t>
                </a:r>
              </a:p>
              <a:p>
                <a:pPr lvl="1"/>
                <a:r>
                  <a:rPr lang="en-US" dirty="0"/>
                  <a:t>Check whether the true average class size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Because if the real average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, then the college’s claim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is too small (too low).</a:t>
                </a:r>
                <a:endParaRPr lang="en-IN" dirty="0"/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DE7E4569-EFF4-13BF-569D-1C5D40AA6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923516"/>
              </a:xfrm>
              <a:blipFill>
                <a:blip r:embed="rId2"/>
                <a:stretch>
                  <a:fillRect l="-971" r="-1074" b="-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50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27C19-3038-EDEE-0088-FF03D791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24D3-2FDE-CE83-3838-1BA005C6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1 ⇝ Example 10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3591161B-BF12-0D86-6D53-51E9065E7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2"/>
                <a:ext cx="11928475" cy="5806554"/>
              </a:xfrm>
            </p:spPr>
            <p:txBody>
              <a:bodyPr/>
              <a:lstStyle/>
              <a:p>
                <a:r>
                  <a:rPr lang="en-US" dirty="0"/>
                  <a:t>The question asks whether the sample mean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lang="en-US" dirty="0"/>
                  <a:t> provides sufficient evidence at the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 to conclude that the </a:t>
                </a:r>
                <a:r>
                  <a:rPr lang="en-US" b="1" dirty="0"/>
                  <a:t>true average class size is greater than </a:t>
                </a:r>
                <a14:m>
                  <m:oMath xmlns:m="http://schemas.openxmlformats.org/officeDocument/2006/math">
                    <m:r>
                      <a:rPr lang="en-US" b="1" dirty="0" smtClean="0">
                        <a:latin typeface="Cambria Math" panose="02040503050406030204" pitchFamily="18" charset="0"/>
                      </a:rPr>
                      <m:t>𝟑𝟓</m:t>
                    </m:r>
                  </m:oMath>
                </a14:m>
                <a:r>
                  <a:rPr lang="en-US" dirty="0"/>
                  <a:t>, meaning the college’s claim is too low.</a:t>
                </a:r>
              </a:p>
              <a:p>
                <a:r>
                  <a:rPr lang="en-IN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ar-AE" b="1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𝟑𝟓</m:t>
                    </m:r>
                  </m:oMath>
                </a14:m>
                <a:endParaRPr lang="ar-AE" b="1" dirty="0"/>
              </a:p>
              <a:p>
                <a:pPr lvl="1"/>
                <a:r>
                  <a:rPr lang="en-US" dirty="0"/>
                  <a:t>The average class size is 35 students as the college claims.</a:t>
                </a:r>
              </a:p>
              <a:p>
                <a:pPr lvl="1"/>
                <a:r>
                  <a:rPr lang="en-US" dirty="0"/>
                  <a:t>The difference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) happened only by chance.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𝟑𝟓</m:t>
                    </m:r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average class size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students, so the college’s claim is too low.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3591161B-BF12-0D86-6D53-51E9065E7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2"/>
                <a:ext cx="11928475" cy="5806554"/>
              </a:xfrm>
              <a:blipFill>
                <a:blip r:embed="rId2"/>
                <a:stretch>
                  <a:fillRect l="-971" r="-1074" b="-26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8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9E40-98FA-D7B4-A820-6C91955A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877B0E-D138-466C-CF84-823307E341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70287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 college claims that its average class size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students.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from college has a mean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with a standard deviation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. Test 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 level of significance if the claimed value is too low.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877B0E-D138-466C-CF84-823307E34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702879"/>
              </a:xfrm>
              <a:prstGeom prst="rect">
                <a:avLst/>
              </a:prstGeom>
              <a:blipFill>
                <a:blip r:embed="rId2"/>
                <a:stretch>
                  <a:fillRect l="-1074" b="-86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2784E3F-134B-1DCE-D445-F372B316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7D4059-1308-2145-ADA6-8B372E2877E3}"/>
              </a:ext>
            </a:extLst>
          </p:cNvPr>
          <p:cNvSpPr/>
          <p:nvPr/>
        </p:nvSpPr>
        <p:spPr>
          <a:xfrm>
            <a:off x="131177" y="267168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D59885-AAE6-2D5B-5B8F-019480B14126}"/>
                  </a:ext>
                </a:extLst>
              </p:cNvPr>
              <p:cNvSpPr/>
              <p:nvPr/>
            </p:nvSpPr>
            <p:spPr>
              <a:xfrm>
                <a:off x="1661633" y="2671683"/>
                <a:ext cx="27327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D59885-AAE6-2D5B-5B8F-019480B14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633" y="2671683"/>
                <a:ext cx="2732738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8E69F3-332B-AA18-583A-F872EA4F2225}"/>
                  </a:ext>
                </a:extLst>
              </p:cNvPr>
              <p:cNvSpPr/>
              <p:nvPr/>
            </p:nvSpPr>
            <p:spPr>
              <a:xfrm>
                <a:off x="9113878" y="2637393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8E69F3-332B-AA18-583A-F872EA4F2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878" y="2637393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 t="-11765" r="-2078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769E36-E5D5-25E6-07DD-ADDDBFCC4203}"/>
                  </a:ext>
                </a:extLst>
              </p:cNvPr>
              <p:cNvSpPr/>
              <p:nvPr/>
            </p:nvSpPr>
            <p:spPr>
              <a:xfrm>
                <a:off x="4491668" y="2651272"/>
                <a:ext cx="15862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769E36-E5D5-25E6-07DD-ADDDBFCC4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668" y="2651272"/>
                <a:ext cx="158623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FB812D-3E18-6804-45E9-19E1925F531C}"/>
                  </a:ext>
                </a:extLst>
              </p:cNvPr>
              <p:cNvSpPr/>
              <p:nvPr/>
            </p:nvSpPr>
            <p:spPr>
              <a:xfrm>
                <a:off x="6095998" y="2652150"/>
                <a:ext cx="27327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FB812D-3E18-6804-45E9-19E1925F5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2652150"/>
                <a:ext cx="2732738" cy="523220"/>
              </a:xfrm>
              <a:prstGeom prst="rect">
                <a:avLst/>
              </a:prstGeom>
              <a:blipFill>
                <a:blip r:embed="rId6"/>
                <a:stretch>
                  <a:fillRect t="-10465" r="-111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2E0AEBF-F5CA-7135-C15D-C1DAEFB63058}"/>
                  </a:ext>
                </a:extLst>
              </p:cNvPr>
              <p:cNvSpPr/>
              <p:nvPr/>
            </p:nvSpPr>
            <p:spPr>
              <a:xfrm>
                <a:off x="1625597" y="33245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2E0AEBF-F5CA-7135-C15D-C1DAEFB63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324585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C5B2A3-65B2-9879-176C-2B8A903F4B77}"/>
                  </a:ext>
                </a:extLst>
              </p:cNvPr>
              <p:cNvSpPr/>
              <p:nvPr/>
            </p:nvSpPr>
            <p:spPr>
              <a:xfrm>
                <a:off x="2411146" y="3322948"/>
                <a:ext cx="13321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C5B2A3-65B2-9879-176C-2B8A903F4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3322948"/>
                <a:ext cx="133218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7D9422B-FFE0-4360-C060-A7A4ED1259D2}"/>
                  </a:ext>
                </a:extLst>
              </p:cNvPr>
              <p:cNvSpPr/>
              <p:nvPr/>
            </p:nvSpPr>
            <p:spPr>
              <a:xfrm>
                <a:off x="1625597" y="4570404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7D9422B-FFE0-4360-C060-A7A4ED125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570404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D12CCB9-4EA5-C1F7-A08D-6552FBB6388B}"/>
                  </a:ext>
                </a:extLst>
              </p:cNvPr>
              <p:cNvSpPr/>
              <p:nvPr/>
            </p:nvSpPr>
            <p:spPr>
              <a:xfrm>
                <a:off x="1634218" y="391346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D12CCB9-4EA5-C1F7-A08D-6552FBB63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218" y="3913463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244A92B-C602-7512-9CC4-BAA4CC99B51D}"/>
                  </a:ext>
                </a:extLst>
              </p:cNvPr>
              <p:cNvSpPr/>
              <p:nvPr/>
            </p:nvSpPr>
            <p:spPr>
              <a:xfrm>
                <a:off x="2419767" y="3911826"/>
                <a:ext cx="15927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244A92B-C602-7512-9CC4-BAA4CC99B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767" y="3911826"/>
                <a:ext cx="159278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C7A8D42-05CC-6DDA-4459-386F7E17A0D7}"/>
              </a:ext>
            </a:extLst>
          </p:cNvPr>
          <p:cNvSpPr txBox="1"/>
          <p:nvPr/>
        </p:nvSpPr>
        <p:spPr>
          <a:xfrm>
            <a:off x="7640654" y="3775937"/>
            <a:ext cx="455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Is the actual class size bigger than what the college claims (35 students)?</a:t>
            </a:r>
            <a:endParaRPr lang="en-IN" sz="2000" dirty="0">
              <a:solidFill>
                <a:srgbClr val="00206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D060A-4D0C-71E8-A6D3-6F36030F3C9E}"/>
              </a:ext>
            </a:extLst>
          </p:cNvPr>
          <p:cNvCxnSpPr>
            <a:cxnSpLocks/>
          </p:cNvCxnSpPr>
          <p:nvPr/>
        </p:nvCxnSpPr>
        <p:spPr>
          <a:xfrm>
            <a:off x="3743325" y="1469770"/>
            <a:ext cx="466915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12279C-E906-2CFA-EA9F-E4C273FF0863}"/>
              </a:ext>
            </a:extLst>
          </p:cNvPr>
          <p:cNvCxnSpPr>
            <a:cxnSpLocks/>
          </p:cNvCxnSpPr>
          <p:nvPr/>
        </p:nvCxnSpPr>
        <p:spPr>
          <a:xfrm>
            <a:off x="10092690" y="1459137"/>
            <a:ext cx="185547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AD1F60-6F47-A69A-53F7-22AB4173C078}"/>
              </a:ext>
            </a:extLst>
          </p:cNvPr>
          <p:cNvCxnSpPr>
            <a:cxnSpLocks/>
          </p:cNvCxnSpPr>
          <p:nvPr/>
        </p:nvCxnSpPr>
        <p:spPr>
          <a:xfrm>
            <a:off x="3380665" y="1990758"/>
            <a:ext cx="25527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F1A9E0-8302-62C0-BC16-4C25DC13355A}"/>
              </a:ext>
            </a:extLst>
          </p:cNvPr>
          <p:cNvCxnSpPr>
            <a:cxnSpLocks/>
          </p:cNvCxnSpPr>
          <p:nvPr/>
        </p:nvCxnSpPr>
        <p:spPr>
          <a:xfrm>
            <a:off x="6938010" y="1989524"/>
            <a:ext cx="334899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64BDA2-2D0D-E04A-A42D-66220F832AB3}"/>
              </a:ext>
            </a:extLst>
          </p:cNvPr>
          <p:cNvCxnSpPr>
            <a:cxnSpLocks/>
          </p:cNvCxnSpPr>
          <p:nvPr/>
        </p:nvCxnSpPr>
        <p:spPr>
          <a:xfrm>
            <a:off x="235614" y="2482433"/>
            <a:ext cx="419922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D74C5B-03AE-8E71-95F3-B295027B51BB}"/>
              </a:ext>
            </a:extLst>
          </p:cNvPr>
          <p:cNvCxnSpPr>
            <a:cxnSpLocks/>
          </p:cNvCxnSpPr>
          <p:nvPr/>
        </p:nvCxnSpPr>
        <p:spPr>
          <a:xfrm>
            <a:off x="5263515" y="2482433"/>
            <a:ext cx="334899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011D6A-D419-4318-06F3-97983E281717}"/>
                  </a:ext>
                </a:extLst>
              </p:cNvPr>
              <p:cNvSpPr/>
              <p:nvPr/>
            </p:nvSpPr>
            <p:spPr>
              <a:xfrm>
                <a:off x="1634218" y="529480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011D6A-D419-4318-06F3-97983E281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218" y="5294805"/>
                <a:ext cx="1318866" cy="523220"/>
              </a:xfrm>
              <a:prstGeom prst="rect">
                <a:avLst/>
              </a:prstGeom>
              <a:blipFill>
                <a:blip r:embed="rId1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A3E7D0-C61E-A02A-855C-A9DD86D4B643}"/>
                  </a:ext>
                </a:extLst>
              </p:cNvPr>
              <p:cNvSpPr txBox="1"/>
              <p:nvPr/>
            </p:nvSpPr>
            <p:spPr>
              <a:xfrm>
                <a:off x="2507651" y="508906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A3E7D0-C61E-A02A-855C-A9DD86D4B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51" y="5089065"/>
                <a:ext cx="2320290" cy="15175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6D7702-3596-A13E-183F-0979831FDFEE}"/>
                  </a:ext>
                </a:extLst>
              </p:cNvPr>
              <p:cNvSpPr txBox="1"/>
              <p:nvPr/>
            </p:nvSpPr>
            <p:spPr>
              <a:xfrm>
                <a:off x="4461843" y="505925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6D7702-3596-A13E-183F-0979831FD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843" y="5059259"/>
                <a:ext cx="2320290" cy="16140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C53469-AEE0-ED4E-780C-E08B6EA80EE5}"/>
                  </a:ext>
                </a:extLst>
              </p:cNvPr>
              <p:cNvSpPr txBox="1"/>
              <p:nvPr/>
            </p:nvSpPr>
            <p:spPr>
              <a:xfrm>
                <a:off x="6412230" y="5278536"/>
                <a:ext cx="14441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C53469-AEE0-ED4E-780C-E08B6EA80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30" y="5278536"/>
                <a:ext cx="1444156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72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3" grpId="0"/>
      <p:bldP spid="4" grpId="0"/>
      <p:bldP spid="5" grpId="0"/>
      <p:bldP spid="6" grpId="0"/>
      <p:bldP spid="10" grpId="0"/>
      <p:bldP spid="14" grpId="0"/>
      <p:bldP spid="14" grpId="1"/>
      <p:bldP spid="26" grpId="0"/>
      <p:bldP spid="27" grpId="0"/>
      <p:bldP spid="28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384-253D-195D-E4EC-E796BE47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B879-E2B4-7EA4-2F48-8F8D4ABA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10(Continue)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C1AAA1-0E6F-C2EE-5114-3AFB6DAF30D6}"/>
              </a:ext>
            </a:extLst>
          </p:cNvPr>
          <p:cNvSpPr/>
          <p:nvPr/>
        </p:nvSpPr>
        <p:spPr>
          <a:xfrm>
            <a:off x="144271" y="1536062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F2516-1542-C973-871A-2F0FC5D82B6F}"/>
                  </a:ext>
                </a:extLst>
              </p:cNvPr>
              <p:cNvSpPr txBox="1"/>
              <p:nvPr/>
            </p:nvSpPr>
            <p:spPr>
              <a:xfrm>
                <a:off x="236093" y="2270705"/>
                <a:ext cx="17360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F2516-1542-C973-871A-2F0FC5D82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93" y="2270705"/>
                <a:ext cx="173601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955E0C-EB8C-E28C-3ADD-52408B3DF7BF}"/>
                  </a:ext>
                </a:extLst>
              </p:cNvPr>
              <p:cNvSpPr txBox="1"/>
              <p:nvPr/>
            </p:nvSpPr>
            <p:spPr>
              <a:xfrm>
                <a:off x="2180419" y="2236415"/>
                <a:ext cx="23462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1.645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955E0C-EB8C-E28C-3ADD-52408B3DF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419" y="2236415"/>
                <a:ext cx="234624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7E27EB-1A6B-00C7-2176-68C5F224CA11}"/>
                  </a:ext>
                </a:extLst>
              </p:cNvPr>
              <p:cNvSpPr txBox="1"/>
              <p:nvPr/>
            </p:nvSpPr>
            <p:spPr>
              <a:xfrm>
                <a:off x="1765589" y="2248906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7E27EB-1A6B-00C7-2176-68C5F224C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589" y="2248906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BB2C9-85DA-5319-A325-977501CC2504}"/>
                  </a:ext>
                </a:extLst>
              </p:cNvPr>
              <p:cNvSpPr txBox="1"/>
              <p:nvPr/>
            </p:nvSpPr>
            <p:spPr>
              <a:xfrm>
                <a:off x="266612" y="2888418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BB2C9-85DA-5319-A325-977501CC2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12" y="2888418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2B9D3A-88B8-DF29-89BB-D423504FA51F}"/>
                  </a:ext>
                </a:extLst>
              </p:cNvPr>
              <p:cNvSpPr txBox="1"/>
              <p:nvPr/>
            </p:nvSpPr>
            <p:spPr>
              <a:xfrm>
                <a:off x="266612" y="3612868"/>
                <a:ext cx="7477229" cy="1958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7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level of significance, the data shows that the average class size is greater than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students. Hence, the college’s claim is too low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7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2B9D3A-88B8-DF29-89BB-D423504FA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12" y="3612868"/>
                <a:ext cx="7477229" cy="1958293"/>
              </a:xfrm>
              <a:prstGeom prst="rect">
                <a:avLst/>
              </a:prstGeom>
              <a:blipFill>
                <a:blip r:embed="rId6"/>
                <a:stretch>
                  <a:fillRect l="-1550" r="-1550" b="-56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1653CA5-4AF3-39DE-3ED4-09E7E65727A3}"/>
              </a:ext>
            </a:extLst>
          </p:cNvPr>
          <p:cNvGrpSpPr/>
          <p:nvPr/>
        </p:nvGrpSpPr>
        <p:grpSpPr>
          <a:xfrm>
            <a:off x="8588106" y="879122"/>
            <a:ext cx="3603894" cy="2714585"/>
            <a:chOff x="8570172" y="1570833"/>
            <a:chExt cx="3603894" cy="271458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E41A29-5D26-468E-8ED7-7CACDB0A953A}"/>
                </a:ext>
              </a:extLst>
            </p:cNvPr>
            <p:cNvGrpSpPr/>
            <p:nvPr/>
          </p:nvGrpSpPr>
          <p:grpSpPr>
            <a:xfrm flipH="1">
              <a:off x="8570172" y="1570833"/>
              <a:ext cx="3385735" cy="2154174"/>
              <a:chOff x="6189671" y="3656930"/>
              <a:chExt cx="4018280" cy="255663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459065C-29CD-4B02-AC85-51491EE2DCFC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1B2D672-BCA9-4BB2-BC6C-123B097CF842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D87E594-8AAF-4C5E-BA12-7297220311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52B619A-5364-4F0E-B63E-5966C8721475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40E1104-CF8D-465B-BCED-C936897E04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BB06FB5-0011-45A5-AEA3-A0726DB8E7B2}"/>
                    </a:ext>
                  </a:extLst>
                </p:cNvPr>
                <p:cNvSpPr/>
                <p:nvPr/>
              </p:nvSpPr>
              <p:spPr>
                <a:xfrm>
                  <a:off x="10358027" y="3762198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1.645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BB06FB5-0011-45A5-AEA3-A0726DB8E7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8027" y="3762198"/>
                  <a:ext cx="181603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6228059-E5DE-E5F3-FA3D-7EBF67BB9215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073E8F-A962-8CC4-2FBA-DCF465752879}"/>
                  </a:ext>
                </a:extLst>
              </p:cNvPr>
              <p:cNvSpPr txBox="1"/>
              <p:nvPr/>
            </p:nvSpPr>
            <p:spPr>
              <a:xfrm>
                <a:off x="2339975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073E8F-A962-8CC4-2FBA-DCF465752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75" y="911086"/>
                <a:ext cx="26974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4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  <p:bldP spid="20" grpId="0"/>
      <p:bldP spid="21" grpId="0" animBg="1"/>
      <p:bldP spid="3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2</a:t>
            </a:r>
            <a:br>
              <a:rPr lang="en-US" dirty="0"/>
            </a:br>
            <a:r>
              <a:rPr lang="en-US" dirty="0"/>
              <a:t>Test for Difference of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995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629B-B409-7B38-8F43-657A45B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US" dirty="0"/>
              <a:t>Test for Difference of Means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972C-CE2E-1BA2-E90E-9615BC938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Test for Difference of Means is a statistical test used to determine whether the means (averages) of two populations are significantly different or not.</a:t>
            </a:r>
          </a:p>
          <a:p>
            <a:r>
              <a:rPr lang="en-US" dirty="0"/>
              <a:t>In simple words:</a:t>
            </a:r>
          </a:p>
          <a:p>
            <a:pPr lvl="1"/>
            <a:r>
              <a:rPr lang="en-US" dirty="0"/>
              <a:t>It checks whether the difference between two sample averages happened by chance or it represents a real difference between populations.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89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8E04-C40F-0691-EB33-11DCF781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9BCC-BDB0-6983-F734-7F6256A0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9C9F9B-D439-090C-662C-79744E9619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Suppose we take two samples from two populations.</a:t>
                </a:r>
              </a:p>
              <a:p>
                <a:pPr lvl="1"/>
                <a:r>
                  <a:rPr lang="en-US" dirty="0"/>
                  <a:t>Sample 1 mean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	​</a:t>
                </a:r>
              </a:p>
              <a:p>
                <a:pPr lvl="1"/>
                <a:r>
                  <a:rPr lang="en-US" dirty="0"/>
                  <a:t>Sample 2 mean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	​</a:t>
                </a:r>
              </a:p>
              <a:p>
                <a:r>
                  <a:rPr lang="en-US" dirty="0"/>
                  <a:t>We compare these two means to see whether the populations from which they are taken have the same mean or different means.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9C9F9B-D439-090C-662C-79744E9619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71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08074"/>
                <a:ext cx="11929641" cy="5645935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 two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08074"/>
                <a:ext cx="11929641" cy="564593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/>
              <p:nvPr/>
            </p:nvSpPr>
            <p:spPr>
              <a:xfrm>
                <a:off x="2261671" y="3631041"/>
                <a:ext cx="8424050" cy="2904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Population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SDs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Population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SDs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</a:rPr>
                                <m:t>un</m:t>
                              </m:r>
                              <m:r>
                                <m:rPr>
                                  <m:nor/>
                                </m:rPr>
                                <a:rPr lang="en-US" sz="2800" dirty="0" smtClean="0">
                                  <a:solidFill>
                                    <a:srgbClr val="002060"/>
                                  </a:solidFill>
                                </a:rPr>
                                <m:t>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671" y="3631041"/>
                <a:ext cx="8424050" cy="2904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4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9556-32C1-86BF-FD8E-0DF0B1B4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When if Population SDs are known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1">
              <a:lnSpc>
                <a:spcPct val="145000"/>
              </a:lnSpc>
            </a:pPr>
            <a:r>
              <a:rPr lang="en-US" dirty="0"/>
              <a:t>When if Population SDs are unknown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5753099" y="2324588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099" y="2324588"/>
                <a:ext cx="3071411" cy="1541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5753100" y="4694408"/>
                <a:ext cx="3159546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694408"/>
                <a:ext cx="3159546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14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976-5D4E-A8D7-5DF9-07D4EB04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7236DA6-92F8-2584-93DB-1413F5CDDB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4044354"/>
                <a:ext cx="11929641" cy="8373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lnSpc>
                    <a:spcPct val="145000"/>
                  </a:lnSpc>
                </a:pPr>
                <a:r>
                  <a:rPr lang="en-US" dirty="0"/>
                  <a:t>If Population SDs are unknown,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 with sample SDs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​:</a:t>
                </a:r>
              </a:p>
              <a:p>
                <a:pPr marL="0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7236DA6-92F8-2584-93DB-1413F5CDD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4044354"/>
                <a:ext cx="11929641" cy="83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F377C-8395-7216-6612-FFE52EC5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820914"/>
                <a:ext cx="11929641" cy="711200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General Form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</m:oMath>
                </a14:m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820914"/>
                <a:ext cx="11929641" cy="711200"/>
              </a:xfrm>
              <a:blipFill>
                <a:blip r:embed="rId3"/>
                <a:stretch>
                  <a:fillRect l="-971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C470B3-C403-6184-3012-7159F078102D}"/>
                  </a:ext>
                </a:extLst>
              </p:cNvPr>
              <p:cNvSpPr txBox="1"/>
              <p:nvPr/>
            </p:nvSpPr>
            <p:spPr>
              <a:xfrm>
                <a:off x="3574550" y="5014598"/>
                <a:ext cx="504289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𝐬</m:t>
                                      </m:r>
                                    </m:e>
                                    <m:sub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𝐬</m:t>
                                      </m:r>
                                    </m:e>
                                    <m:sub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C470B3-C403-6184-3012-7159F0781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550" y="5014598"/>
                <a:ext cx="5042898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916CD5-2565-D8A0-6C37-F80566BBB115}"/>
                  </a:ext>
                </a:extLst>
              </p:cNvPr>
              <p:cNvSpPr txBox="1"/>
              <p:nvPr/>
            </p:nvSpPr>
            <p:spPr>
              <a:xfrm>
                <a:off x="3574550" y="2546064"/>
                <a:ext cx="488010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𝛔</m:t>
                                      </m:r>
                                    </m:e>
                                    <m:sub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𝛔</m:t>
                                      </m:r>
                                    </m:e>
                                    <m:sub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916CD5-2565-D8A0-6C37-F80566BBB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550" y="2546064"/>
                <a:ext cx="488010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BA59A9-6C54-45BE-F90D-A4FA3460C05F}"/>
              </a:ext>
            </a:extLst>
          </p:cNvPr>
          <p:cNvSpPr txBox="1">
            <a:spLocks/>
          </p:cNvSpPr>
          <p:nvPr/>
        </p:nvSpPr>
        <p:spPr>
          <a:xfrm>
            <a:off x="131179" y="1708736"/>
            <a:ext cx="11929641" cy="837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45000"/>
              </a:lnSpc>
            </a:pPr>
            <a:r>
              <a:rPr lang="en-US" dirty="0"/>
              <a:t>If Population SDs are known, </a:t>
            </a:r>
          </a:p>
        </p:txBody>
      </p:sp>
    </p:spTree>
    <p:extLst>
      <p:ext uri="{BB962C8B-B14F-4D97-AF65-F5344CB8AC3E}">
        <p14:creationId xmlns:p14="http://schemas.microsoft.com/office/powerpoint/2010/main" val="41143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4" grpId="0"/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F56E4F9-D916-C186-BC4E-2543BB52EDCA}"/>
              </a:ext>
            </a:extLst>
          </p:cNvPr>
          <p:cNvSpPr txBox="1">
            <a:spLocks/>
          </p:cNvSpPr>
          <p:nvPr/>
        </p:nvSpPr>
        <p:spPr>
          <a:xfrm>
            <a:off x="131177" y="864775"/>
            <a:ext cx="11929643" cy="31014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	</a:t>
            </a:r>
          </a:p>
          <a:p>
            <a:r>
              <a:rPr lang="en-IN" dirty="0"/>
              <a:t>						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08284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39525" y="4082847"/>
                <a:ext cx="18024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25" y="4082847"/>
                <a:ext cx="180243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/>
              <p:nvPr/>
            </p:nvSpPr>
            <p:spPr>
              <a:xfrm>
                <a:off x="3813459" y="4065510"/>
                <a:ext cx="161987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459" y="4065510"/>
                <a:ext cx="161987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739525" y="4688030"/>
                <a:ext cx="18024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25" y="4688030"/>
                <a:ext cx="18024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/>
              <p:nvPr/>
            </p:nvSpPr>
            <p:spPr>
              <a:xfrm>
                <a:off x="3813459" y="4688030"/>
                <a:ext cx="16462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459" y="4688030"/>
                <a:ext cx="16462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5704829" y="4048557"/>
                <a:ext cx="12913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29" y="4048557"/>
                <a:ext cx="12913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5719752" y="4688414"/>
                <a:ext cx="12650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752" y="4688414"/>
                <a:ext cx="126503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9C41F5F-3725-8B12-DAC5-D4E4802D42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1317895"/>
                  </p:ext>
                </p:extLst>
              </p:nvPr>
            </p:nvGraphicFramePr>
            <p:xfrm>
              <a:off x="199757" y="2047185"/>
              <a:ext cx="8192173" cy="1786239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045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018339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16027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02311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595413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SD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9C41F5F-3725-8B12-DAC5-D4E4802D42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1317895"/>
                  </p:ext>
                </p:extLst>
              </p:nvPr>
            </p:nvGraphicFramePr>
            <p:xfrm>
              <a:off x="199757" y="2047185"/>
              <a:ext cx="8192173" cy="1786239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045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018339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16027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02311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595413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SD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99094" t="-102041" r="-208157" b="-1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5634" t="-102041" r="-94085" b="-1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5422" t="-102041" r="-602" b="-123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99094" t="-202041" r="-208157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5634" t="-202041" r="-94085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5422" t="-202041" r="-602" b="-23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A799CD9-1282-B11E-8089-092C9C05C769}"/>
              </a:ext>
            </a:extLst>
          </p:cNvPr>
          <p:cNvSpPr txBox="1"/>
          <p:nvPr/>
        </p:nvSpPr>
        <p:spPr>
          <a:xfrm>
            <a:off x="131177" y="874683"/>
            <a:ext cx="11929642" cy="1124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chemeClr val="bg1"/>
                </a:solidFill>
              </a:rPr>
              <a:t>Test the significance of the difference between the means of two normal population with the same standard deviation given from the following data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23DAC-EF97-0CC0-7843-3650D2B41247}"/>
                  </a:ext>
                </a:extLst>
              </p:cNvPr>
              <p:cNvSpPr txBox="1"/>
              <p:nvPr/>
            </p:nvSpPr>
            <p:spPr>
              <a:xfrm>
                <a:off x="8460510" y="3310579"/>
                <a:ext cx="31711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=1.</m:t>
                          </m:r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96</m:t>
                          </m:r>
                          <m:r>
                            <a:rPr lang="en-IN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23DAC-EF97-0CC0-7843-3650D2B4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510" y="3310579"/>
                <a:ext cx="317116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791836F-1FD6-99CB-5585-8EA88142E26B}"/>
                  </a:ext>
                </a:extLst>
              </p:cNvPr>
              <p:cNvSpPr/>
              <p:nvPr/>
            </p:nvSpPr>
            <p:spPr>
              <a:xfrm>
                <a:off x="1743970" y="52977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791836F-1FD6-99CB-5585-8EA88142E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970" y="5297715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FB18AC-1E6A-185E-053B-ECE146FC90B2}"/>
                  </a:ext>
                </a:extLst>
              </p:cNvPr>
              <p:cNvSpPr/>
              <p:nvPr/>
            </p:nvSpPr>
            <p:spPr>
              <a:xfrm>
                <a:off x="2554507" y="5300256"/>
                <a:ext cx="14455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FB18AC-1E6A-185E-053B-ECE146FC9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507" y="5300256"/>
                <a:ext cx="144559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9D618A-A226-31E7-2009-BA4D6E7103D6}"/>
                  </a:ext>
                </a:extLst>
              </p:cNvPr>
              <p:cNvSpPr/>
              <p:nvPr/>
            </p:nvSpPr>
            <p:spPr>
              <a:xfrm>
                <a:off x="4714559" y="5879112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9D618A-A226-31E7-2009-BA4D6E7103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559" y="5879112"/>
                <a:ext cx="238694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3ECB12-B2C8-3217-AA5A-FB180FEE3943}"/>
                  </a:ext>
                </a:extLst>
              </p:cNvPr>
              <p:cNvSpPr/>
              <p:nvPr/>
            </p:nvSpPr>
            <p:spPr>
              <a:xfrm>
                <a:off x="1743970" y="588074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3ECB12-B2C8-3217-AA5A-FB180FEE39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970" y="5880749"/>
                <a:ext cx="7975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4E55DCF-28BC-AAB9-284A-01877668F4A9}"/>
                  </a:ext>
                </a:extLst>
              </p:cNvPr>
              <p:cNvSpPr/>
              <p:nvPr/>
            </p:nvSpPr>
            <p:spPr>
              <a:xfrm>
                <a:off x="2529518" y="5879112"/>
                <a:ext cx="14455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4E55DCF-28BC-AAB9-284A-01877668F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518" y="5879112"/>
                <a:ext cx="144559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F92D0B-81F4-F7F9-A187-0F985DED3896}"/>
              </a:ext>
            </a:extLst>
          </p:cNvPr>
          <p:cNvCxnSpPr>
            <a:cxnSpLocks/>
          </p:cNvCxnSpPr>
          <p:nvPr/>
        </p:nvCxnSpPr>
        <p:spPr>
          <a:xfrm>
            <a:off x="1468248" y="1462325"/>
            <a:ext cx="691304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7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4" grpId="0"/>
      <p:bldP spid="15" grpId="0"/>
      <p:bldP spid="10" grpId="0"/>
      <p:bldP spid="11" grpId="0"/>
      <p:bldP spid="13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2743" y="989511"/>
                <a:ext cx="121599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989511"/>
                <a:ext cx="1215997" cy="523220"/>
              </a:xfrm>
              <a:prstGeom prst="rect">
                <a:avLst/>
              </a:prstGeom>
              <a:blipFill>
                <a:blip r:embed="rId2"/>
                <a:stretch>
                  <a:fillRect t="-11628" r="-55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1540126" y="2977367"/>
                <a:ext cx="3372116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100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200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26" y="2977367"/>
                <a:ext cx="3372116" cy="14377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113553" y="804428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53" y="804428"/>
                <a:ext cx="3071411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CA11CFB-D393-1777-E02B-A729D997B719}"/>
              </a:ext>
            </a:extLst>
          </p:cNvPr>
          <p:cNvGrpSpPr/>
          <p:nvPr/>
        </p:nvGrpSpPr>
        <p:grpSpPr>
          <a:xfrm>
            <a:off x="10221217" y="770649"/>
            <a:ext cx="1867914" cy="3448789"/>
            <a:chOff x="10324086" y="770649"/>
            <a:chExt cx="1972783" cy="34487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361645" y="1988883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=64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645" y="1988883"/>
                  <a:ext cx="186791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324086" y="1362621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6" y="1362621"/>
                  <a:ext cx="1867914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369581" y="2580855"/>
                  <a:ext cx="185670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=67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581" y="2580855"/>
                  <a:ext cx="185670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417525" y="3127107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7525" y="3127107"/>
                  <a:ext cx="186791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428955" y="3696218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8955" y="3696218"/>
                  <a:ext cx="186791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/>
              <p:nvPr/>
            </p:nvSpPr>
            <p:spPr>
              <a:xfrm>
                <a:off x="1540126" y="5018993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3.6380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26" y="5018993"/>
                <a:ext cx="232029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06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724D-40C9-4624-0416-17900447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6DDD-999A-0DF4-06C4-B30816EC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 (Continue)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86E00-10D3-2D7B-1972-E88374A47445}"/>
              </a:ext>
            </a:extLst>
          </p:cNvPr>
          <p:cNvSpPr/>
          <p:nvPr/>
        </p:nvSpPr>
        <p:spPr>
          <a:xfrm>
            <a:off x="161316" y="1695578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8B7B2-4A42-4523-AA7D-BBF4CCE2FC16}"/>
                  </a:ext>
                </a:extLst>
              </p:cNvPr>
              <p:cNvSpPr txBox="1"/>
              <p:nvPr/>
            </p:nvSpPr>
            <p:spPr>
              <a:xfrm>
                <a:off x="31899" y="2425057"/>
                <a:ext cx="24789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3.6380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8B7B2-4A42-4523-AA7D-BBF4CCE2F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9" y="2425057"/>
                <a:ext cx="247898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92EA4D-B484-8F9F-94E2-3AB92AFB8336}"/>
                  </a:ext>
                </a:extLst>
              </p:cNvPr>
              <p:cNvSpPr txBox="1"/>
              <p:nvPr/>
            </p:nvSpPr>
            <p:spPr>
              <a:xfrm>
                <a:off x="2291092" y="2275960"/>
                <a:ext cx="508163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92EA4D-B484-8F9F-94E2-3AB92AFB8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92" y="2275960"/>
                <a:ext cx="50816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B57C65-9204-6F16-697E-434347508AA5}"/>
                  </a:ext>
                </a:extLst>
              </p:cNvPr>
              <p:cNvSpPr txBox="1"/>
              <p:nvPr/>
            </p:nvSpPr>
            <p:spPr>
              <a:xfrm>
                <a:off x="185748" y="4005375"/>
                <a:ext cx="11723827" cy="131196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a significant difference between the means of the two samples.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B57C65-9204-6F16-697E-434347508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8" y="4005375"/>
                <a:ext cx="11723827" cy="1311962"/>
              </a:xfrm>
              <a:prstGeom prst="rect">
                <a:avLst/>
              </a:prstGeom>
              <a:blipFill>
                <a:blip r:embed="rId4"/>
                <a:stretch>
                  <a:fillRect l="-1040" r="-1040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2CAE0B-EBE2-9C2F-60EE-E415E99224AC}"/>
                  </a:ext>
                </a:extLst>
              </p:cNvPr>
              <p:cNvSpPr txBox="1"/>
              <p:nvPr/>
            </p:nvSpPr>
            <p:spPr>
              <a:xfrm>
                <a:off x="2654005" y="2411662"/>
                <a:ext cx="2308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2CAE0B-EBE2-9C2F-60EE-E415E9922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005" y="2411662"/>
                <a:ext cx="23088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0BF5C0-1C93-EDB2-E6FE-8A8F584E9E97}"/>
                  </a:ext>
                </a:extLst>
              </p:cNvPr>
              <p:cNvSpPr txBox="1"/>
              <p:nvPr/>
            </p:nvSpPr>
            <p:spPr>
              <a:xfrm>
                <a:off x="193215" y="3172447"/>
                <a:ext cx="2606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0BF5C0-1C93-EDB2-E6FE-8A8F584E9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15" y="3172447"/>
                <a:ext cx="2606040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810166D-39A8-4BE3-2773-1F364253DED9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048B53-3289-8A1A-4823-95EAAEE17211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048B53-3289-8A1A-4823-95EAAEE17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F52CB8A-46B1-87BD-B107-C0AEDAEBA4CE}"/>
              </a:ext>
            </a:extLst>
          </p:cNvPr>
          <p:cNvGrpSpPr/>
          <p:nvPr/>
        </p:nvGrpSpPr>
        <p:grpSpPr>
          <a:xfrm>
            <a:off x="8554742" y="911086"/>
            <a:ext cx="3527011" cy="2270161"/>
            <a:chOff x="5659775" y="3429000"/>
            <a:chExt cx="3527011" cy="227016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C57FAA8-E927-4A30-6EF3-B5580A71A8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606B06-9D40-92CE-5698-F3BFFABCD826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96443F-736D-D736-5BDE-E750B65C3B58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C88988-8530-1886-3B15-42C32F360C81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7579F7-FDFF-878E-B6B5-4FDF0CFD5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30885D-0397-E58B-5430-443765E25ECE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6904664-0E1B-735B-DC2C-A55BD5862E9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E1849CF-5F94-CA9A-DD1E-2063451F4D08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2916A74-6453-BF14-4137-4C4054A26F1B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477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9" grpId="0"/>
      <p:bldP spid="10" grpId="0"/>
      <p:bldP spid="8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747" y="761163"/>
                <a:ext cx="11929643" cy="33855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light bulbs manufactured by a company A, the mean lifetime of light bulb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1190</m:t>
                    </m:r>
                  </m:oMath>
                </a14:m>
                <a:r>
                  <a:rPr lang="en-US" dirty="0"/>
                  <a:t> hours with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dirty="0"/>
                  <a:t> hours. Also, 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light bulbs manufactured by company B, the mean lifetime of light bulb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1230</m:t>
                    </m:r>
                  </m:oMath>
                </a14:m>
                <a:r>
                  <a:rPr lang="en-US" dirty="0"/>
                  <a:t> hours with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dirty="0"/>
                  <a:t> hours. Is there a difference between the mean lifetime of the two brands of light bulbs at a significance level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lang="en-US" dirty="0"/>
                  <a:t>?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2.58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7" y="761163"/>
                <a:ext cx="11929643" cy="3385536"/>
              </a:xfrm>
              <a:prstGeom prst="rect">
                <a:avLst/>
              </a:prstGeom>
              <a:blipFill>
                <a:blip r:embed="rId2"/>
                <a:stretch>
                  <a:fillRect l="-1073" r="-1022" b="-30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48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F53E-E08B-738E-AE84-0DF7C4A5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B554-A06B-394E-24E9-204B56C7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5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B48842C-2F95-2ECA-04F4-3281C516E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Two companies A and B manufacture light bulbs.</a:t>
                </a:r>
              </a:p>
              <a:p>
                <a:r>
                  <a:rPr lang="en-US" dirty="0"/>
                  <a:t>We take samples of bulbs from both companies and calculate their average lifetime.</a:t>
                </a:r>
              </a:p>
              <a:p>
                <a:pPr lvl="1"/>
                <a:r>
                  <a:rPr lang="en-US" dirty="0"/>
                  <a:t>Company A sample mean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1190</m:t>
                    </m:r>
                  </m:oMath>
                </a14:m>
                <a:r>
                  <a:rPr lang="en-US" dirty="0"/>
                  <a:t> hours</a:t>
                </a:r>
              </a:p>
              <a:p>
                <a:pPr lvl="1"/>
                <a:r>
                  <a:rPr lang="en-US" dirty="0"/>
                  <a:t>Company B sample mean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1230</m:t>
                    </m:r>
                  </m:oMath>
                </a14:m>
                <a:r>
                  <a:rPr lang="en-US" dirty="0"/>
                  <a:t> hours</a:t>
                </a:r>
              </a:p>
              <a:p>
                <a:r>
                  <a:rPr lang="en-US" dirty="0"/>
                  <a:t>Now the question is asking: Is the difference in the average lifetimes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1190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1230</m:t>
                    </m:r>
                  </m:oMath>
                </a14:m>
                <a:r>
                  <a:rPr lang="en-US" dirty="0"/>
                  <a:t> hours) real, or is it only due to random sampling?</a:t>
                </a:r>
              </a:p>
              <a:p>
                <a:pPr lvl="1"/>
                <a:r>
                  <a:rPr lang="en-US" dirty="0"/>
                  <a:t>In other words, we want to check whether both companies actually produce bulbs with the same average lifetime or different average lifetimes.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B48842C-2F95-2ECA-04F4-3281C516E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06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656D-2E9B-0D3F-BBC1-2FD5F5BC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5A70-90C1-856C-B035-402734D8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5 ⇝ Meaning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CB3CC-2066-849E-54AF-F3F4EE766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0"/>
            <a:ext cx="11929641" cy="5742809"/>
          </a:xfrm>
        </p:spPr>
        <p:txBody>
          <a:bodyPr/>
          <a:lstStyle/>
          <a:p>
            <a:r>
              <a:rPr lang="en-US" dirty="0"/>
              <a:t>The question asks “Is there a difference between the mean lifetimes?</a:t>
            </a:r>
          </a:p>
          <a:p>
            <a:pPr lvl="1"/>
            <a:r>
              <a:rPr lang="en-US" dirty="0"/>
              <a:t>“Difference” can happen in two ways:</a:t>
            </a:r>
          </a:p>
          <a:p>
            <a:pPr lvl="2"/>
            <a:r>
              <a:rPr lang="en-US" dirty="0"/>
              <a:t>Mean of A greater than mean of B</a:t>
            </a:r>
          </a:p>
          <a:p>
            <a:pPr lvl="2"/>
            <a:r>
              <a:rPr lang="en-US" dirty="0"/>
              <a:t>Mean of A less than mean of B</a:t>
            </a:r>
          </a:p>
          <a:p>
            <a:pPr lvl="1"/>
            <a:r>
              <a:rPr lang="en-US" dirty="0"/>
              <a:t>Since both possibilities are allowed, we must check both sides of the distribution.</a:t>
            </a:r>
          </a:p>
          <a:p>
            <a:pPr lvl="1"/>
            <a:r>
              <a:rPr lang="en-US" dirty="0"/>
              <a:t>Therefore, we use a two-tailed test.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12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6CD2-CB51-59C0-ADC6-8A8950B7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A56B-297A-39E1-CA0B-2728ED29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5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786113-81F9-F5DB-0554-6F9069D48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 is no difference between the mean lifetimes of light bulbs of company A and company B.</a:t>
                </a:r>
              </a:p>
              <a:p>
                <a:pPr lvl="1"/>
                <a:r>
                  <a:rPr lang="en-US" dirty="0"/>
                  <a:t>This means that if we observe any difference between the sample means, it is only due to sampling variation (chance).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 is a difference between the mean lifetime of bulbs of the two companies.</a:t>
                </a:r>
              </a:p>
              <a:p>
                <a:pPr lvl="1"/>
                <a:r>
                  <a:rPr lang="en-US" dirty="0"/>
                  <a:t>This means that the difference between the sample means is real and not only due to sampling variation.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786113-81F9-F5DB-0554-6F9069D48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99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9BA8-8231-7615-8DB2-B75660A1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B8A2BFD-1469-9055-372C-6AE0BDB7D3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747" y="761163"/>
                <a:ext cx="11929643" cy="33855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light bulbs manufactured by a company A, the mean lifetime of light bulb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1190</m:t>
                    </m:r>
                  </m:oMath>
                </a14:m>
                <a:r>
                  <a:rPr lang="en-US" dirty="0"/>
                  <a:t> hours with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dirty="0"/>
                  <a:t> hours. Also, 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light bulbs manufactured by company B, the mean lifetime of light bulb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1230</m:t>
                    </m:r>
                  </m:oMath>
                </a14:m>
                <a:r>
                  <a:rPr lang="en-US" dirty="0"/>
                  <a:t> hours with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dirty="0"/>
                  <a:t> hours. Is there a difference between the mean lifetime of the two brands of light bulbs at a significance level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lang="en-US" dirty="0"/>
                  <a:t>?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2.58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B8A2BFD-1469-9055-372C-6AE0BDB7D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7" y="761163"/>
                <a:ext cx="11929643" cy="3385536"/>
              </a:xfrm>
              <a:prstGeom prst="rect">
                <a:avLst/>
              </a:prstGeom>
              <a:blipFill>
                <a:blip r:embed="rId2"/>
                <a:stretch>
                  <a:fillRect l="-1073" r="-1022" b="-30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4D3FBE6-37F9-3627-FFC8-B2AB8138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38B0143-A87C-F17C-1DE1-DB2E4FBDC2AA}"/>
              </a:ext>
            </a:extLst>
          </p:cNvPr>
          <p:cNvSpPr/>
          <p:nvPr/>
        </p:nvSpPr>
        <p:spPr>
          <a:xfrm>
            <a:off x="131177" y="425136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837599-66B3-4083-6B94-05DE7F0ADCBB}"/>
                  </a:ext>
                </a:extLst>
              </p:cNvPr>
              <p:cNvSpPr/>
              <p:nvPr/>
            </p:nvSpPr>
            <p:spPr>
              <a:xfrm>
                <a:off x="1739896" y="4758041"/>
                <a:ext cx="17773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837599-66B3-4083-6B94-05DE7F0ADC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96" y="4758041"/>
                <a:ext cx="177735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070E07-856B-0517-03C8-2979FC286E4E}"/>
                  </a:ext>
                </a:extLst>
              </p:cNvPr>
              <p:cNvSpPr/>
              <p:nvPr/>
            </p:nvSpPr>
            <p:spPr>
              <a:xfrm>
                <a:off x="1739896" y="5319041"/>
                <a:ext cx="24733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=1190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hrs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070E07-856B-0517-03C8-2979FC286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96" y="5319041"/>
                <a:ext cx="2473312" cy="523220"/>
              </a:xfrm>
              <a:prstGeom prst="rect">
                <a:avLst/>
              </a:prstGeom>
              <a:blipFill>
                <a:blip r:embed="rId4"/>
                <a:stretch>
                  <a:fillRect t="-11765" r="-493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D5CC7E-1291-8097-C046-45B260A68014}"/>
                  </a:ext>
                </a:extLst>
              </p:cNvPr>
              <p:cNvSpPr/>
              <p:nvPr/>
            </p:nvSpPr>
            <p:spPr>
              <a:xfrm>
                <a:off x="4941265" y="4722775"/>
                <a:ext cx="16662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D5CC7E-1291-8097-C046-45B260A68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265" y="4722775"/>
                <a:ext cx="166624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F12732B-CD98-0B4B-F7A8-1A40419AD577}"/>
                  </a:ext>
                </a:extLst>
              </p:cNvPr>
              <p:cNvSpPr/>
              <p:nvPr/>
            </p:nvSpPr>
            <p:spPr>
              <a:xfrm>
                <a:off x="4918405" y="5335119"/>
                <a:ext cx="24733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=1230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hrs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F12732B-CD98-0B4B-F7A8-1A40419AD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405" y="5335119"/>
                <a:ext cx="2473312" cy="523220"/>
              </a:xfrm>
              <a:prstGeom prst="rect">
                <a:avLst/>
              </a:prstGeom>
              <a:blipFill>
                <a:blip r:embed="rId6"/>
                <a:stretch>
                  <a:fillRect t="-10465" r="-49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31824C0-C860-1D5A-1B6B-9D3454CA8316}"/>
                  </a:ext>
                </a:extLst>
              </p:cNvPr>
              <p:cNvSpPr/>
              <p:nvPr/>
            </p:nvSpPr>
            <p:spPr>
              <a:xfrm>
                <a:off x="1762756" y="5842261"/>
                <a:ext cx="19314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90 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hrs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31824C0-C860-1D5A-1B6B-9D3454CA8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756" y="5842261"/>
                <a:ext cx="1931466" cy="523220"/>
              </a:xfrm>
              <a:prstGeom prst="rect">
                <a:avLst/>
              </a:prstGeom>
              <a:blipFill>
                <a:blip r:embed="rId7"/>
                <a:stretch>
                  <a:fillRect t="-10465" r="-283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61DC41-93F1-6F65-A7B9-734450416048}"/>
                  </a:ext>
                </a:extLst>
              </p:cNvPr>
              <p:cNvSpPr/>
              <p:nvPr/>
            </p:nvSpPr>
            <p:spPr>
              <a:xfrm>
                <a:off x="4941265" y="5846909"/>
                <a:ext cx="2182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hrs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61DC41-93F1-6F65-A7B9-7344504160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265" y="5846909"/>
                <a:ext cx="2182925" cy="523220"/>
              </a:xfrm>
              <a:prstGeom prst="rect">
                <a:avLst/>
              </a:prstGeom>
              <a:blipFill>
                <a:blip r:embed="rId8"/>
                <a:stretch>
                  <a:fillRect t="-10465" r="-27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9E1365-BFD1-58F2-3325-696703D08237}"/>
              </a:ext>
            </a:extLst>
          </p:cNvPr>
          <p:cNvCxnSpPr>
            <a:cxnSpLocks/>
          </p:cNvCxnSpPr>
          <p:nvPr/>
        </p:nvCxnSpPr>
        <p:spPr>
          <a:xfrm>
            <a:off x="2083956" y="1359270"/>
            <a:ext cx="836306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AC46D2-D5E9-6725-726C-424853D2558C}"/>
              </a:ext>
            </a:extLst>
          </p:cNvPr>
          <p:cNvSpPr txBox="1"/>
          <p:nvPr/>
        </p:nvSpPr>
        <p:spPr>
          <a:xfrm>
            <a:off x="1717036" y="4228414"/>
            <a:ext cx="1970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Company A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848954-909B-8E44-1C39-7FF564E3D754}"/>
              </a:ext>
            </a:extLst>
          </p:cNvPr>
          <p:cNvSpPr txBox="1"/>
          <p:nvPr/>
        </p:nvSpPr>
        <p:spPr>
          <a:xfrm>
            <a:off x="4918405" y="4228414"/>
            <a:ext cx="2076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Company B</a:t>
            </a:r>
            <a:endParaRPr lang="en-IN" sz="2800" b="1" dirty="0">
              <a:solidFill>
                <a:srgbClr val="00206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013CF-B87B-01EC-3E4E-ACB3BAB03D13}"/>
              </a:ext>
            </a:extLst>
          </p:cNvPr>
          <p:cNvCxnSpPr>
            <a:cxnSpLocks/>
          </p:cNvCxnSpPr>
          <p:nvPr/>
        </p:nvCxnSpPr>
        <p:spPr>
          <a:xfrm>
            <a:off x="1380954" y="2458848"/>
            <a:ext cx="759159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F0034E-BDC3-A635-92B3-B1E5A45A5AD1}"/>
              </a:ext>
            </a:extLst>
          </p:cNvPr>
          <p:cNvCxnSpPr>
            <a:cxnSpLocks/>
          </p:cNvCxnSpPr>
          <p:nvPr/>
        </p:nvCxnSpPr>
        <p:spPr>
          <a:xfrm>
            <a:off x="201559" y="1925448"/>
            <a:ext cx="497519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337433-624C-ACAB-0B43-1C37D5C9F2F3}"/>
              </a:ext>
            </a:extLst>
          </p:cNvPr>
          <p:cNvCxnSpPr>
            <a:cxnSpLocks/>
          </p:cNvCxnSpPr>
          <p:nvPr/>
        </p:nvCxnSpPr>
        <p:spPr>
          <a:xfrm>
            <a:off x="11155680" y="1359270"/>
            <a:ext cx="82991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14319-8249-A168-5AC1-3AF49665CD2D}"/>
              </a:ext>
            </a:extLst>
          </p:cNvPr>
          <p:cNvCxnSpPr>
            <a:cxnSpLocks/>
          </p:cNvCxnSpPr>
          <p:nvPr/>
        </p:nvCxnSpPr>
        <p:spPr>
          <a:xfrm>
            <a:off x="6061708" y="1923036"/>
            <a:ext cx="43853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D61460-AFD2-025A-1D65-FA4CD94CA4B3}"/>
              </a:ext>
            </a:extLst>
          </p:cNvPr>
          <p:cNvCxnSpPr>
            <a:cxnSpLocks/>
          </p:cNvCxnSpPr>
          <p:nvPr/>
        </p:nvCxnSpPr>
        <p:spPr>
          <a:xfrm>
            <a:off x="9594249" y="2458848"/>
            <a:ext cx="197638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CBA5BF0-DD3C-9580-A656-8A892A8D0C31}"/>
              </a:ext>
            </a:extLst>
          </p:cNvPr>
          <p:cNvCxnSpPr>
            <a:cxnSpLocks/>
          </p:cNvCxnSpPr>
          <p:nvPr/>
        </p:nvCxnSpPr>
        <p:spPr>
          <a:xfrm>
            <a:off x="211953" y="2988438"/>
            <a:ext cx="3399927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AD3FF9-A321-7F68-535A-F1CFDFB3254B}"/>
              </a:ext>
            </a:extLst>
          </p:cNvPr>
          <p:cNvCxnSpPr>
            <a:cxnSpLocks/>
          </p:cNvCxnSpPr>
          <p:nvPr/>
        </p:nvCxnSpPr>
        <p:spPr>
          <a:xfrm>
            <a:off x="4361744" y="2988438"/>
            <a:ext cx="449650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0E53255-6173-02FD-1478-6A6F9E48AE3B}"/>
                  </a:ext>
                </a:extLst>
              </p:cNvPr>
              <p:cNvSpPr/>
              <p:nvPr/>
            </p:nvSpPr>
            <p:spPr>
              <a:xfrm>
                <a:off x="8487909" y="427590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0E53255-6173-02FD-1478-6A6F9E48A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909" y="4275907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A8B9A2A-B3B3-5474-41D0-AF304586CF11}"/>
                  </a:ext>
                </a:extLst>
              </p:cNvPr>
              <p:cNvSpPr/>
              <p:nvPr/>
            </p:nvSpPr>
            <p:spPr>
              <a:xfrm>
                <a:off x="9298446" y="4278448"/>
                <a:ext cx="16627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A8B9A2A-B3B3-5474-41D0-AF304586C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446" y="4278448"/>
                <a:ext cx="166276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AA3A5FA-DD43-6DEF-BE3F-3FBBD74EE0E6}"/>
                  </a:ext>
                </a:extLst>
              </p:cNvPr>
              <p:cNvSpPr/>
              <p:nvPr/>
            </p:nvSpPr>
            <p:spPr>
              <a:xfrm>
                <a:off x="8487909" y="488180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AA3A5FA-DD43-6DEF-BE3F-3FBBD74EE0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909" y="4881801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7694032-56F7-5203-E291-F2CDF372C053}"/>
                  </a:ext>
                </a:extLst>
              </p:cNvPr>
              <p:cNvSpPr/>
              <p:nvPr/>
            </p:nvSpPr>
            <p:spPr>
              <a:xfrm>
                <a:off x="9284886" y="4880164"/>
                <a:ext cx="16627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7694032-56F7-5203-E291-F2CDF372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886" y="4880164"/>
                <a:ext cx="166275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796AE2-4694-0216-00BF-F376E67D38CD}"/>
                  </a:ext>
                </a:extLst>
              </p:cNvPr>
              <p:cNvSpPr/>
              <p:nvPr/>
            </p:nvSpPr>
            <p:spPr>
              <a:xfrm>
                <a:off x="8476478" y="5481880"/>
                <a:ext cx="378791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=5%  &amp;  1%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796AE2-4694-0216-00BF-F376E67D3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78" y="5481880"/>
                <a:ext cx="378791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2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4" grpId="0"/>
      <p:bldP spid="15" grpId="0"/>
      <p:bldP spid="11" grpId="0"/>
      <p:bldP spid="13" grpId="0"/>
      <p:bldP spid="33" grpId="0"/>
      <p:bldP spid="34" grpId="0"/>
      <p:bldP spid="35" grpId="0"/>
      <p:bldP spid="36" grpId="0"/>
      <p:bldP spid="3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65311" y="98986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1" y="989865"/>
                <a:ext cx="1318866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1384177" y="2715224"/>
                <a:ext cx="3964000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1230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8100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4400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75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77" y="2715224"/>
                <a:ext cx="3964000" cy="14377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840381" y="804782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81" y="804782"/>
                <a:ext cx="3071411" cy="1541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F44839-DCB9-9F10-9D1F-F4590643D9F2}"/>
              </a:ext>
            </a:extLst>
          </p:cNvPr>
          <p:cNvGrpSpPr/>
          <p:nvPr/>
        </p:nvGrpSpPr>
        <p:grpSpPr>
          <a:xfrm>
            <a:off x="10098270" y="695875"/>
            <a:ext cx="2074139" cy="2888719"/>
            <a:chOff x="10155420" y="787315"/>
            <a:chExt cx="2074139" cy="28887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192979" y="1753902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979" y="1753902"/>
                  <a:ext cx="20365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155420" y="1239814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0" y="1239814"/>
                  <a:ext cx="203658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166625" y="2217831"/>
                  <a:ext cx="202537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1230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6625" y="2217831"/>
                  <a:ext cx="2025375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250129" y="2670330"/>
                  <a:ext cx="1614211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0129" y="2670330"/>
                  <a:ext cx="1614211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261559" y="3152814"/>
                  <a:ext cx="1694221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1559" y="3152814"/>
                  <a:ext cx="169422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/>
              <p:nvPr/>
            </p:nvSpPr>
            <p:spPr>
              <a:xfrm>
                <a:off x="1384177" y="4425860"/>
                <a:ext cx="2633444" cy="103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5227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77" y="4425860"/>
                <a:ext cx="2633444" cy="10330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1384177" y="5731835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77" y="5731835"/>
                <a:ext cx="232029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6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0" grpId="0"/>
      <p:bldP spid="3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F20D-20D5-0AAA-D87A-3BA590F9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6570-27AA-1FCF-9B00-3FF6CE98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 (Continue)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2F751-0218-4652-A7EF-0778AF15446F}"/>
              </a:ext>
            </a:extLst>
          </p:cNvPr>
          <p:cNvSpPr/>
          <p:nvPr/>
        </p:nvSpPr>
        <p:spPr>
          <a:xfrm>
            <a:off x="161355" y="178116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54E7CF-AC3A-B1E2-CE99-C3AA330EFAE0}"/>
                  </a:ext>
                </a:extLst>
              </p:cNvPr>
              <p:cNvSpPr txBox="1"/>
              <p:nvPr/>
            </p:nvSpPr>
            <p:spPr>
              <a:xfrm>
                <a:off x="2333451" y="2503906"/>
                <a:ext cx="24912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54E7CF-AC3A-B1E2-CE99-C3AA330EF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51" y="2503906"/>
                <a:ext cx="24912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E5EA9D-080A-0856-EBDE-4C99D99D91AB}"/>
                  </a:ext>
                </a:extLst>
              </p:cNvPr>
              <p:cNvSpPr txBox="1"/>
              <p:nvPr/>
            </p:nvSpPr>
            <p:spPr>
              <a:xfrm>
                <a:off x="4734941" y="2366680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E5EA9D-080A-0856-EBDE-4C99D99D9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941" y="2366680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934EB3-BF53-5E82-A14F-B632CC6CBDF8}"/>
                  </a:ext>
                </a:extLst>
              </p:cNvPr>
              <p:cNvSpPr txBox="1"/>
              <p:nvPr/>
            </p:nvSpPr>
            <p:spPr>
              <a:xfrm>
                <a:off x="5220246" y="2503906"/>
                <a:ext cx="26248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934EB3-BF53-5E82-A14F-B632CC6CB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246" y="2503906"/>
                <a:ext cx="262483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03A25-D6B1-0B94-4549-D5A71EDB4366}"/>
                  </a:ext>
                </a:extLst>
              </p:cNvPr>
              <p:cNvSpPr txBox="1"/>
              <p:nvPr/>
            </p:nvSpPr>
            <p:spPr>
              <a:xfrm>
                <a:off x="2441454" y="3345896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03A25-D6B1-0B94-4549-D5A71EDB4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454" y="3345896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FC8C1B-6C81-1D09-1ABF-2B8A57C6A5D3}"/>
                  </a:ext>
                </a:extLst>
              </p:cNvPr>
              <p:cNvSpPr txBox="1"/>
              <p:nvPr/>
            </p:nvSpPr>
            <p:spPr>
              <a:xfrm>
                <a:off x="2507597" y="4233591"/>
                <a:ext cx="9485929" cy="16620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a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significant difference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between the mean lifetimes of bulbs manufactured by companies A and B..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FC8C1B-6C81-1D09-1ABF-2B8A57C6A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597" y="4233591"/>
                <a:ext cx="9485929" cy="1662058"/>
              </a:xfrm>
              <a:prstGeom prst="rect">
                <a:avLst/>
              </a:prstGeom>
              <a:blipFill>
                <a:blip r:embed="rId7"/>
                <a:stretch>
                  <a:fillRect l="-1285" r="-1350"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D47FBC-1E5E-91B9-A247-76793EC8F7AA}"/>
                  </a:ext>
                </a:extLst>
              </p:cNvPr>
              <p:cNvSpPr txBox="1"/>
              <p:nvPr/>
            </p:nvSpPr>
            <p:spPr>
              <a:xfrm>
                <a:off x="242911" y="2503906"/>
                <a:ext cx="2127469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D47FBC-1E5E-91B9-A247-76793EC8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11" y="2503906"/>
                <a:ext cx="2127469" cy="523220"/>
              </a:xfrm>
              <a:prstGeom prst="rect">
                <a:avLst/>
              </a:prstGeom>
              <a:blipFill>
                <a:blip r:embed="rId8"/>
                <a:stretch>
                  <a:fillRect l="-601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043C839-DDBB-EDAF-0E53-2F839D782027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859767-C802-9E31-372E-04FE385354CD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859767-C802-9E31-372E-04FE38535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2A4248F-276C-EB78-20DF-4A342C165AA9}"/>
              </a:ext>
            </a:extLst>
          </p:cNvPr>
          <p:cNvGrpSpPr/>
          <p:nvPr/>
        </p:nvGrpSpPr>
        <p:grpSpPr>
          <a:xfrm>
            <a:off x="8503634" y="962351"/>
            <a:ext cx="3527011" cy="2270161"/>
            <a:chOff x="5659775" y="3429000"/>
            <a:chExt cx="3527011" cy="227016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08F2235-9453-D2A0-151C-583CCFD038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84D23E-683E-608A-A1CC-D4427504E91F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6353EBB-F361-B3DA-35B8-33DCA3F7E843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75C233B-5D14-4DD5-EA72-667BC7C5DF1A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05F84DB-077C-AA16-D6F5-58D0058216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5F890F-DF37-EAE1-0EC1-A38D3142F44C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E81CD0-E121-357F-9596-500CD1FF07C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684154-A94B-3345-645E-4B41F8377C09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C30139D-2251-250F-7525-D1D799C07F1A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307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 animBg="1"/>
      <p:bldP spid="3" grpId="0" animBg="1"/>
      <p:bldP spid="8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3705-9B1A-7AE8-E0C0-B5D0A6F7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017B-6675-4F5C-DFFC-9BC20B7A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0C9FB-47B7-E4EF-A5A7-81F8F3587E47}"/>
                  </a:ext>
                </a:extLst>
              </p:cNvPr>
              <p:cNvSpPr txBox="1"/>
              <p:nvPr/>
            </p:nvSpPr>
            <p:spPr>
              <a:xfrm>
                <a:off x="2488716" y="2256963"/>
                <a:ext cx="25205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0C9FB-47B7-E4EF-A5A7-81F8F3587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16" y="2256963"/>
                <a:ext cx="25205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B66EA8-5A3A-9B21-0881-553FEF9DCCE1}"/>
                  </a:ext>
                </a:extLst>
              </p:cNvPr>
              <p:cNvSpPr txBox="1"/>
              <p:nvPr/>
            </p:nvSpPr>
            <p:spPr>
              <a:xfrm>
                <a:off x="4815659" y="2119737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B66EA8-5A3A-9B21-0881-553FEF9DC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659" y="2119737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954E6-FF2E-BE8C-631C-EA2376A86A02}"/>
                  </a:ext>
                </a:extLst>
              </p:cNvPr>
              <p:cNvSpPr txBox="1"/>
              <p:nvPr/>
            </p:nvSpPr>
            <p:spPr>
              <a:xfrm>
                <a:off x="5300964" y="2256963"/>
                <a:ext cx="24755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954E6-FF2E-BE8C-631C-EA2376A86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64" y="2256963"/>
                <a:ext cx="247553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128950-CCC4-DCE4-0021-57B32F479545}"/>
                  </a:ext>
                </a:extLst>
              </p:cNvPr>
              <p:cNvSpPr txBox="1"/>
              <p:nvPr/>
            </p:nvSpPr>
            <p:spPr>
              <a:xfrm>
                <a:off x="2695980" y="3026225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128950-CCC4-DCE4-0021-57B32F479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980" y="3026225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2EC4ED-0C58-E2EB-23EE-967CD4DF9F87}"/>
                  </a:ext>
                </a:extLst>
              </p:cNvPr>
              <p:cNvSpPr txBox="1"/>
              <p:nvPr/>
            </p:nvSpPr>
            <p:spPr>
              <a:xfrm>
                <a:off x="2695979" y="3795486"/>
                <a:ext cx="9244383" cy="16620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no significant difference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between the mean lifetimes of bulbs manufactured by companies A and B.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2EC4ED-0C58-E2EB-23EE-967CD4DF9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979" y="3795486"/>
                <a:ext cx="9244383" cy="1662058"/>
              </a:xfrm>
              <a:prstGeom prst="rect">
                <a:avLst/>
              </a:prstGeom>
              <a:blipFill>
                <a:blip r:embed="rId7"/>
                <a:stretch>
                  <a:fillRect l="-1318" r="-1318" b="-9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50D26EB-AC71-1B26-E28F-6BC0DA2DB33A}"/>
              </a:ext>
            </a:extLst>
          </p:cNvPr>
          <p:cNvSpPr/>
          <p:nvPr/>
        </p:nvSpPr>
        <p:spPr>
          <a:xfrm>
            <a:off x="142474" y="163082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0B672B-B8E7-3DC5-95F0-E964B74BF996}"/>
                  </a:ext>
                </a:extLst>
              </p:cNvPr>
              <p:cNvSpPr txBox="1"/>
              <p:nvPr/>
            </p:nvSpPr>
            <p:spPr>
              <a:xfrm>
                <a:off x="251861" y="2277074"/>
                <a:ext cx="2127469" cy="523220"/>
              </a:xfrm>
              <a:prstGeom prst="rect">
                <a:avLst/>
              </a:prstGeom>
              <a:solidFill>
                <a:srgbClr val="B71B1C"/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chemeClr val="bg1"/>
                    </a:solidFill>
                  </a:rPr>
                  <a:t>For,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𝛂</m:t>
                    </m:r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0B672B-B8E7-3DC5-95F0-E964B74BF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61" y="2277074"/>
                <a:ext cx="2127469" cy="523220"/>
              </a:xfrm>
              <a:prstGeom prst="rect">
                <a:avLst/>
              </a:prstGeom>
              <a:blipFill>
                <a:blip r:embed="rId8"/>
                <a:stretch>
                  <a:fillRect l="-5731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797B1E59-D91D-07DD-56F3-789C09B873EA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205620-A57F-9F0A-6D2C-F4BA93CF25FC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205620-A57F-9F0A-6D2C-F4BA93CF2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47009DF-46B2-FA8F-264F-A851DBF0D8BE}"/>
              </a:ext>
            </a:extLst>
          </p:cNvPr>
          <p:cNvGrpSpPr/>
          <p:nvPr/>
        </p:nvGrpSpPr>
        <p:grpSpPr>
          <a:xfrm>
            <a:off x="8579910" y="911086"/>
            <a:ext cx="3527011" cy="2270161"/>
            <a:chOff x="5659775" y="3429000"/>
            <a:chExt cx="3527011" cy="227016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49438AA-AEBB-D75A-CE11-FDF3DB9718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1C6FC7-286C-1AC3-E617-F8E1E027142C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AC9E34E-9AA6-DD9F-2775-47A4113A08D8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0AEAF7B-2089-46EB-9092-5A69F34E0AFF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76FFBA7-0F1E-7100-846B-A718205FE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1AD15F-FE61-6E0E-B385-7DA1311063ED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CFFC27A-25FF-BE6F-46BE-AB1E01A9845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22FF912-0174-A5B5-FC91-135EBB98B4AC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−2.58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22FF912-0174-A5B5-FC91-135EBB98B4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110ADE2-71BB-0EAA-21B2-4669049665F4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2.58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110ADE2-71BB-0EAA-21B2-4669049665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480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23" grpId="0" animBg="1"/>
      <p:bldP spid="8" grpId="0"/>
      <p:bldP spid="17" grpId="0" animBg="1"/>
      <p:bldP spid="18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72591"/>
                <a:ext cx="11929643" cy="43480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A company A manufactured tube lights and claims that its tube lights are superior than its main competitor company B. The study showed that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tube lights manufactured by company A has a mean lifetime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647</m:t>
                    </m:r>
                  </m:oMath>
                </a14:m>
                <a:r>
                  <a:rPr lang="en-US" dirty="0"/>
                  <a:t> hours of continuous use with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dirty="0"/>
                  <a:t> hours, while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tube lights manufactured by company B had a mean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638</m:t>
                    </m:r>
                  </m:oMath>
                </a14:m>
                <a:r>
                  <a:rPr lang="en-US" dirty="0"/>
                  <a:t> hours of continuous use with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dirty="0"/>
                  <a:t> hours. Does this substantiate the claim of company A that their tube lights are superior than manufactured by company B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 of significance?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72591"/>
                <a:ext cx="11929643" cy="4348049"/>
              </a:xfrm>
              <a:prstGeom prst="rect">
                <a:avLst/>
              </a:prstGeom>
              <a:blipFill>
                <a:blip r:embed="rId3"/>
                <a:stretch>
                  <a:fillRect l="-1074" r="-1074" b="-3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22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C811-00D8-0210-9F3B-048E5791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A743-BB83-9A59-59AB-E82FB64F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3B5796-5697-1E85-955A-8439CDFCC2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95924"/>
              </a:xfrm>
            </p:spPr>
            <p:txBody>
              <a:bodyPr/>
              <a:lstStyle/>
              <a:p>
                <a:r>
                  <a:rPr lang="en-US" dirty="0"/>
                  <a:t>Company A says that its tube lights are superior (better) than those of company B.</a:t>
                </a:r>
              </a:p>
              <a:p>
                <a:pPr lvl="1"/>
                <a:r>
                  <a:rPr lang="en-US" dirty="0"/>
                  <a:t>Here “better” means longer lifetime.</a:t>
                </a:r>
              </a:p>
              <a:p>
                <a:r>
                  <a:rPr lang="en-US" dirty="0"/>
                  <a:t>From samples we observe:</a:t>
                </a:r>
              </a:p>
              <a:p>
                <a:pPr lvl="1"/>
                <a:r>
                  <a:rPr lang="en-US" dirty="0"/>
                  <a:t>Company A average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=647</m:t>
                    </m:r>
                  </m:oMath>
                </a14:m>
                <a:r>
                  <a:rPr lang="en-US" dirty="0"/>
                  <a:t> hours</a:t>
                </a:r>
              </a:p>
              <a:p>
                <a:pPr lvl="1"/>
                <a:r>
                  <a:rPr lang="en-US" dirty="0"/>
                  <a:t>Company B average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=638</m:t>
                    </m:r>
                  </m:oMath>
                </a14:m>
                <a:r>
                  <a:rPr lang="en-US" dirty="0"/>
                  <a:t> hours</a:t>
                </a:r>
              </a:p>
              <a:p>
                <a:r>
                  <a:rPr lang="en-US" dirty="0"/>
                  <a:t>The sample data shows that the mean life of tube lights from company A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 more</a:t>
                </a:r>
                <a:r>
                  <a:rPr lang="en-US" dirty="0"/>
                  <a:t> than that of company B.</a:t>
                </a:r>
              </a:p>
              <a:p>
                <a:r>
                  <a:rPr lang="en-US" dirty="0"/>
                  <a:t>But the question is asking: Is this difference really because A is better, or could it just be due to sampling variation (chance)?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3B5796-5697-1E85-955A-8439CDFCC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95924"/>
              </a:xfrm>
              <a:blipFill>
                <a:blip r:embed="rId3"/>
                <a:stretch>
                  <a:fillRect l="-971" r="-1074" b="-2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93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BF14-A387-5328-FB8C-ACB5478E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305F-34F9-FEAE-C1D4-462F79D4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CCED31-7B02-B0A5-F691-CE10CD0BC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95924"/>
              </a:xfrm>
            </p:spPr>
            <p:txBody>
              <a:bodyPr/>
              <a:lstStyle/>
              <a:p>
                <a:r>
                  <a:rPr lang="en-US" dirty="0"/>
                  <a:t>Note that, </a:t>
                </a:r>
              </a:p>
              <a:p>
                <a:pPr lvl="1"/>
                <a:r>
                  <a:rPr lang="en-US" dirty="0"/>
                  <a:t>When we say: The claim of company A is </a:t>
                </a:r>
                <a:r>
                  <a:rPr lang="en-US" b="1" dirty="0"/>
                  <a:t>substantiated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It means:</a:t>
                </a:r>
              </a:p>
              <a:p>
                <a:pPr lvl="2"/>
                <a:r>
                  <a:rPr lang="en-US" dirty="0"/>
                  <a:t>There is enough statistical evidence to prove that company A’s tube lights are superior, and the observed difference may be due to sampling variation.</a:t>
                </a:r>
              </a:p>
              <a:p>
                <a:pPr lvl="1"/>
                <a:r>
                  <a:rPr lang="en-US" b="1" dirty="0"/>
                  <a:t>Substantiated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/>
                  <a:t> proved or supported by evidence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CCED31-7B02-B0A5-F691-CE10CD0BC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95924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16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0638-F5D9-62A8-C049-BF30A4D8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E8E4-253A-2633-BB81-B42CF54F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B3553-CB01-5E9A-60B9-02E940C7A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78382"/>
                <a:ext cx="11929641" cy="5728742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tube lights of company A are </a:t>
                </a:r>
                <a:r>
                  <a:rPr lang="en-US" b="1" dirty="0"/>
                  <a:t>not superior</a:t>
                </a:r>
                <a:r>
                  <a:rPr lang="en-US" dirty="0"/>
                  <a:t> to those of company B.</a:t>
                </a:r>
              </a:p>
              <a:p>
                <a:pPr lvl="1"/>
                <a:r>
                  <a:rPr lang="en-US" dirty="0"/>
                  <a:t>If we observe any difference between the sample means, it is only due to sampling variation.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mean lifetime of tube lights of company A is greater than company B, so A's tube lights are superior.</a:t>
                </a:r>
              </a:p>
              <a:p>
                <a:pPr lvl="1"/>
                <a:r>
                  <a:rPr lang="en-US" dirty="0"/>
                  <a:t>Because the claim is “A is superior”, this is a right-tailed test.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B3553-CB01-5E9A-60B9-02E940C7A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78382"/>
                <a:ext cx="11929641" cy="5728742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92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C063-F53E-A870-CDC0-7F920EB3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92A5CEC-8C19-88AF-BDC1-B2F93258E9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72591"/>
                <a:ext cx="11929643" cy="43480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A company A manufactured tube lights and claims that its tube lights are superior than its main competitor company B. The study showed that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tube lights manufactured by company A has a mean lifetime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647</m:t>
                    </m:r>
                  </m:oMath>
                </a14:m>
                <a:r>
                  <a:rPr lang="en-US" dirty="0"/>
                  <a:t> hours of continuous use with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dirty="0"/>
                  <a:t> hours, while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tube lights manufactured by company B had a mean lifetime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638</m:t>
                    </m:r>
                  </m:oMath>
                </a14:m>
                <a:r>
                  <a:rPr lang="en-US" dirty="0"/>
                  <a:t> hours of continuous use with a standard deviation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US" dirty="0"/>
                  <a:t> hours. Does this substantiate the claim of company A that their tube lights are superior than manufactured by company B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 of significance?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92A5CEC-8C19-88AF-BDC1-B2F93258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72591"/>
                <a:ext cx="11929643" cy="4348049"/>
              </a:xfrm>
              <a:prstGeom prst="rect">
                <a:avLst/>
              </a:prstGeom>
              <a:blipFill>
                <a:blip r:embed="rId3"/>
                <a:stretch>
                  <a:fillRect l="-1074" r="-1074" b="-3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BA885FF-EFD2-5D23-3A0A-020C1124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329987-0F44-7CC9-1685-0C4B678FCAE0}"/>
              </a:ext>
            </a:extLst>
          </p:cNvPr>
          <p:cNvCxnSpPr>
            <a:cxnSpLocks/>
          </p:cNvCxnSpPr>
          <p:nvPr/>
        </p:nvCxnSpPr>
        <p:spPr>
          <a:xfrm>
            <a:off x="506616" y="1359270"/>
            <a:ext cx="1155420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69369-AF20-2827-D09D-AFC87BDECC64}"/>
              </a:ext>
            </a:extLst>
          </p:cNvPr>
          <p:cNvCxnSpPr>
            <a:cxnSpLocks/>
          </p:cNvCxnSpPr>
          <p:nvPr/>
        </p:nvCxnSpPr>
        <p:spPr>
          <a:xfrm>
            <a:off x="224676" y="1888860"/>
            <a:ext cx="52502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02D913-D748-0D61-C449-EB4E894A9F64}"/>
              </a:ext>
            </a:extLst>
          </p:cNvPr>
          <p:cNvCxnSpPr>
            <a:cxnSpLocks/>
          </p:cNvCxnSpPr>
          <p:nvPr/>
        </p:nvCxnSpPr>
        <p:spPr>
          <a:xfrm>
            <a:off x="9330576" y="1864200"/>
            <a:ext cx="262520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0B1568-D3C7-0B73-AA01-2F602D3ABDBA}"/>
              </a:ext>
            </a:extLst>
          </p:cNvPr>
          <p:cNvCxnSpPr>
            <a:cxnSpLocks/>
          </p:cNvCxnSpPr>
          <p:nvPr/>
        </p:nvCxnSpPr>
        <p:spPr>
          <a:xfrm>
            <a:off x="224676" y="2393790"/>
            <a:ext cx="486167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2B95FA-928B-46A8-21EB-BC6BED463F67}"/>
              </a:ext>
            </a:extLst>
          </p:cNvPr>
          <p:cNvCxnSpPr>
            <a:cxnSpLocks/>
          </p:cNvCxnSpPr>
          <p:nvPr/>
        </p:nvCxnSpPr>
        <p:spPr>
          <a:xfrm>
            <a:off x="6096000" y="2393790"/>
            <a:ext cx="38252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F981B9-198A-CCC4-363D-695E1403FA40}"/>
              </a:ext>
            </a:extLst>
          </p:cNvPr>
          <p:cNvCxnSpPr>
            <a:cxnSpLocks/>
          </p:cNvCxnSpPr>
          <p:nvPr/>
        </p:nvCxnSpPr>
        <p:spPr>
          <a:xfrm>
            <a:off x="2042160" y="2911950"/>
            <a:ext cx="463296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37C96F-32B6-165D-A69E-8E2965E6B57C}"/>
              </a:ext>
            </a:extLst>
          </p:cNvPr>
          <p:cNvCxnSpPr>
            <a:cxnSpLocks/>
          </p:cNvCxnSpPr>
          <p:nvPr/>
        </p:nvCxnSpPr>
        <p:spPr>
          <a:xfrm>
            <a:off x="8214360" y="2913060"/>
            <a:ext cx="374142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908201-77F2-0A28-81A7-4D05C82C545E}"/>
              </a:ext>
            </a:extLst>
          </p:cNvPr>
          <p:cNvCxnSpPr>
            <a:cxnSpLocks/>
          </p:cNvCxnSpPr>
          <p:nvPr/>
        </p:nvCxnSpPr>
        <p:spPr>
          <a:xfrm>
            <a:off x="224676" y="3429000"/>
            <a:ext cx="409586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1B0B3B-D61F-2179-6F76-4348D31F37CA}"/>
              </a:ext>
            </a:extLst>
          </p:cNvPr>
          <p:cNvCxnSpPr>
            <a:cxnSpLocks/>
          </p:cNvCxnSpPr>
          <p:nvPr/>
        </p:nvCxnSpPr>
        <p:spPr>
          <a:xfrm>
            <a:off x="464084" y="4012552"/>
            <a:ext cx="4320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CBB3A-9D43-9EE3-C9C7-22EECDFEADBA}"/>
              </a:ext>
            </a:extLst>
          </p:cNvPr>
          <p:cNvSpPr/>
          <p:nvPr/>
        </p:nvSpPr>
        <p:spPr>
          <a:xfrm>
            <a:off x="133774" y="520878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BAD740C-0272-E34E-32BE-B391FB14CD62}"/>
                  </a:ext>
                </a:extLst>
              </p:cNvPr>
              <p:cNvSpPr/>
              <p:nvPr/>
            </p:nvSpPr>
            <p:spPr>
              <a:xfrm>
                <a:off x="3589515" y="5202717"/>
                <a:ext cx="14703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BAD740C-0272-E34E-32BE-B391FB14C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515" y="5202717"/>
                <a:ext cx="147037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48903D5-CEAA-F3E0-7310-D1AC614BB73E}"/>
              </a:ext>
            </a:extLst>
          </p:cNvPr>
          <p:cNvSpPr txBox="1"/>
          <p:nvPr/>
        </p:nvSpPr>
        <p:spPr>
          <a:xfrm>
            <a:off x="1650628" y="5202717"/>
            <a:ext cx="1824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Company A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8856D8-6FF8-4E02-ED86-5E6922286EB7}"/>
              </a:ext>
            </a:extLst>
          </p:cNvPr>
          <p:cNvSpPr txBox="1"/>
          <p:nvPr/>
        </p:nvSpPr>
        <p:spPr>
          <a:xfrm>
            <a:off x="1650628" y="5917099"/>
            <a:ext cx="1777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Company B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1C92EDC-6485-D867-9339-4D439388F6AB}"/>
                  </a:ext>
                </a:extLst>
              </p:cNvPr>
              <p:cNvSpPr/>
              <p:nvPr/>
            </p:nvSpPr>
            <p:spPr>
              <a:xfrm>
                <a:off x="3589515" y="5882119"/>
                <a:ext cx="15960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1C92EDC-6485-D867-9339-4D439388F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515" y="5882119"/>
                <a:ext cx="159608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7A48D12-05FE-A99F-CFD2-24DC59082FA0}"/>
                  </a:ext>
                </a:extLst>
              </p:cNvPr>
              <p:cNvSpPr/>
              <p:nvPr/>
            </p:nvSpPr>
            <p:spPr>
              <a:xfrm>
                <a:off x="5147087" y="5203902"/>
                <a:ext cx="18243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7A48D12-05FE-A99F-CFD2-24DC59082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087" y="5203902"/>
                <a:ext cx="18243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338217F-53E8-98A4-31BF-30AD20B2D442}"/>
                  </a:ext>
                </a:extLst>
              </p:cNvPr>
              <p:cNvSpPr/>
              <p:nvPr/>
            </p:nvSpPr>
            <p:spPr>
              <a:xfrm>
                <a:off x="5214376" y="5882119"/>
                <a:ext cx="18567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=638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338217F-53E8-98A4-31BF-30AD20B2D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376" y="5882119"/>
                <a:ext cx="185670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607733F-D101-8977-DC3F-AE308971E206}"/>
                  </a:ext>
                </a:extLst>
              </p:cNvPr>
              <p:cNvSpPr/>
              <p:nvPr/>
            </p:nvSpPr>
            <p:spPr>
              <a:xfrm>
                <a:off x="7300035" y="5202717"/>
                <a:ext cx="15827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607733F-D101-8977-DC3F-AE308971E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035" y="5202717"/>
                <a:ext cx="15827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ADC5FD1-8719-44EE-8816-50ADB0E7CB04}"/>
                  </a:ext>
                </a:extLst>
              </p:cNvPr>
              <p:cNvSpPr/>
              <p:nvPr/>
            </p:nvSpPr>
            <p:spPr>
              <a:xfrm>
                <a:off x="7309765" y="5882119"/>
                <a:ext cx="15408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ADC5FD1-8719-44EE-8816-50ADB0E7C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765" y="5882119"/>
                <a:ext cx="154088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E454BF5-F5A5-FC5F-12A2-EA9B48802AB2}"/>
              </a:ext>
            </a:extLst>
          </p:cNvPr>
          <p:cNvCxnSpPr>
            <a:cxnSpLocks/>
          </p:cNvCxnSpPr>
          <p:nvPr/>
        </p:nvCxnSpPr>
        <p:spPr>
          <a:xfrm>
            <a:off x="5176276" y="3429000"/>
            <a:ext cx="34990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08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3774" y="285345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74" y="2853450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281917" y="2691755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917" y="2691755"/>
                <a:ext cx="3071411" cy="1541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33774" y="72022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74" y="720228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864300" y="722769"/>
                <a:ext cx="14703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00" y="722769"/>
                <a:ext cx="14703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40759" y="1905882"/>
                <a:ext cx="23738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59" y="1905882"/>
                <a:ext cx="237384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33774" y="130326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74" y="1303262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919322" y="1301625"/>
                <a:ext cx="15952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22" y="1301625"/>
                <a:ext cx="159527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4473842" y="5054420"/>
                <a:ext cx="20332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1.3846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842" y="5054420"/>
                <a:ext cx="20332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844634-FD84-7AC7-6479-3CF7806964FA}"/>
                  </a:ext>
                </a:extLst>
              </p:cNvPr>
              <p:cNvSpPr txBox="1"/>
              <p:nvPr/>
            </p:nvSpPr>
            <p:spPr>
              <a:xfrm>
                <a:off x="1575875" y="4837524"/>
                <a:ext cx="3289102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638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729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61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844634-FD84-7AC7-6479-3CF78069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875" y="4837524"/>
                <a:ext cx="3289102" cy="14377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864EA473-E1CA-6F3F-4990-795B409B8C00}"/>
              </a:ext>
            </a:extLst>
          </p:cNvPr>
          <p:cNvGrpSpPr/>
          <p:nvPr/>
        </p:nvGrpSpPr>
        <p:grpSpPr>
          <a:xfrm>
            <a:off x="10246995" y="790836"/>
            <a:ext cx="1866543" cy="3069506"/>
            <a:chOff x="10521315" y="733686"/>
            <a:chExt cx="1866543" cy="3069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FB59EBC-0ED1-F8AA-9BBC-BAC4C70E88F1}"/>
                    </a:ext>
                  </a:extLst>
                </p:cNvPr>
                <p:cNvSpPr/>
                <p:nvPr/>
              </p:nvSpPr>
              <p:spPr>
                <a:xfrm>
                  <a:off x="10521315" y="733686"/>
                  <a:ext cx="14703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FB59EBC-0ED1-F8AA-9BBC-BAC4C70E8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1315" y="733686"/>
                  <a:ext cx="147037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DF741A2-3270-EA72-521E-371D34D4181A}"/>
                    </a:ext>
                  </a:extLst>
                </p:cNvPr>
                <p:cNvSpPr/>
                <p:nvPr/>
              </p:nvSpPr>
              <p:spPr>
                <a:xfrm>
                  <a:off x="10588299" y="2233532"/>
                  <a:ext cx="1596081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DF741A2-3270-EA72-521E-371D34D418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8299" y="2233532"/>
                  <a:ext cx="1596081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6B7F56B-DA98-F060-9DD6-7610BA2EB1EC}"/>
                    </a:ext>
                  </a:extLst>
                </p:cNvPr>
                <p:cNvSpPr/>
                <p:nvPr/>
              </p:nvSpPr>
              <p:spPr>
                <a:xfrm>
                  <a:off x="10528211" y="1271179"/>
                  <a:ext cx="182430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7</a:t>
                  </a: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6B7F56B-DA98-F060-9DD6-7610BA2EB1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211" y="1271179"/>
                  <a:ext cx="1824304" cy="523220"/>
                </a:xfrm>
                <a:prstGeom prst="rect">
                  <a:avLst/>
                </a:prstGeom>
                <a:blipFill>
                  <a:blip r:embed="rId18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6CE9863-15E2-F97C-37D4-A8D86D6ADBED}"/>
                    </a:ext>
                  </a:extLst>
                </p:cNvPr>
                <p:cNvSpPr/>
                <p:nvPr/>
              </p:nvSpPr>
              <p:spPr>
                <a:xfrm>
                  <a:off x="10531149" y="2756752"/>
                  <a:ext cx="185670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=638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6CE9863-15E2-F97C-37D4-A8D86D6ADB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1149" y="2756752"/>
                  <a:ext cx="1856709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0BD3440-485D-265B-B8F4-D45BE35F3D39}"/>
                    </a:ext>
                  </a:extLst>
                </p:cNvPr>
                <p:cNvSpPr/>
                <p:nvPr/>
              </p:nvSpPr>
              <p:spPr>
                <a:xfrm>
                  <a:off x="10581890" y="1740181"/>
                  <a:ext cx="158270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0BD3440-485D-265B-B8F4-D45BE35F3D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1890" y="1740181"/>
                  <a:ext cx="1582706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B3B4746-8163-67FA-84BA-CD0A2358C6C0}"/>
                    </a:ext>
                  </a:extLst>
                </p:cNvPr>
                <p:cNvSpPr/>
                <p:nvPr/>
              </p:nvSpPr>
              <p:spPr>
                <a:xfrm>
                  <a:off x="10602803" y="3279972"/>
                  <a:ext cx="15408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B3B4746-8163-67FA-84BA-CD0A2358C6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2803" y="3279972"/>
                  <a:ext cx="154088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882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17" grpId="0"/>
      <p:bldP spid="18" grpId="0"/>
      <p:bldP spid="20" grpId="0"/>
      <p:bldP spid="21" grpId="0"/>
      <p:bldP spid="31" grpId="0"/>
      <p:bldP spid="33" grpId="0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CE62-3657-4FA3-7E1E-7F359F4F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60F5-CF3C-5362-2642-7BBFFD5BF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4B010-BACA-8E26-AB4B-750EAF1D8D26}"/>
              </a:ext>
            </a:extLst>
          </p:cNvPr>
          <p:cNvSpPr/>
          <p:nvPr/>
        </p:nvSpPr>
        <p:spPr>
          <a:xfrm>
            <a:off x="156634" y="158574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949BD8-E144-94B7-61F5-B5D807F7C1D5}"/>
                  </a:ext>
                </a:extLst>
              </p:cNvPr>
              <p:cNvSpPr txBox="1"/>
              <p:nvPr/>
            </p:nvSpPr>
            <p:spPr>
              <a:xfrm>
                <a:off x="0" y="2250663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=1.3846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949BD8-E144-94B7-61F5-B5D807F7C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50663"/>
                <a:ext cx="234315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CF42D0-D9A7-0438-C93D-B714C2C3F44B}"/>
                  </a:ext>
                </a:extLst>
              </p:cNvPr>
              <p:cNvSpPr txBox="1"/>
              <p:nvPr/>
            </p:nvSpPr>
            <p:spPr>
              <a:xfrm>
                <a:off x="1996550" y="2076669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CF42D0-D9A7-0438-C93D-B714C2C3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50" y="2076669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554371-7573-93E2-6630-85B9F8A78EB2}"/>
                  </a:ext>
                </a:extLst>
              </p:cNvPr>
              <p:cNvSpPr txBox="1"/>
              <p:nvPr/>
            </p:nvSpPr>
            <p:spPr>
              <a:xfrm>
                <a:off x="2310405" y="2213895"/>
                <a:ext cx="25408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1.645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554371-7573-93E2-6630-85B9F8A78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05" y="2213895"/>
                <a:ext cx="25408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FC62B4-B79F-BFEF-4FC6-BEF06A89D0C9}"/>
                  </a:ext>
                </a:extLst>
              </p:cNvPr>
              <p:cNvSpPr txBox="1"/>
              <p:nvPr/>
            </p:nvSpPr>
            <p:spPr>
              <a:xfrm>
                <a:off x="156634" y="2993484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FC62B4-B79F-BFEF-4FC6-BEF06A89D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34" y="2993484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887A28-C132-1703-9280-57CC9C241B13}"/>
                  </a:ext>
                </a:extLst>
              </p:cNvPr>
              <p:cNvSpPr txBox="1"/>
              <p:nvPr/>
            </p:nvSpPr>
            <p:spPr>
              <a:xfrm>
                <a:off x="186187" y="3863261"/>
                <a:ext cx="9808418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LOS, the claim of company A is not substantiated.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(the observed difference may be due to sampling variation.)</a:t>
                </a:r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887A28-C132-1703-9280-57CC9C241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87" y="3863261"/>
                <a:ext cx="9808418" cy="1161152"/>
              </a:xfrm>
              <a:prstGeom prst="rect">
                <a:avLst/>
              </a:prstGeom>
              <a:blipFill>
                <a:blip r:embed="rId6"/>
                <a:stretch>
                  <a:fillRect l="-1305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1AA69517-BF9B-697C-52A9-0A9BAA99BBE1}"/>
              </a:ext>
            </a:extLst>
          </p:cNvPr>
          <p:cNvGrpSpPr/>
          <p:nvPr/>
        </p:nvGrpSpPr>
        <p:grpSpPr>
          <a:xfrm>
            <a:off x="8807597" y="911086"/>
            <a:ext cx="3223048" cy="2192154"/>
            <a:chOff x="6861260" y="3429000"/>
            <a:chExt cx="3563686" cy="26197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3811DAC-4724-2128-4E17-FE77F4E448CE}"/>
                </a:ext>
              </a:extLst>
            </p:cNvPr>
            <p:cNvGrpSpPr/>
            <p:nvPr/>
          </p:nvGrpSpPr>
          <p:grpSpPr>
            <a:xfrm flipH="1">
              <a:off x="6861260" y="3429000"/>
              <a:ext cx="3385735" cy="2201067"/>
              <a:chOff x="6189671" y="3656930"/>
              <a:chExt cx="4018280" cy="255663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96E3359-4974-29E1-287E-3B85CD7693C4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5E7A8BC-C982-74DC-3D47-DB87660F9423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D7FCA92-5AAE-2147-602C-3DBCA74962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20D7B26-017A-79A2-86C7-464DE0EFCEBB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11269AA-9E84-8AF5-FFFE-5322C1E32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3BE2A08-F57E-71CD-DCF7-978B3997AA1A}"/>
                    </a:ext>
                  </a:extLst>
                </p:cNvPr>
                <p:cNvSpPr/>
                <p:nvPr/>
              </p:nvSpPr>
              <p:spPr>
                <a:xfrm>
                  <a:off x="8608907" y="5617842"/>
                  <a:ext cx="1816039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1.645</m:t>
                        </m:r>
                      </m:oMath>
                    </m:oMathPara>
                  </a14:m>
                  <a:endParaRPr 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3BE2A08-F57E-71CD-DCF7-978B3997AA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907" y="5617842"/>
                  <a:ext cx="1816039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52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6464FDC-383B-3B13-8A8A-032315FAA98F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91C384-738D-E78D-88AA-0E9EA15085CE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91C384-738D-E78D-88AA-0E9EA150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10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4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61162"/>
                <a:ext cx="11929643" cy="187571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The average of marks scored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/>
                  <a:t> boys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lang="en-US" dirty="0"/>
                  <a:t>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while that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dirty="0"/>
                  <a:t> girls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dirty="0"/>
                  <a:t>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. Test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level of significance whether the boys perform better than the girls.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61162"/>
                <a:ext cx="11929643" cy="1875712"/>
              </a:xfrm>
              <a:prstGeom prst="rect">
                <a:avLst/>
              </a:prstGeom>
              <a:blipFill>
                <a:blip r:embed="rId2"/>
                <a:stretch>
                  <a:fillRect l="-1074" r="-1074" b="-3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10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4333C3-9A1A-03E2-C544-7704CF66D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2686836"/>
                <a:ext cx="11929641" cy="3795824"/>
              </a:xfrm>
            </p:spPr>
            <p:txBody>
              <a:bodyPr/>
              <a:lstStyle/>
              <a:p>
                <a:r>
                  <a:rPr lang="en-US" dirty="0"/>
                  <a:t>We have marks of two groups of students: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/>
                  <a:t> boys → average marks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dirty="0"/>
                  <a:t> girls → average marks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From the sample, boys scored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marks more than girls.</a:t>
                </a:r>
              </a:p>
              <a:p>
                <a:r>
                  <a:rPr lang="en-US" dirty="0"/>
                  <a:t>But the question is asking: Are boys really performing better than girls, or is this difference only due to sampling variation (chance)?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4333C3-9A1A-03E2-C544-7704CF66D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2686836"/>
                <a:ext cx="11929641" cy="3795824"/>
              </a:xfrm>
              <a:blipFill>
                <a:blip r:embed="rId3"/>
                <a:stretch>
                  <a:fillRect l="-971" r="-1074" b="-64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3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C39E-FCD7-50C1-9AC8-C41D4E5C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8A54-BB43-3D5D-5EA2-AA1DB02B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10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2F21BF-2B97-A9C4-3BD3-8DB3C2509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average marks of boys and girls are the same, or boys are not better than girls.</a:t>
                </a:r>
              </a:p>
              <a:p>
                <a:pPr lvl="1"/>
                <a:r>
                  <a:rPr lang="en-US" dirty="0"/>
                  <a:t>If we see any difference in sample means, it is only due to sampling variation.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average marks of boys are greater than those of girls, so boys perform better than girls.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2F21BF-2B97-A9C4-3BD3-8DB3C2509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43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8260-4651-DE4A-CD72-BC04A183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77B03B-2FE7-CDCF-4731-BF8DD4EDC1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61162"/>
                <a:ext cx="11929643" cy="187571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/>
                  <a:t>The average of marks scored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/>
                  <a:t> boys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lang="en-US" dirty="0"/>
                  <a:t>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while that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dirty="0"/>
                  <a:t> girls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dirty="0"/>
                  <a:t>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. Test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level of significance whether the boys perform better than the girls.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77B03B-2FE7-CDCF-4731-BF8DD4EDC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61162"/>
                <a:ext cx="11929643" cy="1875712"/>
              </a:xfrm>
              <a:prstGeom prst="rect">
                <a:avLst/>
              </a:prstGeom>
              <a:blipFill>
                <a:blip r:embed="rId2"/>
                <a:stretch>
                  <a:fillRect l="-1074" r="-1074" b="-3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F21966D-D986-903A-92E5-A79A4BD9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142299-FFDD-82C6-D4BB-94C497246C09}"/>
              </a:ext>
            </a:extLst>
          </p:cNvPr>
          <p:cNvSpPr/>
          <p:nvPr/>
        </p:nvSpPr>
        <p:spPr>
          <a:xfrm>
            <a:off x="107079" y="287568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B8C333-D355-0BB3-B31C-0E00F59215E8}"/>
                  </a:ext>
                </a:extLst>
              </p:cNvPr>
              <p:cNvSpPr/>
              <p:nvPr/>
            </p:nvSpPr>
            <p:spPr>
              <a:xfrm>
                <a:off x="1672349" y="2792730"/>
                <a:ext cx="14193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B8C333-D355-0BB3-B31C-0E00F59215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349" y="2792730"/>
                <a:ext cx="14193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B33998-C6D6-FFAB-F18D-4A4104B6D48E}"/>
                  </a:ext>
                </a:extLst>
              </p:cNvPr>
              <p:cNvSpPr/>
              <p:nvPr/>
            </p:nvSpPr>
            <p:spPr>
              <a:xfrm>
                <a:off x="3539901" y="2792730"/>
                <a:ext cx="15337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B33998-C6D6-FFAB-F18D-4A4104B6D4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901" y="2792730"/>
                <a:ext cx="15337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4F8A6D-C1C0-8384-6016-37128C891222}"/>
                  </a:ext>
                </a:extLst>
              </p:cNvPr>
              <p:cNvSpPr/>
              <p:nvPr/>
            </p:nvSpPr>
            <p:spPr>
              <a:xfrm>
                <a:off x="1672348" y="3506000"/>
                <a:ext cx="1494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4F8A6D-C1C0-8384-6016-37128C891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348" y="3506000"/>
                <a:ext cx="14944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35994D-1F0F-55E8-C259-566D662F4D1D}"/>
                  </a:ext>
                </a:extLst>
              </p:cNvPr>
              <p:cNvSpPr/>
              <p:nvPr/>
            </p:nvSpPr>
            <p:spPr>
              <a:xfrm>
                <a:off x="3524977" y="3506000"/>
                <a:ext cx="17658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35994D-1F0F-55E8-C259-566D662F4D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977" y="3506000"/>
                <a:ext cx="176587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F8EC53-6D94-0036-622B-807588A0C11B}"/>
                  </a:ext>
                </a:extLst>
              </p:cNvPr>
              <p:cNvSpPr/>
              <p:nvPr/>
            </p:nvSpPr>
            <p:spPr>
              <a:xfrm>
                <a:off x="5510497" y="2797035"/>
                <a:ext cx="14193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F8EC53-6D94-0036-622B-807588A0C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497" y="2797035"/>
                <a:ext cx="141931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DBF80B-9F76-3B16-0C16-762A0C2625AE}"/>
                  </a:ext>
                </a:extLst>
              </p:cNvPr>
              <p:cNvSpPr/>
              <p:nvPr/>
            </p:nvSpPr>
            <p:spPr>
              <a:xfrm>
                <a:off x="5521927" y="3506000"/>
                <a:ext cx="13691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DBF80B-9F76-3B16-0C16-762A0C262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927" y="3506000"/>
                <a:ext cx="136912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900B43-321E-625D-429E-731BA173E532}"/>
                  </a:ext>
                </a:extLst>
              </p:cNvPr>
              <p:cNvSpPr/>
              <p:nvPr/>
            </p:nvSpPr>
            <p:spPr>
              <a:xfrm>
                <a:off x="1671447" y="42391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900B43-321E-625D-429E-731BA173E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47" y="4239194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0160816-6EF8-D621-30A3-1FD8B1CC7C27}"/>
                  </a:ext>
                </a:extLst>
              </p:cNvPr>
              <p:cNvSpPr/>
              <p:nvPr/>
            </p:nvSpPr>
            <p:spPr>
              <a:xfrm>
                <a:off x="2413403" y="4230305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0160816-6EF8-D621-30A3-1FD8B1CC7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403" y="4230305"/>
                <a:ext cx="149442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0B3B73F-870F-B7E4-ABBD-5B6C27FC7B7F}"/>
                  </a:ext>
                </a:extLst>
              </p:cNvPr>
              <p:cNvSpPr/>
              <p:nvPr/>
            </p:nvSpPr>
            <p:spPr>
              <a:xfrm>
                <a:off x="1712722" y="5786370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0B3B73F-870F-B7E4-ABBD-5B6C27FC7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22" y="5786370"/>
                <a:ext cx="23869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5C8516-9DCE-A922-1B0A-45C22B7C4526}"/>
                  </a:ext>
                </a:extLst>
              </p:cNvPr>
              <p:cNvSpPr/>
              <p:nvPr/>
            </p:nvSpPr>
            <p:spPr>
              <a:xfrm>
                <a:off x="1671447" y="497848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5C8516-9DCE-A922-1B0A-45C22B7C4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47" y="4978489"/>
                <a:ext cx="79758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43393F2-7ADE-BDA9-D131-BAB82267B9CD}"/>
                  </a:ext>
                </a:extLst>
              </p:cNvPr>
              <p:cNvSpPr/>
              <p:nvPr/>
            </p:nvSpPr>
            <p:spPr>
              <a:xfrm>
                <a:off x="2456995" y="4976852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43393F2-7ADE-BDA9-D131-BAB82267B9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95" y="4976852"/>
                <a:ext cx="149442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9A2EC5-3B1A-EF5F-5C21-388729694D60}"/>
              </a:ext>
            </a:extLst>
          </p:cNvPr>
          <p:cNvCxnSpPr>
            <a:cxnSpLocks/>
          </p:cNvCxnSpPr>
          <p:nvPr/>
        </p:nvCxnSpPr>
        <p:spPr>
          <a:xfrm>
            <a:off x="860946" y="1465524"/>
            <a:ext cx="96660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252A18-CA59-391D-1D3C-C828952A0ABB}"/>
              </a:ext>
            </a:extLst>
          </p:cNvPr>
          <p:cNvCxnSpPr>
            <a:cxnSpLocks/>
          </p:cNvCxnSpPr>
          <p:nvPr/>
        </p:nvCxnSpPr>
        <p:spPr>
          <a:xfrm>
            <a:off x="594516" y="1995114"/>
            <a:ext cx="561197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7BD2F-4E66-5AA5-F5A0-10A65D414363}"/>
              </a:ext>
            </a:extLst>
          </p:cNvPr>
          <p:cNvCxnSpPr>
            <a:cxnSpLocks/>
          </p:cNvCxnSpPr>
          <p:nvPr/>
        </p:nvCxnSpPr>
        <p:spPr>
          <a:xfrm>
            <a:off x="791925" y="2521511"/>
            <a:ext cx="44882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15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3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92F4E84-2D5B-5BCA-8DA1-83158C82ADE3}"/>
                  </a:ext>
                </a:extLst>
              </p:cNvPr>
              <p:cNvSpPr/>
              <p:nvPr/>
            </p:nvSpPr>
            <p:spPr>
              <a:xfrm>
                <a:off x="111602" y="739208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92F4E84-2D5B-5BCA-8DA1-83158C82A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2" y="739208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6161C-579B-7C13-EB67-ABEE427AF21C}"/>
                  </a:ext>
                </a:extLst>
              </p:cNvPr>
              <p:cNvSpPr txBox="1"/>
              <p:nvPr/>
            </p:nvSpPr>
            <p:spPr>
              <a:xfrm>
                <a:off x="1989661" y="3471261"/>
                <a:ext cx="2975743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70  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64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06161C-579B-7C13-EB67-ABEE427AF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661" y="3471261"/>
                <a:ext cx="2975743" cy="14377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50B895-1533-E982-CE99-0C0219C0E0F3}"/>
                  </a:ext>
                </a:extLst>
              </p:cNvPr>
              <p:cNvSpPr txBox="1"/>
              <p:nvPr/>
            </p:nvSpPr>
            <p:spPr>
              <a:xfrm>
                <a:off x="1733107" y="1176323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50B895-1533-E982-CE99-0C0219C0E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107" y="1176323"/>
                <a:ext cx="3071411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363B78-2ED9-AD44-EE2D-7AE6EE215243}"/>
                  </a:ext>
                </a:extLst>
              </p:cNvPr>
              <p:cNvSpPr txBox="1"/>
              <p:nvPr/>
            </p:nvSpPr>
            <p:spPr>
              <a:xfrm>
                <a:off x="1989661" y="5662389"/>
                <a:ext cx="20006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1.1547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363B78-2ED9-AD44-EE2D-7AE6EE215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661" y="5662389"/>
                <a:ext cx="200062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0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/>
      <p:bldP spid="24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BA7B-A9A6-BC4D-B1DD-A89BDA8C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583B-C458-9DD9-7D39-2D18E3F5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10 (Continue)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8FA951-E0CB-20E5-2A01-D4C26ED8F2A2}"/>
              </a:ext>
            </a:extLst>
          </p:cNvPr>
          <p:cNvSpPr/>
          <p:nvPr/>
        </p:nvSpPr>
        <p:spPr>
          <a:xfrm>
            <a:off x="161355" y="167596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6943A7-84BE-3CB4-C637-B773BE91480E}"/>
                  </a:ext>
                </a:extLst>
              </p:cNvPr>
              <p:cNvSpPr txBox="1"/>
              <p:nvPr/>
            </p:nvSpPr>
            <p:spPr>
              <a:xfrm>
                <a:off x="0" y="2372058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=1.1547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6943A7-84BE-3CB4-C637-B773BE914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72058"/>
                <a:ext cx="234315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B9BBAD-1C25-4ADD-72AF-7EFE5C6C7201}"/>
                  </a:ext>
                </a:extLst>
              </p:cNvPr>
              <p:cNvSpPr txBox="1"/>
              <p:nvPr/>
            </p:nvSpPr>
            <p:spPr>
              <a:xfrm>
                <a:off x="2042270" y="2198064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B9BBAD-1C25-4ADD-72AF-7EFE5C6C7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270" y="2198064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787E2F-40CF-BC10-C47A-CFDE0E268C36}"/>
                  </a:ext>
                </a:extLst>
              </p:cNvPr>
              <p:cNvSpPr txBox="1"/>
              <p:nvPr/>
            </p:nvSpPr>
            <p:spPr>
              <a:xfrm>
                <a:off x="2539496" y="2342646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2.33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787E2F-40CF-BC10-C47A-CFDE0E268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496" y="2342646"/>
                <a:ext cx="23431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393536-26BE-B83A-9A38-660F03DED8F5}"/>
                  </a:ext>
                </a:extLst>
              </p:cNvPr>
              <p:cNvSpPr txBox="1"/>
              <p:nvPr/>
            </p:nvSpPr>
            <p:spPr>
              <a:xfrm>
                <a:off x="161355" y="3081310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393536-26BE-B83A-9A38-660F03DED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55" y="3081310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D444BE-45BF-098F-7238-04194DAF05FC}"/>
                  </a:ext>
                </a:extLst>
              </p:cNvPr>
              <p:cNvSpPr txBox="1"/>
              <p:nvPr/>
            </p:nvSpPr>
            <p:spPr>
              <a:xfrm>
                <a:off x="210893" y="3965140"/>
                <a:ext cx="11773678" cy="172130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Hence,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level of significance, there is not enough statistical evidence to say that boys perform better than girls.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(The difference in the sample means may be due to sampling variation only.)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D444BE-45BF-098F-7238-04194DAF0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93" y="3965140"/>
                <a:ext cx="11773678" cy="1721305"/>
              </a:xfrm>
              <a:prstGeom prst="rect">
                <a:avLst/>
              </a:prstGeom>
              <a:blipFill>
                <a:blip r:embed="rId6"/>
                <a:stretch>
                  <a:fillRect l="-1088" r="-1036" b="-88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6CDE086-ACF8-424D-0AF8-31FF7FA6F64C}"/>
              </a:ext>
            </a:extLst>
          </p:cNvPr>
          <p:cNvGrpSpPr/>
          <p:nvPr/>
        </p:nvGrpSpPr>
        <p:grpSpPr>
          <a:xfrm>
            <a:off x="8380677" y="1014765"/>
            <a:ext cx="3603894" cy="2714585"/>
            <a:chOff x="8570172" y="3182463"/>
            <a:chExt cx="3603894" cy="271458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97A37F-0CCE-DA6A-D5C2-851A7BE0CBAF}"/>
                </a:ext>
              </a:extLst>
            </p:cNvPr>
            <p:cNvGrpSpPr/>
            <p:nvPr/>
          </p:nvGrpSpPr>
          <p:grpSpPr>
            <a:xfrm flipH="1">
              <a:off x="8570172" y="3182463"/>
              <a:ext cx="3385735" cy="2154174"/>
              <a:chOff x="6189671" y="3656930"/>
              <a:chExt cx="4018280" cy="2556631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445F0A6-3A31-4D73-CE93-8A463C629234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D4DCDF3-A0D4-A1BB-438A-3254FD6B30F7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EFF4FF-317F-2A18-7009-90133CC720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90C1D93-9358-5CC0-8E44-D1A54A6C84A6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F6F189C-270F-4B3B-7EF9-EB48AE68F7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5CA744B-92EE-7667-2F18-6B0F2943D133}"/>
                    </a:ext>
                  </a:extLst>
                </p:cNvPr>
                <p:cNvSpPr/>
                <p:nvPr/>
              </p:nvSpPr>
              <p:spPr>
                <a:xfrm>
                  <a:off x="10358027" y="5373828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2.33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5CA744B-92EE-7667-2F18-6B0F2943D1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8027" y="5373828"/>
                  <a:ext cx="181603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7B057BE-B8AC-CD4C-5BB3-8556DEF4E93E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09B5E5-C3C9-9F44-20F8-11FFA168741C}"/>
                  </a:ext>
                </a:extLst>
              </p:cNvPr>
              <p:cNvSpPr txBox="1"/>
              <p:nvPr/>
            </p:nvSpPr>
            <p:spPr>
              <a:xfrm>
                <a:off x="2332235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2.33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09B5E5-C3C9-9F44-20F8-11FFA1687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235" y="911086"/>
                <a:ext cx="26974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14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 animBg="1"/>
      <p:bldP spid="3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3</a:t>
            </a:r>
            <a:br>
              <a:rPr lang="en-US" dirty="0"/>
            </a:br>
            <a:r>
              <a:rPr lang="en-US" dirty="0"/>
              <a:t>Test for Difference of Standard Deviation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883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Test for Difference of Standard Deviations (Large Sample)?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Test for Difference of Standard Deviations (Large Sample) is a statistical test used to determine whether the standard deviations of two populations are significantly different when the sample sizes are large (usually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≥30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≥30</m:t>
                    </m:r>
                  </m:oMath>
                </a14:m>
                <a:r>
                  <a:rPr lang="en-US" dirty="0"/>
                  <a:t>).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method, we compare the sample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​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 to check whether the observed difference between them is real (population difference) or just due to random sampling error.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For large samples, the test statistic follows the standard normal distribution (Z–distribution).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50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2E86-D4E2-6C68-3A86-40E73EA3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CE8-5B7C-CD12-75BF-623554A6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452C6-0B01-6E4C-0CC7-C781B67CC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When we collect samples from two populations, their sample standard deviations are usually different.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But this difference may occur because of two reasons:</a:t>
            </a:r>
          </a:p>
          <a:p>
            <a:pPr lvl="1">
              <a:lnSpc>
                <a:spcPct val="145000"/>
              </a:lnSpc>
            </a:pPr>
            <a:r>
              <a:rPr lang="en-US" b="1" dirty="0"/>
              <a:t>Random sampling fluctuation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Even if population standard deviations are equal, the sample values may differ slightly.</a:t>
            </a:r>
          </a:p>
          <a:p>
            <a:pPr lvl="1">
              <a:lnSpc>
                <a:spcPct val="145000"/>
              </a:lnSpc>
            </a:pPr>
            <a:r>
              <a:rPr lang="en-US" b="1" dirty="0"/>
              <a:t>Actual population difference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The populations may truly have different variability.</a:t>
            </a:r>
          </a:p>
        </p:txBody>
      </p:sp>
    </p:spTree>
    <p:extLst>
      <p:ext uri="{BB962C8B-B14F-4D97-AF65-F5344CB8AC3E}">
        <p14:creationId xmlns:p14="http://schemas.microsoft.com/office/powerpoint/2010/main" val="339288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90FB-E686-3E8D-E6FA-69EF1695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9358-3A9D-03A7-51FE-18F80674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82E2-51EF-9EE0-BFC0-A9E4437CD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en-US" dirty="0"/>
              <a:t>So, the problem is: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How do we know whether the difference in standard deviations is real or just due to chance?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This is why we use the Test for Difference of Standard Deviations.</a:t>
            </a:r>
          </a:p>
          <a:p>
            <a:pPr>
              <a:lnSpc>
                <a:spcPct val="145000"/>
              </a:lnSpc>
            </a:pPr>
            <a:r>
              <a:rPr lang="en-US" dirty="0"/>
              <a:t>This test helps us decide statistically whether the difference is significant.</a:t>
            </a:r>
          </a:p>
          <a:p>
            <a:pPr marL="914400" lvl="2" indent="0">
              <a:lnSpc>
                <a:spcPct val="145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9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93E8-F60C-CDAD-ECFC-2C86C448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9D65-76DD-0F92-6EC9-C4F1EDEA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89C1-AB2F-47BD-F8A8-79A0D2A9F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1542900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en-US" dirty="0"/>
              <a:t>Suppose a company creates two AI models to predict students’ exam marks.</a:t>
            </a:r>
          </a:p>
          <a:p>
            <a:pPr>
              <a:lnSpc>
                <a:spcPct val="145000"/>
              </a:lnSpc>
            </a:pPr>
            <a:r>
              <a:rPr lang="en-US" dirty="0"/>
              <a:t>They test both models on many students (large sample).</a:t>
            </a:r>
          </a:p>
          <a:p>
            <a:pPr mar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B6E049-3E88-BEC9-D53D-BAB8E5EBD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364667"/>
                  </p:ext>
                </p:extLst>
              </p:nvPr>
            </p:nvGraphicFramePr>
            <p:xfrm>
              <a:off x="1073999" y="2083981"/>
              <a:ext cx="10044000" cy="14325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4275653146"/>
                        </a:ext>
                      </a:extLst>
                    </a:gridCol>
                    <a:gridCol w="3852000">
                      <a:extLst>
                        <a:ext uri="{9D8B030D-6E8A-4147-A177-3AD203B41FA5}">
                          <a16:colId xmlns:a16="http://schemas.microsoft.com/office/drawing/2014/main" val="2823984938"/>
                        </a:ext>
                      </a:extLst>
                    </a:gridCol>
                    <a:gridCol w="3852000">
                      <a:extLst>
                        <a:ext uri="{9D8B030D-6E8A-4147-A177-3AD203B41FA5}">
                          <a16:colId xmlns:a16="http://schemas.microsoft.com/office/drawing/2014/main" val="1861939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AI Model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800" dirty="0"/>
                            <a:t>Average Prediction Error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Standard Deviation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7528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Model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oMath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 Marks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696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Model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oMath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 Marks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52034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B6E049-3E88-BEC9-D53D-BAB8E5EBD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364667"/>
                  </p:ext>
                </p:extLst>
              </p:nvPr>
            </p:nvGraphicFramePr>
            <p:xfrm>
              <a:off x="1073999" y="2083981"/>
              <a:ext cx="10044000" cy="14325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4275653146"/>
                        </a:ext>
                      </a:extLst>
                    </a:gridCol>
                    <a:gridCol w="3852000">
                      <a:extLst>
                        <a:ext uri="{9D8B030D-6E8A-4147-A177-3AD203B41FA5}">
                          <a16:colId xmlns:a16="http://schemas.microsoft.com/office/drawing/2014/main" val="2823984938"/>
                        </a:ext>
                      </a:extLst>
                    </a:gridCol>
                    <a:gridCol w="3852000">
                      <a:extLst>
                        <a:ext uri="{9D8B030D-6E8A-4147-A177-3AD203B41FA5}">
                          <a16:colId xmlns:a16="http://schemas.microsoft.com/office/drawing/2014/main" val="186193997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AI Model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800" dirty="0"/>
                            <a:t>Average Prediction Error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Standard Deviation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275285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123684" r="-329948" b="-1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076" t="-123684" r="-100475" b="-1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076" t="-123684" r="-475" b="-1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9668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1" t="-226667" r="-329948" b="-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076" t="-226667" r="-100475" b="-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1076" t="-226667" r="-475" b="-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52034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1470259-77F3-C439-C0EC-C40D09ACD2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3516541"/>
                <a:ext cx="11929641" cy="30650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US" dirty="0"/>
                  <a:t>Both models make average error = 5 marks, so their accuracy looks similar.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But the standard deviations are different: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Model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SD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</m:oMath>
                </a14:m>
                <a:r>
                  <a:rPr lang="en-US" dirty="0"/>
                  <a:t>: Predictions are stable and consistent.</a:t>
                </a:r>
              </a:p>
              <a:p>
                <a:pPr lvl="1" algn="l">
                  <a:lnSpc>
                    <a:spcPct val="145000"/>
                  </a:lnSpc>
                </a:pPr>
                <a:r>
                  <a:rPr lang="en-US" dirty="0"/>
                  <a:t>Model B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SD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=8</m:t>
                        </m:r>
                      </m:e>
                    </m:d>
                  </m:oMath>
                </a14:m>
                <a:r>
                  <a:rPr lang="en-US" dirty="0"/>
                  <a:t>: Predictions vary a lot (sometimes very accurate, sometimes very wrong).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1470259-77F3-C439-C0EC-C40D09ACD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3516541"/>
                <a:ext cx="11929641" cy="3065011"/>
              </a:xfrm>
              <a:prstGeom prst="rect">
                <a:avLst/>
              </a:prstGeom>
              <a:blipFill>
                <a:blip r:embed="rId3"/>
                <a:stretch>
                  <a:fillRect l="-971" b="-73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99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DB78-4275-D97B-71F2-45EF2358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375C-4F8D-8501-7B2B-770134C4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F215-BCEE-1C33-A1FE-9C178F53B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97442"/>
            <a:ext cx="11928475" cy="5657333"/>
          </a:xfrm>
        </p:spPr>
        <p:txBody>
          <a:bodyPr/>
          <a:lstStyle/>
          <a:p>
            <a:r>
              <a:rPr lang="en-US" dirty="0"/>
              <a:t>So, we ask an important question:</a:t>
            </a:r>
          </a:p>
          <a:p>
            <a:pPr lvl="1"/>
            <a:r>
              <a:rPr lang="en-US" dirty="0"/>
              <a:t>Is this difference in variability real, or did it happen just by chance because of the sample?</a:t>
            </a:r>
          </a:p>
          <a:p>
            <a:r>
              <a:rPr lang="en-US" dirty="0"/>
              <a:t>To answer this, we use the Test for Difference of Standard Deviations (Large Sample).</a:t>
            </a:r>
          </a:p>
          <a:p>
            <a:r>
              <a:rPr lang="en-US" dirty="0"/>
              <a:t>This test checks:</a:t>
            </a:r>
          </a:p>
          <a:p>
            <a:pPr lvl="1"/>
            <a:r>
              <a:rPr lang="en-US" dirty="0"/>
              <a:t>Whether AI Model A is truly more consistent than Model B, or </a:t>
            </a:r>
          </a:p>
          <a:p>
            <a:pPr lvl="1"/>
            <a:r>
              <a:rPr lang="en-US" dirty="0"/>
              <a:t>The difference happened only because of random sampling.</a:t>
            </a:r>
          </a:p>
        </p:txBody>
      </p:sp>
    </p:spTree>
    <p:extLst>
      <p:ext uri="{BB962C8B-B14F-4D97-AF65-F5344CB8AC3E}">
        <p14:creationId xmlns:p14="http://schemas.microsoft.com/office/powerpoint/2010/main" val="126264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09FD-870E-E583-A38E-D9939675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B917-80ED-150B-EFCB-1C0540D0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C835AA-EDD4-7D95-EDB1-0F7222F42F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two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</a:t>
                </a:r>
                <a:r>
                  <a:rPr lang="en-US" b="1" dirty="0"/>
                  <a:t> 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C835AA-EDD4-7D95-EDB1-0F7222F42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73DF05-4AC9-C4EA-FA61-9B78A89585E1}"/>
                  </a:ext>
                </a:extLst>
              </p:cNvPr>
              <p:cNvSpPr txBox="1"/>
              <p:nvPr/>
            </p:nvSpPr>
            <p:spPr>
              <a:xfrm>
                <a:off x="1368295" y="3429000"/>
                <a:ext cx="9455410" cy="2904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When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population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SDs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known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When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population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SDs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</a:rPr>
                                <m:t>un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known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73DF05-4AC9-C4EA-FA61-9B78A8958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295" y="3429000"/>
                <a:ext cx="9455410" cy="2904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41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9556-32C1-86BF-FD8E-0DF0B1B4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When population SDs are known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1">
              <a:lnSpc>
                <a:spcPct val="145000"/>
              </a:lnSpc>
            </a:pPr>
            <a:r>
              <a:rPr lang="en-US" dirty="0"/>
              <a:t>When population SDs are unknown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4320805" y="2253665"/>
                <a:ext cx="3550389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05" y="2253665"/>
                <a:ext cx="3550389" cy="14808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4276738" y="4556488"/>
                <a:ext cx="3638524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38" y="4556488"/>
                <a:ext cx="3638524" cy="14808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976-5D4E-A8D7-5DF9-07D4EB04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377C-8395-7216-6612-FFE52EC5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86810"/>
                <a:ext cx="6694923" cy="883683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86810"/>
                <a:ext cx="6694923" cy="883683"/>
              </a:xfrm>
              <a:blipFill>
                <a:blip r:embed="rId2"/>
                <a:stretch>
                  <a:fillRect l="-17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0A804-D9AD-FFFF-CB10-D8FD8EC5FC9C}"/>
                  </a:ext>
                </a:extLst>
              </p:cNvPr>
              <p:cNvSpPr txBox="1"/>
              <p:nvPr/>
            </p:nvSpPr>
            <p:spPr>
              <a:xfrm>
                <a:off x="3426597" y="2406137"/>
                <a:ext cx="533880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0A804-D9AD-FFFF-CB10-D8FD8EC5F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597" y="2406137"/>
                <a:ext cx="5338807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732C84-15E8-F41E-7307-49EBCC292012}"/>
              </a:ext>
            </a:extLst>
          </p:cNvPr>
          <p:cNvSpPr txBox="1">
            <a:spLocks/>
          </p:cNvSpPr>
          <p:nvPr/>
        </p:nvSpPr>
        <p:spPr>
          <a:xfrm>
            <a:off x="131179" y="1526645"/>
            <a:ext cx="11928475" cy="821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If population SDs are known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B896A1-42AA-4E6F-E3ED-A29F46B44599}"/>
                  </a:ext>
                </a:extLst>
              </p:cNvPr>
              <p:cNvSpPr txBox="1"/>
              <p:nvPr/>
            </p:nvSpPr>
            <p:spPr>
              <a:xfrm>
                <a:off x="3426012" y="4862177"/>
                <a:ext cx="533880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B896A1-42AA-4E6F-E3ED-A29F46B44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012" y="4862177"/>
                <a:ext cx="5338807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A0F3-9CD8-89CE-720C-92868BEAA6C7}"/>
              </a:ext>
            </a:extLst>
          </p:cNvPr>
          <p:cNvSpPr txBox="1">
            <a:spLocks/>
          </p:cNvSpPr>
          <p:nvPr/>
        </p:nvSpPr>
        <p:spPr>
          <a:xfrm>
            <a:off x="131179" y="3828513"/>
            <a:ext cx="11928475" cy="821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If population SDs are unknown :</a:t>
            </a:r>
          </a:p>
        </p:txBody>
      </p:sp>
    </p:spTree>
    <p:extLst>
      <p:ext uri="{BB962C8B-B14F-4D97-AF65-F5344CB8AC3E}">
        <p14:creationId xmlns:p14="http://schemas.microsoft.com/office/powerpoint/2010/main" val="11928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CE1C-3EA2-7CE1-C97F-9F2914F6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5EF2A43-2643-A2A6-FB50-1EC53425A6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189416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 SD of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lang="en-US" dirty="0"/>
                  <a:t> members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and that of another independent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members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. Examine if the two samples could have been drawn from the same population?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5EF2A43-2643-A2A6-FB50-1EC53425A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894162"/>
              </a:xfrm>
              <a:prstGeom prst="rect">
                <a:avLst/>
              </a:prstGeom>
              <a:blipFill>
                <a:blip r:embed="rId2"/>
                <a:stretch>
                  <a:fillRect l="-1074" r="-1074" b="-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82865EE-712D-22E5-4F53-1429D46A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1⇝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8EC1510D-C8C2-6FC1-4D0D-553AE2559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2761632"/>
                <a:ext cx="11929641" cy="3936876"/>
              </a:xfrm>
            </p:spPr>
            <p:txBody>
              <a:bodyPr/>
              <a:lstStyle/>
              <a:p>
                <a:r>
                  <a:rPr lang="en-US" dirty="0"/>
                  <a:t>Suppose we take two large groups of people from some population.</a:t>
                </a:r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lang="en-US" dirty="0"/>
                  <a:t> members,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members,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:r>
                  <a:rPr lang="en-US" dirty="0"/>
                  <a:t>Now the question asks: Are these two samples taken from the same population (having the same population standard deviation), or are they from different populations?</a:t>
                </a:r>
                <a:endParaRPr lang="en-IN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8EC1510D-C8C2-6FC1-4D0D-553AE2559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761632"/>
                <a:ext cx="11929641" cy="3936876"/>
              </a:xfrm>
              <a:blipFill>
                <a:blip r:embed="rId3"/>
                <a:stretch>
                  <a:fillRect l="-971" r="-1074" b="-24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06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0145-809C-55D7-A596-D0BD4E29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B721-F23F-2D0C-49E1-89669365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1⇝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3F508290-AB7A-8CD4-4E29-DCCC67F144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</p:spPr>
            <p:txBody>
              <a:bodyPr/>
              <a:lstStyle/>
              <a:p>
                <a:r>
                  <a:rPr lang="en-US" dirty="0"/>
                  <a:t>In simple words:</a:t>
                </a:r>
              </a:p>
              <a:p>
                <a:pPr lvl="1"/>
                <a:r>
                  <a:rPr lang="en-US" dirty="0"/>
                  <a:t>If both samples come from the same population, their standard deviations should be almost the same.</a:t>
                </a:r>
              </a:p>
              <a:p>
                <a:pPr lvl="1"/>
                <a:r>
                  <a:rPr lang="en-US" dirty="0"/>
                  <a:t>If the difference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4.6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lang="en-US" dirty="0"/>
                  <a:t> is too large, then they probably come from different populations.</a:t>
                </a:r>
                <a:endParaRPr lang="en-IN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3F508290-AB7A-8CD4-4E29-DCCC67F14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47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CB49-E137-43B3-61A3-A89846C3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997A-FDBB-D655-6F15-AF140C3E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1⇝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D2EFA01A-EF98-7B7F-54A7-84F924FE3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4307367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population standard deviations are equal.</a:t>
                </a:r>
              </a:p>
              <a:p>
                <a:pPr lvl="1"/>
                <a:r>
                  <a:rPr lang="en-US" dirty="0"/>
                  <a:t>Any difference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4.6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lang="en-US" dirty="0"/>
                  <a:t> happened by chance.</a:t>
                </a:r>
              </a:p>
              <a:p>
                <a:r>
                  <a:rPr lang="en-IN" dirty="0"/>
                  <a:t>Alternative</a:t>
                </a:r>
                <a:r>
                  <a:rPr lang="en-US" dirty="0"/>
                  <a:t>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population standard deviations are different.</a:t>
                </a:r>
              </a:p>
              <a:p>
                <a:pPr lvl="1"/>
                <a:r>
                  <a:rPr lang="en-US" dirty="0"/>
                  <a:t>So, the two samples do not come from the same population.</a:t>
                </a:r>
                <a:endParaRPr lang="en-IN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D2EFA01A-EF98-7B7F-54A7-84F924FE3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4307367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79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05F6-483D-5561-84AD-612B7073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7108E8-AEFD-5800-B3F1-2A7701097A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189416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 SD of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lang="en-US" dirty="0"/>
                  <a:t> members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and that of another independent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members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. Examine if the two samples could have been drawn from the same population?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7108E8-AEFD-5800-B3F1-2A7701097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894162"/>
              </a:xfrm>
              <a:prstGeom prst="rect">
                <a:avLst/>
              </a:prstGeom>
              <a:blipFill>
                <a:blip r:embed="rId2"/>
                <a:stretch>
                  <a:fillRect l="-1074" r="-1074" b="-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D5B144A-55EC-D99F-3E26-A5FC6E50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E5CA53-0139-A83A-7645-EB6945868EF2}"/>
              </a:ext>
            </a:extLst>
          </p:cNvPr>
          <p:cNvSpPr/>
          <p:nvPr/>
        </p:nvSpPr>
        <p:spPr>
          <a:xfrm>
            <a:off x="131177" y="300000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495AF0-5A7D-8B3F-71CF-90203A713BF5}"/>
                  </a:ext>
                </a:extLst>
              </p:cNvPr>
              <p:cNvSpPr/>
              <p:nvPr/>
            </p:nvSpPr>
            <p:spPr>
              <a:xfrm>
                <a:off x="1717037" y="2978851"/>
                <a:ext cx="17119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495AF0-5A7D-8B3F-71CF-90203A713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7" y="2978851"/>
                <a:ext cx="171196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4FF437-1147-37B4-7340-98E21413DEAE}"/>
                  </a:ext>
                </a:extLst>
              </p:cNvPr>
              <p:cNvSpPr/>
              <p:nvPr/>
            </p:nvSpPr>
            <p:spPr>
              <a:xfrm>
                <a:off x="5186497" y="2941320"/>
                <a:ext cx="19266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4FF437-1147-37B4-7340-98E21413D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497" y="2941320"/>
                <a:ext cx="192668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4026CDE-0AFE-052D-A017-4B6F10B5F219}"/>
                  </a:ext>
                </a:extLst>
              </p:cNvPr>
              <p:cNvSpPr/>
              <p:nvPr/>
            </p:nvSpPr>
            <p:spPr>
              <a:xfrm>
                <a:off x="3528125" y="2978851"/>
                <a:ext cx="147030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4026CDE-0AFE-052D-A017-4B6F10B5F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125" y="2978851"/>
                <a:ext cx="147030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0447EA-2BB2-39B9-9E0B-3D0E97B43467}"/>
                  </a:ext>
                </a:extLst>
              </p:cNvPr>
              <p:cNvSpPr/>
              <p:nvPr/>
            </p:nvSpPr>
            <p:spPr>
              <a:xfrm>
                <a:off x="7205494" y="2941320"/>
                <a:ext cx="15225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0447EA-2BB2-39B9-9E0B-3D0E97B43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494" y="2941320"/>
                <a:ext cx="15225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ADE4BFF-B997-3A38-7D2E-61994D14DDAD}"/>
                  </a:ext>
                </a:extLst>
              </p:cNvPr>
              <p:cNvSpPr/>
              <p:nvPr/>
            </p:nvSpPr>
            <p:spPr>
              <a:xfrm>
                <a:off x="1708432" y="359294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ADE4BFF-B997-3A38-7D2E-61994D14D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432" y="3592945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E9698E-3CFF-576B-18CB-64AC61AA85C9}"/>
                  </a:ext>
                </a:extLst>
              </p:cNvPr>
              <p:cNvSpPr/>
              <p:nvPr/>
            </p:nvSpPr>
            <p:spPr>
              <a:xfrm>
                <a:off x="2518969" y="3595486"/>
                <a:ext cx="21855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E9698E-3CFF-576B-18CB-64AC61AA8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69" y="3595486"/>
                <a:ext cx="218551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CD1D3D-1491-186F-C840-DF92241DCDCD}"/>
                  </a:ext>
                </a:extLst>
              </p:cNvPr>
              <p:cNvSpPr/>
              <p:nvPr/>
            </p:nvSpPr>
            <p:spPr>
              <a:xfrm>
                <a:off x="4961795" y="4223417"/>
                <a:ext cx="26508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05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CD1D3D-1491-186F-C840-DF92241DC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795" y="4223417"/>
                <a:ext cx="265084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52806A2-D175-6456-6B0D-E3F993DC0E8B}"/>
                  </a:ext>
                </a:extLst>
              </p:cNvPr>
              <p:cNvSpPr/>
              <p:nvPr/>
            </p:nvSpPr>
            <p:spPr>
              <a:xfrm>
                <a:off x="1708432" y="421026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52806A2-D175-6456-6B0D-E3F993DC0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432" y="4210269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 b="-48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668D684-A26D-3896-B7E5-9BAB055BACDF}"/>
                  </a:ext>
                </a:extLst>
              </p:cNvPr>
              <p:cNvSpPr/>
              <p:nvPr/>
            </p:nvSpPr>
            <p:spPr>
              <a:xfrm>
                <a:off x="2493980" y="4208632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668D684-A26D-3896-B7E5-9BAB055BA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80" y="4208632"/>
                <a:ext cx="149442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1950CC-DC0E-64A5-3E9D-C0A41188422C}"/>
              </a:ext>
            </a:extLst>
          </p:cNvPr>
          <p:cNvCxnSpPr>
            <a:cxnSpLocks/>
          </p:cNvCxnSpPr>
          <p:nvPr/>
        </p:nvCxnSpPr>
        <p:spPr>
          <a:xfrm>
            <a:off x="838086" y="1619342"/>
            <a:ext cx="648854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A80E4D-D944-78A8-E0ED-305D242D493A}"/>
              </a:ext>
            </a:extLst>
          </p:cNvPr>
          <p:cNvCxnSpPr>
            <a:cxnSpLocks/>
          </p:cNvCxnSpPr>
          <p:nvPr/>
        </p:nvCxnSpPr>
        <p:spPr>
          <a:xfrm>
            <a:off x="9014346" y="1619342"/>
            <a:ext cx="293000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219AC1-A962-DF0C-4ACE-FB8901F7B5B5}"/>
              </a:ext>
            </a:extLst>
          </p:cNvPr>
          <p:cNvCxnSpPr>
            <a:cxnSpLocks/>
          </p:cNvCxnSpPr>
          <p:nvPr/>
        </p:nvCxnSpPr>
        <p:spPr>
          <a:xfrm>
            <a:off x="215520" y="2160362"/>
            <a:ext cx="44936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E240CB-D15E-27F4-89AD-4D9E4DB54DFA}"/>
              </a:ext>
            </a:extLst>
          </p:cNvPr>
          <p:cNvCxnSpPr>
            <a:cxnSpLocks/>
          </p:cNvCxnSpPr>
          <p:nvPr/>
        </p:nvCxnSpPr>
        <p:spPr>
          <a:xfrm>
            <a:off x="4842396" y="2160362"/>
            <a:ext cx="710195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637446-01EB-AB38-D4A6-D6345B6BAAED}"/>
              </a:ext>
            </a:extLst>
          </p:cNvPr>
          <p:cNvCxnSpPr>
            <a:cxnSpLocks/>
          </p:cNvCxnSpPr>
          <p:nvPr/>
        </p:nvCxnSpPr>
        <p:spPr>
          <a:xfrm>
            <a:off x="215520" y="2651852"/>
            <a:ext cx="384775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0E01842-B432-21FD-4907-83D809F200F0}"/>
                  </a:ext>
                </a:extLst>
              </p:cNvPr>
              <p:cNvSpPr/>
              <p:nvPr/>
            </p:nvSpPr>
            <p:spPr>
              <a:xfrm>
                <a:off x="1705638" y="5086776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0E01842-B432-21FD-4907-83D809F20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638" y="5086776"/>
                <a:ext cx="1318866" cy="523220"/>
              </a:xfrm>
              <a:prstGeom prst="rect">
                <a:avLst/>
              </a:prstGeom>
              <a:blipFill>
                <a:blip r:embed="rId1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4D7C86-7DD6-0D1A-E943-1407A6F4C94A}"/>
                  </a:ext>
                </a:extLst>
              </p:cNvPr>
              <p:cNvSpPr txBox="1"/>
              <p:nvPr/>
            </p:nvSpPr>
            <p:spPr>
              <a:xfrm>
                <a:off x="2617868" y="4958843"/>
                <a:ext cx="3071411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4D7C86-7DD6-0D1A-E943-1407A6F4C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868" y="4958843"/>
                <a:ext cx="3071411" cy="148085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F95E772-935B-A4EF-A6A3-06C8CC2BA8C2}"/>
                  </a:ext>
                </a:extLst>
              </p:cNvPr>
              <p:cNvSpPr txBox="1"/>
              <p:nvPr/>
            </p:nvSpPr>
            <p:spPr>
              <a:xfrm>
                <a:off x="5478128" y="4891145"/>
                <a:ext cx="4326778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1600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1800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040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3200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F95E772-935B-A4EF-A6A3-06C8CC2BA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128" y="4891145"/>
                <a:ext cx="4326778" cy="143770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A04F9E-069C-DB7B-AC08-0E812ABEDF55}"/>
                  </a:ext>
                </a:extLst>
              </p:cNvPr>
              <p:cNvSpPr txBox="1"/>
              <p:nvPr/>
            </p:nvSpPr>
            <p:spPr>
              <a:xfrm>
                <a:off x="9677604" y="5112175"/>
                <a:ext cx="17764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4527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A04F9E-069C-DB7B-AC08-0E812ABE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604" y="5112175"/>
                <a:ext cx="177646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81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5" grpId="0"/>
      <p:bldP spid="4" grpId="0"/>
      <p:bldP spid="5" grpId="0"/>
      <p:bldP spid="6" grpId="0"/>
      <p:bldP spid="8" grpId="0"/>
      <p:bldP spid="10" grpId="0"/>
      <p:bldP spid="26" grpId="0"/>
      <p:bldP spid="27" grpId="0"/>
      <p:bldP spid="28" grpId="0"/>
      <p:bldP spid="2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 (Continue)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BEC6-A610-E5CE-53C8-9818AB6D2620}"/>
              </a:ext>
            </a:extLst>
          </p:cNvPr>
          <p:cNvSpPr/>
          <p:nvPr/>
        </p:nvSpPr>
        <p:spPr>
          <a:xfrm>
            <a:off x="176054" y="160957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00047C-A793-C7E7-3370-0E371662CCA4}"/>
                  </a:ext>
                </a:extLst>
              </p:cNvPr>
              <p:cNvSpPr txBox="1"/>
              <p:nvPr/>
            </p:nvSpPr>
            <p:spPr>
              <a:xfrm>
                <a:off x="144825" y="2290092"/>
                <a:ext cx="24148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4527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00047C-A793-C7E7-3370-0E371662C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5" y="2290092"/>
                <a:ext cx="241482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283894-CB96-6E29-E59C-943B291A9B73}"/>
                  </a:ext>
                </a:extLst>
              </p:cNvPr>
              <p:cNvSpPr txBox="1"/>
              <p:nvPr/>
            </p:nvSpPr>
            <p:spPr>
              <a:xfrm>
                <a:off x="2430580" y="2114825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283894-CB96-6E29-E59C-943B291A9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580" y="2114825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64715F-16F7-6804-D345-937443343759}"/>
                  </a:ext>
                </a:extLst>
              </p:cNvPr>
              <p:cNvSpPr txBox="1"/>
              <p:nvPr/>
            </p:nvSpPr>
            <p:spPr>
              <a:xfrm>
                <a:off x="2747527" y="2270004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64715F-16F7-6804-D345-937443343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527" y="2270004"/>
                <a:ext cx="26631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6361-298C-6831-E017-483F96FF5D05}"/>
                  </a:ext>
                </a:extLst>
              </p:cNvPr>
              <p:cNvSpPr txBox="1"/>
              <p:nvPr/>
            </p:nvSpPr>
            <p:spPr>
              <a:xfrm>
                <a:off x="186671" y="3022713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6361-298C-6831-E017-483F96FF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71" y="3022713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9AEC76-23B3-4C18-26C1-D9DE38FA514A}"/>
                  </a:ext>
                </a:extLst>
              </p:cNvPr>
              <p:cNvSpPr txBox="1"/>
              <p:nvPr/>
            </p:nvSpPr>
            <p:spPr>
              <a:xfrm>
                <a:off x="189735" y="3851804"/>
                <a:ext cx="11065787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LOS, the difference between the two sample SDs is not significant. 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two samples could have been drawn from the same population.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9AEC76-23B3-4C18-26C1-D9DE38FA5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35" y="3851804"/>
                <a:ext cx="11065787" cy="1161152"/>
              </a:xfrm>
              <a:prstGeom prst="rect">
                <a:avLst/>
              </a:prstGeom>
              <a:blipFill>
                <a:blip r:embed="rId6"/>
                <a:stretch>
                  <a:fillRect l="-1102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C40E8D1-3187-4E8E-BC92-8767D09D7DBC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D276F5-8107-C8D1-0788-300B5A0639F3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D276F5-8107-C8D1-0788-300B5A063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B138E11-CE76-B6CF-D1D8-8FA18E17CA39}"/>
              </a:ext>
            </a:extLst>
          </p:cNvPr>
          <p:cNvGrpSpPr/>
          <p:nvPr/>
        </p:nvGrpSpPr>
        <p:grpSpPr>
          <a:xfrm>
            <a:off x="8503634" y="962351"/>
            <a:ext cx="3527011" cy="2270161"/>
            <a:chOff x="5659775" y="3429000"/>
            <a:chExt cx="3527011" cy="227016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13791CF-BF7B-F308-B4F0-BDC014E2C3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36F1E6-CCB5-9F7E-D523-4544BBCF2281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1E029EE-6315-44B7-2A3A-E8C37F47FDAE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7423C3-1F18-2C04-384B-3E7E750007CC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0FDC6C-E3F7-BFBE-4A11-EDB026B66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66424B-AFF7-77B4-4284-BB08D620CC99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23BC509-B564-626B-ADC7-C6769181E0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666E31E-9023-FAA5-88F1-CAB49C8465AC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91F8F9E-FA14-B87D-58B0-B33EDE195FAE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5134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 animBg="1"/>
      <p:bldP spid="3" grpId="0"/>
      <p:bldP spid="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F56E4F9-D916-C186-BC4E-2543BB52EDCA}"/>
              </a:ext>
            </a:extLst>
          </p:cNvPr>
          <p:cNvSpPr txBox="1">
            <a:spLocks/>
          </p:cNvSpPr>
          <p:nvPr/>
        </p:nvSpPr>
        <p:spPr>
          <a:xfrm>
            <a:off x="131177" y="869079"/>
            <a:ext cx="11929643" cy="311565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ts val="42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100362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64537" y="4159191"/>
                <a:ext cx="20091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537" y="4159191"/>
                <a:ext cx="200914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3773680" y="4157258"/>
                <a:ext cx="21234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80" y="4157258"/>
                <a:ext cx="21234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5695222" y="4157258"/>
                <a:ext cx="17477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222" y="4157258"/>
                <a:ext cx="174776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7442988" y="4142615"/>
                <a:ext cx="174776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988" y="4142615"/>
                <a:ext cx="17477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B92D88-F389-077D-557E-3A06385D6A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533438"/>
                  </p:ext>
                </p:extLst>
              </p:nvPr>
            </p:nvGraphicFramePr>
            <p:xfrm>
              <a:off x="2097069" y="2100698"/>
              <a:ext cx="7997863" cy="1786239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17427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457583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36601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</a:tblGrid>
                  <a:tr h="595413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Country A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Country B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Standard Deviation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2.58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Number in samples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B92D88-F389-077D-557E-3A06385D6A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9533438"/>
                  </p:ext>
                </p:extLst>
              </p:nvPr>
            </p:nvGraphicFramePr>
            <p:xfrm>
              <a:off x="2097069" y="2100698"/>
              <a:ext cx="7997863" cy="1786239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17427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457583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36601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</a:tblGrid>
                  <a:tr h="595413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Country A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Country B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Standard Deviation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9777" t="-103061" r="-97022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8660" t="-103061" r="-773" b="-122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595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Number in samples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9777" t="-203061" r="-97022" b="-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8660" t="-203061" r="-773" b="-22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739137" y="480829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37" y="4808291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2549674" y="4810832"/>
                <a:ext cx="15357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674" y="4810832"/>
                <a:ext cx="15357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739137" y="546244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37" y="5462445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2524685" y="5460808"/>
                <a:ext cx="171474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685" y="5460808"/>
                <a:ext cx="17147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CAA71-1599-EF52-ECA1-6E86AA074521}"/>
                  </a:ext>
                </a:extLst>
              </p:cNvPr>
              <p:cNvSpPr txBox="1"/>
              <p:nvPr/>
            </p:nvSpPr>
            <p:spPr>
              <a:xfrm>
                <a:off x="109957" y="913176"/>
                <a:ext cx="11929643" cy="1124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4200"/>
                  </a:lnSpc>
                </a:pPr>
                <a:r>
                  <a:rPr lang="en-US" sz="2800" dirty="0">
                    <a:solidFill>
                      <a:schemeClr val="bg1"/>
                    </a:solidFill>
                  </a:rPr>
                  <a:t>Random samples drawn from two countries gave the following data relating to the heights of adult males: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CAA71-1599-EF52-ECA1-6E86AA07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7" y="913176"/>
                <a:ext cx="11929643" cy="1124667"/>
              </a:xfrm>
              <a:prstGeom prst="rect">
                <a:avLst/>
              </a:prstGeom>
              <a:blipFill>
                <a:blip r:embed="rId11"/>
                <a:stretch>
                  <a:fillRect l="-1022" r="-1073" b="-14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744609" y="6100973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609" y="6100973"/>
                <a:ext cx="238694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92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5" grpId="0"/>
      <p:bldP spid="5" grpId="0"/>
      <p:bldP spid="18" grpId="0"/>
      <p:bldP spid="21" grpId="0"/>
      <p:bldP spid="31" grpId="0"/>
      <p:bldP spid="2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2743" y="946579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946579"/>
                <a:ext cx="1318866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1541863" y="3020959"/>
                <a:ext cx="4036582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.58−2.50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.6564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2000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.2500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2400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863" y="3020959"/>
                <a:ext cx="4036582" cy="1446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1541863" y="5166043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1.0387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863" y="5166043"/>
                <a:ext cx="23202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19C46D-4BF7-4A63-8617-A2D1E003FBD5}"/>
                  </a:ext>
                </a:extLst>
              </p:cNvPr>
              <p:cNvSpPr txBox="1"/>
              <p:nvPr/>
            </p:nvSpPr>
            <p:spPr>
              <a:xfrm>
                <a:off x="1236953" y="841506"/>
                <a:ext cx="3366945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19C46D-4BF7-4A63-8617-A2D1E003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53" y="841506"/>
                <a:ext cx="3366945" cy="14808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281AF37-BB73-346B-A4F3-CD8B6018BD6D}"/>
              </a:ext>
            </a:extLst>
          </p:cNvPr>
          <p:cNvGrpSpPr/>
          <p:nvPr/>
        </p:nvGrpSpPr>
        <p:grpSpPr>
          <a:xfrm>
            <a:off x="9740865" y="770649"/>
            <a:ext cx="2410841" cy="3174819"/>
            <a:chOff x="9740865" y="770649"/>
            <a:chExt cx="2410841" cy="3174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198357" y="7706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357" y="770649"/>
                  <a:ext cx="192887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198356" y="14335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=1200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356" y="1433549"/>
                  <a:ext cx="192887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211402" y="20964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1402" y="2096449"/>
                  <a:ext cx="1928874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222832" y="27593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2832" y="2759349"/>
                  <a:ext cx="1928874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0A1767B-0028-2878-BF5C-A490A7A04954}"/>
                    </a:ext>
                  </a:extLst>
                </p:cNvPr>
                <p:cNvSpPr txBox="1"/>
                <p:nvPr/>
              </p:nvSpPr>
              <p:spPr>
                <a:xfrm>
                  <a:off x="9740865" y="3422248"/>
                  <a:ext cx="23118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0A1767B-0028-2878-BF5C-A490A7A04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865" y="3422248"/>
                  <a:ext cx="2311819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144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3" grpId="0"/>
      <p:bldP spid="3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207E-C8D7-9726-B9A4-330E95CE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8F42-9D2A-F3BC-907D-AB3C0142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 (Continue)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A22E6-5725-46E9-9C5A-9307F63A19F4}"/>
              </a:ext>
            </a:extLst>
          </p:cNvPr>
          <p:cNvSpPr/>
          <p:nvPr/>
        </p:nvSpPr>
        <p:spPr>
          <a:xfrm>
            <a:off x="138327" y="166306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75FC25-B265-D827-24AE-370EF814E416}"/>
                  </a:ext>
                </a:extLst>
              </p:cNvPr>
              <p:cNvSpPr txBox="1"/>
              <p:nvPr/>
            </p:nvSpPr>
            <p:spPr>
              <a:xfrm>
                <a:off x="74862" y="2432569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=1.0387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75FC25-B265-D827-24AE-370EF814E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2" y="2432569"/>
                <a:ext cx="266318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867DD-2E81-916A-3E52-3AAAF467DBB5}"/>
                  </a:ext>
                </a:extLst>
              </p:cNvPr>
              <p:cNvSpPr txBox="1"/>
              <p:nvPr/>
            </p:nvSpPr>
            <p:spPr>
              <a:xfrm>
                <a:off x="2317757" y="2292865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867DD-2E81-916A-3E52-3AAAF467D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57" y="2292865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ADFD91-B8EA-ED08-11A5-4E9E401923D9}"/>
                  </a:ext>
                </a:extLst>
              </p:cNvPr>
              <p:cNvSpPr txBox="1"/>
              <p:nvPr/>
            </p:nvSpPr>
            <p:spPr>
              <a:xfrm>
                <a:off x="2654472" y="2430091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ADFD91-B8EA-ED08-11A5-4E9E40192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72" y="2430091"/>
                <a:ext cx="266318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186556-2751-33C3-AADE-07297E4734E1}"/>
                  </a:ext>
                </a:extLst>
              </p:cNvPr>
              <p:cNvSpPr txBox="1"/>
              <p:nvPr/>
            </p:nvSpPr>
            <p:spPr>
              <a:xfrm>
                <a:off x="138327" y="3240269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186556-2751-33C3-AADE-07297E47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27" y="3240269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DD4342-578D-E8C8-ED5D-B5814CC1DF05}"/>
                  </a:ext>
                </a:extLst>
              </p:cNvPr>
              <p:cNvSpPr txBox="1"/>
              <p:nvPr/>
            </p:nvSpPr>
            <p:spPr>
              <a:xfrm>
                <a:off x="167224" y="4047969"/>
                <a:ext cx="10359009" cy="2246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level of significance, the difference between the standard deviations is not significant.</a:t>
                </a:r>
              </a:p>
              <a:p>
                <a:pPr algn="just"/>
                <a:endParaRPr lang="en-US" sz="2800" dirty="0">
                  <a:solidFill>
                    <a:srgbClr val="002060"/>
                  </a:solidFill>
                  <a:latin typeface="+mj-lt"/>
                </a:endParaRPr>
              </a:p>
              <a:p>
                <a:pPr algn="just"/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[ Hence, the heights of adult males in Country A and Country B have approximately the same variability (SD). ]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DD4342-578D-E8C8-ED5D-B5814CC1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24" y="4047969"/>
                <a:ext cx="10359009" cy="2246769"/>
              </a:xfrm>
              <a:prstGeom prst="rect">
                <a:avLst/>
              </a:prstGeom>
              <a:blipFill>
                <a:blip r:embed="rId7"/>
                <a:stretch>
                  <a:fillRect l="-1176" t="-2439" r="-1176" b="-6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BECC1FB-667D-3CAC-DAFF-34314FCD1BDF}"/>
              </a:ext>
            </a:extLst>
          </p:cNvPr>
          <p:cNvGrpSpPr/>
          <p:nvPr/>
        </p:nvGrpSpPr>
        <p:grpSpPr>
          <a:xfrm>
            <a:off x="8588106" y="977736"/>
            <a:ext cx="3603894" cy="2714585"/>
            <a:chOff x="8570172" y="3182463"/>
            <a:chExt cx="3603894" cy="271458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DB2025-60D8-9E61-7F0B-C65F02F60E67}"/>
                </a:ext>
              </a:extLst>
            </p:cNvPr>
            <p:cNvGrpSpPr/>
            <p:nvPr/>
          </p:nvGrpSpPr>
          <p:grpSpPr>
            <a:xfrm flipH="1">
              <a:off x="8570172" y="3182463"/>
              <a:ext cx="3385735" cy="2154174"/>
              <a:chOff x="6189671" y="3656930"/>
              <a:chExt cx="4018280" cy="2556631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1F192BC-3AB7-8EBD-A0E1-A49BD530FE16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C0A6E02-EBBE-559D-E0F4-C33C2AB94ACE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D99780C-0468-EB5F-28AF-24EA336FDE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79C9BB8-0849-4AA1-220B-0413EC90E09A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02B58DC-0BC4-793A-24CE-C0C153C50F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A244B61-DE93-688F-B619-1143E62839FC}"/>
                    </a:ext>
                  </a:extLst>
                </p:cNvPr>
                <p:cNvSpPr/>
                <p:nvPr/>
              </p:nvSpPr>
              <p:spPr>
                <a:xfrm>
                  <a:off x="10358027" y="5373828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1.645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A244B61-DE93-688F-B619-1143E62839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8027" y="5373828"/>
                  <a:ext cx="181603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618B723-2296-7262-C87C-7BC022D54399}"/>
              </a:ext>
            </a:extLst>
          </p:cNvPr>
          <p:cNvSpPr/>
          <p:nvPr/>
        </p:nvSpPr>
        <p:spPr>
          <a:xfrm>
            <a:off x="138327" y="912354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E27A2C-7AA3-55EF-03CA-F1EB2C08B574}"/>
                  </a:ext>
                </a:extLst>
              </p:cNvPr>
              <p:cNvSpPr txBox="1"/>
              <p:nvPr/>
            </p:nvSpPr>
            <p:spPr>
              <a:xfrm>
                <a:off x="2248791" y="912354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E27A2C-7AA3-55EF-03CA-F1EB2C08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791" y="912354"/>
                <a:ext cx="26974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00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  <p:bldP spid="20" grpId="0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8957B-8482-9368-B7F7-995B4FB7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C4FA-F339-1050-8012-3E6B527B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Hypothesis Testing for Small Sample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0628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BE34-6286-4387-9BC3-2119F3AE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458B-277C-05AC-FD90-9B41A56F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49FFE-CBC0-4A82-D1BE-3A960C924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37714"/>
                <a:ext cx="11929641" cy="5765956"/>
              </a:xfrm>
            </p:spPr>
            <p:txBody>
              <a:bodyPr/>
              <a:lstStyle/>
              <a:p>
                <a:pPr lvl="0"/>
                <a:r>
                  <a:rPr lang="en-US" dirty="0"/>
                  <a:t>If the sample size is large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≥30</m:t>
                        </m:r>
                      </m:e>
                    </m:d>
                  </m:oMath>
                </a14:m>
                <a:r>
                  <a:rPr lang="en-US" dirty="0"/>
                  <a:t>, then the sampling distribution of the statistic is approximately normal.</a:t>
                </a:r>
              </a:p>
              <a:p>
                <a:pPr lvl="0"/>
                <a:r>
                  <a:rPr lang="en-US" dirty="0"/>
                  <a:t>But if the sample size is small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&lt;30</m:t>
                        </m:r>
                      </m:e>
                    </m:d>
                  </m:oMath>
                </a14:m>
                <a:r>
                  <a:rPr lang="en-US" dirty="0"/>
                  <a:t>, the methods used for large samples may not be appropriate.</a:t>
                </a:r>
              </a:p>
              <a:p>
                <a:pPr lvl="0"/>
                <a:r>
                  <a:rPr lang="en-US" dirty="0"/>
                  <a:t>For estimating population parameters and testing hypotheses with small samples, the following distributions are commonly used:</a:t>
                </a:r>
              </a:p>
              <a:p>
                <a:pPr lvl="1"/>
                <a:r>
                  <a:rPr lang="en-US" dirty="0"/>
                  <a:t>Student’s </a:t>
                </a:r>
                <a:r>
                  <a:rPr lang="en-US" b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/>
                  <a:t> – distribution</a:t>
                </a:r>
                <a:endParaRPr lang="en-IN" dirty="0"/>
              </a:p>
              <a:p>
                <a:pPr lvl="1"/>
                <a:r>
                  <a:rPr lang="en-US" dirty="0" err="1"/>
                  <a:t>Snedecor’s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F</a:t>
                </a:r>
                <a:r>
                  <a:rPr lang="en-US" dirty="0"/>
                  <a:t> – distribution</a:t>
                </a:r>
                <a:endParaRPr lang="en-IN" dirty="0"/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Chi – Square</a:t>
                </a:r>
                <a:r>
                  <a:rPr lang="en-US" dirty="0"/>
                  <a:t> distribution </a:t>
                </a:r>
                <a:endParaRPr lang="en-IN" dirty="0"/>
              </a:p>
              <a:p>
                <a:pPr lvl="1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49FFE-CBC0-4A82-D1BE-3A960C924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37714"/>
                <a:ext cx="11929641" cy="5765956"/>
              </a:xfrm>
              <a:blipFill>
                <a:blip r:embed="rId2"/>
                <a:stretch>
                  <a:fillRect l="-971" r="-1074" b="-32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42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241C-741F-9C49-938A-2B14D0A5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AB65-5B3E-D3E2-1C93-705FB6AC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89E3A-671A-E894-7106-8A91F0606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812739"/>
              </a:xfrm>
            </p:spPr>
            <p:txBody>
              <a:bodyPr/>
              <a:lstStyle/>
              <a:p>
                <a:pPr lvl="0"/>
                <a:r>
                  <a:rPr lang="en-US" dirty="0"/>
                  <a:t>Degree of Freedom (DOF) means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number of values that are free to vary (change)</a:t>
                </a:r>
                <a:r>
                  <a:rPr lang="en-US" dirty="0"/>
                  <a:t> while calculating a statistic, after some restrictions are applied. </a:t>
                </a:r>
              </a:p>
              <a:p>
                <a:pPr lvl="0"/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Imagine you have three numbers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you are told their average (mean) must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You can choose any value for the first number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., 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 algn="l"/>
                <a:r>
                  <a:rPr lang="en-US" dirty="0"/>
                  <a:t>You can choose any value for the second number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., 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 algn="l"/>
                <a:r>
                  <a:rPr lang="en-US" dirty="0"/>
                  <a:t>However, the third number cannot be anything you want. </a:t>
                </a:r>
              </a:p>
              <a:p>
                <a:pPr lvl="1" algn="l"/>
                <a:r>
                  <a:rPr lang="en-US" dirty="0"/>
                  <a:t>To keep the mean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, the sum must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89E3A-671A-E894-7106-8A91F0606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812739"/>
              </a:xfrm>
              <a:blipFill>
                <a:blip r:embed="rId2"/>
                <a:stretch>
                  <a:fillRect l="-971" r="-1074" b="-24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07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5849-DD8E-7D66-6103-549EA9F4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69BA-2B51-5F78-1DC5-F1BE04E5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B91AA-3A4E-1B92-9C7E-B59AD114B0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08074"/>
                <a:ext cx="11929641" cy="5645935"/>
              </a:xfrm>
            </p:spPr>
            <p:txBody>
              <a:bodyPr/>
              <a:lstStyle/>
              <a:p>
                <a:pPr lvl="1" algn="l"/>
                <a:r>
                  <a:rPr lang="en-US" dirty="0"/>
                  <a:t>To keep the mean at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, the sum must be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=30−8−12=10</m:t>
                      </m:r>
                    </m:oMath>
                  </m:oMathPara>
                </a14:m>
                <a:endParaRPr lang="en-US" dirty="0"/>
              </a:p>
              <a:p>
                <a:pPr lvl="1" algn="l"/>
                <a:r>
                  <a:rPr lang="en-US" dirty="0"/>
                  <a:t>In this case, you had the "freedom" to choose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numbers, but the last one was fixed by the constraint (the mean).</a:t>
                </a:r>
              </a:p>
              <a:p>
                <a:pPr lvl="2" algn="l"/>
                <a:r>
                  <a:rPr lang="en-US" dirty="0"/>
                  <a:t>i.e., First value → free, Second value → free but Third value → fixed</a:t>
                </a:r>
              </a:p>
              <a:p>
                <a:pPr lvl="1" algn="l"/>
                <a:r>
                  <a:rPr lang="en-US" dirty="0"/>
                  <a:t>Therefore, degree of freedom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=3−1=2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B91AA-3A4E-1B92-9C7E-B59AD114B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08074"/>
                <a:ext cx="11929641" cy="564593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42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9C64-3452-E2AE-5442-BF337A32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9CB4-27F5-030B-1CA9-68D72E37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and General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6FAC3-1B48-8851-15A8-BFBB57282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algn="l"/>
                <a:r>
                  <a:rPr lang="en-US" b="1" u="sng" dirty="0"/>
                  <a:t>Notation</a:t>
                </a:r>
                <a:r>
                  <a:rPr lang="en-US" dirty="0"/>
                  <a:t>  </a:t>
                </a:r>
              </a:p>
              <a:p>
                <a:pPr lvl="1" algn="l"/>
                <a:r>
                  <a:rPr lang="en-US" dirty="0"/>
                  <a:t>The standard notation for degrees of freedom is: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𝐝𝐟</m:t>
                    </m:r>
                  </m:oMath>
                </a14:m>
                <a:endParaRPr lang="en-US" b="1" dirty="0"/>
              </a:p>
              <a:p>
                <a:pPr lvl="1" algn="l"/>
                <a:r>
                  <a:rPr lang="en-US" dirty="0"/>
                  <a:t>Alternatively, the Greek letter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(nu) is often used in mathematical statistics.</a:t>
                </a:r>
              </a:p>
              <a:p>
                <a:pPr algn="l"/>
                <a:r>
                  <a:rPr lang="en-US" b="1" u="sng" dirty="0"/>
                  <a:t>General Formula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IN" b="0" dirty="0"/>
              </a:p>
              <a:p>
                <a:pPr lvl="2"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Total number of observations (sample size).</a:t>
                </a:r>
              </a:p>
              <a:p>
                <a:pPr lvl="2"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estimated parameters (constraints).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6FAC3-1B48-8851-15A8-BFBB57282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73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7FF9-04F4-6850-AFC1-BB1BE914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3E00-5BBA-A02A-6D7B-C032A4D1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in Small Sample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D734F4-83D7-A983-33C9-499EA3D902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In small sample tests, population variance is unknown, so we estimate it using sample variance. </a:t>
                </a:r>
              </a:p>
              <a:p>
                <a:r>
                  <a:rPr lang="en-US" dirty="0"/>
                  <a:t>While calculating sample variance, one degree of freedom is lost.</a:t>
                </a:r>
              </a:p>
              <a:p>
                <a:pPr lvl="1"/>
                <a:r>
                  <a:rPr lang="en-US" dirty="0"/>
                  <a:t>One degree of freedom is lost because one value becomes dependent on the others after calculating the sample mean.</a:t>
                </a:r>
              </a:p>
              <a:p>
                <a:r>
                  <a:rPr lang="en-US" dirty="0"/>
                  <a:t>Therefore, the test statistic follows a t-distribution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 degrees of freedom.</a:t>
                </a:r>
              </a:p>
              <a:p>
                <a:r>
                  <a:rPr lang="en-US" dirty="0"/>
                  <a:t>Degree of Freedom is used to find the correct critical value from the t-table, which determines the critical region.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D734F4-83D7-A983-33C9-499EA3D90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19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1D8F-D49D-11F7-F03F-7A08A813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AFC322-A95D-B44E-8D76-B9C693A08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Apply test statistic.</a:t>
                </a:r>
                <a:endParaRPr lang="en-IN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critical region and Find Appropriate degree of freedom.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Conclusion.</a:t>
                </a: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AFC322-A95D-B44E-8D76-B9C693A08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87E2545-93ED-E3AD-B6E0-7AF4FE6B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Testing of Statistical Hypothesis  </a:t>
            </a:r>
          </a:p>
        </p:txBody>
      </p:sp>
    </p:spTree>
    <p:extLst>
      <p:ext uri="{BB962C8B-B14F-4D97-AF65-F5344CB8AC3E}">
        <p14:creationId xmlns:p14="http://schemas.microsoft.com/office/powerpoint/2010/main" val="138102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47D59-4CD1-8A62-5844-B399E013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D75B4-4619-0675-37FE-D74B5AF9C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Compare the computed value of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𝐭</m:t>
                    </m:r>
                  </m:oMath>
                </a14:m>
                <a:r>
                  <a:rPr lang="en-US" dirty="0"/>
                  <a:t> with critical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I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  <m:r>
                              <a:rPr lang="en-I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significant difference. </a:t>
                </a:r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no significant difference.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D75B4-4619-0675-37FE-D74B5AF9C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945FECE-E197-4671-4F28-A1530080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 </a:t>
            </a:r>
          </a:p>
        </p:txBody>
      </p:sp>
    </p:spTree>
    <p:extLst>
      <p:ext uri="{BB962C8B-B14F-4D97-AF65-F5344CB8AC3E}">
        <p14:creationId xmlns:p14="http://schemas.microsoft.com/office/powerpoint/2010/main" val="416762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4</a:t>
            </a:r>
            <a:br>
              <a:rPr lang="en-US" dirty="0"/>
            </a:br>
            <a:r>
              <a:rPr lang="en-US" dirty="0"/>
              <a:t>t – Test for Single Mean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F86FA-098D-2599-C83D-E87677345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IN" b="1" dirty="0"/>
              <a:t>Student’s t-test</a:t>
            </a:r>
          </a:p>
        </p:txBody>
      </p:sp>
    </p:spTree>
    <p:extLst>
      <p:ext uri="{BB962C8B-B14F-4D97-AF65-F5344CB8AC3E}">
        <p14:creationId xmlns:p14="http://schemas.microsoft.com/office/powerpoint/2010/main" val="33361307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488C-CDB1-38C4-1BED-AAF0384D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BA54-8917-E04F-1EB4-F005A013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150DB-52FF-5922-7ACF-94856964E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A t–test for single mean is a statistical test used to check whether the mean of a sample is significantly different from a given population mean.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simple words: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We use this test to decide whether the average value of a sample really represents the population mean or not.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This test is mainly used when: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Sample size is small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Population 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dirty="0"/>
                  <a:t> is not known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 we use sample 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150DB-52FF-5922-7ACF-94856964E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21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F9DA-44D4-EAD5-FD3F-4106A8A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test is called “Student’s t-test”?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C0843-1A9A-310C-CF19-FD237E4D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443282"/>
          </a:xfrm>
        </p:spPr>
        <p:txBody>
          <a:bodyPr/>
          <a:lstStyle/>
          <a:p>
            <a:r>
              <a:rPr lang="en-US" dirty="0"/>
              <a:t>The test was developed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William Sealy Gosset</a:t>
            </a:r>
            <a:r>
              <a:rPr lang="en-US" dirty="0"/>
              <a:t>.</a:t>
            </a:r>
          </a:p>
          <a:p>
            <a:r>
              <a:rPr lang="en-US" dirty="0"/>
              <a:t>He published it under the name “Student”.</a:t>
            </a:r>
          </a:p>
          <a:p>
            <a:r>
              <a:rPr lang="en-US" dirty="0"/>
              <a:t>That’s why it is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Student’s t-test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1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67DC-DB19-F635-A546-BD301E36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E2A0-4CE3-831A-762C-7440D4C4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934EF-04D9-C8A2-4B4B-A17E095D4C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, 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 and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taken from a normal population with mean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and unknown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check whether there is a significant difference between the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dirty="0"/>
                  <a:t> and the population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when the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unknown and the sample size is small..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934EF-04D9-C8A2-4B4B-A17E095D4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5F024B-14FE-54C2-F3AA-FE7EE2C1B6F8}"/>
                  </a:ext>
                </a:extLst>
              </p:cNvPr>
              <p:cNvSpPr txBox="1"/>
              <p:nvPr/>
            </p:nvSpPr>
            <p:spPr>
              <a:xfrm>
                <a:off x="1910172" y="4685384"/>
                <a:ext cx="8371655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5F024B-14FE-54C2-F3AA-FE7EE2C1B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172" y="4685384"/>
                <a:ext cx="8371655" cy="17686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14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7003-1754-8769-B9F8-D146E115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47F0-5D4D-8012-402D-846E2F80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D4F15-121B-38DA-608D-AB962A926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96217"/>
            <a:ext cx="4281333" cy="741433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Biased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72CD8-9363-8232-335C-7AAA6602830D}"/>
                  </a:ext>
                </a:extLst>
              </p:cNvPr>
              <p:cNvSpPr txBox="1"/>
              <p:nvPr/>
            </p:nvSpPr>
            <p:spPr>
              <a:xfrm>
                <a:off x="361047" y="1622666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72CD8-9363-8232-335C-7AAA6602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1622666"/>
                <a:ext cx="4859539" cy="1266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A9D3FA-1625-9188-ECB6-1E0A89AF4B81}"/>
                  </a:ext>
                </a:extLst>
              </p:cNvPr>
              <p:cNvSpPr txBox="1"/>
              <p:nvPr/>
            </p:nvSpPr>
            <p:spPr>
              <a:xfrm>
                <a:off x="361047" y="5800173"/>
                <a:ext cx="72199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In the t-test we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, the unbiased estimator.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A9D3FA-1625-9188-ECB6-1E0A89AF4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5800173"/>
                <a:ext cx="7219966" cy="523220"/>
              </a:xfrm>
              <a:prstGeom prst="rect">
                <a:avLst/>
              </a:prstGeom>
              <a:blipFill>
                <a:blip r:embed="rId3"/>
                <a:stretch>
                  <a:fillRect l="-168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275655-9C17-5CC3-D90D-2F482416F0F0}"/>
              </a:ext>
            </a:extLst>
          </p:cNvPr>
          <p:cNvSpPr txBox="1">
            <a:spLocks/>
          </p:cNvSpPr>
          <p:nvPr/>
        </p:nvSpPr>
        <p:spPr>
          <a:xfrm>
            <a:off x="131179" y="3142642"/>
            <a:ext cx="4281333" cy="74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US" dirty="0"/>
              <a:t>Unbiased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30698D-1BFE-132C-0FB0-9627C420BE6A}"/>
                  </a:ext>
                </a:extLst>
              </p:cNvPr>
              <p:cNvSpPr txBox="1"/>
              <p:nvPr/>
            </p:nvSpPr>
            <p:spPr>
              <a:xfrm>
                <a:off x="361047" y="3969091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30698D-1BFE-132C-0FB0-9627C420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3969091"/>
                <a:ext cx="4859539" cy="1266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9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2" grpId="0"/>
      <p:bldP spid="4" grpId="0" uiExpand="1" build="p"/>
      <p:bldP spid="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75EB-1226-BBAA-D57E-87E40943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845EE8-0D4B-F830-6B2D-C3C1B55690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Relation between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845EE8-0D4B-F830-6B2D-C3C1B5569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FAE38-BD41-67DD-3FB7-56F3F4CDB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96217"/>
            <a:ext cx="4281333" cy="741433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Biased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73FDEE-4D18-874E-2621-0F6911CE3251}"/>
                  </a:ext>
                </a:extLst>
              </p:cNvPr>
              <p:cNvSpPr txBox="1"/>
              <p:nvPr/>
            </p:nvSpPr>
            <p:spPr>
              <a:xfrm>
                <a:off x="361047" y="1622666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73FDEE-4D18-874E-2621-0F6911CE3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1622666"/>
                <a:ext cx="4859539" cy="1266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80DD0B-AB5C-8246-1366-FA1A4DC62F7E}"/>
              </a:ext>
            </a:extLst>
          </p:cNvPr>
          <p:cNvSpPr txBox="1">
            <a:spLocks/>
          </p:cNvSpPr>
          <p:nvPr/>
        </p:nvSpPr>
        <p:spPr>
          <a:xfrm>
            <a:off x="131179" y="3142642"/>
            <a:ext cx="4281333" cy="7414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US" dirty="0"/>
              <a:t>Unbiased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B238EC-B19D-4DD6-8140-9FE5DC3E4351}"/>
                  </a:ext>
                </a:extLst>
              </p:cNvPr>
              <p:cNvSpPr txBox="1"/>
              <p:nvPr/>
            </p:nvSpPr>
            <p:spPr>
              <a:xfrm>
                <a:off x="361047" y="3969091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B238EC-B19D-4DD6-8140-9FE5DC3E4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3969091"/>
                <a:ext cx="4859539" cy="1266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3DB0B2-575A-D702-ED16-DF0491C41219}"/>
                  </a:ext>
                </a:extLst>
              </p:cNvPr>
              <p:cNvSpPr txBox="1"/>
              <p:nvPr/>
            </p:nvSpPr>
            <p:spPr>
              <a:xfrm>
                <a:off x="4263195" y="1622666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3DB0B2-575A-D702-ED16-DF0491C41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195" y="1622666"/>
                <a:ext cx="4859539" cy="12662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26255E-EC7F-B767-0DAD-F4DA307F5C1A}"/>
                  </a:ext>
                </a:extLst>
              </p:cNvPr>
              <p:cNvSpPr txBox="1"/>
              <p:nvPr/>
            </p:nvSpPr>
            <p:spPr>
              <a:xfrm>
                <a:off x="4263195" y="3884075"/>
                <a:ext cx="485953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26255E-EC7F-B767-0DAD-F4DA307F5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195" y="3884075"/>
                <a:ext cx="4859539" cy="1266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EBDC16-2F20-A469-33EA-FEECE6D6EA2C}"/>
                  </a:ext>
                </a:extLst>
              </p:cNvPr>
              <p:cNvSpPr txBox="1"/>
              <p:nvPr/>
            </p:nvSpPr>
            <p:spPr>
              <a:xfrm>
                <a:off x="361047" y="5800173"/>
                <a:ext cx="38224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EBDC16-2F20-A469-33EA-FEECE6D6E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7" y="5800173"/>
                <a:ext cx="382240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93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4" grpId="0" uiExpand="1" build="p"/>
      <p:bldP spid="6" grpId="0"/>
      <p:bldP spid="5" grpId="0"/>
      <p:bldP spid="7" grpId="0"/>
      <p:bldP spid="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0FFC-DC49-4ED4-E04A-9B419915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03CF80-1642-3A70-EDBC-6DB66DA51A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Relation between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03CF80-1642-3A70-EDBC-6DB66DA51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4F2BF-4BF1-5D9E-32F0-E853EF151997}"/>
                  </a:ext>
                </a:extLst>
              </p:cNvPr>
              <p:cNvSpPr txBox="1"/>
              <p:nvPr/>
            </p:nvSpPr>
            <p:spPr>
              <a:xfrm>
                <a:off x="103135" y="974921"/>
                <a:ext cx="40329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4F2BF-4BF1-5D9E-32F0-E853EF151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5" y="974921"/>
                <a:ext cx="4032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320F9B-2E41-7326-2DB6-08E0550D5148}"/>
                  </a:ext>
                </a:extLst>
              </p:cNvPr>
              <p:cNvSpPr txBox="1"/>
              <p:nvPr/>
            </p:nvSpPr>
            <p:spPr>
              <a:xfrm>
                <a:off x="103135" y="1855267"/>
                <a:ext cx="2926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IN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320F9B-2E41-7326-2DB6-08E0550D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5" y="1855267"/>
                <a:ext cx="292608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BF477-358E-A29E-E7A1-0B1C86FDE967}"/>
                  </a:ext>
                </a:extLst>
              </p:cNvPr>
              <p:cNvSpPr txBox="1"/>
              <p:nvPr/>
            </p:nvSpPr>
            <p:spPr>
              <a:xfrm>
                <a:off x="103135" y="3227192"/>
                <a:ext cx="2926080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rad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BF477-358E-A29E-E7A1-0B1C86FDE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5" y="3227192"/>
                <a:ext cx="2926080" cy="982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A9E77B-3893-78EE-C5FB-FFBDBD63FBFD}"/>
                  </a:ext>
                </a:extLst>
              </p:cNvPr>
              <p:cNvSpPr txBox="1"/>
              <p:nvPr/>
            </p:nvSpPr>
            <p:spPr>
              <a:xfrm>
                <a:off x="103135" y="4627330"/>
                <a:ext cx="2926080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𝐬</m:t>
                      </m:r>
                      <m:rad>
                        <m:radPr>
                          <m:degHide m:val="on"/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A9E77B-3893-78EE-C5FB-FFBDBD63F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5" y="4627330"/>
                <a:ext cx="2926080" cy="982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21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2836-77CA-D98F-1256-2D92E9CB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6B2D-C575-E483-28BB-CF58B36F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7B06-258F-37D2-4B79-0FBB35386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809254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68C64-5C56-84EE-C200-168C08F845C3}"/>
                  </a:ext>
                </a:extLst>
              </p:cNvPr>
              <p:cNvSpPr txBox="1"/>
              <p:nvPr/>
            </p:nvSpPr>
            <p:spPr>
              <a:xfrm>
                <a:off x="4446757" y="1404216"/>
                <a:ext cx="2320290" cy="1585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68C64-5C56-84EE-C200-168C08F8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57" y="1404216"/>
                <a:ext cx="2320290" cy="15856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BF2166-6BBE-F0FC-3B7A-39FDA4634D87}"/>
              </a:ext>
            </a:extLst>
          </p:cNvPr>
          <p:cNvSpPr txBox="1">
            <a:spLocks/>
          </p:cNvSpPr>
          <p:nvPr/>
        </p:nvSpPr>
        <p:spPr>
          <a:xfrm>
            <a:off x="446568" y="2873666"/>
            <a:ext cx="1637414" cy="8092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5000"/>
              </a:lnSpc>
              <a:buNone/>
            </a:pPr>
            <a:r>
              <a:rPr lang="en-US" dirty="0"/>
              <a:t>where</a:t>
            </a:r>
          </a:p>
          <a:p>
            <a:pPr>
              <a:lnSpc>
                <a:spcPct val="145000"/>
              </a:lnSpc>
            </a:pPr>
            <a:endParaRPr lang="en-US" dirty="0"/>
          </a:p>
          <a:p>
            <a:pPr marL="0" indent="0">
              <a:lnSpc>
                <a:spcPct val="145000"/>
              </a:lnSpc>
              <a:buFont typeface="Wingdings 3" panose="05040102010807070707" pitchFamily="18" charset="2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11B849-CCE1-3F9A-C321-EE6A6E7303D6}"/>
                  </a:ext>
                </a:extLst>
              </p:cNvPr>
              <p:cNvSpPr txBox="1"/>
              <p:nvPr/>
            </p:nvSpPr>
            <p:spPr>
              <a:xfrm>
                <a:off x="1828800" y="3429000"/>
                <a:ext cx="4820237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11B849-CCE1-3F9A-C321-EE6A6E730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429000"/>
                <a:ext cx="4820237" cy="17686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8F60C52-F898-5E5F-6BD5-6F5C59883D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568" y="5429968"/>
                <a:ext cx="2764465" cy="8092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df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 marL="0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8F60C52-F898-5E5F-6BD5-6F5C59883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8" y="5429968"/>
                <a:ext cx="2764465" cy="809254"/>
              </a:xfrm>
              <a:prstGeom prst="rect">
                <a:avLst/>
              </a:prstGeom>
              <a:blipFill>
                <a:blip r:embed="rId4"/>
                <a:stretch>
                  <a:fillRect l="-4405"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39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4" grpId="0" uiExpand="1" build="p"/>
      <p:bldP spid="5" grpId="0"/>
      <p:bldP spid="8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5BAC-B6C3-4C28-3522-19A654A6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C86A-092C-5B84-0BD2-69856113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FF991-1B09-6AF6-F609-FFAF81FE3D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809254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If the problem gives biased SD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/>
                  <a:t>, convert it to unbased SD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dirty="0"/>
                  <a:t> using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FF991-1B09-6AF6-F609-FFAF81FE3D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809254"/>
              </a:xfrm>
              <a:blipFill>
                <a:blip r:embed="rId2"/>
                <a:stretch>
                  <a:fillRect l="-971"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824199-F5D9-9A89-1BF5-8BC43F1219F5}"/>
                  </a:ext>
                </a:extLst>
              </p:cNvPr>
              <p:cNvSpPr txBox="1"/>
              <p:nvPr/>
            </p:nvSpPr>
            <p:spPr>
              <a:xfrm>
                <a:off x="396327" y="1520456"/>
                <a:ext cx="3707840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824199-F5D9-9A89-1BF5-8BC43F121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27" y="1520456"/>
                <a:ext cx="3707840" cy="969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F772EC8-F902-CF59-85C0-A4EAADAB045A}"/>
              </a:ext>
            </a:extLst>
          </p:cNvPr>
          <p:cNvSpPr txBox="1"/>
          <p:nvPr/>
        </p:nvSpPr>
        <p:spPr>
          <a:xfrm>
            <a:off x="2600811" y="1759450"/>
            <a:ext cx="1503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and use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C34467-239C-08C3-84AC-81D7328CBBC0}"/>
                  </a:ext>
                </a:extLst>
              </p:cNvPr>
              <p:cNvSpPr txBox="1"/>
              <p:nvPr/>
            </p:nvSpPr>
            <p:spPr>
              <a:xfrm>
                <a:off x="4614220" y="2282670"/>
                <a:ext cx="2690348" cy="1292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C34467-239C-08C3-84AC-81D7328CB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220" y="2282670"/>
                <a:ext cx="2690348" cy="1292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6EEF3E6-9202-884C-EF14-AA522A304A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3932983"/>
                <a:ext cx="11929641" cy="25635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IN" dirty="0"/>
                  <a:t>Remark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If the question does not specify whether the standard deviation is biased or unbiased, we assume it is the usual sample standard deviation, i.e., the biased 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6EEF3E6-9202-884C-EF14-AA522A304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3932983"/>
                <a:ext cx="11929641" cy="2563510"/>
              </a:xfrm>
              <a:prstGeom prst="rect">
                <a:avLst/>
              </a:prstGeom>
              <a:blipFill>
                <a:blip r:embed="rId6"/>
                <a:stretch>
                  <a:fillRect l="-971" r="-1074" b="-42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09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" grpId="0"/>
      <p:bldP spid="12" grpId="0"/>
      <p:bldP spid="4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1563-F7CD-04B0-E84C-BA16A4FC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558F-F168-5A8F-57B0-297B91C5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C027B-D2C2-7288-1A23-AAAD6D99A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827132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sub>
                    </m:sSub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</m:oMath>
                </a14:m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C027B-D2C2-7288-1A23-AAAD6D99A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827132"/>
              </a:xfrm>
              <a:blipFill>
                <a:blip r:embed="rId2"/>
                <a:stretch>
                  <a:fillRect l="-971" b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4BCBA42-9A7F-EA6B-0514-5B50D6C173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5309" y="393171"/>
                <a:ext cx="2991249" cy="14969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𝛂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 marL="0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4BCBA42-9A7F-EA6B-0514-5B50D6C17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309" y="393171"/>
                <a:ext cx="2991249" cy="1496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FCFBDA7-9C63-D030-1D8B-2D1312826D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3429000"/>
                <a:ext cx="11929641" cy="20166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IN" dirty="0"/>
                  <a:t>Interpretation: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 × 100%</m:t>
                    </m:r>
                  </m:oMath>
                </a14:m>
                <a:r>
                  <a:rPr lang="en-US" dirty="0"/>
                  <a:t> confident that the true population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lies within these limits.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 marL="0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FCFBDA7-9C63-D030-1D8B-2D131282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3429000"/>
                <a:ext cx="11929641" cy="2016641"/>
              </a:xfrm>
              <a:prstGeom prst="rect">
                <a:avLst/>
              </a:prstGeom>
              <a:blipFill>
                <a:blip r:embed="rId4"/>
                <a:stretch>
                  <a:fillRect l="-971" r="-1074" b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1956C7D-38BE-F7C6-65EA-A032D8F539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89642"/>
                <a:ext cx="11929641" cy="14353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&amp; </a:t>
                </a:r>
              </a:p>
              <a:p>
                <a:pPr marL="1435100" lvl="1" indent="0">
                  <a:lnSpc>
                    <a:spcPct val="145000"/>
                  </a:lnSpc>
                  <a:buNone/>
                </a:pPr>
                <a:r>
                  <a:rPr lang="en-US" dirty="0"/>
                  <a:t>degree of freedom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>
                        <a:latin typeface="Cambria Math" panose="02040503050406030204" pitchFamily="18" charset="0"/>
                      </a:rPr>
                      <m:t>ν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i="0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1956C7D-38BE-F7C6-65EA-A032D8F53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89642"/>
                <a:ext cx="11929641" cy="1435395"/>
              </a:xfrm>
              <a:prstGeom prst="rect">
                <a:avLst/>
              </a:prstGeom>
              <a:blipFill>
                <a:blip r:embed="rId5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21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6891-CBC3-1A78-FAD2-BE26DD94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B738F18-65A0-A905-476D-F720201552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70267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 random sample of size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53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mean. The sum of squares of the deviation from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135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. Can this sample be regarded as taken from population having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0.05, 15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=2.1314</m:t>
                        </m:r>
                      </m:e>
                    </m:d>
                  </m:oMath>
                </a14:m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B738F18-65A0-A905-476D-F72020155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702671"/>
              </a:xfrm>
              <a:prstGeom prst="rect">
                <a:avLst/>
              </a:prstGeom>
              <a:blipFill>
                <a:blip r:embed="rId2"/>
                <a:stretch>
                  <a:fillRect l="-1074" r="-1074" b="-78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6DD0904-F84C-48F8-1217-7C826718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1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15CD29E-24B2-0E0A-25C1-78ACC2211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2729629"/>
                <a:ext cx="11929641" cy="3724380"/>
              </a:xfrm>
            </p:spPr>
            <p:txBody>
              <a:bodyPr/>
              <a:lstStyle/>
              <a:p>
                <a:r>
                  <a:rPr lang="en-US" dirty="0"/>
                  <a:t>You took a small sample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=16</m:t>
                        </m:r>
                      </m:e>
                    </m:d>
                  </m:oMath>
                </a14:m>
                <a:r>
                  <a:rPr lang="en-US" dirty="0"/>
                  <a:t> and found:</a:t>
                </a:r>
              </a:p>
              <a:p>
                <a:pPr lvl="1"/>
                <a:r>
                  <a:rPr lang="en-US" dirty="0"/>
                  <a:t>Sample mean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=53</m:t>
                    </m:r>
                  </m:oMath>
                </a14:m>
                <a:r>
                  <a:rPr lang="en-US" dirty="0"/>
                  <a:t> and Claimed population mean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=56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the question is:</a:t>
                </a:r>
              </a:p>
              <a:p>
                <a:pPr lvl="1"/>
                <a:r>
                  <a:rPr lang="en-US" dirty="0"/>
                  <a:t>Is this difference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) just due to random chance? OR </a:t>
                </a:r>
              </a:p>
              <a:p>
                <a:pPr lvl="1"/>
                <a:r>
                  <a:rPr lang="en-US" dirty="0"/>
                  <a:t>Is it a real difference (meaning the population mean is not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)?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15CD29E-24B2-0E0A-25C1-78ACC2211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729629"/>
                <a:ext cx="11929641" cy="3724380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2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B0FE-8038-9CED-F8E5-E3275A69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27EF-2B55-6322-30F6-DE4E1FC3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1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157C16-A545-EDEE-4188-51D270335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average of the population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, i.e., the sample is taken from a population having mean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we see any difference between sample mean and population mean, it is only due to sampling variation.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𝟓𝟔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Sample does not come from that population.</a:t>
                </a:r>
              </a:p>
              <a:p>
                <a:pPr lvl="1"/>
                <a:r>
                  <a:rPr lang="en-US" dirty="0"/>
                  <a:t>The difference is real (not just due to sampling variation).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157C16-A545-EDEE-4188-51D270335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93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FC2E-4720-2F81-53B9-E80F4841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BE35E18-EB40-1EEA-C79D-98C5447336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70267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 random sample of size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53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mean. The sum of squares of the deviation from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135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. Can this sample be regarded as taken from population having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0.05, </m:t>
                                </m:r>
                                <m:r>
                                  <a:rPr lang="en-IN" b="0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15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=2.1314</m:t>
                        </m:r>
                      </m:e>
                    </m:d>
                  </m:oMath>
                </a14:m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BE35E18-EB40-1EEA-C79D-98C544733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702671"/>
              </a:xfrm>
              <a:prstGeom prst="rect">
                <a:avLst/>
              </a:prstGeom>
              <a:blipFill>
                <a:blip r:embed="rId3"/>
                <a:stretch>
                  <a:fillRect l="-1074" r="-1074" b="-78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88AB17E-1160-A81A-19E2-9E8AB9CF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8E5332-EA21-370D-6743-D458CB8A8407}"/>
              </a:ext>
            </a:extLst>
          </p:cNvPr>
          <p:cNvSpPr/>
          <p:nvPr/>
        </p:nvSpPr>
        <p:spPr>
          <a:xfrm>
            <a:off x="131177" y="26764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B58D38-568E-1EFB-3CEA-311F15F0B296}"/>
                  </a:ext>
                </a:extLst>
              </p:cNvPr>
              <p:cNvSpPr/>
              <p:nvPr/>
            </p:nvSpPr>
            <p:spPr>
              <a:xfrm>
                <a:off x="5186673" y="3028763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B58D38-568E-1EFB-3CEA-311F15F0B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673" y="3028763"/>
                <a:ext cx="229489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70526BB-EE96-6E03-6ABD-6B70D0607D5F}"/>
                  </a:ext>
                </a:extLst>
              </p:cNvPr>
              <p:cNvSpPr/>
              <p:nvPr/>
            </p:nvSpPr>
            <p:spPr>
              <a:xfrm>
                <a:off x="7782855" y="3030101"/>
                <a:ext cx="14366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70526BB-EE96-6E03-6ABD-6B70D0607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855" y="3030101"/>
                <a:ext cx="143667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EFB735-DF65-A756-A16B-53CFE2CB5CEA}"/>
                  </a:ext>
                </a:extLst>
              </p:cNvPr>
              <p:cNvSpPr txBox="1"/>
              <p:nvPr/>
            </p:nvSpPr>
            <p:spPr>
              <a:xfrm>
                <a:off x="1680536" y="2676465"/>
                <a:ext cx="320484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=135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EFB735-DF65-A756-A16B-53CFE2CB5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536" y="2676465"/>
                <a:ext cx="3204849" cy="1266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48B2595-5780-F88A-A218-C4606A2C5181}"/>
                  </a:ext>
                </a:extLst>
              </p:cNvPr>
              <p:cNvSpPr/>
              <p:nvPr/>
            </p:nvSpPr>
            <p:spPr>
              <a:xfrm>
                <a:off x="9766798" y="3030101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48B2595-5780-F88A-A218-C4606A2C5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798" y="3030101"/>
                <a:ext cx="14262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A6A5F7-77AC-A3E7-F1AC-6F027C493B84}"/>
              </a:ext>
            </a:extLst>
          </p:cNvPr>
          <p:cNvCxnSpPr>
            <a:cxnSpLocks/>
          </p:cNvCxnSpPr>
          <p:nvPr/>
        </p:nvCxnSpPr>
        <p:spPr>
          <a:xfrm>
            <a:off x="1671317" y="1455420"/>
            <a:ext cx="498094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8FB4ED-1672-FB20-D6B3-3DF8CE10A21F}"/>
              </a:ext>
            </a:extLst>
          </p:cNvPr>
          <p:cNvCxnSpPr>
            <a:cxnSpLocks/>
          </p:cNvCxnSpPr>
          <p:nvPr/>
        </p:nvCxnSpPr>
        <p:spPr>
          <a:xfrm flipV="1">
            <a:off x="7481567" y="1455420"/>
            <a:ext cx="4497073" cy="762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F68475-2489-112D-EF1B-FE95B5C36474}"/>
              </a:ext>
            </a:extLst>
          </p:cNvPr>
          <p:cNvCxnSpPr>
            <a:cxnSpLocks/>
          </p:cNvCxnSpPr>
          <p:nvPr/>
        </p:nvCxnSpPr>
        <p:spPr>
          <a:xfrm>
            <a:off x="165467" y="1992232"/>
            <a:ext cx="252058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92FA3A-5B7B-C36E-5877-A69492DCAE9D}"/>
              </a:ext>
            </a:extLst>
          </p:cNvPr>
          <p:cNvCxnSpPr>
            <a:cxnSpLocks/>
          </p:cNvCxnSpPr>
          <p:nvPr/>
        </p:nvCxnSpPr>
        <p:spPr>
          <a:xfrm>
            <a:off x="8981170" y="1976594"/>
            <a:ext cx="299747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17981B-2117-2B3C-89A1-D87839C8D9D8}"/>
              </a:ext>
            </a:extLst>
          </p:cNvPr>
          <p:cNvCxnSpPr>
            <a:cxnSpLocks/>
          </p:cNvCxnSpPr>
          <p:nvPr/>
        </p:nvCxnSpPr>
        <p:spPr>
          <a:xfrm>
            <a:off x="165467" y="2505388"/>
            <a:ext cx="126029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69038F2-0D01-8FEC-CF2F-7A9D49314BA3}"/>
                  </a:ext>
                </a:extLst>
              </p:cNvPr>
              <p:cNvSpPr/>
              <p:nvPr/>
            </p:nvSpPr>
            <p:spPr>
              <a:xfrm>
                <a:off x="1795172" y="413030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69038F2-0D01-8FEC-CF2F-7A9D49314B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72" y="4130308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 b="-48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5EEDFD-75C8-A2EF-5DED-FF96390808F9}"/>
                  </a:ext>
                </a:extLst>
              </p:cNvPr>
              <p:cNvSpPr/>
              <p:nvPr/>
            </p:nvSpPr>
            <p:spPr>
              <a:xfrm>
                <a:off x="2580720" y="4128671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5EEDFD-75C8-A2EF-5DED-FF9639080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720" y="4128671"/>
                <a:ext cx="147756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6576AE5-F176-0398-240B-23FDB8E78B67}"/>
                  </a:ext>
                </a:extLst>
              </p:cNvPr>
              <p:cNvSpPr/>
              <p:nvPr/>
            </p:nvSpPr>
            <p:spPr>
              <a:xfrm>
                <a:off x="1795172" y="5641082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6576AE5-F176-0398-240B-23FDB8E78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72" y="5641082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F4AC47A-BF2D-779F-E917-6A00E4F692DD}"/>
                  </a:ext>
                </a:extLst>
              </p:cNvPr>
              <p:cNvSpPr/>
              <p:nvPr/>
            </p:nvSpPr>
            <p:spPr>
              <a:xfrm>
                <a:off x="1795172" y="488733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F4AC47A-BF2D-779F-E917-6A00E4F69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72" y="4887332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117FB0-D3BB-FEE2-549A-7DC1B4F03961}"/>
                  </a:ext>
                </a:extLst>
              </p:cNvPr>
              <p:cNvSpPr/>
              <p:nvPr/>
            </p:nvSpPr>
            <p:spPr>
              <a:xfrm>
                <a:off x="2580720" y="4885695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117FB0-D3BB-FEE2-549A-7DC1B4F03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720" y="4885695"/>
                <a:ext cx="147756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BB0B86-366C-62A5-0F7C-C6D87D48D426}"/>
                  </a:ext>
                </a:extLst>
              </p:cNvPr>
              <p:cNvSpPr/>
              <p:nvPr/>
            </p:nvSpPr>
            <p:spPr>
              <a:xfrm>
                <a:off x="4433568" y="5641082"/>
                <a:ext cx="3801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𝐝𝐟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−1=15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BB0B86-366C-62A5-0F7C-C6D87D48D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68" y="5641082"/>
                <a:ext cx="380110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08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  <p:bldP spid="17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D0D5-47ED-74BD-7F47-5A52DA18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7C0E-E3D9-AA6E-E136-9B42F208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20D0E0-966A-A911-B3BA-1B43008D3383}"/>
                  </a:ext>
                </a:extLst>
              </p:cNvPr>
              <p:cNvSpPr/>
              <p:nvPr/>
            </p:nvSpPr>
            <p:spPr>
              <a:xfrm>
                <a:off x="179445" y="306829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20D0E0-966A-A911-B3BA-1B43008D3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45" y="3068290"/>
                <a:ext cx="1318866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676D4-2E54-399A-2624-CE5725A86EF0}"/>
                  </a:ext>
                </a:extLst>
              </p:cNvPr>
              <p:cNvSpPr txBox="1"/>
              <p:nvPr/>
            </p:nvSpPr>
            <p:spPr>
              <a:xfrm>
                <a:off x="200711" y="3867212"/>
                <a:ext cx="2320290" cy="1582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676D4-2E54-399A-2624-CE5725A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11" y="3867212"/>
                <a:ext cx="2320290" cy="1582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866015-873F-D41C-6CDF-313FE0C61D6A}"/>
                  </a:ext>
                </a:extLst>
              </p:cNvPr>
              <p:cNvSpPr txBox="1"/>
              <p:nvPr/>
            </p:nvSpPr>
            <p:spPr>
              <a:xfrm>
                <a:off x="2097544" y="3835985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866015-873F-D41C-6CDF-313FE0C6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44" y="3835985"/>
                <a:ext cx="2320290" cy="16140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F88E09-F5F4-2965-F705-6D1CA5317726}"/>
                  </a:ext>
                </a:extLst>
              </p:cNvPr>
              <p:cNvSpPr txBox="1"/>
              <p:nvPr/>
            </p:nvSpPr>
            <p:spPr>
              <a:xfrm>
                <a:off x="4058173" y="4058372"/>
                <a:ext cx="17373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F88E09-F5F4-2965-F705-6D1CA531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173" y="4058372"/>
                <a:ext cx="173736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558401F-1747-3376-AED2-D08ABF0A2CBA}"/>
              </a:ext>
            </a:extLst>
          </p:cNvPr>
          <p:cNvGrpSpPr/>
          <p:nvPr/>
        </p:nvGrpSpPr>
        <p:grpSpPr>
          <a:xfrm>
            <a:off x="8835140" y="711201"/>
            <a:ext cx="3280854" cy="3103369"/>
            <a:chOff x="8835140" y="711201"/>
            <a:chExt cx="3280854" cy="3103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041BF3-5C76-E555-5127-E86C22667BDD}"/>
                    </a:ext>
                  </a:extLst>
                </p:cNvPr>
                <p:cNvSpPr/>
                <p:nvPr/>
              </p:nvSpPr>
              <p:spPr>
                <a:xfrm>
                  <a:off x="10537894" y="2669139"/>
                  <a:ext cx="14262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041BF3-5C76-E555-5127-E86C22667B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7894" y="2669139"/>
                  <a:ext cx="142621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A081B04-DE80-20DF-0F85-D9CB65EEE123}"/>
                    </a:ext>
                  </a:extLst>
                </p:cNvPr>
                <p:cNvSpPr/>
                <p:nvPr/>
              </p:nvSpPr>
              <p:spPr>
                <a:xfrm>
                  <a:off x="10407275" y="1975025"/>
                  <a:ext cx="170871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=53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A081B04-DE80-20DF-0F85-D9CB65EEE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7275" y="1975025"/>
                  <a:ext cx="170871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4B499B2-C0B7-B2DB-710A-115EDDB411FA}"/>
                    </a:ext>
                  </a:extLst>
                </p:cNvPr>
                <p:cNvSpPr txBox="1"/>
                <p:nvPr/>
              </p:nvSpPr>
              <p:spPr>
                <a:xfrm>
                  <a:off x="8835140" y="711201"/>
                  <a:ext cx="3204849" cy="12662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i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i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IN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i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=135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4B499B2-C0B7-B2DB-710A-115EDDB41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5140" y="711201"/>
                  <a:ext cx="3204849" cy="126624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C7FF58E-409C-915B-ADA2-B269CE2F1544}"/>
                    </a:ext>
                  </a:extLst>
                </p:cNvPr>
                <p:cNvSpPr/>
                <p:nvPr/>
              </p:nvSpPr>
              <p:spPr>
                <a:xfrm>
                  <a:off x="10537894" y="3291350"/>
                  <a:ext cx="14262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=56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C7FF58E-409C-915B-ADA2-B269CE2F15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7894" y="3291350"/>
                  <a:ext cx="1426214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F08237-AA76-5E71-1373-F0C124119CC6}"/>
                  </a:ext>
                </a:extLst>
              </p:cNvPr>
              <p:cNvSpPr txBox="1"/>
              <p:nvPr/>
            </p:nvSpPr>
            <p:spPr>
              <a:xfrm>
                <a:off x="152011" y="790808"/>
                <a:ext cx="4281765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F08237-AA76-5E71-1373-F0C12411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11" y="790808"/>
                <a:ext cx="4281765" cy="17686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59700C-AF5A-AEE2-7E32-CA5F9E5F8C08}"/>
                  </a:ext>
                </a:extLst>
              </p:cNvPr>
              <p:cNvSpPr txBox="1"/>
              <p:nvPr/>
            </p:nvSpPr>
            <p:spPr>
              <a:xfrm>
                <a:off x="3971407" y="911035"/>
                <a:ext cx="2765879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135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59700C-AF5A-AEE2-7E32-CA5F9E5F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407" y="911035"/>
                <a:ext cx="2765879" cy="13653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CB80AC-A4D9-A717-DF44-4FD44FB42895}"/>
                  </a:ext>
                </a:extLst>
              </p:cNvPr>
              <p:cNvSpPr txBox="1"/>
              <p:nvPr/>
            </p:nvSpPr>
            <p:spPr>
              <a:xfrm>
                <a:off x="6393245" y="1413511"/>
                <a:ext cx="13649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CB80AC-A4D9-A717-DF44-4FD44FB42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245" y="1413511"/>
                <a:ext cx="136498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78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  <p:bldP spid="23" grpId="0"/>
      <p:bldP spid="20" grpId="0"/>
      <p:bldP spid="21" grpId="0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78C0-B297-DC29-6434-E84B37A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CF06-3B18-D796-60B3-4336E4B8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DE215-7D3D-DBC2-8D69-5E0D9E7600AE}"/>
              </a:ext>
            </a:extLst>
          </p:cNvPr>
          <p:cNvSpPr/>
          <p:nvPr/>
        </p:nvSpPr>
        <p:spPr>
          <a:xfrm>
            <a:off x="161355" y="1695032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8D3C9A-AD0A-9755-A42D-D8734025BACF}"/>
                  </a:ext>
                </a:extLst>
              </p:cNvPr>
              <p:cNvSpPr txBox="1"/>
              <p:nvPr/>
            </p:nvSpPr>
            <p:spPr>
              <a:xfrm>
                <a:off x="161355" y="2478978"/>
                <a:ext cx="18146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8D3C9A-AD0A-9755-A42D-D8734025B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55" y="2478978"/>
                <a:ext cx="18146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A210B0-CA73-26F9-CB74-E938D3EEFA78}"/>
                  </a:ext>
                </a:extLst>
              </p:cNvPr>
              <p:cNvSpPr txBox="1"/>
              <p:nvPr/>
            </p:nvSpPr>
            <p:spPr>
              <a:xfrm>
                <a:off x="2083782" y="2451246"/>
                <a:ext cx="3282314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2.1314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0.01, 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A210B0-CA73-26F9-CB74-E938D3EEF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782" y="2451246"/>
                <a:ext cx="3282314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8B8A85-A2F6-249A-4E0B-55D63CBB3BA3}"/>
                  </a:ext>
                </a:extLst>
              </p:cNvPr>
              <p:cNvSpPr txBox="1"/>
              <p:nvPr/>
            </p:nvSpPr>
            <p:spPr>
              <a:xfrm>
                <a:off x="1623233" y="246373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8B8A85-A2F6-249A-4E0B-55D63CBB3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233" y="2463737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6DC605-12AA-AB14-D550-BAE0D77FC356}"/>
                  </a:ext>
                </a:extLst>
              </p:cNvPr>
              <p:cNvSpPr txBox="1"/>
              <p:nvPr/>
            </p:nvSpPr>
            <p:spPr>
              <a:xfrm>
                <a:off x="263966" y="3332583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6DC605-12AA-AB14-D550-BAE0D77FC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6" y="3332583"/>
                <a:ext cx="2217420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0C19B7-E9C9-2A74-9C1F-ADCF1A711465}"/>
                  </a:ext>
                </a:extLst>
              </p:cNvPr>
              <p:cNvSpPr txBox="1"/>
              <p:nvPr/>
            </p:nvSpPr>
            <p:spPr>
              <a:xfrm>
                <a:off x="161355" y="4208861"/>
                <a:ext cx="11832171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 sample cannot be regarded as taken from a population with mean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0C19B7-E9C9-2A74-9C1F-ADCF1A711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55" y="4208861"/>
                <a:ext cx="11832171" cy="1161152"/>
              </a:xfrm>
              <a:prstGeom prst="rect">
                <a:avLst/>
              </a:prstGeom>
              <a:blipFill>
                <a:blip r:embed="rId7"/>
                <a:stretch>
                  <a:fillRect l="-1030" r="-1082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212E82D-F5B4-8202-ADF2-901A25FDCF05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0DF414-7C82-3425-2600-A07988359D89}"/>
                  </a:ext>
                </a:extLst>
              </p:cNvPr>
              <p:cNvSpPr txBox="1"/>
              <p:nvPr/>
            </p:nvSpPr>
            <p:spPr>
              <a:xfrm>
                <a:off x="2250554" y="883353"/>
                <a:ext cx="3282314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=2.1314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0DF414-7C82-3425-2600-A0798835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554" y="883353"/>
                <a:ext cx="3282314" cy="578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74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9" grpId="0"/>
      <p:bldP spid="24" grpId="0"/>
      <p:bldP spid="27" grpId="0" animBg="1"/>
      <p:bldP spid="3" grpId="0"/>
      <p:bldP spid="4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2361-7784-202A-C1ED-3A865E30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54DE67A-8CE3-9FC7-0569-01E5770C64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1" cy="234195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heights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males of a given locality are found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175, 168, 155, 170, 152, 170, 175, 160, 160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165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cm. Based on this sample,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95%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confidence limits for the heights of males in that locality.</a:t>
                </a:r>
                <a:endParaRPr lang="en-US" dirty="0"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0.05,  9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54DE67A-8CE3-9FC7-0569-01E5770C6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1" cy="2341954"/>
              </a:xfrm>
              <a:prstGeom prst="rect">
                <a:avLst/>
              </a:prstGeom>
              <a:blipFill>
                <a:blip r:embed="rId3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12B3990-E21E-2036-4078-B3610C0F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4 ⇝ Meaning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64B709-CF06-C8B9-EF1A-CD6C7D5B6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3211034"/>
                <a:ext cx="11929641" cy="3242975"/>
              </a:xfrm>
            </p:spPr>
            <p:txBody>
              <a:bodyPr/>
              <a:lstStyle/>
              <a:p>
                <a:r>
                  <a:rPr lang="en-US" dirty="0"/>
                  <a:t>You measured the heights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10 </m:t>
                    </m:r>
                  </m:oMath>
                </a14:m>
                <a:r>
                  <a:rPr lang="en-US" dirty="0"/>
                  <a:t>males, but you want to know the average height of all males in that locality. Since you cannot measure everyone, you use this sample to estimate the true average height.</a:t>
                </a:r>
              </a:p>
              <a:p>
                <a:r>
                  <a:rPr lang="en-US" dirty="0"/>
                  <a:t>The question is asking: Between which two values does the true average height of all males lie,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confidence?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64B709-CF06-C8B9-EF1A-CD6C7D5B6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3211034"/>
                <a:ext cx="11929641" cy="3242975"/>
              </a:xfrm>
              <a:blipFill>
                <a:blip r:embed="rId4"/>
                <a:stretch>
                  <a:fillRect l="-971" r="-1074" b="-46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25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8666-0111-207B-A349-C592FAED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8C6D829-BCAB-54D1-E177-B4A4C396A8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1" cy="234195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heights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males of a given locality are found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175, 168, 155, 170, 152, 170, 175, 160, 160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165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cm. Based on this sample,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95%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confidence limits for the heights of males in that locality.</a:t>
                </a:r>
                <a:endParaRPr lang="en-US" dirty="0"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0.05,  </m:t>
                                  </m:r>
                                  <m:r>
                                    <a:rPr lang="en-IN" b="0" i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 </m:t>
                                  </m:r>
                                  <m: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9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8C6D829-BCAB-54D1-E177-B4A4C396A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1" cy="2341954"/>
              </a:xfrm>
              <a:prstGeom prst="rect">
                <a:avLst/>
              </a:prstGeom>
              <a:blipFill>
                <a:blip r:embed="rId3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E1E91CF-336D-B724-2216-B43707E4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64881A-5515-234F-F7C2-3AA29C6115BF}"/>
              </a:ext>
            </a:extLst>
          </p:cNvPr>
          <p:cNvSpPr/>
          <p:nvPr/>
        </p:nvSpPr>
        <p:spPr>
          <a:xfrm>
            <a:off x="125800" y="331392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479CC8-E95D-F141-A170-704D85B146DE}"/>
                  </a:ext>
                </a:extLst>
              </p:cNvPr>
              <p:cNvSpPr/>
              <p:nvPr/>
            </p:nvSpPr>
            <p:spPr>
              <a:xfrm>
                <a:off x="1658852" y="3301172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479CC8-E95D-F141-A170-704D85B14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52" y="3301172"/>
                <a:ext cx="229489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55BD78-8286-9F16-E3A7-B1479406CA5A}"/>
                  </a:ext>
                </a:extLst>
              </p:cNvPr>
              <p:cNvSpPr/>
              <p:nvPr/>
            </p:nvSpPr>
            <p:spPr>
              <a:xfrm>
                <a:off x="4346921" y="3296814"/>
                <a:ext cx="50707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165 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=8.0139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55BD78-8286-9F16-E3A7-B1479406CA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921" y="3296814"/>
                <a:ext cx="5070781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7D41DE-EB6F-F966-C933-D4A27524AABF}"/>
              </a:ext>
            </a:extLst>
          </p:cNvPr>
          <p:cNvCxnSpPr>
            <a:cxnSpLocks/>
          </p:cNvCxnSpPr>
          <p:nvPr/>
        </p:nvCxnSpPr>
        <p:spPr>
          <a:xfrm>
            <a:off x="1096246" y="1561746"/>
            <a:ext cx="376785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86B14C4-54C5-3B4D-C3F4-75FA160F7A51}"/>
                  </a:ext>
                </a:extLst>
              </p:cNvPr>
              <p:cNvSpPr/>
              <p:nvPr/>
            </p:nvSpPr>
            <p:spPr>
              <a:xfrm>
                <a:off x="9195516" y="3326470"/>
                <a:ext cx="33615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(In calculator,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4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sx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86B14C4-54C5-3B4D-C3F4-75FA160F7A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516" y="3326470"/>
                <a:ext cx="3361536" cy="461665"/>
              </a:xfrm>
              <a:prstGeom prst="rect">
                <a:avLst/>
              </a:prstGeom>
              <a:blipFill>
                <a:blip r:embed="rId6"/>
                <a:stretch>
                  <a:fillRect l="-2717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3830A7-5BA9-5C59-BB8A-95BB6AA362B4}"/>
              </a:ext>
            </a:extLst>
          </p:cNvPr>
          <p:cNvCxnSpPr>
            <a:cxnSpLocks/>
          </p:cNvCxnSpPr>
          <p:nvPr/>
        </p:nvCxnSpPr>
        <p:spPr>
          <a:xfrm>
            <a:off x="240663" y="2058819"/>
            <a:ext cx="821615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D4679C-3A11-C955-5621-3D280C6DDCD9}"/>
                  </a:ext>
                </a:extLst>
              </p:cNvPr>
              <p:cNvSpPr/>
              <p:nvPr/>
            </p:nvSpPr>
            <p:spPr>
              <a:xfrm>
                <a:off x="1620220" y="4025137"/>
                <a:ext cx="37680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95 %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Confidence Limits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D4679C-3A11-C955-5621-3D280C6DD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220" y="4025137"/>
                <a:ext cx="3768090" cy="523220"/>
              </a:xfrm>
              <a:prstGeom prst="rect">
                <a:avLst/>
              </a:prstGeom>
              <a:blipFill>
                <a:blip r:embed="rId7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C013D4-0F53-2567-497A-079EF69D3CB1}"/>
                  </a:ext>
                </a:extLst>
              </p:cNvPr>
              <p:cNvSpPr txBox="1"/>
              <p:nvPr/>
            </p:nvSpPr>
            <p:spPr>
              <a:xfrm>
                <a:off x="4640817" y="3905814"/>
                <a:ext cx="3442972" cy="744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C013D4-0F53-2567-497A-079EF69D3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817" y="3905814"/>
                <a:ext cx="3442972" cy="7445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8DB934-B796-5100-8E04-BD130106CA2A}"/>
                  </a:ext>
                </a:extLst>
              </p:cNvPr>
              <p:cNvSpPr txBox="1"/>
              <p:nvPr/>
            </p:nvSpPr>
            <p:spPr>
              <a:xfrm>
                <a:off x="5094303" y="4915996"/>
                <a:ext cx="3576015" cy="109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8DB934-B796-5100-8E04-BD130106C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303" y="4915996"/>
                <a:ext cx="3576015" cy="10969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9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6" grpId="0"/>
      <p:bldP spid="27" grpId="0"/>
      <p:bldP spid="28" grpId="0"/>
      <p:bldP spid="2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C00A-D04B-C003-EBF2-1CDD0F39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F145-FD27-FEF8-1D97-AC87490E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012209-B29E-823F-95A1-5B52009280D3}"/>
                  </a:ext>
                </a:extLst>
              </p:cNvPr>
              <p:cNvSpPr txBox="1"/>
              <p:nvPr/>
            </p:nvSpPr>
            <p:spPr>
              <a:xfrm>
                <a:off x="160796" y="2332033"/>
                <a:ext cx="4501292" cy="109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2.2622 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8.0139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012209-B29E-823F-95A1-5B5200928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6" y="2332033"/>
                <a:ext cx="4501292" cy="1096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E00B15-8791-D63E-F17A-37A1C15E22B9}"/>
                  </a:ext>
                </a:extLst>
              </p:cNvPr>
              <p:cNvSpPr txBox="1"/>
              <p:nvPr/>
            </p:nvSpPr>
            <p:spPr>
              <a:xfrm>
                <a:off x="0" y="5924064"/>
                <a:ext cx="8695421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Confidence Interval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159.2670 </m:t>
                        </m:r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cm</m:t>
                        </m:r>
                        <m: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, 170.7329 </m:t>
                        </m:r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cm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E00B15-8791-D63E-F17A-37A1C15E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24064"/>
                <a:ext cx="8695421" cy="608500"/>
              </a:xfrm>
              <a:prstGeom prst="rect">
                <a:avLst/>
              </a:prstGeom>
              <a:blipFill>
                <a:blip r:embed="rId4"/>
                <a:stretch>
                  <a:fillRect t="-1000" b="-23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DB0E56-EC23-4686-A078-D29472B4F5A2}"/>
                  </a:ext>
                </a:extLst>
              </p:cNvPr>
              <p:cNvSpPr txBox="1"/>
              <p:nvPr/>
            </p:nvSpPr>
            <p:spPr>
              <a:xfrm>
                <a:off x="160796" y="755463"/>
                <a:ext cx="3576015" cy="109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DB0E56-EC23-4686-A078-D29472B4F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6" y="755463"/>
                <a:ext cx="3576015" cy="10969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71A873B-84C2-DEF3-6951-07887A0FF607}"/>
                  </a:ext>
                </a:extLst>
              </p:cNvPr>
              <p:cNvSpPr/>
              <p:nvPr/>
            </p:nvSpPr>
            <p:spPr>
              <a:xfrm>
                <a:off x="72893" y="4651744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Lower Limit :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165−5.7329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71A873B-84C2-DEF3-6951-07887A0FF6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3" y="4651744"/>
                <a:ext cx="4589195" cy="523220"/>
              </a:xfrm>
              <a:prstGeom prst="rect">
                <a:avLst/>
              </a:prstGeom>
              <a:blipFill>
                <a:blip r:embed="rId6"/>
                <a:stretch>
                  <a:fillRect l="-278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F3CFBE-80A9-802A-9E39-1F9E932E8658}"/>
                  </a:ext>
                </a:extLst>
              </p:cNvPr>
              <p:cNvSpPr txBox="1"/>
              <p:nvPr/>
            </p:nvSpPr>
            <p:spPr>
              <a:xfrm>
                <a:off x="160796" y="3855715"/>
                <a:ext cx="45012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5.7329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F3CFBE-80A9-802A-9E39-1F9E932E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6" y="3855715"/>
                <a:ext cx="450129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77AAAA9-BF38-3892-95FF-988DB24A20D3}"/>
                  </a:ext>
                </a:extLst>
              </p:cNvPr>
              <p:cNvSpPr/>
              <p:nvPr/>
            </p:nvSpPr>
            <p:spPr>
              <a:xfrm>
                <a:off x="4127444" y="4651744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159.2670 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77AAAA9-BF38-3892-95FF-988DB24A2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444" y="4651744"/>
                <a:ext cx="31472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906C61-7EE6-428D-46B1-91E13E08DE0E}"/>
                  </a:ext>
                </a:extLst>
              </p:cNvPr>
              <p:cNvSpPr/>
              <p:nvPr/>
            </p:nvSpPr>
            <p:spPr>
              <a:xfrm>
                <a:off x="72893" y="5311368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Upper Limit :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165+5.7329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906C61-7EE6-428D-46B1-91E13E08D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3" y="5311368"/>
                <a:ext cx="4589195" cy="523220"/>
              </a:xfrm>
              <a:prstGeom prst="rect">
                <a:avLst/>
              </a:prstGeom>
              <a:blipFill>
                <a:blip r:embed="rId9"/>
                <a:stretch>
                  <a:fillRect l="-278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B1AE53C-FDDC-FBDD-0AD8-ADFFCEAA8900}"/>
                  </a:ext>
                </a:extLst>
              </p:cNvPr>
              <p:cNvSpPr/>
              <p:nvPr/>
            </p:nvSpPr>
            <p:spPr>
              <a:xfrm>
                <a:off x="4127444" y="5311368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170.7329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B1AE53C-FDDC-FBDD-0AD8-ADFFCEAA8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444" y="5311368"/>
                <a:ext cx="314729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B17570-C7A0-FA6E-2D2F-17A8BD2F1FAD}"/>
                  </a:ext>
                </a:extLst>
              </p:cNvPr>
              <p:cNvSpPr txBox="1"/>
              <p:nvPr/>
            </p:nvSpPr>
            <p:spPr>
              <a:xfrm>
                <a:off x="5107105" y="1999379"/>
                <a:ext cx="6924099" cy="1958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confidence with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degrees of freedom, the true mean height lies between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159.2670 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170.7330 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B17570-C7A0-FA6E-2D2F-17A8BD2F1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105" y="1999379"/>
                <a:ext cx="6924099" cy="1958293"/>
              </a:xfrm>
              <a:prstGeom prst="rect">
                <a:avLst/>
              </a:prstGeom>
              <a:blipFill>
                <a:blip r:embed="rId11"/>
                <a:stretch>
                  <a:fillRect l="-1849" r="-1761" b="-81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07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10" grpId="0"/>
      <p:bldP spid="11" grpId="0"/>
      <p:bldP spid="13" grpId="0"/>
      <p:bldP spid="14" grpId="0"/>
      <p:bldP spid="15" grpId="0"/>
      <p:bldP spid="1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851F-5780-169E-98BF-942648EF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1E52372-8FDB-D03E-1CC2-1F105F0156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01249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Ten individuals were chosen random from a normal population and their heights were found to be in inches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63, 63, 66, 67, 68, 69, 70, 70, 71 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71.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Test the hypothesis that the mean height of the population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inches.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6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26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IN" sz="2600" b="0" i="1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2600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sz="26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0.05, </m:t>
                                </m:r>
                                <m:r>
                                  <a:rPr lang="en-IN" sz="2600" b="0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 </m:t>
                                </m:r>
                                <m:r>
                                  <a:rPr lang="en-US" sz="26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</m:t>
                                </m:r>
                              </m:sub>
                            </m:sSub>
                            <m:r>
                              <a:rPr lang="en-US" sz="26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sz="26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=2.2622</m:t>
                        </m:r>
                      </m:e>
                    </m:d>
                  </m:oMath>
                </a14:m>
                <a:endParaRPr lang="en-US" sz="2600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1E52372-8FDB-D03E-1CC2-1F105F015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012498"/>
              </a:xfrm>
              <a:prstGeom prst="rect">
                <a:avLst/>
              </a:prstGeom>
              <a:blipFill>
                <a:blip r:embed="rId2"/>
                <a:stretch>
                  <a:fillRect l="-1074" r="-1074" b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B7E5B68-5323-5027-5A45-F5C8019D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2BB7D6-6F64-BDCD-B9FB-318181BA776C}"/>
              </a:ext>
            </a:extLst>
          </p:cNvPr>
          <p:cNvSpPr/>
          <p:nvPr/>
        </p:nvSpPr>
        <p:spPr>
          <a:xfrm>
            <a:off x="131177" y="299118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A7F121-F507-F41D-D7EF-E31589870606}"/>
                  </a:ext>
                </a:extLst>
              </p:cNvPr>
              <p:cNvSpPr/>
              <p:nvPr/>
            </p:nvSpPr>
            <p:spPr>
              <a:xfrm>
                <a:off x="1696716" y="2999514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A7F121-F507-F41D-D7EF-E315898706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16" y="2999514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894702-9867-C98D-FB67-2EE404D62935}"/>
                  </a:ext>
                </a:extLst>
              </p:cNvPr>
              <p:cNvSpPr/>
              <p:nvPr/>
            </p:nvSpPr>
            <p:spPr>
              <a:xfrm>
                <a:off x="6601098" y="2989787"/>
                <a:ext cx="50158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67.8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002060"/>
                        </a:solidFill>
                      </a:rPr>
                      <m:t>cm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3.0111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cm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894702-9867-C98D-FB67-2EE404D62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098" y="2989787"/>
                <a:ext cx="5015870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028787-E412-B252-0E9A-A7AFDD05B840}"/>
                  </a:ext>
                </a:extLst>
              </p:cNvPr>
              <p:cNvSpPr/>
              <p:nvPr/>
            </p:nvSpPr>
            <p:spPr>
              <a:xfrm>
                <a:off x="4156710" y="2975384"/>
                <a:ext cx="22059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inch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028787-E412-B252-0E9A-A7AFDD05B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10" y="2975384"/>
                <a:ext cx="220599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E058C84-DBA6-F61A-6FF1-55CA9BA132DD}"/>
                  </a:ext>
                </a:extLst>
              </p:cNvPr>
              <p:cNvSpPr/>
              <p:nvPr/>
            </p:nvSpPr>
            <p:spPr>
              <a:xfrm>
                <a:off x="1684016" y="363828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E058C84-DBA6-F61A-6FF1-55CA9BA13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016" y="3638283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A6C5ED1-7EDF-B085-AB56-7FD474572BA7}"/>
                  </a:ext>
                </a:extLst>
              </p:cNvPr>
              <p:cNvSpPr/>
              <p:nvPr/>
            </p:nvSpPr>
            <p:spPr>
              <a:xfrm>
                <a:off x="2469564" y="3636646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A6C5ED1-7EDF-B085-AB56-7FD474572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564" y="3636646"/>
                <a:ext cx="147756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1EB4AC-21B4-F2C2-AEB1-072013E28531}"/>
                  </a:ext>
                </a:extLst>
              </p:cNvPr>
              <p:cNvSpPr/>
              <p:nvPr/>
            </p:nvSpPr>
            <p:spPr>
              <a:xfrm>
                <a:off x="4185277" y="365458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1EB4AC-21B4-F2C2-AEB1-072013E28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277" y="3654589"/>
                <a:ext cx="23869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42E84B6-77DA-8BED-9184-3176F9AA890E}"/>
                  </a:ext>
                </a:extLst>
              </p:cNvPr>
              <p:cNvSpPr/>
              <p:nvPr/>
            </p:nvSpPr>
            <p:spPr>
              <a:xfrm>
                <a:off x="1696716" y="420480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42E84B6-77DA-8BED-9184-3176F9AA89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16" y="4204807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 b="-465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A7829BA-C751-E0DE-AF21-7BD2BA4DF6CB}"/>
                  </a:ext>
                </a:extLst>
              </p:cNvPr>
              <p:cNvSpPr/>
              <p:nvPr/>
            </p:nvSpPr>
            <p:spPr>
              <a:xfrm>
                <a:off x="2482264" y="4203170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A7829BA-C751-E0DE-AF21-7BD2BA4DF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264" y="4203170"/>
                <a:ext cx="147756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870E45-D2E9-1130-7495-E13C3D8CAC83}"/>
                  </a:ext>
                </a:extLst>
              </p:cNvPr>
              <p:cNvSpPr/>
              <p:nvPr/>
            </p:nvSpPr>
            <p:spPr>
              <a:xfrm>
                <a:off x="4156710" y="4217839"/>
                <a:ext cx="334835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𝐝𝐟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−1=9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870E45-D2E9-1130-7495-E13C3D8CAC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10" y="4217839"/>
                <a:ext cx="334835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26BB45F-A4DB-BAB4-C01B-4378AAB9E782}"/>
                  </a:ext>
                </a:extLst>
              </p:cNvPr>
              <p:cNvSpPr/>
              <p:nvPr/>
            </p:nvSpPr>
            <p:spPr>
              <a:xfrm>
                <a:off x="1696716" y="5118366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26BB45F-A4DB-BAB4-C01B-4378AAB9E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16" y="5118366"/>
                <a:ext cx="1318866" cy="523220"/>
              </a:xfrm>
              <a:prstGeom prst="rect">
                <a:avLst/>
              </a:prstGeom>
              <a:blipFill>
                <a:blip r:embed="rId1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28E7C4-E481-BF5A-0A81-8BCC5032C586}"/>
                  </a:ext>
                </a:extLst>
              </p:cNvPr>
              <p:cNvSpPr txBox="1"/>
              <p:nvPr/>
            </p:nvSpPr>
            <p:spPr>
              <a:xfrm>
                <a:off x="2566373" y="4897067"/>
                <a:ext cx="2320290" cy="158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28E7C4-E481-BF5A-0A81-8BCC5032C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373" y="4897067"/>
                <a:ext cx="2320290" cy="15846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8CE317-9475-EB7E-4346-5B0CB33354CB}"/>
                  </a:ext>
                </a:extLst>
              </p:cNvPr>
              <p:cNvSpPr txBox="1"/>
              <p:nvPr/>
            </p:nvSpPr>
            <p:spPr>
              <a:xfrm>
                <a:off x="4658358" y="4864698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7.8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3.0111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8CE317-9475-EB7E-4346-5B0CB333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358" y="4864698"/>
                <a:ext cx="2320290" cy="16140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AA2E4D-6731-4BFB-55EB-DE73AC91210D}"/>
                  </a:ext>
                </a:extLst>
              </p:cNvPr>
              <p:cNvSpPr txBox="1"/>
              <p:nvPr/>
            </p:nvSpPr>
            <p:spPr>
              <a:xfrm>
                <a:off x="6857394" y="5060448"/>
                <a:ext cx="17259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1.8904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AA2E4D-6731-4BFB-55EB-DE73AC912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394" y="5060448"/>
                <a:ext cx="172593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57BD7E7D-721E-7ADB-F3A6-0DC73946F7EE}"/>
              </a:ext>
            </a:extLst>
          </p:cNvPr>
          <p:cNvSpPr/>
          <p:nvPr/>
        </p:nvSpPr>
        <p:spPr>
          <a:xfrm>
            <a:off x="9473609" y="3513007"/>
            <a:ext cx="27183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(using calculator)</a:t>
            </a:r>
          </a:p>
        </p:txBody>
      </p:sp>
    </p:spTree>
    <p:extLst>
      <p:ext uri="{BB962C8B-B14F-4D97-AF65-F5344CB8AC3E}">
        <p14:creationId xmlns:p14="http://schemas.microsoft.com/office/powerpoint/2010/main" val="167610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3" grpId="0"/>
      <p:bldP spid="16" grpId="0"/>
      <p:bldP spid="17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F686-5248-532A-C2C3-336D3E20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5E16-BCC9-7095-F438-199D9091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6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CDCE6-D617-7141-754B-D38BD4510BA3}"/>
              </a:ext>
            </a:extLst>
          </p:cNvPr>
          <p:cNvSpPr/>
          <p:nvPr/>
        </p:nvSpPr>
        <p:spPr>
          <a:xfrm>
            <a:off x="161355" y="175878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325A5-1A94-07F6-6E33-E1F90F29BB1E}"/>
                  </a:ext>
                </a:extLst>
              </p:cNvPr>
              <p:cNvSpPr txBox="1"/>
              <p:nvPr/>
            </p:nvSpPr>
            <p:spPr>
              <a:xfrm>
                <a:off x="93720" y="2482093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1.8904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325A5-1A94-07F6-6E33-E1F90F29B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0" y="2482093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29DC99-5307-0582-6D7C-C67203415D73}"/>
                  </a:ext>
                </a:extLst>
              </p:cNvPr>
              <p:cNvSpPr txBox="1"/>
              <p:nvPr/>
            </p:nvSpPr>
            <p:spPr>
              <a:xfrm>
                <a:off x="2629738" y="2420061"/>
                <a:ext cx="313077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2.2622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29DC99-5307-0582-6D7C-C67203415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738" y="2420061"/>
                <a:ext cx="3130778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76C5F8-3F35-4673-4EA6-E7FD582F2A74}"/>
                  </a:ext>
                </a:extLst>
              </p:cNvPr>
              <p:cNvSpPr txBox="1"/>
              <p:nvPr/>
            </p:nvSpPr>
            <p:spPr>
              <a:xfrm>
                <a:off x="2297806" y="2460299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76C5F8-3F35-4673-4EA6-E7FD582F2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806" y="2460299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FDC477-ED57-FC39-62B3-5C1817D58FE9}"/>
                  </a:ext>
                </a:extLst>
              </p:cNvPr>
              <p:cNvSpPr txBox="1"/>
              <p:nvPr/>
            </p:nvSpPr>
            <p:spPr>
              <a:xfrm>
                <a:off x="213742" y="3317076"/>
                <a:ext cx="2302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FDC477-ED57-FC39-62B3-5C1817D58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2" y="3317076"/>
                <a:ext cx="2302801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552B02-42A6-8F3A-63BE-FF113D67A136}"/>
                  </a:ext>
                </a:extLst>
              </p:cNvPr>
              <p:cNvSpPr txBox="1"/>
              <p:nvPr/>
            </p:nvSpPr>
            <p:spPr>
              <a:xfrm>
                <a:off x="191479" y="4280204"/>
                <a:ext cx="11455835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df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there is no significant difference between the sample mean height and the population mean.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552B02-42A6-8F3A-63BE-FF113D67A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79" y="4280204"/>
                <a:ext cx="11455835" cy="1161152"/>
              </a:xfrm>
              <a:prstGeom prst="rect">
                <a:avLst/>
              </a:prstGeom>
              <a:blipFill>
                <a:blip r:embed="rId7"/>
                <a:stretch>
                  <a:fillRect l="-1064" r="-1064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9AEEB83-DA5C-22BB-B4EB-92E602473490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C7FF-1615-5592-1294-EAA4BC5458F5}"/>
                  </a:ext>
                </a:extLst>
              </p:cNvPr>
              <p:cNvSpPr txBox="1"/>
              <p:nvPr/>
            </p:nvSpPr>
            <p:spPr>
              <a:xfrm>
                <a:off x="2250554" y="883353"/>
                <a:ext cx="3282314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C7FF-1615-5592-1294-EAA4BC545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554" y="883353"/>
                <a:ext cx="3282314" cy="578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91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9" grpId="0"/>
      <p:bldP spid="24" grpId="0"/>
      <p:bldP spid="25" grpId="0" animBg="1"/>
      <p:bldP spid="3" grpId="0"/>
      <p:bldP spid="4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0050-1320-92B6-D5F0-CC296A4B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260BEAB-067C-9429-0CB4-004F3A42C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1"/>
                <a:ext cx="11929643" cy="28451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 soap manufacturing company was distributing a particular brand of soap through large number of retail shops. Before a heavy advertisement campaign, the mean sales per week per shop was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dirty="0"/>
                  <a:t> dozen. After the campaign,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dirty="0"/>
                  <a:t> shops was taken and the mean sales was found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lang="en-US" dirty="0"/>
                  <a:t> dozen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. </a:t>
                </a:r>
                <a:r>
                  <a:rPr lang="en-US" b="1" dirty="0"/>
                  <a:t>Can you consider the advertisement effective?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=1.7081 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260BEAB-067C-9429-0CB4-004F3A42C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1"/>
                <a:ext cx="11929643" cy="2845140"/>
              </a:xfrm>
              <a:prstGeom prst="rect">
                <a:avLst/>
              </a:prstGeom>
              <a:blipFill>
                <a:blip r:embed="rId2"/>
                <a:stretch>
                  <a:fillRect l="-1022" r="-1073" b="-3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CCE4D0C-AC14-8219-C122-AA9990EB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928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1AEE-6954-99F8-66F8-06094304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376BC-B8A5-8784-247F-78CC1F97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10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D385121-8C07-6698-AF00-3ACC174E7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750"/>
                <a:ext cx="11929641" cy="5760641"/>
              </a:xfrm>
            </p:spPr>
            <p:txBody>
              <a:bodyPr/>
              <a:lstStyle/>
              <a:p>
                <a:r>
                  <a:rPr lang="en-US" dirty="0"/>
                  <a:t>The company already knows that before advertisement, the average sales per shop were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dirty="0"/>
                  <a:t> dozen. </a:t>
                </a:r>
              </a:p>
              <a:p>
                <a:r>
                  <a:rPr lang="en-US" dirty="0"/>
                  <a:t>This is treated as the true (population) average.</a:t>
                </a:r>
              </a:p>
              <a:p>
                <a:r>
                  <a:rPr lang="en-US" dirty="0"/>
                  <a:t>After spending money on advertisement, they again check sales, but this time only for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dirty="0"/>
                  <a:t> shops, and they find the average sales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lang="en-US" dirty="0"/>
                  <a:t> dozen.</a:t>
                </a:r>
              </a:p>
              <a:p>
                <a:r>
                  <a:rPr lang="en-US" dirty="0"/>
                  <a:t>Now the important question is: Can you consider the advertisement effective?</a:t>
                </a:r>
              </a:p>
              <a:p>
                <a:pPr lvl="1"/>
                <a:r>
                  <a:rPr lang="en-US" dirty="0"/>
                  <a:t>i.e., Is the increase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lang="en-US" dirty="0"/>
                  <a:t> real and meaningful, or just a coincidence?</a:t>
                </a:r>
              </a:p>
              <a:p>
                <a:pPr lvl="1"/>
                <a:r>
                  <a:rPr lang="en-US" dirty="0"/>
                  <a:t>Effective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Increase is real, not random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D385121-8C07-6698-AF00-3ACC174E7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750"/>
                <a:ext cx="11929641" cy="5760641"/>
              </a:xfrm>
              <a:blipFill>
                <a:blip r:embed="rId2"/>
                <a:stretch>
                  <a:fillRect l="-971" r="-1074" b="-33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40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3E14C-DA7A-1DAE-C92F-7D1B15DB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B1FE-992E-0737-7202-25B811F1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4 ⇝ Example 10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24BCCB9-1C4D-244D-12B8-72E4516AD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𝟏𝟒𝟎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Sales are still around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dirty="0"/>
                  <a:t> — increase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lang="en-US" dirty="0"/>
                  <a:t> is just luck or random variation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𝟏𝟒𝟎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Sales have actually increased after advertisement, not just by chance.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24BCCB9-1C4D-244D-12B8-72E4516AD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43441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35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6797-EEBD-B32E-54BC-7670289B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5CD64F4-B1A0-0409-519A-AC0EAA0274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1"/>
                <a:ext cx="11929643" cy="28451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A soap manufacturing company was distributing a particular brand of soap through large number of retail shops. Before a heavy advertisement campaign, the mean sales per week per shop was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dirty="0"/>
                  <a:t> dozen. After the campaign,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dirty="0"/>
                  <a:t> shops was taken and the mean sales was found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lang="en-US" dirty="0"/>
                  <a:t> dozen with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. </a:t>
                </a:r>
                <a:r>
                  <a:rPr lang="en-US" b="1" dirty="0"/>
                  <a:t>Can you consider the advertisement effective?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=1.7081 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5CD64F4-B1A0-0409-519A-AC0EAA027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1"/>
                <a:ext cx="11929643" cy="2845140"/>
              </a:xfrm>
              <a:prstGeom prst="rect">
                <a:avLst/>
              </a:prstGeom>
              <a:blipFill>
                <a:blip r:embed="rId2"/>
                <a:stretch>
                  <a:fillRect l="-1022" r="-1073" b="-3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F4F530E-6048-2077-2706-66472E37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2629B5-A2A1-A079-FF1C-CB6BC40AB9F5}"/>
              </a:ext>
            </a:extLst>
          </p:cNvPr>
          <p:cNvSpPr/>
          <p:nvPr/>
        </p:nvSpPr>
        <p:spPr>
          <a:xfrm>
            <a:off x="135516" y="388804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475893-E2E0-566E-324C-040AE6BA24DF}"/>
                  </a:ext>
                </a:extLst>
              </p:cNvPr>
              <p:cNvSpPr/>
              <p:nvPr/>
            </p:nvSpPr>
            <p:spPr>
              <a:xfrm>
                <a:off x="1687085" y="391034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=26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475893-E2E0-566E-324C-040AE6BA2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085" y="391034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87EB2E-BBF7-7CCB-C94F-A3E6BB56459D}"/>
                  </a:ext>
                </a:extLst>
              </p:cNvPr>
              <p:cNvSpPr/>
              <p:nvPr/>
            </p:nvSpPr>
            <p:spPr>
              <a:xfrm>
                <a:off x="7024896" y="3898910"/>
                <a:ext cx="26606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87EB2E-BBF7-7CCB-C94F-A3E6BB564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896" y="3898910"/>
                <a:ext cx="2660653" cy="523220"/>
              </a:xfrm>
              <a:prstGeom prst="rect">
                <a:avLst/>
              </a:prstGeom>
              <a:blipFill>
                <a:blip r:embed="rId4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D5B2D4A-B356-AB3C-8CF0-74F3567F1C1D}"/>
                  </a:ext>
                </a:extLst>
              </p:cNvPr>
              <p:cNvSpPr/>
              <p:nvPr/>
            </p:nvSpPr>
            <p:spPr>
              <a:xfrm>
                <a:off x="4290589" y="3898910"/>
                <a:ext cx="25031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D5B2D4A-B356-AB3C-8CF0-74F3567F1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589" y="3898910"/>
                <a:ext cx="2503170" cy="523220"/>
              </a:xfrm>
              <a:prstGeom prst="rect">
                <a:avLst/>
              </a:prstGeom>
              <a:blipFill>
                <a:blip r:embed="rId5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7DE45C-F5E3-883F-6A0B-7169B29A0870}"/>
                  </a:ext>
                </a:extLst>
              </p:cNvPr>
              <p:cNvSpPr txBox="1"/>
              <p:nvPr/>
            </p:nvSpPr>
            <p:spPr>
              <a:xfrm>
                <a:off x="7064343" y="4492340"/>
                <a:ext cx="37286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biased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7DE45C-F5E3-883F-6A0B-7169B29A0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43" y="4492340"/>
                <a:ext cx="3728628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7A8388-65C9-929F-1D20-6F1799A6B45B}"/>
                  </a:ext>
                </a:extLst>
              </p:cNvPr>
              <p:cNvSpPr/>
              <p:nvPr/>
            </p:nvSpPr>
            <p:spPr>
              <a:xfrm>
                <a:off x="1698515" y="525517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7A8388-65C9-929F-1D20-6F1799A6B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515" y="5255172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270711-0CAE-C8B8-D19C-676E1D656069}"/>
                  </a:ext>
                </a:extLst>
              </p:cNvPr>
              <p:cNvSpPr/>
              <p:nvPr/>
            </p:nvSpPr>
            <p:spPr>
              <a:xfrm>
                <a:off x="2484063" y="5253535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270711-0CAE-C8B8-D19C-676E1D656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063" y="5253535"/>
                <a:ext cx="14775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94B143-A1D4-EA91-62AA-7DE5EBF38D9E}"/>
                  </a:ext>
                </a:extLst>
              </p:cNvPr>
              <p:cNvSpPr/>
              <p:nvPr/>
            </p:nvSpPr>
            <p:spPr>
              <a:xfrm>
                <a:off x="1687085" y="59296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94B143-A1D4-EA91-62AA-7DE5EBF38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085" y="5929646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5679A95-551A-EC26-35B9-BAB6C0861743}"/>
                  </a:ext>
                </a:extLst>
              </p:cNvPr>
              <p:cNvSpPr/>
              <p:nvPr/>
            </p:nvSpPr>
            <p:spPr>
              <a:xfrm>
                <a:off x="2506923" y="5928009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5679A95-551A-EC26-35B9-BAB6C0861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923" y="5928009"/>
                <a:ext cx="147756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DFA409B-E501-4325-BA15-D76C229D527A}"/>
                  </a:ext>
                </a:extLst>
              </p:cNvPr>
              <p:cNvSpPr/>
              <p:nvPr/>
            </p:nvSpPr>
            <p:spPr>
              <a:xfrm>
                <a:off x="4328346" y="527165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DFA409B-E501-4325-BA15-D76C229D5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346" y="5271655"/>
                <a:ext cx="23869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CC59165-2A27-CEAB-384B-057887BEDAF6}"/>
                  </a:ext>
                </a:extLst>
              </p:cNvPr>
              <p:cNvSpPr/>
              <p:nvPr/>
            </p:nvSpPr>
            <p:spPr>
              <a:xfrm>
                <a:off x="4946372" y="5954099"/>
                <a:ext cx="3801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𝐝𝐟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−1=25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CC59165-2A27-CEAB-384B-057887BED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372" y="5954099"/>
                <a:ext cx="380110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54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3" grpId="0"/>
      <p:bldP spid="6" grpId="0"/>
      <p:bldP spid="4" grpId="0"/>
      <p:bldP spid="5" grpId="0"/>
      <p:bldP spid="7" grpId="0"/>
      <p:bldP spid="8" grpId="0"/>
      <p:bldP spid="36" grpId="0"/>
      <p:bldP spid="3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74E2-E0A2-14EE-F098-3AE938CA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B452-8E6A-7347-C6B0-87DCDA10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BCC22-F8BB-8C11-2550-4D7BF211905B}"/>
                  </a:ext>
                </a:extLst>
              </p:cNvPr>
              <p:cNvSpPr/>
              <p:nvPr/>
            </p:nvSpPr>
            <p:spPr>
              <a:xfrm>
                <a:off x="4229381" y="794113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BCC22-F8BB-8C11-2550-4D7BF2119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81" y="794113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D57F7-CEF5-2CB9-695C-9A227CC3E435}"/>
                  </a:ext>
                </a:extLst>
              </p:cNvPr>
              <p:cNvSpPr txBox="1"/>
              <p:nvPr/>
            </p:nvSpPr>
            <p:spPr>
              <a:xfrm>
                <a:off x="4846282" y="1578943"/>
                <a:ext cx="2627055" cy="1582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D57F7-CEF5-2CB9-695C-9A227CC3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282" y="1578943"/>
                <a:ext cx="2627055" cy="1582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29BD25-3536-EBB1-24F9-4BDC92D4680D}"/>
                  </a:ext>
                </a:extLst>
              </p:cNvPr>
              <p:cNvSpPr txBox="1"/>
              <p:nvPr/>
            </p:nvSpPr>
            <p:spPr>
              <a:xfrm>
                <a:off x="5055161" y="3491375"/>
                <a:ext cx="2802299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140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16.3169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26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29BD25-3536-EBB1-24F9-4BDC92D46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161" y="3491375"/>
                <a:ext cx="2802299" cy="161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FC2BA7-DF57-5A9A-18F8-9CE46F8243D4}"/>
                  </a:ext>
                </a:extLst>
              </p:cNvPr>
              <p:cNvSpPr txBox="1"/>
              <p:nvPr/>
            </p:nvSpPr>
            <p:spPr>
              <a:xfrm>
                <a:off x="5075073" y="5435034"/>
                <a:ext cx="21100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=2.1875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FC2BA7-DF57-5A9A-18F8-9CE46F82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073" y="5435034"/>
                <a:ext cx="211005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7765F90-50FF-F289-E37C-4E5EA3953ED8}"/>
              </a:ext>
            </a:extLst>
          </p:cNvPr>
          <p:cNvGrpSpPr/>
          <p:nvPr/>
        </p:nvGrpSpPr>
        <p:grpSpPr>
          <a:xfrm>
            <a:off x="10354599" y="711201"/>
            <a:ext cx="1837401" cy="2367838"/>
            <a:chOff x="10412397" y="702460"/>
            <a:chExt cx="1837401" cy="2367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C504EF3-7A14-08A9-9CB8-0B0C818C1F32}"/>
                    </a:ext>
                  </a:extLst>
                </p:cNvPr>
                <p:cNvSpPr/>
                <p:nvPr/>
              </p:nvSpPr>
              <p:spPr>
                <a:xfrm>
                  <a:off x="10640389" y="1932206"/>
                  <a:ext cx="14262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C504EF3-7A14-08A9-9CB8-0B0C818C1F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0389" y="1932206"/>
                  <a:ext cx="142621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02D6782-9463-DD63-BA19-66EDED01806A}"/>
                    </a:ext>
                  </a:extLst>
                </p:cNvPr>
                <p:cNvSpPr/>
                <p:nvPr/>
              </p:nvSpPr>
              <p:spPr>
                <a:xfrm>
                  <a:off x="10549557" y="1317333"/>
                  <a:ext cx="1637998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147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02D6782-9463-DD63-BA19-66EDED0180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557" y="1317333"/>
                  <a:ext cx="163799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6DF09E2-0466-0F7F-A363-03CDF0D796F2}"/>
                    </a:ext>
                  </a:extLst>
                </p:cNvPr>
                <p:cNvSpPr/>
                <p:nvPr/>
              </p:nvSpPr>
              <p:spPr>
                <a:xfrm>
                  <a:off x="10611800" y="702460"/>
                  <a:ext cx="1637998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6DF09E2-0466-0F7F-A363-03CDF0D796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800" y="702460"/>
                  <a:ext cx="163799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EFE562B-420F-3160-4E4E-22CFBCB600F6}"/>
                    </a:ext>
                  </a:extLst>
                </p:cNvPr>
                <p:cNvSpPr txBox="1"/>
                <p:nvPr/>
              </p:nvSpPr>
              <p:spPr>
                <a:xfrm>
                  <a:off x="10412397" y="2547078"/>
                  <a:ext cx="171102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EFE562B-420F-3160-4E4E-22CFBCB60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397" y="2547078"/>
                  <a:ext cx="1711023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6A630-A895-3FE7-B59F-E264A067F43F}"/>
                  </a:ext>
                </a:extLst>
              </p:cNvPr>
              <p:cNvSpPr txBox="1"/>
              <p:nvPr/>
            </p:nvSpPr>
            <p:spPr>
              <a:xfrm>
                <a:off x="111907" y="794113"/>
                <a:ext cx="31047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biased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6A630-A895-3FE7-B59F-E264A067F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07" y="794113"/>
                <a:ext cx="3104707" cy="523220"/>
              </a:xfrm>
              <a:prstGeom prst="rect">
                <a:avLst/>
              </a:prstGeom>
              <a:blipFill>
                <a:blip r:embed="rId10"/>
                <a:stretch>
                  <a:fillRect l="-392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52641F-F96E-26C2-6B23-8E0D4F90D8C9}"/>
                  </a:ext>
                </a:extLst>
              </p:cNvPr>
              <p:cNvSpPr txBox="1"/>
              <p:nvPr/>
            </p:nvSpPr>
            <p:spPr>
              <a:xfrm>
                <a:off x="305757" y="1529716"/>
                <a:ext cx="2767052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52641F-F96E-26C2-6B23-8E0D4F90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57" y="1529716"/>
                <a:ext cx="2767052" cy="9691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69282D-F3E3-0CF7-5F27-232A447FBE77}"/>
                  </a:ext>
                </a:extLst>
              </p:cNvPr>
              <p:cNvSpPr txBox="1"/>
              <p:nvPr/>
            </p:nvSpPr>
            <p:spPr>
              <a:xfrm>
                <a:off x="601889" y="2808688"/>
                <a:ext cx="2439021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=16∙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26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25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69282D-F3E3-0CF7-5F27-232A447FB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9" y="2808688"/>
                <a:ext cx="2439021" cy="13653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735E73-78EA-0924-BC62-822C51190772}"/>
                  </a:ext>
                </a:extLst>
              </p:cNvPr>
              <p:cNvSpPr txBox="1"/>
              <p:nvPr/>
            </p:nvSpPr>
            <p:spPr>
              <a:xfrm>
                <a:off x="631411" y="4993166"/>
                <a:ext cx="24390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=16.3169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735E73-78EA-0924-BC62-822C51190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11" y="4993166"/>
                <a:ext cx="243902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41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  <p:bldP spid="23" grpId="0"/>
      <p:bldP spid="4" grpId="0"/>
      <p:bldP spid="6" grpId="0"/>
      <p:bldP spid="10" grpId="0"/>
      <p:bldP spid="1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4FE7-5E3E-8974-D2F0-D85969F2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EEA7-87C7-489F-F09D-609ED141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07C435-1C19-DD31-CB48-31CC985400C3}"/>
              </a:ext>
            </a:extLst>
          </p:cNvPr>
          <p:cNvSpPr/>
          <p:nvPr/>
        </p:nvSpPr>
        <p:spPr>
          <a:xfrm>
            <a:off x="161355" y="166192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A7BD7D-FF2C-FA09-BBB3-589844E93FFE}"/>
                  </a:ext>
                </a:extLst>
              </p:cNvPr>
              <p:cNvSpPr txBox="1"/>
              <p:nvPr/>
            </p:nvSpPr>
            <p:spPr>
              <a:xfrm>
                <a:off x="-85588" y="2383050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=2.1875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A7BD7D-FF2C-FA09-BBB3-589844E93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588" y="2383050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BB00E0-EE4B-6996-699A-11069FEF6337}"/>
                  </a:ext>
                </a:extLst>
              </p:cNvPr>
              <p:cNvSpPr txBox="1"/>
              <p:nvPr/>
            </p:nvSpPr>
            <p:spPr>
              <a:xfrm>
                <a:off x="2153249" y="2359118"/>
                <a:ext cx="329125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1.7081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25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BB00E0-EE4B-6996-699A-11069FEF6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49" y="2359118"/>
                <a:ext cx="3291259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DBFE77-1515-4AFC-35D9-9D955E8D4478}"/>
                  </a:ext>
                </a:extLst>
              </p:cNvPr>
              <p:cNvSpPr txBox="1"/>
              <p:nvPr/>
            </p:nvSpPr>
            <p:spPr>
              <a:xfrm>
                <a:off x="1996578" y="2373956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DBFE77-1515-4AFC-35D9-9D955E8D4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78" y="2373956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3B3932-F385-9AB7-6F04-EDC2990181F5}"/>
                  </a:ext>
                </a:extLst>
              </p:cNvPr>
              <p:cNvSpPr txBox="1"/>
              <p:nvPr/>
            </p:nvSpPr>
            <p:spPr>
              <a:xfrm>
                <a:off x="161355" y="3104177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3B3932-F385-9AB7-6F04-EDC29901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55" y="3104177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062C44-17E8-2A00-671B-835E1CE63A21}"/>
                  </a:ext>
                </a:extLst>
              </p:cNvPr>
              <p:cNvSpPr txBox="1"/>
              <p:nvPr/>
            </p:nvSpPr>
            <p:spPr>
              <a:xfrm>
                <a:off x="161355" y="3909743"/>
                <a:ext cx="11800273" cy="131196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 advertisement is effective as the increase in mean sales is significant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062C44-17E8-2A00-671B-835E1CE6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55" y="3909743"/>
                <a:ext cx="11800273" cy="1311962"/>
              </a:xfrm>
              <a:prstGeom prst="rect">
                <a:avLst/>
              </a:prstGeom>
              <a:blipFill>
                <a:blip r:embed="rId6"/>
                <a:stretch>
                  <a:fillRect l="-1033" r="-1085" b="-12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FCAF618-1073-E084-7AB4-C3E0E127AD6A}"/>
              </a:ext>
            </a:extLst>
          </p:cNvPr>
          <p:cNvGrpSpPr/>
          <p:nvPr/>
        </p:nvGrpSpPr>
        <p:grpSpPr>
          <a:xfrm>
            <a:off x="8062778" y="957855"/>
            <a:ext cx="4207194" cy="2688320"/>
            <a:chOff x="8062778" y="957855"/>
            <a:chExt cx="4207194" cy="268832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2557BF2-02FA-4E79-D20A-BECC28473534}"/>
                </a:ext>
              </a:extLst>
            </p:cNvPr>
            <p:cNvGrpSpPr/>
            <p:nvPr/>
          </p:nvGrpSpPr>
          <p:grpSpPr>
            <a:xfrm flipH="1">
              <a:off x="8062778" y="957855"/>
              <a:ext cx="3385735" cy="2154174"/>
              <a:chOff x="6189671" y="3656930"/>
              <a:chExt cx="4018280" cy="255663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849300D-05BF-AFC3-7CAC-7EA368EDCDB4}"/>
                  </a:ext>
                </a:extLst>
              </p:cNvPr>
              <p:cNvCxnSpPr>
                <a:cxnSpLocks/>
                <a:stCxn id="28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ED034DA-8D70-07E6-EC8C-48DA2E922BF9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6D01CC9-A7F0-0805-988E-3B64D0F293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AEF563A-4F86-1AA2-E7C2-FC97CF21989C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2750D-4CAF-97CB-F42D-750BC987E3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9B167AE-D6BD-2F98-0343-B54969CAF724}"/>
                    </a:ext>
                  </a:extLst>
                </p:cNvPr>
                <p:cNvSpPr/>
                <p:nvPr/>
              </p:nvSpPr>
              <p:spPr>
                <a:xfrm>
                  <a:off x="10214606" y="3122955"/>
                  <a:ext cx="205536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α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1.7081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9B167AE-D6BD-2F98-0343-B54969CAF7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4606" y="3122955"/>
                  <a:ext cx="205536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E911EB5-B47A-699A-72D4-6238FD05A8D6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A3356F-529B-3F64-4B0D-BDDBA50EBEB9}"/>
                  </a:ext>
                </a:extLst>
              </p:cNvPr>
              <p:cNvSpPr txBox="1"/>
              <p:nvPr/>
            </p:nvSpPr>
            <p:spPr>
              <a:xfrm>
                <a:off x="2248942" y="883353"/>
                <a:ext cx="3437865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2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1.7081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A3356F-529B-3F64-4B0D-BDDBA50EB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942" y="883353"/>
                <a:ext cx="3437865" cy="578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71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7" grpId="0"/>
      <p:bldP spid="19" grpId="0" animBg="1"/>
      <p:bldP spid="4" grpId="0"/>
      <p:bldP spid="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6C7E-924C-338A-6ADC-2419B1D7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9A38-41B0-10B4-1A05-263574F4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5</a:t>
            </a:r>
            <a:br>
              <a:rPr lang="en-US" dirty="0"/>
            </a:br>
            <a:r>
              <a:rPr lang="en-US" dirty="0"/>
              <a:t>t – Test for Difference of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882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967B-0F68-EAA8-2819-0AC122FA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975C-14B4-0EEC-99C4-70F087D7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9DEB-0F2E-6057-9F9C-D44ACFC9B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 - Test for difference of mean is a statistical test used to check: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Whether the difference between two sample means is significant or not when: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Sample size is small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Population variance is unknown</a:t>
            </a:r>
          </a:p>
          <a:p>
            <a:pPr>
              <a:lnSpc>
                <a:spcPct val="145000"/>
              </a:lnSpc>
            </a:pPr>
            <a:r>
              <a:rPr lang="en-US" dirty="0"/>
              <a:t>This test answers: 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Is the observed difference between two sample means real, or just due to random variation?</a:t>
            </a:r>
          </a:p>
        </p:txBody>
      </p:sp>
    </p:spTree>
    <p:extLst>
      <p:ext uri="{BB962C8B-B14F-4D97-AF65-F5344CB8AC3E}">
        <p14:creationId xmlns:p14="http://schemas.microsoft.com/office/powerpoint/2010/main" val="28118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FCCD-9946-C4E8-8247-35C8E6DE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2E22-1757-0E5C-FE58-18AFD83E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466E7-9B00-75DA-D300-9913A2054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two independent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of</a:t>
                </a:r>
                <a:r>
                  <a:rPr lang="en-US" b="1" dirty="0"/>
                  <a:t> 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 having sample means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respectively, drawn from two populations with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determine whether there is a significant difference between the two population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​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​, based on the sample means.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b="1" dirty="0"/>
                  <a:t>The test is performed under the assumption that the population variances are equal, 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466E7-9B00-75DA-D300-9913A2054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93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5A62-C378-4E24-43B5-2B1D0CED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4C3C-0663-FEA0-72C6-E3E8F6CA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for this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FE5BB-D8F1-026A-F91E-161B69324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test is performed under the assumption that the population variances are equal, 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We want to compare two means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For that we need: </a:t>
                </a:r>
              </a:p>
              <a:p>
                <a:pPr marL="457200" lvl="1" indent="0" algn="ctr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/>
                            <m:t>difference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means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dirty="0"/>
                            <m:t>standard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error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algn="l">
                  <a:lnSpc>
                    <a:spcPct val="145000"/>
                  </a:lnSpc>
                </a:pPr>
                <a:r>
                  <a:rPr lang="en-US" dirty="0"/>
                  <a:t>Here, standard error depends on variance, but we don’t know: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b="0" i="1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b="0" i="1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FE5BB-D8F1-026A-F91E-161B69324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49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C131-3D0F-D005-C0E4-DA8980FE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62E1-5284-687E-89F7-3C1CED37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for this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8EFF9-225F-9E1B-8467-2FF118E16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algn="l">
                  <a:lnSpc>
                    <a:spcPct val="145000"/>
                  </a:lnSpc>
                </a:pPr>
                <a:r>
                  <a:rPr lang="en-US" dirty="0"/>
                  <a:t>Instead of handling two unknown variances, they said</a:t>
                </a:r>
              </a:p>
              <a:p>
                <a:pPr lvl="1" algn="l">
                  <a:lnSpc>
                    <a:spcPct val="145000"/>
                  </a:lnSpc>
                </a:pPr>
                <a:r>
                  <a:rPr lang="en-US" dirty="0"/>
                  <a:t>Let’s assume both are same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 lvl="1" algn="l">
                  <a:lnSpc>
                    <a:spcPct val="145000"/>
                  </a:lnSpc>
                </a:pPr>
                <a:r>
                  <a:rPr lang="en-IN" dirty="0"/>
                  <a:t>because</a:t>
                </a:r>
              </a:p>
              <a:p>
                <a:pPr lvl="2" algn="l">
                  <a:lnSpc>
                    <a:spcPct val="145000"/>
                  </a:lnSpc>
                </a:pPr>
                <a:r>
                  <a:rPr lang="en-US" dirty="0"/>
                  <a:t>Small samples do not give reliable separate variance estimates.</a:t>
                </a:r>
              </a:p>
              <a:p>
                <a:pPr lvl="2" algn="l">
                  <a:lnSpc>
                    <a:spcPct val="145000"/>
                  </a:lnSpc>
                </a:pPr>
                <a:r>
                  <a:rPr lang="en-US" dirty="0"/>
                  <a:t>Assuming equal variances allows us to combine them into one pooled estimate.</a:t>
                </a:r>
              </a:p>
              <a:p>
                <a:pPr lvl="2" algn="l">
                  <a:lnSpc>
                    <a:spcPct val="145000"/>
                  </a:lnSpc>
                </a:pPr>
                <a:r>
                  <a:rPr lang="en-US" dirty="0"/>
                  <a:t>This pooled variance follows the Student's t-distribution, making testing possible.</a:t>
                </a:r>
                <a:endParaRPr lang="en-IN" dirty="0"/>
              </a:p>
              <a:p>
                <a:pPr lvl="1" algn="l">
                  <a:lnSpc>
                    <a:spcPct val="145000"/>
                  </a:lnSpc>
                </a:pPr>
                <a:r>
                  <a:rPr lang="en-US" dirty="0"/>
                  <a:t>So, we can combine both samples and get one better estimate.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8EFF9-225F-9E1B-8467-2FF118E16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81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F978-0DAF-2B41-0A6B-10F4B502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9CE8-B4DC-000E-8540-6FC71AC5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2B4BC-1234-65E5-24D4-C27FAF81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In this test,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3E19EC-449A-3970-9604-CA4B57E16733}"/>
                  </a:ext>
                </a:extLst>
              </p:cNvPr>
              <p:cNvSpPr txBox="1"/>
              <p:nvPr/>
            </p:nvSpPr>
            <p:spPr>
              <a:xfrm>
                <a:off x="1584251" y="1680738"/>
                <a:ext cx="455580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3E19EC-449A-3970-9604-CA4B57E16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51" y="1680738"/>
                <a:ext cx="4555807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6BF216-E7AA-20A3-A288-BFEB07AAD1B6}"/>
                  </a:ext>
                </a:extLst>
              </p:cNvPr>
              <p:cNvSpPr txBox="1"/>
              <p:nvPr/>
            </p:nvSpPr>
            <p:spPr>
              <a:xfrm>
                <a:off x="6140058" y="2101815"/>
                <a:ext cx="7260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6BF216-E7AA-20A3-A288-BFEB07AAD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58" y="2101815"/>
                <a:ext cx="72607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8A4F7-D2D7-F081-301C-DD062AF6E0CE}"/>
                  </a:ext>
                </a:extLst>
              </p:cNvPr>
              <p:cNvSpPr txBox="1"/>
              <p:nvPr/>
            </p:nvSpPr>
            <p:spPr>
              <a:xfrm>
                <a:off x="7184951" y="2101815"/>
                <a:ext cx="37376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8A4F7-D2D7-F081-301C-DD062AF6E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951" y="2101815"/>
                <a:ext cx="373761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40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  <p:bldP spid="6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5295-369B-8F57-E76C-9AC59D94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4191-7923-3040-116F-1D6A8C46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Formula for Test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0052-AD8C-E42A-D97A-FBD492C4B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711200"/>
              </a:xfrm>
            </p:spPr>
            <p:txBody>
              <a:bodyPr/>
              <a:lstStyle/>
              <a:p>
                <a:r>
                  <a:rPr lang="en-US" dirty="0"/>
                  <a:t>When sample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	​,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 are given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D0052-AD8C-E42A-D97A-FBD492C4B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711200"/>
              </a:xfrm>
              <a:blipFill>
                <a:blip r:embed="rId2"/>
                <a:stretch>
                  <a:fillRect l="-971"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DC1934-BADF-92B3-1F59-94A4A5245E8F}"/>
                  </a:ext>
                </a:extLst>
              </p:cNvPr>
              <p:cNvSpPr txBox="1"/>
              <p:nvPr/>
            </p:nvSpPr>
            <p:spPr>
              <a:xfrm>
                <a:off x="2221252" y="1887488"/>
                <a:ext cx="3122295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DC1934-BADF-92B3-1F59-94A4A524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252" y="1887488"/>
                <a:ext cx="3122295" cy="1541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FA1CA-AE9C-EC68-5157-5821D97663B1}"/>
                  </a:ext>
                </a:extLst>
              </p:cNvPr>
              <p:cNvSpPr txBox="1"/>
              <p:nvPr/>
            </p:nvSpPr>
            <p:spPr>
              <a:xfrm>
                <a:off x="5077733" y="1725945"/>
                <a:ext cx="407167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FA1CA-AE9C-EC68-5157-5821D976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733" y="1725945"/>
                <a:ext cx="4071675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09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94DB-672C-12BF-8EBA-FDB96EE4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3B92-9F30-CF72-F3E2-AE6A94C3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Formula for Test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1563-9D38-EBF9-1A04-EC448E93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928475" cy="691994"/>
          </a:xfrm>
        </p:spPr>
        <p:txBody>
          <a:bodyPr/>
          <a:lstStyle/>
          <a:p>
            <a:pPr lvl="0"/>
            <a:r>
              <a:rPr lang="en-US" dirty="0"/>
              <a:t>When row data are given</a:t>
            </a:r>
          </a:p>
          <a:p>
            <a:pPr lvl="0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D283F3-8FCA-8CCD-1904-EC83F8A0FF70}"/>
                  </a:ext>
                </a:extLst>
              </p:cNvPr>
              <p:cNvSpPr txBox="1"/>
              <p:nvPr/>
            </p:nvSpPr>
            <p:spPr>
              <a:xfrm>
                <a:off x="1635450" y="1403194"/>
                <a:ext cx="8921101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8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8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8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8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𝐲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8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8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𝐲</m:t>
                                              </m:r>
                                              <m:r>
                                                <a:rPr lang="en-IN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D283F3-8FCA-8CCD-1904-EC83F8A0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50" y="1403194"/>
                <a:ext cx="8921101" cy="17686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5AF38A-BE08-66AE-D37F-ED86A104EAFF}"/>
              </a:ext>
            </a:extLst>
          </p:cNvPr>
          <p:cNvSpPr txBox="1">
            <a:spLocks/>
          </p:cNvSpPr>
          <p:nvPr/>
        </p:nvSpPr>
        <p:spPr>
          <a:xfrm>
            <a:off x="398324" y="3073400"/>
            <a:ext cx="2378103" cy="71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5000"/>
              </a:lnSpc>
              <a:buNone/>
            </a:pPr>
            <a:r>
              <a:rPr lang="en-US" dirty="0"/>
              <a:t>because</a:t>
            </a:r>
          </a:p>
          <a:p>
            <a:pPr marL="0" indent="0">
              <a:lnSpc>
                <a:spcPct val="145000"/>
              </a:lnSpc>
              <a:buFont typeface="Wingdings 3" panose="05040102010807070707" pitchFamily="18" charset="2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0BEF8F9-CC55-A875-439F-E549E0DCA8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8324" y="3646375"/>
                <a:ext cx="3301806" cy="13615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0BEF8F9-CC55-A875-439F-E549E0DCA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4" y="3646375"/>
                <a:ext cx="3301806" cy="1361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C4936B8-34AC-E5BE-0FB9-F29CC66C60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79353" y="3327399"/>
                <a:ext cx="3851156" cy="20633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C4936B8-34AC-E5BE-0FB9-F29CC66C6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53" y="3327399"/>
                <a:ext cx="3851156" cy="2063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7DC4B39-B533-3705-BEC3-1D40FE9801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8324" y="5071432"/>
                <a:ext cx="3301806" cy="13615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7DC4B39-B533-3705-BEC3-1D40FE980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4" y="5071432"/>
                <a:ext cx="3301806" cy="1361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51BA31F-DFDC-81C8-B81D-3C128B0F3B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79353" y="4752456"/>
                <a:ext cx="3851156" cy="20633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51BA31F-DFDC-81C8-B81D-3C128B0F3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53" y="4752456"/>
                <a:ext cx="3851156" cy="2063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71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4" grpId="0" uiExpand="1" build="p"/>
      <p:bldP spid="7" grpId="0" uiExpand="1" build="p"/>
      <p:bldP spid="8" grpId="0" uiExpand="1" build="p"/>
      <p:bldP spid="9" grpId="0" uiExpand="1" build="p"/>
      <p:bldP spid="11" grpId="0" uiExpand="1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5C38-9F34-0B1A-1A5B-EB9B7CC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8768-3008-FEF4-F1B7-99A2D5D1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B3589A-9E45-4417-7EA1-1815333E5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8" y="794052"/>
                <a:ext cx="11929641" cy="944091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± </m:t>
                    </m:r>
                    <m:sSub>
                      <m:sSub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𝐒𝐄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B3589A-9E45-4417-7EA1-1815333E5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8" y="794052"/>
                <a:ext cx="11929641" cy="94409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C027CD-7021-50D6-0BD3-4712E2FBBE07}"/>
                  </a:ext>
                </a:extLst>
              </p:cNvPr>
              <p:cNvSpPr txBox="1"/>
              <p:nvPr/>
            </p:nvSpPr>
            <p:spPr>
              <a:xfrm>
                <a:off x="2980661" y="1807535"/>
                <a:ext cx="623067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± 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ad>
                        <m:radPr>
                          <m:degHide m:val="on"/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C027CD-7021-50D6-0BD3-4712E2FBB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661" y="1807535"/>
                <a:ext cx="6230678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0A8DF14-2A86-871C-3EAF-E1C7A13EF1FC}"/>
              </a:ext>
            </a:extLst>
          </p:cNvPr>
          <p:cNvSpPr txBox="1"/>
          <p:nvPr/>
        </p:nvSpPr>
        <p:spPr>
          <a:xfrm>
            <a:off x="336698" y="3172909"/>
            <a:ext cx="6230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where,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3A3C2-000E-8E83-0303-4AFCC4C0DF35}"/>
                  </a:ext>
                </a:extLst>
              </p:cNvPr>
              <p:cNvSpPr txBox="1"/>
              <p:nvPr/>
            </p:nvSpPr>
            <p:spPr>
              <a:xfrm>
                <a:off x="944823" y="3551271"/>
                <a:ext cx="407167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3A3C2-000E-8E83-0303-4AFCC4C0D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23" y="3551271"/>
                <a:ext cx="4071675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5CF1C2-D596-64C6-F4A2-7D0BFC8FEA45}"/>
                  </a:ext>
                </a:extLst>
              </p:cNvPr>
              <p:cNvSpPr txBox="1"/>
              <p:nvPr/>
            </p:nvSpPr>
            <p:spPr>
              <a:xfrm>
                <a:off x="5224724" y="3972348"/>
                <a:ext cx="40716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5CF1C2-D596-64C6-F4A2-7D0BFC8FE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724" y="3972348"/>
                <a:ext cx="407167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AE6DB25-31B7-15BD-E540-84D6C95E81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5050465"/>
                <a:ext cx="11929641" cy="14991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US" dirty="0"/>
                  <a:t>We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𝛂</m:t>
                        </m:r>
                      </m:e>
                    </m:d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 confident</a:t>
                </a:r>
                <a:r>
                  <a:rPr lang="en-US" dirty="0"/>
                  <a:t> that the true difference between population means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lies within these limits.</a:t>
                </a:r>
                <a:r>
                  <a:rPr lang="en-US" b="1" dirty="0"/>
                  <a:t>   </a:t>
                </a: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 marL="0" indent="0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EAE6DB25-31B7-15BD-E540-84D6C95E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5050465"/>
                <a:ext cx="11929641" cy="1499191"/>
              </a:xfrm>
              <a:prstGeom prst="rect">
                <a:avLst/>
              </a:prstGeom>
              <a:blipFill>
                <a:blip r:embed="rId6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4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FBEF-20CC-2544-4ECC-9824B62E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B0DB-7269-77C2-3E13-4F842856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F0F9F87-C43F-A1D3-78C1-35D5989BC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78381"/>
                <a:ext cx="11929641" cy="5813803"/>
              </a:xfrm>
            </p:spPr>
            <p:txBody>
              <a:bodyPr/>
              <a:lstStyle/>
              <a:p>
                <a:r>
                  <a:rPr lang="en-US" dirty="0"/>
                  <a:t>Lower Limit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dirty="0"/>
                  <a:t> Upper Limit</a:t>
                </a:r>
              </a:p>
              <a:p>
                <a:pPr lvl="1"/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Case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 lies inside interval</a:t>
                </a:r>
              </a:p>
              <a:p>
                <a:pPr lvl="2"/>
                <a:r>
                  <a:rPr lang="en-IN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−2.5, 3.1</m:t>
                        </m:r>
                      </m:e>
                    </m:d>
                  </m:oMath>
                </a14:m>
                <a:endParaRPr lang="en-IN" dirty="0"/>
              </a:p>
              <a:p>
                <a:pPr lvl="2"/>
                <a:r>
                  <a:rPr lang="en-US" dirty="0"/>
                  <a:t>Interpretation: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a possible value</a:t>
                </a:r>
              </a:p>
              <a:p>
                <a:pPr lvl="3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possible</a:t>
                </a:r>
              </a:p>
              <a:p>
                <a:pPr lvl="3"/>
                <a:r>
                  <a:rPr lang="en-US" dirty="0"/>
                  <a:t>Means both means may be equal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lies within the confidence interval, there is no significant difference between the means.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F0F9F87-C43F-A1D3-78C1-35D5989BC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78381"/>
                <a:ext cx="11929641" cy="5813803"/>
              </a:xfrm>
              <a:blipFill>
                <a:blip r:embed="rId2"/>
                <a:stretch>
                  <a:fillRect l="-971" r="-1074" b="-25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67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FCE7-DF4F-29CF-5FFA-157168ED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C63C936-6382-FD53-3280-F2098AE43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48056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Two types of batteries are tested for their length of life and the following data are obtained:</a:t>
                </a:r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r>
                  <a:rPr lang="en-US" dirty="0"/>
                  <a:t>Is there a significant difference in the two means?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% confidence limits for the difference in means.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0.05, 15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=2.1314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C63C936-6382-FD53-3280-F2098AE4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480561"/>
              </a:xfrm>
              <a:prstGeom prst="rect">
                <a:avLst/>
              </a:prstGeom>
              <a:blipFill>
                <a:blip r:embed="rId2"/>
                <a:stretch>
                  <a:fillRect l="-1074" r="-1074" b="-16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84C7792-0CC3-0AF8-E9F6-424B3C8D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4F9243D-E1A7-DB29-A4D6-F3206EC430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6117817"/>
                  </p:ext>
                </p:extLst>
              </p:nvPr>
            </p:nvGraphicFramePr>
            <p:xfrm>
              <a:off x="1001153" y="194929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No. of Samples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Mean life in hours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A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B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4F9243D-E1A7-DB29-A4D6-F3206EC430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6117817"/>
                  </p:ext>
                </p:extLst>
              </p:nvPr>
            </p:nvGraphicFramePr>
            <p:xfrm>
              <a:off x="1001153" y="194929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No. of Samples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Mean life in hours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A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100855" r="-20691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100855" r="-93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100855" r="-46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B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200855" r="-20691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200855" r="-93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200855" r="-464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621484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0BF8-C6EA-4D7B-61F9-1C586F44C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82E4-1F57-7BB2-9861-F4BA9CDE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AF5C51-CC2E-DE10-8881-081974AA9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In this question, two types of batteries (Type A and Type B) are tested to see how long they last.</a:t>
                </a:r>
              </a:p>
              <a:p>
                <a:r>
                  <a:rPr lang="en-US" dirty="0"/>
                  <a:t>So, the sample averages are different:</a:t>
                </a:r>
              </a:p>
              <a:p>
                <a:pPr lvl="1"/>
                <a:r>
                  <a:rPr lang="en-US" dirty="0"/>
                  <a:t>Type A average life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=600</m:t>
                    </m:r>
                  </m:oMath>
                </a14:m>
                <a:r>
                  <a:rPr lang="en-US" dirty="0"/>
                  <a:t> hours</a:t>
                </a:r>
              </a:p>
              <a:p>
                <a:pPr lvl="1"/>
                <a:r>
                  <a:rPr lang="en-US" dirty="0"/>
                  <a:t>Type B average life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=640</m:t>
                    </m:r>
                  </m:oMath>
                </a14:m>
                <a:r>
                  <a:rPr lang="en-US" dirty="0"/>
                  <a:t> hours</a:t>
                </a:r>
              </a:p>
              <a:p>
                <a:r>
                  <a:rPr lang="en-US" dirty="0"/>
                  <a:t>Now the important question is: Is this difference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hours real?  Or Did it happen just because we tested only a small number of batteries?</a:t>
                </a:r>
              </a:p>
              <a:p>
                <a:r>
                  <a:rPr lang="en-US" dirty="0"/>
                  <a:t>The question also asks us to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limits, which give the possible range of the true difference between the two battery types.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AF5C51-CC2E-DE10-8881-081974AA9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17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DBE6-FBFE-E94C-3C5A-7662F7F0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06D1-65F0-B1B1-52E7-EF4BD547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AB3B0-44BC-2B4F-C899-4531FF866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IN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en-IN" b="1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average life of both battery types is actually the same. </a:t>
                </a:r>
              </a:p>
              <a:p>
                <a:pPr lvl="1"/>
                <a:r>
                  <a:rPr lang="en-US" dirty="0"/>
                  <a:t>The difference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640</m:t>
                    </m:r>
                  </m:oMath>
                </a14:m>
                <a:r>
                  <a:rPr lang="en-US" dirty="0"/>
                  <a:t> hours happened only due to random sampling.</a:t>
                </a:r>
              </a:p>
              <a:p>
                <a:r>
                  <a:rPr lang="en-US" dirty="0"/>
                  <a:t>Alternative </a:t>
                </a:r>
                <a:r>
                  <a:rPr lang="en-IN" dirty="0"/>
                  <a:t>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en-IN" b="1" i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average life of the two battery types is truly different. </a:t>
                </a:r>
              </a:p>
              <a:p>
                <a:pPr lvl="1"/>
                <a:r>
                  <a:rPr lang="en-US" dirty="0"/>
                  <a:t>The difference we observed is real, not due to chance.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AB3B0-44BC-2B4F-C899-4531FF866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86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D699-63FB-35C5-6E22-34386358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65D85E-D2D6-33F0-A189-78ABB90079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</p:spPr>
            <p:txBody>
              <a:bodyPr/>
              <a:lstStyle/>
              <a:p>
                <a:r>
                  <a:rPr lang="en-GB" dirty="0"/>
                  <a:t>Method 5 ⇝ Example 1 ⇝ </a:t>
                </a:r>
                <a:r>
                  <a:rPr lang="en-US" dirty="0"/>
                  <a:t>Meaning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Confidence Limits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65D85E-D2D6-33F0-A189-78ABB9007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  <a:blipFill>
                <a:blip r:embed="rId2"/>
                <a:stretch>
                  <a:fillRect l="-400" t="-10256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29C2D61-6260-CA53-1EA3-5CC938D5F0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interval tells us:</a:t>
                </a:r>
              </a:p>
              <a:p>
                <a:pPr lvl="1"/>
                <a:r>
                  <a:rPr lang="en-US" dirty="0"/>
                  <a:t>The range in which the true difference between the mean lives of the two battery types is likely to lie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confidence.</a:t>
                </a:r>
              </a:p>
              <a:p>
                <a:r>
                  <a:rPr lang="en-US" dirty="0"/>
                  <a:t>Interpretation rule:</a:t>
                </a:r>
              </a:p>
              <a:p>
                <a:pPr lvl="1"/>
                <a:r>
                  <a:rPr lang="en-US" dirty="0"/>
                  <a:t>If the interval contains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→ No significant difference</a:t>
                </a:r>
              </a:p>
              <a:p>
                <a:pPr lvl="1"/>
                <a:r>
                  <a:rPr lang="en-US" dirty="0"/>
                  <a:t>If the interval does not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→ Significant difference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29C2D61-6260-CA53-1EA3-5CC938D5F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37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45E8C-7978-38F7-323C-A9C17DC2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A0F2-AA73-9B96-DBAC-951FDA9A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containing 0 means no significant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16513C-C4B7-B90C-AC87-85A617217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Suppose the confidence interval is: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−10, 50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This interval contains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means the true difference could be: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10 </m:t>
                    </m:r>
                  </m:oMath>
                </a14:m>
                <a:r>
                  <a:rPr lang="en-US" dirty="0"/>
                  <a:t>hours,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hours,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hours,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hours</a:t>
                </a:r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possible,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means the two means might actually be equal. </a:t>
                </a:r>
                <a:endParaRPr lang="en-IN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Therefore, we cannot confidently say there is a real difference.</a:t>
                </a:r>
              </a:p>
              <a:p>
                <a:r>
                  <a:rPr lang="en-US" dirty="0"/>
                  <a:t>So, we say: </a:t>
                </a:r>
                <a:r>
                  <a:rPr lang="en-US" b="1" dirty="0"/>
                  <a:t>No significant difference</a:t>
                </a:r>
                <a:endParaRPr lang="en-IN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16513C-C4B7-B90C-AC87-85A617217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44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F10E-02C6-10CB-361A-E869D04C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3060151-B185-0FCC-3F31-84A4CDDE74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48056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Two types of batteries are tested for their length of life and the following data are obtained:</a:t>
                </a:r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r>
                  <a:rPr lang="en-US" dirty="0"/>
                  <a:t>Is there a significant difference in the two means?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% confidence limits for the difference in means.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0.05, 15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=2.1314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3060151-B185-0FCC-3F31-84A4CDDE7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480561"/>
              </a:xfrm>
              <a:prstGeom prst="rect">
                <a:avLst/>
              </a:prstGeom>
              <a:blipFill>
                <a:blip r:embed="rId2"/>
                <a:stretch>
                  <a:fillRect l="-1074" r="-1074" b="-16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FA2E34A-857B-95AF-60CF-56C2CF2C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3B5C90E-1F14-6B87-78A5-AA5F317F4AA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1153" y="194929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No. of Samples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Mean life in hours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A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B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3B5C90E-1F14-6B87-78A5-AA5F317F4AA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1153" y="194929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No. of Samples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Mean life in hours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A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100855" r="-20691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100855" r="-93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100855" r="-46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Type B</a:t>
                          </a:r>
                          <a:endParaRPr lang="en-IN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200855" r="-20691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200855" r="-93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200855" r="-464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603628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B7CF-D23B-E8B6-07D1-62A43037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3203-5E8A-AF79-FA29-47B1CE8A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EDADC6-CB91-1369-72F1-E555A5B05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02334"/>
              </p:ext>
            </p:extLst>
          </p:nvPr>
        </p:nvGraphicFramePr>
        <p:xfrm>
          <a:off x="6276590" y="759824"/>
          <a:ext cx="5875899" cy="219642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0279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52255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635963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1459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429555">
                <a:tc>
                  <a:txBody>
                    <a:bodyPr/>
                    <a:lstStyle/>
                    <a:p>
                      <a:pPr algn="ctr"/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No. of Samples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 life in hours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72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Type A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9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600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121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72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Type B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640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144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5E0C9C4-A6F4-36C3-6CF0-6BBFF4D07E9B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CF84B-2865-BDA0-82A6-13015A1D098D}"/>
              </a:ext>
            </a:extLst>
          </p:cNvPr>
          <p:cNvSpPr/>
          <p:nvPr/>
        </p:nvSpPr>
        <p:spPr>
          <a:xfrm>
            <a:off x="203649" y="1603536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961B40F-2D72-9B6D-0302-2A322D039004}"/>
                  </a:ext>
                </a:extLst>
              </p:cNvPr>
              <p:cNvSpPr/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961B40F-2D72-9B6D-0302-2A322D039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029FE18-BE85-806F-8BB1-659B67430D40}"/>
              </a:ext>
            </a:extLst>
          </p:cNvPr>
          <p:cNvSpPr/>
          <p:nvPr/>
        </p:nvSpPr>
        <p:spPr>
          <a:xfrm>
            <a:off x="2750175" y="1603277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7A61F-5B69-F45A-55C8-6E9184BA8FC6}"/>
                  </a:ext>
                </a:extLst>
              </p:cNvPr>
              <p:cNvSpPr/>
              <p:nvPr/>
            </p:nvSpPr>
            <p:spPr>
              <a:xfrm>
                <a:off x="2750175" y="2301263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7A61F-5B69-F45A-55C8-6E9184BA8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75" y="2301263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32CCA8-ECB3-D48D-C455-75B10583DD20}"/>
                  </a:ext>
                </a:extLst>
              </p:cNvPr>
              <p:cNvSpPr txBox="1"/>
              <p:nvPr/>
            </p:nvSpPr>
            <p:spPr>
              <a:xfrm>
                <a:off x="133188" y="2957889"/>
                <a:ext cx="19810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32CCA8-ECB3-D48D-C455-75B10583D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8" y="2957889"/>
                <a:ext cx="198105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B195B5-FA1B-5222-BB32-DF6053F261B9}"/>
                  </a:ext>
                </a:extLst>
              </p:cNvPr>
              <p:cNvSpPr txBox="1"/>
              <p:nvPr/>
            </p:nvSpPr>
            <p:spPr>
              <a:xfrm>
                <a:off x="2830068" y="2905780"/>
                <a:ext cx="173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B195B5-FA1B-5222-BB32-DF6053F26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068" y="2905780"/>
                <a:ext cx="173330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8AC75E-FFF9-17BC-64AC-08D86681AE81}"/>
                  </a:ext>
                </a:extLst>
              </p:cNvPr>
              <p:cNvSpPr/>
              <p:nvPr/>
            </p:nvSpPr>
            <p:spPr>
              <a:xfrm>
                <a:off x="-170080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8AC75E-FFF9-17BC-64AC-08D86681AE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080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1D82-4D5E-5891-957F-244324F33E42}"/>
                  </a:ext>
                </a:extLst>
              </p:cNvPr>
              <p:cNvSpPr/>
              <p:nvPr/>
            </p:nvSpPr>
            <p:spPr>
              <a:xfrm>
                <a:off x="2632119" y="3570355"/>
                <a:ext cx="1984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1D82-4D5E-5891-957F-244324F33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119" y="3570355"/>
                <a:ext cx="198442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9B86880-B971-BF6B-4AF5-1042D8C53F88}"/>
                  </a:ext>
                </a:extLst>
              </p:cNvPr>
              <p:cNvSpPr/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9B86880-B971-BF6B-4AF5-1042D8C53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5C3BFA-D0D5-59B9-6884-0F26995BF399}"/>
                  </a:ext>
                </a:extLst>
              </p:cNvPr>
              <p:cNvSpPr/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5C3BFA-D0D5-59B9-6884-0F26995B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BB98AE8-B8F0-A357-547A-9A345F6E363B}"/>
                  </a:ext>
                </a:extLst>
              </p:cNvPr>
              <p:cNvSpPr/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BB98AE8-B8F0-A357-547A-9A345F6E3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344C780-D184-8AD1-4F29-DDEEB8B1F88E}"/>
                  </a:ext>
                </a:extLst>
              </p:cNvPr>
              <p:cNvSpPr/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344C780-D184-8AD1-4F29-DDEEB8B1F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E24A50-4867-7185-F220-CBF5D7EDC65E}"/>
                  </a:ext>
                </a:extLst>
              </p:cNvPr>
              <p:cNvSpPr/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E24A50-4867-7185-F220-CBF5D7EDC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399B0F-5ECD-2F44-E68C-D8B64B285B1D}"/>
                  </a:ext>
                </a:extLst>
              </p:cNvPr>
              <p:cNvSpPr txBox="1"/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399B0F-5ECD-2F44-E68C-D8B64B285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4A664-CA09-F4DA-0BFE-288417D05A49}"/>
                  </a:ext>
                </a:extLst>
              </p:cNvPr>
              <p:cNvSpPr txBox="1"/>
              <p:nvPr/>
            </p:nvSpPr>
            <p:spPr>
              <a:xfrm>
                <a:off x="6143277" y="5285288"/>
                <a:ext cx="23323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4A664-CA09-F4DA-0BFE-288417D05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77" y="5285288"/>
                <a:ext cx="233231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57A2BFD-63C8-D7B4-3B30-FD3237B2047C}"/>
                  </a:ext>
                </a:extLst>
              </p:cNvPr>
              <p:cNvSpPr txBox="1"/>
              <p:nvPr/>
            </p:nvSpPr>
            <p:spPr>
              <a:xfrm>
                <a:off x="6143277" y="5896169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57A2BFD-63C8-D7B4-3B30-FD3237B20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77" y="5896169"/>
                <a:ext cx="203137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81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41" grpId="0"/>
      <p:bldP spid="43" grpId="0"/>
      <p:bldP spid="45" grpId="0"/>
      <p:bldP spid="4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F971-3DDF-563E-1D59-06E11CE0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C6B-05A9-EAA0-1631-F7E22D2A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B134940-00DD-5368-3D89-85E2EAAAEABE}"/>
                  </a:ext>
                </a:extLst>
              </p:cNvPr>
              <p:cNvSpPr/>
              <p:nvPr/>
            </p:nvSpPr>
            <p:spPr>
              <a:xfrm>
                <a:off x="79623" y="2841404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B134940-00DD-5368-3D89-85E2EAAAE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2841404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6AAEBB5-4645-0D11-E4D8-2E62A2F36D54}"/>
                  </a:ext>
                </a:extLst>
              </p:cNvPr>
              <p:cNvSpPr txBox="1"/>
              <p:nvPr/>
            </p:nvSpPr>
            <p:spPr>
              <a:xfrm>
                <a:off x="7846557" y="1382025"/>
                <a:ext cx="20407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12.2229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6AAEBB5-4645-0D11-E4D8-2E62A2F36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557" y="1382025"/>
                <a:ext cx="204078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B7449-3515-23DF-301A-B6FB9EB0849B}"/>
                  </a:ext>
                </a:extLst>
              </p:cNvPr>
              <p:cNvSpPr txBox="1"/>
              <p:nvPr/>
            </p:nvSpPr>
            <p:spPr>
              <a:xfrm>
                <a:off x="1101873" y="2658244"/>
                <a:ext cx="3122295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B7449-3515-23DF-301A-B6FB9EB08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873" y="2658244"/>
                <a:ext cx="3122295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A2C364-A204-9394-C7EF-C7E2BE4E0210}"/>
                  </a:ext>
                </a:extLst>
              </p:cNvPr>
              <p:cNvSpPr txBox="1"/>
              <p:nvPr/>
            </p:nvSpPr>
            <p:spPr>
              <a:xfrm>
                <a:off x="169373" y="881787"/>
                <a:ext cx="397712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A2C364-A204-9394-C7EF-C7E2BE4E0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73" y="881787"/>
                <a:ext cx="3977120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F8EEF2-8CF6-C389-3C3E-1F038C6CA2B1}"/>
                  </a:ext>
                </a:extLst>
              </p:cNvPr>
              <p:cNvSpPr txBox="1"/>
              <p:nvPr/>
            </p:nvSpPr>
            <p:spPr>
              <a:xfrm>
                <a:off x="3631556" y="893217"/>
                <a:ext cx="465093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121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144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F8EEF2-8CF6-C389-3C3E-1F038C6CA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556" y="893217"/>
                <a:ext cx="4650937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E1004C7-7131-EA23-849C-15B67FEB5770}"/>
              </a:ext>
            </a:extLst>
          </p:cNvPr>
          <p:cNvSpPr/>
          <p:nvPr/>
        </p:nvSpPr>
        <p:spPr>
          <a:xfrm>
            <a:off x="10386029" y="813286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720258-512F-7FA6-E3CF-5594308DEC0A}"/>
                  </a:ext>
                </a:extLst>
              </p:cNvPr>
              <p:cNvSpPr/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720258-512F-7FA6-E3CF-5594308DE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F458DD5-31CD-AE05-50F2-D2980B940447}"/>
              </a:ext>
            </a:extLst>
          </p:cNvPr>
          <p:cNvSpPr/>
          <p:nvPr/>
        </p:nvSpPr>
        <p:spPr>
          <a:xfrm>
            <a:off x="10410210" y="3243782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A163D9-B2D1-1D83-E68E-9A21A20AAA03}"/>
                  </a:ext>
                </a:extLst>
              </p:cNvPr>
              <p:cNvSpPr/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A163D9-B2D1-1D83-E68E-9A21A20AA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DAA381-3C55-C68D-E544-213378634D5B}"/>
                  </a:ext>
                </a:extLst>
              </p:cNvPr>
              <p:cNvSpPr txBox="1"/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DAA381-3C55-C68D-E544-21337863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13B926-B648-BDB9-6470-4B7C7C0DB957}"/>
                  </a:ext>
                </a:extLst>
              </p:cNvPr>
              <p:cNvSpPr txBox="1"/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13B926-B648-BDB9-6470-4B7C7C0DB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CA6645-F625-8971-938B-FE8DDDBA632F}"/>
                  </a:ext>
                </a:extLst>
              </p:cNvPr>
              <p:cNvSpPr/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CA6645-F625-8971-938B-FE8DDDBA6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9EAF5A-B33C-5738-CD4A-7599B5C49C51}"/>
                  </a:ext>
                </a:extLst>
              </p:cNvPr>
              <p:cNvSpPr/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9EAF5A-B33C-5738-CD4A-7599B5C49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E1C0FC-DA8B-374C-EEE2-451386BC3A62}"/>
                  </a:ext>
                </a:extLst>
              </p:cNvPr>
              <p:cNvSpPr txBox="1"/>
              <p:nvPr/>
            </p:nvSpPr>
            <p:spPr>
              <a:xfrm>
                <a:off x="1398489" y="4667474"/>
                <a:ext cx="4109176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12.2229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9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E1C0FC-DA8B-374C-EEE2-451386BC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489" y="4667474"/>
                <a:ext cx="4109176" cy="15415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507B3-6BCF-85CC-D8EB-10E0FE36CB18}"/>
                  </a:ext>
                </a:extLst>
              </p:cNvPr>
              <p:cNvSpPr txBox="1"/>
              <p:nvPr/>
            </p:nvSpPr>
            <p:spPr>
              <a:xfrm>
                <a:off x="4919869" y="4881905"/>
                <a:ext cx="22033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−6.7348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507B3-6BCF-85CC-D8EB-10E0FE36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869" y="4881905"/>
                <a:ext cx="220339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3DFB-72FA-B7D1-4EA7-0A49834A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52B2-5643-B055-7214-8617D2E8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 (Continue)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F6C01F-617E-F2D2-F357-64265CD6AFD6}"/>
              </a:ext>
            </a:extLst>
          </p:cNvPr>
          <p:cNvSpPr/>
          <p:nvPr/>
        </p:nvSpPr>
        <p:spPr>
          <a:xfrm>
            <a:off x="129426" y="156762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1C153C-9066-4983-4410-9C40FBCC035D}"/>
                  </a:ext>
                </a:extLst>
              </p:cNvPr>
              <p:cNvSpPr txBox="1"/>
              <p:nvPr/>
            </p:nvSpPr>
            <p:spPr>
              <a:xfrm>
                <a:off x="0" y="231431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6.7348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1C153C-9066-4983-4410-9C40FBCC0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14316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7E5B3D9-692A-B375-FF6A-6CE2363A0FFD}"/>
                  </a:ext>
                </a:extLst>
              </p:cNvPr>
              <p:cNvSpPr txBox="1"/>
              <p:nvPr/>
            </p:nvSpPr>
            <p:spPr>
              <a:xfrm>
                <a:off x="2513157" y="2290384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2.1314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7E5B3D9-692A-B375-FF6A-6CE2363A0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157" y="2290384"/>
                <a:ext cx="3291259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1D2511-C14E-5F97-CC64-1FA78343768F}"/>
                  </a:ext>
                </a:extLst>
              </p:cNvPr>
              <p:cNvSpPr txBox="1"/>
              <p:nvPr/>
            </p:nvSpPr>
            <p:spPr>
              <a:xfrm>
                <a:off x="2219326" y="2305222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1D2511-C14E-5F97-CC64-1FA783437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6" y="2305222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80B107-2E9B-68BB-6501-E705DFF61C70}"/>
                  </a:ext>
                </a:extLst>
              </p:cNvPr>
              <p:cNvSpPr txBox="1"/>
              <p:nvPr/>
            </p:nvSpPr>
            <p:spPr>
              <a:xfrm>
                <a:off x="129426" y="3092540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80B107-2E9B-68BB-6501-E705DFF61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26" y="3092540"/>
                <a:ext cx="2470105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9DF366F-BFF4-DB2B-AF51-66EF4F08951B}"/>
              </a:ext>
            </a:extLst>
          </p:cNvPr>
          <p:cNvSpPr/>
          <p:nvPr/>
        </p:nvSpPr>
        <p:spPr>
          <a:xfrm>
            <a:off x="129426" y="817134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31331-5437-DCB6-03D7-0942B57C417C}"/>
                  </a:ext>
                </a:extLst>
              </p:cNvPr>
              <p:cNvSpPr txBox="1"/>
              <p:nvPr/>
            </p:nvSpPr>
            <p:spPr>
              <a:xfrm>
                <a:off x="2217013" y="789401"/>
                <a:ext cx="3437865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1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2.1314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31331-5437-DCB6-03D7-0942B57C4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013" y="789401"/>
                <a:ext cx="3437865" cy="5786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50D108-BFA2-D893-7F1C-271B3263F3CF}"/>
                  </a:ext>
                </a:extLst>
              </p:cNvPr>
              <p:cNvSpPr txBox="1"/>
              <p:nvPr/>
            </p:nvSpPr>
            <p:spPr>
              <a:xfrm>
                <a:off x="138694" y="3860075"/>
                <a:ext cx="11914612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=15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, there is no significant difference between the mean lifetimes of Type A and Type B batteries..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50D108-BFA2-D893-7F1C-271B3263F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94" y="3860075"/>
                <a:ext cx="11914612" cy="1161152"/>
              </a:xfrm>
              <a:prstGeom prst="rect">
                <a:avLst/>
              </a:prstGeom>
              <a:blipFill>
                <a:blip r:embed="rId8"/>
                <a:stretch>
                  <a:fillRect l="-1075" r="-1024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34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5" grpId="0"/>
      <p:bldP spid="37" grpId="0"/>
      <p:bldP spid="38" grpId="0"/>
      <p:bldP spid="3" grpId="0"/>
      <p:bldP spid="6" grpId="0"/>
      <p:bldP spid="8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4566-8542-F683-B25D-E88FEFCF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228A-A413-CF3A-D906-E720ABDC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2E8B428-D101-EEF4-19C0-A61C716672E5}"/>
                  </a:ext>
                </a:extLst>
              </p:cNvPr>
              <p:cNvSpPr/>
              <p:nvPr/>
            </p:nvSpPr>
            <p:spPr>
              <a:xfrm>
                <a:off x="72893" y="1184248"/>
                <a:ext cx="345185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Confidence limit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2E8B428-D101-EEF4-19C0-A61C71667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3" y="1184248"/>
                <a:ext cx="3451852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91793F-99EC-DB79-92DC-00FAA837C1B1}"/>
                  </a:ext>
                </a:extLst>
              </p:cNvPr>
              <p:cNvSpPr txBox="1"/>
              <p:nvPr/>
            </p:nvSpPr>
            <p:spPr>
              <a:xfrm>
                <a:off x="3304323" y="763171"/>
                <a:ext cx="544221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91793F-99EC-DB79-92DC-00FAA837C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323" y="763171"/>
                <a:ext cx="5442210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B3289F-5CD0-7A4B-220E-2862987DE239}"/>
                  </a:ext>
                </a:extLst>
              </p:cNvPr>
              <p:cNvSpPr txBox="1"/>
              <p:nvPr/>
            </p:nvSpPr>
            <p:spPr>
              <a:xfrm>
                <a:off x="2789973" y="2654167"/>
                <a:ext cx="45163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640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2.1314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B3289F-5CD0-7A4B-220E-2862987DE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973" y="2654167"/>
                <a:ext cx="45163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2EA2DE-6781-520D-511A-27AC36F20DBF}"/>
                  </a:ext>
                </a:extLst>
              </p:cNvPr>
              <p:cNvSpPr txBox="1"/>
              <p:nvPr/>
            </p:nvSpPr>
            <p:spPr>
              <a:xfrm>
                <a:off x="7089182" y="2061466"/>
                <a:ext cx="3314701" cy="148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&amp;  </m:t>
                          </m:r>
                        </m:e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12.2229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9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8 </m:t>
                                  </m:r>
                                </m:den>
                              </m:f>
                            </m:e>
                          </m:rad>
                        </m:e>
                      </m:eqAr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2EA2DE-6781-520D-511A-27AC36F20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82" y="2061466"/>
                <a:ext cx="331470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3484E4-6A83-591A-A09D-80BF8D72F4C9}"/>
                  </a:ext>
                </a:extLst>
              </p:cNvPr>
              <p:cNvSpPr txBox="1"/>
              <p:nvPr/>
            </p:nvSpPr>
            <p:spPr>
              <a:xfrm>
                <a:off x="2859642" y="3625891"/>
                <a:ext cx="31037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12.6586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3484E4-6A83-591A-A09D-80BF8D72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642" y="3625891"/>
                <a:ext cx="310373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2FD3C4-62C1-4D7D-CAEA-20272BF98E3D}"/>
                  </a:ext>
                </a:extLst>
              </p:cNvPr>
              <p:cNvSpPr txBox="1"/>
              <p:nvPr/>
            </p:nvSpPr>
            <p:spPr>
              <a:xfrm>
                <a:off x="0" y="5971771"/>
                <a:ext cx="86954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Confidence Interval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𝟓𝟐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𝟔𝟓𝟖𝟗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−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𝟑𝟒𝟏𝟏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2FD3C4-62C1-4D7D-CAEA-20272BF98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71771"/>
                <a:ext cx="8695421" cy="523220"/>
              </a:xfrm>
              <a:prstGeom prst="rect">
                <a:avLst/>
              </a:prstGeom>
              <a:blipFill>
                <a:blip r:embed="rId8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8F7E32-046B-22A6-A03F-DC10ECDE74B0}"/>
                  </a:ext>
                </a:extLst>
              </p:cNvPr>
              <p:cNvSpPr/>
              <p:nvPr/>
            </p:nvSpPr>
            <p:spPr>
              <a:xfrm>
                <a:off x="72893" y="4399362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Lower Limit :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−40−12.6586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8F7E32-046B-22A6-A03F-DC10ECDE7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3" y="4399362"/>
                <a:ext cx="4589195" cy="523220"/>
              </a:xfrm>
              <a:prstGeom prst="rect">
                <a:avLst/>
              </a:prstGeom>
              <a:blipFill>
                <a:blip r:embed="rId9"/>
                <a:stretch>
                  <a:fillRect l="-278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ACFB7A-5E74-AECE-AB79-C5889236B0A2}"/>
                  </a:ext>
                </a:extLst>
              </p:cNvPr>
              <p:cNvSpPr/>
              <p:nvPr/>
            </p:nvSpPr>
            <p:spPr>
              <a:xfrm>
                <a:off x="4347710" y="4399362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−52.6589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ACFB7A-5E74-AECE-AB79-C5889236B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710" y="4399362"/>
                <a:ext cx="314729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FE0C921-BB4B-8086-9E31-34A9ABA161D2}"/>
                  </a:ext>
                </a:extLst>
              </p:cNvPr>
              <p:cNvSpPr/>
              <p:nvPr/>
            </p:nvSpPr>
            <p:spPr>
              <a:xfrm>
                <a:off x="72893" y="5214208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Upper Limit 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−40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12.6586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FE0C921-BB4B-8086-9E31-34A9ABA16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3" y="5214208"/>
                <a:ext cx="4589195" cy="523220"/>
              </a:xfrm>
              <a:prstGeom prst="rect">
                <a:avLst/>
              </a:prstGeom>
              <a:blipFill>
                <a:blip r:embed="rId11"/>
                <a:stretch>
                  <a:fillRect l="-278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5E70674-2460-61CA-4933-3EAE8A0563CB}"/>
                  </a:ext>
                </a:extLst>
              </p:cNvPr>
              <p:cNvSpPr/>
              <p:nvPr/>
            </p:nvSpPr>
            <p:spPr>
              <a:xfrm>
                <a:off x="4347710" y="5214208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27.3144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5E70674-2460-61CA-4933-3EAE8A056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710" y="5214208"/>
                <a:ext cx="314729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31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21" grpId="0"/>
      <p:bldP spid="23" grpId="0"/>
      <p:bldP spid="25" grpId="0"/>
      <p:bldP spid="3" grpId="0"/>
      <p:bldP spid="11" grpId="0"/>
      <p:bldP spid="12" grpId="0"/>
      <p:bldP spid="13" grpId="0"/>
      <p:bldP spid="14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F0E2-E01B-9139-5628-851DDCDA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5C5620-1383-470D-344E-AF1A85431A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0196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 following data represents the biological values of protein from cow’s milk and buffalo’s milk at a certain level:</a:t>
                </a:r>
              </a:p>
              <a:p>
                <a:pPr>
                  <a:lnSpc>
                    <a:spcPts val="4200"/>
                  </a:lnSpc>
                </a:pPr>
                <a:endParaRPr lang="en-IN" dirty="0"/>
              </a:p>
              <a:p>
                <a:pPr>
                  <a:lnSpc>
                    <a:spcPts val="4200"/>
                  </a:lnSpc>
                </a:pPr>
                <a:endParaRPr lang="en-US" dirty="0"/>
              </a:p>
              <a:p>
                <a:pPr>
                  <a:lnSpc>
                    <a:spcPts val="4200"/>
                  </a:lnSpc>
                </a:pPr>
                <a:endParaRPr lang="en-IN" dirty="0"/>
              </a:p>
              <a:p>
                <a:pPr>
                  <a:lnSpc>
                    <a:spcPts val="4200"/>
                  </a:lnSpc>
                </a:pPr>
                <a:r>
                  <a:rPr lang="en-US" dirty="0"/>
                  <a:t>Examine if the average values of protein in the two samples significantly differ.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=2.2281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5C5620-1383-470D-344E-AF1A85431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0196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A1F2B75-AA22-9C95-FB52-ED675470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409CB5-9D0E-A1A1-F424-7F0D2ECFA7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351782"/>
                  </p:ext>
                </p:extLst>
              </p:nvPr>
            </p:nvGraphicFramePr>
            <p:xfrm>
              <a:off x="251817" y="2044199"/>
              <a:ext cx="11688361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60887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Cow’s Milk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1.61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1.54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Buffalo’s Milk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1.88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409CB5-9D0E-A1A1-F424-7F0D2ECFA7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351782"/>
                  </p:ext>
                </p:extLst>
              </p:nvPr>
            </p:nvGraphicFramePr>
            <p:xfrm>
              <a:off x="251817" y="2044199"/>
              <a:ext cx="11688361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60887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60457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Cow’s Milk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897" t="-840" r="-50152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030" t="-840" r="-39962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9278" t="-840" r="-30114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9278" t="-840" r="-20114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7273" t="-840" r="-100379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658" t="-840" r="-760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Buffalo’s Milk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897" t="-101695" r="-50152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030" t="-101695" r="-39962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9278" t="-101695" r="-30114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29278" t="-101695" r="-20114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27273" t="-101695" r="-100379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658" t="-101695" r="-760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866156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ACA9-8053-D5FE-0220-EB19F363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1C9B-295E-3343-E01A-58B5BC33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B2E39-D65E-B4F9-3A4A-D9F8D07B9457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CE7D96-F193-DCB4-A07F-55F53CE9F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142439"/>
                  </p:ext>
                </p:extLst>
              </p:nvPr>
            </p:nvGraphicFramePr>
            <p:xfrm>
              <a:off x="1793826" y="882269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Cow’s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oMath>
                          </a14:m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1.61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1.54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Buffalo’s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2.03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2.19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1.88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CE7D96-F193-DCB4-A07F-55F53CE9F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142439"/>
                  </p:ext>
                </p:extLst>
              </p:nvPr>
            </p:nvGraphicFramePr>
            <p:xfrm>
              <a:off x="1793826" y="882269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" t="-840" r="-16550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6898" t="-840" r="-45668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1381" t="-840" r="-371823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7605" t="-840" r="-30299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136" t="-840" r="-21234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5207" t="-840" r="-103550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4740" t="-840" r="-1156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" t="-101695" r="-16550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6898" t="-101695" r="-45668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1381" t="-101695" r="-371823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7605" t="-101695" r="-30299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136" t="-101695" r="-212346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5207" t="-101695" r="-103550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4740" t="-101695" r="-1156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66F4E6-9682-CD19-1045-E09DE98ED015}"/>
                  </a:ext>
                </a:extLst>
              </p:cNvPr>
              <p:cNvSpPr txBox="1"/>
              <p:nvPr/>
            </p:nvSpPr>
            <p:spPr>
              <a:xfrm>
                <a:off x="1180481" y="3273883"/>
                <a:ext cx="1437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66F4E6-9682-CD19-1045-E09DE98E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481" y="3273883"/>
                <a:ext cx="143706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1ECCC5B-08D0-DABB-AE77-61DFD3781E5B}"/>
              </a:ext>
            </a:extLst>
          </p:cNvPr>
          <p:cNvSpPr txBox="1"/>
          <p:nvPr/>
        </p:nvSpPr>
        <p:spPr>
          <a:xfrm>
            <a:off x="92267" y="2629649"/>
            <a:ext cx="47633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Cow’s Milk Sample (Sample 1)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A507D-4EFA-3C70-2E0F-AEAADC8E0416}"/>
              </a:ext>
            </a:extLst>
          </p:cNvPr>
          <p:cNvSpPr txBox="1"/>
          <p:nvPr/>
        </p:nvSpPr>
        <p:spPr>
          <a:xfrm>
            <a:off x="7028239" y="2629649"/>
            <a:ext cx="5071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Buffalo’s Milk Sample (Sample 2)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89CE11-C01F-CAB7-C01D-854101ABEE1D}"/>
                  </a:ext>
                </a:extLst>
              </p:cNvPr>
              <p:cNvSpPr txBox="1"/>
              <p:nvPr/>
            </p:nvSpPr>
            <p:spPr>
              <a:xfrm>
                <a:off x="1201747" y="3943641"/>
                <a:ext cx="18319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=1.78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89CE11-C01F-CAB7-C01D-854101ABE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47" y="3943641"/>
                <a:ext cx="18319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4A2064-9F33-9AFB-F8B3-29B32A431D66}"/>
                  </a:ext>
                </a:extLst>
              </p:cNvPr>
              <p:cNvSpPr txBox="1"/>
              <p:nvPr/>
            </p:nvSpPr>
            <p:spPr>
              <a:xfrm>
                <a:off x="1148582" y="4595503"/>
                <a:ext cx="2445139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=0.0261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4A2064-9F33-9AFB-F8B3-29B32A431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582" y="4595503"/>
                <a:ext cx="2445139" cy="540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8423A8-EE5E-0591-0310-C43A89600612}"/>
                  </a:ext>
                </a:extLst>
              </p:cNvPr>
              <p:cNvSpPr txBox="1"/>
              <p:nvPr/>
            </p:nvSpPr>
            <p:spPr>
              <a:xfrm>
                <a:off x="8417908" y="3273883"/>
                <a:ext cx="1437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8423A8-EE5E-0591-0310-C43A89600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908" y="3273883"/>
                <a:ext cx="143706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F261FB-8959-0E79-F4AD-57CF337C838D}"/>
                  </a:ext>
                </a:extLst>
              </p:cNvPr>
              <p:cNvSpPr txBox="1"/>
              <p:nvPr/>
            </p:nvSpPr>
            <p:spPr>
              <a:xfrm>
                <a:off x="8439174" y="3943641"/>
                <a:ext cx="22040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1.9650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F261FB-8959-0E79-F4AD-57CF337C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174" y="3943641"/>
                <a:ext cx="22040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E88E9A-CB85-C832-4E75-3E1686CE4CAC}"/>
                  </a:ext>
                </a:extLst>
              </p:cNvPr>
              <p:cNvSpPr txBox="1"/>
              <p:nvPr/>
            </p:nvSpPr>
            <p:spPr>
              <a:xfrm>
                <a:off x="8386009" y="4595503"/>
                <a:ext cx="2445139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E88E9A-CB85-C832-4E75-3E1686CE4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09" y="4595503"/>
                <a:ext cx="2445139" cy="5401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F4C1E5B-A0D2-A334-E50C-2F0F77EFAB03}"/>
                  </a:ext>
                </a:extLst>
              </p:cNvPr>
              <p:cNvSpPr txBox="1"/>
              <p:nvPr/>
            </p:nvSpPr>
            <p:spPr>
              <a:xfrm>
                <a:off x="92267" y="5596009"/>
                <a:ext cx="46171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F4C1E5B-A0D2-A334-E50C-2F0F77EFA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7" y="5596009"/>
                <a:ext cx="461711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1E4FBD-F4AB-30F0-9664-CAD5DC76BFF0}"/>
                  </a:ext>
                </a:extLst>
              </p:cNvPr>
              <p:cNvSpPr txBox="1"/>
              <p:nvPr/>
            </p:nvSpPr>
            <p:spPr>
              <a:xfrm>
                <a:off x="3593721" y="5596009"/>
                <a:ext cx="25022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=6+6−2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1E4FBD-F4AB-30F0-9664-CAD5DC76B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721" y="5596009"/>
                <a:ext cx="250227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64A95A-E219-E36E-6D8E-75829D5B44E5}"/>
                  </a:ext>
                </a:extLst>
              </p:cNvPr>
              <p:cNvSpPr txBox="1"/>
              <p:nvPr/>
            </p:nvSpPr>
            <p:spPr>
              <a:xfrm>
                <a:off x="5532392" y="5596009"/>
                <a:ext cx="1950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64A95A-E219-E36E-6D8E-75829D5B4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392" y="5596009"/>
                <a:ext cx="195023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875AA1-9006-8979-0BDB-CF9C9926E6D6}"/>
                  </a:ext>
                </a:extLst>
              </p:cNvPr>
              <p:cNvSpPr/>
              <p:nvPr/>
            </p:nvSpPr>
            <p:spPr>
              <a:xfrm>
                <a:off x="3268962" y="4595503"/>
                <a:ext cx="51489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[ In calculator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using 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]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875AA1-9006-8979-0BDB-CF9C9926E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62" y="4595503"/>
                <a:ext cx="5148946" cy="830997"/>
              </a:xfrm>
              <a:prstGeom prst="rect">
                <a:avLst/>
              </a:prstGeom>
              <a:blipFill>
                <a:blip r:embed="rId12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4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5" grpId="0"/>
      <p:bldP spid="8" grpId="0"/>
      <p:bldP spid="9" grpId="0"/>
      <p:bldP spid="10" grpId="0"/>
      <p:bldP spid="12" grpId="0"/>
      <p:bldP spid="14" grpId="0"/>
      <p:bldP spid="19" grpId="0"/>
      <p:bldP spid="20" grpId="0"/>
      <p:bldP spid="24" grpId="0"/>
      <p:bldP spid="6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D502-0F4D-EA69-0F43-B9C74D83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4BE5-F20E-0341-E1FB-7E34A1D0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9DAD9F2-5187-9C0E-E577-1BFCE07087A1}"/>
                  </a:ext>
                </a:extLst>
              </p:cNvPr>
              <p:cNvSpPr/>
              <p:nvPr/>
            </p:nvSpPr>
            <p:spPr>
              <a:xfrm>
                <a:off x="136170" y="850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9DAD9F2-5187-9C0E-E577-1BFCE0708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0" y="850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7635A45-C727-8202-B42E-E5CD22BC09E8}"/>
                  </a:ext>
                </a:extLst>
              </p:cNvPr>
              <p:cNvSpPr/>
              <p:nvPr/>
            </p:nvSpPr>
            <p:spPr>
              <a:xfrm>
                <a:off x="941149" y="790346"/>
                <a:ext cx="30673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cow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uffalo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7635A45-C727-8202-B42E-E5CD22BC09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49" y="790346"/>
                <a:ext cx="30673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CA84FC4-D8B8-2074-A839-E3E70B809E42}"/>
                  </a:ext>
                </a:extLst>
              </p:cNvPr>
              <p:cNvSpPr/>
              <p:nvPr/>
            </p:nvSpPr>
            <p:spPr>
              <a:xfrm>
                <a:off x="136170" y="2240877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CA84FC4-D8B8-2074-A839-E3E70B809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0" y="2240877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7BA126D-726D-BE14-D63B-E7B658C71F29}"/>
                  </a:ext>
                </a:extLst>
              </p:cNvPr>
              <p:cNvSpPr/>
              <p:nvPr/>
            </p:nvSpPr>
            <p:spPr>
              <a:xfrm>
                <a:off x="142849" y="151004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7BA126D-726D-BE14-D63B-E7B658C71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9" y="1510042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CA0064A-62B9-B4E7-B73D-F86ED140800C}"/>
                  </a:ext>
                </a:extLst>
              </p:cNvPr>
              <p:cNvSpPr/>
              <p:nvPr/>
            </p:nvSpPr>
            <p:spPr>
              <a:xfrm>
                <a:off x="941150" y="1476695"/>
                <a:ext cx="30673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cow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uffalo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CA0064A-62B9-B4E7-B73D-F86ED1408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50" y="1476695"/>
                <a:ext cx="306732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26258-A612-1E72-AEBC-607F0D5687EA}"/>
                  </a:ext>
                </a:extLst>
              </p:cNvPr>
              <p:cNvSpPr txBox="1"/>
              <p:nvPr/>
            </p:nvSpPr>
            <p:spPr>
              <a:xfrm>
                <a:off x="3464949" y="4858085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0.157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26258-A612-1E72-AEBC-607F0D568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949" y="4858085"/>
                <a:ext cx="183765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92966C-3093-3A57-8CF6-06AA479F5004}"/>
                  </a:ext>
                </a:extLst>
              </p:cNvPr>
              <p:cNvSpPr txBox="1"/>
              <p:nvPr/>
            </p:nvSpPr>
            <p:spPr>
              <a:xfrm>
                <a:off x="0" y="3055273"/>
                <a:ext cx="371665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92966C-3093-3A57-8CF6-06AA479F5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5273"/>
                <a:ext cx="3716655" cy="1365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55629D-FB5B-AB7F-BB3B-B196C4A47BCA}"/>
                  </a:ext>
                </a:extLst>
              </p:cNvPr>
              <p:cNvSpPr txBox="1"/>
              <p:nvPr/>
            </p:nvSpPr>
            <p:spPr>
              <a:xfrm>
                <a:off x="3464949" y="3091948"/>
                <a:ext cx="5689683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0.0261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0.015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55629D-FB5B-AB7F-BB3B-B196C4A47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949" y="3091948"/>
                <a:ext cx="5689683" cy="13653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41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28" grpId="0"/>
      <p:bldP spid="50" grpId="0"/>
      <p:bldP spid="5" grpId="0"/>
      <p:bldP spid="10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F9EE-9B0C-11A0-EC25-85613503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0F22-8575-72BE-30AF-F90559F7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92FDA6-3DEF-41D4-8B80-FA597A36DEFF}"/>
                  </a:ext>
                </a:extLst>
              </p:cNvPr>
              <p:cNvSpPr/>
              <p:nvPr/>
            </p:nvSpPr>
            <p:spPr>
              <a:xfrm>
                <a:off x="79623" y="844866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92FDA6-3DEF-41D4-8B80-FA597A36D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844866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FF4C70-54D2-5EDC-9CA7-CBEAC0C5DE9B}"/>
                  </a:ext>
                </a:extLst>
              </p:cNvPr>
              <p:cNvSpPr txBox="1"/>
              <p:nvPr/>
            </p:nvSpPr>
            <p:spPr>
              <a:xfrm>
                <a:off x="1105481" y="1483894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FF4C70-54D2-5EDC-9CA7-CBEAC0C5D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81" y="1483894"/>
                <a:ext cx="3122295" cy="1589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EB2B8F-D374-E055-E891-F2398D0163D9}"/>
                  </a:ext>
                </a:extLst>
              </p:cNvPr>
              <p:cNvSpPr txBox="1"/>
              <p:nvPr/>
            </p:nvSpPr>
            <p:spPr>
              <a:xfrm>
                <a:off x="1318872" y="3581566"/>
                <a:ext cx="365664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1.78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.97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0.157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EB2B8F-D374-E055-E891-F2398D016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872" y="3581566"/>
                <a:ext cx="3656648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E2B192-91C2-BFB5-D514-7A75FD1790FC}"/>
                  </a:ext>
                </a:extLst>
              </p:cNvPr>
              <p:cNvSpPr txBox="1"/>
              <p:nvPr/>
            </p:nvSpPr>
            <p:spPr>
              <a:xfrm>
                <a:off x="1318872" y="5631212"/>
                <a:ext cx="21994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855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E2B192-91C2-BFB5-D514-7A75FD179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872" y="5631212"/>
                <a:ext cx="21994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8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" grpId="0"/>
      <p:bldP spid="22" grpId="0"/>
      <p:bldP spid="2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C868-5151-C3D6-7590-93188F7E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B046-9077-7C27-AB4A-4362449E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 (Continue)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7C91C-2634-40E4-BAE8-4722A509C539}"/>
              </a:ext>
            </a:extLst>
          </p:cNvPr>
          <p:cNvSpPr/>
          <p:nvPr/>
        </p:nvSpPr>
        <p:spPr>
          <a:xfrm>
            <a:off x="129426" y="153969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E7B04E-7C99-3F9A-DC67-14B19799AB15}"/>
                  </a:ext>
                </a:extLst>
              </p:cNvPr>
              <p:cNvSpPr txBox="1"/>
              <p:nvPr/>
            </p:nvSpPr>
            <p:spPr>
              <a:xfrm>
                <a:off x="0" y="2243608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855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E7B04E-7C99-3F9A-DC67-14B19799A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43608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2B3EDB-DF49-9551-F5D5-299910E1959B}"/>
                  </a:ext>
                </a:extLst>
              </p:cNvPr>
              <p:cNvSpPr txBox="1"/>
              <p:nvPr/>
            </p:nvSpPr>
            <p:spPr>
              <a:xfrm>
                <a:off x="2506519" y="2206781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2.2281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2B3EDB-DF49-9551-F5D5-299910E19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519" y="2206781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8667F9-01A0-B867-6CDA-B4B7EBC1C6A8}"/>
                  </a:ext>
                </a:extLst>
              </p:cNvPr>
              <p:cNvSpPr txBox="1"/>
              <p:nvPr/>
            </p:nvSpPr>
            <p:spPr>
              <a:xfrm>
                <a:off x="2219326" y="223451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8667F9-01A0-B867-6CDA-B4B7EBC1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6" y="2234514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476B8D-D051-1AC7-B89B-243EC3E59A0A}"/>
                  </a:ext>
                </a:extLst>
              </p:cNvPr>
              <p:cNvSpPr txBox="1"/>
              <p:nvPr/>
            </p:nvSpPr>
            <p:spPr>
              <a:xfrm>
                <a:off x="129426" y="3016586"/>
                <a:ext cx="25910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476B8D-D051-1AC7-B89B-243EC3E5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26" y="3016586"/>
                <a:ext cx="2591064" cy="523220"/>
              </a:xfrm>
              <a:prstGeom prst="rect">
                <a:avLst/>
              </a:prstGeom>
              <a:blipFill>
                <a:blip r:embed="rId5"/>
                <a:stretch>
                  <a:fillRect t="-11628" r="-447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CCB70E-896E-B956-1585-BF7C482C84CD}"/>
                  </a:ext>
                </a:extLst>
              </p:cNvPr>
              <p:cNvSpPr txBox="1"/>
              <p:nvPr/>
            </p:nvSpPr>
            <p:spPr>
              <a:xfrm>
                <a:off x="142709" y="3771980"/>
                <a:ext cx="11914612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=10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, there is no significant difference between the mean protein values of cow’s milk and buffalo’s milk.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CCB70E-896E-B956-1585-BF7C482C8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09" y="3771980"/>
                <a:ext cx="11914612" cy="1161152"/>
              </a:xfrm>
              <a:prstGeom prst="rect">
                <a:avLst/>
              </a:prstGeom>
              <a:blipFill>
                <a:blip r:embed="rId6"/>
                <a:stretch>
                  <a:fillRect l="-1023" r="-1023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13CB016-09EF-25E1-B2D4-C8BBF7B7E358}"/>
              </a:ext>
            </a:extLst>
          </p:cNvPr>
          <p:cNvSpPr/>
          <p:nvPr/>
        </p:nvSpPr>
        <p:spPr>
          <a:xfrm>
            <a:off x="129426" y="817134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2050C2-5C82-8424-F26C-2B85517A5D8D}"/>
                  </a:ext>
                </a:extLst>
              </p:cNvPr>
              <p:cNvSpPr txBox="1"/>
              <p:nvPr/>
            </p:nvSpPr>
            <p:spPr>
              <a:xfrm>
                <a:off x="2217013" y="789401"/>
                <a:ext cx="3437865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2.2281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2050C2-5C82-8424-F26C-2B85517A5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013" y="789401"/>
                <a:ext cx="3437865" cy="5786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2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5" grpId="0"/>
      <p:bldP spid="37" grpId="0"/>
      <p:bldP spid="38" grpId="0"/>
      <p:bldP spid="13" grpId="0" animBg="1"/>
      <p:bldP spid="3" grpId="0"/>
      <p:bldP spid="4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B63C-E571-A612-E96D-E3A73E27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642AF03-1FF5-FB3C-9CBB-6867722035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1"/>
                <a:ext cx="11929643" cy="238793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mean height and SD height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8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randomly chosen soldiers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166.9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2.29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respectively. The corresponding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randomly chosen sailors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107.3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8.50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respectively. Based on this data, can we conclude that soldiers are, in general, shorter than sailors?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=−1.7823 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642AF03-1FF5-FB3C-9CBB-68677220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1"/>
                <a:ext cx="11929643" cy="2387939"/>
              </a:xfrm>
              <a:prstGeom prst="rect">
                <a:avLst/>
              </a:prstGeom>
              <a:blipFill>
                <a:blip r:embed="rId2"/>
                <a:stretch>
                  <a:fillRect l="-1022" r="-1073" b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8210FD-4BFF-9E8C-69F4-EFDE31DF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8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C26F846-5D3E-7090-FCC6-C85F42CB8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3291840"/>
                <a:ext cx="11929641" cy="3162169"/>
              </a:xfrm>
            </p:spPr>
            <p:txBody>
              <a:bodyPr/>
              <a:lstStyle/>
              <a:p>
                <a:r>
                  <a:rPr lang="en-US" dirty="0"/>
                  <a:t>Who are Soldiers and Sailors? </a:t>
                </a:r>
              </a:p>
              <a:p>
                <a:pPr lvl="1"/>
                <a:r>
                  <a:rPr lang="en-US" dirty="0"/>
                  <a:t>Soldiers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People working in the army (land forces)</a:t>
                </a:r>
              </a:p>
              <a:p>
                <a:pPr lvl="1"/>
                <a:r>
                  <a:rPr lang="en-US" dirty="0"/>
                  <a:t>Sailors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People working in the navy (sea forces)</a:t>
                </a:r>
              </a:p>
              <a:p>
                <a:r>
                  <a:rPr lang="en-US" dirty="0"/>
                  <a:t>So basically, we are comparing heights of two different groups of people.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C26F846-5D3E-7090-FCC6-C85F42CB8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3291840"/>
                <a:ext cx="11929641" cy="316216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96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2B4B-2DE9-6CB1-57FE-38E88865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8B19-DE1B-CF04-DDC2-08828513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8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75A752-7764-F5FF-B7D1-087B48ED4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We have two groups:</a:t>
                </a:r>
              </a:p>
              <a:p>
                <a:pPr lvl="1"/>
                <a:r>
                  <a:rPr lang="en-US" dirty="0"/>
                  <a:t>Soldiers → average height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=166.9</m:t>
                    </m:r>
                  </m:oMath>
                </a14:m>
                <a:r>
                  <a:rPr lang="en-US" dirty="0"/>
                  <a:t> cm</a:t>
                </a:r>
              </a:p>
              <a:p>
                <a:pPr lvl="1"/>
                <a:r>
                  <a:rPr lang="en-US" dirty="0"/>
                  <a:t>Sailors → average height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=107.3</m:t>
                    </m:r>
                  </m:oMath>
                </a14:m>
                <a:r>
                  <a:rPr lang="en-US" dirty="0"/>
                  <a:t> cm </a:t>
                </a:r>
              </a:p>
              <a:p>
                <a:r>
                  <a:rPr lang="en-US" dirty="0"/>
                  <a:t>Question is asking: </a:t>
                </a:r>
              </a:p>
              <a:p>
                <a:pPr lvl="1"/>
                <a:r>
                  <a:rPr lang="en-US" dirty="0"/>
                  <a:t>Can we say that soldiers are generally shorter than sailors? </a:t>
                </a:r>
              </a:p>
              <a:p>
                <a:pPr lvl="1"/>
                <a:r>
                  <a:rPr lang="en-US" dirty="0"/>
                  <a:t>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soldiers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sailors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75A752-7764-F5FF-B7D1-087B48ED4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3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CE53-45BF-4899-3CB2-12F0C4B7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5678-5E98-D120-2554-E2F03D02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8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1BDBB24-1694-E2B7-3A77-F89BF8289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Soldiers are not shorter than sailors.</a:t>
                </a:r>
              </a:p>
              <a:p>
                <a:pPr lvl="1"/>
                <a:r>
                  <a:rPr lang="en-US" dirty="0"/>
                  <a:t>Any observed difference in sample means happened by chance.</a:t>
                </a:r>
              </a:p>
              <a:p>
                <a:r>
                  <a:rPr lang="en-IN" dirty="0"/>
                  <a:t>Alternative</a:t>
                </a:r>
                <a:r>
                  <a:rPr lang="en-US" dirty="0"/>
                  <a:t>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The average height of soldiers is less than sailors.</a:t>
                </a:r>
              </a:p>
              <a:p>
                <a:pPr lvl="1"/>
                <a:r>
                  <a:rPr lang="en-US" dirty="0"/>
                  <a:t>Soldiers are shorter than sailors.</a:t>
                </a:r>
              </a:p>
              <a:p>
                <a:pPr lvl="1"/>
                <a:r>
                  <a:rPr lang="en-US" dirty="0"/>
                  <a:t>The difference is real and significant.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1BDBB24-1694-E2B7-3A77-F89BF8289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0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87AB-9A7C-49F5-5205-C54F3554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8632A9D-C763-345D-4CE5-0C1A279ACB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1"/>
                <a:ext cx="11929643" cy="238793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ts val="4200"/>
                  </a:lnSpc>
                  <a:tabLst>
                    <a:tab pos="447675" algn="l"/>
                  </a:tabLst>
                </a:pPr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mean height and SD height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8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randomly chosen soldiers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166.9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2.29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respectively. The corresponding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randomly chosen sailors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107.3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8.50</m:t>
                    </m:r>
                  </m:oMath>
                </a14:m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cm respectively. Based on this data, can we conclude that soldiers are, in general, shorter than sailors?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r>
                              <a:rPr lang="en-US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=−1.7823 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8632A9D-C763-345D-4CE5-0C1A279AC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1"/>
                <a:ext cx="11929643" cy="2387939"/>
              </a:xfrm>
              <a:prstGeom prst="rect">
                <a:avLst/>
              </a:prstGeom>
              <a:blipFill>
                <a:blip r:embed="rId2"/>
                <a:stretch>
                  <a:fillRect l="-1022" r="-1073" b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182E00A-544B-0E85-B2BA-971A1C67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E1E752-33D0-8E9C-BC07-9BB278301B61}"/>
              </a:ext>
            </a:extLst>
          </p:cNvPr>
          <p:cNvSpPr/>
          <p:nvPr/>
        </p:nvSpPr>
        <p:spPr>
          <a:xfrm>
            <a:off x="131177" y="34422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C9FDF-664E-8C33-AB3F-4AED0BCE50D1}"/>
              </a:ext>
            </a:extLst>
          </p:cNvPr>
          <p:cNvSpPr txBox="1"/>
          <p:nvPr/>
        </p:nvSpPr>
        <p:spPr>
          <a:xfrm>
            <a:off x="1625597" y="3458566"/>
            <a:ext cx="3531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Sample – 1</a:t>
            </a:r>
            <a:r>
              <a:rPr lang="en-IN" sz="2800" dirty="0">
                <a:solidFill>
                  <a:srgbClr val="002060"/>
                </a:solidFill>
              </a:rPr>
              <a:t> (Soldiers)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01484-84D7-4025-C3E4-006D734E9253}"/>
              </a:ext>
            </a:extLst>
          </p:cNvPr>
          <p:cNvSpPr txBox="1"/>
          <p:nvPr/>
        </p:nvSpPr>
        <p:spPr>
          <a:xfrm>
            <a:off x="7489087" y="3458566"/>
            <a:ext cx="3531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Sample – 2</a:t>
            </a:r>
            <a:r>
              <a:rPr lang="en-IN" sz="2800" dirty="0">
                <a:solidFill>
                  <a:srgbClr val="002060"/>
                </a:solidFill>
              </a:rPr>
              <a:t> (Sailors)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2FCBB6-5767-956D-8F6B-6D1D2E52F391}"/>
                  </a:ext>
                </a:extLst>
              </p:cNvPr>
              <p:cNvSpPr txBox="1"/>
              <p:nvPr/>
            </p:nvSpPr>
            <p:spPr>
              <a:xfrm>
                <a:off x="1663533" y="4757574"/>
                <a:ext cx="26066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166.9 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2FCBB6-5767-956D-8F6B-6D1D2E52F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33" y="4757574"/>
                <a:ext cx="260667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F11B5F-7C83-DA09-495B-2B0DD3DFB85E}"/>
                  </a:ext>
                </a:extLst>
              </p:cNvPr>
              <p:cNvSpPr txBox="1"/>
              <p:nvPr/>
            </p:nvSpPr>
            <p:spPr>
              <a:xfrm>
                <a:off x="1463040" y="5363783"/>
                <a:ext cx="2606675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F11B5F-7C83-DA09-495B-2B0DD3DFB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5363783"/>
                <a:ext cx="2606675" cy="528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74BAAF-403B-B29B-EC99-539B27D7E41A}"/>
                  </a:ext>
                </a:extLst>
              </p:cNvPr>
              <p:cNvSpPr txBox="1"/>
              <p:nvPr/>
            </p:nvSpPr>
            <p:spPr>
              <a:xfrm>
                <a:off x="1625597" y="4117697"/>
                <a:ext cx="15748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74BAAF-403B-B29B-EC99-539B27D7E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117697"/>
                <a:ext cx="15748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752126-E946-2300-5674-DCBC53F29186}"/>
                  </a:ext>
                </a:extLst>
              </p:cNvPr>
              <p:cNvSpPr txBox="1"/>
              <p:nvPr/>
            </p:nvSpPr>
            <p:spPr>
              <a:xfrm>
                <a:off x="1214134" y="5954099"/>
                <a:ext cx="2606675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5.2441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752126-E946-2300-5674-DCBC53F2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34" y="5954099"/>
                <a:ext cx="2606675" cy="5282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06B38C-56D3-76E4-D8C7-53C1B3F97625}"/>
                  </a:ext>
                </a:extLst>
              </p:cNvPr>
              <p:cNvSpPr txBox="1"/>
              <p:nvPr/>
            </p:nvSpPr>
            <p:spPr>
              <a:xfrm>
                <a:off x="7759533" y="4757574"/>
                <a:ext cx="26066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107.3 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06B38C-56D3-76E4-D8C7-53C1B3F97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533" y="4757574"/>
                <a:ext cx="26066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B7D4F3-5E89-EC9D-ACB0-59316E099539}"/>
                  </a:ext>
                </a:extLst>
              </p:cNvPr>
              <p:cNvSpPr txBox="1"/>
              <p:nvPr/>
            </p:nvSpPr>
            <p:spPr>
              <a:xfrm>
                <a:off x="7559040" y="5363783"/>
                <a:ext cx="2606675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8.50 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B7D4F3-5E89-EC9D-ACB0-59316E099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040" y="5363783"/>
                <a:ext cx="2606675" cy="528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2E02A0-3D5A-FBFF-890A-1FCCA4D35BB3}"/>
                  </a:ext>
                </a:extLst>
              </p:cNvPr>
              <p:cNvSpPr txBox="1"/>
              <p:nvPr/>
            </p:nvSpPr>
            <p:spPr>
              <a:xfrm>
                <a:off x="7748900" y="4117697"/>
                <a:ext cx="15748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2E02A0-3D5A-FBFF-890A-1FCCA4D35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900" y="4117697"/>
                <a:ext cx="157480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B821B-C68C-9CE2-B2CE-FB8BA843A852}"/>
                  </a:ext>
                </a:extLst>
              </p:cNvPr>
              <p:cNvSpPr txBox="1"/>
              <p:nvPr/>
            </p:nvSpPr>
            <p:spPr>
              <a:xfrm>
                <a:off x="7310134" y="5954099"/>
                <a:ext cx="3216099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72.2500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B821B-C68C-9CE2-B2CE-FB8BA843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134" y="5954099"/>
                <a:ext cx="3216099" cy="5282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92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21" grpId="0"/>
      <p:bldP spid="22" grpId="0"/>
      <p:bldP spid="24" grpId="0"/>
      <p:bldP spid="25" grpId="0"/>
      <p:bldP spid="26" grpId="0"/>
      <p:bldP spid="28" grpId="0"/>
      <p:bldP spid="30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859B-0867-D910-3EC4-44C285BB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A15157-EE6F-F508-1EE0-4724E31DDBDC}"/>
                  </a:ext>
                </a:extLst>
              </p:cNvPr>
              <p:cNvSpPr txBox="1"/>
              <p:nvPr/>
            </p:nvSpPr>
            <p:spPr>
              <a:xfrm>
                <a:off x="525197" y="4312463"/>
                <a:ext cx="549525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5.2441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72.2500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A15157-EE6F-F508-1EE0-4724E31D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7" y="4312463"/>
                <a:ext cx="5495258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D45668D-8FE6-A403-8C6F-29EB38F8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DC5FC07-1BD7-B335-5F7F-8BCF96E947D2}"/>
                  </a:ext>
                </a:extLst>
              </p:cNvPr>
              <p:cNvSpPr/>
              <p:nvPr/>
            </p:nvSpPr>
            <p:spPr>
              <a:xfrm>
                <a:off x="126406" y="87744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DC5FC07-1BD7-B335-5F7F-8BCF96E94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06" y="877444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B63C08-77AC-5348-0223-ABDFF57C4335}"/>
                  </a:ext>
                </a:extLst>
              </p:cNvPr>
              <p:cNvSpPr/>
              <p:nvPr/>
            </p:nvSpPr>
            <p:spPr>
              <a:xfrm>
                <a:off x="931386" y="816944"/>
                <a:ext cx="3251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soldiers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sailors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CB63C08-77AC-5348-0223-ABDFF57C4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86" y="816944"/>
                <a:ext cx="3251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954D1CB-BB5B-C8D6-AA0A-BDE21443F0A8}"/>
                  </a:ext>
                </a:extLst>
              </p:cNvPr>
              <p:cNvSpPr/>
              <p:nvPr/>
            </p:nvSpPr>
            <p:spPr>
              <a:xfrm>
                <a:off x="133085" y="153664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954D1CB-BB5B-C8D6-AA0A-BDE21443F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5" y="1536640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B88CF20-91B6-5FDB-0342-F685BF1C8686}"/>
                  </a:ext>
                </a:extLst>
              </p:cNvPr>
              <p:cNvSpPr/>
              <p:nvPr/>
            </p:nvSpPr>
            <p:spPr>
              <a:xfrm>
                <a:off x="931386" y="1517850"/>
                <a:ext cx="3251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soldiers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sailors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B88CF20-91B6-5FDB-0342-F685BF1C8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86" y="1517850"/>
                <a:ext cx="32518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48BF7D6-961F-3A90-43A0-F32748F7E876}"/>
                  </a:ext>
                </a:extLst>
              </p:cNvPr>
              <p:cNvSpPr/>
              <p:nvPr/>
            </p:nvSpPr>
            <p:spPr>
              <a:xfrm>
                <a:off x="4844850" y="89845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48BF7D6-961F-3A90-43A0-F32748F7E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850" y="898459"/>
                <a:ext cx="2386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453B32-703A-BA7A-A7C1-43F203D026E3}"/>
                  </a:ext>
                </a:extLst>
              </p:cNvPr>
              <p:cNvSpPr txBox="1"/>
              <p:nvPr/>
            </p:nvSpPr>
            <p:spPr>
              <a:xfrm>
                <a:off x="4923181" y="1351742"/>
                <a:ext cx="3886021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453B32-703A-BA7A-A7C1-43F203D02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181" y="1351742"/>
                <a:ext cx="3886021" cy="717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EFC511-4AB8-4FAB-EB49-C41B0C2FDEC8}"/>
                  </a:ext>
                </a:extLst>
              </p:cNvPr>
              <p:cNvSpPr txBox="1"/>
              <p:nvPr/>
            </p:nvSpPr>
            <p:spPr>
              <a:xfrm>
                <a:off x="5935566" y="2170388"/>
                <a:ext cx="22408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EFC511-4AB8-4FAB-EB49-C41B0C2FD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566" y="2170388"/>
                <a:ext cx="224087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FCAE4A-A15E-CABC-ABB2-7F3562F7BFD3}"/>
                  </a:ext>
                </a:extLst>
              </p:cNvPr>
              <p:cNvSpPr txBox="1"/>
              <p:nvPr/>
            </p:nvSpPr>
            <p:spPr>
              <a:xfrm>
                <a:off x="7915650" y="2170388"/>
                <a:ext cx="11074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FCAE4A-A15E-CABC-ABB2-7F3562F7B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650" y="2170388"/>
                <a:ext cx="110748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9835AE-7876-0EE4-D35C-3FB13A3F5B13}"/>
                  </a:ext>
                </a:extLst>
              </p:cNvPr>
              <p:cNvSpPr txBox="1"/>
              <p:nvPr/>
            </p:nvSpPr>
            <p:spPr>
              <a:xfrm>
                <a:off x="525197" y="5980556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=6.2945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9835AE-7876-0EE4-D35C-3FB13A3F5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7" y="5980556"/>
                <a:ext cx="183765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6CF2BF-A6CA-341D-ACBE-632DC24D5385}"/>
                  </a:ext>
                </a:extLst>
              </p:cNvPr>
              <p:cNvSpPr txBox="1"/>
              <p:nvPr/>
            </p:nvSpPr>
            <p:spPr>
              <a:xfrm>
                <a:off x="228778" y="2644370"/>
                <a:ext cx="362521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6CF2BF-A6CA-341D-ACBE-632DC24D5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78" y="2644370"/>
                <a:ext cx="3625215" cy="13653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88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6" grpId="0"/>
      <p:bldP spid="8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B340-B5BF-32FD-87A6-1BB28E31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C301-0FD6-7A4E-C050-E246695E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9BFE31-C9EF-B0E1-C298-E70BD58CF80A}"/>
                  </a:ext>
                </a:extLst>
              </p:cNvPr>
              <p:cNvSpPr/>
              <p:nvPr/>
            </p:nvSpPr>
            <p:spPr>
              <a:xfrm>
                <a:off x="140358" y="849422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9BFE31-C9EF-B0E1-C298-E70BD58CF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58" y="849422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6DC081-CDF0-D3DC-CE42-E164A392A440}"/>
                  </a:ext>
                </a:extLst>
              </p:cNvPr>
              <p:cNvSpPr txBox="1"/>
              <p:nvPr/>
            </p:nvSpPr>
            <p:spPr>
              <a:xfrm>
                <a:off x="1066309" y="1204800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6DC081-CDF0-D3DC-CE42-E164A392A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309" y="1204800"/>
                <a:ext cx="3122295" cy="1589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211564-7FD3-59F1-4567-98D57E062345}"/>
                  </a:ext>
                </a:extLst>
              </p:cNvPr>
              <p:cNvSpPr txBox="1"/>
              <p:nvPr/>
            </p:nvSpPr>
            <p:spPr>
              <a:xfrm>
                <a:off x="3920679" y="1194167"/>
                <a:ext cx="411461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166.9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07.3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6.2945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211564-7FD3-59F1-4567-98D57E062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679" y="1194167"/>
                <a:ext cx="4114618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7CCB7-A01E-864D-94DA-46FDC16A9DC1}"/>
                  </a:ext>
                </a:extLst>
              </p:cNvPr>
              <p:cNvSpPr txBox="1"/>
              <p:nvPr/>
            </p:nvSpPr>
            <p:spPr>
              <a:xfrm>
                <a:off x="7219689" y="1402281"/>
                <a:ext cx="2155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=17.5325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7CCB7-A01E-864D-94DA-46FDC16A9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89" y="1402281"/>
                <a:ext cx="21550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149E86F-E175-F059-2FE3-26F9BD2959A5}"/>
              </a:ext>
            </a:extLst>
          </p:cNvPr>
          <p:cNvSpPr/>
          <p:nvPr/>
        </p:nvSpPr>
        <p:spPr>
          <a:xfrm>
            <a:off x="140358" y="3091057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948328-683C-F8D2-9290-21D0B31F0681}"/>
                  </a:ext>
                </a:extLst>
              </p:cNvPr>
              <p:cNvSpPr txBox="1"/>
              <p:nvPr/>
            </p:nvSpPr>
            <p:spPr>
              <a:xfrm>
                <a:off x="2227945" y="3063324"/>
                <a:ext cx="368375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12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−1.7823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948328-683C-F8D2-9290-21D0B31F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945" y="3063324"/>
                <a:ext cx="3683757" cy="5786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49540ED4-DB5F-61EE-0E5E-F8651673B489}"/>
              </a:ext>
            </a:extLst>
          </p:cNvPr>
          <p:cNvSpPr/>
          <p:nvPr/>
        </p:nvSpPr>
        <p:spPr>
          <a:xfrm>
            <a:off x="140358" y="3812273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7395E4-0EFF-8DDC-FAE9-A83CB0C59023}"/>
                  </a:ext>
                </a:extLst>
              </p:cNvPr>
              <p:cNvSpPr txBox="1"/>
              <p:nvPr/>
            </p:nvSpPr>
            <p:spPr>
              <a:xfrm>
                <a:off x="1815669" y="3822021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=17.5325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7395E4-0EFF-8DDC-FAE9-A83CB0C59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669" y="3822021"/>
                <a:ext cx="23774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3929D2-CE1D-EBC3-6381-5561F6DF4B9D}"/>
                  </a:ext>
                </a:extLst>
              </p:cNvPr>
              <p:cNvSpPr txBox="1"/>
              <p:nvPr/>
            </p:nvSpPr>
            <p:spPr>
              <a:xfrm>
                <a:off x="4363116" y="3798089"/>
                <a:ext cx="329125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−1.7823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0.05, 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3929D2-CE1D-EBC3-6381-5561F6DF4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16" y="3798089"/>
                <a:ext cx="3291259" cy="5421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452D3A-091F-3F29-C283-D1CDC6322A58}"/>
                  </a:ext>
                </a:extLst>
              </p:cNvPr>
              <p:cNvSpPr txBox="1"/>
              <p:nvPr/>
            </p:nvSpPr>
            <p:spPr>
              <a:xfrm>
                <a:off x="4034995" y="381292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452D3A-091F-3F29-C283-D1CDC6322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995" y="3812927"/>
                <a:ext cx="5743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1C1A3-B979-B726-4C8C-6A05787E2144}"/>
                  </a:ext>
                </a:extLst>
              </p:cNvPr>
              <p:cNvSpPr txBox="1"/>
              <p:nvPr/>
            </p:nvSpPr>
            <p:spPr>
              <a:xfrm>
                <a:off x="1893011" y="4512753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1C1A3-B979-B726-4C8C-6A05787E2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011" y="4512753"/>
                <a:ext cx="2470105" cy="523220"/>
              </a:xfrm>
              <a:prstGeom prst="rect">
                <a:avLst/>
              </a:prstGeom>
              <a:blipFill>
                <a:blip r:embed="rId10"/>
                <a:stretch>
                  <a:fillRect t="-10465" r="-3457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30EE4A-314D-ECD7-DDBB-BB1F6E9B2B5F}"/>
                  </a:ext>
                </a:extLst>
              </p:cNvPr>
              <p:cNvSpPr txBox="1"/>
              <p:nvPr/>
            </p:nvSpPr>
            <p:spPr>
              <a:xfrm>
                <a:off x="2000249" y="5332692"/>
                <a:ext cx="9823156" cy="9541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=12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, there is no evidence to conclude that soldiers are shorter than sailors.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30EE4A-314D-ECD7-DDBB-BB1F6E9B2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49" y="5332692"/>
                <a:ext cx="9823156" cy="954107"/>
              </a:xfrm>
              <a:prstGeom prst="rect">
                <a:avLst/>
              </a:prstGeom>
              <a:blipFill>
                <a:blip r:embed="rId11"/>
                <a:stretch>
                  <a:fillRect l="-1241" t="-6410" r="-1241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0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5" grpId="0"/>
      <p:bldP spid="16" grpId="0"/>
      <p:bldP spid="6" grpId="0"/>
      <p:bldP spid="12" grpId="0"/>
      <p:bldP spid="13" grpId="0"/>
      <p:bldP spid="14" grpId="0"/>
      <p:bldP spid="17" grpId="0"/>
      <p:bldP spid="18" grpId="0"/>
      <p:bldP spid="19" grpId="0"/>
      <p:bldP spid="20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70B4-D0D2-84B7-2930-3DD21BC4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93644E9-FCFE-7048-D3D9-E1C513B1CB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Samples of two types of electric bulbs were tested for length of life and the following data were obtained.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Is the difference in the means sufficient to warrant that type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bulbs are superior to type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bulbs?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=1.7709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93644E9-FCFE-7048-D3D9-E1C513B1C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blipFill>
                <a:blip r:embed="rId2"/>
                <a:stretch>
                  <a:fillRect l="-1074" r="-1074" b="-3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4351E26-16DC-F624-2BE8-ABAC85E2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EED59AB-C2A0-404D-E4D7-07C1E366A8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851081"/>
                  </p:ext>
                </p:extLst>
              </p:nvPr>
            </p:nvGraphicFramePr>
            <p:xfrm>
              <a:off x="1001153" y="230362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SD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1234 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hr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hr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1036 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hr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hr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EED59AB-C2A0-404D-E4D7-07C1E366A8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851081"/>
                  </p:ext>
                </p:extLst>
              </p:nvPr>
            </p:nvGraphicFramePr>
            <p:xfrm>
              <a:off x="1001153" y="230362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SD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100855" r="-20691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100855" r="-93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100855" r="-46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200855" r="-20691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200855" r="-93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200855" r="-464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37713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66B3-40AB-DB9B-6C2D-2075334D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575E-3DBE-428C-F3FC-FF268947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10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4D48F4-EA7C-B58A-E488-8559F3779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</p:spPr>
            <p:txBody>
              <a:bodyPr/>
              <a:lstStyle/>
              <a:p>
                <a:r>
                  <a:rPr lang="en-US" dirty="0"/>
                  <a:t>Two types of electric bulbs are tested:</a:t>
                </a:r>
              </a:p>
              <a:p>
                <a:pPr lvl="1"/>
                <a:r>
                  <a:rPr lang="en-US" dirty="0"/>
                  <a:t>Type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bulbs → Mean life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=1234 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hr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Type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bulbs → Mean life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=1036 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hr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Warrant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Strong enough proof / justify </a:t>
                </a:r>
              </a:p>
              <a:p>
                <a:pPr lvl="1"/>
                <a:r>
                  <a:rPr lang="en-US" dirty="0"/>
                  <a:t>So, the question means: Do we have enough statistical evidence to prove that Type 1 bulbs are superior (last longer) ?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4D48F4-EA7C-B58A-E488-8559F3779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6810"/>
                <a:ext cx="11929641" cy="5667200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51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D240-1E54-63C4-226C-02049D35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0D0-C5E0-BE61-8839-1068C21C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10 ⇝ Idea about Hypotheses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C258EB-445E-22F1-58C0-C877868F5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b="1" dirty="0"/>
              </a:p>
              <a:p>
                <a:pPr lvl="1"/>
                <a:r>
                  <a:rPr lang="en-US" dirty="0"/>
                  <a:t>The mean life of Type 1 and Type 2 bulbs is same</a:t>
                </a:r>
              </a:p>
              <a:p>
                <a:pPr lvl="1"/>
                <a:r>
                  <a:rPr lang="en-US" dirty="0"/>
                  <a:t>Type 1 bulbs are not superior</a:t>
                </a:r>
              </a:p>
              <a:p>
                <a:pPr lvl="1"/>
                <a:r>
                  <a:rPr lang="en-US" dirty="0"/>
                  <a:t>Any observed difference is due to chance.</a:t>
                </a:r>
              </a:p>
              <a:p>
                <a:r>
                  <a:rPr lang="en-IN" dirty="0"/>
                  <a:t>Alternative</a:t>
                </a:r>
                <a:r>
                  <a:rPr lang="en-US" dirty="0"/>
                  <a:t>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Type 1 bulbs are superior than type 2 bulbs.</a:t>
                </a:r>
              </a:p>
              <a:p>
                <a:pPr lvl="1"/>
                <a:r>
                  <a:rPr lang="en-US" dirty="0"/>
                  <a:t>The difference is real and significant.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C258EB-445E-22F1-58C0-C877868F5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45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A00A-37E4-1E07-D51B-B91D5747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24E3-CE99-072A-5190-CFE7474A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10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619D9-4FFC-6B77-EA6B-B63A182840B3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6A827-C0D6-FAD8-3E51-88DD9F3D4C6E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3A634C-DC37-2C58-3900-41B3FF1E66F3}"/>
                  </a:ext>
                </a:extLst>
              </p:cNvPr>
              <p:cNvSpPr/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3A634C-DC37-2C58-3900-41B3FF1E6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D24CDBB-5603-774B-2474-56650ED061F7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987B20E-9E2C-3538-A2AF-A31F73B8B64D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987B20E-9E2C-3538-A2AF-A31F73B8B6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82664F-CF28-FE20-8CCF-E1E6A67DDC1F}"/>
                  </a:ext>
                </a:extLst>
              </p:cNvPr>
              <p:cNvSpPr txBox="1"/>
              <p:nvPr/>
            </p:nvSpPr>
            <p:spPr>
              <a:xfrm>
                <a:off x="32368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82664F-CF28-FE20-8CCF-E1E6A67DD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 t="-11628" r="-3933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58B5A8-265D-71CA-B9E5-75466B01C53C}"/>
                  </a:ext>
                </a:extLst>
              </p:cNvPr>
              <p:cNvSpPr txBox="1"/>
              <p:nvPr/>
            </p:nvSpPr>
            <p:spPr>
              <a:xfrm>
                <a:off x="316793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1036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58B5A8-265D-71CA-B9E5-75466B01C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93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 t="-12791" r="-3933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F0B338C-0F83-D75B-54E2-B4F0DF304183}"/>
                  </a:ext>
                </a:extLst>
              </p:cNvPr>
              <p:cNvSpPr/>
              <p:nvPr/>
            </p:nvSpPr>
            <p:spPr>
              <a:xfrm>
                <a:off x="297678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F0B338C-0F83-D75B-54E2-B4F0DF304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78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5FBB5C-4A26-4351-73B4-EDDD54949865}"/>
                  </a:ext>
                </a:extLst>
              </p:cNvPr>
              <p:cNvSpPr/>
              <p:nvPr/>
            </p:nvSpPr>
            <p:spPr>
              <a:xfrm>
                <a:off x="3197444" y="3568059"/>
                <a:ext cx="2382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5FBB5C-4A26-4351-73B4-EDDD54949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444" y="3568059"/>
                <a:ext cx="2382200" cy="523220"/>
              </a:xfrm>
              <a:prstGeom prst="rect">
                <a:avLst/>
              </a:prstGeom>
              <a:blipFill>
                <a:blip r:embed="rId7"/>
                <a:stretch>
                  <a:fillRect t="-10465" r="-76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C0615C8-68E6-56EF-876C-0421DDFC7D93}"/>
                  </a:ext>
                </a:extLst>
              </p:cNvPr>
              <p:cNvSpPr/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C0615C8-68E6-56EF-876C-0421DDFC7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29BA6FA-4439-1FCE-4D93-4A78C424DBEE}"/>
                  </a:ext>
                </a:extLst>
              </p:cNvPr>
              <p:cNvSpPr/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29BA6FA-4439-1FCE-4D93-4A78C424D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4B41DB-C73D-E836-A338-5A00C01800E3}"/>
                  </a:ext>
                </a:extLst>
              </p:cNvPr>
              <p:cNvSpPr/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4B41DB-C73D-E836-A338-5A00C0180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ACA466B-1ECD-AE17-02EF-ABCEEBB7B53A}"/>
                  </a:ext>
                </a:extLst>
              </p:cNvPr>
              <p:cNvSpPr/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ACA466B-1ECD-AE17-02EF-ABCEEBB7B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D9A1AA63-3ACF-EEE4-5AE8-4F27C98921F8}"/>
              </a:ext>
            </a:extLst>
          </p:cNvPr>
          <p:cNvSpPr/>
          <p:nvPr/>
        </p:nvSpPr>
        <p:spPr>
          <a:xfrm>
            <a:off x="2565300" y="528206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9961FB9-3B08-B571-C58D-5EF01139B00F}"/>
                  </a:ext>
                </a:extLst>
              </p:cNvPr>
              <p:cNvSpPr/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9961FB9-3B08-B571-C58D-5EF01139B0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71A5889-ED6A-645B-56EE-D84BCA500DB3}"/>
                  </a:ext>
                </a:extLst>
              </p:cNvPr>
              <p:cNvSpPr txBox="1"/>
              <p:nvPr/>
            </p:nvSpPr>
            <p:spPr>
              <a:xfrm>
                <a:off x="5767431" y="4461970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71A5889-ED6A-645B-56EE-D84BCA5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431" y="4461970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794B8B-DEB0-28C2-154F-68A9889FF8A0}"/>
                  </a:ext>
                </a:extLst>
              </p:cNvPr>
              <p:cNvSpPr txBox="1"/>
              <p:nvPr/>
            </p:nvSpPr>
            <p:spPr>
              <a:xfrm>
                <a:off x="6781500" y="5282065"/>
                <a:ext cx="23642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794B8B-DEB0-28C2-154F-68A9889F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500" y="5282065"/>
                <a:ext cx="236420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ACFC83-AFD6-6192-F2D5-AABDC78F4AD6}"/>
                  </a:ext>
                </a:extLst>
              </p:cNvPr>
              <p:cNvSpPr txBox="1"/>
              <p:nvPr/>
            </p:nvSpPr>
            <p:spPr>
              <a:xfrm>
                <a:off x="6781500" y="5908261"/>
                <a:ext cx="12350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ACFC83-AFD6-6192-F2D5-AABDC78F4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500" y="5908261"/>
                <a:ext cx="123508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22227-0A03-A42E-1CF6-493B10AE6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142123"/>
              </p:ext>
            </p:extLst>
          </p:nvPr>
        </p:nvGraphicFramePr>
        <p:xfrm>
          <a:off x="6508371" y="803398"/>
          <a:ext cx="5591362" cy="208265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7656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638814">
                <a:tc>
                  <a:txBody>
                    <a:bodyPr/>
                    <a:lstStyle/>
                    <a:p>
                      <a:pPr algn="ctr"/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SD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192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Sample 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1234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36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2192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1036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40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17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3" grpId="0"/>
      <p:bldP spid="45" grpId="0"/>
      <p:bldP spid="46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05FF-A5F3-D237-4FDC-B74346DA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106-11EB-3829-E167-FBCCB96C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70278-B366-3F03-FF6C-7D462C47375C}"/>
                  </a:ext>
                </a:extLst>
              </p:cNvPr>
              <p:cNvSpPr/>
              <p:nvPr/>
            </p:nvSpPr>
            <p:spPr>
              <a:xfrm>
                <a:off x="119721" y="2607752"/>
                <a:ext cx="118095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70278-B366-3F03-FF6C-7D462C473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1" y="2607752"/>
                <a:ext cx="1180954" cy="523220"/>
              </a:xfrm>
              <a:prstGeom prst="rect">
                <a:avLst/>
              </a:prstGeom>
              <a:blipFill>
                <a:blip r:embed="rId2"/>
                <a:stretch>
                  <a:fillRect t="-11628" r="-829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96ED1E-1BBF-4B60-FC1C-F65D8713489B}"/>
                  </a:ext>
                </a:extLst>
              </p:cNvPr>
              <p:cNvSpPr txBox="1"/>
              <p:nvPr/>
            </p:nvSpPr>
            <p:spPr>
              <a:xfrm>
                <a:off x="7610969" y="1365150"/>
                <a:ext cx="21390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=40.7318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96ED1E-1BBF-4B60-FC1C-F65D8713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969" y="1365150"/>
                <a:ext cx="21390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617AA0-6829-6E82-7114-5FF112BC3F0C}"/>
                  </a:ext>
                </a:extLst>
              </p:cNvPr>
              <p:cNvSpPr txBox="1"/>
              <p:nvPr/>
            </p:nvSpPr>
            <p:spPr>
              <a:xfrm>
                <a:off x="1212332" y="2750175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617AA0-6829-6E82-7114-5FF112BC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332" y="2750175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7101-69F5-84A9-2CE7-A6B4CAF47F46}"/>
                  </a:ext>
                </a:extLst>
              </p:cNvPr>
              <p:cNvSpPr txBox="1"/>
              <p:nvPr/>
            </p:nvSpPr>
            <p:spPr>
              <a:xfrm>
                <a:off x="138444" y="891588"/>
                <a:ext cx="367093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7101-69F5-84A9-2CE7-A6B4CAF4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4" y="891588"/>
                <a:ext cx="367093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E7F96-220D-B076-3DEC-8CC40538585E}"/>
                  </a:ext>
                </a:extLst>
              </p:cNvPr>
              <p:cNvSpPr txBox="1"/>
              <p:nvPr/>
            </p:nvSpPr>
            <p:spPr>
              <a:xfrm>
                <a:off x="3517648" y="949558"/>
                <a:ext cx="4397978" cy="12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5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1296</m:t>
                                  </m:r>
                                </m:e>
                              </m:d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1600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E7F96-220D-B076-3DEC-8CC405385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648" y="949558"/>
                <a:ext cx="4397978" cy="122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EED3A7-66A2-B077-7AA3-EF43B5723E65}"/>
                  </a:ext>
                </a:extLst>
              </p:cNvPr>
              <p:cNvSpPr txBox="1"/>
              <p:nvPr/>
            </p:nvSpPr>
            <p:spPr>
              <a:xfrm>
                <a:off x="1459753" y="4679452"/>
                <a:ext cx="4115790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1234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036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40.7318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EED3A7-66A2-B077-7AA3-EF43B5723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753" y="4679452"/>
                <a:ext cx="4115790" cy="1541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90E455-A5D3-7E4D-DE0E-122B79A3946F}"/>
                  </a:ext>
                </a:extLst>
              </p:cNvPr>
              <p:cNvSpPr txBox="1"/>
              <p:nvPr/>
            </p:nvSpPr>
            <p:spPr>
              <a:xfrm>
                <a:off x="4971860" y="4884456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=9.3924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90E455-A5D3-7E4D-DE0E-122B79A39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860" y="4884456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12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4594-023D-1039-133E-C097C892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F656BC-0F20-9F15-77E7-BB026AC796A9}"/>
              </a:ext>
            </a:extLst>
          </p:cNvPr>
          <p:cNvSpPr/>
          <p:nvPr/>
        </p:nvSpPr>
        <p:spPr>
          <a:xfrm>
            <a:off x="142994" y="1703846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6F5A5A-7DFC-E32D-1257-452015446F8F}"/>
                  </a:ext>
                </a:extLst>
              </p:cNvPr>
              <p:cNvSpPr txBox="1"/>
              <p:nvPr/>
            </p:nvSpPr>
            <p:spPr>
              <a:xfrm>
                <a:off x="142994" y="2412817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=9.3924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6F5A5A-7DFC-E32D-1257-452015446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94" y="2412817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588B65-C5F0-1E99-E64F-6118D8EB4A41}"/>
                  </a:ext>
                </a:extLst>
              </p:cNvPr>
              <p:cNvSpPr txBox="1"/>
              <p:nvPr/>
            </p:nvSpPr>
            <p:spPr>
              <a:xfrm>
                <a:off x="2667581" y="2388885"/>
                <a:ext cx="329125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0.05, 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 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1.7709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588B65-C5F0-1E99-E64F-6118D8EB4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581" y="2388885"/>
                <a:ext cx="3291259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F4F656-9898-91FD-E325-1CFE2438A416}"/>
                  </a:ext>
                </a:extLst>
              </p:cNvPr>
              <p:cNvSpPr txBox="1"/>
              <p:nvPr/>
            </p:nvSpPr>
            <p:spPr>
              <a:xfrm>
                <a:off x="2339460" y="2403723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F4F656-9898-91FD-E325-1CFE2438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460" y="2403723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789151-88D0-B09E-7105-7E247933E141}"/>
                  </a:ext>
                </a:extLst>
              </p:cNvPr>
              <p:cNvSpPr txBox="1"/>
              <p:nvPr/>
            </p:nvSpPr>
            <p:spPr>
              <a:xfrm>
                <a:off x="443741" y="3167390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789151-88D0-B09E-7105-7E247933E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41" y="3167390"/>
                <a:ext cx="2470105" cy="523220"/>
              </a:xfrm>
              <a:prstGeom prst="rect">
                <a:avLst/>
              </a:prstGeom>
              <a:blipFill>
                <a:blip r:embed="rId5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364858-639C-34FA-4A7C-6DDF7AF8AA78}"/>
                  </a:ext>
                </a:extLst>
              </p:cNvPr>
              <p:cNvSpPr txBox="1"/>
              <p:nvPr/>
            </p:nvSpPr>
            <p:spPr>
              <a:xfrm>
                <a:off x="443741" y="3965873"/>
                <a:ext cx="11571050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level of significance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df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=13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, there is sufficient evidence to conclude that Type 1 bulbs are superior to Type 2 bulbs.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364858-639C-34FA-4A7C-6DDF7AF8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41" y="3965873"/>
                <a:ext cx="11571050" cy="1161152"/>
              </a:xfrm>
              <a:prstGeom prst="rect">
                <a:avLst/>
              </a:prstGeom>
              <a:blipFill>
                <a:blip r:embed="rId6"/>
                <a:stretch>
                  <a:fillRect l="-1106" r="-1054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9">
            <a:extLst>
              <a:ext uri="{FF2B5EF4-FFF2-40B4-BE49-F238E27FC236}">
                <a16:creationId xmlns:a16="http://schemas.microsoft.com/office/drawing/2014/main" id="{DBB42F6A-E85B-AED5-A3E9-4CF0BCC2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10 (Continue)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328EE5-114E-0A4F-061C-9D7D4A4AA0F7}"/>
              </a:ext>
            </a:extLst>
          </p:cNvPr>
          <p:cNvSpPr/>
          <p:nvPr/>
        </p:nvSpPr>
        <p:spPr>
          <a:xfrm>
            <a:off x="142994" y="89359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030F37-12F6-5383-877F-13C7754A7092}"/>
                  </a:ext>
                </a:extLst>
              </p:cNvPr>
              <p:cNvSpPr txBox="1"/>
              <p:nvPr/>
            </p:nvSpPr>
            <p:spPr>
              <a:xfrm>
                <a:off x="2230581" y="865863"/>
                <a:ext cx="368375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13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1.7709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030F37-12F6-5383-877F-13C7754A7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581" y="865863"/>
                <a:ext cx="3683757" cy="5786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62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8" grpId="0" animBg="1"/>
      <p:bldP spid="21" grpId="0"/>
      <p:bldP spid="24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64C4-9AA6-51F3-DC2D-55FCBEE1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FD2D-C0A4-96BA-4735-17CE133F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6</a:t>
            </a:r>
            <a:br>
              <a:rPr lang="en-US" dirty="0"/>
            </a:br>
            <a:r>
              <a:rPr lang="en-US" dirty="0"/>
              <a:t>F – Test for Equality of Two Population Variances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75084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33C3-B7D1-85F9-0BF8-011A735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E210-0BDC-FF6D-9BFC-39FBCBBA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55C03-3AD7-BCC4-2BBA-9BC5FF0C7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86810"/>
            <a:ext cx="11929641" cy="5667200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F-Test is a statistical test used to compare two population variances using the ratio of sample variances.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In simple words: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It checks whether two datasets have same consistency (spread)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Not about average (mean), but about variation</a:t>
            </a:r>
          </a:p>
          <a:p>
            <a:pPr>
              <a:lnSpc>
                <a:spcPct val="145000"/>
              </a:lnSpc>
            </a:pPr>
            <a:r>
              <a:rPr lang="en-US" dirty="0"/>
              <a:t>Example 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Two classes may have same average marks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But one class may be more consistent</a:t>
            </a:r>
          </a:p>
          <a:p>
            <a:pPr>
              <a:lnSpc>
                <a:spcPct val="145000"/>
              </a:lnSpc>
            </a:pPr>
            <a:r>
              <a:rPr lang="en-US" dirty="0"/>
              <a:t>F-test tells: Are they equally consistent or not?</a:t>
            </a:r>
          </a:p>
        </p:txBody>
      </p:sp>
    </p:spTree>
    <p:extLst>
      <p:ext uri="{BB962C8B-B14F-4D97-AF65-F5344CB8AC3E}">
        <p14:creationId xmlns:p14="http://schemas.microsoft.com/office/powerpoint/2010/main" val="241935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4BE8-4586-83DC-623F-649B9CE9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1338-0CED-CFE6-00DD-AE54AA40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37F1E-5F83-FBB6-CE0C-17D5D55E9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F-test uses the F-distribution to test whether two population variances are equal by comparing the ratio of sample variances.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F-distribution is a probability distribution of the ratio:</a:t>
                </a:r>
              </a:p>
              <a:p>
                <a:pPr marL="0" lvl="0" indent="0" algn="ctr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pPr algn="l">
                  <a:lnSpc>
                    <a:spcPct val="145000"/>
                  </a:lnSpc>
                </a:pPr>
                <a:r>
                  <a:rPr lang="en-US" dirty="0"/>
                  <a:t>It was developed by Ronald A. Fisher.</a:t>
                </a:r>
              </a:p>
              <a:p>
                <a:pPr algn="l">
                  <a:lnSpc>
                    <a:spcPct val="145000"/>
                  </a:lnSpc>
                </a:pPr>
                <a:r>
                  <a:rPr lang="en-US" dirty="0"/>
                  <a:t>Variance measures spread, and we want to compare relative spread, not absolute difference.</a:t>
                </a:r>
              </a:p>
              <a:p>
                <a:pPr algn="l">
                  <a:lnSpc>
                    <a:spcPct val="145000"/>
                  </a:lnSpc>
                </a:pPr>
                <a:r>
                  <a:rPr lang="en-US" dirty="0"/>
                  <a:t>The 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dirty="0"/>
                  <a:t> tells us how many times one variance is larger than the other.</a:t>
                </a:r>
              </a:p>
              <a:p>
                <a:pPr algn="l">
                  <a:lnSpc>
                    <a:spcPct val="145000"/>
                  </a:lnSpc>
                </a:pPr>
                <a:endParaRPr lang="en-US" dirty="0"/>
              </a:p>
              <a:p>
                <a:pPr lvl="1" algn="l">
                  <a:lnSpc>
                    <a:spcPct val="145000"/>
                  </a:lnSpc>
                </a:pPr>
                <a:endParaRPr lang="en-US" dirty="0"/>
              </a:p>
              <a:p>
                <a:pPr algn="l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37F1E-5F83-FBB6-CE0C-17D5D55E9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3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00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E8CB-E0CB-0175-F6E6-8C583403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4231A5-47BC-DFC0-B89D-693B0EB157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Why not difference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IN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4231A5-47BC-DFC0-B89D-693B0EB15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"/>
                <a:ext cx="12192000" cy="711200"/>
              </a:xfrm>
              <a:blipFill>
                <a:blip r:embed="rId2"/>
                <a:stretch>
                  <a:fillRect l="-400" t="-6838" b="-213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2D408-7547-B6CC-A28E-792D9C68E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944781"/>
              </a:xfrm>
            </p:spPr>
            <p:txBody>
              <a:bodyPr/>
              <a:lstStyle/>
              <a:p>
                <a:pPr lvl="0"/>
                <a:r>
                  <a:rPr lang="en-US" dirty="0"/>
                  <a:t>Difference depends on units and scale → not reliable for comparison</a:t>
                </a:r>
              </a:p>
              <a:p>
                <a:pPr lvl="0"/>
                <a:r>
                  <a:rPr lang="en-US" dirty="0"/>
                  <a:t>Ratio is unit-free (dimensionless) → more meaningful</a:t>
                </a:r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dirty="0"/>
                  <a:t>​ does not follow any standard distribution like normal distribution.</a:t>
                </a:r>
              </a:p>
              <a:p>
                <a:pPr lvl="1"/>
                <a:r>
                  <a:rPr lang="en-US" dirty="0"/>
                  <a:t>So, we cannot decide critical values.</a:t>
                </a:r>
              </a:p>
              <a:p>
                <a:pPr lvl="0"/>
                <a:r>
                  <a:rPr lang="en-US" dirty="0"/>
                  <a:t>Ratio follows F-distribution, which allows hypothesis testing.</a:t>
                </a:r>
              </a:p>
              <a:p>
                <a:pPr marL="0" lvl="0" indent="0" algn="ctr">
                  <a:buNone/>
                </a:pPr>
                <a:r>
                  <a:rPr lang="en-US" b="1" dirty="0"/>
                  <a:t>We use difference when its distribution is known (means), but for variances only ratio gives a standard distribution (F), so we use ratio instead of difference.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2D408-7547-B6CC-A28E-792D9C68E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944781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97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E010-5176-CF58-3BC0-21D5388E3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952B-D27E-CC6A-07A9-AE5DF31D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75786D-4217-129C-32F4-C3F4204385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</a:t>
                </a:r>
                <a:r>
                  <a:rPr lang="en-US" b="1" dirty="0"/>
                  <a:t>two</a:t>
                </a:r>
                <a:r>
                  <a:rPr lang="en-US" dirty="0"/>
                  <a:t> </a:t>
                </a:r>
                <a:r>
                  <a:rPr lang="en-US" b="1" dirty="0"/>
                  <a:t>Samples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of</a:t>
                </a:r>
                <a:r>
                  <a:rPr lang="en-US" b="1" dirty="0"/>
                  <a:t> 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of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of </a:t>
                </a:r>
                <a:r>
                  <a:rPr lang="en-US" b="1" dirty="0"/>
                  <a:t>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standard deviation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</a:t>
                </a:r>
                <a:r>
                  <a:rPr lang="en-US" b="1" dirty="0"/>
                  <a:t>population standard deviations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using unbiased estimates of SDs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case,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Degree of freedom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df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75786D-4217-129C-32F4-C3F420438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 b="-31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92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315C0-1378-ABD5-D638-8F17C061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C9BA-6664-5C93-8E3A-27ECF4D3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F-Test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6FC63-CC9F-C387-D38F-9365C4D53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94865"/>
                <a:ext cx="12060819" cy="742332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6FC63-CC9F-C387-D38F-9365C4D53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94865"/>
                <a:ext cx="12060819" cy="742332"/>
              </a:xfrm>
              <a:blipFill>
                <a:blip r:embed="rId2"/>
                <a:stretch>
                  <a:fillRect l="-961" b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CB1788-8AFF-A7FE-8E1E-5A4A12DFB102}"/>
                  </a:ext>
                </a:extLst>
              </p:cNvPr>
              <p:cNvSpPr txBox="1"/>
              <p:nvPr/>
            </p:nvSpPr>
            <p:spPr>
              <a:xfrm>
                <a:off x="309086" y="1646201"/>
                <a:ext cx="2391727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CB1788-8AFF-A7FE-8E1E-5A4A12DF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" y="1646201"/>
                <a:ext cx="2391727" cy="1027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C3CB93-599E-4EEE-C5A0-7730B066BED6}"/>
                  </a:ext>
                </a:extLst>
              </p:cNvPr>
              <p:cNvSpPr txBox="1"/>
              <p:nvPr/>
            </p:nvSpPr>
            <p:spPr>
              <a:xfrm>
                <a:off x="309086" y="3878127"/>
                <a:ext cx="2391727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C3CB93-599E-4EEE-C5A0-7730B066B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" y="3878127"/>
                <a:ext cx="2391727" cy="1027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87A955-6D13-5761-EF13-8CC0B245BE8D}"/>
                  </a:ext>
                </a:extLst>
              </p:cNvPr>
              <p:cNvSpPr txBox="1"/>
              <p:nvPr/>
            </p:nvSpPr>
            <p:spPr>
              <a:xfrm>
                <a:off x="3988706" y="1317248"/>
                <a:ext cx="5156623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87A955-6D13-5761-EF13-8CC0B245B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06" y="1317248"/>
                <a:ext cx="5156623" cy="17686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7AE1403-3153-4ED7-5610-1F18D4631504}"/>
              </a:ext>
            </a:extLst>
          </p:cNvPr>
          <p:cNvSpPr txBox="1"/>
          <p:nvPr/>
        </p:nvSpPr>
        <p:spPr>
          <a:xfrm>
            <a:off x="2948576" y="1939951"/>
            <a:ext cx="128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+mj-lt"/>
              </a:rPr>
              <a:t>where,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0A70B-3596-BBE4-7202-2A7A6B890F8A}"/>
                  </a:ext>
                </a:extLst>
              </p:cNvPr>
              <p:cNvSpPr txBox="1"/>
              <p:nvPr/>
            </p:nvSpPr>
            <p:spPr>
              <a:xfrm>
                <a:off x="3988706" y="3507512"/>
                <a:ext cx="5156624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0A70B-3596-BBE4-7202-2A7A6B890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06" y="3507512"/>
                <a:ext cx="5156624" cy="1768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C35AB10-1AAB-DF30-61C2-6A67E08E5D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3052131"/>
                <a:ext cx="12060819" cy="742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C35AB10-1AAB-DF30-61C2-6A67E08E5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3052131"/>
                <a:ext cx="12060819" cy="742332"/>
              </a:xfrm>
              <a:prstGeom prst="rect">
                <a:avLst/>
              </a:prstGeom>
              <a:blipFill>
                <a:blip r:embed="rId7"/>
                <a:stretch>
                  <a:fillRect l="-961" b="-107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C21B0D-FF28-52C2-5ED7-DBF4345119D7}"/>
              </a:ext>
            </a:extLst>
          </p:cNvPr>
          <p:cNvSpPr txBox="1">
            <a:spLocks/>
          </p:cNvSpPr>
          <p:nvPr/>
        </p:nvSpPr>
        <p:spPr>
          <a:xfrm>
            <a:off x="131181" y="5360353"/>
            <a:ext cx="12060819" cy="742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IN" b="1" dirty="0"/>
              <a:t>Note :</a:t>
            </a:r>
            <a:r>
              <a:rPr lang="en-IN" dirty="0"/>
              <a:t> </a:t>
            </a:r>
            <a:r>
              <a:rPr lang="en-US" dirty="0"/>
              <a:t>Always put the larger variance in the numerator.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5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9" grpId="0"/>
      <p:bldP spid="12" grpId="0"/>
      <p:bldP spid="14" grpId="0"/>
      <p:bldP spid="16" grpId="0"/>
      <p:bldP spid="4" grpId="0" uiExpand="1" build="p"/>
      <p:bldP spid="6" grpId="0" uiExpand="1" build="p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0D1B-A69B-7C1A-C138-392641D8E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D6BC-1075-DF7D-36A2-CB852D9B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Region in F-Test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7BA8C77-EB73-F335-0790-5AB6B3232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6609861" cy="5774659"/>
              </a:xfrm>
            </p:spPr>
            <p:txBody>
              <a:bodyPr/>
              <a:lstStyle/>
              <a:p>
                <a:r>
                  <a:rPr lang="en-US" dirty="0"/>
                  <a:t>F – distribution is:</a:t>
                </a:r>
              </a:p>
              <a:p>
                <a:pPr lvl="1"/>
                <a:r>
                  <a:rPr lang="en-US" dirty="0"/>
                  <a:t>Always positive</a:t>
                </a:r>
              </a:p>
              <a:p>
                <a:pPr lvl="1"/>
                <a:r>
                  <a:rPr lang="en-US" dirty="0"/>
                  <a:t>Right-skewed</a:t>
                </a:r>
              </a:p>
              <a:p>
                <a:r>
                  <a:rPr lang="en-US" dirty="0"/>
                  <a:t>So, rejection usually happens in the right tail.</a:t>
                </a:r>
              </a:p>
              <a:p>
                <a:r>
                  <a:rPr lang="en-US" b="1" dirty="0"/>
                  <a:t>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	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𝐝𝐟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IN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𝐝𝐟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tabulated critical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dirty="0"/>
                  <a:t> corresponding to significance level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and given degrees of freedom, used to define the rejection region.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7BA8C77-EB73-F335-0790-5AB6B3232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6609861" cy="5774659"/>
              </a:xfrm>
              <a:blipFill>
                <a:blip r:embed="rId2"/>
                <a:stretch>
                  <a:fillRect l="-1753" r="-1845" b="-31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5574C02-E580-C21D-75EE-A3FBC627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221" y="849424"/>
            <a:ext cx="5224085" cy="34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3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A7CD-148D-592D-9F61-8867ACA4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85F6-C035-8D63-163B-0AFA3F0C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876D-2419-B968-A72C-B89965EB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94864"/>
            <a:ext cx="12060819" cy="5590565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Relationship between </a:t>
            </a:r>
            <a:r>
              <a:rPr lang="en-US" b="1" dirty="0"/>
              <a:t>sample SD</a:t>
            </a:r>
            <a:r>
              <a:rPr lang="en-US" dirty="0"/>
              <a:t> “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” &amp; </a:t>
            </a:r>
            <a:r>
              <a:rPr lang="en-US" b="1" dirty="0"/>
              <a:t>estimates of SD</a:t>
            </a:r>
            <a:r>
              <a:rPr lang="en-US" dirty="0"/>
              <a:t> “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” is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D11F33-FD83-7F22-A63A-EAB0D8A6F940}"/>
                  </a:ext>
                </a:extLst>
              </p:cNvPr>
              <p:cNvSpPr txBox="1"/>
              <p:nvPr/>
            </p:nvSpPr>
            <p:spPr>
              <a:xfrm>
                <a:off x="1345142" y="1747293"/>
                <a:ext cx="36135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D11F33-FD83-7F22-A63A-EAB0D8A6F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142" y="1747293"/>
                <a:ext cx="361357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2430B4-726C-10FB-BBA6-5153690C5F41}"/>
                  </a:ext>
                </a:extLst>
              </p:cNvPr>
              <p:cNvSpPr txBox="1"/>
              <p:nvPr/>
            </p:nvSpPr>
            <p:spPr>
              <a:xfrm>
                <a:off x="1436582" y="2426951"/>
                <a:ext cx="2596727" cy="95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2430B4-726C-10FB-BBA6-5153690C5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82" y="2426951"/>
                <a:ext cx="2596727" cy="954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A9BBD-9C51-CB47-54C2-6364E1143751}"/>
                  </a:ext>
                </a:extLst>
              </p:cNvPr>
              <p:cNvSpPr txBox="1"/>
              <p:nvPr/>
            </p:nvSpPr>
            <p:spPr>
              <a:xfrm>
                <a:off x="514350" y="3463290"/>
                <a:ext cx="7155180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;     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A9BBD-9C51-CB47-54C2-6364E1143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3463290"/>
                <a:ext cx="7155180" cy="1034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  <p:bldP spid="1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84E8-C3BF-0A2B-FF8B-A861D1C1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1784498-EED4-032F-F801-F8BDB05F48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4691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laboratory experiment two samples gave the following results: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Test the equality of sample variances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significance.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11, 9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=3.10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1784498-EED4-032F-F801-F8BDB05F4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469131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EF2A9B8-74CA-518D-262B-22AB1920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45D38F4-7518-5F14-65E5-35192654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9419403"/>
                  </p:ext>
                </p:extLst>
              </p:nvPr>
            </p:nvGraphicFramePr>
            <p:xfrm>
              <a:off x="1001153" y="165211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45D38F4-7518-5F14-65E5-35192654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9419403"/>
                  </p:ext>
                </p:extLst>
              </p:nvPr>
            </p:nvGraphicFramePr>
            <p:xfrm>
              <a:off x="1001153" y="165211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102586" r="-206912" b="-11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102586" r="-93118" b="-11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102586" r="-464" b="-1120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200855" r="-20691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200855" r="-93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200855" r="-464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629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9286-48BF-987A-2101-5A2EEFAC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E9AD-0CDD-87FF-2605-D47580DD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F4B13-7702-EA96-AE6C-830E56943DF5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EED61-5306-599C-8889-58091B8D03D3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6AC7EF-03A0-0BB7-046B-E59710E988DB}"/>
                  </a:ext>
                </a:extLst>
              </p:cNvPr>
              <p:cNvSpPr/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6AC7EF-03A0-0BB7-046B-E59710E988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468C19C4-2747-A689-4369-6D410F40687D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9D12B60-6129-2F0E-23E9-DDCC8AEC15DA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9D12B60-6129-2F0E-23E9-DDCC8AEC1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B5F7A3-C730-8937-6372-486B6866771D}"/>
                  </a:ext>
                </a:extLst>
              </p:cNvPr>
              <p:cNvSpPr txBox="1"/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B5F7A3-C730-8937-6372-486B68667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FDD7C-9450-94AD-1B7E-787F3094E2E1}"/>
                  </a:ext>
                </a:extLst>
              </p:cNvPr>
              <p:cNvSpPr txBox="1"/>
              <p:nvPr/>
            </p:nvSpPr>
            <p:spPr>
              <a:xfrm>
                <a:off x="269930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FDD7C-9450-94AD-1B7E-787F3094E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30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6BA16C-0939-3DD6-646A-1388F11A6EDC}"/>
                  </a:ext>
                </a:extLst>
              </p:cNvPr>
              <p:cNvSpPr/>
              <p:nvPr/>
            </p:nvSpPr>
            <p:spPr>
              <a:xfrm>
                <a:off x="-68082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6BA16C-0939-3DD6-646A-1388F11A6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082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9277-99D4-0F10-67D9-1231F47C388F}"/>
                  </a:ext>
                </a:extLst>
              </p:cNvPr>
              <p:cNvSpPr/>
              <p:nvPr/>
            </p:nvSpPr>
            <p:spPr>
              <a:xfrm>
                <a:off x="2740244" y="3568059"/>
                <a:ext cx="2382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9277-99D4-0F10-67D9-1231F47C3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244" y="3568059"/>
                <a:ext cx="23822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FC0408B-C390-B3CD-1218-E488F6C69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594604"/>
                  </p:ext>
                </p:extLst>
              </p:nvPr>
            </p:nvGraphicFramePr>
            <p:xfrm>
              <a:off x="6556177" y="862371"/>
              <a:ext cx="5543556" cy="2005032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134763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436433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543432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428928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FC0408B-C390-B3CD-1218-E488F6C69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594604"/>
                  </p:ext>
                </p:extLst>
              </p:nvPr>
            </p:nvGraphicFramePr>
            <p:xfrm>
              <a:off x="6556177" y="862371"/>
              <a:ext cx="5543556" cy="2005032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134763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436433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543432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428928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9237" t="-127184" r="-207627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7194" t="-127184" r="-93676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87660" t="-127184" r="-851" b="-102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9237" t="-229412" r="-207627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7194" t="-229412" r="-93676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87660" t="-229412" r="-851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/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/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5DED57-7F27-A025-A39F-CB1F38E4A424}"/>
                  </a:ext>
                </a:extLst>
              </p:cNvPr>
              <p:cNvSpPr txBox="1"/>
              <p:nvPr/>
            </p:nvSpPr>
            <p:spPr>
              <a:xfrm>
                <a:off x="2522007" y="4326139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5DED57-7F27-A025-A39F-CB1F38E4A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07" y="4326139"/>
                <a:ext cx="2116354" cy="899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E5D60E-97C7-2550-ADD8-BD49A07073DD}"/>
                  </a:ext>
                </a:extLst>
              </p:cNvPr>
              <p:cNvSpPr txBox="1"/>
              <p:nvPr/>
            </p:nvSpPr>
            <p:spPr>
              <a:xfrm>
                <a:off x="4392609" y="4546382"/>
                <a:ext cx="1275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E5D60E-97C7-2550-ADD8-BD49A0707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609" y="4546382"/>
                <a:ext cx="12756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368BD-B952-E507-34C0-1091997D68AA}"/>
                  </a:ext>
                </a:extLst>
              </p:cNvPr>
              <p:cNvSpPr txBox="1"/>
              <p:nvPr/>
            </p:nvSpPr>
            <p:spPr>
              <a:xfrm>
                <a:off x="2551611" y="5499193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368BD-B952-E507-34C0-1091997D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11" y="5499193"/>
                <a:ext cx="2116354" cy="899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26ECA6-EAFC-5BA1-5A95-CF8EC4DA4106}"/>
                  </a:ext>
                </a:extLst>
              </p:cNvPr>
              <p:cNvSpPr txBox="1"/>
              <p:nvPr/>
            </p:nvSpPr>
            <p:spPr>
              <a:xfrm>
                <a:off x="4527816" y="5700140"/>
                <a:ext cx="19694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117.8182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26ECA6-EAFC-5BA1-5A95-CF8EC4DA4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16" y="5700140"/>
                <a:ext cx="196940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76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5" grpId="0"/>
      <p:bldP spid="10" grpId="0"/>
      <p:bldP spid="12" grpId="0"/>
      <p:bldP spid="13" grpId="0"/>
      <p:bldP spid="14" grpId="0"/>
      <p:bldP spid="15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148F-666B-9020-4771-5F920447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03CA-D2BB-8002-2E7A-73A974B5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/>
              <p:nvPr/>
            </p:nvSpPr>
            <p:spPr>
              <a:xfrm>
                <a:off x="964598" y="870751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598" y="870751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/>
              <p:nvPr/>
            </p:nvSpPr>
            <p:spPr>
              <a:xfrm>
                <a:off x="282006" y="236125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06" y="2361259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/>
              <p:nvPr/>
            </p:nvSpPr>
            <p:spPr>
              <a:xfrm>
                <a:off x="282006" y="160500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06" y="1605003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0BD732-08E8-72A0-878D-8EF68E1CECF8}"/>
                  </a:ext>
                </a:extLst>
              </p:cNvPr>
              <p:cNvSpPr txBox="1"/>
              <p:nvPr/>
            </p:nvSpPr>
            <p:spPr>
              <a:xfrm>
                <a:off x="-144095" y="2917378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0BD732-08E8-72A0-878D-8EF68E1CE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095" y="2917378"/>
                <a:ext cx="4625962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/>
              <p:nvPr/>
            </p:nvSpPr>
            <p:spPr>
              <a:xfrm>
                <a:off x="980526" y="1591065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26" y="1591065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791E8C1-6974-C941-4B6D-D0ECBE881A21}"/>
              </a:ext>
            </a:extLst>
          </p:cNvPr>
          <p:cNvSpPr txBox="1"/>
          <p:nvPr/>
        </p:nvSpPr>
        <p:spPr>
          <a:xfrm>
            <a:off x="2829310" y="879701"/>
            <a:ext cx="6853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[ i.e., The variances of the two populations are equal ]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D9C23-AA1B-CA68-7580-37B872045496}"/>
              </a:ext>
            </a:extLst>
          </p:cNvPr>
          <p:cNvSpPr txBox="1"/>
          <p:nvPr/>
        </p:nvSpPr>
        <p:spPr>
          <a:xfrm>
            <a:off x="2864071" y="1583711"/>
            <a:ext cx="8500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[ i.e., The variances of the two populations are not equal ] </a:t>
            </a:r>
            <a:endParaRPr lang="en-IN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7B7969-2F47-D378-C577-93D22B3B7C21}"/>
                  </a:ext>
                </a:extLst>
              </p:cNvPr>
              <p:cNvSpPr txBox="1"/>
              <p:nvPr/>
            </p:nvSpPr>
            <p:spPr>
              <a:xfrm>
                <a:off x="824550" y="3867533"/>
                <a:ext cx="34129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0−1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7B7969-2F47-D378-C577-93D22B3B7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50" y="3867533"/>
                <a:ext cx="34129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B1E898-A174-CF0B-BCA1-C1377F20CD1B}"/>
                  </a:ext>
                </a:extLst>
              </p:cNvPr>
              <p:cNvSpPr txBox="1"/>
              <p:nvPr/>
            </p:nvSpPr>
            <p:spPr>
              <a:xfrm>
                <a:off x="824549" y="4623789"/>
                <a:ext cx="34129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11 ,9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B1E898-A174-CF0B-BCA1-C1377F20C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49" y="4623789"/>
                <a:ext cx="341296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90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3" grpId="0"/>
      <p:bldP spid="4" grpId="0"/>
      <p:bldP spid="6" grpId="0"/>
      <p:bldP spid="11" grpId="0"/>
      <p:bldP spid="5" grpId="0"/>
      <p:bldP spid="7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B42E-41F1-1DF1-18AF-E8C30C4D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0933-3F68-980B-290E-EB907856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4DBC34D-3022-0107-D862-6223AF38E619}"/>
                  </a:ext>
                </a:extLst>
              </p:cNvPr>
              <p:cNvSpPr/>
              <p:nvPr/>
            </p:nvSpPr>
            <p:spPr>
              <a:xfrm>
                <a:off x="106296" y="81623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4DBC34D-3022-0107-D862-6223AF38E6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6" y="816235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A78A3D6-1B6B-EC70-4E5F-C64A2FBA0558}"/>
                  </a:ext>
                </a:extLst>
              </p:cNvPr>
              <p:cNvSpPr txBox="1"/>
              <p:nvPr/>
            </p:nvSpPr>
            <p:spPr>
              <a:xfrm>
                <a:off x="958982" y="1245731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A78A3D6-1B6B-EC70-4E5F-C64A2FBA0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82" y="1245731"/>
                <a:ext cx="2428875" cy="1027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0DD4C5B-C2DE-411A-2653-1E19393B22C9}"/>
                  </a:ext>
                </a:extLst>
              </p:cNvPr>
              <p:cNvSpPr txBox="1"/>
              <p:nvPr/>
            </p:nvSpPr>
            <p:spPr>
              <a:xfrm>
                <a:off x="2973068" y="1309850"/>
                <a:ext cx="2346242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17.8182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0DD4C5B-C2DE-411A-2653-1E19393B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068" y="1309850"/>
                <a:ext cx="2346242" cy="899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9B47A-6A01-4CE4-5255-F9B3B8C67B39}"/>
                  </a:ext>
                </a:extLst>
              </p:cNvPr>
              <p:cNvSpPr txBox="1"/>
              <p:nvPr/>
            </p:nvSpPr>
            <p:spPr>
              <a:xfrm>
                <a:off x="4949876" y="1542703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=1.178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9B47A-6A01-4CE4-5255-F9B3B8C6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876" y="1542703"/>
                <a:ext cx="19173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0422D92-180A-9F86-FA6E-8F7D0C9744EE}"/>
                  </a:ext>
                </a:extLst>
              </p:cNvPr>
              <p:cNvSpPr txBox="1"/>
              <p:nvPr/>
            </p:nvSpPr>
            <p:spPr>
              <a:xfrm>
                <a:off x="3729201" y="3293450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0422D92-180A-9F86-FA6E-8F7D0C974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01" y="3293450"/>
                <a:ext cx="5743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F53CE8-CCE5-F4B9-4677-2B075D8BFF4A}"/>
                  </a:ext>
                </a:extLst>
              </p:cNvPr>
              <p:cNvSpPr txBox="1"/>
              <p:nvPr/>
            </p:nvSpPr>
            <p:spPr>
              <a:xfrm>
                <a:off x="4253038" y="3302706"/>
                <a:ext cx="3273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11, 9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=3.10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F53CE8-CCE5-F4B9-4677-2B075D8BF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038" y="3302706"/>
                <a:ext cx="327353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4BA4CEAB-3403-A785-0233-975BCF775250}"/>
              </a:ext>
            </a:extLst>
          </p:cNvPr>
          <p:cNvSpPr/>
          <p:nvPr/>
        </p:nvSpPr>
        <p:spPr>
          <a:xfrm>
            <a:off x="106296" y="329345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6CE1F0-2E79-EE79-7617-07AADCCCFFE4}"/>
                  </a:ext>
                </a:extLst>
              </p:cNvPr>
              <p:cNvSpPr txBox="1"/>
              <p:nvPr/>
            </p:nvSpPr>
            <p:spPr>
              <a:xfrm>
                <a:off x="1884276" y="3927324"/>
                <a:ext cx="2868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6CE1F0-2E79-EE79-7617-07AADCCCF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76" y="3927324"/>
                <a:ext cx="2868477" cy="523220"/>
              </a:xfrm>
              <a:prstGeom prst="rect">
                <a:avLst/>
              </a:prstGeom>
              <a:blipFill>
                <a:blip r:embed="rId8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39D8231-6FCD-A335-78CF-FB3504829AD3}"/>
                  </a:ext>
                </a:extLst>
              </p:cNvPr>
              <p:cNvSpPr txBox="1"/>
              <p:nvPr/>
            </p:nvSpPr>
            <p:spPr>
              <a:xfrm>
                <a:off x="1884276" y="4657428"/>
                <a:ext cx="10024191" cy="172130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level of significance, there is no significant difference between the variances. Hence, the population variances can be considered equal.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39D8231-6FCD-A335-78CF-FB3504829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76" y="4657428"/>
                <a:ext cx="10024191" cy="1721305"/>
              </a:xfrm>
              <a:prstGeom prst="rect">
                <a:avLst/>
              </a:prstGeom>
              <a:blipFill>
                <a:blip r:embed="rId9"/>
                <a:stretch>
                  <a:fillRect l="-1217" r="-1277" b="-9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6AB348E-CF86-90C0-2D90-B634E3653FBA}"/>
              </a:ext>
            </a:extLst>
          </p:cNvPr>
          <p:cNvSpPr/>
          <p:nvPr/>
        </p:nvSpPr>
        <p:spPr>
          <a:xfrm>
            <a:off x="106296" y="250856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993A7C-2F6B-2CE1-A17A-179D109E09AB}"/>
                  </a:ext>
                </a:extLst>
              </p:cNvPr>
              <p:cNvSpPr txBox="1"/>
              <p:nvPr/>
            </p:nvSpPr>
            <p:spPr>
              <a:xfrm>
                <a:off x="2224810" y="2502924"/>
                <a:ext cx="36837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11, 9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993A7C-2F6B-2CE1-A17A-179D109E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810" y="2502924"/>
                <a:ext cx="36837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AB771D-2F05-4CB7-E183-21B14C7E4352}"/>
                  </a:ext>
                </a:extLst>
              </p:cNvPr>
              <p:cNvSpPr txBox="1"/>
              <p:nvPr/>
            </p:nvSpPr>
            <p:spPr>
              <a:xfrm>
                <a:off x="1884276" y="3301871"/>
                <a:ext cx="22275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=1.1782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AB771D-2F05-4CB7-E183-21B14C7E4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76" y="3301871"/>
                <a:ext cx="222754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77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7" grpId="0"/>
      <p:bldP spid="48" grpId="0"/>
      <p:bldP spid="50" grpId="0"/>
      <p:bldP spid="51" grpId="0"/>
      <p:bldP spid="52" grpId="0"/>
      <p:bldP spid="53" grpId="0" animBg="1"/>
      <p:bldP spid="3" grpId="0"/>
      <p:bldP spid="5" grpId="0"/>
      <p:bldP spid="7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BD97-1178-A846-B844-581578D5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C90F11A-A08D-1037-D0D3-673713F31D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6977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time taken by workers in performing a job by method I and method II is given below. </a:t>
                </a:r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Do the data show that the variances of time distribution in a population from which these samples are drawn do not differ significantly?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6, 4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=6.16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C90F11A-A08D-1037-D0D3-673713F31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697731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84A3C8F-FBAA-F894-7912-8DA7359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4B6D0A1-076D-6102-8438-5F7B45DC6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1630319"/>
                  </p:ext>
                </p:extLst>
              </p:nvPr>
            </p:nvGraphicFramePr>
            <p:xfrm>
              <a:off x="1029519" y="2091779"/>
              <a:ext cx="101329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480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24587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37254278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Method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Method 2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4B6D0A1-076D-6102-8438-5F7B45DC6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1630319"/>
                  </p:ext>
                </p:extLst>
              </p:nvPr>
            </p:nvGraphicFramePr>
            <p:xfrm>
              <a:off x="1029519" y="2091779"/>
              <a:ext cx="101329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480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24587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37254278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Method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709" t="-840" r="-549515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547" t="-840" r="-457635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1765" t="-840" r="-355392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064" t="-840" r="-28563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1064" t="-840" r="-18563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222" t="-840" r="-108982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000" t="-840" r="-1111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Method 2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709" t="-101695" r="-549515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547" t="-101695" r="-457635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1765" t="-101695" r="-355392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064" t="-101695" r="-285638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1064" t="-101695" r="-185638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222" t="-101695" r="-108982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000" t="-101695" r="-1111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199564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B8E2-D0EF-AE19-B544-F714994B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B379-337C-EC78-C813-E84E8D91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C84AB-C2E1-C740-0BB8-DAADDF6F6F99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A3FB0-58DA-5BDF-9FCB-E6BCAB170207}"/>
              </a:ext>
            </a:extLst>
          </p:cNvPr>
          <p:cNvSpPr/>
          <p:nvPr/>
        </p:nvSpPr>
        <p:spPr>
          <a:xfrm>
            <a:off x="203649" y="169497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Method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DB9F7DD-6F52-A715-E131-6C22F1473B35}"/>
                  </a:ext>
                </a:extLst>
              </p:cNvPr>
              <p:cNvSpPr/>
              <p:nvPr/>
            </p:nvSpPr>
            <p:spPr>
              <a:xfrm>
                <a:off x="237864" y="238127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DB9F7DD-6F52-A715-E131-6C22F1473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64" y="238127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B509D3FA-AA1F-F066-6D9F-AF9CAFE2841F}"/>
              </a:ext>
            </a:extLst>
          </p:cNvPr>
          <p:cNvSpPr/>
          <p:nvPr/>
        </p:nvSpPr>
        <p:spPr>
          <a:xfrm>
            <a:off x="2517765" y="169471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Method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293268-9E17-E041-D543-DCDF1B645078}"/>
                  </a:ext>
                </a:extLst>
              </p:cNvPr>
              <p:cNvSpPr/>
              <p:nvPr/>
            </p:nvSpPr>
            <p:spPr>
              <a:xfrm>
                <a:off x="2675978" y="232351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293268-9E17-E041-D543-DCDF1B645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978" y="232351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AC917C4-0646-1D74-865B-99A89E38F75E}"/>
                  </a:ext>
                </a:extLst>
              </p:cNvPr>
              <p:cNvSpPr/>
              <p:nvPr/>
            </p:nvSpPr>
            <p:spPr>
              <a:xfrm>
                <a:off x="-104101" y="3073615"/>
                <a:ext cx="2473681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20.2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AC917C4-0646-1D74-865B-99A89E38F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101" y="3073615"/>
                <a:ext cx="2473681" cy="551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DEB9A-B916-7C13-191E-24864F505D91}"/>
                  </a:ext>
                </a:extLst>
              </p:cNvPr>
              <p:cNvSpPr/>
              <p:nvPr/>
            </p:nvSpPr>
            <p:spPr>
              <a:xfrm>
                <a:off x="2443335" y="3073615"/>
                <a:ext cx="2807545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22.2857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DEB9A-B916-7C13-191E-24864F505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335" y="3073615"/>
                <a:ext cx="2807545" cy="551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D1FEF8F-4D03-3EF0-C8E6-FA6805ADCE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249618"/>
                  </p:ext>
                </p:extLst>
              </p:nvPr>
            </p:nvGraphicFramePr>
            <p:xfrm>
              <a:off x="4313572" y="744285"/>
              <a:ext cx="7837251" cy="12545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54286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7244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54767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63607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8404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8404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86798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  <a:gridCol w="848681">
                      <a:extLst>
                        <a:ext uri="{9D8B030D-6E8A-4147-A177-3AD203B41FA5}">
                          <a16:colId xmlns:a16="http://schemas.microsoft.com/office/drawing/2014/main" val="372542786"/>
                        </a:ext>
                      </a:extLst>
                    </a:gridCol>
                  </a:tblGrid>
                  <a:tr h="62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Method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Method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D1FEF8F-4D03-3EF0-C8E6-FA6805ADCE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249618"/>
                  </p:ext>
                </p:extLst>
              </p:nvPr>
            </p:nvGraphicFramePr>
            <p:xfrm>
              <a:off x="4313572" y="744285"/>
              <a:ext cx="7837251" cy="12545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54286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7244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54767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63607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8404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8404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86798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  <a:gridCol w="848681">
                      <a:extLst>
                        <a:ext uri="{9D8B030D-6E8A-4147-A177-3AD203B41FA5}">
                          <a16:colId xmlns:a16="http://schemas.microsoft.com/office/drawing/2014/main" val="372542786"/>
                        </a:ext>
                      </a:extLst>
                    </a:gridCol>
                  </a:tblGrid>
                  <a:tr h="62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Method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158750" t="-971" r="-547500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263694" t="-971" r="-457962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361392" t="-971" r="-355063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502759" t="-971" r="-286897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602759" t="-971" r="-186897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783846" t="-971" r="-108462" b="-10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26619" t="-971" r="-1439" b="-1038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7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Method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158750" t="-100971" r="-547500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263694" t="-100971" r="-457962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361392" t="-100971" r="-355063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502759" t="-100971" r="-286897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602759" t="-100971" r="-186897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783846" t="-100971" r="-108462" b="-3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26619" t="-100971" r="-1439" b="-38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4AC9596-4AF7-7DF2-BDD7-076CE1952B13}"/>
                  </a:ext>
                </a:extLst>
              </p:cNvPr>
              <p:cNvSpPr/>
              <p:nvPr/>
            </p:nvSpPr>
            <p:spPr>
              <a:xfrm>
                <a:off x="5382622" y="3011884"/>
                <a:ext cx="51489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[ In calculator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using 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𝐬𝐱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]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4AC9596-4AF7-7DF2-BDD7-076CE1952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622" y="3011884"/>
                <a:ext cx="5148946" cy="830997"/>
              </a:xfrm>
              <a:prstGeom prst="rect">
                <a:avLst/>
              </a:prstGeom>
              <a:blipFill>
                <a:blip r:embed="rId13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57B598-EACD-4BCF-1D45-E61A2C41C421}"/>
                  </a:ext>
                </a:extLst>
              </p:cNvPr>
              <p:cNvSpPr/>
              <p:nvPr/>
            </p:nvSpPr>
            <p:spPr>
              <a:xfrm>
                <a:off x="223548" y="402897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57B598-EACD-4BCF-1D45-E61A2C41C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48" y="4028970"/>
                <a:ext cx="79758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A0BE04-7B0E-7794-2C35-AC915EF5D1B8}"/>
                  </a:ext>
                </a:extLst>
              </p:cNvPr>
              <p:cNvSpPr/>
              <p:nvPr/>
            </p:nvSpPr>
            <p:spPr>
              <a:xfrm>
                <a:off x="922069" y="4015280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A0BE04-7B0E-7794-2C35-AC915EF5D1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69" y="4015280"/>
                <a:ext cx="19207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E48EA1-5DCF-D3B2-3D9A-7990C4725DB5}"/>
                  </a:ext>
                </a:extLst>
              </p:cNvPr>
              <p:cNvSpPr/>
              <p:nvPr/>
            </p:nvSpPr>
            <p:spPr>
              <a:xfrm>
                <a:off x="223548" y="5348790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E48EA1-5DCF-D3B2-3D9A-7990C4725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48" y="5348790"/>
                <a:ext cx="238694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EAEED8-0D62-98BD-8150-35F879BA8E08}"/>
                  </a:ext>
                </a:extLst>
              </p:cNvPr>
              <p:cNvSpPr/>
              <p:nvPr/>
            </p:nvSpPr>
            <p:spPr>
              <a:xfrm>
                <a:off x="223548" y="471174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EAEED8-0D62-98BD-8150-35F879BA8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48" y="4711740"/>
                <a:ext cx="79758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8A02FA-CD20-7BC4-1DFD-866A89CE1E64}"/>
                  </a:ext>
                </a:extLst>
              </p:cNvPr>
              <p:cNvSpPr txBox="1"/>
              <p:nvPr/>
            </p:nvSpPr>
            <p:spPr>
              <a:xfrm>
                <a:off x="-245083" y="5855005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8A02FA-CD20-7BC4-1DFD-866A89CE1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083" y="5855005"/>
                <a:ext cx="4625962" cy="7171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A4605DD-EA58-6BA9-E8BD-5E01D2DCC60F}"/>
                  </a:ext>
                </a:extLst>
              </p:cNvPr>
              <p:cNvSpPr/>
              <p:nvPr/>
            </p:nvSpPr>
            <p:spPr>
              <a:xfrm>
                <a:off x="931503" y="4694628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A4605DD-EA58-6BA9-E8BD-5E01D2DCC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03" y="4694628"/>
                <a:ext cx="192073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2A1A752-C52D-B419-F11D-D1D5842A202F}"/>
              </a:ext>
            </a:extLst>
          </p:cNvPr>
          <p:cNvSpPr txBox="1"/>
          <p:nvPr/>
        </p:nvSpPr>
        <p:spPr>
          <a:xfrm>
            <a:off x="2786778" y="4022825"/>
            <a:ext cx="5388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[ i.e., Data do not differ significantly ]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36A9D9-EF31-8498-8CCC-45004A36B4D1}"/>
              </a:ext>
            </a:extLst>
          </p:cNvPr>
          <p:cNvSpPr txBox="1"/>
          <p:nvPr/>
        </p:nvSpPr>
        <p:spPr>
          <a:xfrm>
            <a:off x="2805614" y="4690448"/>
            <a:ext cx="5198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[ i.e., Data differ significantly ]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C2E2AA-5006-67F4-52C1-5C6050B51F66}"/>
                  </a:ext>
                </a:extLst>
              </p:cNvPr>
              <p:cNvSpPr txBox="1"/>
              <p:nvPr/>
            </p:nvSpPr>
            <p:spPr>
              <a:xfrm>
                <a:off x="3768944" y="5850870"/>
                <a:ext cx="378014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C2E2AA-5006-67F4-52C1-5C6050B51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944" y="5850870"/>
                <a:ext cx="3780142" cy="71711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C801A2-8B3D-2EBA-7467-7E1A27BE5344}"/>
                  </a:ext>
                </a:extLst>
              </p:cNvPr>
              <p:cNvSpPr txBox="1"/>
              <p:nvPr/>
            </p:nvSpPr>
            <p:spPr>
              <a:xfrm>
                <a:off x="6418253" y="5846735"/>
                <a:ext cx="226166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C801A2-8B3D-2EBA-7467-7E1A27BE5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253" y="5846735"/>
                <a:ext cx="2261665" cy="71711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49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9" grpId="0"/>
      <p:bldP spid="30" grpId="0"/>
      <p:bldP spid="3" grpId="0"/>
      <p:bldP spid="11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5" grpId="0"/>
      <p:bldP spid="26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1553-E7CE-22B6-2D83-502FDF93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879D-583F-A457-097C-FEFD15C0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BD4F81-D86E-2DA8-AE14-BE03F07B0214}"/>
                  </a:ext>
                </a:extLst>
              </p:cNvPr>
              <p:cNvSpPr/>
              <p:nvPr/>
            </p:nvSpPr>
            <p:spPr>
              <a:xfrm>
                <a:off x="150703" y="809741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BD4F81-D86E-2DA8-AE14-BE03F07B02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03" y="809741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D58ED3-F7D7-932E-C5C1-C35AE47943EB}"/>
                  </a:ext>
                </a:extLst>
              </p:cNvPr>
              <p:cNvSpPr txBox="1"/>
              <p:nvPr/>
            </p:nvSpPr>
            <p:spPr>
              <a:xfrm>
                <a:off x="871870" y="1251180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D58ED3-F7D7-932E-C5C1-C35AE4794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1251180"/>
                <a:ext cx="2428875" cy="1027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B17995-264A-7541-4010-D6E00310D3E6}"/>
                  </a:ext>
                </a:extLst>
              </p:cNvPr>
              <p:cNvSpPr txBox="1"/>
              <p:nvPr/>
            </p:nvSpPr>
            <p:spPr>
              <a:xfrm>
                <a:off x="3049293" y="1298960"/>
                <a:ext cx="208334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2.2857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B17995-264A-7541-4010-D6E00310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293" y="1298960"/>
                <a:ext cx="2083347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681467-2A95-A943-8394-3E6973318362}"/>
                  </a:ext>
                </a:extLst>
              </p:cNvPr>
              <p:cNvSpPr txBox="1"/>
              <p:nvPr/>
            </p:nvSpPr>
            <p:spPr>
              <a:xfrm>
                <a:off x="4686392" y="1520358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1.1033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681467-2A95-A943-8394-3E697331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92" y="1520358"/>
                <a:ext cx="19173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ACB3AFD-DD84-BF84-D1D2-FF1F0777A76E}"/>
              </a:ext>
            </a:extLst>
          </p:cNvPr>
          <p:cNvSpPr/>
          <p:nvPr/>
        </p:nvSpPr>
        <p:spPr>
          <a:xfrm>
            <a:off x="150703" y="317452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78A06-17A5-40BC-30B8-1A4D58D33334}"/>
                  </a:ext>
                </a:extLst>
              </p:cNvPr>
              <p:cNvSpPr txBox="1"/>
              <p:nvPr/>
            </p:nvSpPr>
            <p:spPr>
              <a:xfrm>
                <a:off x="1958238" y="3937243"/>
                <a:ext cx="2763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78A06-17A5-40BC-30B8-1A4D58D33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238" y="3937243"/>
                <a:ext cx="2763509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A98D1-BCBF-114B-D4D8-7BF62FEC1F73}"/>
                  </a:ext>
                </a:extLst>
              </p:cNvPr>
              <p:cNvSpPr txBox="1"/>
              <p:nvPr/>
            </p:nvSpPr>
            <p:spPr>
              <a:xfrm>
                <a:off x="150703" y="4697618"/>
                <a:ext cx="11819515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level of significance, there is no significant difference between the variances. Hence, the population variances can be considered equal.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A98D1-BCBF-114B-D4D8-7BF62FEC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03" y="4697618"/>
                <a:ext cx="11819515" cy="1161152"/>
              </a:xfrm>
              <a:prstGeom prst="rect">
                <a:avLst/>
              </a:prstGeom>
              <a:blipFill>
                <a:blip r:embed="rId7"/>
                <a:stretch>
                  <a:fillRect l="-1083" r="-1031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84082DF-5909-7769-AA14-2573210D8180}"/>
              </a:ext>
            </a:extLst>
          </p:cNvPr>
          <p:cNvSpPr/>
          <p:nvPr/>
        </p:nvSpPr>
        <p:spPr>
          <a:xfrm>
            <a:off x="150703" y="243657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461A2-9E19-BB38-C340-3A63807223DF}"/>
                  </a:ext>
                </a:extLst>
              </p:cNvPr>
              <p:cNvSpPr txBox="1"/>
              <p:nvPr/>
            </p:nvSpPr>
            <p:spPr>
              <a:xfrm>
                <a:off x="2269217" y="2430928"/>
                <a:ext cx="36837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6, 4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=6.16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461A2-9E19-BB38-C340-3A638072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217" y="2430928"/>
                <a:ext cx="36837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A5B224-5B6F-AE07-CF79-FEB5F41FB3BD}"/>
                  </a:ext>
                </a:extLst>
              </p:cNvPr>
              <p:cNvSpPr txBox="1"/>
              <p:nvPr/>
            </p:nvSpPr>
            <p:spPr>
              <a:xfrm>
                <a:off x="1958239" y="3199289"/>
                <a:ext cx="5802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=1.1033&lt;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6, 4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=6.16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A5B224-5B6F-AE07-CF79-FEB5F41FB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239" y="3199289"/>
                <a:ext cx="580227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31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7" grpId="0"/>
      <p:bldP spid="3" grpId="0"/>
      <p:bldP spid="7" grpId="0"/>
      <p:bldP spid="8" grpId="0" animBg="1"/>
      <p:bldP spid="9" grpId="0"/>
      <p:bldP spid="10" grpId="0"/>
      <p:bldP spid="12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6EB9-9E42-8789-8D2E-43400E26C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DD55BD-A756-B867-2BBD-AD5D083017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5834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Two random samples gave the following data: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conclude that the </a:t>
                </a:r>
                <a:r>
                  <a:rPr lang="en-US" b="1" dirty="0"/>
                  <a:t>two samples have been drawn from the same normal population</a:t>
                </a:r>
                <a:r>
                  <a:rPr lang="en-US" dirty="0"/>
                  <a:t>?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24, 15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=2.29  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0.05, 39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=2.0227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DD55BD-A756-B867-2BBD-AD5D08301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583431"/>
              </a:xfrm>
              <a:prstGeom prst="rect">
                <a:avLst/>
              </a:prstGeom>
              <a:blipFill>
                <a:blip r:embed="rId2"/>
                <a:stretch>
                  <a:fillRect l="-1074" r="-1074" b="-3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DCF61E7-C3C4-F3CE-9D7D-1AD2C2C0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925486A-CC83-2AE8-4B2A-4C546DF9CA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1153" y="168640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5925486A-CC83-2AE8-4B2A-4C546DF9CA5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01153" y="1686400"/>
              <a:ext cx="10189694" cy="213219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85824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264033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2837006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262653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100855" r="-20691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100855" r="-93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100855" r="-46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107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032" t="-200855" r="-20691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97" t="-200855" r="-93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8167" t="-200855" r="-464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396142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F37C-07C4-73F6-3DBE-69B2D142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1037-5E9F-FCE9-8FB5-7ECB5A14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ED1179-03B2-F31E-EF81-07037529F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6051104"/>
              </a:xfrm>
            </p:spPr>
            <p:txBody>
              <a:bodyPr/>
              <a:lstStyle/>
              <a:p>
                <a:r>
                  <a:rPr lang="en-US" dirty="0"/>
                  <a:t>Here, the question asks: </a:t>
                </a:r>
              </a:p>
              <a:p>
                <a:pPr lvl="1"/>
                <a:r>
                  <a:rPr lang="en-US" dirty="0"/>
                  <a:t>Can we say both samples come from the same normal population?</a:t>
                </a:r>
              </a:p>
              <a:p>
                <a:r>
                  <a:rPr lang="en-US" dirty="0"/>
                  <a:t>We know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∼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i.e., a normal distribution has two parameters: </a:t>
                </a:r>
                <a:r>
                  <a:rPr lang="en-US" b="1" dirty="0"/>
                  <a:t>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variance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𝛔</m:t>
                            </m:r>
                          </m:e>
                          <m:sup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So, it is necessary to check whether: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accepted in F-test (for equality of variances), and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accepted in t-test (for equality of means)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accepted in both tests, then we can conclude that both samples are drawn from the same normal population.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ED1179-03B2-F31E-EF81-07037529F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6051104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16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0635-ED5D-70E9-C089-D04381F2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7FCF-5DB1-F149-2AC0-7AFA719D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8 ⇝ </a:t>
            </a:r>
            <a:r>
              <a:rPr lang="en-US" dirty="0"/>
              <a:t>Which test should be performed first?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A2EF58-748D-9ADF-44E5-D854F310D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749"/>
                <a:ext cx="11929641" cy="5994556"/>
              </a:xfrm>
            </p:spPr>
            <p:txBody>
              <a:bodyPr/>
              <a:lstStyle/>
              <a:p>
                <a:r>
                  <a:rPr lang="en-US" dirty="0"/>
                  <a:t>Which test should be performed first?</a:t>
                </a:r>
              </a:p>
              <a:p>
                <a:pPr lvl="1"/>
                <a:r>
                  <a:rPr lang="en-US" dirty="0"/>
                  <a:t>Always perform the F-test first. Because F-test checks the equality of variances.</a:t>
                </a:r>
              </a:p>
              <a:p>
                <a:pPr lvl="1"/>
                <a:r>
                  <a:rPr lang="en-US" dirty="0"/>
                  <a:t>If population variances are equal,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accepted and we can apply the pooled t-test.</a:t>
                </a:r>
              </a:p>
              <a:p>
                <a:pPr lvl="1"/>
                <a:r>
                  <a:rPr lang="en-US" dirty="0"/>
                  <a:t>Since in t-test, we assume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r>
                  <a:rPr lang="en-US" dirty="0"/>
                  <a:t>If in F-test,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​ is rejected</a:t>
                </a:r>
                <a:r>
                  <a:rPr lang="en-US" dirty="0"/>
                  <a:t>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0" smtClean="0">
                        <a:latin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 means variances are different and therefore, t-test is not required.</a:t>
                </a:r>
              </a:p>
              <a:p>
                <a:pPr lvl="1"/>
                <a:r>
                  <a:rPr lang="en-US" dirty="0"/>
                  <a:t>The two samples cannot come from the same normal population.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A2EF58-748D-9ADF-44E5-D854F310D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749"/>
                <a:ext cx="11929641" cy="5994556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72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59B4-D088-95DF-F247-8583C5EA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B7F1-08C6-61B9-FADB-6EF9A3FB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C11F7-5C50-F384-263E-F02426249339}"/>
              </a:ext>
            </a:extLst>
          </p:cNvPr>
          <p:cNvSpPr/>
          <p:nvPr/>
        </p:nvSpPr>
        <p:spPr>
          <a:xfrm>
            <a:off x="92267" y="81524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C3E615-41FC-6FE4-FC76-E06E5516E077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6BA651-A283-32A2-1552-CB6DE6EF6FB4}"/>
                  </a:ext>
                </a:extLst>
              </p:cNvPr>
              <p:cNvSpPr/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6BA651-A283-32A2-1552-CB6DE6EF6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83929CE-0E25-7F97-153C-3F00FF964779}"/>
              </a:ext>
            </a:extLst>
          </p:cNvPr>
          <p:cNvSpPr/>
          <p:nvPr/>
        </p:nvSpPr>
        <p:spPr>
          <a:xfrm>
            <a:off x="3054975" y="1603277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F09F651-0466-7272-B8D9-C3C2AAC2255E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F09F651-0466-7272-B8D9-C3C2AAC225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F567EA-F1CE-20AB-9721-22BA6931AD62}"/>
                  </a:ext>
                </a:extLst>
              </p:cNvPr>
              <p:cNvSpPr txBox="1"/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F567EA-F1CE-20AB-9721-22BA6931A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1F1A9-3ECE-BE72-AAED-FC7BD1ABBBF3}"/>
                  </a:ext>
                </a:extLst>
              </p:cNvPr>
              <p:cNvSpPr txBox="1"/>
              <p:nvPr/>
            </p:nvSpPr>
            <p:spPr>
              <a:xfrm>
                <a:off x="282503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1F1A9-3ECE-BE72-AAED-FC7BD1AB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03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6945F-BD2E-5E4D-5982-0E5CFF099A8E}"/>
                  </a:ext>
                </a:extLst>
              </p:cNvPr>
              <p:cNvSpPr/>
              <p:nvPr/>
            </p:nvSpPr>
            <p:spPr>
              <a:xfrm>
                <a:off x="57648" y="3614515"/>
                <a:ext cx="18790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6945F-BD2E-5E4D-5982-0E5CFF099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8" y="3614515"/>
                <a:ext cx="187901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05DF61-5BA6-A375-570E-426CFF9CBB65}"/>
                  </a:ext>
                </a:extLst>
              </p:cNvPr>
              <p:cNvSpPr/>
              <p:nvPr/>
            </p:nvSpPr>
            <p:spPr>
              <a:xfrm>
                <a:off x="2785964" y="3568059"/>
                <a:ext cx="18790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05DF61-5BA6-A375-570E-426CFF9CB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64" y="3568059"/>
                <a:ext cx="18790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8B4592B-6794-AE7D-4A08-D87D858A9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689483"/>
                  </p:ext>
                </p:extLst>
              </p:nvPr>
            </p:nvGraphicFramePr>
            <p:xfrm>
              <a:off x="5974972" y="798543"/>
              <a:ext cx="6124761" cy="1864548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71902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515952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28875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508032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8B4592B-6794-AE7D-4A08-D87D858A9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4689483"/>
                  </p:ext>
                </p:extLst>
              </p:nvPr>
            </p:nvGraphicFramePr>
            <p:xfrm>
              <a:off x="5974972" y="798543"/>
              <a:ext cx="6124761" cy="1864548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71902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515952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28875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508032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97984" t="-100000" r="-208468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3209" t="-100000" r="-92910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7287" t="-100000" r="-810" b="-102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97984" t="-201961" r="-208468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83209" t="-201961" r="-9291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7287" t="-201961" r="-810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4C05B5-003A-4D85-CE04-D28EEDC04F80}"/>
                  </a:ext>
                </a:extLst>
              </p:cNvPr>
              <p:cNvSpPr txBox="1"/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CB9E2-6EC0-8655-805D-D9619689C4BA}"/>
                  </a:ext>
                </a:extLst>
              </p:cNvPr>
              <p:cNvSpPr txBox="1"/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8C91AA-755C-50D3-5176-C9F29386F68A}"/>
                  </a:ext>
                </a:extLst>
              </p:cNvPr>
              <p:cNvSpPr txBox="1"/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8C91AA-755C-50D3-5176-C9F29386F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D881B2-30DF-ED6D-82E6-A23AB1FB3162}"/>
                  </a:ext>
                </a:extLst>
              </p:cNvPr>
              <p:cNvSpPr txBox="1"/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42.6667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D881B2-30DF-ED6D-82E6-A23AB1FB3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DC16EC-CE6E-6A4F-8ED2-7AF2475C9AF9}"/>
                  </a:ext>
                </a:extLst>
              </p:cNvPr>
              <p:cNvSpPr txBox="1"/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DC16EC-CE6E-6A4F-8ED2-7AF2475C9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E8E7C2-E868-6359-84F9-605280E50398}"/>
                  </a:ext>
                </a:extLst>
              </p:cNvPr>
              <p:cNvSpPr txBox="1"/>
              <p:nvPr/>
            </p:nvSpPr>
            <p:spPr>
              <a:xfrm>
                <a:off x="4439383" y="5738254"/>
                <a:ext cx="1438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E8E7C2-E868-6359-84F9-605280E50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83" y="5738254"/>
                <a:ext cx="143864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E732E4-F554-DFB3-2FFE-09CD64230677}"/>
              </a:ext>
            </a:extLst>
          </p:cNvPr>
          <p:cNvSpPr/>
          <p:nvPr/>
        </p:nvSpPr>
        <p:spPr>
          <a:xfrm>
            <a:off x="1870442" y="811099"/>
            <a:ext cx="14502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F - test</a:t>
            </a:r>
          </a:p>
        </p:txBody>
      </p:sp>
    </p:spTree>
    <p:extLst>
      <p:ext uri="{BB962C8B-B14F-4D97-AF65-F5344CB8AC3E}">
        <p14:creationId xmlns:p14="http://schemas.microsoft.com/office/powerpoint/2010/main" val="196138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5" grpId="0"/>
      <p:bldP spid="10" grpId="0"/>
      <p:bldP spid="12" grpId="0"/>
      <p:bldP spid="13" grpId="0"/>
      <p:bldP spid="14" grpId="0"/>
      <p:bldP spid="15" grpId="0"/>
      <p:bldP spid="4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08DA-0AFF-D3B4-B169-0FF93A5E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68AE-3F6F-B141-4106-A38EDC17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7D47268-A55F-1844-6324-023781C6D566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68B861B-FA16-5941-6C87-9C9C2D069B48}"/>
                  </a:ext>
                </a:extLst>
              </p:cNvPr>
              <p:cNvSpPr/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7667B1-2D9B-BF38-B61F-4F75F69166F2}"/>
                  </a:ext>
                </a:extLst>
              </p:cNvPr>
              <p:cNvSpPr/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01CB276-F1B8-B937-908E-B97106886786}"/>
                  </a:ext>
                </a:extLst>
              </p:cNvPr>
              <p:cNvSpPr/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387974-5433-B323-1F14-FBA9E5941B83}"/>
                  </a:ext>
                </a:extLst>
              </p:cNvPr>
              <p:cNvSpPr/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445AABA-7276-3374-E83D-165470209154}"/>
              </a:ext>
            </a:extLst>
          </p:cNvPr>
          <p:cNvSpPr txBox="1"/>
          <p:nvPr/>
        </p:nvSpPr>
        <p:spPr>
          <a:xfrm>
            <a:off x="2829309" y="879701"/>
            <a:ext cx="7378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[ i.e., The variances of the two populations are equal ]</a:t>
            </a:r>
            <a:endParaRPr lang="en-IN" sz="24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6A209-EC3B-A95A-F6B5-056454295A51}"/>
              </a:ext>
            </a:extLst>
          </p:cNvPr>
          <p:cNvSpPr txBox="1"/>
          <p:nvPr/>
        </p:nvSpPr>
        <p:spPr>
          <a:xfrm>
            <a:off x="2829309" y="1627346"/>
            <a:ext cx="7682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[ i.e., The variances of the two populations are not equal ]</a:t>
            </a:r>
            <a:endParaRPr lang="en-IN" sz="24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24E8A37-0745-6590-3459-F3349CD78A50}"/>
                  </a:ext>
                </a:extLst>
              </p:cNvPr>
              <p:cNvSpPr/>
              <p:nvPr/>
            </p:nvSpPr>
            <p:spPr>
              <a:xfrm>
                <a:off x="266079" y="4365131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24E8A37-0745-6590-3459-F3349CD78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4365131"/>
                <a:ext cx="1318866" cy="523220"/>
              </a:xfrm>
              <a:prstGeom prst="rect">
                <a:avLst/>
              </a:prstGeom>
              <a:blipFill>
                <a:blip r:embed="rId8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E2D72E-4C92-1AFB-1B14-6B1954C2D7BA}"/>
                  </a:ext>
                </a:extLst>
              </p:cNvPr>
              <p:cNvSpPr txBox="1"/>
              <p:nvPr/>
            </p:nvSpPr>
            <p:spPr>
              <a:xfrm>
                <a:off x="282381" y="5030789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E2D72E-4C92-1AFB-1B14-6B1954C2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1" y="5030789"/>
                <a:ext cx="2428875" cy="10273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8FEF82E-2C82-BD45-6311-B70661B55AF4}"/>
                  </a:ext>
                </a:extLst>
              </p:cNvPr>
              <p:cNvSpPr txBox="1"/>
              <p:nvPr/>
            </p:nvSpPr>
            <p:spPr>
              <a:xfrm>
                <a:off x="2332160" y="5078724"/>
                <a:ext cx="2428875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3.75 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2.6667 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8FEF82E-2C82-BD45-6311-B70661B5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160" y="5078724"/>
                <a:ext cx="2428875" cy="910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83EDE85-EA05-8C77-F25D-091241410A9F}"/>
                  </a:ext>
                </a:extLst>
              </p:cNvPr>
              <p:cNvSpPr txBox="1"/>
              <p:nvPr/>
            </p:nvSpPr>
            <p:spPr>
              <a:xfrm>
                <a:off x="4268788" y="5306496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1.0254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83EDE85-EA05-8C77-F25D-091241410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788" y="5306496"/>
                <a:ext cx="19173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76913E-2B0C-E6BA-D84B-05882E3D20CA}"/>
                  </a:ext>
                </a:extLst>
              </p:cNvPr>
              <p:cNvSpPr txBox="1"/>
              <p:nvPr/>
            </p:nvSpPr>
            <p:spPr>
              <a:xfrm>
                <a:off x="286296" y="2895045"/>
                <a:ext cx="40591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76913E-2B0C-E6BA-D84B-05882E3D2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96" y="2895045"/>
                <a:ext cx="405912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595949-FAA7-32EF-C045-EA7E6B6E818B}"/>
                  </a:ext>
                </a:extLst>
              </p:cNvPr>
              <p:cNvSpPr txBox="1"/>
              <p:nvPr/>
            </p:nvSpPr>
            <p:spPr>
              <a:xfrm>
                <a:off x="3791006" y="2895045"/>
                <a:ext cx="34497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595949-FAA7-32EF-C045-EA7E6B6E8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06" y="2895045"/>
                <a:ext cx="344976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D10F9-9A0E-14C9-CD56-784163764E33}"/>
                  </a:ext>
                </a:extLst>
              </p:cNvPr>
              <p:cNvSpPr txBox="1"/>
              <p:nvPr/>
            </p:nvSpPr>
            <p:spPr>
              <a:xfrm>
                <a:off x="3791006" y="3553786"/>
                <a:ext cx="2083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D10F9-9A0E-14C9-CD56-784163764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06" y="3553786"/>
                <a:ext cx="208334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24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" grpId="0"/>
      <p:bldP spid="6" grpId="0"/>
      <p:bldP spid="11" grpId="0"/>
      <p:bldP spid="39" grpId="0"/>
      <p:bldP spid="40" grpId="0"/>
      <p:bldP spid="42" grpId="0"/>
      <p:bldP spid="47" grpId="0"/>
      <p:bldP spid="5" grpId="0"/>
      <p:bldP spid="9" grpId="0"/>
      <p:bldP spid="10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343E-362C-1070-8440-23023AF0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1BB3-A67F-C018-08EE-9AC952EE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195E9A7-1A5C-CDC1-81D7-753FF7C8FBD6}"/>
                  </a:ext>
                </a:extLst>
              </p:cNvPr>
              <p:cNvSpPr txBox="1"/>
              <p:nvPr/>
            </p:nvSpPr>
            <p:spPr>
              <a:xfrm>
                <a:off x="2293308" y="830907"/>
                <a:ext cx="36164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195E9A7-1A5C-CDC1-81D7-753FF7C8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308" y="830907"/>
                <a:ext cx="361643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D576B9B4-3E5D-64C0-ED2A-EA73E6E6C537}"/>
              </a:ext>
            </a:extLst>
          </p:cNvPr>
          <p:cNvSpPr/>
          <p:nvPr/>
        </p:nvSpPr>
        <p:spPr>
          <a:xfrm>
            <a:off x="120847" y="159933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5730D78-229C-DFFB-B4E8-506D7041E4BC}"/>
                  </a:ext>
                </a:extLst>
              </p:cNvPr>
              <p:cNvSpPr txBox="1"/>
              <p:nvPr/>
            </p:nvSpPr>
            <p:spPr>
              <a:xfrm>
                <a:off x="120847" y="3010689"/>
                <a:ext cx="29294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5730D78-229C-DFFB-B4E8-506D7041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7" y="3010689"/>
                <a:ext cx="2929455" cy="523220"/>
              </a:xfrm>
              <a:prstGeom prst="rect">
                <a:avLst/>
              </a:prstGeom>
              <a:blipFill>
                <a:blip r:embed="rId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9258085-4E3E-021C-46E9-B232D0FF1614}"/>
                  </a:ext>
                </a:extLst>
              </p:cNvPr>
              <p:cNvSpPr txBox="1"/>
              <p:nvPr/>
            </p:nvSpPr>
            <p:spPr>
              <a:xfrm>
                <a:off x="120846" y="3716366"/>
                <a:ext cx="11989637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between the variances. 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9258085-4E3E-021C-46E9-B232D0FF1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6" y="3716366"/>
                <a:ext cx="11989637" cy="600998"/>
              </a:xfrm>
              <a:prstGeom prst="rect">
                <a:avLst/>
              </a:prstGeom>
              <a:blipFill>
                <a:blip r:embed="rId4"/>
                <a:stretch>
                  <a:fillRect l="-1068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258E363-B809-354C-6114-73DF6F354D39}"/>
              </a:ext>
            </a:extLst>
          </p:cNvPr>
          <p:cNvSpPr/>
          <p:nvPr/>
        </p:nvSpPr>
        <p:spPr>
          <a:xfrm>
            <a:off x="120847" y="83931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206A0-CD8B-2B84-2D33-875687EB0BEF}"/>
                  </a:ext>
                </a:extLst>
              </p:cNvPr>
              <p:cNvSpPr txBox="1"/>
              <p:nvPr/>
            </p:nvSpPr>
            <p:spPr>
              <a:xfrm>
                <a:off x="120847" y="2305012"/>
                <a:ext cx="58746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=1.0254&lt;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24, 15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206A0-CD8B-2B84-2D33-875687EB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7" y="2305012"/>
                <a:ext cx="58746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92A8A6B-494E-C8FC-8D7C-87346017BE85}"/>
              </a:ext>
            </a:extLst>
          </p:cNvPr>
          <p:cNvSpPr txBox="1"/>
          <p:nvPr/>
        </p:nvSpPr>
        <p:spPr>
          <a:xfrm>
            <a:off x="87803" y="4476535"/>
            <a:ext cx="9438969" cy="60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Hence, population variances can be considered equal.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074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 animBg="1"/>
      <p:bldP spid="3" grpId="0"/>
      <p:bldP spid="5" grpId="0"/>
      <p:bldP spid="7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31E8-6310-0BFD-2FC0-FC0A580C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93EB-0BB1-CC99-E8A3-6A28F5FD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A7299E-AC3A-5805-7798-80A91D113DF2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2084DF-3C81-63C3-5197-49F0C0D3F33B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2084DF-3C81-63C3-5197-49F0C0D3F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87106AE-3318-272E-8700-509C476FE701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69ABB1-E87F-2323-A13B-E9A6BBF03386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69ABB1-E87F-2323-A13B-E9A6BBF03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9A0BC3-4FDA-A0F2-4677-81197F19521F}"/>
                  </a:ext>
                </a:extLst>
              </p:cNvPr>
              <p:cNvSpPr txBox="1"/>
              <p:nvPr/>
            </p:nvSpPr>
            <p:spPr>
              <a:xfrm>
                <a:off x="323689" y="2866449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9A0BC3-4FDA-A0F2-4677-81197F195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9" y="2866449"/>
                <a:ext cx="1815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FA765-1CF1-4912-FE29-054FBEF9902D}"/>
                  </a:ext>
                </a:extLst>
              </p:cNvPr>
              <p:cNvSpPr txBox="1"/>
              <p:nvPr/>
            </p:nvSpPr>
            <p:spPr>
              <a:xfrm>
                <a:off x="3167932" y="2860060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FA765-1CF1-4912-FE29-054FBEF99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932" y="2860060"/>
                <a:ext cx="1815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00C4F73-3F7C-FC50-A357-20C9C2E01A16}"/>
                  </a:ext>
                </a:extLst>
              </p:cNvPr>
              <p:cNvSpPr/>
              <p:nvPr/>
            </p:nvSpPr>
            <p:spPr>
              <a:xfrm>
                <a:off x="274819" y="3431635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00C4F73-3F7C-FC50-A357-20C9C2E01A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19" y="3431635"/>
                <a:ext cx="172162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41003D-D179-FD2E-E2AA-9BDB43D1A052}"/>
                  </a:ext>
                </a:extLst>
              </p:cNvPr>
              <p:cNvSpPr/>
              <p:nvPr/>
            </p:nvSpPr>
            <p:spPr>
              <a:xfrm>
                <a:off x="3037424" y="3396609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41003D-D179-FD2E-E2AA-9BDB43D1A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424" y="3396609"/>
                <a:ext cx="17216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3BB8DE-B75C-D31C-6C07-18BB81C85A97}"/>
                  </a:ext>
                </a:extLst>
              </p:cNvPr>
              <p:cNvSpPr/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3BB8DE-B75C-D31C-6C07-18BB81C85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E33D06-A7B9-D950-DF4E-77802747FF16}"/>
                  </a:ext>
                </a:extLst>
              </p:cNvPr>
              <p:cNvSpPr/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E33D06-A7B9-D950-DF4E-77802747F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697A3C7-7167-41A1-77CB-D191F417F667}"/>
                  </a:ext>
                </a:extLst>
              </p:cNvPr>
              <p:cNvSpPr/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697A3C7-7167-41A1-77CB-D191F417F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158B3D-84CA-E02F-AEDA-BDACCD162483}"/>
                  </a:ext>
                </a:extLst>
              </p:cNvPr>
              <p:cNvSpPr/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158B3D-84CA-E02F-AEDA-BDACCD162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4754EABC-C27C-540B-9E76-77774613FD2D}"/>
              </a:ext>
            </a:extLst>
          </p:cNvPr>
          <p:cNvSpPr/>
          <p:nvPr/>
        </p:nvSpPr>
        <p:spPr>
          <a:xfrm>
            <a:off x="2565300" y="504203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B486FA1-3783-56E9-B4BA-492B3F6ECA5E}"/>
                  </a:ext>
                </a:extLst>
              </p:cNvPr>
              <p:cNvSpPr/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B486FA1-3783-56E9-B4BA-492B3F6EC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8160AA-7BD0-1EAB-CC8B-06CCA925031E}"/>
                  </a:ext>
                </a:extLst>
              </p:cNvPr>
              <p:cNvSpPr txBox="1"/>
              <p:nvPr/>
            </p:nvSpPr>
            <p:spPr>
              <a:xfrm>
                <a:off x="6737262" y="5005327"/>
                <a:ext cx="28788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8160AA-7BD0-1EAB-CC8B-06CCA925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262" y="5005327"/>
                <a:ext cx="287880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6583AB-6498-88EE-0D5D-33697E74AC73}"/>
                  </a:ext>
                </a:extLst>
              </p:cNvPr>
              <p:cNvSpPr txBox="1"/>
              <p:nvPr/>
            </p:nvSpPr>
            <p:spPr>
              <a:xfrm>
                <a:off x="6730992" y="5582761"/>
                <a:ext cx="14583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6583AB-6498-88EE-0D5D-33697E74A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992" y="5582761"/>
                <a:ext cx="145837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28BBC51-707B-E6C7-74C3-6557206EA499}"/>
              </a:ext>
            </a:extLst>
          </p:cNvPr>
          <p:cNvSpPr/>
          <p:nvPr/>
        </p:nvSpPr>
        <p:spPr>
          <a:xfrm>
            <a:off x="203649" y="797493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t -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31728E-5781-7406-D4D6-5494B265E880}"/>
                  </a:ext>
                </a:extLst>
              </p:cNvPr>
              <p:cNvSpPr txBox="1"/>
              <p:nvPr/>
            </p:nvSpPr>
            <p:spPr>
              <a:xfrm>
                <a:off x="6292762" y="4427893"/>
                <a:ext cx="3531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31728E-5781-7406-D4D6-5494B265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62" y="4427893"/>
                <a:ext cx="3531721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DF4F29-EF89-C8BA-75D5-98D771DE6B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352913"/>
                  </p:ext>
                </p:extLst>
              </p:nvPr>
            </p:nvGraphicFramePr>
            <p:xfrm>
              <a:off x="5974972" y="798543"/>
              <a:ext cx="6124761" cy="1864548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71902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515952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28875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508032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9.6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DF4F29-EF89-C8BA-75D5-98D771DE6B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352913"/>
                  </p:ext>
                </p:extLst>
              </p:nvPr>
            </p:nvGraphicFramePr>
            <p:xfrm>
              <a:off x="5974972" y="798543"/>
              <a:ext cx="6124761" cy="1864548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71902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515952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628875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508032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no.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Size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Mean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solidFill>
                                <a:srgbClr val="002060"/>
                              </a:solidFill>
                            </a:rPr>
                            <a:t>Variance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97984" t="-100000" r="-208468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183209" t="-100000" r="-92910" b="-102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307287" t="-100000" r="-810" b="-102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215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solidFill>
                                <a:srgbClr val="002060"/>
                              </a:solidFill>
                            </a:rPr>
                            <a:t>II</a:t>
                          </a:r>
                          <a:endParaRPr lang="en-IN" sz="22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97984" t="-201961" r="-208468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183209" t="-201961" r="-9291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307287" t="-201961" r="-810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64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6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5" grpId="0"/>
      <p:bldP spid="46" grpId="0"/>
      <p:bldP spid="3" grpId="0"/>
      <p:bldP spid="12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915B-AFAE-A9E8-9305-0208C6D9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EDBE-8520-BD36-99B3-24E3C7FD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BBF0D15-49F5-5E9D-F6B9-0EA2F9FEC288}"/>
                  </a:ext>
                </a:extLst>
              </p:cNvPr>
              <p:cNvSpPr/>
              <p:nvPr/>
            </p:nvSpPr>
            <p:spPr>
              <a:xfrm>
                <a:off x="148980" y="226755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BBF0D15-49F5-5E9D-F6B9-0EA2F9FEC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2267550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642883-E687-08D8-AAEC-D2ED15BF7BC0}"/>
                  </a:ext>
                </a:extLst>
              </p:cNvPr>
              <p:cNvSpPr txBox="1"/>
              <p:nvPr/>
            </p:nvSpPr>
            <p:spPr>
              <a:xfrm>
                <a:off x="7304668" y="1193673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6.5828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642883-E687-08D8-AAEC-D2ED15BF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68" y="1193673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890B05-1D9C-E3B3-770D-065AC615EE83}"/>
                  </a:ext>
                </a:extLst>
              </p:cNvPr>
              <p:cNvSpPr txBox="1"/>
              <p:nvPr/>
            </p:nvSpPr>
            <p:spPr>
              <a:xfrm>
                <a:off x="1012487" y="2981745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890B05-1D9C-E3B3-770D-065AC615E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487" y="2981745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D3F157-854D-FDB6-FECE-F4C3FF05303E}"/>
                  </a:ext>
                </a:extLst>
              </p:cNvPr>
              <p:cNvSpPr txBox="1"/>
              <p:nvPr/>
            </p:nvSpPr>
            <p:spPr>
              <a:xfrm>
                <a:off x="148980" y="711201"/>
                <a:ext cx="381952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D3F157-854D-FDB6-FECE-F4C3FF053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711201"/>
                <a:ext cx="381952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F1A885-E5A5-2553-D093-C93700B16723}"/>
                  </a:ext>
                </a:extLst>
              </p:cNvPr>
              <p:cNvSpPr txBox="1"/>
              <p:nvPr/>
            </p:nvSpPr>
            <p:spPr>
              <a:xfrm>
                <a:off x="3561023" y="781947"/>
                <a:ext cx="4397978" cy="12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IN" sz="25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e>
                              </m:d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F1A885-E5A5-2553-D093-C93700B1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023" y="781947"/>
                <a:ext cx="4397978" cy="122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9443B7-B2F7-71B0-3D6F-9AA36C3815F7}"/>
                  </a:ext>
                </a:extLst>
              </p:cNvPr>
              <p:cNvSpPr txBox="1"/>
              <p:nvPr/>
            </p:nvSpPr>
            <p:spPr>
              <a:xfrm>
                <a:off x="1233160" y="4882453"/>
                <a:ext cx="4397977" cy="1561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9.6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6.5828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25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9443B7-B2F7-71B0-3D6F-9AA36C381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60" y="4882453"/>
                <a:ext cx="4397977" cy="1561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50AD46-2629-25EF-7CD9-9497CC25CC60}"/>
                  </a:ext>
                </a:extLst>
              </p:cNvPr>
              <p:cNvSpPr txBox="1"/>
              <p:nvPr/>
            </p:nvSpPr>
            <p:spPr>
              <a:xfrm>
                <a:off x="5002121" y="5107900"/>
                <a:ext cx="21877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−3.2745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50AD46-2629-25EF-7CD9-9497CC25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121" y="5107900"/>
                <a:ext cx="21877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7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D917-8B6A-3E8C-FE50-4BF612C0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3B8C-AA1B-EC48-5795-3FF6A52F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298537-B89A-9DC2-26C9-959770CF4205}"/>
              </a:ext>
            </a:extLst>
          </p:cNvPr>
          <p:cNvSpPr/>
          <p:nvPr/>
        </p:nvSpPr>
        <p:spPr>
          <a:xfrm>
            <a:off x="102483" y="1630139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23F211-167B-497F-B4DD-B306996D3E9B}"/>
                  </a:ext>
                </a:extLst>
              </p:cNvPr>
              <p:cNvSpPr txBox="1"/>
              <p:nvPr/>
            </p:nvSpPr>
            <p:spPr>
              <a:xfrm>
                <a:off x="111072" y="2374718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3.2745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23F211-167B-497F-B4DD-B306996D3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2" y="2374718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1FAF73-4997-F61B-2E81-8CC7F4C47201}"/>
                  </a:ext>
                </a:extLst>
              </p:cNvPr>
              <p:cNvSpPr txBox="1"/>
              <p:nvPr/>
            </p:nvSpPr>
            <p:spPr>
              <a:xfrm>
                <a:off x="2752376" y="231925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2.0227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1FAF73-4997-F61B-2E81-8CC7F4C47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376" y="2319253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977936-E18A-DB19-831B-02E7B83B9E61}"/>
                  </a:ext>
                </a:extLst>
              </p:cNvPr>
              <p:cNvSpPr txBox="1"/>
              <p:nvPr/>
            </p:nvSpPr>
            <p:spPr>
              <a:xfrm>
                <a:off x="2315132" y="23226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977936-E18A-DB19-831B-02E7B83B9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32" y="2322661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C3667E-30F6-D374-F6F4-9EA43ECE2D1E}"/>
                  </a:ext>
                </a:extLst>
              </p:cNvPr>
              <p:cNvSpPr txBox="1"/>
              <p:nvPr/>
            </p:nvSpPr>
            <p:spPr>
              <a:xfrm>
                <a:off x="102483" y="3118790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C3667E-30F6-D374-F6F4-9EA43ECE2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3" y="3118790"/>
                <a:ext cx="2470105" cy="523220"/>
              </a:xfrm>
              <a:prstGeom prst="rect">
                <a:avLst/>
              </a:prstGeom>
              <a:blipFill>
                <a:blip r:embed="rId5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82A337-9F74-0FD3-56D4-4E3907AAFEB5}"/>
                  </a:ext>
                </a:extLst>
              </p:cNvPr>
              <p:cNvSpPr txBox="1"/>
              <p:nvPr/>
            </p:nvSpPr>
            <p:spPr>
              <a:xfrm>
                <a:off x="202430" y="3862862"/>
                <a:ext cx="11787140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there is significant difference between mean of two population. 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82A337-9F74-0FD3-56D4-4E3907AAF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30" y="3862862"/>
                <a:ext cx="11787140" cy="1161152"/>
              </a:xfrm>
              <a:prstGeom prst="rect">
                <a:avLst/>
              </a:prstGeom>
              <a:blipFill>
                <a:blip r:embed="rId6"/>
                <a:stretch>
                  <a:fillRect l="-1034" r="-1034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E8DBA-D246-D5DD-7096-AC15FF3F45AB}"/>
                  </a:ext>
                </a:extLst>
              </p:cNvPr>
              <p:cNvSpPr txBox="1"/>
              <p:nvPr/>
            </p:nvSpPr>
            <p:spPr>
              <a:xfrm>
                <a:off x="2301897" y="830095"/>
                <a:ext cx="3616432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=2.0227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E8DBA-D246-D5DD-7096-AC15FF3F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7" y="830095"/>
                <a:ext cx="3616432" cy="5786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4D5DB6C-E751-1971-725D-215522084940}"/>
              </a:ext>
            </a:extLst>
          </p:cNvPr>
          <p:cNvSpPr/>
          <p:nvPr/>
        </p:nvSpPr>
        <p:spPr>
          <a:xfrm>
            <a:off x="111072" y="88556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29169-3425-6557-F10F-CE5FEE96AA5B}"/>
              </a:ext>
            </a:extLst>
          </p:cNvPr>
          <p:cNvSpPr txBox="1"/>
          <p:nvPr/>
        </p:nvSpPr>
        <p:spPr>
          <a:xfrm>
            <a:off x="202430" y="5227861"/>
            <a:ext cx="11787140" cy="1161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Since means are different, the two samples </a:t>
            </a:r>
            <a:r>
              <a:rPr lang="en-US" sz="2800" b="1" dirty="0">
                <a:solidFill>
                  <a:srgbClr val="002060"/>
                </a:solidFill>
              </a:rPr>
              <a:t>do not come</a:t>
            </a:r>
            <a:r>
              <a:rPr lang="en-US" sz="2800" dirty="0">
                <a:solidFill>
                  <a:srgbClr val="002060"/>
                </a:solidFill>
              </a:rPr>
              <a:t> from the same normal population.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43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8" grpId="0" animBg="1"/>
      <p:bldP spid="17" grpId="0"/>
      <p:bldP spid="20" grpId="0"/>
      <p:bldP spid="21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9283-5950-11D6-6901-A93656EA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C56FC3D-B4E8-AEAA-1D77-C8DD53B8F1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397710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Two nicotine contents in two random samples of tobacco are given below: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Can we say that </a:t>
                </a:r>
                <a:r>
                  <a:rPr lang="en-US" b="1" dirty="0"/>
                  <a:t>two samples came from the same normal population</a:t>
                </a:r>
                <a:r>
                  <a:rPr lang="en-US" dirty="0"/>
                  <a:t>? 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5, 4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=6.26  ;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0.05,9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C56FC3D-B4E8-AEAA-1D77-C8DD53B8F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3977109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69187F0-F5BD-5F49-7166-CA7AA8CD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B67F63-1E67-65DE-92F3-4EE5E4B68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330122"/>
                  </p:ext>
                </p:extLst>
              </p:nvPr>
            </p:nvGraphicFramePr>
            <p:xfrm>
              <a:off x="1578159" y="1668869"/>
              <a:ext cx="903568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480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24587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B67F63-1E67-65DE-92F3-4EE5E4B68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330122"/>
                  </p:ext>
                </p:extLst>
              </p:nvPr>
            </p:nvGraphicFramePr>
            <p:xfrm>
              <a:off x="1578159" y="1668869"/>
              <a:ext cx="903568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99480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23444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124587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709" t="-840" r="-46213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547" t="-840" r="-36896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1765" t="-840" r="-267157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064" t="-840" r="-18989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1064" t="-840" r="-8989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222" t="-840" r="-1198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709" t="-101695" r="-462136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547" t="-101695" r="-368966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1765" t="-101695" r="-267157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064" t="-101695" r="-18989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1064" t="-101695" r="-8989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222" t="-101695" r="-1198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650636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3B24-A9DF-5440-420C-576943E5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608-99E1-ADAB-3594-F683F18B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10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09361-93D6-7F5D-0917-CD5E42F1281F}"/>
              </a:ext>
            </a:extLst>
          </p:cNvPr>
          <p:cNvSpPr/>
          <p:nvPr/>
        </p:nvSpPr>
        <p:spPr>
          <a:xfrm>
            <a:off x="229387" y="89562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8AD00-7E35-978F-B5BB-27B2D1DB3AFD}"/>
              </a:ext>
            </a:extLst>
          </p:cNvPr>
          <p:cNvSpPr/>
          <p:nvPr/>
        </p:nvSpPr>
        <p:spPr>
          <a:xfrm>
            <a:off x="2156546" y="903551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F -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0E329B-9F48-2D99-5450-CF93E2F436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848087"/>
                  </p:ext>
                </p:extLst>
              </p:nvPr>
            </p:nvGraphicFramePr>
            <p:xfrm>
              <a:off x="5382622" y="850306"/>
              <a:ext cx="6717111" cy="1374234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8293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34674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17681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26178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56237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0E329B-9F48-2D99-5450-CF93E2F436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848087"/>
                  </p:ext>
                </p:extLst>
              </p:nvPr>
            </p:nvGraphicFramePr>
            <p:xfrm>
              <a:off x="5382622" y="850306"/>
              <a:ext cx="6717111" cy="1374234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8293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34674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17681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26178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56237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160131" t="-885" r="-462745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263576" t="-885" r="-368874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361184" t="-885" r="-266447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504317" t="-885" r="-191367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600000" t="-885" r="-90000" b="-10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790323" t="-885" r="-1613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160131" t="-100885" r="-462745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263576" t="-100885" r="-368874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361184" t="-100885" r="-266447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504317" t="-100885" r="-191367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600000" t="-100885" r="-90000" b="-2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790323" t="-100885" r="-1613" b="-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50A40F1-FB18-D839-0525-96CC9F135026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DEDB43-62B4-8DC1-F656-A5B906E47414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DEDB43-62B4-8DC1-F656-A5B906E47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EA5B1B7-294A-A58E-BF61-DBE7FF785860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DDAED06-4F2D-AECF-3941-422272D5EE3A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DDAED06-4F2D-AECF-3941-422272D5E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137D76-7167-6CEB-1FA7-D604C9110B66}"/>
                  </a:ext>
                </a:extLst>
              </p:cNvPr>
              <p:cNvSpPr/>
              <p:nvPr/>
            </p:nvSpPr>
            <p:spPr>
              <a:xfrm>
                <a:off x="278076" y="2946548"/>
                <a:ext cx="1864522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137D76-7167-6CEB-1FA7-D604C9110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6" y="2946548"/>
                <a:ext cx="1864522" cy="5518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740ECA-8AC8-7FB6-50ED-56E48E074F34}"/>
                  </a:ext>
                </a:extLst>
              </p:cNvPr>
              <p:cNvSpPr/>
              <p:nvPr/>
            </p:nvSpPr>
            <p:spPr>
              <a:xfrm>
                <a:off x="3140038" y="2946548"/>
                <a:ext cx="1864522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21.6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740ECA-8AC8-7FB6-50ED-56E48E074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38" y="2946548"/>
                <a:ext cx="1864522" cy="55188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E903631-1468-B1DF-877D-8D685B7E3900}"/>
                  </a:ext>
                </a:extLst>
              </p:cNvPr>
              <p:cNvSpPr/>
              <p:nvPr/>
            </p:nvSpPr>
            <p:spPr>
              <a:xfrm>
                <a:off x="5382622" y="3011884"/>
                <a:ext cx="51489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[ In calculator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using 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d>
                      <m:dPr>
                        <m:ctrlP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𝐬𝐱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]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E903631-1468-B1DF-877D-8D685B7E3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622" y="3011884"/>
                <a:ext cx="5148946" cy="830997"/>
              </a:xfrm>
              <a:prstGeom prst="rect">
                <a:avLst/>
              </a:prstGeom>
              <a:blipFill>
                <a:blip r:embed="rId19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1037D4-9D61-E13E-9E95-AABAD66F1AB9}"/>
                  </a:ext>
                </a:extLst>
              </p:cNvPr>
              <p:cNvSpPr/>
              <p:nvPr/>
            </p:nvSpPr>
            <p:spPr>
              <a:xfrm>
                <a:off x="278076" y="40123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1037D4-9D61-E13E-9E95-AABAD66F1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6" y="4012385"/>
                <a:ext cx="79758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5E093E-4E20-EF5C-BBBD-3E04A0160F4C}"/>
                  </a:ext>
                </a:extLst>
              </p:cNvPr>
              <p:cNvSpPr/>
              <p:nvPr/>
            </p:nvSpPr>
            <p:spPr>
              <a:xfrm>
                <a:off x="976597" y="3998695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5E093E-4E20-EF5C-BBBD-3E04A0160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97" y="3998695"/>
                <a:ext cx="1920739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EC74ED2-F567-423D-84EC-5129EBF2F3D3}"/>
                  </a:ext>
                </a:extLst>
              </p:cNvPr>
              <p:cNvSpPr/>
              <p:nvPr/>
            </p:nvSpPr>
            <p:spPr>
              <a:xfrm>
                <a:off x="278076" y="533220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EC74ED2-F567-423D-84EC-5129EBF2F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6" y="5332205"/>
                <a:ext cx="2386949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E333668-B84C-0AF7-6F1C-9260DABCDCFB}"/>
                  </a:ext>
                </a:extLst>
              </p:cNvPr>
              <p:cNvSpPr/>
              <p:nvPr/>
            </p:nvSpPr>
            <p:spPr>
              <a:xfrm>
                <a:off x="278076" y="469515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E333668-B84C-0AF7-6F1C-9260DABCD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6" y="4695155"/>
                <a:ext cx="797582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50A954-B720-EDE6-703C-389A44F2E4BA}"/>
                  </a:ext>
                </a:extLst>
              </p:cNvPr>
              <p:cNvSpPr/>
              <p:nvPr/>
            </p:nvSpPr>
            <p:spPr>
              <a:xfrm>
                <a:off x="986031" y="4678043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50A954-B720-EDE6-703C-389A44F2E4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31" y="4678043"/>
                <a:ext cx="1920739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B9431F1-7A4D-5918-943A-A98754DA9DD6}"/>
              </a:ext>
            </a:extLst>
          </p:cNvPr>
          <p:cNvSpPr txBox="1"/>
          <p:nvPr/>
        </p:nvSpPr>
        <p:spPr>
          <a:xfrm>
            <a:off x="2772726" y="4051960"/>
            <a:ext cx="73788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2060"/>
                </a:solidFill>
              </a:rPr>
              <a:t> [ i.e., The variances of the two populations are equal ]</a:t>
            </a:r>
            <a:endParaRPr lang="en-IN" sz="2500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560C47-65B3-B4C3-B681-C635F4F1923A}"/>
              </a:ext>
            </a:extLst>
          </p:cNvPr>
          <p:cNvSpPr txBox="1"/>
          <p:nvPr/>
        </p:nvSpPr>
        <p:spPr>
          <a:xfrm>
            <a:off x="2832998" y="4731504"/>
            <a:ext cx="743776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2060"/>
                </a:solidFill>
              </a:rPr>
              <a:t>[ i.e., The variances of the two populations are not equal ]</a:t>
            </a:r>
            <a:endParaRPr lang="en-IN" sz="25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8B6473-A02D-1204-602A-7253D4914EEA}"/>
                  </a:ext>
                </a:extLst>
              </p:cNvPr>
              <p:cNvSpPr txBox="1"/>
              <p:nvPr/>
            </p:nvSpPr>
            <p:spPr>
              <a:xfrm>
                <a:off x="281236" y="5997534"/>
                <a:ext cx="38709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8B6473-A02D-1204-602A-7253D4914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36" y="5997534"/>
                <a:ext cx="3870979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BF8E5E-26ED-65B3-C85E-5CB8C61AA96A}"/>
                  </a:ext>
                </a:extLst>
              </p:cNvPr>
              <p:cNvSpPr txBox="1"/>
              <p:nvPr/>
            </p:nvSpPr>
            <p:spPr>
              <a:xfrm>
                <a:off x="3715200" y="5995902"/>
                <a:ext cx="33967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BF8E5E-26ED-65B3-C85E-5CB8C61AA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200" y="5995902"/>
                <a:ext cx="3396730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6DE5F2-A450-A958-3DF7-3AFDD27EC435}"/>
                  </a:ext>
                </a:extLst>
              </p:cNvPr>
              <p:cNvSpPr txBox="1"/>
              <p:nvPr/>
            </p:nvSpPr>
            <p:spPr>
              <a:xfrm>
                <a:off x="6330807" y="5995902"/>
                <a:ext cx="29349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4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6DE5F2-A450-A958-3DF7-3AFDD27EC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807" y="5995902"/>
                <a:ext cx="2934951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42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6" grpId="0"/>
      <p:bldP spid="17" grpId="0"/>
      <p:bldP spid="18" grpId="0"/>
      <p:bldP spid="22" grpId="0"/>
      <p:bldP spid="23" grpId="0"/>
      <p:bldP spid="25" grpId="0"/>
      <p:bldP spid="3" grpId="0"/>
      <p:bldP spid="8" grpId="0"/>
      <p:bldP spid="9" grpId="0"/>
      <p:bldP spid="19" grpId="0"/>
      <p:bldP spid="24" grpId="0"/>
      <p:bldP spid="26" grpId="0"/>
      <p:bldP spid="27" grpId="0"/>
      <p:bldP spid="28" grpId="0"/>
      <p:bldP spid="29" grpId="0"/>
      <p:bldP spid="30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8926-2AAB-D5CF-2766-586D9764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23C5-897A-F650-AFA0-47A1F696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D21314-3DCD-E1C1-A07B-E5271002B8F2}"/>
                  </a:ext>
                </a:extLst>
              </p:cNvPr>
              <p:cNvSpPr/>
              <p:nvPr/>
            </p:nvSpPr>
            <p:spPr>
              <a:xfrm>
                <a:off x="110827" y="812239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D21314-3DCD-E1C1-A07B-E5271002B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7" y="812239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E1E300-0826-AAD3-70FC-2E8859BA8BCD}"/>
                  </a:ext>
                </a:extLst>
              </p:cNvPr>
              <p:cNvSpPr txBox="1"/>
              <p:nvPr/>
            </p:nvSpPr>
            <p:spPr>
              <a:xfrm>
                <a:off x="962580" y="1250496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E1E300-0826-AAD3-70FC-2E8859BA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80" y="1250496"/>
                <a:ext cx="2428875" cy="1027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FC7C6F-DE52-1A60-6D39-17D17161D5AD}"/>
                  </a:ext>
                </a:extLst>
              </p:cNvPr>
              <p:cNvSpPr txBox="1"/>
              <p:nvPr/>
            </p:nvSpPr>
            <p:spPr>
              <a:xfrm>
                <a:off x="2961371" y="1291381"/>
                <a:ext cx="151184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1.6 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.3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FC7C6F-DE52-1A60-6D39-17D17161D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371" y="1291381"/>
                <a:ext cx="1511847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95FB47-C147-E5E1-3962-FA91E1FE6783}"/>
                  </a:ext>
                </a:extLst>
              </p:cNvPr>
              <p:cNvSpPr txBox="1"/>
              <p:nvPr/>
            </p:nvSpPr>
            <p:spPr>
              <a:xfrm>
                <a:off x="4267405" y="1502584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4.0755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95FB47-C147-E5E1-3962-FA91E1FE6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405" y="1502584"/>
                <a:ext cx="19173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A8B55C9-6FA8-1ED9-1FD5-804B5FB354C1}"/>
              </a:ext>
            </a:extLst>
          </p:cNvPr>
          <p:cNvSpPr/>
          <p:nvPr/>
        </p:nvSpPr>
        <p:spPr>
          <a:xfrm>
            <a:off x="167534" y="3221957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3655CA-16E8-F61D-9FE0-B483DE3232BC}"/>
                  </a:ext>
                </a:extLst>
              </p:cNvPr>
              <p:cNvSpPr txBox="1"/>
              <p:nvPr/>
            </p:nvSpPr>
            <p:spPr>
              <a:xfrm>
                <a:off x="388094" y="4590457"/>
                <a:ext cx="27420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3655CA-16E8-F61D-9FE0-B483DE32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4" y="4590457"/>
                <a:ext cx="2742035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DF4C0-E2A6-4603-27B8-7A586DB95A71}"/>
                  </a:ext>
                </a:extLst>
              </p:cNvPr>
              <p:cNvSpPr txBox="1"/>
              <p:nvPr/>
            </p:nvSpPr>
            <p:spPr>
              <a:xfrm>
                <a:off x="2339995" y="2527406"/>
                <a:ext cx="36164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6.26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DF4C0-E2A6-4603-27B8-7A586DB95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95" y="2527406"/>
                <a:ext cx="361643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364B7B0-98B5-96EE-2C48-EB0972098B05}"/>
              </a:ext>
            </a:extLst>
          </p:cNvPr>
          <p:cNvSpPr/>
          <p:nvPr/>
        </p:nvSpPr>
        <p:spPr>
          <a:xfrm>
            <a:off x="167534" y="2535818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D6FC25-D73B-5F03-1137-EA03E0BF605F}"/>
                  </a:ext>
                </a:extLst>
              </p:cNvPr>
              <p:cNvSpPr txBox="1"/>
              <p:nvPr/>
            </p:nvSpPr>
            <p:spPr>
              <a:xfrm>
                <a:off x="635367" y="3908096"/>
                <a:ext cx="68328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4.0755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=6.26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D6FC25-D73B-5F03-1137-EA03E0BF6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7" y="3908096"/>
                <a:ext cx="683284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5A4CD6-8D4A-7E39-D886-5E19FF0FEEBA}"/>
                  </a:ext>
                </a:extLst>
              </p:cNvPr>
              <p:cNvSpPr txBox="1"/>
              <p:nvPr/>
            </p:nvSpPr>
            <p:spPr>
              <a:xfrm>
                <a:off x="167534" y="5222699"/>
                <a:ext cx="11989637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between the variances. 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5A4CD6-8D4A-7E39-D886-5E19FF0FE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34" y="5222699"/>
                <a:ext cx="11989637" cy="600998"/>
              </a:xfrm>
              <a:prstGeom prst="rect">
                <a:avLst/>
              </a:prstGeom>
              <a:blipFill>
                <a:blip r:embed="rId9"/>
                <a:stretch>
                  <a:fillRect l="-1017" b="-2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D41DC8B-012D-8416-9437-E8EC184A9FCE}"/>
              </a:ext>
            </a:extLst>
          </p:cNvPr>
          <p:cNvSpPr txBox="1"/>
          <p:nvPr/>
        </p:nvSpPr>
        <p:spPr>
          <a:xfrm>
            <a:off x="187844" y="5823697"/>
            <a:ext cx="9438969" cy="60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Hence, population variances can be considered equal.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203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7" grpId="0"/>
      <p:bldP spid="5" grpId="0"/>
      <p:bldP spid="7" grpId="0"/>
      <p:bldP spid="10" grpId="0"/>
      <p:bldP spid="12" grpId="0"/>
      <p:bldP spid="13" grpId="0"/>
      <p:bldP spid="14" grpId="0" animBg="1"/>
      <p:bldP spid="15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60C9-391D-2D87-21A9-6E290E77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EE04-55E0-0C64-6EFF-8878B114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10 (Continue)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FB60A-4877-5CEE-63A2-CE6230C7DC22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37E6BB-D2F5-3BED-8C3A-09C3F8F10B4B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37E6BB-D2F5-3BED-8C3A-09C3F8F10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D8BF946-BC70-7CAB-54C7-A2A32E10FD71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6A0D1C-173C-BDA6-702F-F795747A9A04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6A0D1C-173C-BDA6-702F-F795747A9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08F1D6-DBF5-6356-203B-5F7844E86DBC}"/>
                  </a:ext>
                </a:extLst>
              </p:cNvPr>
              <p:cNvSpPr txBox="1"/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08F1D6-DBF5-6356-203B-5F7844E86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C532E2-CB4C-D01E-FE54-589AADFDC095}"/>
                  </a:ext>
                </a:extLst>
              </p:cNvPr>
              <p:cNvSpPr txBox="1"/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C532E2-CB4C-D01E-FE54-589AADFD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607D21-6D87-29F7-A06E-9E61B07498F9}"/>
                  </a:ext>
                </a:extLst>
              </p:cNvPr>
              <p:cNvSpPr/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4.24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607D21-6D87-29F7-A06E-9E61B0749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F269E-6BEB-4113-4840-3E8DFBD0FACC}"/>
                  </a:ext>
                </a:extLst>
              </p:cNvPr>
              <p:cNvSpPr/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F269E-6BEB-4113-4840-3E8DFBD0F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2B3B8A-58C6-49C7-E50E-2FFB01D05893}"/>
                  </a:ext>
                </a:extLst>
              </p:cNvPr>
              <p:cNvSpPr/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2B3B8A-58C6-49C7-E50E-2FFB01D05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50E7BC-C2CB-9D72-8ED3-7F1E5B14BE67}"/>
                  </a:ext>
                </a:extLst>
              </p:cNvPr>
              <p:cNvSpPr/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50E7BC-C2CB-9D72-8ED3-7F1E5B14B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F33A85A-720D-2336-6493-B24436630745}"/>
                  </a:ext>
                </a:extLst>
              </p:cNvPr>
              <p:cNvSpPr/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F33A85A-720D-2336-6493-B24436630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D4D5C8-348F-EF3F-6AF9-D5A1A4F63B2B}"/>
                  </a:ext>
                </a:extLst>
              </p:cNvPr>
              <p:cNvSpPr/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D4D5C8-348F-EF3F-6AF9-D5A1A4F63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0A66682-645F-129A-3B47-8F7AE510E5C8}"/>
              </a:ext>
            </a:extLst>
          </p:cNvPr>
          <p:cNvSpPr/>
          <p:nvPr/>
        </p:nvSpPr>
        <p:spPr>
          <a:xfrm>
            <a:off x="2565300" y="504203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14B3E1-6991-4DC3-3CDD-522A793A6573}"/>
                  </a:ext>
                </a:extLst>
              </p:cNvPr>
              <p:cNvSpPr/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14B3E1-6991-4DC3-3CDD-522A793A6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1B47F4-A171-22E6-943C-4054930A6A6E}"/>
                  </a:ext>
                </a:extLst>
              </p:cNvPr>
              <p:cNvSpPr txBox="1"/>
              <p:nvPr/>
            </p:nvSpPr>
            <p:spPr>
              <a:xfrm>
                <a:off x="6749601" y="4990633"/>
                <a:ext cx="25457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1B47F4-A171-22E6-943C-4054930A6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601" y="4990633"/>
                <a:ext cx="254575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1799E0-3DAF-3FBA-7EE1-C1858D0A059A}"/>
                  </a:ext>
                </a:extLst>
              </p:cNvPr>
              <p:cNvSpPr txBox="1"/>
              <p:nvPr/>
            </p:nvSpPr>
            <p:spPr>
              <a:xfrm>
                <a:off x="6749601" y="5667902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1799E0-3DAF-3FBA-7EE1-C1858D0A0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601" y="5667902"/>
                <a:ext cx="99910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D6616A-B1B1-2CAC-4C04-1961A00568D4}"/>
              </a:ext>
            </a:extLst>
          </p:cNvPr>
          <p:cNvSpPr/>
          <p:nvPr/>
        </p:nvSpPr>
        <p:spPr>
          <a:xfrm>
            <a:off x="203649" y="788456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t -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2521229-9B9B-84DF-F50A-A8EE74E0B5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831415"/>
                  </p:ext>
                </p:extLst>
              </p:nvPr>
            </p:nvGraphicFramePr>
            <p:xfrm>
              <a:off x="5382622" y="752263"/>
              <a:ext cx="6717111" cy="1374234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8293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34674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17681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26178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56237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2521229-9B9B-84DF-F50A-A8EE74E0B5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831415"/>
                  </p:ext>
                </p:extLst>
              </p:nvPr>
            </p:nvGraphicFramePr>
            <p:xfrm>
              <a:off x="5382622" y="752263"/>
              <a:ext cx="6717111" cy="1374234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482933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934674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917681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26178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849704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  <a:gridCol w="756237">
                      <a:extLst>
                        <a:ext uri="{9D8B030D-6E8A-4147-A177-3AD203B41FA5}">
                          <a16:colId xmlns:a16="http://schemas.microsoft.com/office/drawing/2014/main" val="2580896732"/>
                        </a:ext>
                      </a:extLst>
                    </a:gridCol>
                  </a:tblGrid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60131" t="-885" r="-462745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63576" t="-885" r="-368874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61184" t="-885" r="-266447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504317" t="-885" r="-191367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0000" t="-885" r="-90000" b="-10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790323" t="-885" r="-1613" b="-1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87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200" b="0" dirty="0">
                              <a:solidFill>
                                <a:srgbClr val="002060"/>
                              </a:solidFill>
                            </a:rPr>
                            <a:t>Sample 2</a:t>
                          </a:r>
                          <a:endParaRPr lang="en-IN" sz="2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60131" t="-100885" r="-462745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263576" t="-100885" r="-368874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61184" t="-100885" r="-266447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504317" t="-100885" r="-191367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0000" t="-100885" r="-90000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790323" t="-100885" r="-1613" b="-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84B0FC-75F3-03F9-31E6-4E8C0217DEE3}"/>
                  </a:ext>
                </a:extLst>
              </p:cNvPr>
              <p:cNvSpPr txBox="1"/>
              <p:nvPr/>
            </p:nvSpPr>
            <p:spPr>
              <a:xfrm>
                <a:off x="6351061" y="4313364"/>
                <a:ext cx="38709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84B0FC-75F3-03F9-31E6-4E8C0217D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061" y="4313364"/>
                <a:ext cx="387097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C34E9D-B211-ABA0-683C-54C2FDB14486}"/>
                  </a:ext>
                </a:extLst>
              </p:cNvPr>
              <p:cNvSpPr/>
              <p:nvPr/>
            </p:nvSpPr>
            <p:spPr>
              <a:xfrm>
                <a:off x="5297070" y="3277746"/>
                <a:ext cx="51489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[ In calculator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400" b="0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using 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IN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  <m:r>
                          <a:rPr lang="en-IN" sz="24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]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C34E9D-B211-ABA0-683C-54C2FDB14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070" y="3277746"/>
                <a:ext cx="5148946" cy="830997"/>
              </a:xfrm>
              <a:prstGeom prst="rect">
                <a:avLst/>
              </a:prstGeom>
              <a:blipFill>
                <a:blip r:embed="rId17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80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5" grpId="0"/>
      <p:bldP spid="46" grpId="0"/>
      <p:bldP spid="3" grpId="0"/>
      <p:bldP spid="5" grpId="0"/>
      <p:bldP spid="7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9065-C89B-0966-CCBE-BF23A7D7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F82C-CFAD-F32A-CCDF-4F981855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D6F4072-C00F-C789-DDD8-669F51EBA698}"/>
                  </a:ext>
                </a:extLst>
              </p:cNvPr>
              <p:cNvSpPr/>
              <p:nvPr/>
            </p:nvSpPr>
            <p:spPr>
              <a:xfrm>
                <a:off x="137913" y="235714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D6F4072-C00F-C789-DDD8-669F51EBA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13" y="2357140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858D1E-1F52-3FB2-21C8-58923F4A7139}"/>
                  </a:ext>
                </a:extLst>
              </p:cNvPr>
              <p:cNvSpPr txBox="1"/>
              <p:nvPr/>
            </p:nvSpPr>
            <p:spPr>
              <a:xfrm>
                <a:off x="7654723" y="1236270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3.7889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858D1E-1F52-3FB2-21C8-58923F4A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723" y="1236270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053DC-EF03-3C46-B93E-390BEEB960E8}"/>
                  </a:ext>
                </a:extLst>
              </p:cNvPr>
              <p:cNvSpPr txBox="1"/>
              <p:nvPr/>
            </p:nvSpPr>
            <p:spPr>
              <a:xfrm>
                <a:off x="247943" y="3034013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053DC-EF03-3C46-B93E-390BEEB9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43" y="3034013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F131D-ADF7-6FD0-FDE8-A69774627CB8}"/>
                  </a:ext>
                </a:extLst>
              </p:cNvPr>
              <p:cNvSpPr txBox="1"/>
              <p:nvPr/>
            </p:nvSpPr>
            <p:spPr>
              <a:xfrm>
                <a:off x="137913" y="729545"/>
                <a:ext cx="397712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F131D-ADF7-6FD0-FDE8-A69774627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13" y="729545"/>
                <a:ext cx="3977120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498822-0DB9-E72A-A9EC-0C99A8EFC4D3}"/>
                  </a:ext>
                </a:extLst>
              </p:cNvPr>
              <p:cNvSpPr txBox="1"/>
              <p:nvPr/>
            </p:nvSpPr>
            <p:spPr>
              <a:xfrm>
                <a:off x="3595195" y="738717"/>
                <a:ext cx="439797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4.24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498822-0DB9-E72A-A9EC-0C99A8EFC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95" y="738717"/>
                <a:ext cx="4397978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40D9D2-0E45-CC60-5B95-335DD7B355A7}"/>
                  </a:ext>
                </a:extLst>
              </p:cNvPr>
              <p:cNvSpPr txBox="1"/>
              <p:nvPr/>
            </p:nvSpPr>
            <p:spPr>
              <a:xfrm>
                <a:off x="680716" y="4930937"/>
                <a:ext cx="3859385" cy="1561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24.6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3.7889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5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40D9D2-0E45-CC60-5B95-335DD7B3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16" y="4930937"/>
                <a:ext cx="3859385" cy="1561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032C83-2D61-E8E0-59AF-4616E3E5318E}"/>
                  </a:ext>
                </a:extLst>
              </p:cNvPr>
              <p:cNvSpPr txBox="1"/>
              <p:nvPr/>
            </p:nvSpPr>
            <p:spPr>
              <a:xfrm>
                <a:off x="4072501" y="5124485"/>
                <a:ext cx="21675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−1.9178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032C83-2D61-E8E0-59AF-4616E3E53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501" y="5124485"/>
                <a:ext cx="21675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32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E3AA8-B8B0-D643-7462-17644775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A823-3815-DBD6-D66C-80A05F0A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</a:t>
            </a:r>
            <a:r>
              <a:rPr lang="en-GB"/>
              <a:t>Example 10</a:t>
            </a:r>
            <a:r>
              <a:rPr lang="en-GB" dirty="0"/>
              <a:t>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840791-1D8E-B913-D3DE-8BE6C5CF67E0}"/>
                  </a:ext>
                </a:extLst>
              </p:cNvPr>
              <p:cNvSpPr txBox="1"/>
              <p:nvPr/>
            </p:nvSpPr>
            <p:spPr>
              <a:xfrm>
                <a:off x="132220" y="3067240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840791-1D8E-B913-D3DE-8BE6C5CF6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20" y="3067240"/>
                <a:ext cx="2470105" cy="523220"/>
              </a:xfrm>
              <a:prstGeom prst="rect">
                <a:avLst/>
              </a:prstGeom>
              <a:blipFill>
                <a:blip r:embed="rId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29FEFB2B-4B40-BC4E-0D98-621AD0D2AAE4}"/>
              </a:ext>
            </a:extLst>
          </p:cNvPr>
          <p:cNvSpPr/>
          <p:nvPr/>
        </p:nvSpPr>
        <p:spPr>
          <a:xfrm>
            <a:off x="102483" y="1630139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FD782D-E29A-6D27-1214-D23CF29002B7}"/>
                  </a:ext>
                </a:extLst>
              </p:cNvPr>
              <p:cNvSpPr txBox="1"/>
              <p:nvPr/>
            </p:nvSpPr>
            <p:spPr>
              <a:xfrm>
                <a:off x="111072" y="2374718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=1.9178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FD782D-E29A-6D27-1214-D23CF2900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2" y="2374718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8CA530-C062-F97D-100A-3AFC54C0C812}"/>
                  </a:ext>
                </a:extLst>
              </p:cNvPr>
              <p:cNvSpPr txBox="1"/>
              <p:nvPr/>
            </p:nvSpPr>
            <p:spPr>
              <a:xfrm>
                <a:off x="2752376" y="231925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8CA530-C062-F97D-100A-3AFC54C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376" y="2319253"/>
                <a:ext cx="3291259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C0A5AE-ADF9-D812-F841-21BBF7B3EDA5}"/>
                  </a:ext>
                </a:extLst>
              </p:cNvPr>
              <p:cNvSpPr txBox="1"/>
              <p:nvPr/>
            </p:nvSpPr>
            <p:spPr>
              <a:xfrm>
                <a:off x="2315132" y="23226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C0A5AE-ADF9-D812-F841-21BBF7B3E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32" y="2322661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6428C5-B69D-E727-EE21-96CB31178663}"/>
                  </a:ext>
                </a:extLst>
              </p:cNvPr>
              <p:cNvSpPr txBox="1"/>
              <p:nvPr/>
            </p:nvSpPr>
            <p:spPr>
              <a:xfrm>
                <a:off x="2301897" y="830095"/>
                <a:ext cx="3616432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6428C5-B69D-E727-EE21-96CB31178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97" y="830095"/>
                <a:ext cx="3616432" cy="5786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740AF67-8588-08EE-A0AC-F689B689A1C6}"/>
              </a:ext>
            </a:extLst>
          </p:cNvPr>
          <p:cNvSpPr/>
          <p:nvPr/>
        </p:nvSpPr>
        <p:spPr>
          <a:xfrm>
            <a:off x="111072" y="88556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D55027-A1A8-7DAC-88E4-351D6545406D}"/>
                  </a:ext>
                </a:extLst>
              </p:cNvPr>
              <p:cNvSpPr txBox="1"/>
              <p:nvPr/>
            </p:nvSpPr>
            <p:spPr>
              <a:xfrm>
                <a:off x="202430" y="3862862"/>
                <a:ext cx="11787140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there is no significant difference between mean of two population. </a:t>
                </a:r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D55027-A1A8-7DAC-88E4-351D65454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30" y="3862862"/>
                <a:ext cx="11787140" cy="1161152"/>
              </a:xfrm>
              <a:prstGeom prst="rect">
                <a:avLst/>
              </a:prstGeom>
              <a:blipFill>
                <a:blip r:embed="rId7"/>
                <a:stretch>
                  <a:fillRect l="-1034" r="-1034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FCA9BF1-DD41-D9E8-1B54-46CE9EC32062}"/>
              </a:ext>
            </a:extLst>
          </p:cNvPr>
          <p:cNvSpPr txBox="1"/>
          <p:nvPr/>
        </p:nvSpPr>
        <p:spPr>
          <a:xfrm>
            <a:off x="202430" y="5227861"/>
            <a:ext cx="11787140" cy="600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Since means are same, the two samples are from the same normal population.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78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0" grpId="0"/>
      <p:bldP spid="21" grpId="0"/>
      <p:bldP spid="24" grpId="0"/>
      <p:bldP spid="26" grpId="0"/>
      <p:bldP spid="27" grpId="0"/>
      <p:bldP spid="28" grpId="0" animBg="1"/>
      <p:bldP spid="29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4181-BBBD-8F2C-3463-ACFCDF6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B7B-0EBF-6FAE-15E4-18997D58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Chi – Square 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06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B8BF4-D6E4-F2B5-B074-E764DB11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88E-EE80-0F68-D6DC-4A1092A6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Chi-Square </a:t>
            </a:r>
            <a:r>
              <a:rPr lang="el-GR" dirty="0"/>
              <a:t>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D3956-19C7-8416-B0C7-38D3DF250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6515552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Chi-square is a statistical method used to check whether what we observe in real life is close to what we expect theoretically.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simple words, the Chi-square test measures how far reality is from expectation.</a:t>
                </a:r>
                <a:endParaRPr lang="en-US" b="1" dirty="0"/>
              </a:p>
              <a:p>
                <a:pPr>
                  <a:lnSpc>
                    <a:spcPct val="145000"/>
                  </a:lnSpc>
                </a:pPr>
                <a:r>
                  <a:rPr lang="en-US" b="1" dirty="0"/>
                  <a:t>Example:</a:t>
                </a:r>
                <a:r>
                  <a:rPr lang="en-US" dirty="0"/>
                  <a:t> You toss a fair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Expected: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Heads,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Tails </a:t>
                </a:r>
                <a:r>
                  <a:rPr lang="en-US" b="1" dirty="0"/>
                  <a:t>But</a:t>
                </a:r>
                <a:r>
                  <a:rPr lang="en-US" dirty="0"/>
                  <a:t> you actually get: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dirty="0"/>
                  <a:t> Heads,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Tails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Now the question is: Is this difference normal (just luck)? Or is the coin biased?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Chi-square helps answer this!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D3956-19C7-8416-B0C7-38D3DF250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6515552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44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C9EF-FCEC-F06A-BA1E-100DCC31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5241-D232-1C82-BDEC-000BFC02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Observed and Expected Values?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1D326-4A9E-06F8-2510-C86D9ADFD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Observed Values (O)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These are actual values obtained from data.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They represent: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Real-world results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What actually happened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Example: You surveyed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people about preference between Tea and Coffee: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Tea lovers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Coffee lovers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70, 30</m:t>
                    </m:r>
                  </m:oMath>
                </a14:m>
                <a:r>
                  <a:rPr lang="en-US" dirty="0"/>
                  <a:t> are Observed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1D326-4A9E-06F8-2510-C86D9ADFD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99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674F-DD38-0F31-ED70-A8475B87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7491-C384-99B7-A9F3-A441D2AD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Observed and Expected Values?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3F04D-4615-3A74-E077-4A679AEB4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Expected Values (E)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These are the values you expect based on theory, assumption, or hypothesis.</a:t>
                </a:r>
              </a:p>
              <a:p>
                <a:pPr lvl="2">
                  <a:lnSpc>
                    <a:spcPct val="145000"/>
                  </a:lnSpc>
                </a:pPr>
                <a:r>
                  <a:rPr lang="en-US" dirty="0"/>
                  <a:t>Ideal or predicted values</a:t>
                </a:r>
              </a:p>
              <a:p>
                <a:pPr lvl="2">
                  <a:lnSpc>
                    <a:spcPct val="145000"/>
                  </a:lnSpc>
                </a:pPr>
                <a:r>
                  <a:rPr lang="en-US" dirty="0"/>
                  <a:t>Based on logic or probability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Example: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If we assume people equally like tea and coffee:</a:t>
                </a:r>
              </a:p>
              <a:p>
                <a:pPr lvl="2">
                  <a:lnSpc>
                    <a:spcPct val="145000"/>
                  </a:lnSpc>
                </a:pPr>
                <a:r>
                  <a:rPr lang="en-US" dirty="0"/>
                  <a:t>Expected Tea lovers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dirty="0"/>
              </a:p>
              <a:p>
                <a:pPr lvl="2">
                  <a:lnSpc>
                    <a:spcPct val="145000"/>
                  </a:lnSpc>
                </a:pPr>
                <a:r>
                  <a:rPr lang="en-US" dirty="0"/>
                  <a:t>Expected Coffee lovers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=50 </m:t>
                    </m:r>
                  </m:oMath>
                </a14:m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50, 50</m:t>
                    </m:r>
                  </m:oMath>
                </a14:m>
                <a:r>
                  <a:rPr lang="en-US" dirty="0"/>
                  <a:t> are Expected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3F04D-4615-3A74-E077-4A679AEB4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13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7ABA-2491-EAF1-8A37-B5F60718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5EB6-E25C-8932-57E9-C55E3F45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measure the difference?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179AC7-6DF0-3699-791D-3986534F4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We already know: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Observed Value (O)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what we actually got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Expected Value (E)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what we think should happen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But simple difference (O − E) is not enough because we need a relative (scaled) comparison, not just absolute difference,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Example: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A difference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is big if expected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But small if expected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So, we need a standardized way.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179AC7-6DF0-3699-791D-3986534F4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45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7FB6-95EC-6FE0-EDEC-A1B806FB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07BA-08DD-883A-A2F9-A4F61861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7F77-47C6-CEA5-2B47-08925E7BE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711201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We use this formula:</a:t>
            </a:r>
          </a:p>
          <a:p>
            <a:pPr marL="0" lvl="0" indent="0" algn="ctr">
              <a:lnSpc>
                <a:spcPct val="145000"/>
              </a:lnSpc>
              <a:buNone/>
            </a:pPr>
            <a:r>
              <a:rPr lang="en-US" dirty="0"/>
              <a:t>	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A8DD0D1-7AF0-265D-837C-8F00C9874E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2200705"/>
                <a:ext cx="11929641" cy="43595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5000"/>
                  </a:lnSpc>
                </a:pPr>
                <a:r>
                  <a:rPr lang="en-US" dirty="0"/>
                  <a:t>The Greek letter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𝛘</m:t>
                    </m:r>
                  </m:oMath>
                </a14:m>
                <a:r>
                  <a:rPr lang="en-US" dirty="0"/>
                  <a:t> (Chi) is used to represent this statistic.	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​We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d>
                      </m:e>
                      <m:sup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because: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To remove negative signs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To give more weight to larger differences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So, bigger errors get more importance.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Division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standardizes the difference.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Hence the name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Chi-Square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I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) Test.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A8DD0D1-7AF0-265D-837C-8F00C9874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2200705"/>
                <a:ext cx="11929641" cy="4359583"/>
              </a:xfrm>
              <a:prstGeom prst="rect">
                <a:avLst/>
              </a:prstGeom>
              <a:blipFill>
                <a:blip r:embed="rId2"/>
                <a:stretch>
                  <a:fillRect l="-971" b="-41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B60F8-E75F-FE36-CE7D-7BB63C11A978}"/>
                  </a:ext>
                </a:extLst>
              </p:cNvPr>
              <p:cNvSpPr txBox="1"/>
              <p:nvPr/>
            </p:nvSpPr>
            <p:spPr>
              <a:xfrm>
                <a:off x="3405964" y="1132304"/>
                <a:ext cx="3381152" cy="1182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𝐎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𝐄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B60F8-E75F-FE36-CE7D-7BB63C11A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964" y="1132304"/>
                <a:ext cx="3381152" cy="1182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1E77D1-8487-6420-8218-35CFCB1E667F}"/>
                  </a:ext>
                </a:extLst>
              </p:cNvPr>
              <p:cNvSpPr txBox="1"/>
              <p:nvPr/>
            </p:nvSpPr>
            <p:spPr>
              <a:xfrm>
                <a:off x="7120271" y="1246598"/>
                <a:ext cx="36186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Observed value</a:t>
                </a:r>
                <a:endParaRPr lang="en-IN" sz="2800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Expected value</a:t>
                </a:r>
                <a:endParaRPr lang="en-IN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1E77D1-8487-6420-8218-35CFCB1E6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271" y="1246598"/>
                <a:ext cx="3618613" cy="954107"/>
              </a:xfrm>
              <a:prstGeom prst="rect">
                <a:avLst/>
              </a:prstGeom>
              <a:blipFill>
                <a:blip r:embed="rId4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38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  <p:bldP spid="7" grpId="0"/>
      <p:bldP spid="4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2DAC6-A4EF-508D-FE80-DC0F5C48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DF90-1525-EFCF-89D2-F2341028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Distribution and Its Role in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974FD-D50B-E0CE-6130-A4CCF3F4A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After performing the Chi-Square Test, we need to decide: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Should we accept or reject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​?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For this decision, we require a critical value or critical region.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These critical values are obtained from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Chi-Square Distribution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The Chi-Square Distribution is a probability distribution which is formed as:</a:t>
                </a:r>
              </a:p>
              <a:p>
                <a:pPr marL="0" indent="0" algn="ctr">
                  <a:lnSpc>
                    <a:spcPct val="145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0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0" dirty="0">
                        <a:latin typeface="Cambria Math" panose="02040503050406030204" pitchFamily="18" charset="0"/>
                      </a:rPr>
                      <m:t>+⋯+</m:t>
                    </m:r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	</a:t>
                </a:r>
              </a:p>
              <a:p>
                <a:pPr lvl="1" algn="l">
                  <a:lnSpc>
                    <a:spcPct val="145000"/>
                  </a:lnSpc>
                </a:pPr>
                <a:r>
                  <a:rPr lang="en-US" dirty="0"/>
                  <a:t>where:</a:t>
                </a:r>
              </a:p>
              <a:p>
                <a:pPr lvl="2" algn="l">
                  <a:lnSpc>
                    <a:spcPct val="145000"/>
                  </a:lnSpc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follows standard normal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2" algn="l">
                  <a:lnSpc>
                    <a:spcPct val="145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degrees of freedom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974FD-D50B-E0CE-6130-A4CCF3F4A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45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2B52-0B19-D5B4-FD03-88A00040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66DD-EC7F-1C80-BE32-809E4CD1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Distribution and Its Role in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212D1-FBF9-E2EC-D3FD-EEDC6E4EFF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Chi-Square Distribution is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always Non-Negative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Right-Skewed Distribution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Depends on Degrees of Freedom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Critical Value Notation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𝐝𝐟</m:t>
                        </m:r>
                      </m:sub>
                      <m:sup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212D1-FBF9-E2EC-D3FD-EEDC6E4EF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27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FD68-F58A-F123-7CB4-310421D4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CDA3-6316-B474-DB47-02146528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for 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BA6E8-C1D0-9EBD-560A-94E03F856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5888231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Chi-square is used for categorical data (non-numerical data).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It works with frequencies (counts), not measurements</a:t>
            </a:r>
          </a:p>
          <a:p>
            <a:pPr lvl="0">
              <a:lnSpc>
                <a:spcPct val="145000"/>
              </a:lnSpc>
            </a:pPr>
            <a:r>
              <a:rPr lang="en-US" b="1" dirty="0"/>
              <a:t>What is Categorical Data?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Data that is divided into groups (categories)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Examples: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Tea / Coffee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Male / Female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Yes / No</a:t>
            </a:r>
          </a:p>
        </p:txBody>
      </p:sp>
    </p:spTree>
    <p:extLst>
      <p:ext uri="{BB962C8B-B14F-4D97-AF65-F5344CB8AC3E}">
        <p14:creationId xmlns:p14="http://schemas.microsoft.com/office/powerpoint/2010/main" val="80091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3C3A-911C-40E3-61AB-1CD85DCA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FC6D-9E4E-0DD7-E8C8-7FA31178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for Categorical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B85E2-98B7-D1CC-3080-590A2C2E2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b="1" dirty="0"/>
                  <a:t>Chi-Square uses frequencies (counts).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Example: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Tea →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dirty="0"/>
                  <a:t> students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Coffee →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students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These numbers are called Frequencies (Counts).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Chi-Square is used for categorical data because: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Data is divided into categories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We count number of observations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It compares Observed vs Expected frequencies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B85E2-98B7-D1CC-3080-590A2C2E2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93322"/>
                <a:ext cx="11929641" cy="58882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66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93BE-8D50-6E0C-D310-EC579652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317C-D62C-EE29-C79D-D307020D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use Chi-Square?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DF74-4457-06D2-68FD-DBDB69884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5888231"/>
          </a:xfrm>
        </p:spPr>
        <p:txBody>
          <a:bodyPr/>
          <a:lstStyle/>
          <a:p>
            <a:pPr lvl="0">
              <a:lnSpc>
                <a:spcPct val="13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Goodness of Fit Test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Checks whether data fits a given distribution.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Example: 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Is a die fair?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Are outcomes equally likely?</a:t>
            </a:r>
          </a:p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 of Independence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Checks whether two variables are related or not.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Is gender related to product choice?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Is smoking related to disease?</a:t>
            </a:r>
          </a:p>
        </p:txBody>
      </p:sp>
    </p:spTree>
    <p:extLst>
      <p:ext uri="{BB962C8B-B14F-4D97-AF65-F5344CB8AC3E}">
        <p14:creationId xmlns:p14="http://schemas.microsoft.com/office/powerpoint/2010/main" val="215868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B036-C906-DA98-7EE7-FB116A5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3A21-2CFF-00B2-FDE7-5B264FC7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use Chi-Square?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6594-5888-BEB5-CB73-736E8D01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5888231"/>
          </a:xfrm>
        </p:spPr>
        <p:txBody>
          <a:bodyPr/>
          <a:lstStyle/>
          <a:p>
            <a:pPr lvl="0">
              <a:lnSpc>
                <a:spcPct val="13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 of Homogeneity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Checks whether different populations behave similarly.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Example: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Do students from different colleges have same preferences?</a:t>
            </a:r>
          </a:p>
        </p:txBody>
      </p:sp>
    </p:spTree>
    <p:extLst>
      <p:ext uri="{BB962C8B-B14F-4D97-AF65-F5344CB8AC3E}">
        <p14:creationId xmlns:p14="http://schemas.microsoft.com/office/powerpoint/2010/main" val="38422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8FC0-776D-B737-13A4-5EF58A3C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0626-4ECD-A476-8663-D1E880CA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Chi-Square (</a:t>
            </a:r>
            <a:r>
              <a:rPr lang="el-GR" dirty="0"/>
              <a:t>χ²)</a:t>
            </a:r>
            <a:r>
              <a:rPr lang="en-IN" dirty="0"/>
              <a:t> Test </a:t>
            </a:r>
            <a:r>
              <a:rPr lang="el-GR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942C-0908-3356-8D56-3A93A93D8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5888231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To Compare Reality vs Expectation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When Data is Categorical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To Test Independence (Relationship Between Variables)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Example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Gender vs Product Choice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Education vs Employment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Smoking vs Disease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Chi-square helps answer: 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Are they related? Or completely independent?</a:t>
            </a:r>
          </a:p>
        </p:txBody>
      </p:sp>
    </p:spTree>
    <p:extLst>
      <p:ext uri="{BB962C8B-B14F-4D97-AF65-F5344CB8AC3E}">
        <p14:creationId xmlns:p14="http://schemas.microsoft.com/office/powerpoint/2010/main" val="37216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E223-2016-BCFB-9FA6-BDC23186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E112-B855-48DA-DC3E-30B05F1C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Chi-Square (</a:t>
            </a:r>
            <a:r>
              <a:rPr lang="el-GR" dirty="0"/>
              <a:t>χ²)</a:t>
            </a:r>
            <a:r>
              <a:rPr lang="en-IN" dirty="0"/>
              <a:t> Test </a:t>
            </a:r>
            <a:r>
              <a:rPr lang="el-GR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455F-54B0-FDB8-93F7-1AEA33DE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693322"/>
            <a:ext cx="11929641" cy="5888231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To Test Goodness of Fit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No Need of Population Parameters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In many cases: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Population mean is unknown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Population variance is unknown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Other tests fail here.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Chi-square works without needing population parameters</a:t>
            </a:r>
          </a:p>
          <a:p>
            <a:pPr>
              <a:lnSpc>
                <a:spcPct val="145000"/>
              </a:lnSpc>
            </a:pPr>
            <a:r>
              <a:rPr lang="en-US" dirty="0"/>
              <a:t>Widely Used in Research &amp; Real : Life Surveys, Medical research, Market analysis</a:t>
            </a:r>
          </a:p>
        </p:txBody>
      </p:sp>
    </p:spTree>
    <p:extLst>
      <p:ext uri="{BB962C8B-B14F-4D97-AF65-F5344CB8AC3E}">
        <p14:creationId xmlns:p14="http://schemas.microsoft.com/office/powerpoint/2010/main" val="42895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D20C-86AC-9B8C-E396-F4464215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657C-EB2A-692A-1BE0-11665CD3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E8964-3152-0C06-FB95-AF2465CD7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Observed frequencies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Expected frequencies</a:t>
                </a:r>
              </a:p>
              <a:p>
                <a:pPr lvl="1"/>
                <a:r>
                  <a:rPr lang="en-US" dirty="0"/>
                  <a:t>Means perfect match (no difference)</a:t>
                </a:r>
              </a:p>
              <a:p>
                <a:r>
                  <a:rPr lang="en-US" dirty="0"/>
                  <a:t>As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increases:</a:t>
                </a:r>
              </a:p>
              <a:p>
                <a:pPr lvl="1"/>
                <a:r>
                  <a:rPr lang="en-US" dirty="0"/>
                  <a:t>The discrepancy between observed and expected frequencies increases</a:t>
                </a:r>
              </a:p>
              <a:p>
                <a:pPr lvl="1"/>
                <a:r>
                  <a:rPr lang="en-US" dirty="0"/>
                  <a:t>That means data does not fit the expectation well.</a:t>
                </a:r>
              </a:p>
              <a:p>
                <a:r>
                  <a:rPr lang="en-US" dirty="0"/>
                  <a:t>Discrepancy means the difference between observed and expected values.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E8964-3152-0C06-FB95-AF2465CD7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46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61A5-FE02-51DC-C1F0-9F57CA15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53F4-5897-5236-DCA9-A117CCF13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96268-BD68-21BE-3A5F-DB10DEF4A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If </a:t>
                </a:r>
                <a:endParaRPr lang="en-IN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the observed frequencies and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be the corresponding expected frequencies </a:t>
                </a:r>
              </a:p>
              <a:p>
                <a:pPr lvl="0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defined by,</a:t>
                </a: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96268-BD68-21BE-3A5F-DB10DEF4A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7D1ECB-C956-2589-46EE-A112883CAB39}"/>
                  </a:ext>
                </a:extLst>
              </p:cNvPr>
              <p:cNvSpPr txBox="1"/>
              <p:nvPr/>
            </p:nvSpPr>
            <p:spPr>
              <a:xfrm>
                <a:off x="2639001" y="3582606"/>
                <a:ext cx="8275320" cy="1133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6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6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26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26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IN" sz="26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7D1ECB-C956-2589-46EE-A112883CA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001" y="3582606"/>
                <a:ext cx="8275320" cy="1133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8BE10B-4861-9382-5529-DE2F962B6F43}"/>
                  </a:ext>
                </a:extLst>
              </p:cNvPr>
              <p:cNvSpPr txBox="1"/>
              <p:nvPr/>
            </p:nvSpPr>
            <p:spPr>
              <a:xfrm>
                <a:off x="2639001" y="5020727"/>
                <a:ext cx="3687371" cy="1280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6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6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6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6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6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6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6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6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6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6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6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6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6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6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6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6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6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6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6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6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6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6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6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6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6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6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IN" sz="26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8BE10B-4861-9382-5529-DE2F962B6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001" y="5020727"/>
                <a:ext cx="3687371" cy="1280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66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D42C-9772-C972-6850-C68D81F2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7F1E5C-1258-81C8-E07B-268F4F4979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Conditions for validity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test: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7F1E5C-1258-81C8-E07B-268F4F497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1BB98-CA30-979F-6B39-B75B40307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Observations must be independent (one observation should not affect another).</a:t>
                </a:r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Total sample size should be large.</a:t>
                </a:r>
              </a:p>
              <a:p>
                <a:pPr marL="0" indent="0" algn="ctr">
                  <a:lnSpc>
                    <a:spcPct val="145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(recommended, not strict)</a:t>
                </a:r>
              </a:p>
              <a:p>
                <a:pPr algn="l">
                  <a:lnSpc>
                    <a:spcPct val="145000"/>
                  </a:lnSpc>
                </a:pPr>
                <a:r>
                  <a:rPr lang="en-US" dirty="0"/>
                  <a:t>Each expected frequency should be at least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l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If any expected frequency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, combine (pool) it with neighboring </a:t>
                </a:r>
                <a:r>
                  <a:rPr lang="en-IN" dirty="0"/>
                  <a:t>categories</a:t>
                </a:r>
                <a:r>
                  <a:rPr lang="en-US" dirty="0"/>
                  <a:t>, so that the new </a:t>
                </a:r>
                <a:r>
                  <a:rPr lang="en-IN" dirty="0"/>
                  <a:t>expected </a:t>
                </a:r>
                <a:r>
                  <a:rPr lang="en-US" dirty="0"/>
                  <a:t>frequency becomes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 algn="l">
                  <a:lnSpc>
                    <a:spcPct val="145000"/>
                  </a:lnSpc>
                </a:pPr>
                <a:r>
                  <a:rPr lang="en-US" dirty="0"/>
                  <a:t>After pooling, adjust the degrees of freedom accordingly.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1BB98-CA30-979F-6B39-B75B40307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3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7706-F7A6-8E5F-5C26-CF094BF9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9F854C-DC74-83C7-5DD9-A056022F7725}"/>
              </a:ext>
            </a:extLst>
          </p:cNvPr>
          <p:cNvSpPr/>
          <p:nvPr/>
        </p:nvSpPr>
        <p:spPr>
          <a:xfrm>
            <a:off x="5872778" y="2438031"/>
            <a:ext cx="1072055" cy="95906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BF6C0BD-7735-5CAC-6593-996F6458FA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396025"/>
                  </p:ext>
                </p:extLst>
              </p:nvPr>
            </p:nvGraphicFramePr>
            <p:xfrm>
              <a:off x="257584" y="838200"/>
              <a:ext cx="7452000" cy="2590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343864415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684232632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9168954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Category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Observed (O)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Expected (E)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4233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53514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26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4044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083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BF6C0BD-7735-5CAC-6593-996F6458FA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396025"/>
                  </p:ext>
                </p:extLst>
              </p:nvPr>
            </p:nvGraphicFramePr>
            <p:xfrm>
              <a:off x="257584" y="838200"/>
              <a:ext cx="7452000" cy="2590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343864415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684232632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91689548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Category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Observed (O)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Expected (E)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423369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35" t="-110588" r="-200980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983" t="-110588" r="-101474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90" t="-110588" r="-1225" b="-30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53514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35" t="-208140" r="-200980" b="-2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983" t="-208140" r="-101474" b="-2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90" t="-208140" r="-1225" b="-2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4263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35" t="-311765" r="-20098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983" t="-311765" r="-101474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90" t="-311765" r="-1225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404423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35" t="-411765" r="-20098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983" t="-411765" r="-101474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90" t="-411765" r="-1225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083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D2DD62-E148-9E7F-9AEC-A349669160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Conditions for validity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test: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D2DD62-E148-9E7F-9AEC-A34966916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AA3227-7529-11B6-D8F8-83EAF81868DC}"/>
              </a:ext>
            </a:extLst>
          </p:cNvPr>
          <p:cNvCxnSpPr>
            <a:cxnSpLocks/>
          </p:cNvCxnSpPr>
          <p:nvPr/>
        </p:nvCxnSpPr>
        <p:spPr>
          <a:xfrm>
            <a:off x="6944833" y="2917565"/>
            <a:ext cx="118907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381721-E065-F5B1-5D1F-2D1EFD7A1984}"/>
                  </a:ext>
                </a:extLst>
              </p:cNvPr>
              <p:cNvSpPr txBox="1"/>
              <p:nvPr/>
            </p:nvSpPr>
            <p:spPr>
              <a:xfrm>
                <a:off x="8133907" y="2271234"/>
                <a:ext cx="3687371" cy="1292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solidFill>
                      <a:srgbClr val="002060"/>
                    </a:solidFill>
                  </a:rPr>
                  <a:t>Expected frequencies for </a:t>
                </a:r>
                <a14:m>
                  <m:oMath xmlns:m="http://schemas.openxmlformats.org/officeDocument/2006/math">
                    <m:r>
                      <a:rPr lang="en-US" sz="26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600" b="1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600" b="1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6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26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600" b="1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solidFill>
                      <a:srgbClr val="002060"/>
                    </a:solidFill>
                  </a:rPr>
                  <a:t>Both are less than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sz="2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381721-E065-F5B1-5D1F-2D1EFD7A1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907" y="2271234"/>
                <a:ext cx="3687371" cy="1292662"/>
              </a:xfrm>
              <a:prstGeom prst="rect">
                <a:avLst/>
              </a:prstGeom>
              <a:blipFill>
                <a:blip r:embed="rId4"/>
                <a:stretch>
                  <a:fillRect l="-2479" t="-4245" b="-113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C28F11F-5AD9-8CC9-22F0-925F5328ABA6}"/>
              </a:ext>
            </a:extLst>
          </p:cNvPr>
          <p:cNvSpPr txBox="1"/>
          <p:nvPr/>
        </p:nvSpPr>
        <p:spPr>
          <a:xfrm>
            <a:off x="257584" y="3563896"/>
            <a:ext cx="43675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2060"/>
                </a:solidFill>
              </a:rPr>
              <a:t>So, Combine categories C and D</a:t>
            </a:r>
            <a:endParaRPr lang="en-IN" sz="2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9C7CE87-42EF-36BA-2FA6-919AB301E3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7713358"/>
                  </p:ext>
                </p:extLst>
              </p:nvPr>
            </p:nvGraphicFramePr>
            <p:xfrm>
              <a:off x="257584" y="4301924"/>
              <a:ext cx="7452000" cy="207264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343864415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684232632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9168954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Category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Observed (O)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Expected (E)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4233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53514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426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n-IN" sz="2800" b="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b="0" i="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8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+5=8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8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+4=6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4044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9C7CE87-42EF-36BA-2FA6-919AB301E3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7713358"/>
                  </p:ext>
                </p:extLst>
              </p:nvPr>
            </p:nvGraphicFramePr>
            <p:xfrm>
              <a:off x="257584" y="4301924"/>
              <a:ext cx="7452000" cy="207264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3438644151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684232632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391689548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Category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Observed (O)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Expected (E)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423369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5" t="-109302" r="-200980" b="-2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83" t="-109302" r="-101474" b="-20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490" t="-109302" r="-1225" b="-20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53514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5" t="-211765" r="-20098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83" t="-211765" r="-101474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490" t="-211765" r="-1225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4263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5" t="-311765" r="-20098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83" t="-311765" r="-101474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490" t="-311765" r="-1225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40442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F5B68B-0F6B-0E58-BECC-A88A8E2E0AD2}"/>
                  </a:ext>
                </a:extLst>
              </p:cNvPr>
              <p:cNvSpPr txBox="1"/>
              <p:nvPr/>
            </p:nvSpPr>
            <p:spPr>
              <a:xfrm>
                <a:off x="8133907" y="4301924"/>
                <a:ext cx="4153787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solidFill>
                      <a:srgbClr val="002060"/>
                    </a:solidFill>
                  </a:rPr>
                  <a:t>Number of categories reduced from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600" b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solidFill>
                      <a:srgbClr val="002060"/>
                    </a:solidFill>
                  </a:rPr>
                  <a:t>So, Degrees of Freedom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6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600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1=2</m:t>
                    </m:r>
                  </m:oMath>
                </a14:m>
                <a:endParaRPr lang="en-IN" sz="2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F5B68B-0F6B-0E58-BECC-A88A8E2E0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907" y="4301924"/>
                <a:ext cx="4153787" cy="1692771"/>
              </a:xfrm>
              <a:prstGeom prst="rect">
                <a:avLst/>
              </a:prstGeom>
              <a:blipFill>
                <a:blip r:embed="rId6"/>
                <a:stretch>
                  <a:fillRect l="-2199" t="-32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75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A947-7785-5E42-5E01-0B7D97DD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052719-920C-B9AA-E54F-7FC49A694E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Applications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052719-920C-B9AA-E54F-7FC49A694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CB21-E6EE-289C-373A-B32355CC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Goodness of Fit</a:t>
            </a:r>
          </a:p>
          <a:p>
            <a:pPr lvl="1"/>
            <a:r>
              <a:rPr lang="en-US" dirty="0"/>
              <a:t>When to use: </a:t>
            </a:r>
          </a:p>
          <a:p>
            <a:pPr lvl="2"/>
            <a:r>
              <a:rPr lang="en-US" dirty="0"/>
              <a:t>When you want to check whether observed frequencies follow a specific theoretical distribution.</a:t>
            </a:r>
          </a:p>
          <a:p>
            <a:pPr lvl="2"/>
            <a:r>
              <a:rPr lang="en-US" dirty="0"/>
              <a:t>We compare observed frequencies with expected frequencies.</a:t>
            </a:r>
          </a:p>
          <a:p>
            <a:pPr lvl="2"/>
            <a:r>
              <a:rPr lang="en-US" dirty="0"/>
              <a:t>Example: You roll a fair die 60 times and want to check if all faces appear equally often.</a:t>
            </a:r>
            <a:endParaRPr lang="en-IN" dirty="0"/>
          </a:p>
          <a:p>
            <a:pPr lvl="3"/>
            <a:endParaRPr lang="en-US" dirty="0"/>
          </a:p>
          <a:p>
            <a:pPr marL="742950" lvl="2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r>
              <a:rPr lang="en-US" dirty="0"/>
              <a:t>	</a:t>
            </a:r>
          </a:p>
          <a:p>
            <a:pPr marL="1657350" lvl="4" indent="0">
              <a:lnSpc>
                <a:spcPct val="145000"/>
              </a:lnSpc>
              <a:buNone/>
            </a:pPr>
            <a:endParaRPr lang="en-IN" dirty="0"/>
          </a:p>
          <a:p>
            <a:pPr marL="1657350" lvl="4" indent="0">
              <a:lnSpc>
                <a:spcPct val="145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1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F804-A43A-5804-D04F-17712FB5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CDF8E-C97B-E80F-E56F-47CE42469C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Applications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CDF8E-C97B-E80F-E56F-47CE42469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D2B9-5EDE-BB89-0EDF-230791310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Independence of Attributes:</a:t>
            </a:r>
          </a:p>
          <a:p>
            <a:pPr lvl="1"/>
            <a:r>
              <a:rPr lang="en-US" dirty="0"/>
              <a:t>When to use: </a:t>
            </a:r>
          </a:p>
          <a:p>
            <a:pPr lvl="2"/>
            <a:r>
              <a:rPr lang="en-US" dirty="0"/>
              <a:t>When you want to see To check whether two categorical variables are associated or independent</a:t>
            </a:r>
          </a:p>
          <a:p>
            <a:pPr lvl="2"/>
            <a:r>
              <a:rPr lang="en-US" dirty="0"/>
              <a:t>Data is arranged in a contingency table</a:t>
            </a:r>
          </a:p>
          <a:p>
            <a:pPr lvl="2"/>
            <a:r>
              <a:rPr lang="en-US" dirty="0"/>
              <a:t>Example: Check whether gender (Male/Female) and product preference (A/B) are independent.</a:t>
            </a:r>
          </a:p>
          <a:p>
            <a:pPr marL="457200" lvl="1" indent="0">
              <a:lnSpc>
                <a:spcPct val="145000"/>
              </a:lnSpc>
              <a:buNone/>
            </a:pPr>
            <a:r>
              <a:rPr lang="en-US" dirty="0"/>
              <a:t>	</a:t>
            </a:r>
          </a:p>
          <a:p>
            <a:pPr marL="1657350" lvl="4" indent="0">
              <a:lnSpc>
                <a:spcPct val="145000"/>
              </a:lnSpc>
              <a:buNone/>
            </a:pPr>
            <a:endParaRPr lang="en-IN" dirty="0"/>
          </a:p>
          <a:p>
            <a:pPr marL="1657350" lvl="4" indent="0">
              <a:lnSpc>
                <a:spcPct val="145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6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7972-1461-22AD-3758-24A77A24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F4089-B368-7444-C4B6-7A694BDCF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Find appropriate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dirty="0"/>
                  <a:t> and apply test statistic.</a:t>
                </a:r>
                <a:endParaRPr lang="en-IN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Find appropriate degree of freedom and set up critical region.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F4089-B368-7444-C4B6-7A694BDCF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4730112-561B-B8F2-85A3-91E2AB4B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Rule for Chi – Square Test</a:t>
            </a:r>
          </a:p>
        </p:txBody>
      </p:sp>
    </p:spTree>
    <p:extLst>
      <p:ext uri="{BB962C8B-B14F-4D97-AF65-F5344CB8AC3E}">
        <p14:creationId xmlns:p14="http://schemas.microsoft.com/office/powerpoint/2010/main" val="24137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1D8A-C5CE-4C37-4E39-E2AC2932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A9FC-27DB-BD40-ECA4-7ECBDF16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Compare the computed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with critical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.</a:t>
                </a:r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dirty="0"/>
                  <a:t> , we </a:t>
                </a:r>
                <a:r>
                  <a:rPr lang="en-US" b="1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significant difference. </a:t>
                </a:r>
                <a:endParaRPr lang="en-IN" dirty="0"/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dirty="0"/>
                  <a:t> , we </a:t>
                </a:r>
                <a:r>
                  <a:rPr lang="en-US" b="1" dirty="0"/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no significant difference.</a:t>
                </a:r>
                <a:endParaRPr lang="en-IN" dirty="0"/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A9FC-27DB-BD40-ECA4-7ECBDF16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C88E426-F423-5AA3-D476-D98F445F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5817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7F2D-5C04-A790-3F67-CAB6FE0A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34CE-B1DA-F571-F53A-390FAB6D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7</a:t>
            </a:r>
            <a:br>
              <a:rPr lang="en-US" dirty="0"/>
            </a:br>
            <a:r>
              <a:rPr lang="en-US" dirty="0"/>
              <a:t>Chi – Square Test: Goodness of Fit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44010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6608-001E-1635-5DD1-AF84924F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3FAA-7CAF-633D-E21F-02731C8C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10C82-D991-C19C-C620-91F90CF09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In Goodness of Fit test, we compare:</a:t>
                </a:r>
              </a:p>
              <a:p>
                <a:pPr lvl="1"/>
                <a:r>
                  <a:rPr lang="en-US" dirty="0"/>
                  <a:t>Observed frequency (O)</a:t>
                </a:r>
              </a:p>
              <a:p>
                <a:pPr lvl="1"/>
                <a:r>
                  <a:rPr lang="en-US" dirty="0"/>
                  <a:t>Expected frequency (E)</a:t>
                </a:r>
              </a:p>
              <a:p>
                <a:pPr lvl="0"/>
                <a:r>
                  <a:rPr lang="en-US" dirty="0"/>
                  <a:t>But…</a:t>
                </a:r>
              </a:p>
              <a:p>
                <a:pPr lvl="1"/>
                <a:r>
                  <a:rPr lang="en-US" dirty="0"/>
                  <a:t>expected frequencies are not fully free, because: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=∑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So, one constraint already exists → reduces DOF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10C82-D991-C19C-C620-91F90CF09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06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6F2C-B1E9-09FA-47CE-B4DC72C8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9753-E518-3896-B02D-C8E11095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41AD-0DEF-B2CB-7A3C-AA0863C634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General Formula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(number of estimated parameters)</a:t>
                </a:r>
              </a:p>
              <a:p>
                <a:pPr lvl="0"/>
                <a:r>
                  <a:rPr lang="en-US" dirty="0"/>
                  <a:t>Meaning: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categories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→ because total frequency is fixed</a:t>
                </a:r>
              </a:p>
              <a:p>
                <a:pPr lvl="1"/>
                <a:r>
                  <a:rPr lang="en-US" dirty="0"/>
                  <a:t>subtract more → if we estimate parameters from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41AD-0DEF-B2CB-7A3C-AA0863C63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63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127B-C129-5024-86EA-7E35D9A6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6371-901B-DFFA-DFC5-64377EF6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18C6-9B0B-157A-13E6-A44C79A32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General Data (No Distribution)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		</a:t>
                </a:r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𝐦𝐞𝐚𝐧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18C6-9B0B-157A-13E6-A44C79A32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7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63B7-BD7B-14FD-5A23-6E39B32F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6DAE-CDDA-3FAA-8B05-4C48921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480BE-93B7-38FF-F8D4-B480D603C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480BE-93B7-38FF-F8D4-B480D603C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918057-4D5C-39A1-0F49-FF303EEFE06E}"/>
                  </a:ext>
                </a:extLst>
              </p:cNvPr>
              <p:cNvSpPr txBox="1"/>
              <p:nvPr/>
            </p:nvSpPr>
            <p:spPr>
              <a:xfrm>
                <a:off x="225144" y="2271911"/>
                <a:ext cx="4034790" cy="854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918057-4D5C-39A1-0F49-FF303EEFE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44" y="2271911"/>
                <a:ext cx="4034790" cy="854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D5A59-06E3-7BBB-C75A-37B654020D8E}"/>
                  </a:ext>
                </a:extLst>
              </p:cNvPr>
              <p:cNvSpPr txBox="1"/>
              <p:nvPr/>
            </p:nvSpPr>
            <p:spPr>
              <a:xfrm>
                <a:off x="1007435" y="3283812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Observed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D5A59-06E3-7BBB-C75A-37B65402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35" y="3283812"/>
                <a:ext cx="3749040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209EF-CA5B-7B97-FBBD-B6FFA9578866}"/>
                  </a:ext>
                </a:extLst>
              </p:cNvPr>
              <p:cNvSpPr txBox="1"/>
              <p:nvPr/>
            </p:nvSpPr>
            <p:spPr>
              <a:xfrm>
                <a:off x="996005" y="3899538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Total Observation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209EF-CA5B-7B97-FBBD-B6FFA957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5" y="3899538"/>
                <a:ext cx="3749040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1FBD74-09FC-38E1-ECC8-4E1A45D5A753}"/>
                  </a:ext>
                </a:extLst>
              </p:cNvPr>
              <p:cNvSpPr txBox="1"/>
              <p:nvPr/>
            </p:nvSpPr>
            <p:spPr>
              <a:xfrm>
                <a:off x="965525" y="4509138"/>
                <a:ext cx="520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Sum of observed frequency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1FBD74-09FC-38E1-ECC8-4E1A45D5A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25" y="4509138"/>
                <a:ext cx="5208270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01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94EC-E916-BECC-8776-4327D62B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F9D7-061A-13A9-77E3-4A48D065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Degree of Freedom for 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D24674CC-6E21-F9DF-0D97-6FF12EE75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78381"/>
                <a:ext cx="11929641" cy="5835068"/>
              </a:xfrm>
            </p:spPr>
            <p:txBody>
              <a:bodyPr/>
              <a:lstStyle/>
              <a:p>
                <a:r>
                  <a:rPr lang="en-US" b="1" dirty="0"/>
                  <a:t>Case 1: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US" b="1" dirty="0"/>
                  <a:t> is given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as no parameter estimated</a:t>
                </a:r>
              </a:p>
              <a:p>
                <a:r>
                  <a:rPr lang="en-US" b="1" dirty="0"/>
                  <a:t>Case 2: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US" b="1" dirty="0"/>
                  <a:t> is not given</a:t>
                </a:r>
              </a:p>
              <a:p>
                <a:r>
                  <a:rPr lang="en-IN" dirty="0"/>
                  <a:t>Restrictions: </a:t>
                </a:r>
              </a:p>
              <a:p>
                <a:pPr lvl="1"/>
                <a:r>
                  <a:rPr lang="en-IN" dirty="0"/>
                  <a:t>Total frequency: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ar-AE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nary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ar-AE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ar-AE" dirty="0"/>
              </a:p>
              <a:p>
                <a:pPr lvl="1" algn="l"/>
                <a:r>
                  <a:rPr lang="en-IN" dirty="0"/>
                  <a:t>Mean matching (due to estimating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Observed</m:t>
                    </m:r>
                    <m:r>
                      <m:rPr>
                        <m:nor/>
                      </m:rPr>
                      <a:rPr lang="en-IN" b="0"/>
                      <m:t> </m:t>
                    </m:r>
                    <m:r>
                      <m:rPr>
                        <m:nor/>
                      </m:rPr>
                      <a:rPr lang="en-IN" b="0"/>
                      <m:t>mean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b="1" dirty="0"/>
              </a:p>
              <a:p>
                <a:pPr algn="l"/>
                <a:r>
                  <a:rPr lang="en-IN" dirty="0"/>
                  <a:t>Total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restrictions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D24674CC-6E21-F9DF-0D97-6FF12EE75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78381"/>
                <a:ext cx="11929641" cy="583506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64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75784-C0CC-19B2-C5CE-B71830AA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9C9E-A5A4-1B19-591B-9A39F727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EAFD0-CAAC-8ACB-8596-1FEAF7AA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6056969" cy="711201"/>
              </a:xfrm>
            </p:spPr>
            <p:txBody>
              <a:bodyPr/>
              <a:lstStyle/>
              <a:p>
                <a:pPr algn="l"/>
                <a:r>
                  <a:rPr lang="en-US" b="1" dirty="0"/>
                  <a:t>Expected Frequency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lvl="0" indent="0" algn="l">
                  <a:buNone/>
                </a:pPr>
                <a:r>
                  <a:rPr lang="en-US" b="1" dirty="0"/>
                  <a:t>	</a:t>
                </a:r>
              </a:p>
              <a:p>
                <a:pPr marL="914400" lvl="2" indent="0" algn="l">
                  <a:buNone/>
                </a:pPr>
                <a:endParaRPr lang="en-US" b="1" dirty="0"/>
              </a:p>
              <a:p>
                <a:pPr marL="0" lvl="0" indent="0" algn="l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EAFD0-CAAC-8ACB-8596-1FEAF7AA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6056969" cy="711201"/>
              </a:xfrm>
              <a:blipFill>
                <a:blip r:embed="rId2"/>
                <a:stretch>
                  <a:fillRect l="-1913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F47852-1343-52DF-E59A-1E5C4ACAD601}"/>
                  </a:ext>
                </a:extLst>
              </p:cNvPr>
              <p:cNvSpPr txBox="1"/>
              <p:nvPr/>
            </p:nvSpPr>
            <p:spPr>
              <a:xfrm>
                <a:off x="406850" y="2951198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Observed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F47852-1343-52DF-E59A-1E5C4ACA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50" y="2951198"/>
                <a:ext cx="3749040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7ADB7-583D-68C6-2094-A0FFAA76C5B7}"/>
                  </a:ext>
                </a:extLst>
              </p:cNvPr>
              <p:cNvSpPr txBox="1"/>
              <p:nvPr/>
            </p:nvSpPr>
            <p:spPr>
              <a:xfrm>
                <a:off x="332419" y="3646735"/>
                <a:ext cx="520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Sum of observed frequency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7ADB7-583D-68C6-2094-A0FFAA76C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19" y="3646735"/>
                <a:ext cx="5208270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50490-CFCC-DA24-F054-BA3F374452E2}"/>
                  </a:ext>
                </a:extLst>
              </p:cNvPr>
              <p:cNvSpPr txBox="1"/>
              <p:nvPr/>
            </p:nvSpPr>
            <p:spPr>
              <a:xfrm>
                <a:off x="414751" y="1579573"/>
                <a:ext cx="3078480" cy="975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50490-CFCC-DA24-F054-BA3F3744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51" y="1579573"/>
                <a:ext cx="3078480" cy="9757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B74B0-70C6-E99D-EB96-0E7BCBF5A444}"/>
                  </a:ext>
                </a:extLst>
              </p:cNvPr>
              <p:cNvSpPr txBox="1"/>
              <p:nvPr/>
            </p:nvSpPr>
            <p:spPr>
              <a:xfrm>
                <a:off x="414751" y="4342273"/>
                <a:ext cx="1645237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B74B0-70C6-E99D-EB96-0E7BCBF5A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51" y="4342273"/>
                <a:ext cx="1645237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DFE0ACB-F43D-2B71-76E2-0B02EC6D94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3851" y="726284"/>
                <a:ext cx="6056969" cy="711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1" dirty="0"/>
                  <a:t>DOF :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 algn="l">
                  <a:buFont typeface="Wingdings 3" panose="05040102010807070707" pitchFamily="18" charset="2"/>
                  <a:buNone/>
                </a:pPr>
                <a:r>
                  <a:rPr lang="en-US" b="1" dirty="0"/>
                  <a:t>	</a:t>
                </a:r>
              </a:p>
              <a:p>
                <a:pPr marL="914400" lvl="2" indent="0" algn="l">
                  <a:buFont typeface="Wingdings" panose="05000000000000000000" pitchFamily="2" charset="2"/>
                  <a:buNone/>
                </a:pPr>
                <a:endParaRPr lang="en-US" b="1" dirty="0"/>
              </a:p>
              <a:p>
                <a:pPr marL="0" indent="0" algn="l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DFE0ACB-F43D-2B71-76E2-0B02EC6D9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851" y="726284"/>
                <a:ext cx="6056969" cy="711201"/>
              </a:xfrm>
              <a:prstGeom prst="rect">
                <a:avLst/>
              </a:prstGeom>
              <a:blipFill>
                <a:blip r:embed="rId7"/>
                <a:stretch>
                  <a:fillRect l="-1913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7957A3E-B044-A2EF-53C2-44734DD5C6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3851" y="1437485"/>
                <a:ext cx="6056969" cy="27324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/>
                  <a:t>Why?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constraint: total frequency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estimated parameter: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lang="en-US" dirty="0"/>
              </a:p>
              <a:p>
                <a:pPr lvl="1" algn="l"/>
                <a:r>
                  <a:rPr lang="en-US" dirty="0"/>
                  <a:t>Total reduction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7957A3E-B044-A2EF-53C2-44734DD5C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851" y="1437485"/>
                <a:ext cx="6056969" cy="2732470"/>
              </a:xfrm>
              <a:prstGeom prst="rect">
                <a:avLst/>
              </a:prstGeom>
              <a:blipFill>
                <a:blip r:embed="rId8"/>
                <a:stretch>
                  <a:fillRect l="-1913" b="-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4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6" grpId="0"/>
      <p:bldP spid="7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3D8D-A162-62BC-A567-16603BCC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38CE-BECB-6A91-BA3F-7D71049D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3760E7-9EE3-FAAD-43B6-1EFE89738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𝐚𝐫𝐞𝐚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𝐛𝐞𝐭𝐰𝐞𝐞𝐧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𝐚𝐧𝐝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3760E7-9EE3-FAAD-43B6-1EFE89738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5733B4-A639-2774-B396-B29301CE2582}"/>
                  </a:ext>
                </a:extLst>
              </p:cNvPr>
              <p:cNvSpPr txBox="1"/>
              <p:nvPr/>
            </p:nvSpPr>
            <p:spPr>
              <a:xfrm>
                <a:off x="581596" y="3380368"/>
                <a:ext cx="96011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Sample Mean (Given in Data OR Manually calculate from data)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5733B4-A639-2774-B396-B29301CE2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96" y="3380368"/>
                <a:ext cx="9601199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AB6C68-FF1D-D32F-1968-8E37CFE23E3B}"/>
                  </a:ext>
                </a:extLst>
              </p:cNvPr>
              <p:cNvSpPr txBox="1"/>
              <p:nvPr/>
            </p:nvSpPr>
            <p:spPr>
              <a:xfrm>
                <a:off x="567276" y="4027688"/>
                <a:ext cx="64573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Population Mean ( Given in Data 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AB6C68-FF1D-D32F-1968-8E37CFE23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76" y="4027688"/>
                <a:ext cx="6457315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0D5634-502E-1B4C-7140-649224393A9D}"/>
                  </a:ext>
                </a:extLst>
              </p:cNvPr>
              <p:cNvSpPr txBox="1"/>
              <p:nvPr/>
            </p:nvSpPr>
            <p:spPr>
              <a:xfrm>
                <a:off x="581596" y="2333053"/>
                <a:ext cx="1916562" cy="898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0D5634-502E-1B4C-7140-649224393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96" y="2333053"/>
                <a:ext cx="1916562" cy="898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E1F47D-E659-E0A4-4AA0-C886BC2729EA}"/>
                  </a:ext>
                </a:extLst>
              </p:cNvPr>
              <p:cNvSpPr txBox="1"/>
              <p:nvPr/>
            </p:nvSpPr>
            <p:spPr>
              <a:xfrm>
                <a:off x="567276" y="4675008"/>
                <a:ext cx="5172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 Population SD ( Given in Data 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E1F47D-E659-E0A4-4AA0-C886BC272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76" y="4675008"/>
                <a:ext cx="5172075" cy="523220"/>
              </a:xfrm>
              <a:prstGeom prst="rect">
                <a:avLst/>
              </a:prstGeom>
              <a:blipFill>
                <a:blip r:embed="rId6"/>
                <a:stretch>
                  <a:fillRect t="-11628" r="-472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3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7" grpId="0"/>
      <p:bldP spid="5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E1D9-CF8A-1911-C3DE-A64EFF84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49DE-E154-B43A-3E77-EE7EC75B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E8315E-5D3C-FF1C-1ED8-F3C48CFC23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679" y="711201"/>
                <a:ext cx="6056969" cy="711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b="1" dirty="0"/>
                  <a:t>DOF :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 algn="l">
                  <a:buFont typeface="Wingdings 3" panose="05040102010807070707" pitchFamily="18" charset="2"/>
                  <a:buNone/>
                </a:pPr>
                <a:r>
                  <a:rPr lang="en-US" b="1" dirty="0"/>
                  <a:t>	</a:t>
                </a:r>
              </a:p>
              <a:p>
                <a:pPr marL="914400" lvl="2" indent="0" algn="l">
                  <a:buFont typeface="Wingdings" panose="05000000000000000000" pitchFamily="2" charset="2"/>
                  <a:buNone/>
                </a:pPr>
                <a:endParaRPr lang="en-US" b="1" dirty="0"/>
              </a:p>
              <a:p>
                <a:pPr marL="0" indent="0" algn="l">
                  <a:lnSpc>
                    <a:spcPct val="145000"/>
                  </a:lnSpc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E8315E-5D3C-FF1C-1ED8-F3C48CFC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9" y="711201"/>
                <a:ext cx="6056969" cy="711201"/>
              </a:xfrm>
              <a:prstGeom prst="rect">
                <a:avLst/>
              </a:prstGeom>
              <a:blipFill>
                <a:blip r:embed="rId2"/>
                <a:stretch>
                  <a:fillRect l="-1811"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5253667-5D23-CC0E-D117-7EDF2C1F64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679" y="1422402"/>
                <a:ext cx="6056969" cy="27324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/>
                  <a:t>Why?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constraint: total frequency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estimated parameter: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/>
              </a:p>
              <a:p>
                <a:pPr lvl="1" algn="l"/>
                <a:r>
                  <a:rPr lang="en-US" dirty="0"/>
                  <a:t>Total reduction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5253667-5D23-CC0E-D117-7EDF2C1F6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9" y="1422402"/>
                <a:ext cx="6056969" cy="2732470"/>
              </a:xfrm>
              <a:prstGeom prst="rect">
                <a:avLst/>
              </a:prstGeom>
              <a:blipFill>
                <a:blip r:embed="rId3"/>
                <a:stretch>
                  <a:fillRect l="-1811" b="-6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0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AD34D-E402-217B-2B98-055FE1F8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9EA9-FB0D-54D4-55CA-3AEAFDB7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– Square Test: Goodness of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FAE2-C96E-9E59-531A-110D7246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6284"/>
            <a:ext cx="11929641" cy="5590565"/>
          </a:xfrm>
        </p:spPr>
        <p:txBody>
          <a:bodyPr/>
          <a:lstStyle/>
          <a:p>
            <a:pPr lvl="0"/>
            <a:r>
              <a:rPr lang="en-US" b="1" dirty="0"/>
              <a:t>Formula for Test of Significance</a:t>
            </a:r>
          </a:p>
          <a:p>
            <a:pPr marL="914400" lvl="2" indent="0">
              <a:buNone/>
            </a:pPr>
            <a:endParaRPr lang="en-US" b="1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/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26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0B80-4615-AD29-2367-CBC16D5D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7434294-0E65-91B7-76C3-939DF41057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88002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Suppose that a die is tossed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dirty="0"/>
                  <a:t> times and the recorded data is as follows:</a:t>
                </a:r>
                <a:endParaRPr lang="en-I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Test the hypothesis that the die is unbiased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05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070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7434294-0E65-91B7-76C3-939DF410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880022"/>
              </a:xfrm>
              <a:prstGeom prst="rect">
                <a:avLst/>
              </a:prstGeom>
              <a:blipFill>
                <a:blip r:embed="rId2"/>
                <a:stretch>
                  <a:fillRect l="-1074" b="-25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37A0211-3726-4AC7-9F3A-1298EF57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BFDD7F-10C5-D8F0-72E9-850EF72F92E1}"/>
              </a:ext>
            </a:extLst>
          </p:cNvPr>
          <p:cNvSpPr/>
          <p:nvPr/>
        </p:nvSpPr>
        <p:spPr>
          <a:xfrm>
            <a:off x="131177" y="41319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B6B63D-5D33-395C-35BC-BE9C1FC455A8}"/>
                  </a:ext>
                </a:extLst>
              </p:cNvPr>
              <p:cNvSpPr/>
              <p:nvPr/>
            </p:nvSpPr>
            <p:spPr>
              <a:xfrm>
                <a:off x="1614167" y="4144665"/>
                <a:ext cx="11328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B6B63D-5D33-395C-35BC-BE9C1FC45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67" y="4144665"/>
                <a:ext cx="113281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F75CC96-AC22-46AF-453B-4E3472A5B7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445088"/>
                  </p:ext>
                </p:extLst>
              </p:nvPr>
            </p:nvGraphicFramePr>
            <p:xfrm>
              <a:off x="1013219" y="1565270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Face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Frequency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F75CC96-AC22-46AF-453B-4E3472A5B7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445088"/>
                  </p:ext>
                </p:extLst>
              </p:nvPr>
            </p:nvGraphicFramePr>
            <p:xfrm>
              <a:off x="1013219" y="1565270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Face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36898" t="-840" r="-45668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1381" t="-840" r="-371823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7605" t="-840" r="-30299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19136" t="-840" r="-212346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85207" t="-840" r="-103550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64740" t="-840" r="-1156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Frequency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36898" t="-101695" r="-45668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1381" t="-101695" r="-371823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7605" t="-101695" r="-30299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19136" t="-101695" r="-212346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85207" t="-101695" r="-103550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64740" t="-101695" r="-1156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807E5EB-2D95-DCE6-D9C0-07D5DADF05AA}"/>
                  </a:ext>
                </a:extLst>
              </p:cNvPr>
              <p:cNvSpPr/>
              <p:nvPr/>
            </p:nvSpPr>
            <p:spPr>
              <a:xfrm>
                <a:off x="1617374" y="48837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807E5EB-2D95-DCE6-D9C0-07D5DADF0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374" y="488378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76EED98-905A-6AA9-7845-28F9E11D4D9E}"/>
              </a:ext>
            </a:extLst>
          </p:cNvPr>
          <p:cNvSpPr/>
          <p:nvPr/>
        </p:nvSpPr>
        <p:spPr>
          <a:xfrm>
            <a:off x="2402922" y="4882148"/>
            <a:ext cx="23869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Die is unbiased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3AAD91-24D1-64AF-3831-7E9D27CE7AEA}"/>
                  </a:ext>
                </a:extLst>
              </p:cNvPr>
              <p:cNvSpPr/>
              <p:nvPr/>
            </p:nvSpPr>
            <p:spPr>
              <a:xfrm>
                <a:off x="1629408" y="554095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3AAD91-24D1-64AF-3831-7E9D27CE7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08" y="5540957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B459FAA-C57A-5E3D-88E7-2600AA451667}"/>
              </a:ext>
            </a:extLst>
          </p:cNvPr>
          <p:cNvSpPr/>
          <p:nvPr/>
        </p:nvSpPr>
        <p:spPr>
          <a:xfrm>
            <a:off x="2414956" y="5539320"/>
            <a:ext cx="21189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Die is Biased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7619E3-957E-C686-AA86-0A8BFF712A1A}"/>
                  </a:ext>
                </a:extLst>
              </p:cNvPr>
              <p:cNvSpPr/>
              <p:nvPr/>
            </p:nvSpPr>
            <p:spPr>
              <a:xfrm>
                <a:off x="5461484" y="4137010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7619E3-957E-C686-AA86-0A8BFF712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484" y="4137010"/>
                <a:ext cx="2386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6727A1-BBE4-CFF0-7A22-1B1DAB432543}"/>
                  </a:ext>
                </a:extLst>
              </p:cNvPr>
              <p:cNvSpPr/>
              <p:nvPr/>
            </p:nvSpPr>
            <p:spPr>
              <a:xfrm>
                <a:off x="3097157" y="4131965"/>
                <a:ext cx="15736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6727A1-BBE4-CFF0-7A22-1B1DAB432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157" y="4131965"/>
                <a:ext cx="15736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5EBBF0-4CE7-76BB-23A1-AAAFD70AE41C}"/>
                  </a:ext>
                </a:extLst>
              </p:cNvPr>
              <p:cNvSpPr/>
              <p:nvPr/>
            </p:nvSpPr>
            <p:spPr>
              <a:xfrm>
                <a:off x="6085365" y="4786527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5EBBF0-4CE7-76BB-23A1-AAAFD70AE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365" y="4786527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19813E-D6BC-0B74-0307-F5806C043D47}"/>
                  </a:ext>
                </a:extLst>
              </p:cNvPr>
              <p:cNvSpPr/>
              <p:nvPr/>
            </p:nvSpPr>
            <p:spPr>
              <a:xfrm>
                <a:off x="6549691" y="532462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19813E-D6BC-0B74-0307-F5806C043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691" y="5324629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35880FA-7DBD-FAE5-8FC2-C58C0B743C18}"/>
                  </a:ext>
                </a:extLst>
              </p:cNvPr>
              <p:cNvSpPr/>
              <p:nvPr/>
            </p:nvSpPr>
            <p:spPr>
              <a:xfrm>
                <a:off x="6549690" y="5862731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35880FA-7DBD-FAE5-8FC2-C58C0B743C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690" y="5862731"/>
                <a:ext cx="23869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6" grpId="0"/>
      <p:bldP spid="4" grpId="0"/>
      <p:bldP spid="5" grpId="0"/>
      <p:bldP spid="6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5F8B-9704-6CD6-8F71-F1A74D8D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44D-5CB4-5913-8196-E4A49B63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F93B25-BAEA-A104-E090-BBDB0A2C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578755"/>
              </p:ext>
            </p:extLst>
          </p:nvPr>
        </p:nvGraphicFramePr>
        <p:xfrm>
          <a:off x="189230" y="869526"/>
          <a:ext cx="7583170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60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60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97C4D8-A4BF-065B-E0BE-BBFA42B0A5ED}"/>
              </a:ext>
            </a:extLst>
          </p:cNvPr>
          <p:cNvSpPr txBox="1"/>
          <p:nvPr/>
        </p:nvSpPr>
        <p:spPr>
          <a:xfrm>
            <a:off x="286438" y="1278387"/>
            <a:ext cx="210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No. Obtained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/>
              <p:nvPr/>
            </p:nvSpPr>
            <p:spPr>
              <a:xfrm>
                <a:off x="3980872" y="1278387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872" y="1278387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B750B04-AA16-D501-7ED4-172967A0F622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80062-E275-5FD2-F665-594F07086A19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136FA-C7F4-BDF6-ED6A-893D49ADC652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AB49C-A37D-F88F-D145-3E397454886D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BD3D1-F780-1BE8-7236-1FFB657810DB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D5CCD-9228-C249-1964-56E58A76DB8F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3257D-B690-B3B9-5889-C1AE2528D661}"/>
              </a:ext>
            </a:extLst>
          </p:cNvPr>
          <p:cNvSpPr txBox="1"/>
          <p:nvPr/>
        </p:nvSpPr>
        <p:spPr>
          <a:xfrm>
            <a:off x="2866152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1965A-9F17-4E24-D78B-33A6DB28BA25}"/>
              </a:ext>
            </a:extLst>
          </p:cNvPr>
          <p:cNvSpPr txBox="1"/>
          <p:nvPr/>
        </p:nvSpPr>
        <p:spPr>
          <a:xfrm>
            <a:off x="285472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224714-1F8A-A1AB-A393-41B3256A9C51}"/>
              </a:ext>
            </a:extLst>
          </p:cNvPr>
          <p:cNvSpPr txBox="1"/>
          <p:nvPr/>
        </p:nvSpPr>
        <p:spPr>
          <a:xfrm>
            <a:off x="2843292" y="449494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9CAC3-568F-3E94-DFC2-29B7EBCBA520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332D4D-251F-85D1-86F2-38CD7620C562}"/>
              </a:ext>
            </a:extLst>
          </p:cNvPr>
          <p:cNvSpPr txBox="1"/>
          <p:nvPr/>
        </p:nvSpPr>
        <p:spPr>
          <a:xfrm>
            <a:off x="1163082" y="59190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8D802-0F31-E214-A3A1-6F4F224E8042}"/>
              </a:ext>
            </a:extLst>
          </p:cNvPr>
          <p:cNvSpPr txBox="1"/>
          <p:nvPr/>
        </p:nvSpPr>
        <p:spPr>
          <a:xfrm>
            <a:off x="2858532" y="58885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A83C4E-22A6-794B-3C8C-BFC7737441FB}"/>
                  </a:ext>
                </a:extLst>
              </p:cNvPr>
              <p:cNvSpPr txBox="1"/>
              <p:nvPr/>
            </p:nvSpPr>
            <p:spPr>
              <a:xfrm>
                <a:off x="3874271" y="2257557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A83C4E-22A6-794B-3C8C-BFC77374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271" y="2257557"/>
                <a:ext cx="2054007" cy="714683"/>
              </a:xfrm>
              <a:prstGeom prst="rect">
                <a:avLst/>
              </a:prstGeom>
              <a:blipFill>
                <a:blip r:embed="rId5"/>
                <a:stretch>
                  <a:fillRect l="-6250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2570B5-58AB-CCB0-FE05-8301F1E096CB}"/>
                  </a:ext>
                </a:extLst>
              </p:cNvPr>
              <p:cNvSpPr txBox="1"/>
              <p:nvPr/>
            </p:nvSpPr>
            <p:spPr>
              <a:xfrm>
                <a:off x="3869846" y="2930654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2570B5-58AB-CCB0-FE05-8301F1E09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846" y="2930654"/>
                <a:ext cx="2054007" cy="714683"/>
              </a:xfrm>
              <a:prstGeom prst="rect">
                <a:avLst/>
              </a:prstGeom>
              <a:blipFill>
                <a:blip r:embed="rId6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D5A70A-CABF-CF04-981F-717BC11AD4F9}"/>
                  </a:ext>
                </a:extLst>
              </p:cNvPr>
              <p:cNvSpPr txBox="1"/>
              <p:nvPr/>
            </p:nvSpPr>
            <p:spPr>
              <a:xfrm>
                <a:off x="3858417" y="433434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D5A70A-CABF-CF04-981F-717BC11AD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7" y="4334340"/>
                <a:ext cx="2054007" cy="714683"/>
              </a:xfrm>
              <a:prstGeom prst="rect">
                <a:avLst/>
              </a:prstGeom>
              <a:blipFill>
                <a:blip r:embed="rId7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D3A6E-88E5-ADAB-1D48-8120B0CD1BCE}"/>
                  </a:ext>
                </a:extLst>
              </p:cNvPr>
              <p:cNvSpPr txBox="1"/>
              <p:nvPr/>
            </p:nvSpPr>
            <p:spPr>
              <a:xfrm>
                <a:off x="3858418" y="505757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D3A6E-88E5-ADAB-1D48-8120B0CD1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8" y="5057570"/>
                <a:ext cx="2054007" cy="714683"/>
              </a:xfrm>
              <a:prstGeom prst="rect">
                <a:avLst/>
              </a:prstGeom>
              <a:blipFill>
                <a:blip r:embed="rId8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170546-3F3A-35DE-227B-13C35E40DE18}"/>
                  </a:ext>
                </a:extLst>
              </p:cNvPr>
              <p:cNvSpPr txBox="1"/>
              <p:nvPr/>
            </p:nvSpPr>
            <p:spPr>
              <a:xfrm>
                <a:off x="3858419" y="5792794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170546-3F3A-35DE-227B-13C35E40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9" y="5792794"/>
                <a:ext cx="2054007" cy="714683"/>
              </a:xfrm>
              <a:prstGeom prst="rect">
                <a:avLst/>
              </a:prstGeom>
              <a:blipFill>
                <a:blip r:embed="rId9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C3B06-14D7-C871-B70E-3DDC7552F35B}"/>
                  </a:ext>
                </a:extLst>
              </p:cNvPr>
              <p:cNvSpPr txBox="1"/>
              <p:nvPr/>
            </p:nvSpPr>
            <p:spPr>
              <a:xfrm>
                <a:off x="3858416" y="365683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C3B06-14D7-C871-B70E-3DDC7552F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6" y="3656830"/>
                <a:ext cx="2054007" cy="714683"/>
              </a:xfrm>
              <a:prstGeom prst="rect">
                <a:avLst/>
              </a:prstGeom>
              <a:blipFill>
                <a:blip r:embed="rId10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10A1A5E-7257-567B-7B3F-7DCA70B8A0EA}"/>
              </a:ext>
            </a:extLst>
          </p:cNvPr>
          <p:cNvSpPr txBox="1"/>
          <p:nvPr/>
        </p:nvSpPr>
        <p:spPr>
          <a:xfrm>
            <a:off x="6552886" y="23501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66E80-7E73-AC95-DCE2-738218DE5AB4}"/>
              </a:ext>
            </a:extLst>
          </p:cNvPr>
          <p:cNvSpPr txBox="1"/>
          <p:nvPr/>
        </p:nvSpPr>
        <p:spPr>
          <a:xfrm>
            <a:off x="6425501" y="3038192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FF745-BE90-6F47-5043-5F4E7A22B367}"/>
              </a:ext>
            </a:extLst>
          </p:cNvPr>
          <p:cNvSpPr txBox="1"/>
          <p:nvPr/>
        </p:nvSpPr>
        <p:spPr>
          <a:xfrm>
            <a:off x="6425501" y="375948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0.45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2C7497-ACF2-561B-6049-2FF3C420243C}"/>
              </a:ext>
            </a:extLst>
          </p:cNvPr>
          <p:cNvSpPr txBox="1"/>
          <p:nvPr/>
        </p:nvSpPr>
        <p:spPr>
          <a:xfrm>
            <a:off x="6425501" y="44638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CC7CE-7499-917A-B68C-010443681516}"/>
              </a:ext>
            </a:extLst>
          </p:cNvPr>
          <p:cNvSpPr txBox="1"/>
          <p:nvPr/>
        </p:nvSpPr>
        <p:spPr>
          <a:xfrm>
            <a:off x="6425501" y="516829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B7DB5-33B9-54D9-681E-501993631DDA}"/>
              </a:ext>
            </a:extLst>
          </p:cNvPr>
          <p:cNvSpPr txBox="1"/>
          <p:nvPr/>
        </p:nvSpPr>
        <p:spPr>
          <a:xfrm>
            <a:off x="6425501" y="58980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8DBB28-97F0-FF30-5D53-B8F53ECB7D25}"/>
              </a:ext>
            </a:extLst>
          </p:cNvPr>
          <p:cNvSpPr/>
          <p:nvPr/>
        </p:nvSpPr>
        <p:spPr>
          <a:xfrm>
            <a:off x="7785099" y="5801340"/>
            <a:ext cx="2794295" cy="7146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4D4596-8A96-0F12-31F4-A0CF709BC72E}"/>
                  </a:ext>
                </a:extLst>
              </p:cNvPr>
              <p:cNvSpPr txBox="1"/>
              <p:nvPr/>
            </p:nvSpPr>
            <p:spPr>
              <a:xfrm>
                <a:off x="7688394" y="5766282"/>
                <a:ext cx="2073544" cy="773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5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5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5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4D4596-8A96-0F12-31F4-A0CF709B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394" y="5766282"/>
                <a:ext cx="2073544" cy="7737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9D21C4-8DC9-DA20-460A-B49F022576BD}"/>
                  </a:ext>
                </a:extLst>
              </p:cNvPr>
              <p:cNvSpPr txBox="1"/>
              <p:nvPr/>
            </p:nvSpPr>
            <p:spPr>
              <a:xfrm>
                <a:off x="9475624" y="5878796"/>
                <a:ext cx="14227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9D21C4-8DC9-DA20-460A-B49F02257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5624" y="5878796"/>
                <a:ext cx="142274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F549B29C-FCDB-B7FB-01E9-5824BDB11F74}"/>
              </a:ext>
            </a:extLst>
          </p:cNvPr>
          <p:cNvSpPr/>
          <p:nvPr/>
        </p:nvSpPr>
        <p:spPr>
          <a:xfrm>
            <a:off x="7902864" y="869526"/>
            <a:ext cx="1173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DD5F99-0CC4-3900-B2CB-DF4EACF37B89}"/>
                  </a:ext>
                </a:extLst>
              </p:cNvPr>
              <p:cNvSpPr txBox="1"/>
              <p:nvPr/>
            </p:nvSpPr>
            <p:spPr>
              <a:xfrm>
                <a:off x="7728005" y="1392746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DD5F99-0CC4-3900-B2CB-DF4EACF3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005" y="1392746"/>
                <a:ext cx="4133162" cy="1372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DBD469-1A28-3D3F-EC55-3E03835E5B60}"/>
                  </a:ext>
                </a:extLst>
              </p:cNvPr>
              <p:cNvSpPr txBox="1"/>
              <p:nvPr/>
            </p:nvSpPr>
            <p:spPr>
              <a:xfrm>
                <a:off x="8609391" y="3144977"/>
                <a:ext cx="15447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DBD469-1A28-3D3F-EC55-3E03835E5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391" y="3144977"/>
                <a:ext cx="154470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6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7" grpId="0"/>
      <p:bldP spid="38" grpId="0"/>
      <p:bldP spid="39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71DD-1D36-4121-527D-2B4466FE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BFC3-9728-A445-6630-1F6E4148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8C22D2-ED44-2F6F-C11F-D5CADC77DF42}"/>
              </a:ext>
            </a:extLst>
          </p:cNvPr>
          <p:cNvSpPr/>
          <p:nvPr/>
        </p:nvSpPr>
        <p:spPr>
          <a:xfrm>
            <a:off x="115143" y="1540462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C48A0-12D5-B52F-7618-860FDCA5530B}"/>
                  </a:ext>
                </a:extLst>
              </p:cNvPr>
              <p:cNvSpPr txBox="1"/>
              <p:nvPr/>
            </p:nvSpPr>
            <p:spPr>
              <a:xfrm>
                <a:off x="3789761" y="1968514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=11.070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C48A0-12D5-B52F-7618-860FDCA5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761" y="1968514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7DA78-7613-40FA-4D66-2242A750EF1B}"/>
                  </a:ext>
                </a:extLst>
              </p:cNvPr>
              <p:cNvSpPr txBox="1"/>
              <p:nvPr/>
            </p:nvSpPr>
            <p:spPr>
              <a:xfrm>
                <a:off x="3350630" y="202773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7DA78-7613-40FA-4D66-2242A750E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630" y="2027731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8F5EF-C6A1-9DED-3210-0AF5DCAB3C7D}"/>
                  </a:ext>
                </a:extLst>
              </p:cNvPr>
              <p:cNvSpPr txBox="1"/>
              <p:nvPr/>
            </p:nvSpPr>
            <p:spPr>
              <a:xfrm>
                <a:off x="1695676" y="2007887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8F5EF-C6A1-9DED-3210-0AF5DCAB3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676" y="2007887"/>
                <a:ext cx="18745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CDC8CB-7286-FDB1-3AD1-5B8AD65A9779}"/>
                  </a:ext>
                </a:extLst>
              </p:cNvPr>
              <p:cNvSpPr txBox="1"/>
              <p:nvPr/>
            </p:nvSpPr>
            <p:spPr>
              <a:xfrm>
                <a:off x="1945216" y="2911934"/>
                <a:ext cx="2948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CDC8CB-7286-FDB1-3AD1-5B8AD65A9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16" y="2911934"/>
                <a:ext cx="2948940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1C9BF9-18DB-EDDA-D614-CF2F0C543340}"/>
                  </a:ext>
                </a:extLst>
              </p:cNvPr>
              <p:cNvSpPr txBox="1"/>
              <p:nvPr/>
            </p:nvSpPr>
            <p:spPr>
              <a:xfrm>
                <a:off x="165292" y="3706630"/>
                <a:ext cx="11861416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between the observed and expected frequencies. Hence, the die can be considered unbiased.</a:t>
                </a:r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1C9BF9-18DB-EDDA-D614-CF2F0C543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2" y="3706630"/>
                <a:ext cx="11861416" cy="1161152"/>
              </a:xfrm>
              <a:prstGeom prst="rect">
                <a:avLst/>
              </a:prstGeom>
              <a:blipFill>
                <a:blip r:embed="rId6"/>
                <a:stretch>
                  <a:fillRect l="-1028" r="-1079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B7799B-54D9-D9FA-C229-E0185799FE48}"/>
                  </a:ext>
                </a:extLst>
              </p:cNvPr>
              <p:cNvSpPr txBox="1"/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=11.070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B7799B-54D9-D9FA-C229-E0185799F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F981171-1222-E042-BA8E-073A232682EF}"/>
              </a:ext>
            </a:extLst>
          </p:cNvPr>
          <p:cNvSpPr/>
          <p:nvPr/>
        </p:nvSpPr>
        <p:spPr>
          <a:xfrm>
            <a:off x="115143" y="81126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787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 animBg="1"/>
      <p:bldP spid="3" grpId="0"/>
      <p:bldP spid="4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959F-A036-8328-7258-3B4CCECF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E60655B-0A83-B9B6-B377-D7C960B1A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4570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Theory predicts that the proportion of beans in the four group A, B, C, D should be</a:t>
                </a:r>
              </a:p>
              <a:p>
                <a:pPr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9 :3 :3 :1.</m:t>
                    </m:r>
                  </m:oMath>
                </a14:m>
                <a:r>
                  <a:rPr lang="en-US" dirty="0"/>
                  <a:t> In an experiment among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beans, the numbers in the four groups were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882, 313, 287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lang="en-US" dirty="0"/>
                  <a:t>. Do the experimental results support the theory?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=7.815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E60655B-0A83-B9B6-B377-D7C960B1A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45705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FCD496-3760-2D6D-CBC7-3ADBF855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2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5C65FA9-F4EB-E10B-8BEF-10633C11E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3377682"/>
                <a:ext cx="11929641" cy="3267664"/>
              </a:xfrm>
            </p:spPr>
            <p:txBody>
              <a:bodyPr/>
              <a:lstStyle/>
              <a:p>
                <a:r>
                  <a:rPr lang="en-US" dirty="0"/>
                  <a:t>Theory says beans should appear in ratio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9:3:3:1</m:t>
                    </m:r>
                  </m:oMath>
                </a14:m>
                <a:r>
                  <a:rPr lang="en-US" dirty="0"/>
                  <a:t> and Total beans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=1600</m:t>
                    </m:r>
                  </m:oMath>
                </a14:m>
                <a:endParaRPr lang="en-IN" dirty="0"/>
              </a:p>
              <a:p>
                <a:r>
                  <a:rPr lang="en-US" dirty="0"/>
                  <a:t>But in reality (experiment), we got: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882, 313, 287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endParaRPr lang="en-IN" dirty="0"/>
              </a:p>
              <a:p>
                <a:r>
                  <a:rPr lang="en-US" dirty="0"/>
                  <a:t>We want to check: </a:t>
                </a:r>
              </a:p>
              <a:p>
                <a:pPr lvl="1"/>
                <a:r>
                  <a:rPr lang="en-US" dirty="0"/>
                  <a:t>Are the experimental results close enough to the theory? OR</a:t>
                </a:r>
              </a:p>
              <a:p>
                <a:pPr lvl="1"/>
                <a:r>
                  <a:rPr lang="en-US" dirty="0"/>
                  <a:t>Is the difference just due to randomness OR something is wrong?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5C65FA9-F4EB-E10B-8BEF-10633C11E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3377682"/>
                <a:ext cx="11929641" cy="3267664"/>
              </a:xfrm>
              <a:blipFill>
                <a:blip r:embed="rId3"/>
                <a:stretch>
                  <a:fillRect l="-971" b="-3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0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94C5-4C14-2F58-60C2-E7C638AC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338C-9AEF-4826-4BE2-2591C31F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2 ⇝ Idea about Hypothesis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E93070E-672A-64EC-1D61-5661461D31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Null Hypothesis (H₀) : Theory is correct.</a:t>
                </a:r>
              </a:p>
              <a:p>
                <a:pPr lvl="1"/>
                <a:r>
                  <a:rPr lang="en-US" dirty="0"/>
                  <a:t>The ratio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 : 3 : 3 : 1</m:t>
                    </m:r>
                  </m:oMath>
                </a14:m>
                <a:r>
                  <a:rPr lang="en-US" dirty="0"/>
                  <a:t> is true.</a:t>
                </a:r>
              </a:p>
              <a:p>
                <a:pPr lvl="1"/>
                <a:r>
                  <a:rPr lang="en-US" dirty="0"/>
                  <a:t>Any difference is just due to chance (random variation).</a:t>
                </a:r>
              </a:p>
              <a:p>
                <a:r>
                  <a:rPr lang="en-US" dirty="0"/>
                  <a:t>Alternative Hypothesis (H₁) : Theory is not correct.</a:t>
                </a:r>
              </a:p>
              <a:p>
                <a:pPr lvl="1"/>
                <a:r>
                  <a:rPr lang="en-US" dirty="0"/>
                  <a:t>The ratio is wrong.</a:t>
                </a:r>
              </a:p>
              <a:p>
                <a:pPr lvl="1"/>
                <a:r>
                  <a:rPr lang="en-US" dirty="0"/>
                  <a:t>Differences are too large to ignore.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E93070E-672A-64EC-1D61-5661461D31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36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6AF7-CDD3-896E-945B-A8DA25A4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411CB35-98DE-D01F-23F9-0D293E7BEB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4570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Theory predicts that the proportion of beans in the four group A, B, C, D should be</a:t>
                </a:r>
              </a:p>
              <a:p>
                <a:pPr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9 :3 :3 :1.</m:t>
                    </m:r>
                  </m:oMath>
                </a14:m>
                <a:r>
                  <a:rPr lang="en-US" dirty="0"/>
                  <a:t> In an experiment among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dirty="0"/>
                  <a:t> beans, the numbers in the four groups were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882, 313, 287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lang="en-US" dirty="0"/>
                  <a:t>. Do the experimental results support the theory?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=7.815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411CB35-98DE-D01F-23F9-0D293E7B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45705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F175A14-60E9-DA73-156F-2CAA8F98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6CBF12-E75A-9BA0-E9ED-784628521526}"/>
              </a:ext>
            </a:extLst>
          </p:cNvPr>
          <p:cNvSpPr/>
          <p:nvPr/>
        </p:nvSpPr>
        <p:spPr>
          <a:xfrm>
            <a:off x="131177" y="349942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B1D5520-0030-929F-4CA8-B43FC0114BF2}"/>
                  </a:ext>
                </a:extLst>
              </p:cNvPr>
              <p:cNvSpPr/>
              <p:nvPr/>
            </p:nvSpPr>
            <p:spPr>
              <a:xfrm>
                <a:off x="1920269" y="355903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B1D5520-0030-929F-4CA8-B43FC0114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3559031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138222-C5AF-50AF-F764-684863C75BCF}"/>
                  </a:ext>
                </a:extLst>
              </p:cNvPr>
              <p:cNvSpPr/>
              <p:nvPr/>
            </p:nvSpPr>
            <p:spPr>
              <a:xfrm>
                <a:off x="2705816" y="3557394"/>
                <a:ext cx="59490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The data follows the ratio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 : 3 : 3 : 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138222-C5AF-50AF-F764-684863C75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16" y="3557394"/>
                <a:ext cx="5949085" cy="523220"/>
              </a:xfrm>
              <a:prstGeom prst="rect">
                <a:avLst/>
              </a:prstGeom>
              <a:blipFill>
                <a:blip r:embed="rId4"/>
                <a:stretch>
                  <a:fillRect l="-215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534D7A-806A-D3B6-5ECF-44B74D1A3D2F}"/>
                  </a:ext>
                </a:extLst>
              </p:cNvPr>
              <p:cNvSpPr/>
              <p:nvPr/>
            </p:nvSpPr>
            <p:spPr>
              <a:xfrm>
                <a:off x="1927254" y="527046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534D7A-806A-D3B6-5ECF-44B74D1A3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254" y="5270465"/>
                <a:ext cx="238694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85A36B-7F39-4E61-7080-3E8EB9C1144F}"/>
                  </a:ext>
                </a:extLst>
              </p:cNvPr>
              <p:cNvSpPr/>
              <p:nvPr/>
            </p:nvSpPr>
            <p:spPr>
              <a:xfrm>
                <a:off x="1920269" y="44163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85A36B-7F39-4E61-7080-3E8EB9C11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4416385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21D6B66-4864-9D97-E23C-B668B920F56C}"/>
              </a:ext>
            </a:extLst>
          </p:cNvPr>
          <p:cNvSpPr/>
          <p:nvPr/>
        </p:nvSpPr>
        <p:spPr>
          <a:xfrm>
            <a:off x="2705817" y="4414748"/>
            <a:ext cx="53536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 data does not follow the ratio.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6A1469F-465D-2A2E-4466-433278937B1F}"/>
                  </a:ext>
                </a:extLst>
              </p:cNvPr>
              <p:cNvSpPr/>
              <p:nvPr/>
            </p:nvSpPr>
            <p:spPr>
              <a:xfrm>
                <a:off x="8941600" y="3557394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6A1469F-465D-2A2E-4466-433278937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600" y="3557394"/>
                <a:ext cx="2386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F98488-ECE7-9A1F-9E21-FF6D3FC878B2}"/>
                  </a:ext>
                </a:extLst>
              </p:cNvPr>
              <p:cNvSpPr/>
              <p:nvPr/>
            </p:nvSpPr>
            <p:spPr>
              <a:xfrm>
                <a:off x="9405926" y="409549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F98488-ECE7-9A1F-9E21-FF6D3FC87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926" y="4095496"/>
                <a:ext cx="23869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D8A845-FCE0-8BA0-49AE-10E22F208ED9}"/>
                  </a:ext>
                </a:extLst>
              </p:cNvPr>
              <p:cNvSpPr/>
              <p:nvPr/>
            </p:nvSpPr>
            <p:spPr>
              <a:xfrm>
                <a:off x="9405925" y="4633598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D8A845-FCE0-8BA0-49AE-10E22F2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925" y="4633598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488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3" grpId="0"/>
      <p:bldP spid="6" grpId="0"/>
      <p:bldP spid="7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337C-6CCB-CE35-7081-DA8316B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A174-C255-E1B3-321A-99AB41C8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567A8-5D44-266A-D6DF-7F9EA60FA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318894"/>
              </p:ext>
            </p:extLst>
          </p:nvPr>
        </p:nvGraphicFramePr>
        <p:xfrm>
          <a:off x="189230" y="869526"/>
          <a:ext cx="7583170" cy="42215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35382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25946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204597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C4F628-D1E2-3A38-F284-A119D0506538}"/>
                  </a:ext>
                </a:extLst>
              </p:cNvPr>
              <p:cNvSpPr txBox="1"/>
              <p:nvPr/>
            </p:nvSpPr>
            <p:spPr>
              <a:xfrm>
                <a:off x="1909331" y="1262624"/>
                <a:ext cx="838200" cy="560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C4F628-D1E2-3A38-F284-A119D0506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31" y="1262624"/>
                <a:ext cx="838200" cy="560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5FD4C6E-5BBF-F4C1-15C2-780E99CB6E20}"/>
              </a:ext>
            </a:extLst>
          </p:cNvPr>
          <p:cNvSpPr txBox="1"/>
          <p:nvPr/>
        </p:nvSpPr>
        <p:spPr>
          <a:xfrm>
            <a:off x="286438" y="1278387"/>
            <a:ext cx="107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Group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42643C-E5A9-9769-AC3E-1B36B49889ED}"/>
                  </a:ext>
                </a:extLst>
              </p:cNvPr>
              <p:cNvSpPr txBox="1"/>
              <p:nvPr/>
            </p:nvSpPr>
            <p:spPr>
              <a:xfrm>
                <a:off x="348512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42643C-E5A9-9769-AC3E-1B36B4988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2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05CA8-28BF-9067-A2A5-FCFA2921888C}"/>
                  </a:ext>
                </a:extLst>
              </p:cNvPr>
              <p:cNvSpPr txBox="1"/>
              <p:nvPr/>
            </p:nvSpPr>
            <p:spPr>
              <a:xfrm>
                <a:off x="5864616" y="939869"/>
                <a:ext cx="180937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05CA8-28BF-9067-A2A5-FCFA29218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616" y="939869"/>
                <a:ext cx="180937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7DB66CF-C7D9-004D-8EA5-A23C9688B9FA}"/>
              </a:ext>
            </a:extLst>
          </p:cNvPr>
          <p:cNvSpPr txBox="1"/>
          <p:nvPr/>
        </p:nvSpPr>
        <p:spPr>
          <a:xfrm>
            <a:off x="62206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180C6-AFD7-4A2B-C333-1818C67BFF37}"/>
              </a:ext>
            </a:extLst>
          </p:cNvPr>
          <p:cNvSpPr txBox="1"/>
          <p:nvPr/>
        </p:nvSpPr>
        <p:spPr>
          <a:xfrm>
            <a:off x="63349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B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DD8296-D748-91B6-6D72-CD9B38ED77A9}"/>
              </a:ext>
            </a:extLst>
          </p:cNvPr>
          <p:cNvSpPr txBox="1"/>
          <p:nvPr/>
        </p:nvSpPr>
        <p:spPr>
          <a:xfrm>
            <a:off x="62206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F9244-C39A-0900-A956-3412AC0421CF}"/>
              </a:ext>
            </a:extLst>
          </p:cNvPr>
          <p:cNvSpPr txBox="1"/>
          <p:nvPr/>
        </p:nvSpPr>
        <p:spPr>
          <a:xfrm>
            <a:off x="63349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0006A-3119-6EF5-9414-107CA481F5BE}"/>
              </a:ext>
            </a:extLst>
          </p:cNvPr>
          <p:cNvSpPr txBox="1"/>
          <p:nvPr/>
        </p:nvSpPr>
        <p:spPr>
          <a:xfrm>
            <a:off x="1922847" y="2337567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882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A97BEB-6462-5A56-989C-E2AD33D9D938}"/>
                  </a:ext>
                </a:extLst>
              </p:cNvPr>
              <p:cNvSpPr txBox="1"/>
              <p:nvPr/>
            </p:nvSpPr>
            <p:spPr>
              <a:xfrm>
                <a:off x="3108461" y="2246127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A97BEB-6462-5A56-989C-E2AD33D9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461" y="2246127"/>
                <a:ext cx="2678615" cy="714683"/>
              </a:xfrm>
              <a:prstGeom prst="rect">
                <a:avLst/>
              </a:prstGeom>
              <a:blipFill>
                <a:blip r:embed="rId5"/>
                <a:stretch>
                  <a:fillRect l="-4784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D65CED8-FD15-FF1E-581E-F01F97A790E3}"/>
              </a:ext>
            </a:extLst>
          </p:cNvPr>
          <p:cNvSpPr txBox="1"/>
          <p:nvPr/>
        </p:nvSpPr>
        <p:spPr>
          <a:xfrm>
            <a:off x="6324285" y="2350156"/>
            <a:ext cx="894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8EB7F5-D483-2FC0-C75B-5BE7663253F1}"/>
              </a:ext>
            </a:extLst>
          </p:cNvPr>
          <p:cNvSpPr txBox="1"/>
          <p:nvPr/>
        </p:nvSpPr>
        <p:spPr>
          <a:xfrm>
            <a:off x="6345491" y="3038192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EE78D9-C1C4-06A3-9B67-C57D92AC1329}"/>
              </a:ext>
            </a:extLst>
          </p:cNvPr>
          <p:cNvSpPr txBox="1"/>
          <p:nvPr/>
        </p:nvSpPr>
        <p:spPr>
          <a:xfrm>
            <a:off x="6345491" y="375948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CAD4DB-9B82-6F3A-16E1-A99EBFB4CD34}"/>
              </a:ext>
            </a:extLst>
          </p:cNvPr>
          <p:cNvSpPr txBox="1"/>
          <p:nvPr/>
        </p:nvSpPr>
        <p:spPr>
          <a:xfrm>
            <a:off x="6345491" y="44638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3.24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3B7FED-030D-4666-2742-0FEC17CB3855}"/>
              </a:ext>
            </a:extLst>
          </p:cNvPr>
          <p:cNvSpPr txBox="1"/>
          <p:nvPr/>
        </p:nvSpPr>
        <p:spPr>
          <a:xfrm>
            <a:off x="4509385" y="5541203"/>
            <a:ext cx="1135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4.72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48CB15-C1F7-4396-858B-2E784A5A71D9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48CB15-C1F7-4396-858B-2E784A5A7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6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884BE6-64C6-5286-7EC1-CA9F49CC74A2}"/>
                  </a:ext>
                </a:extLst>
              </p:cNvPr>
              <p:cNvSpPr txBox="1"/>
              <p:nvPr/>
            </p:nvSpPr>
            <p:spPr>
              <a:xfrm>
                <a:off x="823304" y="514609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884BE6-64C6-5286-7EC1-CA9F49CC7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4" y="5146095"/>
                <a:ext cx="4133162" cy="1372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146A59-38CB-EC62-6775-BAB7919873F5}"/>
              </a:ext>
            </a:extLst>
          </p:cNvPr>
          <p:cNvSpPr txBox="1"/>
          <p:nvPr/>
        </p:nvSpPr>
        <p:spPr>
          <a:xfrm>
            <a:off x="1922847" y="3060380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7052D-0E33-3816-03C8-68CBFFD9788E}"/>
              </a:ext>
            </a:extLst>
          </p:cNvPr>
          <p:cNvSpPr txBox="1"/>
          <p:nvPr/>
        </p:nvSpPr>
        <p:spPr>
          <a:xfrm>
            <a:off x="1922847" y="3735604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287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D2E5FF-D8B3-AA2A-2476-11FF51584A29}"/>
              </a:ext>
            </a:extLst>
          </p:cNvPr>
          <p:cNvSpPr txBox="1"/>
          <p:nvPr/>
        </p:nvSpPr>
        <p:spPr>
          <a:xfrm>
            <a:off x="1922847" y="4502564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118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D22097-BD6B-ACF4-83EA-09B641145B77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95410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Proportion of bean is given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D22097-BD6B-ACF4-83EA-09B641145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954107"/>
              </a:xfrm>
              <a:prstGeom prst="rect">
                <a:avLst/>
              </a:prstGeom>
              <a:blipFill>
                <a:blip r:embed="rId8"/>
                <a:stretch>
                  <a:fillRect t="-5732" r="-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D09C1F-26DB-A744-C8A7-A96CF0C6EB41}"/>
              </a:ext>
            </a:extLst>
          </p:cNvPr>
          <p:cNvSpPr/>
          <p:nvPr/>
        </p:nvSpPr>
        <p:spPr>
          <a:xfrm>
            <a:off x="7957364" y="2521437"/>
            <a:ext cx="4124684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2800" dirty="0">
                <a:solidFill>
                  <a:srgbClr val="002060"/>
                </a:solidFill>
              </a:rPr>
              <a:t>Divided into four Groups</a:t>
            </a:r>
          </a:p>
          <a:p>
            <a:pPr lvl="0" algn="ctr"/>
            <a:r>
              <a:rPr lang="en-US" sz="2800" b="1" dirty="0">
                <a:solidFill>
                  <a:srgbClr val="002060"/>
                </a:solidFill>
              </a:rPr>
              <a:t> A  B  C  &amp;  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E80292D-D92E-7988-CA3E-920DBE73923D}"/>
                  </a:ext>
                </a:extLst>
              </p:cNvPr>
              <p:cNvSpPr/>
              <p:nvPr/>
            </p:nvSpPr>
            <p:spPr>
              <a:xfrm>
                <a:off x="7957364" y="3456416"/>
                <a:ext cx="4124684" cy="9387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700" dirty="0">
                    <a:solidFill>
                      <a:srgbClr val="002060"/>
                    </a:solidFill>
                  </a:rPr>
                  <a:t>Calculate total parts in ratio:</a:t>
                </a: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E80292D-D92E-7988-CA3E-920DBE739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3456416"/>
                <a:ext cx="4124684" cy="938719"/>
              </a:xfrm>
              <a:prstGeom prst="rect">
                <a:avLst/>
              </a:prstGeom>
              <a:blipFill>
                <a:blip r:embed="rId9"/>
                <a:stretch>
                  <a:fillRect l="-739" t="-5844" r="-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BC4A05-FEB3-5474-A57D-6DC56DD43446}"/>
                  </a:ext>
                </a:extLst>
              </p:cNvPr>
              <p:cNvSpPr/>
              <p:nvPr/>
            </p:nvSpPr>
            <p:spPr>
              <a:xfrm>
                <a:off x="7957364" y="4391396"/>
                <a:ext cx="4133162" cy="11455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Proportion of each group:</a:t>
                </a:r>
              </a:p>
              <a:p>
                <a:pPr lvl="0"/>
                <a:r>
                  <a:rPr lang="en-US" sz="2800" b="1" dirty="0">
                    <a:solidFill>
                      <a:srgbClr val="002060"/>
                    </a:solidFill>
                  </a:rPr>
                  <a:t>A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B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C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D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BC4A05-FEB3-5474-A57D-6DC56DD43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4391396"/>
                <a:ext cx="4133162" cy="1145570"/>
              </a:xfrm>
              <a:prstGeom prst="rect">
                <a:avLst/>
              </a:prstGeom>
              <a:blipFill>
                <a:blip r:embed="rId10"/>
                <a:stretch>
                  <a:fillRect l="-2950" t="-5319" b="-58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4D3504-5CBB-6272-CBF0-B07D67CEC674}"/>
                  </a:ext>
                </a:extLst>
              </p:cNvPr>
              <p:cNvSpPr txBox="1"/>
              <p:nvPr/>
            </p:nvSpPr>
            <p:spPr>
              <a:xfrm>
                <a:off x="3119891" y="2945815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4D3504-5CBB-6272-CBF0-B07D67CE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91" y="2945815"/>
                <a:ext cx="2678615" cy="714683"/>
              </a:xfrm>
              <a:prstGeom prst="rect">
                <a:avLst/>
              </a:prstGeom>
              <a:blipFill>
                <a:blip r:embed="rId11"/>
                <a:stretch>
                  <a:fillRect l="-4784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A08ADA-997F-A788-DB41-78B1D5F379E0}"/>
                  </a:ext>
                </a:extLst>
              </p:cNvPr>
              <p:cNvSpPr txBox="1"/>
              <p:nvPr/>
            </p:nvSpPr>
            <p:spPr>
              <a:xfrm>
                <a:off x="3119891" y="3648516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A08ADA-997F-A788-DB41-78B1D5F3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91" y="3648516"/>
                <a:ext cx="2678615" cy="714683"/>
              </a:xfrm>
              <a:prstGeom prst="rect">
                <a:avLst/>
              </a:prstGeom>
              <a:blipFill>
                <a:blip r:embed="rId12"/>
                <a:stretch>
                  <a:fillRect l="-4784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431652-6E5B-4CBE-47FB-8E971D12770A}"/>
                  </a:ext>
                </a:extLst>
              </p:cNvPr>
              <p:cNvSpPr txBox="1"/>
              <p:nvPr/>
            </p:nvSpPr>
            <p:spPr>
              <a:xfrm>
                <a:off x="3124932" y="4360271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431652-6E5B-4CBE-47FB-8E971D127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932" y="4360271"/>
                <a:ext cx="2678615" cy="714683"/>
              </a:xfrm>
              <a:prstGeom prst="rect">
                <a:avLst/>
              </a:prstGeom>
              <a:blipFill>
                <a:blip r:embed="rId13"/>
                <a:stretch>
                  <a:fillRect l="-4784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A0829F68-1082-B286-DFF1-53CAE398037D}"/>
              </a:ext>
            </a:extLst>
          </p:cNvPr>
          <p:cNvSpPr txBox="1"/>
          <p:nvPr/>
        </p:nvSpPr>
        <p:spPr>
          <a:xfrm>
            <a:off x="134453" y="5123639"/>
            <a:ext cx="93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Test: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5" grpId="0"/>
      <p:bldP spid="22" grpId="0"/>
      <p:bldP spid="28" grpId="0"/>
      <p:bldP spid="29" grpId="0"/>
      <p:bldP spid="30" grpId="0"/>
      <p:bldP spid="31" grpId="0"/>
      <p:bldP spid="36" grpId="0"/>
      <p:bldP spid="37" grpId="0" animBg="1"/>
      <p:bldP spid="38" grpId="0"/>
      <p:bldP spid="7" grpId="0"/>
      <p:bldP spid="10" grpId="0"/>
      <p:bldP spid="40" grpId="0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04C9-0941-C807-8498-3D03500E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1662-2E71-7205-BF8D-7151EAFD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 (Continue)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15C7E8-CF6A-F76C-1DF6-E6527643E836}"/>
              </a:ext>
            </a:extLst>
          </p:cNvPr>
          <p:cNvSpPr/>
          <p:nvPr/>
        </p:nvSpPr>
        <p:spPr>
          <a:xfrm>
            <a:off x="115143" y="1426358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40631E-5678-1050-3EE6-FF474057ABDF}"/>
                  </a:ext>
                </a:extLst>
              </p:cNvPr>
              <p:cNvSpPr txBox="1"/>
              <p:nvPr/>
            </p:nvSpPr>
            <p:spPr>
              <a:xfrm>
                <a:off x="3687003" y="1917746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815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40631E-5678-1050-3EE6-FF474057A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03" y="1917746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17276B-2408-B79A-F25A-3F9F11950520}"/>
                  </a:ext>
                </a:extLst>
              </p:cNvPr>
              <p:cNvSpPr txBox="1"/>
              <p:nvPr/>
            </p:nvSpPr>
            <p:spPr>
              <a:xfrm>
                <a:off x="3399810" y="195727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17276B-2408-B79A-F25A-3F9F1195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10" y="1957277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9852A1-9F24-39C2-1F8D-DEA4E1B964E4}"/>
                  </a:ext>
                </a:extLst>
              </p:cNvPr>
              <p:cNvSpPr txBox="1"/>
              <p:nvPr/>
            </p:nvSpPr>
            <p:spPr>
              <a:xfrm>
                <a:off x="1693449" y="1986500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9852A1-9F24-39C2-1F8D-DEA4E1B96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449" y="1986500"/>
                <a:ext cx="18745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846A2B-8EF7-42E9-2358-7F6D033A10DE}"/>
                  </a:ext>
                </a:extLst>
              </p:cNvPr>
              <p:cNvSpPr txBox="1"/>
              <p:nvPr/>
            </p:nvSpPr>
            <p:spPr>
              <a:xfrm>
                <a:off x="1773459" y="2658436"/>
                <a:ext cx="2948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846A2B-8EF7-42E9-2358-7F6D033A1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459" y="2658436"/>
                <a:ext cx="2948940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919136-D6CE-B114-1BED-73CA92E24197}"/>
                  </a:ext>
                </a:extLst>
              </p:cNvPr>
              <p:cNvSpPr txBox="1"/>
              <p:nvPr/>
            </p:nvSpPr>
            <p:spPr>
              <a:xfrm>
                <a:off x="160545" y="3330372"/>
                <a:ext cx="11784647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data supports the given ratio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919136-D6CE-B114-1BED-73CA92E24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45" y="3330372"/>
                <a:ext cx="11784647" cy="523220"/>
              </a:xfrm>
              <a:prstGeom prst="rect">
                <a:avLst/>
              </a:prstGeom>
              <a:blipFill>
                <a:blip r:embed="rId6"/>
                <a:stretch>
                  <a:fillRect l="-1034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3951CC-62AF-3F58-269A-CF0A89A1B0E4}"/>
                  </a:ext>
                </a:extLst>
              </p:cNvPr>
              <p:cNvSpPr txBox="1"/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815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3951CC-62AF-3F58-269A-CF0A89A1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E595995-C408-C623-9955-88CEB0044CEF}"/>
              </a:ext>
            </a:extLst>
          </p:cNvPr>
          <p:cNvSpPr/>
          <p:nvPr/>
        </p:nvSpPr>
        <p:spPr>
          <a:xfrm>
            <a:off x="115143" y="81126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1360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 animBg="1"/>
      <p:bldP spid="3" grpId="0"/>
      <p:bldP spid="4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7578-75A2-4D8F-1591-16EB4DFB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2034223-BDCA-6B12-29C3-CF269E778B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Records taken of the number of male and female births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830</m:t>
                    </m:r>
                  </m:oMath>
                </a14:m>
                <a:r>
                  <a:rPr lang="en-US" dirty="0"/>
                  <a:t> families having four children are as follows: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Test whether data are consistent with hypothesis that the </a:t>
                </a:r>
                <a:r>
                  <a:rPr lang="en-US" b="1" dirty="0">
                    <a:solidFill>
                      <a:srgbClr val="FFFF00"/>
                    </a:solidFill>
                  </a:rPr>
                  <a:t>binomial law</a:t>
                </a:r>
                <a:r>
                  <a:rPr lang="en-US" dirty="0"/>
                  <a:t> holds and the chance of male birth is equal to that of female birth.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sz="2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:endParaRPr lang="en-IN" sz="26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2034223-BDCA-6B12-29C3-CF269E77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FD3AD0F-A843-7D4C-263B-D93D2209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01A3D8-1DFE-C681-8DBF-E1121532B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3992718"/>
                  </p:ext>
                </p:extLst>
              </p:nvPr>
            </p:nvGraphicFramePr>
            <p:xfrm>
              <a:off x="711201" y="2445596"/>
              <a:ext cx="10769598" cy="1920663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928620">
                      <a:extLst>
                        <a:ext uri="{9D8B030D-6E8A-4147-A177-3AD203B41FA5}">
                          <a16:colId xmlns:a16="http://schemas.microsoft.com/office/drawing/2014/main" val="2907745984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1905302505"/>
                        </a:ext>
                      </a:extLst>
                    </a:gridCol>
                    <a:gridCol w="1577340">
                      <a:extLst>
                        <a:ext uri="{9D8B030D-6E8A-4147-A177-3AD203B41FA5}">
                          <a16:colId xmlns:a16="http://schemas.microsoft.com/office/drawing/2014/main" val="1447448542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2578423199"/>
                        </a:ext>
                      </a:extLst>
                    </a:gridCol>
                    <a:gridCol w="1520190">
                      <a:extLst>
                        <a:ext uri="{9D8B030D-6E8A-4147-A177-3AD203B41FA5}">
                          <a16:colId xmlns:a16="http://schemas.microsoft.com/office/drawing/2014/main" val="1518141370"/>
                        </a:ext>
                      </a:extLst>
                    </a:gridCol>
                    <a:gridCol w="1657348">
                      <a:extLst>
                        <a:ext uri="{9D8B030D-6E8A-4147-A177-3AD203B41FA5}">
                          <a16:colId xmlns:a16="http://schemas.microsoft.com/office/drawing/2014/main" val="1982369874"/>
                        </a:ext>
                      </a:extLst>
                    </a:gridCol>
                  </a:tblGrid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4591195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female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1808776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families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290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49995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01A3D8-1DFE-C681-8DBF-E1121532B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3992718"/>
                  </p:ext>
                </p:extLst>
              </p:nvPr>
            </p:nvGraphicFramePr>
            <p:xfrm>
              <a:off x="711201" y="2445596"/>
              <a:ext cx="10769598" cy="1920663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928620">
                      <a:extLst>
                        <a:ext uri="{9D8B030D-6E8A-4147-A177-3AD203B41FA5}">
                          <a16:colId xmlns:a16="http://schemas.microsoft.com/office/drawing/2014/main" val="2907745984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1905302505"/>
                        </a:ext>
                      </a:extLst>
                    </a:gridCol>
                    <a:gridCol w="1577340">
                      <a:extLst>
                        <a:ext uri="{9D8B030D-6E8A-4147-A177-3AD203B41FA5}">
                          <a16:colId xmlns:a16="http://schemas.microsoft.com/office/drawing/2014/main" val="1447448542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2578423199"/>
                        </a:ext>
                      </a:extLst>
                    </a:gridCol>
                    <a:gridCol w="1520190">
                      <a:extLst>
                        <a:ext uri="{9D8B030D-6E8A-4147-A177-3AD203B41FA5}">
                          <a16:colId xmlns:a16="http://schemas.microsoft.com/office/drawing/2014/main" val="1518141370"/>
                        </a:ext>
                      </a:extLst>
                    </a:gridCol>
                    <a:gridCol w="1657348">
                      <a:extLst>
                        <a:ext uri="{9D8B030D-6E8A-4147-A177-3AD203B41FA5}">
                          <a16:colId xmlns:a16="http://schemas.microsoft.com/office/drawing/2014/main" val="1982369874"/>
                        </a:ext>
                      </a:extLst>
                    </a:gridCol>
                  </a:tblGrid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952" r="-409486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952" r="-300000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952" r="-207115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952" r="-109600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952" r="-735" b="-21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591195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female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100000" r="-409486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100000" r="-300000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100000" r="-207115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100000" r="-109600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100000" r="-735" b="-1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1808776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families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201905" r="-409486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201905" r="-30000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201905" r="-207115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201905" r="-10960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201905" r="-735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9995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052410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5C8D-95C3-6AFC-8785-5796DD50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F982-3601-38A8-A598-38B48B36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6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288AA9-B4B7-3F1F-A0B6-D03CF23A90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830</m:t>
                    </m:r>
                  </m:oMath>
                </a14:m>
                <a:r>
                  <a:rPr lang="en-US" dirty="0"/>
                  <a:t> families, each having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children.</a:t>
                </a:r>
              </a:p>
              <a:p>
                <a:r>
                  <a:rPr lang="en-US" dirty="0"/>
                  <a:t>For each family, we count:</a:t>
                </a:r>
              </a:p>
              <a:p>
                <a:pPr lvl="1"/>
                <a:r>
                  <a:rPr lang="en-US" dirty="0"/>
                  <a:t>how many boys (male births)</a:t>
                </a:r>
              </a:p>
              <a:p>
                <a:pPr lvl="1"/>
                <a:r>
                  <a:rPr lang="en-US" dirty="0"/>
                  <a:t>how many girls (female births)</a:t>
                </a:r>
              </a:p>
              <a:p>
                <a:r>
                  <a:rPr lang="en-US" dirty="0"/>
                  <a:t>The question says: </a:t>
                </a:r>
              </a:p>
              <a:p>
                <a:pPr marL="0" indent="0" algn="r">
                  <a:buNone/>
                </a:pPr>
                <a:r>
                  <a:rPr lang="en-US" dirty="0"/>
                  <a:t>Check whether data follows binomial law and probability of boy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girl.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288AA9-B4B7-3F1F-A0B6-D03CF23A9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46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133F-5E05-4F23-0154-587A63E5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D533-6B70-2D19-118B-DFD9803B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6 ⇝ Idea about Hypotheses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27CC2E-E397-2B60-F848-0C9C7CC5C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Null Hypothesis (H₀) : Births follow binomial distribution.</a:t>
                </a:r>
              </a:p>
              <a:p>
                <a:pPr lvl="1"/>
                <a:r>
                  <a:rPr lang="en-US" dirty="0"/>
                  <a:t>Probability of boy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girl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should match theoretical binomial values.</a:t>
                </a:r>
              </a:p>
              <a:p>
                <a:r>
                  <a:rPr lang="en-IN" dirty="0"/>
                  <a:t>Alternative Hypothesis (H₁) : </a:t>
                </a:r>
                <a:r>
                  <a:rPr lang="en-US" dirty="0"/>
                  <a:t>Births does not follow binomial distribution.</a:t>
                </a:r>
              </a:p>
              <a:p>
                <a:pPr lvl="1"/>
                <a:r>
                  <a:rPr lang="en-US" dirty="0"/>
                  <a:t>Probability of boy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probability of girl</a:t>
                </a:r>
              </a:p>
              <a:p>
                <a:pPr lvl="1"/>
                <a:r>
                  <a:rPr lang="en-US" dirty="0"/>
                  <a:t>Observed data is too different from expected.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27CC2E-E397-2B60-F848-0C9C7CC5C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1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1783-71ED-B6E4-56D7-A2744271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927C28E-F9E2-1883-4204-86B6D91CE8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Records taken of the number of male and female births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830</m:t>
                    </m:r>
                  </m:oMath>
                </a14:m>
                <a:r>
                  <a:rPr lang="en-US" dirty="0"/>
                  <a:t> families having four children are as follows: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Test whether data are consistent with hypothesis that the </a:t>
                </a:r>
                <a:r>
                  <a:rPr lang="en-US" b="1" dirty="0">
                    <a:solidFill>
                      <a:srgbClr val="FFFF00"/>
                    </a:solidFill>
                  </a:rPr>
                  <a:t>binomial law</a:t>
                </a:r>
                <a:r>
                  <a:rPr lang="en-US" dirty="0"/>
                  <a:t> holds and the chance of male birth is equal to that of female birth.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sz="26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:endParaRPr lang="en-IN" sz="26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927C28E-F9E2-1883-4204-86B6D91CE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FF3F6AC-C3CB-0900-D1BA-AF0845AF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7B2B671-C423-22D1-B1A4-E02A541B56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1201" y="2445596"/>
              <a:ext cx="10769598" cy="1920663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928620">
                      <a:extLst>
                        <a:ext uri="{9D8B030D-6E8A-4147-A177-3AD203B41FA5}">
                          <a16:colId xmlns:a16="http://schemas.microsoft.com/office/drawing/2014/main" val="2907745984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1905302505"/>
                        </a:ext>
                      </a:extLst>
                    </a:gridCol>
                    <a:gridCol w="1577340">
                      <a:extLst>
                        <a:ext uri="{9D8B030D-6E8A-4147-A177-3AD203B41FA5}">
                          <a16:colId xmlns:a16="http://schemas.microsoft.com/office/drawing/2014/main" val="1447448542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2578423199"/>
                        </a:ext>
                      </a:extLst>
                    </a:gridCol>
                    <a:gridCol w="1520190">
                      <a:extLst>
                        <a:ext uri="{9D8B030D-6E8A-4147-A177-3AD203B41FA5}">
                          <a16:colId xmlns:a16="http://schemas.microsoft.com/office/drawing/2014/main" val="1518141370"/>
                        </a:ext>
                      </a:extLst>
                    </a:gridCol>
                    <a:gridCol w="1657348">
                      <a:extLst>
                        <a:ext uri="{9D8B030D-6E8A-4147-A177-3AD203B41FA5}">
                          <a16:colId xmlns:a16="http://schemas.microsoft.com/office/drawing/2014/main" val="1982369874"/>
                        </a:ext>
                      </a:extLst>
                    </a:gridCol>
                  </a:tblGrid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4591195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female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1808776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families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290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49995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7B2B671-C423-22D1-B1A4-E02A541B56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1201" y="2445596"/>
              <a:ext cx="10769598" cy="1920663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928620">
                      <a:extLst>
                        <a:ext uri="{9D8B030D-6E8A-4147-A177-3AD203B41FA5}">
                          <a16:colId xmlns:a16="http://schemas.microsoft.com/office/drawing/2014/main" val="2907745984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1905302505"/>
                        </a:ext>
                      </a:extLst>
                    </a:gridCol>
                    <a:gridCol w="1577340">
                      <a:extLst>
                        <a:ext uri="{9D8B030D-6E8A-4147-A177-3AD203B41FA5}">
                          <a16:colId xmlns:a16="http://schemas.microsoft.com/office/drawing/2014/main" val="1447448542"/>
                        </a:ext>
                      </a:extLst>
                    </a:gridCol>
                    <a:gridCol w="1543050">
                      <a:extLst>
                        <a:ext uri="{9D8B030D-6E8A-4147-A177-3AD203B41FA5}">
                          <a16:colId xmlns:a16="http://schemas.microsoft.com/office/drawing/2014/main" val="2578423199"/>
                        </a:ext>
                      </a:extLst>
                    </a:gridCol>
                    <a:gridCol w="1520190">
                      <a:extLst>
                        <a:ext uri="{9D8B030D-6E8A-4147-A177-3AD203B41FA5}">
                          <a16:colId xmlns:a16="http://schemas.microsoft.com/office/drawing/2014/main" val="1518141370"/>
                        </a:ext>
                      </a:extLst>
                    </a:gridCol>
                    <a:gridCol w="1657348">
                      <a:extLst>
                        <a:ext uri="{9D8B030D-6E8A-4147-A177-3AD203B41FA5}">
                          <a16:colId xmlns:a16="http://schemas.microsoft.com/office/drawing/2014/main" val="1982369874"/>
                        </a:ext>
                      </a:extLst>
                    </a:gridCol>
                  </a:tblGrid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952" r="-409486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952" r="-300000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952" r="-207115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952" r="-109600" b="-2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952" r="-735" b="-21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591195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female birth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100000" r="-409486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100000" r="-300000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100000" r="-207115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100000" r="-109600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100000" r="-735" b="-1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1808776"/>
                      </a:ext>
                    </a:extLst>
                  </a:tr>
                  <a:tr h="6402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No. of families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0514" t="-201905" r="-409486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784" t="-201905" r="-30000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2885" t="-201905" r="-207115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8800" t="-201905" r="-10960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368" t="-201905" r="-735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9995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8238910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3814-7680-8EF1-FFB7-4B6863A4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29F1-66F3-04CE-DDDD-924E9F62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6175D8-0257-FDF6-D4B2-4A2901C216E3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2C7969-8AAA-EAF9-3D21-E05FD4F675A4}"/>
                  </a:ext>
                </a:extLst>
              </p:cNvPr>
              <p:cNvSpPr/>
              <p:nvPr/>
            </p:nvSpPr>
            <p:spPr>
              <a:xfrm>
                <a:off x="1771679" y="19719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2C7969-8AAA-EAF9-3D21-E05FD4F67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1971994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4F4E2C-88B8-D76B-6A84-EEA164984754}"/>
                  </a:ext>
                </a:extLst>
              </p:cNvPr>
              <p:cNvSpPr/>
              <p:nvPr/>
            </p:nvSpPr>
            <p:spPr>
              <a:xfrm>
                <a:off x="2557227" y="1981787"/>
                <a:ext cx="92099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Date follows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4F4E2C-88B8-D76B-6A84-EEA164984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27" y="1981787"/>
                <a:ext cx="9209958" cy="523220"/>
              </a:xfrm>
              <a:prstGeom prst="rect">
                <a:avLst/>
              </a:prstGeom>
              <a:blipFill>
                <a:blip r:embed="rId3"/>
                <a:stretch>
                  <a:fillRect l="-1324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DBFAF6-32EB-6FA6-97B1-954CDDDF0630}"/>
                  </a:ext>
                </a:extLst>
              </p:cNvPr>
              <p:cNvSpPr/>
              <p:nvPr/>
            </p:nvSpPr>
            <p:spPr>
              <a:xfrm>
                <a:off x="1771679" y="333204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DBFAF6-32EB-6FA6-97B1-954CDDDF06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3332049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083C410-BD1A-EAB3-661C-D0DC1DB87A8E}"/>
                  </a:ext>
                </a:extLst>
              </p:cNvPr>
              <p:cNvSpPr/>
              <p:nvPr/>
            </p:nvSpPr>
            <p:spPr>
              <a:xfrm>
                <a:off x="1771679" y="26699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083C410-BD1A-EAB3-661C-D0DC1DB87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266998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49DFC-C570-E146-4FAC-F0D4D640A2C0}"/>
                  </a:ext>
                </a:extLst>
              </p:cNvPr>
              <p:cNvSpPr/>
              <p:nvPr/>
            </p:nvSpPr>
            <p:spPr>
              <a:xfrm>
                <a:off x="2557226" y="2656918"/>
                <a:ext cx="948999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Date does not follow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49DFC-C570-E146-4FAC-F0D4D640A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26" y="2656918"/>
                <a:ext cx="9489993" cy="523220"/>
              </a:xfrm>
              <a:prstGeom prst="rect">
                <a:avLst/>
              </a:prstGeom>
              <a:blipFill>
                <a:blip r:embed="rId6"/>
                <a:stretch>
                  <a:fillRect l="-128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C70216-4AE8-F377-945C-C7C7AAD3D593}"/>
                  </a:ext>
                </a:extLst>
              </p:cNvPr>
              <p:cNvSpPr/>
              <p:nvPr/>
            </p:nvSpPr>
            <p:spPr>
              <a:xfrm>
                <a:off x="1803233" y="4016973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C70216-4AE8-F377-945C-C7C7AAD3D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233" y="4016973"/>
                <a:ext cx="2386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9C7C35-C074-EDF6-221F-A1D0CCD85F8D}"/>
                  </a:ext>
                </a:extLst>
              </p:cNvPr>
              <p:cNvSpPr/>
              <p:nvPr/>
            </p:nvSpPr>
            <p:spPr>
              <a:xfrm>
                <a:off x="2273080" y="4692104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=5−1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9C7C35-C074-EDF6-221F-A1D0CCD85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080" y="4692104"/>
                <a:ext cx="23869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B46E41-E466-C021-6FEA-11AC39FAAB8E}"/>
                  </a:ext>
                </a:extLst>
              </p:cNvPr>
              <p:cNvSpPr/>
              <p:nvPr/>
            </p:nvSpPr>
            <p:spPr>
              <a:xfrm>
                <a:off x="3539376" y="4692104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B46E41-E466-C021-6FEA-11AC39FAA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376" y="4692104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418DDA2-42CC-41AE-1A50-B88339714498}"/>
                  </a:ext>
                </a:extLst>
              </p:cNvPr>
              <p:cNvSpPr/>
              <p:nvPr/>
            </p:nvSpPr>
            <p:spPr>
              <a:xfrm>
                <a:off x="1625597" y="883342"/>
                <a:ext cx="80173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If both are equally likely,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male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female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418DDA2-42CC-41AE-1A50-B883397144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883342"/>
                <a:ext cx="8017363" cy="523220"/>
              </a:xfrm>
              <a:prstGeom prst="rect">
                <a:avLst/>
              </a:prstGeom>
              <a:blipFill>
                <a:blip r:embed="rId10"/>
                <a:stretch>
                  <a:fillRect l="-159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976D7F-52CA-BA4A-F43C-91DBCD1B359F}"/>
                  </a:ext>
                </a:extLst>
              </p:cNvPr>
              <p:cNvSpPr/>
              <p:nvPr/>
            </p:nvSpPr>
            <p:spPr>
              <a:xfrm>
                <a:off x="6493500" y="1395769"/>
                <a:ext cx="19638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976D7F-52CA-BA4A-F43C-91DBCD1B3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00" y="1395769"/>
                <a:ext cx="196389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5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7" grpId="0"/>
      <p:bldP spid="8" grpId="0"/>
      <p:bldP spid="9" grpId="0"/>
      <p:bldP spid="12" grpId="0"/>
      <p:bldP spid="13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83CC-B5EC-4EE0-4908-FB281158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97E1-AE4E-30C9-5C61-2A3BE713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526E68-66D6-18A4-5816-25F8758F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88990"/>
              </p:ext>
            </p:extLst>
          </p:nvPr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E27F2-CA5A-9563-9AB8-15D2BB9A239E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7C487B6-C37E-035F-5D4C-884527E0F4B8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4809BF-B9AA-132A-4250-37D931AED3AC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6268D-77AB-C66A-15EB-CBE0519D4AED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53BA0C9-FE75-8381-36E7-4D08C0640F6B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6350E-A9E4-4204-E3FD-DF60BE7ACA10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3CB25-E30D-E4E9-F21C-5090B3C160F3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771EFB-0E9D-6036-D963-59AC122D1CB9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19491-F390-A89E-C985-736105D7B7E8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A10FD-875B-F768-CECE-8281B673E9D3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7B656-97E2-5B7A-E1AD-F6DBAAE06CA1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007003-F315-4FC5-5468-519C3F9B812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E5AFA-92D2-9548-4A24-633501018CF2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88634-71E0-114C-6877-06B92233D0BE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24A2B8-B6E1-EF3A-EF09-AFE0CFD49A23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F9759B-C7EB-C548-C8C6-F915FFA88219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F9759B-C7EB-C548-C8C6-F915FFA88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799C03-062E-6FF2-B7E8-90C04314BA83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799C03-062E-6FF2-B7E8-90C04314B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857E55-9E79-3DF1-EA40-6EF1119D15D2}"/>
                  </a:ext>
                </a:extLst>
              </p:cNvPr>
              <p:cNvSpPr/>
              <p:nvPr/>
            </p:nvSpPr>
            <p:spPr>
              <a:xfrm>
                <a:off x="7957364" y="2955777"/>
                <a:ext cx="4124684" cy="21876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857E55-9E79-3DF1-EA40-6EF1119D1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55777"/>
                <a:ext cx="4124684" cy="2187650"/>
              </a:xfrm>
              <a:prstGeom prst="rect">
                <a:avLst/>
              </a:prstGeom>
              <a:blipFill>
                <a:blip r:embed="rId7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0EA6ED7-13F9-2EB2-5E8B-8077A045CE58}"/>
                  </a:ext>
                </a:extLst>
              </p:cNvPr>
              <p:cNvSpPr/>
              <p:nvPr/>
            </p:nvSpPr>
            <p:spPr>
              <a:xfrm>
                <a:off x="7971444" y="5195106"/>
                <a:ext cx="4124684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𝟖𝟑𝟎</m:t>
                      </m:r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𝟎𝟔𝟐𝟓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IN" sz="2800" b="1" i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0EA6ED7-13F9-2EB2-5E8B-8077A045C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5195106"/>
                <a:ext cx="4124684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98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7" grpId="0" animBg="1"/>
      <p:bldP spid="10" grpId="0" animBg="1"/>
      <p:bldP spid="40" grpId="0" animBg="1"/>
      <p:bldP spid="20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79CC-A1B6-858A-1347-4024B91F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EB4EA95-909C-95E0-38A6-703FDFE444BE}"/>
                  </a:ext>
                </a:extLst>
              </p:cNvPr>
              <p:cNvSpPr/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𝟖𝟑𝟎</m:t>
                      </m:r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002060"/>
                          </a:solidFill>
                        </a:rPr>
                        <m:t>	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𝟐𝟎𝟕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EB4EA95-909C-95E0-38A6-703FDFE44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D08E38-D538-F85B-B643-6A50E1C2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6B71C0-6701-6905-B8E1-FEC31A805326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0F41B5-EA18-B5B2-1E24-48EA28FAD370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0BBB89A-5BD9-5485-7872-9A5D1AF21DC2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2D84F-C05B-48A8-9490-C288FE7D8167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47A9AC-7D9F-B5BD-CD17-B9C27F33E5CB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E8A2DB5-1A33-D989-118F-2AB676565D9F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F97D8-EB42-0181-ED5C-8C23CC916317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EFFD8-68D3-F9A5-05B1-8C93FFB1D82C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6EFCD-F11C-C554-5DA2-64F96EFDDA8E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B21C31-CEC9-7848-0CD4-9E82C0FF282A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502DA-8D6B-E4A0-AEAB-0BFA254B5F58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54688-EBC0-2A07-F841-17E8A7F80742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F88AD-CE04-C1A0-94FF-6A7FD0898BC1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1C8B6-6638-B6EB-0F7D-1079956D6251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0C000-BA60-FA10-249F-0E32EEE489FB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124A7-B59F-26EF-B188-208EBC520BC2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CE173E-8219-8958-00CC-79E4F03BC5DB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CE173E-8219-8958-00CC-79E4F03BC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7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88F500-DC41-B562-8528-080242192603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88F500-DC41-B562-8528-080242192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8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162E89-0DD9-DB1A-A141-227F289A48F5}"/>
                  </a:ext>
                </a:extLst>
              </p:cNvPr>
              <p:cNvSpPr/>
              <p:nvPr/>
            </p:nvSpPr>
            <p:spPr>
              <a:xfrm>
                <a:off x="7957364" y="2955777"/>
                <a:ext cx="4124684" cy="21876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162E89-0DD9-DB1A-A141-227F289A4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55777"/>
                <a:ext cx="4124684" cy="2187650"/>
              </a:xfrm>
              <a:prstGeom prst="rect">
                <a:avLst/>
              </a:prstGeom>
              <a:blipFill>
                <a:blip r:embed="rId9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58EAEDE-4024-F649-35AB-D7E8FC865819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71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0" grpId="0" animBg="1"/>
      <p:bldP spid="20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1F80-73E0-E952-EA3C-A9C773F2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54E6-1D4F-0492-3E39-6C904BC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6B350-5E73-89D9-2542-360A9EF539BB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B43222-06E6-93CD-F0E7-40F9F3B2DBB6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A67E35-90EA-8977-7302-4644AF2A702C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5E9BA8-6565-DFEC-74C3-B57F8220BEE1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E84A44-9A3F-B682-B4BE-04F125D67CBC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6A854E1-BB53-E8C5-2614-D9ED420315B6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49AC64-F915-E90B-03E8-8D7B52BBA6B2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EC2FE-DA73-4786-8296-F318D60201EA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F9942-A6A8-1E05-594B-BF44B4DAD197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2B428-9E63-BD0C-8140-4B5F46F87B7C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FC5E8-31AB-5B08-6E2B-6A6D6FE18FB5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D64C6-BD4A-1F85-45C7-C3BB6F7114B6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30179-F6C1-BC09-150F-CB8599BADC64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24110-8B4F-E3A1-BF03-A38F668E5374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94B9DA-5E2D-056D-1503-2D665E76B8AD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642DFA-43DD-9C6E-CFC1-BD6543551ADB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E2A812B-EFC6-E572-3535-E11AA24B2B04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21876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E2A812B-EFC6-E572-3535-E11AA24B2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2187650"/>
              </a:xfrm>
              <a:prstGeom prst="rect">
                <a:avLst/>
              </a:prstGeom>
              <a:blipFill>
                <a:blip r:embed="rId7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E80CDC-D3C6-CFFE-BCBE-CC3D2EC34385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A6EB5D-116B-1FB6-F3C1-A5903F516474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3375D1-8CD1-D307-025F-9C51663321DB}"/>
                  </a:ext>
                </a:extLst>
              </p:cNvPr>
              <p:cNvSpPr/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𝟖𝟑𝟎</m:t>
                      </m:r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𝟑𝟕𝟓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002060"/>
                          </a:solidFill>
                        </a:rPr>
                        <m:t>	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𝟑𝟏𝟏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3375D1-8CD1-D307-025F-9C5166332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5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1" grpId="0"/>
      <p:bldP spid="23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4723-CB3C-F7A6-E84E-74849AEB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D08A-73AC-7B7A-FE4C-C47E64C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71C64B-8656-A2C9-9FC6-A1AFA71F138A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54417-80C6-1E7C-84CE-5178630F1EE6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0B2C210-CA53-9A50-2AEF-DC5CAA2A97B4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B0B14-139E-D6C9-EC67-F163869C8BA3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09A8EC-484F-9768-904D-D5AD36C5CC5B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F93265C-6CEC-5493-39B1-3A72D7FCB150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4325A-954A-7D66-306E-E3E43F1A63BF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BF48D-12C0-5211-8DAC-13306F8BFC7D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E8788A-17C7-436D-7D18-A352C3E640DC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0593D-A817-053B-E7E5-002A429006D5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7EDE7-32D1-8708-4537-05E144E9E86B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D9424-B3CC-0D7C-53CE-C99E24586656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2B37F-3867-B6B7-C042-72D8AF8C7F1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F56CC1-E780-4033-F862-A62828147D25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4D6652-F71D-3D72-E62D-12984C4CAC71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52E5DD-3316-6308-A022-6034AB086AA2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46701D9-0F02-C351-6A04-F445C2605B3C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A1D661D-A31B-2543-FE00-C298EF99282B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455C3D-FF39-3F03-57E2-02BA8C301D62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21876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455C3D-FF39-3F03-57E2-02BA8C301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2187650"/>
              </a:xfrm>
              <a:prstGeom prst="rect">
                <a:avLst/>
              </a:prstGeom>
              <a:blipFill>
                <a:blip r:embed="rId7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F5B4A92-7F00-1B9F-F6DE-BFDAD58CCD1F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90E303-D753-CF5F-6A07-44EADEB9C984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109E8-87DB-2E20-9E92-F617CFB332E2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2709AE6-8FF5-4DA6-468B-4FD8E551E434}"/>
                  </a:ext>
                </a:extLst>
              </p:cNvPr>
              <p:cNvSpPr/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𝟖𝟑𝟎</m:t>
                      </m:r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002060"/>
                          </a:solidFill>
                        </a:rPr>
                        <m:t>	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𝟐𝟎𝟕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2709AE6-8FF5-4DA6-468B-4FD8E551E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08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3" grpId="0"/>
      <p:bldP spid="24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EE3C-765F-4AB4-37D4-08CFA884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DDDB-72C6-279A-E3B6-342AD847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068A8-2336-B56C-C024-30D85B83ACD3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7EEB2B-04D9-4F34-C9AC-2D2679539A44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497981-6C25-8617-48E8-CE21C327376B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6DBA56-49CB-BA13-5856-0EA416664605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9E059-9FD0-1BB5-7194-6816EE4B5662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99348DD-E381-D202-7F6D-3C874E53A50B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FB94E-082F-C903-3602-9186AC1E94D9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A5DE2-7E32-F055-4586-F712495E43E6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0A77A-40C0-545D-9F88-8452F29C53B3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D23A0-3EAB-D10A-9E17-78464D3B7108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A8EE2-A5B6-B7D8-C182-D7FD602011A3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2D115-1307-B5E6-D6ED-80B1A2D0FF32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E7B45-5124-D8FA-AF3E-37B420EBCF4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725D1-7C2F-917B-5BC1-F669D72861E0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3EE7A-053E-15A7-C8F2-4D26AF1EA0B2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2609BB-80CD-C578-0767-DF732056E76B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7F8AF3-AA3A-10E9-6416-4A35A1AAF03C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94ED8A-F96A-1FEE-855D-B043DEFD08BC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51EB9AC-9C99-6BE9-320B-4D93B130875B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218649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51EB9AC-9C99-6BE9-320B-4D93B1308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2186496"/>
              </a:xfrm>
              <a:prstGeom prst="rect">
                <a:avLst/>
              </a:prstGeom>
              <a:blipFill>
                <a:blip r:embed="rId7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A4FA1CB-973C-C146-DE3D-9173476165A8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7A0C69-A0A8-6518-A84C-6DD022083D7F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11AAF-B5F8-B13B-CE85-92A606FD0B09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F05776-C3D4-D130-7ABB-C679B9802F97}"/>
              </a:ext>
            </a:extLst>
          </p:cNvPr>
          <p:cNvSpPr txBox="1"/>
          <p:nvPr/>
        </p:nvSpPr>
        <p:spPr>
          <a:xfrm>
            <a:off x="4236642" y="5196409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C76269E-972F-E1D3-34F5-C646C582A4B2}"/>
                  </a:ext>
                </a:extLst>
              </p:cNvPr>
              <p:cNvSpPr/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𝟖𝟑𝟎</m:t>
                      </m:r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002060"/>
                          </a:solidFill>
                        </a:rPr>
                        <m:t>	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𝟓𝟏</m:t>
                      </m:r>
                      <m:r>
                        <a:rPr lang="en-IN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𝟖𝟕𝟓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C76269E-972F-E1D3-34F5-C646C582A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5195106"/>
                <a:ext cx="4124684" cy="10066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87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4" grpId="0"/>
      <p:bldP spid="25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6661-AE15-8FC2-1750-F0A51462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48EB-1FAA-0EB5-1FB1-E5A2FEE2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15A55-1857-5D5A-3868-1E9C208BD754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AA3CD-6513-D8A6-97FA-08F1FBC6FA11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A5597C-52EE-D256-CAF0-31CD0C9634EE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1DAA68-B774-896E-3502-FF1340390C0C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38F913-28F8-E186-AC95-56678670ABC4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231878-3760-FF68-1E76-702F6F097F95}"/>
              </a:ext>
            </a:extLst>
          </p:cNvPr>
          <p:cNvSpPr txBox="1"/>
          <p:nvPr/>
        </p:nvSpPr>
        <p:spPr>
          <a:xfrm>
            <a:off x="114784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6C975-DD84-FBB4-7F4A-E835196EECF4}"/>
              </a:ext>
            </a:extLst>
          </p:cNvPr>
          <p:cNvSpPr txBox="1"/>
          <p:nvPr/>
        </p:nvSpPr>
        <p:spPr>
          <a:xfrm>
            <a:off x="1159272" y="302717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C8AFB-330C-B415-C0D8-D30063B222BC}"/>
              </a:ext>
            </a:extLst>
          </p:cNvPr>
          <p:cNvSpPr txBox="1"/>
          <p:nvPr/>
        </p:nvSpPr>
        <p:spPr>
          <a:xfrm>
            <a:off x="114784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B2BE4-9261-6802-FBDD-8F6AC64319DD}"/>
              </a:ext>
            </a:extLst>
          </p:cNvPr>
          <p:cNvSpPr txBox="1"/>
          <p:nvPr/>
        </p:nvSpPr>
        <p:spPr>
          <a:xfrm>
            <a:off x="1147842" y="4461079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2F74E-8F48-0E5D-2612-F0AB29781B4A}"/>
              </a:ext>
            </a:extLst>
          </p:cNvPr>
          <p:cNvSpPr txBox="1"/>
          <p:nvPr/>
        </p:nvSpPr>
        <p:spPr>
          <a:xfrm>
            <a:off x="115927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18FBC-2D0C-2C24-7AB1-C6922A4F3701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C53E66-3331-B98B-CBB9-5868FAEBD0FE}"/>
              </a:ext>
            </a:extLst>
          </p:cNvPr>
          <p:cNvSpPr txBox="1"/>
          <p:nvPr/>
        </p:nvSpPr>
        <p:spPr>
          <a:xfrm>
            <a:off x="2751852" y="3027177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B7073-9AB8-7FC7-A9C1-36CAB0C41E84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E0BC57-0942-1F1F-F3ED-53D9D4979FFD}"/>
              </a:ext>
            </a:extLst>
          </p:cNvPr>
          <p:cNvSpPr txBox="1"/>
          <p:nvPr/>
        </p:nvSpPr>
        <p:spPr>
          <a:xfrm>
            <a:off x="2728992" y="446107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0CF63-63B5-7C25-179D-54C2E9F8AC04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6A1B9-3909-54D9-E30B-80CEFE23B087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77F135-0B49-13F3-B6D9-3AB32A6ABAD7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7AFD08-C0A2-2D4F-D766-D53344070128}"/>
              </a:ext>
            </a:extLst>
          </p:cNvPr>
          <p:cNvSpPr txBox="1"/>
          <p:nvPr/>
        </p:nvSpPr>
        <p:spPr>
          <a:xfrm>
            <a:off x="4247651" y="3759488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E296E1-7827-F30C-E15B-2878417CF4B1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CEF50-7CDA-E8B6-D0C7-F426A1EF23EB}"/>
              </a:ext>
            </a:extLst>
          </p:cNvPr>
          <p:cNvSpPr txBox="1"/>
          <p:nvPr/>
        </p:nvSpPr>
        <p:spPr>
          <a:xfrm>
            <a:off x="4236642" y="5176056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FCF5ED-6F7C-2C50-A6D2-E1F4EB283412}"/>
              </a:ext>
            </a:extLst>
          </p:cNvPr>
          <p:cNvSpPr txBox="1"/>
          <p:nvPr/>
        </p:nvSpPr>
        <p:spPr>
          <a:xfrm>
            <a:off x="6198866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7.6148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2EDF6-4BA2-D4CB-AF6B-8921A12EB9E2}"/>
              </a:ext>
            </a:extLst>
          </p:cNvPr>
          <p:cNvSpPr txBox="1"/>
          <p:nvPr/>
        </p:nvSpPr>
        <p:spPr>
          <a:xfrm>
            <a:off x="6198866" y="302717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4.1940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8D2BAC-22EC-D322-8787-5B94880CD274}"/>
              </a:ext>
            </a:extLst>
          </p:cNvPr>
          <p:cNvSpPr txBox="1"/>
          <p:nvPr/>
        </p:nvSpPr>
        <p:spPr>
          <a:xfrm>
            <a:off x="6198866" y="3759488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1.4508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18D4A5-6E37-24CF-CB72-61B09B0D3E6A}"/>
              </a:ext>
            </a:extLst>
          </p:cNvPr>
          <p:cNvSpPr txBox="1"/>
          <p:nvPr/>
        </p:nvSpPr>
        <p:spPr>
          <a:xfrm>
            <a:off x="6198866" y="4461079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5.7361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507E42-31A3-2555-DF0C-695A7DD91FF7}"/>
              </a:ext>
            </a:extLst>
          </p:cNvPr>
          <p:cNvSpPr txBox="1"/>
          <p:nvPr/>
        </p:nvSpPr>
        <p:spPr>
          <a:xfrm>
            <a:off x="6110389" y="5176056"/>
            <a:ext cx="1536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34.2075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CB8735-399B-BC11-C775-24AE1E905182}"/>
              </a:ext>
            </a:extLst>
          </p:cNvPr>
          <p:cNvSpPr/>
          <p:nvPr/>
        </p:nvSpPr>
        <p:spPr>
          <a:xfrm>
            <a:off x="5773420" y="5807272"/>
            <a:ext cx="1998980" cy="7146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D4E1A-73A3-293B-B3FD-EB7B4C6269F2}"/>
              </a:ext>
            </a:extLst>
          </p:cNvPr>
          <p:cNvSpPr txBox="1"/>
          <p:nvPr/>
        </p:nvSpPr>
        <p:spPr>
          <a:xfrm>
            <a:off x="6102769" y="5911386"/>
            <a:ext cx="1536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53.2023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0CD8B91-4D01-6097-89B0-847C29700A80}"/>
                  </a:ext>
                </a:extLst>
              </p:cNvPr>
              <p:cNvSpPr txBox="1"/>
              <p:nvPr/>
            </p:nvSpPr>
            <p:spPr>
              <a:xfrm>
                <a:off x="8768119" y="3352527"/>
                <a:ext cx="22194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𝟓𝟑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𝟐𝟎𝟐𝟑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0CD8B91-4D01-6097-89B0-847C29700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119" y="3352527"/>
                <a:ext cx="221947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044A2FF-BBFF-EE12-09D9-4AFA6709B5AB}"/>
                  </a:ext>
                </a:extLst>
              </p:cNvPr>
              <p:cNvSpPr txBox="1"/>
              <p:nvPr/>
            </p:nvSpPr>
            <p:spPr>
              <a:xfrm>
                <a:off x="7956769" y="160995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044A2FF-BBFF-EE12-09D9-4AFA6709B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769" y="1609955"/>
                <a:ext cx="4133162" cy="1372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E3EA0D4-F13B-1CC8-06A3-3DC54CCF0CB0}"/>
              </a:ext>
            </a:extLst>
          </p:cNvPr>
          <p:cNvSpPr txBox="1"/>
          <p:nvPr/>
        </p:nvSpPr>
        <p:spPr>
          <a:xfrm>
            <a:off x="7806606" y="935580"/>
            <a:ext cx="93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Test: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7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3E71-58F9-3E4E-1677-EECDB17E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C0DC-E0B9-4C94-419B-DB2AA771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6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81484-B6BA-32C4-ADB9-AF80A563F568}"/>
              </a:ext>
            </a:extLst>
          </p:cNvPr>
          <p:cNvSpPr/>
          <p:nvPr/>
        </p:nvSpPr>
        <p:spPr>
          <a:xfrm>
            <a:off x="130794" y="1434557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9C8324-B28B-7F34-87F0-A265681CA57A}"/>
                  </a:ext>
                </a:extLst>
              </p:cNvPr>
              <p:cNvSpPr txBox="1"/>
              <p:nvPr/>
            </p:nvSpPr>
            <p:spPr>
              <a:xfrm>
                <a:off x="4621530" y="1816586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488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9C8324-B28B-7F34-87F0-A265681C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530" y="1816586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E950-D8AF-2111-DE78-73AF7524D19E}"/>
                  </a:ext>
                </a:extLst>
              </p:cNvPr>
              <p:cNvSpPr txBox="1"/>
              <p:nvPr/>
            </p:nvSpPr>
            <p:spPr>
              <a:xfrm>
                <a:off x="4175760" y="1862306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E950-D8AF-2111-DE78-73AF7524D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760" y="1862306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3647A4-442B-7CEF-7A14-BB10850CCE6D}"/>
                  </a:ext>
                </a:extLst>
              </p:cNvPr>
              <p:cNvSpPr txBox="1"/>
              <p:nvPr/>
            </p:nvSpPr>
            <p:spPr>
              <a:xfrm>
                <a:off x="1795693" y="1879485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53.2023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3647A4-442B-7CEF-7A14-BB10850CC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693" y="1879485"/>
                <a:ext cx="24055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3410C-3F19-3EB1-9F24-46F34E176F8C}"/>
                  </a:ext>
                </a:extLst>
              </p:cNvPr>
              <p:cNvSpPr txBox="1"/>
              <p:nvPr/>
            </p:nvSpPr>
            <p:spPr>
              <a:xfrm>
                <a:off x="1889759" y="2656824"/>
                <a:ext cx="31181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3410C-3F19-3EB1-9F24-46F34E17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59" y="2656824"/>
                <a:ext cx="3118176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DDB3F-2F33-175D-2A80-CAD159440E01}"/>
                  </a:ext>
                </a:extLst>
              </p:cNvPr>
              <p:cNvSpPr txBox="1"/>
              <p:nvPr/>
            </p:nvSpPr>
            <p:spPr>
              <a:xfrm>
                <a:off x="177096" y="3451342"/>
                <a:ext cx="11837808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the </a:t>
                </a:r>
                <a14:m>
                  <m:oMath xmlns:m="http://schemas.openxmlformats.org/officeDocument/2006/math"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data is not consistent with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DDB3F-2F33-175D-2A80-CAD15944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96" y="3451342"/>
                <a:ext cx="11837808" cy="1161152"/>
              </a:xfrm>
              <a:prstGeom prst="rect">
                <a:avLst/>
              </a:prstGeom>
              <a:blipFill>
                <a:blip r:embed="rId6"/>
                <a:stretch>
                  <a:fillRect l="-1030" r="-1081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BAEB92-609C-D74B-A263-74877F4652FE}"/>
                  </a:ext>
                </a:extLst>
              </p:cNvPr>
              <p:cNvSpPr txBox="1"/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9.488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BAEB92-609C-D74B-A263-74877F465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604" y="802857"/>
                <a:ext cx="3616432" cy="6022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B6959D3-14DC-8A67-EA5D-960BE7CD5614}"/>
              </a:ext>
            </a:extLst>
          </p:cNvPr>
          <p:cNvSpPr/>
          <p:nvPr/>
        </p:nvSpPr>
        <p:spPr>
          <a:xfrm>
            <a:off x="115143" y="81126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5979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 animBg="1"/>
      <p:bldP spid="3" grpId="0"/>
      <p:bldP spid="4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9674-3457-D06B-3290-BFD681DD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20151D3-41B8-0DEC-902D-F0FB79F41E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900979"/>
                <a:ext cx="11929643" cy="29485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Suppose that during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five-minute intervals the air-traffic control of an airport received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0, 1, 2,…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dirty="0"/>
                  <a:t> radio messages with respective frequencies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3,  15,  47,  76,  68,  74,  46,  39,  15,  9,  5,  2,  0 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1.</m:t>
                    </m:r>
                  </m:oMath>
                </a14:m>
                <a:r>
                  <a:rPr lang="en-US" dirty="0"/>
                  <a:t> Test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 of significance, the hypothesis that the number of radio messages received during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5−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 dirty="0">
                    <a:latin typeface="+mj-lt"/>
                  </a:rPr>
                  <a:t>minute</a:t>
                </a:r>
                <a:r>
                  <a:rPr lang="en-US" dirty="0"/>
                  <a:t> interval follows </a:t>
                </a:r>
                <a:r>
                  <a:rPr lang="en-US" b="1" dirty="0">
                    <a:solidFill>
                      <a:srgbClr val="FFFF00"/>
                    </a:solidFill>
                  </a:rPr>
                  <a:t>Poisson distribution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=4.6.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=15.507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20151D3-41B8-0DEC-902D-F0FB79F4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900979"/>
                <a:ext cx="11929643" cy="29485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C8AD5A5-65CA-4645-C9E4-121CED6B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38840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B44C-36FE-2F4A-BEBF-0892D545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4CB8-55A1-B82C-09A9-809263C9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8 ⇝ Meaning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64570ED-D15C-A480-2B80-9D031ABCA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6482"/>
                <a:ext cx="11929641" cy="5760640"/>
              </a:xfrm>
            </p:spPr>
            <p:txBody>
              <a:bodyPr/>
              <a:lstStyle/>
              <a:p>
                <a:r>
                  <a:rPr lang="en-US" dirty="0"/>
                  <a:t>We observe an airport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-time intervals.</a:t>
                </a:r>
              </a:p>
              <a:p>
                <a:r>
                  <a:rPr lang="en-US" dirty="0"/>
                  <a:t>Each interval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minutes </a:t>
                </a:r>
              </a:p>
              <a:p>
                <a:r>
                  <a:rPr lang="en-US" dirty="0"/>
                  <a:t>In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-minute interval, we count</a:t>
                </a:r>
              </a:p>
              <a:p>
                <a:pPr lvl="1"/>
                <a:r>
                  <a:rPr lang="en-US" dirty="0"/>
                  <a:t>How many radio messages were received.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Sometimes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messages, Sometimes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 2, 3, …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dirty="0"/>
                  <a:t> messages</a:t>
                </a:r>
              </a:p>
              <a:p>
                <a:r>
                  <a:rPr lang="en-US" dirty="0"/>
                  <a:t>And we are given how many times each occurred (frequencies).</a:t>
                </a:r>
              </a:p>
              <a:p>
                <a:r>
                  <a:rPr lang="en-US" dirty="0"/>
                  <a:t>The question says: Test whether number of messages follows Poisson distribution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=4.6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64570ED-D15C-A480-2B80-9D031ABCA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6482"/>
                <a:ext cx="11929641" cy="5760640"/>
              </a:xfrm>
              <a:blipFill>
                <a:blip r:embed="rId2"/>
                <a:stretch>
                  <a:fillRect l="-971" r="-1074" b="-33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07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E253-9AA8-044E-EAD6-9EA078E3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EF90-AF41-95D2-510C-10A6A222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10 ⇝ Idea about Hypothesis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E817B5-6D35-A25E-04C6-B664AB36EF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4509386"/>
              </a:xfrm>
            </p:spPr>
            <p:txBody>
              <a:bodyPr/>
              <a:lstStyle/>
              <a:p>
                <a:r>
                  <a:rPr lang="en-US" dirty="0"/>
                  <a:t>Null Hypothesis (H₀) : The data follows a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Observed data and expected data are almost the same (no big difference).</a:t>
                </a:r>
              </a:p>
              <a:p>
                <a:r>
                  <a:rPr lang="en-IN" dirty="0"/>
                  <a:t>Alternative Hypothesis (H₁) : </a:t>
                </a:r>
                <a:r>
                  <a:rPr lang="en-US" dirty="0"/>
                  <a:t>The data does not follow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 is a big difference between observed and expected.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E817B5-6D35-A25E-04C6-B664AB36EF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4509386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29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6513-623C-9884-4195-4F5A6550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395CEC6-8D3C-A153-4F34-6275BD3727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9485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ts val="4200"/>
                  </a:lnSpc>
                </a:pPr>
                <a:r>
                  <a:rPr lang="en-US" dirty="0"/>
                  <a:t>Suppose that during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five-minute intervals the air-traffic control of an airport received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0, 1, 2,…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dirty="0"/>
                  <a:t> radio messages with respective frequencies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3,  15,  47,  76,  68,  74,  46,  39,  15,  9,  5,  2,  0 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1.</m:t>
                    </m:r>
                  </m:oMath>
                </a14:m>
                <a:r>
                  <a:rPr lang="en-US" dirty="0"/>
                  <a:t> Test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 of significance, the hypothesis that the number of radio messages received during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5−</m:t>
                    </m:r>
                  </m:oMath>
                </a14:m>
                <a:r>
                  <a:rPr lang="en-US" i="0" dirty="0">
                    <a:latin typeface="+mj-lt"/>
                  </a:rPr>
                  <a:t>minute</a:t>
                </a:r>
                <a:r>
                  <a:rPr lang="en-US" dirty="0"/>
                  <a:t> interval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=4.6.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=15.507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395CEC6-8D3C-A153-4F34-6275BD372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9485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54D6F57-490C-0AF8-E862-A9B0D58E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DE2466-5AEF-5986-5080-18C6B0B7EC6F}"/>
              </a:ext>
            </a:extLst>
          </p:cNvPr>
          <p:cNvSpPr/>
          <p:nvPr/>
        </p:nvSpPr>
        <p:spPr>
          <a:xfrm>
            <a:off x="131177" y="396805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B046BD2-4381-2601-A872-A5C12C2FE3E6}"/>
                  </a:ext>
                </a:extLst>
              </p:cNvPr>
              <p:cNvSpPr/>
              <p:nvPr/>
            </p:nvSpPr>
            <p:spPr>
              <a:xfrm>
                <a:off x="1652902" y="455958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B046BD2-4381-2601-A872-A5C12C2FE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02" y="4559580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1CB8BFA-BCD7-A59A-1B3C-5484384072FF}"/>
                  </a:ext>
                </a:extLst>
              </p:cNvPr>
              <p:cNvSpPr/>
              <p:nvPr/>
            </p:nvSpPr>
            <p:spPr>
              <a:xfrm>
                <a:off x="2438450" y="4557943"/>
                <a:ext cx="92099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Data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1CB8BFA-BCD7-A59A-1B3C-548438407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50" y="4557943"/>
                <a:ext cx="9209958" cy="523220"/>
              </a:xfrm>
              <a:prstGeom prst="rect">
                <a:avLst/>
              </a:prstGeom>
              <a:blipFill>
                <a:blip r:embed="rId4"/>
                <a:stretch>
                  <a:fillRect l="-132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F52B213-AE44-E559-7E1A-798451239E2B}"/>
                  </a:ext>
                </a:extLst>
              </p:cNvPr>
              <p:cNvSpPr/>
              <p:nvPr/>
            </p:nvSpPr>
            <p:spPr>
              <a:xfrm>
                <a:off x="1652902" y="5867382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F52B213-AE44-E559-7E1A-798451239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02" y="5867382"/>
                <a:ext cx="238694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E1CDA-5DC8-265E-D666-76E8638E1B78}"/>
                  </a:ext>
                </a:extLst>
              </p:cNvPr>
              <p:cNvSpPr/>
              <p:nvPr/>
            </p:nvSpPr>
            <p:spPr>
              <a:xfrm>
                <a:off x="1652902" y="518392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E1CDA-5DC8-265E-D666-76E8638E1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02" y="5183925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286BD8D-65D6-D162-BF4A-813E7AC51D6F}"/>
              </a:ext>
            </a:extLst>
          </p:cNvPr>
          <p:cNvSpPr/>
          <p:nvPr/>
        </p:nvSpPr>
        <p:spPr>
          <a:xfrm>
            <a:off x="2438450" y="5213481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Data does not follow 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C938DB6-DCB7-AB42-8ECB-3718035921EB}"/>
                  </a:ext>
                </a:extLst>
              </p:cNvPr>
              <p:cNvSpPr/>
              <p:nvPr/>
            </p:nvSpPr>
            <p:spPr>
              <a:xfrm>
                <a:off x="1625596" y="3966418"/>
                <a:ext cx="51898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Total Interval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C938DB6-DCB7-AB42-8ECB-3718035921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3966418"/>
                <a:ext cx="5189874" cy="523220"/>
              </a:xfrm>
              <a:prstGeom prst="rect">
                <a:avLst/>
              </a:prstGeom>
              <a:blipFill>
                <a:blip r:embed="rId7"/>
                <a:stretch>
                  <a:fillRect l="-246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CAB152-4B60-9409-BB09-E581BC1CC044}"/>
                  </a:ext>
                </a:extLst>
              </p:cNvPr>
              <p:cNvSpPr/>
              <p:nvPr/>
            </p:nvSpPr>
            <p:spPr>
              <a:xfrm>
                <a:off x="4039851" y="5867382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𝐝𝐟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CAB152-4B60-9409-BB09-E581BC1CC0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51" y="5867382"/>
                <a:ext cx="23869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52590-01F8-D1A9-6EF2-47DF658A206F}"/>
                  </a:ext>
                </a:extLst>
              </p:cNvPr>
              <p:cNvSpPr/>
              <p:nvPr/>
            </p:nvSpPr>
            <p:spPr>
              <a:xfrm>
                <a:off x="5807422" y="5867382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=10−2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52590-01F8-D1A9-6EF2-47DF658A2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422" y="5867382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5661F63-E34E-CB80-A13D-2056EC149575}"/>
                  </a:ext>
                </a:extLst>
              </p:cNvPr>
              <p:cNvSpPr/>
              <p:nvPr/>
            </p:nvSpPr>
            <p:spPr>
              <a:xfrm>
                <a:off x="7277282" y="5867382"/>
                <a:ext cx="10267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5661F63-E34E-CB80-A13D-2056EC149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82" y="5867382"/>
                <a:ext cx="102674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72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3" grpId="0"/>
      <p:bldP spid="6" grpId="0"/>
      <p:bldP spid="7" grpId="0"/>
      <p:bldP spid="8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9C34-753C-1190-61AC-2823318D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Calculator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2995AF-BA23-48DE-05C7-0BC40D8A15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</p:spPr>
            <p:txBody>
              <a:bodyPr/>
              <a:lstStyle/>
              <a:p>
                <a:r>
                  <a:rPr lang="en-IN" dirty="0"/>
                  <a:t>To find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p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𝛌</m:t>
                            </m:r>
                          </m:sup>
                        </m:sSup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𝛌</m:t>
                            </m:r>
                          </m:e>
                          <m:sup>
                            <m:r>
                              <a:rPr lang="en-US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sup>
                        </m:sSup>
                      </m:num>
                      <m:den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IN" b="1" dirty="0"/>
                  <a:t> for different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Step : 1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sym typeface="Wingdings" panose="05000000000000000000" pitchFamily="2" charset="2"/>
                  </a:rPr>
                  <a:t> Store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λ</m:t>
                    </m:r>
                  </m:oMath>
                </a14:m>
                <a:endParaRPr lang="en-IN" b="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IN" dirty="0"/>
                  <a:t>Type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4.6 </m:t>
                    </m:r>
                    <m:r>
                      <a:rPr lang="en-IN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Shift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RCL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r>
                  <a:rPr lang="en-IN" dirty="0"/>
                  <a:t>Step : 2 Enter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IN" dirty="0"/>
              </a:p>
              <a:p>
                <a:pPr lvl="2"/>
                <a:r>
                  <a:rPr lang="en-IN" dirty="0"/>
                  <a:t>Type 0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Press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Step : 3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  <a:r>
                  <a:rPr lang="en-I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press ALPHA and then 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  <a:p>
                <a:pPr lvl="2"/>
                <a:r>
                  <a:rPr lang="en-IN" dirty="0"/>
                  <a:t>Type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Shift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^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Ans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Ans</m:t>
                    </m:r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</m:oMath>
                </a14:m>
                <a:endParaRPr lang="en-IN" dirty="0"/>
              </a:p>
              <a:p>
                <a:pPr marL="914400" lvl="2" indent="0" algn="ctr">
                  <a:buNone/>
                </a:pPr>
                <a:r>
                  <a:rPr lang="en-IN" b="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^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^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Ans</m:t>
                    </m:r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Ans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2995AF-BA23-48DE-05C7-0BC40D8A15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00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388C-9165-DD92-A438-1380682D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6909-064A-3864-5A9B-2EE39651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24A55D-E2A8-87B1-6E04-685A3A83C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87614"/>
              </p:ext>
            </p:extLst>
          </p:nvPr>
        </p:nvGraphicFramePr>
        <p:xfrm>
          <a:off x="189230" y="869526"/>
          <a:ext cx="10956313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A04134-C814-2E01-A00E-A8052C902A2C}"/>
              </a:ext>
            </a:extLst>
          </p:cNvPr>
          <p:cNvSpPr txBox="1"/>
          <p:nvPr/>
        </p:nvSpPr>
        <p:spPr>
          <a:xfrm>
            <a:off x="154688" y="880737"/>
            <a:ext cx="15122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(x)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/>
              <p:nvPr/>
            </p:nvSpPr>
            <p:spPr>
              <a:xfrm>
                <a:off x="9267947" y="957541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947" y="957541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A4DA38A-FDC4-44CC-714F-5388B71D6EEE}"/>
              </a:ext>
            </a:extLst>
          </p:cNvPr>
          <p:cNvSpPr txBox="1"/>
          <p:nvPr/>
        </p:nvSpPr>
        <p:spPr>
          <a:xfrm>
            <a:off x="810058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82558-B2C0-71AD-537C-6AD759A1AC9B}"/>
              </a:ext>
            </a:extLst>
          </p:cNvPr>
          <p:cNvSpPr txBox="1"/>
          <p:nvPr/>
        </p:nvSpPr>
        <p:spPr>
          <a:xfrm>
            <a:off x="810058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8606B-D305-2ACF-1C36-8F4624E4972C}"/>
              </a:ext>
            </a:extLst>
          </p:cNvPr>
          <p:cNvSpPr txBox="1"/>
          <p:nvPr/>
        </p:nvSpPr>
        <p:spPr>
          <a:xfrm>
            <a:off x="810058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CDF58-BB06-435D-ABFB-0BB9201AD06D}"/>
              </a:ext>
            </a:extLst>
          </p:cNvPr>
          <p:cNvSpPr txBox="1"/>
          <p:nvPr/>
        </p:nvSpPr>
        <p:spPr>
          <a:xfrm>
            <a:off x="810058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6FAE3-03C7-1D76-CC2A-E9D7B75D66EB}"/>
              </a:ext>
            </a:extLst>
          </p:cNvPr>
          <p:cNvSpPr txBox="1"/>
          <p:nvPr/>
        </p:nvSpPr>
        <p:spPr>
          <a:xfrm>
            <a:off x="810058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5D7721-1F93-1B13-0057-96A685AE8056}"/>
              </a:ext>
            </a:extLst>
          </p:cNvPr>
          <p:cNvSpPr txBox="1"/>
          <p:nvPr/>
        </p:nvSpPr>
        <p:spPr>
          <a:xfrm>
            <a:off x="2016417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705ECF-2571-A313-DC95-02D6DBA37EE8}"/>
              </a:ext>
            </a:extLst>
          </p:cNvPr>
          <p:cNvSpPr txBox="1"/>
          <p:nvPr/>
        </p:nvSpPr>
        <p:spPr>
          <a:xfrm>
            <a:off x="1908129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3393D0-237F-C574-BDAE-60495A240B77}"/>
              </a:ext>
            </a:extLst>
          </p:cNvPr>
          <p:cNvSpPr txBox="1"/>
          <p:nvPr/>
        </p:nvSpPr>
        <p:spPr>
          <a:xfrm>
            <a:off x="1908129" y="3759488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CF7F3E-1522-1E00-D215-BE49A86F3AD6}"/>
              </a:ext>
            </a:extLst>
          </p:cNvPr>
          <p:cNvSpPr txBox="1"/>
          <p:nvPr/>
        </p:nvSpPr>
        <p:spPr>
          <a:xfrm>
            <a:off x="1908129" y="4494944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9944A-A0A2-BE70-9B0B-39139070E09E}"/>
              </a:ext>
            </a:extLst>
          </p:cNvPr>
          <p:cNvSpPr txBox="1"/>
          <p:nvPr/>
        </p:nvSpPr>
        <p:spPr>
          <a:xfrm>
            <a:off x="1908129" y="5176056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526E03-0B9F-9F96-EA70-B58BADB9AAA4}"/>
              </a:ext>
            </a:extLst>
          </p:cNvPr>
          <p:cNvSpPr txBox="1"/>
          <p:nvPr/>
        </p:nvSpPr>
        <p:spPr>
          <a:xfrm>
            <a:off x="810058" y="59190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F8090-1625-E30A-19C2-EA841A6BE5FC}"/>
              </a:ext>
            </a:extLst>
          </p:cNvPr>
          <p:cNvSpPr txBox="1"/>
          <p:nvPr/>
        </p:nvSpPr>
        <p:spPr>
          <a:xfrm>
            <a:off x="1908129" y="5888526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E22248A-444B-C9BB-737B-ED56672F693B}"/>
              </a:ext>
            </a:extLst>
          </p:cNvPr>
          <p:cNvSpPr txBox="1"/>
          <p:nvPr/>
        </p:nvSpPr>
        <p:spPr>
          <a:xfrm>
            <a:off x="4264288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0.0101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077FA1-22FA-F970-5D65-B9F452899592}"/>
              </a:ext>
            </a:extLst>
          </p:cNvPr>
          <p:cNvSpPr txBox="1"/>
          <p:nvPr/>
        </p:nvSpPr>
        <p:spPr>
          <a:xfrm>
            <a:off x="4264288" y="305387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0.0462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73124E-9506-37DE-9DCA-60EA648CEFC1}"/>
              </a:ext>
            </a:extLst>
          </p:cNvPr>
          <p:cNvSpPr txBox="1"/>
          <p:nvPr/>
        </p:nvSpPr>
        <p:spPr>
          <a:xfrm>
            <a:off x="6110256" y="3774757"/>
            <a:ext cx="1395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42.5394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34DBD0-28B7-BDE0-9E9E-3F18A3B438F7}"/>
              </a:ext>
            </a:extLst>
          </p:cNvPr>
          <p:cNvSpPr txBox="1"/>
          <p:nvPr/>
        </p:nvSpPr>
        <p:spPr>
          <a:xfrm>
            <a:off x="9686340" y="268006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0.8928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6ECE9A-FB9B-ECA1-3C1D-5079177BC7B4}"/>
              </a:ext>
            </a:extLst>
          </p:cNvPr>
          <p:cNvSpPr txBox="1"/>
          <p:nvPr/>
        </p:nvSpPr>
        <p:spPr>
          <a:xfrm>
            <a:off x="9686340" y="4481322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1.7889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964F36-9292-6C32-1ED1-583925B6CF3D}"/>
              </a:ext>
            </a:extLst>
          </p:cNvPr>
          <p:cNvSpPr txBox="1"/>
          <p:nvPr/>
        </p:nvSpPr>
        <p:spPr>
          <a:xfrm>
            <a:off x="6110255" y="3065911"/>
            <a:ext cx="147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18.4954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5CF50-51A0-B0C1-7A3B-47CCA50B7770}"/>
              </a:ext>
            </a:extLst>
          </p:cNvPr>
          <p:cNvSpPr txBox="1"/>
          <p:nvPr/>
        </p:nvSpPr>
        <p:spPr>
          <a:xfrm>
            <a:off x="4264288" y="37597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0.1063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64BC43-382E-4862-E705-66CABCB2CA9D}"/>
              </a:ext>
            </a:extLst>
          </p:cNvPr>
          <p:cNvSpPr txBox="1"/>
          <p:nvPr/>
        </p:nvSpPr>
        <p:spPr>
          <a:xfrm>
            <a:off x="4264288" y="446559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0.1631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230855-6F32-0744-723B-DFB68723443C}"/>
              </a:ext>
            </a:extLst>
          </p:cNvPr>
          <p:cNvSpPr txBox="1"/>
          <p:nvPr/>
        </p:nvSpPr>
        <p:spPr>
          <a:xfrm>
            <a:off x="4264288" y="519551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D385BF-47AD-F92C-2176-E0F8DB5EDE70}"/>
              </a:ext>
            </a:extLst>
          </p:cNvPr>
          <p:cNvSpPr txBox="1"/>
          <p:nvPr/>
        </p:nvSpPr>
        <p:spPr>
          <a:xfrm>
            <a:off x="4264288" y="592543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0.1725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4E3442-2014-BD62-D9DE-753725961C30}"/>
              </a:ext>
            </a:extLst>
          </p:cNvPr>
          <p:cNvSpPr txBox="1"/>
          <p:nvPr/>
        </p:nvSpPr>
        <p:spPr>
          <a:xfrm>
            <a:off x="6243902" y="2358554"/>
            <a:ext cx="1305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4.0207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7DECA4-CF7A-E96D-9E34-7583B7D41893}"/>
              </a:ext>
            </a:extLst>
          </p:cNvPr>
          <p:cNvSpPr txBox="1"/>
          <p:nvPr/>
        </p:nvSpPr>
        <p:spPr>
          <a:xfrm>
            <a:off x="6142914" y="4491090"/>
            <a:ext cx="1408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65.2270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341896-280B-9680-327E-6F54FB94BEF7}"/>
              </a:ext>
            </a:extLst>
          </p:cNvPr>
          <p:cNvSpPr txBox="1"/>
          <p:nvPr/>
        </p:nvSpPr>
        <p:spPr>
          <a:xfrm>
            <a:off x="6142914" y="5208138"/>
            <a:ext cx="1569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75.0111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3B1F75-A730-57F0-F7CF-2404351804F3}"/>
              </a:ext>
            </a:extLst>
          </p:cNvPr>
          <p:cNvSpPr txBox="1"/>
          <p:nvPr/>
        </p:nvSpPr>
        <p:spPr>
          <a:xfrm>
            <a:off x="6159687" y="5925437"/>
            <a:ext cx="1350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69.0102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55FFAC-A57E-3F3A-5832-358448841D87}"/>
              </a:ext>
            </a:extLst>
          </p:cNvPr>
          <p:cNvSpPr/>
          <p:nvPr/>
        </p:nvSpPr>
        <p:spPr>
          <a:xfrm>
            <a:off x="6229128" y="2312215"/>
            <a:ext cx="1159300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8928CDE-A90F-FCB4-0CCD-24F68F9457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524" y="1861990"/>
            <a:ext cx="9573961" cy="1533739"/>
          </a:xfrm>
          <a:prstGeom prst="rect">
            <a:avLst/>
          </a:prstGeom>
        </p:spPr>
      </p:pic>
      <p:sp>
        <p:nvSpPr>
          <p:cNvPr id="58" name="Right Brace 57">
            <a:extLst>
              <a:ext uri="{FF2B5EF4-FFF2-40B4-BE49-F238E27FC236}">
                <a16:creationId xmlns:a16="http://schemas.microsoft.com/office/drawing/2014/main" id="{B543873E-C0EA-1C93-2181-D6CB55429821}"/>
              </a:ext>
            </a:extLst>
          </p:cNvPr>
          <p:cNvSpPr/>
          <p:nvPr/>
        </p:nvSpPr>
        <p:spPr>
          <a:xfrm>
            <a:off x="7421085" y="2595402"/>
            <a:ext cx="363300" cy="845477"/>
          </a:xfrm>
          <a:prstGeom prst="rightBrace">
            <a:avLst>
              <a:gd name="adj1" fmla="val 17638"/>
              <a:gd name="adj2" fmla="val 50000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/>
              <p:nvPr/>
            </p:nvSpPr>
            <p:spPr>
              <a:xfrm>
                <a:off x="8162354" y="1100678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354" y="1100678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1679" t="-6410" r="-11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58C8165-DE48-9E56-CD82-60207848056F}"/>
              </a:ext>
            </a:extLst>
          </p:cNvPr>
          <p:cNvSpPr/>
          <p:nvPr/>
        </p:nvSpPr>
        <p:spPr>
          <a:xfrm>
            <a:off x="1869633" y="2296170"/>
            <a:ext cx="725287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B4F2B60D-32CF-720F-F05A-5243B243293A}"/>
              </a:ext>
            </a:extLst>
          </p:cNvPr>
          <p:cNvSpPr/>
          <p:nvPr/>
        </p:nvSpPr>
        <p:spPr>
          <a:xfrm>
            <a:off x="2577175" y="2535606"/>
            <a:ext cx="338884" cy="845477"/>
          </a:xfrm>
          <a:prstGeom prst="rightBrace">
            <a:avLst>
              <a:gd name="adj1" fmla="val 17638"/>
              <a:gd name="adj2" fmla="val 52846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7AADB0-A106-C89D-7150-9F9DAF02842B}"/>
              </a:ext>
            </a:extLst>
          </p:cNvPr>
          <p:cNvSpPr txBox="1"/>
          <p:nvPr/>
        </p:nvSpPr>
        <p:spPr>
          <a:xfrm>
            <a:off x="7911471" y="2743806"/>
            <a:ext cx="1511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22.5161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B58E21-C7A9-97E7-984A-A66C9603318F}"/>
              </a:ext>
            </a:extLst>
          </p:cNvPr>
          <p:cNvSpPr txBox="1"/>
          <p:nvPr/>
        </p:nvSpPr>
        <p:spPr>
          <a:xfrm>
            <a:off x="3018451" y="268571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9D268C-28F0-1179-A65A-3EA2BBDF5ADC}"/>
              </a:ext>
            </a:extLst>
          </p:cNvPr>
          <p:cNvSpPr txBox="1"/>
          <p:nvPr/>
        </p:nvSpPr>
        <p:spPr>
          <a:xfrm>
            <a:off x="7869221" y="3767108"/>
            <a:ext cx="143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42.5394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B4ED01-F610-07A9-6AA4-02E4242AB260}"/>
              </a:ext>
            </a:extLst>
          </p:cNvPr>
          <p:cNvSpPr txBox="1"/>
          <p:nvPr/>
        </p:nvSpPr>
        <p:spPr>
          <a:xfrm>
            <a:off x="7862672" y="4502564"/>
            <a:ext cx="143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65.2270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E41F1E-F2E7-2854-CACD-A11CB38F144F}"/>
              </a:ext>
            </a:extLst>
          </p:cNvPr>
          <p:cNvSpPr txBox="1"/>
          <p:nvPr/>
        </p:nvSpPr>
        <p:spPr>
          <a:xfrm>
            <a:off x="7869636" y="5218010"/>
            <a:ext cx="1350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75.0111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D16CD8-A9EC-88EA-BAF4-B02632B1AB8C}"/>
              </a:ext>
            </a:extLst>
          </p:cNvPr>
          <p:cNvSpPr txBox="1"/>
          <p:nvPr/>
        </p:nvSpPr>
        <p:spPr>
          <a:xfrm>
            <a:off x="7862672" y="5933456"/>
            <a:ext cx="157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69.0102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31C47A-7212-0D4A-D87E-EE6762AAE107}"/>
              </a:ext>
            </a:extLst>
          </p:cNvPr>
          <p:cNvSpPr txBox="1"/>
          <p:nvPr/>
        </p:nvSpPr>
        <p:spPr>
          <a:xfrm>
            <a:off x="3018451" y="379157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B34987-3D46-BDFE-A41C-9B215E767426}"/>
              </a:ext>
            </a:extLst>
          </p:cNvPr>
          <p:cNvSpPr txBox="1"/>
          <p:nvPr/>
        </p:nvSpPr>
        <p:spPr>
          <a:xfrm>
            <a:off x="3018451" y="45270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F79DFA-3D34-0AF9-976C-3295CF5BFB04}"/>
              </a:ext>
            </a:extLst>
          </p:cNvPr>
          <p:cNvSpPr txBox="1"/>
          <p:nvPr/>
        </p:nvSpPr>
        <p:spPr>
          <a:xfrm>
            <a:off x="3018451" y="520813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2A4C87-4FF1-7C86-2E80-074C6EE62A8B}"/>
              </a:ext>
            </a:extLst>
          </p:cNvPr>
          <p:cNvSpPr txBox="1"/>
          <p:nvPr/>
        </p:nvSpPr>
        <p:spPr>
          <a:xfrm>
            <a:off x="3018451" y="59206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35546B-295D-45A4-AB16-D120F9CD0C17}"/>
              </a:ext>
            </a:extLst>
          </p:cNvPr>
          <p:cNvSpPr txBox="1"/>
          <p:nvPr/>
        </p:nvSpPr>
        <p:spPr>
          <a:xfrm>
            <a:off x="9686340" y="374128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0.4720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9C84B2-7FC8-991F-A2BA-719803D7939C}"/>
              </a:ext>
            </a:extLst>
          </p:cNvPr>
          <p:cNvSpPr txBox="1"/>
          <p:nvPr/>
        </p:nvSpPr>
        <p:spPr>
          <a:xfrm>
            <a:off x="9686340" y="517514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0.6533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14082A-D185-804B-D574-AD7893976318}"/>
              </a:ext>
            </a:extLst>
          </p:cNvPr>
          <p:cNvSpPr txBox="1"/>
          <p:nvPr/>
        </p:nvSpPr>
        <p:spPr>
          <a:xfrm>
            <a:off x="9686340" y="588099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0.3623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A25F4C3-FBA4-99AB-A9FC-251C058B57EC}"/>
              </a:ext>
            </a:extLst>
          </p:cNvPr>
          <p:cNvSpPr/>
          <p:nvPr/>
        </p:nvSpPr>
        <p:spPr>
          <a:xfrm>
            <a:off x="2916059" y="2418347"/>
            <a:ext cx="777154" cy="401426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B96D4DF-7118-0F19-A63B-94D2DEC27019}"/>
              </a:ext>
            </a:extLst>
          </p:cNvPr>
          <p:cNvSpPr/>
          <p:nvPr/>
        </p:nvSpPr>
        <p:spPr>
          <a:xfrm>
            <a:off x="7821272" y="2478107"/>
            <a:ext cx="1478964" cy="401426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43650A-B45F-DE82-4F7C-EDE450D54D7D}"/>
                  </a:ext>
                </a:extLst>
              </p:cNvPr>
              <p:cNvSpPr txBox="1"/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43650A-B45F-DE82-4F7C-EDE450D54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19B178-FC58-90DC-9044-C360D09AC817}"/>
                  </a:ext>
                </a:extLst>
              </p:cNvPr>
              <p:cNvSpPr txBox="1"/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19B178-FC58-90DC-9044-C360D09AC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95664 0.07014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839" y="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7" grpId="0"/>
      <p:bldP spid="10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 animBg="1"/>
      <p:bldP spid="58" grpId="0" animBg="1"/>
      <p:bldP spid="59" grpId="0"/>
      <p:bldP spid="60" grpId="0"/>
      <p:bldP spid="61" grpId="0" animBg="1"/>
      <p:bldP spid="62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 animBg="1"/>
      <p:bldP spid="78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942E-A9E9-4451-0B30-E6C841A3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9FED-7D24-0D70-A3FE-9D3D01F4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636CFD-6D08-E66B-0235-D315D89F2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069305"/>
              </p:ext>
            </p:extLst>
          </p:nvPr>
        </p:nvGraphicFramePr>
        <p:xfrm>
          <a:off x="189230" y="869526"/>
          <a:ext cx="11244313" cy="350904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1D9CEE-FBED-DDFB-DF1A-913076D06076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FF6493-49C7-2856-ED60-30B779625C7C}"/>
              </a:ext>
            </a:extLst>
          </p:cNvPr>
          <p:cNvSpPr txBox="1"/>
          <p:nvPr/>
        </p:nvSpPr>
        <p:spPr>
          <a:xfrm>
            <a:off x="202816" y="844047"/>
            <a:ext cx="15122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(x)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300FE7-08DF-61DD-1268-96C712D65C34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0C3D93-B926-6E9D-FABE-D6189CD441BD}"/>
                  </a:ext>
                </a:extLst>
              </p:cNvPr>
              <p:cNvSpPr txBox="1"/>
              <p:nvPr/>
            </p:nvSpPr>
            <p:spPr>
              <a:xfrm>
                <a:off x="9565633" y="94983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0C3D93-B926-6E9D-FABE-D6189CD44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633" y="949834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47F161E-8815-43C0-F8AC-5005E8852E04}"/>
              </a:ext>
            </a:extLst>
          </p:cNvPr>
          <p:cNvSpPr txBox="1"/>
          <p:nvPr/>
        </p:nvSpPr>
        <p:spPr>
          <a:xfrm>
            <a:off x="810058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44C4C-F71C-45C3-2813-FF52BB0270B5}"/>
              </a:ext>
            </a:extLst>
          </p:cNvPr>
          <p:cNvSpPr txBox="1"/>
          <p:nvPr/>
        </p:nvSpPr>
        <p:spPr>
          <a:xfrm>
            <a:off x="810058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267DC-0DA2-F089-0EFE-0227595DEB02}"/>
              </a:ext>
            </a:extLst>
          </p:cNvPr>
          <p:cNvSpPr txBox="1"/>
          <p:nvPr/>
        </p:nvSpPr>
        <p:spPr>
          <a:xfrm>
            <a:off x="810058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2FE8C-49DD-F96A-7514-E5A8CEEB676A}"/>
              </a:ext>
            </a:extLst>
          </p:cNvPr>
          <p:cNvSpPr txBox="1"/>
          <p:nvPr/>
        </p:nvSpPr>
        <p:spPr>
          <a:xfrm>
            <a:off x="1982127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67369-E556-5ED5-BB04-556A7DD430FF}"/>
              </a:ext>
            </a:extLst>
          </p:cNvPr>
          <p:cNvSpPr txBox="1"/>
          <p:nvPr/>
        </p:nvSpPr>
        <p:spPr>
          <a:xfrm>
            <a:off x="1980321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774EB-AEB1-CE72-890E-BBD860994386}"/>
              </a:ext>
            </a:extLst>
          </p:cNvPr>
          <p:cNvSpPr txBox="1"/>
          <p:nvPr/>
        </p:nvSpPr>
        <p:spPr>
          <a:xfrm>
            <a:off x="1968891" y="3782348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901A9-14A9-0BEF-C48D-A4873735187D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8567913-72D4-0613-2FCE-742F3D84A80B}"/>
              </a:ext>
            </a:extLst>
          </p:cNvPr>
          <p:cNvSpPr txBox="1"/>
          <p:nvPr/>
        </p:nvSpPr>
        <p:spPr>
          <a:xfrm>
            <a:off x="4264288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0.1323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8932A3-EF53-5554-2349-2707D2D5A6E7}"/>
              </a:ext>
            </a:extLst>
          </p:cNvPr>
          <p:cNvSpPr txBox="1"/>
          <p:nvPr/>
        </p:nvSpPr>
        <p:spPr>
          <a:xfrm>
            <a:off x="4264288" y="305387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0.0869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36DD42-DC0D-57B8-D56C-18245A9D00F8}"/>
              </a:ext>
            </a:extLst>
          </p:cNvPr>
          <p:cNvSpPr txBox="1"/>
          <p:nvPr/>
        </p:nvSpPr>
        <p:spPr>
          <a:xfrm>
            <a:off x="6096000" y="3774757"/>
            <a:ext cx="156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19.9916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8433C6-7AA6-32E8-B1FF-B56E6908317F}"/>
              </a:ext>
            </a:extLst>
          </p:cNvPr>
          <p:cNvSpPr txBox="1"/>
          <p:nvPr/>
        </p:nvSpPr>
        <p:spPr>
          <a:xfrm>
            <a:off x="6113078" y="3065911"/>
            <a:ext cx="1473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34.7680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86FE07-82C2-3A24-D5FE-CBB5CB681201}"/>
              </a:ext>
            </a:extLst>
          </p:cNvPr>
          <p:cNvSpPr txBox="1"/>
          <p:nvPr/>
        </p:nvSpPr>
        <p:spPr>
          <a:xfrm>
            <a:off x="4264288" y="37597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0.0500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D9F0EC-A18B-9524-1BA4-24740D15CB00}"/>
              </a:ext>
            </a:extLst>
          </p:cNvPr>
          <p:cNvSpPr txBox="1"/>
          <p:nvPr/>
        </p:nvSpPr>
        <p:spPr>
          <a:xfrm>
            <a:off x="6115919" y="2349578"/>
            <a:ext cx="1445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52.9078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F0B65A3-FFB3-833C-2B81-3FD718B70C6E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007BF2-845F-10BF-C470-CC74DDF3ED7E}"/>
                  </a:ext>
                </a:extLst>
              </p:cNvPr>
              <p:cNvSpPr txBox="1"/>
              <p:nvPr/>
            </p:nvSpPr>
            <p:spPr>
              <a:xfrm>
                <a:off x="8291733" y="1081470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007BF2-845F-10BF-C470-CC74DDF3E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733" y="1081470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1594" t="-5732" r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8B85EC5-3317-43A8-46D7-BEE58AD5712F}"/>
              </a:ext>
            </a:extLst>
          </p:cNvPr>
          <p:cNvSpPr txBox="1"/>
          <p:nvPr/>
        </p:nvSpPr>
        <p:spPr>
          <a:xfrm>
            <a:off x="3018451" y="378014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A5E3E2-DF42-7CE6-2898-1B38063B6C5A}"/>
              </a:ext>
            </a:extLst>
          </p:cNvPr>
          <p:cNvSpPr txBox="1"/>
          <p:nvPr/>
        </p:nvSpPr>
        <p:spPr>
          <a:xfrm>
            <a:off x="9954821" y="3737916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1.2456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2C6D273-11C9-BE20-C809-89111C8BA26C}"/>
              </a:ext>
            </a:extLst>
          </p:cNvPr>
          <p:cNvSpPr/>
          <p:nvPr/>
        </p:nvSpPr>
        <p:spPr>
          <a:xfrm>
            <a:off x="2814582" y="2313669"/>
            <a:ext cx="957915" cy="1991900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126F27-A440-0EF4-CECF-71DF5005ED8C}"/>
              </a:ext>
            </a:extLst>
          </p:cNvPr>
          <p:cNvSpPr txBox="1"/>
          <p:nvPr/>
        </p:nvSpPr>
        <p:spPr>
          <a:xfrm>
            <a:off x="3014637" y="234137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244721-2117-EA2A-B9DE-5585AF33FF1D}"/>
              </a:ext>
            </a:extLst>
          </p:cNvPr>
          <p:cNvSpPr txBox="1"/>
          <p:nvPr/>
        </p:nvSpPr>
        <p:spPr>
          <a:xfrm>
            <a:off x="3024261" y="305705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6AF2CC-0C8A-496F-91B2-7B0A08D8BCAF}"/>
              </a:ext>
            </a:extLst>
          </p:cNvPr>
          <p:cNvSpPr txBox="1"/>
          <p:nvPr/>
        </p:nvSpPr>
        <p:spPr>
          <a:xfrm>
            <a:off x="8020153" y="2352663"/>
            <a:ext cx="1590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52.9078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4691D2-A875-D0F6-E69B-57F70859C58E}"/>
              </a:ext>
            </a:extLst>
          </p:cNvPr>
          <p:cNvSpPr txBox="1"/>
          <p:nvPr/>
        </p:nvSpPr>
        <p:spPr>
          <a:xfrm>
            <a:off x="8039972" y="3065911"/>
            <a:ext cx="1473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34.7680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F2A16-674A-B1D5-79AF-ECADBD86780B}"/>
              </a:ext>
            </a:extLst>
          </p:cNvPr>
          <p:cNvSpPr txBox="1"/>
          <p:nvPr/>
        </p:nvSpPr>
        <p:spPr>
          <a:xfrm>
            <a:off x="8020153" y="3759488"/>
            <a:ext cx="1473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19.9916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BDEE5D-2489-0AC6-48D9-E8B2FBF23EEB}"/>
              </a:ext>
            </a:extLst>
          </p:cNvPr>
          <p:cNvSpPr/>
          <p:nvPr/>
        </p:nvSpPr>
        <p:spPr>
          <a:xfrm>
            <a:off x="7970480" y="2313669"/>
            <a:ext cx="1473921" cy="1969039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30D566-68F1-049F-4C25-41589E16E566}"/>
              </a:ext>
            </a:extLst>
          </p:cNvPr>
          <p:cNvSpPr txBox="1"/>
          <p:nvPr/>
        </p:nvSpPr>
        <p:spPr>
          <a:xfrm>
            <a:off x="9956544" y="232613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0.9000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4F4855-3A5B-F717-D7AD-E4A9647329D2}"/>
              </a:ext>
            </a:extLst>
          </p:cNvPr>
          <p:cNvSpPr txBox="1"/>
          <p:nvPr/>
        </p:nvSpPr>
        <p:spPr>
          <a:xfrm>
            <a:off x="9956544" y="30443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0.5172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874810-8B79-56DA-F9BC-B047B2441BCC}"/>
                  </a:ext>
                </a:extLst>
              </p:cNvPr>
              <p:cNvSpPr txBox="1"/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874810-8B79-56DA-F9BC-B047B244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9EF59E-E118-138D-B40B-0AB26E3C7440}"/>
                  </a:ext>
                </a:extLst>
              </p:cNvPr>
              <p:cNvSpPr txBox="1"/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9EF59E-E118-138D-B40B-0AB26E3C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0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5" grpId="0"/>
      <p:bldP spid="16" grpId="0"/>
      <p:bldP spid="17" grpId="0"/>
      <p:bldP spid="10" grpId="0"/>
      <p:bldP spid="40" grpId="0"/>
      <p:bldP spid="41" grpId="0"/>
      <p:bldP spid="44" grpId="0"/>
      <p:bldP spid="45" grpId="0"/>
      <p:bldP spid="49" grpId="0"/>
      <p:bldP spid="70" grpId="0"/>
      <p:bldP spid="74" grpId="0"/>
      <p:bldP spid="78" grpId="0" animBg="1"/>
      <p:bldP spid="22" grpId="0"/>
      <p:bldP spid="23" grpId="0"/>
      <p:bldP spid="25" grpId="0"/>
      <p:bldP spid="26" grpId="0"/>
      <p:bldP spid="27" grpId="0"/>
      <p:bldP spid="29" grpId="0" animBg="1"/>
      <p:bldP spid="30" grpId="0"/>
      <p:bldP spid="31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5EB0-EEE2-6907-AF33-08CA4482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4E06-CB70-B331-DD17-DECD5A3D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 (Continue)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216417-3824-5414-CBAB-2175A79FD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69723"/>
              </p:ext>
            </p:extLst>
          </p:nvPr>
        </p:nvGraphicFramePr>
        <p:xfrm>
          <a:off x="189230" y="869526"/>
          <a:ext cx="10704313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754412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CBB0F-9804-7D78-DD32-728044FF1461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BCF457-8A2A-D703-5F13-43B00C300E8A}"/>
              </a:ext>
            </a:extLst>
          </p:cNvPr>
          <p:cNvSpPr txBox="1"/>
          <p:nvPr/>
        </p:nvSpPr>
        <p:spPr>
          <a:xfrm>
            <a:off x="202816" y="1061217"/>
            <a:ext cx="1512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6E1743-F3EE-1452-FD16-380AEE89FC4C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9CFAA-572D-AFFC-54CF-FFF1650756E6}"/>
                  </a:ext>
                </a:extLst>
              </p:cNvPr>
              <p:cNvSpPr txBox="1"/>
              <p:nvPr/>
            </p:nvSpPr>
            <p:spPr>
              <a:xfrm>
                <a:off x="8972468" y="947456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9CFAA-572D-AFFC-54CF-FFF165075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468" y="947456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DFA463-E241-7EEC-75A4-29BAB6E1E1D9}"/>
              </a:ext>
            </a:extLst>
          </p:cNvPr>
          <p:cNvSpPr txBox="1"/>
          <p:nvPr/>
        </p:nvSpPr>
        <p:spPr>
          <a:xfrm>
            <a:off x="671511" y="306442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74338-5FA2-DE9F-FF45-A35ACF529E2F}"/>
              </a:ext>
            </a:extLst>
          </p:cNvPr>
          <p:cNvSpPr txBox="1"/>
          <p:nvPr/>
        </p:nvSpPr>
        <p:spPr>
          <a:xfrm>
            <a:off x="672898" y="377404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152E0-40E4-CB93-CA3C-690244B7D5CB}"/>
              </a:ext>
            </a:extLst>
          </p:cNvPr>
          <p:cNvSpPr txBox="1"/>
          <p:nvPr/>
        </p:nvSpPr>
        <p:spPr>
          <a:xfrm>
            <a:off x="672898" y="446886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AD7E0C-33B5-9C3B-702A-7CB1C1B0B086}"/>
              </a:ext>
            </a:extLst>
          </p:cNvPr>
          <p:cNvSpPr txBox="1"/>
          <p:nvPr/>
        </p:nvSpPr>
        <p:spPr>
          <a:xfrm>
            <a:off x="672898" y="520431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5ACC5-9AA0-DD35-9036-B77D24865422}"/>
              </a:ext>
            </a:extLst>
          </p:cNvPr>
          <p:cNvSpPr txBox="1"/>
          <p:nvPr/>
        </p:nvSpPr>
        <p:spPr>
          <a:xfrm>
            <a:off x="2043186" y="305135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CE86C-80A4-158D-5265-C236C31F3B9E}"/>
              </a:ext>
            </a:extLst>
          </p:cNvPr>
          <p:cNvSpPr txBox="1"/>
          <p:nvPr/>
        </p:nvSpPr>
        <p:spPr>
          <a:xfrm>
            <a:off x="2043186" y="375499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DA6F3-FCE0-BED3-46C0-D85EBE2A12E1}"/>
              </a:ext>
            </a:extLst>
          </p:cNvPr>
          <p:cNvSpPr txBox="1"/>
          <p:nvPr/>
        </p:nvSpPr>
        <p:spPr>
          <a:xfrm>
            <a:off x="2043186" y="4484100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04A52-3198-D521-CA15-647D942AC99B}"/>
              </a:ext>
            </a:extLst>
          </p:cNvPr>
          <p:cNvSpPr txBox="1"/>
          <p:nvPr/>
        </p:nvSpPr>
        <p:spPr>
          <a:xfrm>
            <a:off x="2043186" y="5196696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3B889-F66F-110E-DC32-2EF799335397}"/>
              </a:ext>
            </a:extLst>
          </p:cNvPr>
          <p:cNvSpPr txBox="1"/>
          <p:nvPr/>
        </p:nvSpPr>
        <p:spPr>
          <a:xfrm>
            <a:off x="3056214" y="3664162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1E0613-1008-AB35-EAF4-6E71DE98FB78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AB653E-A52B-A113-08C9-F5D35236C214}"/>
              </a:ext>
            </a:extLst>
          </p:cNvPr>
          <p:cNvSpPr txBox="1"/>
          <p:nvPr/>
        </p:nvSpPr>
        <p:spPr>
          <a:xfrm>
            <a:off x="4264288" y="3070726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0.0118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D36BDB-E036-E306-43FC-885A2BED4A28}"/>
              </a:ext>
            </a:extLst>
          </p:cNvPr>
          <p:cNvSpPr txBox="1"/>
          <p:nvPr/>
        </p:nvSpPr>
        <p:spPr>
          <a:xfrm>
            <a:off x="4264288" y="3776896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0.0049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52888C-AF66-C6E6-3216-DCB8DB054D93}"/>
              </a:ext>
            </a:extLst>
          </p:cNvPr>
          <p:cNvSpPr txBox="1"/>
          <p:nvPr/>
        </p:nvSpPr>
        <p:spPr>
          <a:xfrm>
            <a:off x="6187454" y="450061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0.7535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17DF55-41C6-AB96-CC97-F59A868DF3CC}"/>
              </a:ext>
            </a:extLst>
          </p:cNvPr>
          <p:cNvSpPr txBox="1"/>
          <p:nvPr/>
        </p:nvSpPr>
        <p:spPr>
          <a:xfrm>
            <a:off x="6173187" y="3780454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1.9656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8E440E-9272-1EAA-431E-91FB96308073}"/>
              </a:ext>
            </a:extLst>
          </p:cNvPr>
          <p:cNvSpPr txBox="1"/>
          <p:nvPr/>
        </p:nvSpPr>
        <p:spPr>
          <a:xfrm>
            <a:off x="4264288" y="4482756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25364C-DD74-55BA-CDAD-EFABDAE2F457}"/>
              </a:ext>
            </a:extLst>
          </p:cNvPr>
          <p:cNvSpPr txBox="1"/>
          <p:nvPr/>
        </p:nvSpPr>
        <p:spPr>
          <a:xfrm>
            <a:off x="4264288" y="5188612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0.0007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BBF734-B27E-BCE1-2D81-7131AB631D10}"/>
              </a:ext>
            </a:extLst>
          </p:cNvPr>
          <p:cNvSpPr txBox="1"/>
          <p:nvPr/>
        </p:nvSpPr>
        <p:spPr>
          <a:xfrm>
            <a:off x="6158922" y="3060293"/>
            <a:ext cx="124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4.7002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450386-A2AD-A1E9-F2F9-3ACC8F170AD4}"/>
              </a:ext>
            </a:extLst>
          </p:cNvPr>
          <p:cNvSpPr txBox="1"/>
          <p:nvPr/>
        </p:nvSpPr>
        <p:spPr>
          <a:xfrm>
            <a:off x="6191871" y="5196696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0.2666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5FD597-3F03-888E-FF77-FE4E1660E9C4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6548324-DDD1-3B95-2972-326F921CAB45}"/>
                  </a:ext>
                </a:extLst>
              </p:cNvPr>
              <p:cNvSpPr txBox="1"/>
              <p:nvPr/>
            </p:nvSpPr>
            <p:spPr>
              <a:xfrm>
                <a:off x="8004170" y="1101808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6548324-DDD1-3B95-2972-326F921CA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170" y="1101808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1594" t="-6410" r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C579D89-FDC1-5895-1D1D-B358EAD9AEC7}"/>
              </a:ext>
            </a:extLst>
          </p:cNvPr>
          <p:cNvSpPr/>
          <p:nvPr/>
        </p:nvSpPr>
        <p:spPr>
          <a:xfrm>
            <a:off x="5963676" y="2337761"/>
            <a:ext cx="1675217" cy="3342967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2BAA48-A38D-E4A6-6598-C239B1AF9EAA}"/>
              </a:ext>
            </a:extLst>
          </p:cNvPr>
          <p:cNvSpPr txBox="1"/>
          <p:nvPr/>
        </p:nvSpPr>
        <p:spPr>
          <a:xfrm>
            <a:off x="7749581" y="3664162"/>
            <a:ext cx="1455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17.9038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0FA689-AAF5-8271-06E8-DC4CE4651AA5}"/>
              </a:ext>
            </a:extLst>
          </p:cNvPr>
          <p:cNvSpPr txBox="1"/>
          <p:nvPr/>
        </p:nvSpPr>
        <p:spPr>
          <a:xfrm>
            <a:off x="9390859" y="3664162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0.0456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C7995-418A-4EA2-2766-B26E2C5084D4}"/>
              </a:ext>
            </a:extLst>
          </p:cNvPr>
          <p:cNvSpPr txBox="1"/>
          <p:nvPr/>
        </p:nvSpPr>
        <p:spPr>
          <a:xfrm>
            <a:off x="784471" y="236960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6AB261-CA3F-0986-7123-537635760962}"/>
              </a:ext>
            </a:extLst>
          </p:cNvPr>
          <p:cNvSpPr txBox="1"/>
          <p:nvPr/>
        </p:nvSpPr>
        <p:spPr>
          <a:xfrm>
            <a:off x="2043186" y="2358970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6F6162-8574-DF86-F7E9-792ACD07CD87}"/>
              </a:ext>
            </a:extLst>
          </p:cNvPr>
          <p:cNvSpPr txBox="1"/>
          <p:nvPr/>
        </p:nvSpPr>
        <p:spPr>
          <a:xfrm>
            <a:off x="4264288" y="2369603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0.0255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D6BCD-3F04-39A6-C276-C9844B543DDA}"/>
              </a:ext>
            </a:extLst>
          </p:cNvPr>
          <p:cNvSpPr txBox="1"/>
          <p:nvPr/>
        </p:nvSpPr>
        <p:spPr>
          <a:xfrm>
            <a:off x="6106517" y="2346802"/>
            <a:ext cx="1569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10.2179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4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10" grpId="0"/>
      <p:bldP spid="40" grpId="0"/>
      <p:bldP spid="41" grpId="0"/>
      <p:bldP spid="44" grpId="0"/>
      <p:bldP spid="45" grpId="0"/>
      <p:bldP spid="46" grpId="0"/>
      <p:bldP spid="49" grpId="0"/>
      <p:bldP spid="50" grpId="0"/>
      <p:bldP spid="61" grpId="0" animBg="1"/>
      <p:bldP spid="36" grpId="0"/>
      <p:bldP spid="37" grpId="0"/>
      <p:bldP spid="14" grpId="0"/>
      <p:bldP spid="20" grpId="0"/>
      <p:bldP spid="21" grpId="0"/>
      <p:bldP spid="22" grpId="0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F32B-90EE-8B6E-1CEA-EA63A0C3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1352-BC4D-29D1-6B6D-7ADF5AC7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8E8F47-4E39-762A-5102-10BA491024C6}"/>
                  </a:ext>
                </a:extLst>
              </p:cNvPr>
              <p:cNvSpPr txBox="1"/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o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8E8F47-4E39-762A-5102-10BA49102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135AB43-5C37-55A3-AA29-256A9F5E5C36}"/>
              </a:ext>
            </a:extLst>
          </p:cNvPr>
          <p:cNvSpPr txBox="1"/>
          <p:nvPr/>
        </p:nvSpPr>
        <p:spPr>
          <a:xfrm>
            <a:off x="134453" y="1271729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77B9EF-41CF-9657-9AFD-525F474B7A78}"/>
              </a:ext>
            </a:extLst>
          </p:cNvPr>
          <p:cNvGrpSpPr/>
          <p:nvPr/>
        </p:nvGrpSpPr>
        <p:grpSpPr>
          <a:xfrm>
            <a:off x="11233941" y="711201"/>
            <a:ext cx="944844" cy="4898335"/>
            <a:chOff x="9095876" y="720826"/>
            <a:chExt cx="944844" cy="489833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8C216D6-B562-DB3A-EF26-EA4FF9AF1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52" t="36018" r="32218" b="20501"/>
            <a:stretch/>
          </p:blipFill>
          <p:spPr>
            <a:xfrm>
              <a:off x="9098380" y="720826"/>
              <a:ext cx="942340" cy="298196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4D97955-9DA2-E108-9F00-D8D34417D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32" t="47148" r="19639" b="29752"/>
            <a:stretch/>
          </p:blipFill>
          <p:spPr>
            <a:xfrm>
              <a:off x="9098379" y="3700065"/>
              <a:ext cx="942341" cy="158418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FF96EA4-9264-3ACD-CDCD-E1EEA5310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3" t="65403" r="19718" b="29854"/>
            <a:stretch/>
          </p:blipFill>
          <p:spPr>
            <a:xfrm>
              <a:off x="9095876" y="5293874"/>
              <a:ext cx="942340" cy="325287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68C90E6-A921-D18F-4E04-9FD0D4C0522B}"/>
              </a:ext>
            </a:extLst>
          </p:cNvPr>
          <p:cNvSpPr txBox="1"/>
          <p:nvPr/>
        </p:nvSpPr>
        <p:spPr>
          <a:xfrm>
            <a:off x="11086225" y="5575265"/>
            <a:ext cx="1443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7.2240</a:t>
            </a:r>
            <a:endParaRPr lang="en-IN" sz="2800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592364-1C14-E529-491F-626013F5FFCD}"/>
                  </a:ext>
                </a:extLst>
              </p:cNvPr>
              <p:cNvSpPr txBox="1"/>
              <p:nvPr/>
            </p:nvSpPr>
            <p:spPr>
              <a:xfrm>
                <a:off x="4671310" y="1271729"/>
                <a:ext cx="18938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=7.2440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592364-1C14-E529-491F-626013F5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310" y="1271729"/>
                <a:ext cx="189382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12647F83-3815-F001-E612-6A8AE5F4B6BF}"/>
              </a:ext>
            </a:extLst>
          </p:cNvPr>
          <p:cNvSpPr/>
          <p:nvPr/>
        </p:nvSpPr>
        <p:spPr>
          <a:xfrm>
            <a:off x="134453" y="313665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7D96F5-8190-B62E-0DC3-1E0FF58ED832}"/>
                  </a:ext>
                </a:extLst>
              </p:cNvPr>
              <p:cNvSpPr txBox="1"/>
              <p:nvPr/>
            </p:nvSpPr>
            <p:spPr>
              <a:xfrm>
                <a:off x="2623240" y="3659876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8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15.507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7D96F5-8190-B62E-0DC3-1E0FF58ED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240" y="3659876"/>
                <a:ext cx="2948940" cy="602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034935-5DB3-AB34-CCE1-4C8AF3A2F7CE}"/>
                  </a:ext>
                </a:extLst>
              </p:cNvPr>
              <p:cNvSpPr txBox="1"/>
              <p:nvPr/>
            </p:nvSpPr>
            <p:spPr>
              <a:xfrm>
                <a:off x="13214" y="3726099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7.2440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034935-5DB3-AB34-CCE1-4C8AF3A2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4" y="3726099"/>
                <a:ext cx="240555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201BD24-F167-0CF3-7B2E-66619390C969}"/>
                  </a:ext>
                </a:extLst>
              </p:cNvPr>
              <p:cNvSpPr txBox="1"/>
              <p:nvPr/>
            </p:nvSpPr>
            <p:spPr>
              <a:xfrm>
                <a:off x="141569" y="4349696"/>
                <a:ext cx="29489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201BD24-F167-0CF3-7B2E-66619390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9" y="4349696"/>
                <a:ext cx="2948939" cy="523220"/>
              </a:xfrm>
              <a:prstGeom prst="rect">
                <a:avLst/>
              </a:prstGeom>
              <a:blipFill>
                <a:blip r:embed="rId10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7D067E-40AB-CE7A-CECC-31A5322D489E}"/>
                  </a:ext>
                </a:extLst>
              </p:cNvPr>
              <p:cNvSpPr txBox="1"/>
              <p:nvPr/>
            </p:nvSpPr>
            <p:spPr>
              <a:xfrm>
                <a:off x="109946" y="5063052"/>
                <a:ext cx="9779347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the 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number of massage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7D067E-40AB-CE7A-CECC-31A5322D4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6" y="5063052"/>
                <a:ext cx="9779347" cy="1161152"/>
              </a:xfrm>
              <a:prstGeom prst="rect">
                <a:avLst/>
              </a:prstGeom>
              <a:blipFill>
                <a:blip r:embed="rId11"/>
                <a:stretch>
                  <a:fillRect l="-1247" r="-1309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0BD0469-E005-6BC2-D842-E7C5F298EE7D}"/>
                  </a:ext>
                </a:extLst>
              </p:cNvPr>
              <p:cNvSpPr txBox="1"/>
              <p:nvPr/>
            </p:nvSpPr>
            <p:spPr>
              <a:xfrm>
                <a:off x="2188091" y="3716849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0BD0469-E005-6BC2-D842-E7C5F298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91" y="3716849"/>
                <a:ext cx="57438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CF89E-9C1A-394E-9196-A8AB68DABBED}"/>
                  </a:ext>
                </a:extLst>
              </p:cNvPr>
              <p:cNvSpPr txBox="1"/>
              <p:nvPr/>
            </p:nvSpPr>
            <p:spPr>
              <a:xfrm>
                <a:off x="2309327" y="2446567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8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15.507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CF89E-9C1A-394E-9196-A8AB68DA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327" y="2446567"/>
                <a:ext cx="3616432" cy="6022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E2E9E08-4685-BA96-4E90-C6A1408BFEA2}"/>
              </a:ext>
            </a:extLst>
          </p:cNvPr>
          <p:cNvSpPr/>
          <p:nvPr/>
        </p:nvSpPr>
        <p:spPr>
          <a:xfrm>
            <a:off x="136866" y="245497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441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1" grpId="0"/>
      <p:bldP spid="38" grpId="0"/>
      <p:bldP spid="39" grpId="0"/>
      <p:bldP spid="42" grpId="0"/>
      <p:bldP spid="43" grpId="0"/>
      <p:bldP spid="47" grpId="0"/>
      <p:bldP spid="48" grpId="0" animBg="1"/>
      <p:bldP spid="51" grpId="0"/>
      <p:bldP spid="3" grpId="0"/>
      <p:bldP spid="4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50C9-E021-635D-0BB8-CADFDFF7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81E6D8-9362-744E-5471-D553A98A76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The following table indicates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a given distribution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the </a:t>
                </a:r>
                <a:r>
                  <a:rPr lang="en-US" b="1" dirty="0">
                    <a:solidFill>
                      <a:srgbClr val="FFFF00"/>
                    </a:solidFill>
                  </a:rPr>
                  <a:t>normal distribution</a:t>
                </a:r>
                <a:r>
                  <a:rPr lang="en-US" dirty="0"/>
                  <a:t> having the same mean, standard deviation and the total frequency as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Apply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test of goodness of fit.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81E6D8-9362-744E-5471-D553A98A7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blipFill>
                <a:blip r:embed="rId2"/>
                <a:stretch>
                  <a:fillRect l="-1074" r="-1074" b="-2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500B428-6CE3-C3C8-6B95-8F6D33C3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6DD55A6-AF79-DC5C-4EF3-8B019072A2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7423"/>
                  </p:ext>
                </p:extLst>
              </p:nvPr>
            </p:nvGraphicFramePr>
            <p:xfrm>
              <a:off x="2319021" y="2803641"/>
              <a:ext cx="7553959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220989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6DD55A6-AF79-DC5C-4EF3-8B019072A2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2467423"/>
                  </p:ext>
                </p:extLst>
              </p:nvPr>
            </p:nvGraphicFramePr>
            <p:xfrm>
              <a:off x="2319021" y="2803641"/>
              <a:ext cx="7553959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220989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" t="-840" r="-52100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487" t="-840" r="-457219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840" r="-36978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3373" t="-840" r="-305422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1534" t="-840" r="-211043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1953" t="-840" r="-10355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7341" t="-840" r="-1156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" t="-100840" r="-52100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487" t="-100840" r="-457219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00840" r="-36978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3373" t="-100840" r="-305422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1534" t="-100840" r="-211043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1953" t="-100840" r="-10355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7341" t="-100840" r="-1156" b="-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093817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AC00-11BB-A229-0A85-C885D1D5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F0BC-D8DB-9B48-0A90-AF5218B8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10 ⇝ Meaning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4DB39-8EED-67AF-405D-F5088CEF8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given two rows of data:</a:t>
            </a:r>
          </a:p>
          <a:p>
            <a:pPr lvl="1"/>
            <a:r>
              <a:rPr lang="en-US" dirty="0"/>
              <a:t>(a) → Observed frequencies (real data)</a:t>
            </a:r>
          </a:p>
          <a:p>
            <a:pPr lvl="1"/>
            <a:r>
              <a:rPr lang="en-US" dirty="0"/>
              <a:t>(b) → Expected frequencies (theoretical data)</a:t>
            </a:r>
          </a:p>
          <a:p>
            <a:r>
              <a:rPr lang="en-US" dirty="0"/>
              <a:t>Reality = Observed frequencies</a:t>
            </a:r>
          </a:p>
          <a:p>
            <a:r>
              <a:rPr lang="en-US" dirty="0"/>
              <a:t>Theory = Expected (normal distribution) frequencies</a:t>
            </a:r>
          </a:p>
          <a:p>
            <a:r>
              <a:rPr lang="en-US" dirty="0"/>
              <a:t>Question asks to check whether the real data (observed) fits well with the normal distribution (expected) or not.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2FE4014-CF5B-842D-5E20-3AA0C7F5AC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44975"/>
                  </p:ext>
                </p:extLst>
              </p:nvPr>
            </p:nvGraphicFramePr>
            <p:xfrm>
              <a:off x="6996222" y="863444"/>
              <a:ext cx="5064598" cy="1316232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818620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763429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74078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681183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664154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689698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706727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581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581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2FE4014-CF5B-842D-5E20-3AA0C7F5AC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44975"/>
                  </p:ext>
                </p:extLst>
              </p:nvPr>
            </p:nvGraphicFramePr>
            <p:xfrm>
              <a:off x="6996222" y="863444"/>
              <a:ext cx="5064598" cy="1316232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818620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763429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74078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681183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664154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689698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706727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6581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6" t="-917" r="-522388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7143" t="-917" r="-455556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934" t="-917" r="-370492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45" t="-917" r="-307207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9091" t="-917" r="-210000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4513" t="-917" r="-104425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8103" t="-917" r="-1724" b="-100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581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6" t="-101852" r="-522388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7143" t="-101852" r="-455556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934" t="-101852" r="-37049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45" t="-101852" r="-307207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9091" t="-101852" r="-210000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4513" t="-101852" r="-104425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18103" t="-101852" r="-1724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710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4CBB-A0B6-5110-71AC-B53D7D7F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BAEB-13E2-2734-7950-B51E3348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10 ⇝ Idea about Hypothesis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A4E5A-D917-3D0F-C274-5CBF493A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57142"/>
          </a:xfrm>
        </p:spPr>
        <p:txBody>
          <a:bodyPr/>
          <a:lstStyle/>
          <a:p>
            <a:r>
              <a:rPr lang="en-US" dirty="0"/>
              <a:t>Null Hypothesis (H₀) : The data follows a normal distribution.</a:t>
            </a:r>
          </a:p>
          <a:p>
            <a:pPr lvl="1"/>
            <a:r>
              <a:rPr lang="en-US" dirty="0"/>
              <a:t>Observed data and expected data are almost the same (no big difference).</a:t>
            </a:r>
          </a:p>
          <a:p>
            <a:r>
              <a:rPr lang="en-IN" dirty="0"/>
              <a:t>Alternative Hypothesis (H₁) : </a:t>
            </a:r>
            <a:r>
              <a:rPr lang="en-US" dirty="0"/>
              <a:t>The data does not follow a normal distribution.</a:t>
            </a:r>
          </a:p>
          <a:p>
            <a:pPr lvl="1"/>
            <a:r>
              <a:rPr lang="en-US" dirty="0"/>
              <a:t>There is a big difference between observed and expected.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43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E886-4511-9E78-3BAD-0F124471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9E10-E8B4-B84A-B9AC-7E26B6C1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7 ⇝ Example 10 ⇝ Idea about Degree of Freedom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E5368D-4706-B4D9-4F2D-FC3DD578FA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434418"/>
              </a:xfrm>
            </p:spPr>
            <p:txBody>
              <a:bodyPr/>
              <a:lstStyle/>
              <a:p>
                <a:r>
                  <a:rPr lang="en-US" dirty="0"/>
                  <a:t>The problem states that the normal distribution has the "same mean and standard deviation" as the given data. </a:t>
                </a:r>
              </a:p>
              <a:p>
                <a:r>
                  <a:rPr lang="en-US" dirty="0"/>
                  <a:t>This means the researchers had to perform two extra steps using the observed data before they could even fill out row (b):</a:t>
                </a:r>
              </a:p>
              <a:p>
                <a:pPr lvl="1"/>
                <a:r>
                  <a:rPr lang="en-US" dirty="0"/>
                  <a:t>Calculate the Mean from row (a). </a:t>
                </a:r>
                <a:r>
                  <a:rPr lang="en-US" b="1" dirty="0">
                    <a:solidFill>
                      <a:schemeClr val="tx1"/>
                    </a:solidFill>
                  </a:rPr>
                  <a:t>(Uses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df</a:t>
                </a:r>
                <a:r>
                  <a:rPr lang="en-US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en-US" dirty="0"/>
                  <a:t>Calculate the Standard Deviation from row (a). </a:t>
                </a:r>
                <a:r>
                  <a:rPr lang="en-US" b="1" dirty="0">
                    <a:solidFill>
                      <a:schemeClr val="tx1"/>
                    </a:solidFill>
                  </a:rPr>
                  <a:t>(Uses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df</a:t>
                </a:r>
                <a:r>
                  <a:rPr lang="en-US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𝛎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(number of estimated parameters)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𝛎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E5368D-4706-B4D9-4F2D-FC3DD578F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43441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45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CC2E-B9B9-5C9A-21A6-E0C81E06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3F5D97F-F5DD-1ED0-637F-92E8EC440D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The following table indicates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a given distribution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the normal distribution having the same mean, standard deviation and the total frequency as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Apply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test of goodness of fit.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3F5D97F-F5DD-1ED0-637F-92E8EC440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blipFill>
                <a:blip r:embed="rId2"/>
                <a:stretch>
                  <a:fillRect l="-1074" r="-1074" b="-2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94A528C-9786-D165-BF4F-1E2FC85D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4F8EC7D-290C-C89F-2A88-03375FF336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19021" y="2803641"/>
              <a:ext cx="7553959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220989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4F8EC7D-290C-C89F-2A88-03375FF336C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19021" y="2803641"/>
              <a:ext cx="7553959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220989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" t="-840" r="-52100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487" t="-840" r="-457219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840" r="-36978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3373" t="-840" r="-305422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1534" t="-840" r="-211043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1953" t="-840" r="-103550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7341" t="-840" r="-1156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" t="-100840" r="-52100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7487" t="-100840" r="-457219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3187" t="-100840" r="-36978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3373" t="-100840" r="-305422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1534" t="-100840" r="-211043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1953" t="-100840" r="-103550" b="-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7341" t="-100840" r="-1156" b="-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742273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22C3-F298-4457-9689-5C113502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231-26A8-A9E9-A0B1-1175186D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10 (Continue)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7C8C58-4779-93C6-7907-43DABAA4CE2A}"/>
              </a:ext>
            </a:extLst>
          </p:cNvPr>
          <p:cNvSpPr/>
          <p:nvPr/>
        </p:nvSpPr>
        <p:spPr>
          <a:xfrm>
            <a:off x="131177" y="8756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352520-1988-A6CE-9CDB-555A88BBDE6C}"/>
                  </a:ext>
                </a:extLst>
              </p:cNvPr>
              <p:cNvSpPr/>
              <p:nvPr/>
            </p:nvSpPr>
            <p:spPr>
              <a:xfrm>
                <a:off x="88466" y="156322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352520-1988-A6CE-9CDB-555A88BBDE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6" y="1563229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24B0EB6-5A49-EFE1-6A26-837B54F60CD6}"/>
                  </a:ext>
                </a:extLst>
              </p:cNvPr>
              <p:cNvSpPr/>
              <p:nvPr/>
            </p:nvSpPr>
            <p:spPr>
              <a:xfrm>
                <a:off x="88466" y="294338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24B0EB6-5A49-EFE1-6A26-837B54F60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6" y="2943389"/>
                <a:ext cx="23869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7E4F88-24A8-84D0-23F3-5FE5D078E5E4}"/>
                  </a:ext>
                </a:extLst>
              </p:cNvPr>
              <p:cNvSpPr/>
              <p:nvPr/>
            </p:nvSpPr>
            <p:spPr>
              <a:xfrm>
                <a:off x="88466" y="225330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7E4F88-24A8-84D0-23F3-5FE5D078E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6" y="2253309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7D4C2F-E98F-571E-D4A2-E1907D44F378}"/>
              </a:ext>
            </a:extLst>
          </p:cNvPr>
          <p:cNvSpPr txBox="1"/>
          <p:nvPr/>
        </p:nvSpPr>
        <p:spPr>
          <a:xfrm>
            <a:off x="886048" y="1587847"/>
            <a:ext cx="6129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Data follows normal distribution.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86975-5ABC-118C-1B90-D8A9D2DB3CF6}"/>
              </a:ext>
            </a:extLst>
          </p:cNvPr>
          <p:cNvSpPr txBox="1"/>
          <p:nvPr/>
        </p:nvSpPr>
        <p:spPr>
          <a:xfrm>
            <a:off x="886048" y="2253309"/>
            <a:ext cx="6129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Data does not follow normal distribution.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550877-1088-F15F-48B7-73F8273AB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77141"/>
              </p:ext>
            </p:extLst>
          </p:nvPr>
        </p:nvGraphicFramePr>
        <p:xfrm>
          <a:off x="6677293" y="875605"/>
          <a:ext cx="5383530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A3CDBE-9D7E-5FCD-272C-7B6FF7074331}"/>
                  </a:ext>
                </a:extLst>
              </p:cNvPr>
              <p:cNvSpPr txBox="1"/>
              <p:nvPr/>
            </p:nvSpPr>
            <p:spPr>
              <a:xfrm>
                <a:off x="7089294" y="1268703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A3CDBE-9D7E-5FCD-272C-7B6FF7074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4" y="1268703"/>
                <a:ext cx="8382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69E3D07-CCF9-78E4-6E1F-A9F8D798C396}"/>
              </a:ext>
            </a:extLst>
          </p:cNvPr>
          <p:cNvSpPr txBox="1"/>
          <p:nvPr/>
        </p:nvSpPr>
        <p:spPr>
          <a:xfrm>
            <a:off x="7271415" y="233221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500EA-6D34-C9E3-974A-E1CF9B43D190}"/>
              </a:ext>
            </a:extLst>
          </p:cNvPr>
          <p:cNvSpPr txBox="1"/>
          <p:nvPr/>
        </p:nvSpPr>
        <p:spPr>
          <a:xfrm>
            <a:off x="7271415" y="305932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38855-9A58-4AA3-CE1F-E89907B138D3}"/>
              </a:ext>
            </a:extLst>
          </p:cNvPr>
          <p:cNvSpPr txBox="1"/>
          <p:nvPr/>
        </p:nvSpPr>
        <p:spPr>
          <a:xfrm>
            <a:off x="7259985" y="376556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962FD9-60FB-07CD-E660-222173CF18D6}"/>
              </a:ext>
            </a:extLst>
          </p:cNvPr>
          <p:cNvSpPr txBox="1"/>
          <p:nvPr/>
        </p:nvSpPr>
        <p:spPr>
          <a:xfrm>
            <a:off x="7248555" y="450102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16147-BB0D-1129-CF98-5FB8902D5A50}"/>
              </a:ext>
            </a:extLst>
          </p:cNvPr>
          <p:cNvSpPr txBox="1"/>
          <p:nvPr/>
        </p:nvSpPr>
        <p:spPr>
          <a:xfrm>
            <a:off x="7248555" y="5182135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624B93-938F-0014-E151-1A5D19A4B2E0}"/>
              </a:ext>
            </a:extLst>
          </p:cNvPr>
          <p:cNvSpPr txBox="1"/>
          <p:nvPr/>
        </p:nvSpPr>
        <p:spPr>
          <a:xfrm>
            <a:off x="7263795" y="5894605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F8F8EB-9F79-0133-62B3-EAD643D9F203}"/>
                  </a:ext>
                </a:extLst>
              </p:cNvPr>
              <p:cNvSpPr txBox="1"/>
              <p:nvPr/>
            </p:nvSpPr>
            <p:spPr>
              <a:xfrm>
                <a:off x="8702194" y="1268703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F8F8EB-9F79-0133-62B3-EAD643D9F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194" y="1268703"/>
                <a:ext cx="838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AB81447-C69B-94D2-CD15-C0572ED022DE}"/>
              </a:ext>
            </a:extLst>
          </p:cNvPr>
          <p:cNvSpPr txBox="1"/>
          <p:nvPr/>
        </p:nvSpPr>
        <p:spPr>
          <a:xfrm>
            <a:off x="8858915" y="233221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31359C-5691-D660-351F-CDDF3FD0F283}"/>
              </a:ext>
            </a:extLst>
          </p:cNvPr>
          <p:cNvSpPr txBox="1"/>
          <p:nvPr/>
        </p:nvSpPr>
        <p:spPr>
          <a:xfrm>
            <a:off x="8858915" y="305932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3A3E1B-E764-AE46-92E8-A8D521F90CF7}"/>
              </a:ext>
            </a:extLst>
          </p:cNvPr>
          <p:cNvSpPr txBox="1"/>
          <p:nvPr/>
        </p:nvSpPr>
        <p:spPr>
          <a:xfrm>
            <a:off x="8847485" y="376556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843AF9-7082-E08F-D7CA-CE7EEDB30640}"/>
              </a:ext>
            </a:extLst>
          </p:cNvPr>
          <p:cNvSpPr txBox="1"/>
          <p:nvPr/>
        </p:nvSpPr>
        <p:spPr>
          <a:xfrm>
            <a:off x="8836055" y="450102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798CE-1062-3A72-BF41-CD0C4C8BE772}"/>
              </a:ext>
            </a:extLst>
          </p:cNvPr>
          <p:cNvSpPr txBox="1"/>
          <p:nvPr/>
        </p:nvSpPr>
        <p:spPr>
          <a:xfrm>
            <a:off x="8836055" y="5182135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3CD631-8530-AEE7-52CB-6710728411A6}"/>
              </a:ext>
            </a:extLst>
          </p:cNvPr>
          <p:cNvSpPr txBox="1"/>
          <p:nvPr/>
        </p:nvSpPr>
        <p:spPr>
          <a:xfrm>
            <a:off x="8851295" y="5894605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F87CC6-1A95-666C-8D14-A00C7D9E589B}"/>
                  </a:ext>
                </a:extLst>
              </p:cNvPr>
              <p:cNvSpPr txBox="1"/>
              <p:nvPr/>
            </p:nvSpPr>
            <p:spPr>
              <a:xfrm>
                <a:off x="10057435" y="957449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F87CC6-1A95-666C-8D14-A00C7D9E5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435" y="957449"/>
                <a:ext cx="2054007" cy="12028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8AFD9A0-5591-FBB5-3B9D-817B721A9910}"/>
              </a:ext>
            </a:extLst>
          </p:cNvPr>
          <p:cNvSpPr txBox="1"/>
          <p:nvPr/>
        </p:nvSpPr>
        <p:spPr>
          <a:xfrm>
            <a:off x="10536141" y="2344916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18.05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2F1EE0-9DF4-02BD-9C71-0C2121B35742}"/>
              </a:ext>
            </a:extLst>
          </p:cNvPr>
          <p:cNvSpPr txBox="1"/>
          <p:nvPr/>
        </p:nvSpPr>
        <p:spPr>
          <a:xfrm>
            <a:off x="10536140" y="3051861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8CD60C-E81E-4623-D758-E1653D9AC1D9}"/>
              </a:ext>
            </a:extLst>
          </p:cNvPr>
          <p:cNvSpPr txBox="1"/>
          <p:nvPr/>
        </p:nvSpPr>
        <p:spPr>
          <a:xfrm>
            <a:off x="10536140" y="3763815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11.52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AE9A92-C7E3-D326-1ECC-6016642864ED}"/>
              </a:ext>
            </a:extLst>
          </p:cNvPr>
          <p:cNvSpPr txBox="1"/>
          <p:nvPr/>
        </p:nvSpPr>
        <p:spPr>
          <a:xfrm>
            <a:off x="10536139" y="4480949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10.88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53D9C8-3C1D-A432-10B6-445BD7CCCC7D}"/>
              </a:ext>
            </a:extLst>
          </p:cNvPr>
          <p:cNvSpPr txBox="1"/>
          <p:nvPr/>
        </p:nvSpPr>
        <p:spPr>
          <a:xfrm>
            <a:off x="10531898" y="5188033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10.31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8AF7F-77FC-1D45-8793-23E2CE8F3647}"/>
              </a:ext>
            </a:extLst>
          </p:cNvPr>
          <p:cNvSpPr txBox="1"/>
          <p:nvPr/>
        </p:nvSpPr>
        <p:spPr>
          <a:xfrm>
            <a:off x="10523600" y="5925409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13.50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6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4" grpId="0"/>
      <p:bldP spid="8" grpId="0"/>
      <p:bldP spid="9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1D50-3646-CD7B-6EAF-D3836512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936C-32CE-5519-083F-BE7187CD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10 (Continue)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1DF67E-8AFC-5401-5049-1B44A5D30BB8}"/>
              </a:ext>
            </a:extLst>
          </p:cNvPr>
          <p:cNvSpPr/>
          <p:nvPr/>
        </p:nvSpPr>
        <p:spPr>
          <a:xfrm>
            <a:off x="136076" y="809413"/>
            <a:ext cx="1173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B4EABF-AE23-6D16-A910-3232B84EF5DD}"/>
                  </a:ext>
                </a:extLst>
              </p:cNvPr>
              <p:cNvSpPr txBox="1"/>
              <p:nvPr/>
            </p:nvSpPr>
            <p:spPr>
              <a:xfrm>
                <a:off x="263359" y="1332633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o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B4EABF-AE23-6D16-A910-3232B84EF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9" y="1332633"/>
                <a:ext cx="4133162" cy="13722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8995C9-7BD6-E992-FAA2-E180E6BB1EA4}"/>
                  </a:ext>
                </a:extLst>
              </p:cNvPr>
              <p:cNvSpPr txBox="1"/>
              <p:nvPr/>
            </p:nvSpPr>
            <p:spPr>
              <a:xfrm>
                <a:off x="3488545" y="1757172"/>
                <a:ext cx="18159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82.44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8995C9-7BD6-E992-FAA2-E180E6BB1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545" y="1757172"/>
                <a:ext cx="181595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89D6782A-157F-972F-1A68-64E98105E97F}"/>
              </a:ext>
            </a:extLst>
          </p:cNvPr>
          <p:cNvSpPr/>
          <p:nvPr/>
        </p:nvSpPr>
        <p:spPr>
          <a:xfrm>
            <a:off x="159272" y="3605204"/>
            <a:ext cx="2416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8CD48-D8AE-D362-7F7F-FCEF40F7DE0A}"/>
                  </a:ext>
                </a:extLst>
              </p:cNvPr>
              <p:cNvSpPr txBox="1"/>
              <p:nvPr/>
            </p:nvSpPr>
            <p:spPr>
              <a:xfrm>
                <a:off x="2490706" y="423829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=9.488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8CD48-D8AE-D362-7F7F-FCEF40F7D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706" y="4238295"/>
                <a:ext cx="2948940" cy="602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4B9BF3-7F05-55D0-8C72-36E885FE9A2A}"/>
                  </a:ext>
                </a:extLst>
              </p:cNvPr>
              <p:cNvSpPr txBox="1"/>
              <p:nvPr/>
            </p:nvSpPr>
            <p:spPr>
              <a:xfrm>
                <a:off x="0" y="4289256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82.44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4B9BF3-7F05-55D0-8C72-36E885FE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89256"/>
                <a:ext cx="240555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91D614-14FA-A795-382E-174B61AA5B7D}"/>
                  </a:ext>
                </a:extLst>
              </p:cNvPr>
              <p:cNvSpPr txBox="1"/>
              <p:nvPr/>
            </p:nvSpPr>
            <p:spPr>
              <a:xfrm>
                <a:off x="2118360" y="427782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91D614-14FA-A795-382E-174B61AA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360" y="4277825"/>
                <a:ext cx="5743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431671-1124-23C1-91CA-A258E8F6AA18}"/>
                  </a:ext>
                </a:extLst>
              </p:cNvPr>
              <p:cNvSpPr txBox="1"/>
              <p:nvPr/>
            </p:nvSpPr>
            <p:spPr>
              <a:xfrm>
                <a:off x="235984" y="5002147"/>
                <a:ext cx="36874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IN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431671-1124-23C1-91CA-A258E8F6A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84" y="5002147"/>
                <a:ext cx="3687429" cy="523220"/>
              </a:xfrm>
              <a:prstGeom prst="rect">
                <a:avLst/>
              </a:prstGeom>
              <a:blipFill>
                <a:blip r:embed="rId7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20D54C-3D2A-A34B-42C1-A6E2B440CE56}"/>
                  </a:ext>
                </a:extLst>
              </p:cNvPr>
              <p:cNvSpPr txBox="1"/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9.488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20D54C-3D2A-A34B-42C1-A6E2B440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C067E0A-8928-A3AA-7698-F1AAB7456E9B}"/>
              </a:ext>
            </a:extLst>
          </p:cNvPr>
          <p:cNvSpPr/>
          <p:nvPr/>
        </p:nvSpPr>
        <p:spPr>
          <a:xfrm>
            <a:off x="136076" y="290578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04277C-2F37-F194-6E4B-88A135B06C7F}"/>
                  </a:ext>
                </a:extLst>
              </p:cNvPr>
              <p:cNvSpPr txBox="1"/>
              <p:nvPr/>
            </p:nvSpPr>
            <p:spPr>
              <a:xfrm>
                <a:off x="2692746" y="5370083"/>
                <a:ext cx="9396473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the 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data does not follow a Normal Distribution.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04277C-2F37-F194-6E4B-88A135B06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746" y="5370083"/>
                <a:ext cx="9396473" cy="1161152"/>
              </a:xfrm>
              <a:prstGeom prst="rect">
                <a:avLst/>
              </a:prstGeom>
              <a:blipFill>
                <a:blip r:embed="rId9"/>
                <a:stretch>
                  <a:fillRect l="-1363" r="-1298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2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52" grpId="0"/>
      <p:bldP spid="53" grpId="0"/>
      <p:bldP spid="54" grpId="0"/>
      <p:bldP spid="55" grpId="0"/>
      <p:bldP spid="56" grpId="0"/>
      <p:bldP spid="5" grpId="0"/>
      <p:bldP spid="6" grpId="0"/>
      <p:bldP spid="8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5B52-C864-7E80-D17C-C2115D49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C77B-3376-E309-D24F-EAE2DB4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8</a:t>
            </a:r>
            <a:br>
              <a:rPr lang="en-US" dirty="0"/>
            </a:br>
            <a:r>
              <a:rPr lang="en-US" dirty="0"/>
              <a:t>Chi – Square Test: Independence of Attributes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473893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8202-54C0-1D6C-CCEB-C86DF65E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0FF5-EAE5-6A1C-E600-9474235E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122B9-970B-4B06-1317-8FC53EDE7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29340"/>
            <a:ext cx="11929641" cy="5624669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Attributes = categories (not numbers)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Examples: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Gender (Male / Female)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Preference (Tea / Coffee)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Result (Pass / Fail)</a:t>
            </a:r>
          </a:p>
          <a:p>
            <a:pPr>
              <a:lnSpc>
                <a:spcPct val="145000"/>
              </a:lnSpc>
            </a:pPr>
            <a:r>
              <a:rPr lang="en-US" dirty="0"/>
              <a:t>Independence means one attribute does not affect the other.</a:t>
            </a:r>
          </a:p>
          <a:p>
            <a:pPr>
              <a:lnSpc>
                <a:spcPct val="145000"/>
              </a:lnSpc>
            </a:pPr>
            <a:r>
              <a:rPr lang="en-US" dirty="0"/>
              <a:t>The Chi-Square Test of Independence is used to check whether two categorical variables are independent or related. Or Is there a connection between two categories?</a:t>
            </a:r>
          </a:p>
          <a:p>
            <a:pPr>
              <a:lnSpc>
                <a:spcPct val="14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7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23FA-C66C-C2DB-F3B7-B5BAE291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CAF3-7899-4CF2-3EBC-AEDD7BA0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Chi  - Square Test : Independence of Attributes?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2A4B-67D6-3E64-6D1C-D145F2852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08074"/>
            <a:ext cx="11929641" cy="5645935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We need Chi-Square Test of Independence because: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Data may show patterns, but they can be misleading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This test helps us verify truth scientifically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It tells whether two attributes are: 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Independent (no relation) OR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Dependent (related)</a:t>
            </a:r>
          </a:p>
        </p:txBody>
      </p:sp>
    </p:spTree>
    <p:extLst>
      <p:ext uri="{BB962C8B-B14F-4D97-AF65-F5344CB8AC3E}">
        <p14:creationId xmlns:p14="http://schemas.microsoft.com/office/powerpoint/2010/main" val="423741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F856-848B-1F81-FEA1-9E084C2D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3C0D-F931-1210-E881-A3D52CBA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Contingency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BD21-904B-F607-C61B-2F2EC3F8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en-US" dirty="0"/>
              <a:t>A contingency table is a table used to show the relationship between two (or more) categorical variables. It displays how data is distributed across different categories.</a:t>
            </a:r>
          </a:p>
          <a:p>
            <a:pPr>
              <a:lnSpc>
                <a:spcPct val="145000"/>
              </a:lnSpc>
            </a:pPr>
            <a:r>
              <a:rPr lang="en-US" dirty="0"/>
              <a:t>Suppose we collect data on: Gender (Male, Female), Preference (Tea, Coffee)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1D5E79-0544-FC27-6CAE-CCD97AA7F3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345527"/>
                  </p:ext>
                </p:extLst>
              </p:nvPr>
            </p:nvGraphicFramePr>
            <p:xfrm>
              <a:off x="3057450" y="3429000"/>
              <a:ext cx="6077100" cy="1828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519275">
                      <a:extLst>
                        <a:ext uri="{9D8B030D-6E8A-4147-A177-3AD203B41FA5}">
                          <a16:colId xmlns:a16="http://schemas.microsoft.com/office/drawing/2014/main" val="3556905515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1158057168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2141868958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4154752893"/>
                        </a:ext>
                      </a:extLst>
                    </a:gridCol>
                  </a:tblGrid>
                  <a:tr h="430337">
                    <a:tc>
                      <a:txBody>
                        <a:bodyPr/>
                        <a:lstStyle/>
                        <a:p>
                          <a:pPr algn="ctr"/>
                          <a:endParaRPr lang="en-IN" sz="2400" dirty="0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Tea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Coffee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tx1"/>
                              </a:solidFill>
                            </a:rPr>
                            <a:t>Total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4333526"/>
                      </a:ext>
                    </a:extLst>
                  </a:tr>
                  <a:tr h="430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chemeClr val="bg1"/>
                              </a:solidFill>
                            </a:rPr>
                            <a:t>Male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2635934"/>
                      </a:ext>
                    </a:extLst>
                  </a:tr>
                  <a:tr h="430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chemeClr val="bg1"/>
                              </a:solidFill>
                            </a:rPr>
                            <a:t>Female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5441552"/>
                      </a:ext>
                    </a:extLst>
                  </a:tr>
                  <a:tr h="430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Total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29600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1D5E79-0544-FC27-6CAE-CCD97AA7F3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345527"/>
                  </p:ext>
                </p:extLst>
              </p:nvPr>
            </p:nvGraphicFramePr>
            <p:xfrm>
              <a:off x="3057450" y="3429000"/>
              <a:ext cx="6077100" cy="1828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519275">
                      <a:extLst>
                        <a:ext uri="{9D8B030D-6E8A-4147-A177-3AD203B41FA5}">
                          <a16:colId xmlns:a16="http://schemas.microsoft.com/office/drawing/2014/main" val="3556905515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1158057168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2141868958"/>
                        </a:ext>
                      </a:extLst>
                    </a:gridCol>
                    <a:gridCol w="1519275">
                      <a:extLst>
                        <a:ext uri="{9D8B030D-6E8A-4147-A177-3AD203B41FA5}">
                          <a16:colId xmlns:a16="http://schemas.microsoft.com/office/drawing/2014/main" val="415475289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IN" sz="2400" dirty="0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Tea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Coffee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chemeClr val="tx1"/>
                              </a:solidFill>
                            </a:rPr>
                            <a:t>Total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433352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chemeClr val="bg1"/>
                              </a:solidFill>
                            </a:rPr>
                            <a:t>Male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05" t="-106579" r="-20241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00" t="-106579" r="-10160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6" t="-106579" r="-2008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26359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>
                              <a:solidFill>
                                <a:schemeClr val="bg1"/>
                              </a:solidFill>
                            </a:rPr>
                            <a:t>Female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05" t="-209333" r="-20241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00" t="-209333" r="-1016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6" t="-209333" r="-2008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54415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Total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05" t="-309333" r="-20241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00" t="-309333" r="-10160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6" t="-309333" r="-2008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005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553E7C-A2B9-C883-A333-EE84FBAA9F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85061" y="5257800"/>
                <a:ext cx="673040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lnSpc>
                    <a:spcPct val="145000"/>
                  </a:lnSpc>
                </a:pPr>
                <a:r>
                  <a:rPr lang="en-US" dirty="0"/>
                  <a:t>This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2×2</m:t>
                    </m:r>
                  </m:oMath>
                </a14:m>
                <a:r>
                  <a:rPr lang="en-US" dirty="0"/>
                  <a:t> contingency table.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553E7C-A2B9-C883-A333-EE84FBAA9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061" y="5257800"/>
                <a:ext cx="6730409" cy="711200"/>
              </a:xfrm>
              <a:prstGeom prst="rect">
                <a:avLst/>
              </a:prstGeom>
              <a:blipFill>
                <a:blip r:embed="rId3"/>
                <a:stretch>
                  <a:fillRect b="-14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57EC57-47F6-D818-9755-71130A3FEEE6}"/>
              </a:ext>
            </a:extLst>
          </p:cNvPr>
          <p:cNvSpPr txBox="1">
            <a:spLocks/>
          </p:cNvSpPr>
          <p:nvPr/>
        </p:nvSpPr>
        <p:spPr>
          <a:xfrm>
            <a:off x="131180" y="5846135"/>
            <a:ext cx="12812233" cy="71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US" dirty="0"/>
              <a:t>The word “contingency” simply means “Depending on something else”.</a:t>
            </a:r>
          </a:p>
        </p:txBody>
      </p:sp>
    </p:spTree>
    <p:extLst>
      <p:ext uri="{BB962C8B-B14F-4D97-AF65-F5344CB8AC3E}">
        <p14:creationId xmlns:p14="http://schemas.microsoft.com/office/powerpoint/2010/main" val="49181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BC7E-A438-CFA8-E9EB-3FA2DE92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099E-3018-72F0-DFD0-3FC1B366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Contingency Table?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F0ECD-384F-78E5-9A8E-F0D4F371A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997943"/>
              </a:xfrm>
            </p:spPr>
            <p:txBody>
              <a:bodyPr/>
              <a:lstStyle/>
              <a:p>
                <a:pPr>
                  <a:lnSpc>
                    <a:spcPct val="145000"/>
                  </a:lnSpc>
                </a:pPr>
                <a:r>
                  <a:rPr lang="en-US" dirty="0"/>
                  <a:t>Let </a:t>
                </a:r>
                <a:r>
                  <a:rPr lang="en-US" b="1" dirty="0"/>
                  <a:t>A</a:t>
                </a:r>
                <a:r>
                  <a:rPr lang="en-US" dirty="0"/>
                  <a:t> and </a:t>
                </a:r>
                <a:r>
                  <a:rPr lang="en-US" b="1" dirty="0"/>
                  <a:t>B</a:t>
                </a:r>
                <a:r>
                  <a:rPr lang="en-US" dirty="0"/>
                  <a:t> be two attributes of the population. A can be divided into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US" b="1" dirty="0"/>
                  <a:t> categories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B can be divided into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categories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data can be shown in the form of a two-way table with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US" b="1" dirty="0"/>
                  <a:t> rows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columns</a:t>
                </a:r>
                <a:r>
                  <a:rPr lang="en-US" dirty="0"/>
                  <a:t>, as in a bivariate frequency distribution. This two-way frequency table for attributes is known as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contingency table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The frequency of observations belonging to both categories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US" dirty="0"/>
                  <a:t> simultaneously is shown in the cell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𝐭𝐡</m:t>
                        </m:r>
                      </m:sup>
                    </m:sSup>
                  </m:oMath>
                </a14:m>
                <a:r>
                  <a:rPr lang="en-US" dirty="0"/>
                  <a:t> row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𝐭𝐡</m:t>
                        </m:r>
                      </m:sup>
                    </m:sSup>
                  </m:oMath>
                </a14:m>
                <a:r>
                  <a:rPr lang="en-US" dirty="0"/>
                  <a:t> column and denoted by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Similarly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frequency of items belonging to categories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US" dirty="0"/>
                  <a:t> respectively and N is the total frequency.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F0ECD-384F-78E5-9A8E-F0D4F371A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997943"/>
              </a:xfrm>
              <a:blipFill>
                <a:blip r:embed="rId2"/>
                <a:stretch>
                  <a:fillRect l="-971" r="-1074" b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90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31CA-6482-73DF-7613-9B97BC45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DEE9-EA93-57C4-370D-1A023637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E553FE-4012-C336-1863-868F00665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09730"/>
              </p:ext>
            </p:extLst>
          </p:nvPr>
        </p:nvGraphicFramePr>
        <p:xfrm>
          <a:off x="609600" y="909000"/>
          <a:ext cx="10833099" cy="50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744010446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22640733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181910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127725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1274331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627550494"/>
                    </a:ext>
                  </a:extLst>
                </a:gridCol>
              </a:tblGrid>
              <a:tr h="840000">
                <a:tc gridSpan="6">
                  <a:txBody>
                    <a:bodyPr/>
                    <a:lstStyle/>
                    <a:p>
                      <a:pPr algn="ctr"/>
                      <a:r>
                        <a:rPr lang="en-IN" sz="3800" dirty="0"/>
                        <a:t>Contingency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084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905708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0176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05341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13276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712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F5FD54-85A4-089E-01A3-8A54B25936E5}"/>
              </a:ext>
            </a:extLst>
          </p:cNvPr>
          <p:cNvSpPr txBox="1"/>
          <p:nvPr/>
        </p:nvSpPr>
        <p:spPr>
          <a:xfrm>
            <a:off x="647700" y="18415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7C398-E059-F498-61A5-B763797D1619}"/>
                  </a:ext>
                </a:extLst>
              </p:cNvPr>
              <p:cNvSpPr txBox="1"/>
              <p:nvPr/>
            </p:nvSpPr>
            <p:spPr>
              <a:xfrm>
                <a:off x="3170900" y="1841496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7C398-E059-F498-61A5-B763797D1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900" y="1841496"/>
                <a:ext cx="8382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98360-0844-8EAD-276B-96F3B6AE471D}"/>
                  </a:ext>
                </a:extLst>
              </p:cNvPr>
              <p:cNvSpPr txBox="1"/>
              <p:nvPr/>
            </p:nvSpPr>
            <p:spPr>
              <a:xfrm>
                <a:off x="4965700" y="1841495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98360-0844-8EAD-276B-96F3B6AE4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700" y="1841495"/>
                <a:ext cx="8382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0B36B-28D5-40A5-B47E-E01BB35CA49A}"/>
                  </a:ext>
                </a:extLst>
              </p:cNvPr>
              <p:cNvSpPr txBox="1"/>
              <p:nvPr/>
            </p:nvSpPr>
            <p:spPr>
              <a:xfrm>
                <a:off x="6760500" y="1839589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0B36B-28D5-40A5-B47E-E01BB35CA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500" y="1839589"/>
                <a:ext cx="838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4CEB45-4B14-CA9D-3623-5A2B700B0A0F}"/>
                  </a:ext>
                </a:extLst>
              </p:cNvPr>
              <p:cNvSpPr txBox="1"/>
              <p:nvPr/>
            </p:nvSpPr>
            <p:spPr>
              <a:xfrm>
                <a:off x="8555300" y="1839588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4CEB45-4B14-CA9D-3623-5A2B700B0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300" y="1839588"/>
                <a:ext cx="8382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4C5B672-73C0-C712-CA05-951C701A23D9}"/>
              </a:ext>
            </a:extLst>
          </p:cNvPr>
          <p:cNvSpPr txBox="1"/>
          <p:nvPr/>
        </p:nvSpPr>
        <p:spPr>
          <a:xfrm>
            <a:off x="9923200" y="1866895"/>
            <a:ext cx="129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7BEBD3-90BB-F99C-692B-E0F1CCB2A466}"/>
                  </a:ext>
                </a:extLst>
              </p:cNvPr>
              <p:cNvSpPr txBox="1"/>
              <p:nvPr/>
            </p:nvSpPr>
            <p:spPr>
              <a:xfrm>
                <a:off x="1206500" y="268563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7BEBD3-90BB-F99C-692B-E0F1CCB2A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2685630"/>
                <a:ext cx="8382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980C-6D92-7049-4629-18B2557C88BA}"/>
                  </a:ext>
                </a:extLst>
              </p:cNvPr>
              <p:cNvSpPr txBox="1"/>
              <p:nvPr/>
            </p:nvSpPr>
            <p:spPr>
              <a:xfrm>
                <a:off x="1206500" y="352604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980C-6D92-7049-4629-18B2557C8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3526040"/>
                <a:ext cx="83820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26F2B8-4AA6-1324-1ECA-BB7FA8C9A27F}"/>
                  </a:ext>
                </a:extLst>
              </p:cNvPr>
              <p:cNvSpPr txBox="1"/>
              <p:nvPr/>
            </p:nvSpPr>
            <p:spPr>
              <a:xfrm>
                <a:off x="1206500" y="436645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26F2B8-4AA6-1324-1ECA-BB7FA8C9A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4366450"/>
                <a:ext cx="83820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3A7925-A70B-A30A-E588-41F597359EC0}"/>
                  </a:ext>
                </a:extLst>
              </p:cNvPr>
              <p:cNvSpPr txBox="1"/>
              <p:nvPr/>
            </p:nvSpPr>
            <p:spPr>
              <a:xfrm>
                <a:off x="26670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3A7925-A70B-A30A-E588-41F59735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717113"/>
                <a:ext cx="177800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1E21CD-2AEA-34BA-0D48-F98E8B2904C2}"/>
                  </a:ext>
                </a:extLst>
              </p:cNvPr>
              <p:cNvSpPr txBox="1"/>
              <p:nvPr/>
            </p:nvSpPr>
            <p:spPr>
              <a:xfrm>
                <a:off x="45593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1E21CD-2AEA-34BA-0D48-F98E8B29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717113"/>
                <a:ext cx="177800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AC5E3-3597-19AF-456F-BD4054679DFF}"/>
                  </a:ext>
                </a:extLst>
              </p:cNvPr>
              <p:cNvSpPr txBox="1"/>
              <p:nvPr/>
            </p:nvSpPr>
            <p:spPr>
              <a:xfrm>
                <a:off x="80010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AC5E3-3597-19AF-456F-BD405467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2717113"/>
                <a:ext cx="1778000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C946BC-EF56-4448-8EFF-F48B125772C1}"/>
                  </a:ext>
                </a:extLst>
              </p:cNvPr>
              <p:cNvSpPr txBox="1"/>
              <p:nvPr/>
            </p:nvSpPr>
            <p:spPr>
              <a:xfrm>
                <a:off x="63246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C946BC-EF56-4448-8EFF-F48B12577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717113"/>
                <a:ext cx="1778000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6BA7D-5E70-FAA4-2A3F-5A83E6E6C69A}"/>
                  </a:ext>
                </a:extLst>
              </p:cNvPr>
              <p:cNvSpPr txBox="1"/>
              <p:nvPr/>
            </p:nvSpPr>
            <p:spPr>
              <a:xfrm>
                <a:off x="9956800" y="271711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6BA7D-5E70-FAA4-2A3F-5A83E6E6C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800" y="2717113"/>
                <a:ext cx="102870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A0D133-DDDF-A405-871E-0B4A6D840FBD}"/>
                  </a:ext>
                </a:extLst>
              </p:cNvPr>
              <p:cNvSpPr txBox="1"/>
              <p:nvPr/>
            </p:nvSpPr>
            <p:spPr>
              <a:xfrm>
                <a:off x="26543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A0D133-DDDF-A405-871E-0B4A6D840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300" y="3531582"/>
                <a:ext cx="17780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D342-0499-DD2B-4357-A83C554F07DD}"/>
                  </a:ext>
                </a:extLst>
              </p:cNvPr>
              <p:cNvSpPr txBox="1"/>
              <p:nvPr/>
            </p:nvSpPr>
            <p:spPr>
              <a:xfrm>
                <a:off x="45466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D342-0499-DD2B-4357-A83C554F0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0" y="3531582"/>
                <a:ext cx="1778000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4BA829-9070-5409-7AF7-65F2913FB525}"/>
                  </a:ext>
                </a:extLst>
              </p:cNvPr>
              <p:cNvSpPr txBox="1"/>
              <p:nvPr/>
            </p:nvSpPr>
            <p:spPr>
              <a:xfrm>
                <a:off x="79883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4BA829-9070-5409-7AF7-65F2913FB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00" y="3531582"/>
                <a:ext cx="1778000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D67FA2-AA38-EAB4-F008-D97F894AE600}"/>
                  </a:ext>
                </a:extLst>
              </p:cNvPr>
              <p:cNvSpPr txBox="1"/>
              <p:nvPr/>
            </p:nvSpPr>
            <p:spPr>
              <a:xfrm>
                <a:off x="63119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D67FA2-AA38-EAB4-F008-D97F894A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900" y="3531582"/>
                <a:ext cx="1778000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F556E7-5375-C99B-C424-644A938A74A9}"/>
                  </a:ext>
                </a:extLst>
              </p:cNvPr>
              <p:cNvSpPr txBox="1"/>
              <p:nvPr/>
            </p:nvSpPr>
            <p:spPr>
              <a:xfrm>
                <a:off x="9944100" y="3531582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F556E7-5375-C99B-C424-644A938A7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100" y="3531582"/>
                <a:ext cx="1028700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6E065E-0D05-1716-CE8A-FFCF426EEF36}"/>
                  </a:ext>
                </a:extLst>
              </p:cNvPr>
              <p:cNvSpPr txBox="1"/>
              <p:nvPr/>
            </p:nvSpPr>
            <p:spPr>
              <a:xfrm>
                <a:off x="26670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6E065E-0D05-1716-CE8A-FFCF426EE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366450"/>
                <a:ext cx="1778000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A43AC0-F433-EE87-7036-67766562CBB1}"/>
                  </a:ext>
                </a:extLst>
              </p:cNvPr>
              <p:cNvSpPr txBox="1"/>
              <p:nvPr/>
            </p:nvSpPr>
            <p:spPr>
              <a:xfrm>
                <a:off x="45593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A43AC0-F433-EE87-7036-67766562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4366450"/>
                <a:ext cx="1778000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9E00EC-D318-B34C-0980-A4E14D7F677A}"/>
                  </a:ext>
                </a:extLst>
              </p:cNvPr>
              <p:cNvSpPr txBox="1"/>
              <p:nvPr/>
            </p:nvSpPr>
            <p:spPr>
              <a:xfrm>
                <a:off x="80010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9E00EC-D318-B34C-0980-A4E14D7F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366450"/>
                <a:ext cx="1778000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71F3A9-F373-38D8-16DF-13262C60E02C}"/>
                  </a:ext>
                </a:extLst>
              </p:cNvPr>
              <p:cNvSpPr txBox="1"/>
              <p:nvPr/>
            </p:nvSpPr>
            <p:spPr>
              <a:xfrm>
                <a:off x="63246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71F3A9-F373-38D8-16DF-13262C60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366450"/>
                <a:ext cx="1778000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EAAD73-0CB8-334D-5AFA-2691CD8D7F70}"/>
                  </a:ext>
                </a:extLst>
              </p:cNvPr>
              <p:cNvSpPr txBox="1"/>
              <p:nvPr/>
            </p:nvSpPr>
            <p:spPr>
              <a:xfrm>
                <a:off x="9956800" y="4366450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EAAD73-0CB8-334D-5AFA-2691CD8D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800" y="4366450"/>
                <a:ext cx="1028700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B9DB732-3127-BED8-2759-148E896BD2CE}"/>
              </a:ext>
            </a:extLst>
          </p:cNvPr>
          <p:cNvSpPr txBox="1"/>
          <p:nvPr/>
        </p:nvSpPr>
        <p:spPr>
          <a:xfrm>
            <a:off x="1030950" y="5218332"/>
            <a:ext cx="129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C64C09-729D-5237-67B3-1FED69644122}"/>
                  </a:ext>
                </a:extLst>
              </p:cNvPr>
              <p:cNvSpPr txBox="1"/>
              <p:nvPr/>
            </p:nvSpPr>
            <p:spPr>
              <a:xfrm>
                <a:off x="29804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C64C09-729D-5237-67B3-1FED69644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00" y="5220343"/>
                <a:ext cx="1028700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94CDEA-0A9E-54BC-F77F-74D46E205863}"/>
                  </a:ext>
                </a:extLst>
              </p:cNvPr>
              <p:cNvSpPr txBox="1"/>
              <p:nvPr/>
            </p:nvSpPr>
            <p:spPr>
              <a:xfrm>
                <a:off x="48219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94CDEA-0A9E-54BC-F77F-74D46E205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900" y="5220343"/>
                <a:ext cx="1028700" cy="6463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E8392F-D97A-4EAE-9CFA-D7F5CCD89DFF}"/>
                  </a:ext>
                </a:extLst>
              </p:cNvPr>
              <p:cNvSpPr txBox="1"/>
              <p:nvPr/>
            </p:nvSpPr>
            <p:spPr>
              <a:xfrm>
                <a:off x="66634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E8392F-D97A-4EAE-9CFA-D7F5CCD8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5220343"/>
                <a:ext cx="1028700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F64EF9-3B72-D308-0C08-6A8D09324931}"/>
                  </a:ext>
                </a:extLst>
              </p:cNvPr>
              <p:cNvSpPr txBox="1"/>
              <p:nvPr/>
            </p:nvSpPr>
            <p:spPr>
              <a:xfrm>
                <a:off x="835065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F64EF9-3B72-D308-0C08-6A8D09324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650" y="5220343"/>
                <a:ext cx="1028700" cy="64633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EC45CE9-4896-E926-37E4-9D3871FFD5AF}"/>
              </a:ext>
            </a:extLst>
          </p:cNvPr>
          <p:cNvSpPr txBox="1"/>
          <p:nvPr/>
        </p:nvSpPr>
        <p:spPr>
          <a:xfrm>
            <a:off x="10257500" y="5232561"/>
            <a:ext cx="53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29166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9F31-E17D-FB33-886B-ED09B06F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6E06-ED39-35E5-C4C6-D451DCE7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Independence of Attributes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7C731-137B-7BC3-05CB-AC6E9FDA7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5"/>
                <a:ext cx="11929641" cy="1708572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Degree of Freedom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𝐍𝐮𝐦𝐛𝐞𝐫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𝐨𝐟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𝐫𝐨𝐰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𝐍𝐮𝐦𝐛𝐞𝐫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𝐨𝐟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𝐜𝐨𝐥𝐮𝐦𝐧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7C731-137B-7BC3-05CB-AC6E9FDA7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5"/>
                <a:ext cx="11929641" cy="1708572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FF2389-ADE0-2233-9308-3BD51DFED1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771" y="3313541"/>
                <a:ext cx="10788457" cy="17085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( 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)</m:t>
                          </m:r>
                        </m:sub>
                      </m:sSub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th</m:t>
                                  </m:r>
                                </m:sup>
                              </m:sSup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column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th</m:t>
                                  </m:r>
                                </m:sup>
                              </m:sSup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row</m:t>
                              </m:r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all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frequnecy</m:t>
                          </m:r>
                        </m:den>
                      </m:f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FF2389-ADE0-2233-9308-3BD51DFED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71" y="3313541"/>
                <a:ext cx="10788457" cy="17085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9BB2CF-63CA-A063-F322-2FE2CB8D0965}"/>
              </a:ext>
            </a:extLst>
          </p:cNvPr>
          <p:cNvSpPr txBox="1">
            <a:spLocks/>
          </p:cNvSpPr>
          <p:nvPr/>
        </p:nvSpPr>
        <p:spPr>
          <a:xfrm>
            <a:off x="131179" y="2526459"/>
            <a:ext cx="4079314" cy="787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i="0" dirty="0">
                <a:solidFill>
                  <a:srgbClr val="002060"/>
                </a:solidFill>
                <a:latin typeface="+mj-lt"/>
              </a:rPr>
              <a:t>Expected Frequencies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87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E070-B98D-CC64-1CEB-8FE0294A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41CF-449D-40CE-DE44-03F20643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39DF-89EE-0E98-FC53-706EBB999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6284"/>
            <a:ext cx="11929641" cy="5590565"/>
          </a:xfrm>
        </p:spPr>
        <p:txBody>
          <a:bodyPr/>
          <a:lstStyle/>
          <a:p>
            <a:pPr lvl="0"/>
            <a:r>
              <a:rPr lang="en-US" b="1" dirty="0"/>
              <a:t>Formula for Test of Significance</a:t>
            </a:r>
          </a:p>
          <a:p>
            <a:pPr marL="914400" lvl="2" indent="0">
              <a:buNone/>
            </a:pPr>
            <a:endParaRPr lang="en-US" b="1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51095E-BA43-2EE2-07C7-22627AAAEC55}"/>
                  </a:ext>
                </a:extLst>
              </p:cNvPr>
              <p:cNvSpPr txBox="1"/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77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577A4-8230-CD12-A006-FC7981E3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4E26F5F-06D0-3765-4D46-3BE43B13CD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students at college level were graded according to their IQ and the economic conditions of their home.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 to find out whether there is any association between condition at home and IQ.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=3.841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4E26F5F-06D0-3765-4D46-3BE43B13C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blipFill>
                <a:blip r:embed="rId3"/>
                <a:stretch>
                  <a:fillRect l="-1074" t="-1179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B888201-5728-64B1-30A9-D5BB1037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	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81E1289-2BCF-3483-0CC1-7589671D37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513574"/>
                  </p:ext>
                </p:extLst>
              </p:nvPr>
            </p:nvGraphicFramePr>
            <p:xfrm>
              <a:off x="1670184" y="2960550"/>
              <a:ext cx="8851632" cy="288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119512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2909198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2822922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</a:tblGrid>
                  <a:tr h="7200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Economic Condition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IQ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High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Low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Rich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6029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81E1289-2BCF-3483-0CC1-7589671D37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513574"/>
                  </p:ext>
                </p:extLst>
              </p:nvPr>
            </p:nvGraphicFramePr>
            <p:xfrm>
              <a:off x="1670184" y="2960550"/>
              <a:ext cx="8851632" cy="288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119512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2909198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2822922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</a:tblGrid>
                  <a:tr h="7200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Economic Condition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IQ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High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Low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Rich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7322" t="-200000" r="-97490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3578" t="-200000" r="-431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7322" t="-302542" r="-97490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3578" t="-302542" r="-431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0291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8256792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169DC-EBFA-939E-E0F1-D1210677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1DFE-2C3E-1A7B-C810-4CEA4170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8 ⇝ Example 1 ⇝ Meaning 	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7C4E1-3423-2D51-2056-88BECE8BE2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students.</a:t>
                </a:r>
              </a:p>
              <a:p>
                <a:r>
                  <a:rPr lang="en-US" dirty="0"/>
                  <a:t>Each student is classified based on two things:</a:t>
                </a:r>
              </a:p>
              <a:p>
                <a:pPr lvl="1"/>
                <a:r>
                  <a:rPr lang="en-US" dirty="0"/>
                  <a:t>Economic Condition at home : Rich, Poor</a:t>
                </a:r>
              </a:p>
              <a:p>
                <a:pPr lvl="1"/>
                <a:r>
                  <a:rPr lang="en-US" dirty="0"/>
                  <a:t>IQ Level : High, Low</a:t>
                </a:r>
              </a:p>
              <a:p>
                <a:r>
                  <a:rPr lang="en-US" dirty="0"/>
                  <a:t>The data is given in a contingency table.</a:t>
                </a:r>
              </a:p>
              <a:p>
                <a:r>
                  <a:rPr lang="en-US" dirty="0"/>
                  <a:t>We need to check: Is there any relationship between economic condition and IQ?</a:t>
                </a:r>
              </a:p>
              <a:p>
                <a:pPr lvl="1"/>
                <a:r>
                  <a:rPr lang="en-US" dirty="0"/>
                  <a:t>In simple words: Does being rich or poor affect IQ?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7C4E1-3423-2D51-2056-88BECE8BE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57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3BC5-5792-2212-5F77-E9351C0B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346C-FB27-4961-E59C-8CDB0C43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8 ⇝ Example 1 ⇝ Idea about Hypothesis 		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F1D21-81BD-FCAC-A33D-99DC12C7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0"/>
            <a:ext cx="11929641" cy="5742809"/>
          </a:xfrm>
        </p:spPr>
        <p:txBody>
          <a:bodyPr/>
          <a:lstStyle/>
          <a:p>
            <a:r>
              <a:rPr lang="en-US" dirty="0"/>
              <a:t>Null Hypothesis (H₀) :  There is no association (no relationship).</a:t>
            </a:r>
          </a:p>
          <a:p>
            <a:pPr lvl="1"/>
            <a:r>
              <a:rPr lang="en-US" dirty="0"/>
              <a:t>Economic condition and IQ are independent.</a:t>
            </a:r>
          </a:p>
          <a:p>
            <a:pPr lvl="1"/>
            <a:r>
              <a:rPr lang="en-US" dirty="0"/>
              <a:t>Being rich or poor does not affect IQ.</a:t>
            </a:r>
          </a:p>
          <a:p>
            <a:r>
              <a:rPr lang="en-US" dirty="0"/>
              <a:t>Alternative Hypothesis (H₁) : There is association (relationship exists).</a:t>
            </a:r>
          </a:p>
          <a:p>
            <a:pPr lvl="1"/>
            <a:r>
              <a:rPr lang="en-US" dirty="0"/>
              <a:t>Economic condition and IQ are dependent.</a:t>
            </a:r>
          </a:p>
          <a:p>
            <a:pPr lvl="1"/>
            <a:r>
              <a:rPr lang="en-US" dirty="0"/>
              <a:t>Being rich or poor does affect IQ.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25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053F-42AA-6247-CF0E-A394BF16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76CC-16ED-75A9-80F7-E37FBFBB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1CE718-F773-BEB8-7FA3-8B421B64D951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93DB62-6A8C-C0C3-A39A-EE98DA9E792C}"/>
                  </a:ext>
                </a:extLst>
              </p:cNvPr>
              <p:cNvSpPr/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93DB62-6A8C-C0C3-A39A-EE98DA9E7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F24D3E2-7296-15B2-FEC4-CCB32C1DCCC7}"/>
              </a:ext>
            </a:extLst>
          </p:cNvPr>
          <p:cNvSpPr/>
          <p:nvPr/>
        </p:nvSpPr>
        <p:spPr>
          <a:xfrm>
            <a:off x="2465787" y="894204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Economic condition and IQ are independent (no association).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D95F98-5694-11F5-9240-BDBC7ED40F4D}"/>
                  </a:ext>
                </a:extLst>
              </p:cNvPr>
              <p:cNvSpPr/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D95F98-5694-11F5-9240-BDBC7ED40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47BF504-F167-A206-2E31-CF63840E8082}"/>
              </a:ext>
            </a:extLst>
          </p:cNvPr>
          <p:cNvSpPr/>
          <p:nvPr/>
        </p:nvSpPr>
        <p:spPr>
          <a:xfrm>
            <a:off x="2465787" y="1797278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Economic condition and IQ are dependent (association exists).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D25E7F6-CAAD-EB16-2307-2E5A2676D623}"/>
                  </a:ext>
                </a:extLst>
              </p:cNvPr>
              <p:cNvSpPr/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D25E7F6-CAAD-EB16-2307-2E5A2676D6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CAFC252-D6D3-354A-D62F-91D64C7F7B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074085"/>
                  </p:ext>
                </p:extLst>
              </p:nvPr>
            </p:nvGraphicFramePr>
            <p:xfrm>
              <a:off x="2511492" y="3263272"/>
              <a:ext cx="7600070" cy="323611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30785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8938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83770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837707">
                      <a:extLst>
                        <a:ext uri="{9D8B030D-6E8A-4147-A177-3AD203B41FA5}">
                          <a16:colId xmlns:a16="http://schemas.microsoft.com/office/drawing/2014/main" val="3832305173"/>
                        </a:ext>
                      </a:extLst>
                    </a:gridCol>
                  </a:tblGrid>
                  <a:tr h="64722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Economic Condition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IQ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47222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High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Low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Rich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𝟒𝟎𝟎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6029135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  <a:endParaRPr lang="en-IN" sz="2800" b="1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𝟕𝟎𝟎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𝟑𝟎𝟎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𝐍</m:t>
                                </m:r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𝟏𝟎𝟎𝟎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8285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CAFC252-D6D3-354A-D62F-91D64C7F7B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074085"/>
                  </p:ext>
                </p:extLst>
              </p:nvPr>
            </p:nvGraphicFramePr>
            <p:xfrm>
              <a:off x="2511492" y="3263272"/>
              <a:ext cx="7600070" cy="323611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030785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8938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837707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837707">
                      <a:extLst>
                        <a:ext uri="{9D8B030D-6E8A-4147-A177-3AD203B41FA5}">
                          <a16:colId xmlns:a16="http://schemas.microsoft.com/office/drawing/2014/main" val="3832305173"/>
                        </a:ext>
                      </a:extLst>
                    </a:gridCol>
                  </a:tblGrid>
                  <a:tr h="64722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Economic Condition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IQ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647222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High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Low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Rich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7395" t="-201887" r="-194855" b="-217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3576" t="-201887" r="-100662" b="-217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576" t="-201887" r="-662" b="-217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7395" t="-299065" r="-194855" b="-115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3576" t="-299065" r="-100662" b="-115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576" t="-299065" r="-662" b="-1158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029135"/>
                      </a:ext>
                    </a:extLst>
                  </a:tr>
                  <a:tr h="647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  <a:endParaRPr lang="en-IN" sz="2800" b="1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7395" t="-402830" r="-194855" b="-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3576" t="-402830" r="-100662" b="-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576" t="-402830" r="-662" b="-169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2859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548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1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10F5-BB8E-1D30-E94C-3A1B783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4451-A9AB-8EBD-5F49-49D695C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A8768-8803-F36F-6A29-77B47326B994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24D263-6D04-9EA7-0C0D-591A47D4E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41908"/>
              </p:ext>
            </p:extLst>
          </p:nvPr>
        </p:nvGraphicFramePr>
        <p:xfrm>
          <a:off x="131177" y="1560201"/>
          <a:ext cx="7058293" cy="502381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1192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321183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B5CEB0-87C3-EBAA-C363-68E0FC0F6EB1}"/>
                  </a:ext>
                </a:extLst>
              </p:cNvPr>
              <p:cNvSpPr txBox="1"/>
              <p:nvPr/>
            </p:nvSpPr>
            <p:spPr>
              <a:xfrm>
                <a:off x="59638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B5CEB0-87C3-EBAA-C363-68E0FC0F6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07A460-267E-E7D4-FE60-75916B07CAF1}"/>
                  </a:ext>
                </a:extLst>
              </p:cNvPr>
              <p:cNvSpPr txBox="1"/>
              <p:nvPr/>
            </p:nvSpPr>
            <p:spPr>
              <a:xfrm>
                <a:off x="21855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07A460-267E-E7D4-FE60-75916B07C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5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4772C-B060-44E3-B53D-2E863F1A5D24}"/>
                  </a:ext>
                </a:extLst>
              </p:cNvPr>
              <p:cNvSpPr txBox="1"/>
              <p:nvPr/>
            </p:nvSpPr>
            <p:spPr>
              <a:xfrm>
                <a:off x="515167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4772C-B060-44E3-B53D-2E863F1A5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7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EA9BE94-102F-873E-0CFE-E828272EBE83}"/>
              </a:ext>
            </a:extLst>
          </p:cNvPr>
          <p:cNvSpPr txBox="1"/>
          <p:nvPr/>
        </p:nvSpPr>
        <p:spPr>
          <a:xfrm>
            <a:off x="664962" y="321905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9FFD8-AEF3-6400-AE14-47F4BBB742A6}"/>
              </a:ext>
            </a:extLst>
          </p:cNvPr>
          <p:cNvSpPr txBox="1"/>
          <p:nvPr/>
        </p:nvSpPr>
        <p:spPr>
          <a:xfrm>
            <a:off x="642102" y="4102346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5B90C-66BB-617F-F27E-E338D2098CA5}"/>
              </a:ext>
            </a:extLst>
          </p:cNvPr>
          <p:cNvSpPr txBox="1"/>
          <p:nvPr/>
        </p:nvSpPr>
        <p:spPr>
          <a:xfrm>
            <a:off x="642102" y="4974207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090E6-E2F6-776F-469F-D71FCAD475DD}"/>
              </a:ext>
            </a:extLst>
          </p:cNvPr>
          <p:cNvSpPr txBox="1"/>
          <p:nvPr/>
        </p:nvSpPr>
        <p:spPr>
          <a:xfrm>
            <a:off x="619242" y="587445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160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40FB78-FEBB-858D-EF73-DE9F43D68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756418"/>
              </p:ext>
            </p:extLst>
          </p:nvPr>
        </p:nvGraphicFramePr>
        <p:xfrm>
          <a:off x="7294227" y="1560202"/>
          <a:ext cx="4766595" cy="227352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73664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8779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152569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152569">
                  <a:extLst>
                    <a:ext uri="{9D8B030D-6E8A-4147-A177-3AD203B41FA5}">
                      <a16:colId xmlns:a16="http://schemas.microsoft.com/office/drawing/2014/main" val="3832305173"/>
                    </a:ext>
                  </a:extLst>
                </a:gridCol>
              </a:tblGrid>
              <a:tr h="454705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0" i="0" dirty="0">
                          <a:solidFill>
                            <a:srgbClr val="002060"/>
                          </a:solidFill>
                        </a:rPr>
                        <a:t>Economic Condition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solidFill>
                            <a:srgbClr val="002060"/>
                          </a:solidFill>
                        </a:rPr>
                        <a:t>IQ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4547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i="0" dirty="0">
                          <a:solidFill>
                            <a:srgbClr val="002060"/>
                          </a:solidFill>
                        </a:rPr>
                        <a:t>Rich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i="0" dirty="0">
                          <a:solidFill>
                            <a:srgbClr val="002060"/>
                          </a:solidFill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29135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Total</a:t>
                      </a:r>
                      <a:endParaRPr lang="en-IN" sz="1600" b="1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59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4576A-2C15-19D3-BC7C-1BAB93354B61}"/>
                  </a:ext>
                </a:extLst>
              </p:cNvPr>
              <p:cNvSpPr txBox="1"/>
              <p:nvPr/>
            </p:nvSpPr>
            <p:spPr>
              <a:xfrm>
                <a:off x="2097522" y="293527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600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700</m:t>
                          </m:r>
                        </m:num>
                        <m:den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4576A-2C15-19D3-BC7C-1BAB9335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22" y="293527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F76EF1-DA58-A3C4-1B93-2FF365A9BC06}"/>
                  </a:ext>
                </a:extLst>
              </p:cNvPr>
              <p:cNvSpPr txBox="1"/>
              <p:nvPr/>
            </p:nvSpPr>
            <p:spPr>
              <a:xfrm>
                <a:off x="2117591" y="3833728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600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F76EF1-DA58-A3C4-1B93-2FF365A9B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591" y="3833728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A6F3F1-AE9E-633B-C929-4CB122A0558C}"/>
                  </a:ext>
                </a:extLst>
              </p:cNvPr>
              <p:cNvSpPr txBox="1"/>
              <p:nvPr/>
            </p:nvSpPr>
            <p:spPr>
              <a:xfrm>
                <a:off x="2097522" y="4746341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700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A6F3F1-AE9E-633B-C929-4CB122A05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22" y="4746341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81DED-F5DF-D5EA-1A31-4F71C25E2103}"/>
                  </a:ext>
                </a:extLst>
              </p:cNvPr>
              <p:cNvSpPr txBox="1"/>
              <p:nvPr/>
            </p:nvSpPr>
            <p:spPr>
              <a:xfrm>
                <a:off x="2094731" y="5659295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81DED-F5DF-D5EA-1A31-4F71C25E2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731" y="5659295"/>
                <a:ext cx="1811538" cy="936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512596A-B157-B84B-D6BD-A8A3411C85FD}"/>
              </a:ext>
            </a:extLst>
          </p:cNvPr>
          <p:cNvSpPr txBox="1"/>
          <p:nvPr/>
        </p:nvSpPr>
        <p:spPr>
          <a:xfrm>
            <a:off x="3854701" y="3176030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420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B22D3-5C5E-906E-9092-9B67031D6375}"/>
              </a:ext>
            </a:extLst>
          </p:cNvPr>
          <p:cNvSpPr txBox="1"/>
          <p:nvPr/>
        </p:nvSpPr>
        <p:spPr>
          <a:xfrm>
            <a:off x="3854701" y="4064419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180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ED6487-A5E0-1D21-A3C1-3AEE57B21D56}"/>
              </a:ext>
            </a:extLst>
          </p:cNvPr>
          <p:cNvSpPr txBox="1"/>
          <p:nvPr/>
        </p:nvSpPr>
        <p:spPr>
          <a:xfrm>
            <a:off x="3854701" y="4959033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EF9C1-7371-48C3-3506-1F4D1E4138DF}"/>
              </a:ext>
            </a:extLst>
          </p:cNvPr>
          <p:cNvSpPr txBox="1"/>
          <p:nvPr/>
        </p:nvSpPr>
        <p:spPr>
          <a:xfrm>
            <a:off x="3854701" y="5883076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120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3D85F-F50C-CFAC-F7B5-D4A52383B944}"/>
              </a:ext>
            </a:extLst>
          </p:cNvPr>
          <p:cNvSpPr txBox="1"/>
          <p:nvPr/>
        </p:nvSpPr>
        <p:spPr>
          <a:xfrm>
            <a:off x="5752081" y="316190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3.81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67264-B4E0-C836-A856-C258EE4F747A}"/>
              </a:ext>
            </a:extLst>
          </p:cNvPr>
          <p:cNvSpPr txBox="1"/>
          <p:nvPr/>
        </p:nvSpPr>
        <p:spPr>
          <a:xfrm>
            <a:off x="5752081" y="407210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8.89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6CD7F5-E580-A194-F22C-06CE74A8E34E}"/>
              </a:ext>
            </a:extLst>
          </p:cNvPr>
          <p:cNvSpPr txBox="1"/>
          <p:nvPr/>
        </p:nvSpPr>
        <p:spPr>
          <a:xfrm>
            <a:off x="5763511" y="496682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5.71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86B8E-4C1B-0CCE-6A68-58F01A5CFA7C}"/>
              </a:ext>
            </a:extLst>
          </p:cNvPr>
          <p:cNvSpPr txBox="1"/>
          <p:nvPr/>
        </p:nvSpPr>
        <p:spPr>
          <a:xfrm>
            <a:off x="5694931" y="5867954"/>
            <a:ext cx="1020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13.33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C21B7-1BE6-1B21-0720-2DA061F7F819}"/>
                  </a:ext>
                </a:extLst>
              </p:cNvPr>
              <p:cNvSpPr txBox="1"/>
              <p:nvPr/>
            </p:nvSpPr>
            <p:spPr>
              <a:xfrm>
                <a:off x="7195885" y="5659295"/>
                <a:ext cx="2370006" cy="914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r>
                                            <a:rPr lang="en-IN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sub>
                                      </m:sSub>
                                      <m:r>
                                        <a:rPr lang="en-IN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r>
                                            <a:rPr lang="en-IN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en-IN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C21B7-1BE6-1B21-0720-2DA061F7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885" y="5659295"/>
                <a:ext cx="2370006" cy="9149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B0AD8A3-B5BF-65F4-4CA7-C0F73C905491}"/>
              </a:ext>
            </a:extLst>
          </p:cNvPr>
          <p:cNvSpPr txBox="1"/>
          <p:nvPr/>
        </p:nvSpPr>
        <p:spPr>
          <a:xfrm>
            <a:off x="9400038" y="5828735"/>
            <a:ext cx="132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31.74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7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693F-F1B7-0F54-B7C3-A9BCC12B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A932-B549-F4BB-28EB-78B7F465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ABBB93-9352-E9E1-F117-8C1259C21C42}"/>
                  </a:ext>
                </a:extLst>
              </p:cNvPr>
              <p:cNvSpPr txBox="1"/>
              <p:nvPr/>
            </p:nvSpPr>
            <p:spPr>
              <a:xfrm>
                <a:off x="234928" y="1254692"/>
                <a:ext cx="323461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ABBB93-9352-E9E1-F117-8C1259C21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28" y="1254692"/>
                <a:ext cx="323461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A5EDFFD-0B2C-02BC-ADD1-89FC70B86019}"/>
              </a:ext>
            </a:extLst>
          </p:cNvPr>
          <p:cNvSpPr txBox="1"/>
          <p:nvPr/>
        </p:nvSpPr>
        <p:spPr>
          <a:xfrm>
            <a:off x="132059" y="825262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7A588D0-B812-0FDA-BA53-EA06308DC5EF}"/>
                  </a:ext>
                </a:extLst>
              </p:cNvPr>
              <p:cNvSpPr txBox="1"/>
              <p:nvPr/>
            </p:nvSpPr>
            <p:spPr>
              <a:xfrm>
                <a:off x="3220434" y="1610479"/>
                <a:ext cx="18512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=31.74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7A588D0-B812-0FDA-BA53-EA06308D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434" y="1610479"/>
                <a:ext cx="18512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E8D84E4D-24AD-B608-FBDC-42065A3ECEAA}"/>
              </a:ext>
            </a:extLst>
          </p:cNvPr>
          <p:cNvSpPr/>
          <p:nvPr/>
        </p:nvSpPr>
        <p:spPr>
          <a:xfrm>
            <a:off x="132377" y="3596699"/>
            <a:ext cx="21764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8F6F3C-6F1F-0DA3-3D3F-42A046073A0E}"/>
                  </a:ext>
                </a:extLst>
              </p:cNvPr>
              <p:cNvSpPr txBox="1"/>
              <p:nvPr/>
            </p:nvSpPr>
            <p:spPr>
              <a:xfrm>
                <a:off x="4375390" y="3521868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=3.841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8F6F3C-6F1F-0DA3-3D3F-42A046073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390" y="3521868"/>
                <a:ext cx="2948940" cy="602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33A8F7-FBA3-E1EA-84AC-D46854847BF8}"/>
                  </a:ext>
                </a:extLst>
              </p:cNvPr>
              <p:cNvSpPr txBox="1"/>
              <p:nvPr/>
            </p:nvSpPr>
            <p:spPr>
              <a:xfrm>
                <a:off x="1968034" y="3578101"/>
                <a:ext cx="20736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31.74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33A8F7-FBA3-E1EA-84AC-D4685484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034" y="3578101"/>
                <a:ext cx="20736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6A2BF8-71B0-CDD5-13F4-04A6F1690A41}"/>
                  </a:ext>
                </a:extLst>
              </p:cNvPr>
              <p:cNvSpPr txBox="1"/>
              <p:nvPr/>
            </p:nvSpPr>
            <p:spPr>
              <a:xfrm>
                <a:off x="1896127" y="4319866"/>
                <a:ext cx="27396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6A2BF8-71B0-CDD5-13F4-04A6F169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127" y="4319866"/>
                <a:ext cx="2739667" cy="523220"/>
              </a:xfrm>
              <a:prstGeom prst="rect">
                <a:avLst/>
              </a:prstGeom>
              <a:blipFill>
                <a:blip r:embed="rId7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3D1424-D384-54AE-B317-21E5BA608169}"/>
                  </a:ext>
                </a:extLst>
              </p:cNvPr>
              <p:cNvSpPr txBox="1"/>
              <p:nvPr/>
            </p:nvSpPr>
            <p:spPr>
              <a:xfrm>
                <a:off x="234928" y="5056947"/>
                <a:ext cx="11694802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Hence, economic condition and IQ are not independent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significance.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3D1424-D384-54AE-B317-21E5BA608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28" y="5056947"/>
                <a:ext cx="11694802" cy="523220"/>
              </a:xfrm>
              <a:prstGeom prst="rect">
                <a:avLst/>
              </a:prstGeom>
              <a:blipFill>
                <a:blip r:embed="rId8"/>
                <a:stretch>
                  <a:fillRect l="-1095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C3D85E-16D6-547C-D436-9981C5298DE9}"/>
                  </a:ext>
                </a:extLst>
              </p:cNvPr>
              <p:cNvSpPr txBox="1"/>
              <p:nvPr/>
            </p:nvSpPr>
            <p:spPr>
              <a:xfrm>
                <a:off x="3858777" y="3561399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C3D85E-16D6-547C-D436-9981C5298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777" y="3561399"/>
                <a:ext cx="5743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A425C-3B6D-AE36-1D85-B99837401AB6}"/>
                  </a:ext>
                </a:extLst>
              </p:cNvPr>
              <p:cNvSpPr txBox="1"/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3.841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A425C-3B6D-AE36-1D85-B99837401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2556E39-1469-E466-1D40-2FB8EB49CEB5}"/>
              </a:ext>
            </a:extLst>
          </p:cNvPr>
          <p:cNvSpPr/>
          <p:nvPr/>
        </p:nvSpPr>
        <p:spPr>
          <a:xfrm>
            <a:off x="136076" y="290578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877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8" grpId="0"/>
      <p:bldP spid="39" grpId="0"/>
      <p:bldP spid="42" grpId="0"/>
      <p:bldP spid="43" grpId="0"/>
      <p:bldP spid="47" grpId="0"/>
      <p:bldP spid="48" grpId="0" animBg="1"/>
      <p:bldP spid="51" grpId="0"/>
      <p:bldP spid="3" grpId="0"/>
      <p:bldP spid="4" grpId="0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966B-E034-DC1E-CAE9-E6CCF691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E9EB0E9-D688-065E-57B8-EC5272DBF3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Test the hypothesis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 that the presence or absence of hypertension is independent of smoking habits from the following data of 1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persons.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=5.991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E9EB0E9-D688-065E-57B8-EC5272DBF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blipFill>
                <a:blip r:embed="rId3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73AFC2B-702D-D2F5-F289-E4159A08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	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5B9F126-C306-7987-A3B0-0383DF6B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733881"/>
                  </p:ext>
                </p:extLst>
              </p:nvPr>
            </p:nvGraphicFramePr>
            <p:xfrm>
              <a:off x="673167" y="3463470"/>
              <a:ext cx="10845667" cy="216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113148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2777490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3261605">
                      <a:extLst>
                        <a:ext uri="{9D8B030D-6E8A-4147-A177-3AD203B41FA5}">
                          <a16:colId xmlns:a16="http://schemas.microsoft.com/office/drawing/2014/main" val="1442290448"/>
                        </a:ext>
                      </a:extLst>
                    </a:gridCol>
                    <a:gridCol w="2693424">
                      <a:extLst>
                        <a:ext uri="{9D8B030D-6E8A-4147-A177-3AD203B41FA5}">
                          <a16:colId xmlns:a16="http://schemas.microsoft.com/office/drawing/2014/main" val="36349591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IN" sz="2800" b="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Non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Moderate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Heavy Smokers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No 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48 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5B9F126-C306-7987-A3B0-0383DF6B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733881"/>
                  </p:ext>
                </p:extLst>
              </p:nvPr>
            </p:nvGraphicFramePr>
            <p:xfrm>
              <a:off x="673167" y="3463470"/>
              <a:ext cx="10845667" cy="216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2113148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2777490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3261605">
                      <a:extLst>
                        <a:ext uri="{9D8B030D-6E8A-4147-A177-3AD203B41FA5}">
                          <a16:colId xmlns:a16="http://schemas.microsoft.com/office/drawing/2014/main" val="1442290448"/>
                        </a:ext>
                      </a:extLst>
                    </a:gridCol>
                    <a:gridCol w="2693424">
                      <a:extLst>
                        <a:ext uri="{9D8B030D-6E8A-4147-A177-3AD203B41FA5}">
                          <a16:colId xmlns:a16="http://schemas.microsoft.com/office/drawing/2014/main" val="36349591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IN" sz="2800" b="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Non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Moderate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Heavy Smokers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6316" t="-100000" r="-214693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0280" t="-100000" r="-82991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941" t="-100000" r="-452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No 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6316" t="-201695" r="-214693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0280" t="-201695" r="-82991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941" t="-201695" r="-452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2577127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8F76-CE95-CD5C-E453-0E192A3D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AE6D-959D-E8C6-C902-C1C89F30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8 ⇝ Example 3 ⇝ Meaning 	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FBF2D3-398A-CB07-531C-1DEEC48BC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78382"/>
                <a:ext cx="11929641" cy="5739375"/>
              </a:xfrm>
            </p:spPr>
            <p:txBody>
              <a:bodyPr/>
              <a:lstStyle/>
              <a:p>
                <a:r>
                  <a:rPr lang="en-US" dirty="0"/>
                  <a:t>We have data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lang="en-US" dirty="0"/>
                  <a:t> persons.</a:t>
                </a:r>
              </a:p>
              <a:p>
                <a:r>
                  <a:rPr lang="en-US" dirty="0"/>
                  <a:t>Each person is classified based on two things:</a:t>
                </a:r>
              </a:p>
              <a:p>
                <a:pPr lvl="1"/>
                <a:r>
                  <a:rPr lang="en-US" dirty="0"/>
                  <a:t>Hypertension (HT) : </a:t>
                </a:r>
              </a:p>
              <a:p>
                <a:pPr lvl="2"/>
                <a:r>
                  <a:rPr lang="en-US" dirty="0"/>
                  <a:t>HT (has hypertension), No HT (does not have hypertension) </a:t>
                </a:r>
              </a:p>
              <a:p>
                <a:pPr lvl="1"/>
                <a:r>
                  <a:rPr lang="en-US" dirty="0"/>
                  <a:t>Smoking Habit : </a:t>
                </a:r>
              </a:p>
              <a:p>
                <a:pPr lvl="2"/>
                <a:r>
                  <a:rPr lang="en-US" dirty="0"/>
                  <a:t>Non-smoker, Moderate smoker, Heavy smoker</a:t>
                </a:r>
              </a:p>
              <a:p>
                <a:r>
                  <a:rPr lang="en-US" dirty="0"/>
                  <a:t>We need to check: </a:t>
                </a:r>
              </a:p>
              <a:p>
                <a:pPr lvl="1"/>
                <a:r>
                  <a:rPr lang="en-US" dirty="0"/>
                  <a:t>Is hypertension related to smoking habits? Or Does smoking affect hypertension?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FBF2D3-398A-CB07-531C-1DEEC48BC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78382"/>
                <a:ext cx="11929641" cy="5739375"/>
              </a:xfrm>
              <a:blipFill>
                <a:blip r:embed="rId3"/>
                <a:stretch>
                  <a:fillRect l="-971" r="-1074" b="-3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52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17E7-2436-4350-0D37-9CC5F3A6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1E3D-FFFA-36B2-3DF0-CD52951F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0A497-2F7F-B328-C2BE-7742CB638E3E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FDA8AF-748F-9902-10ED-F82BD2B81183}"/>
                  </a:ext>
                </a:extLst>
              </p:cNvPr>
              <p:cNvSpPr/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FDA8AF-748F-9902-10ED-F82BD2B81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EAD67C-2862-C98C-D7C7-369193176B63}"/>
              </a:ext>
            </a:extLst>
          </p:cNvPr>
          <p:cNvSpPr/>
          <p:nvPr/>
        </p:nvSpPr>
        <p:spPr>
          <a:xfrm>
            <a:off x="2465787" y="894204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Hypertension and smoking habits are independent.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66FF02D-90C3-5010-990E-5F33EFC16BFA}"/>
                  </a:ext>
                </a:extLst>
              </p:cNvPr>
              <p:cNvSpPr/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66FF02D-90C3-5010-990E-5F33EFC16B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53E216B-DCB8-282D-3D35-A1E8EC9EED07}"/>
              </a:ext>
            </a:extLst>
          </p:cNvPr>
          <p:cNvSpPr/>
          <p:nvPr/>
        </p:nvSpPr>
        <p:spPr>
          <a:xfrm>
            <a:off x="2465787" y="1797278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Hypertension and smoking habits are dependent.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3487DD-40B1-3CA8-189C-43E599F3E6E1}"/>
                  </a:ext>
                </a:extLst>
              </p:cNvPr>
              <p:cNvSpPr/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3487DD-40B1-3CA8-189C-43E599F3E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76CBCAF-9506-F36A-EAF5-A9E060C75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624561"/>
                  </p:ext>
                </p:extLst>
              </p:nvPr>
            </p:nvGraphicFramePr>
            <p:xfrm>
              <a:off x="1746900" y="3299343"/>
              <a:ext cx="8698201" cy="310488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357594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784400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2095421">
                      <a:extLst>
                        <a:ext uri="{9D8B030D-6E8A-4147-A177-3AD203B41FA5}">
                          <a16:colId xmlns:a16="http://schemas.microsoft.com/office/drawing/2014/main" val="1442290448"/>
                        </a:ext>
                      </a:extLst>
                    </a:gridCol>
                    <a:gridCol w="1730393">
                      <a:extLst>
                        <a:ext uri="{9D8B030D-6E8A-4147-A177-3AD203B41FA5}">
                          <a16:colId xmlns:a16="http://schemas.microsoft.com/office/drawing/2014/main" val="363495912"/>
                        </a:ext>
                      </a:extLst>
                    </a:gridCol>
                    <a:gridCol w="1730393">
                      <a:extLst>
                        <a:ext uri="{9D8B030D-6E8A-4147-A177-3AD203B41FA5}">
                          <a16:colId xmlns:a16="http://schemas.microsoft.com/office/drawing/2014/main" val="3749216265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IN" sz="2800" b="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Non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Moderate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Heavy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𝟖𝟕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No 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48 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i="0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𝟔𝟗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𝟔𝟐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𝟒𝟗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𝐍</m:t>
                                </m:r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𝟏𝟖𝟎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73192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76CBCAF-9506-F36A-EAF5-A9E060C75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624561"/>
                  </p:ext>
                </p:extLst>
              </p:nvPr>
            </p:nvGraphicFramePr>
            <p:xfrm>
              <a:off x="1746900" y="3299343"/>
              <a:ext cx="8698201" cy="310488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1357594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784400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2095421">
                      <a:extLst>
                        <a:ext uri="{9D8B030D-6E8A-4147-A177-3AD203B41FA5}">
                          <a16:colId xmlns:a16="http://schemas.microsoft.com/office/drawing/2014/main" val="1442290448"/>
                        </a:ext>
                      </a:extLst>
                    </a:gridCol>
                    <a:gridCol w="1730393">
                      <a:extLst>
                        <a:ext uri="{9D8B030D-6E8A-4147-A177-3AD203B41FA5}">
                          <a16:colId xmlns:a16="http://schemas.microsoft.com/office/drawing/2014/main" val="363495912"/>
                        </a:ext>
                      </a:extLst>
                    </a:gridCol>
                    <a:gridCol w="1730393">
                      <a:extLst>
                        <a:ext uri="{9D8B030D-6E8A-4147-A177-3AD203B41FA5}">
                          <a16:colId xmlns:a16="http://schemas.microsoft.com/office/drawing/2014/main" val="3749216265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endParaRPr lang="en-IN" sz="2800" b="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Non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Moderate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Heavy Smokers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dirty="0">
                              <a:solidFill>
                                <a:srgbClr val="002060"/>
                              </a:solidFill>
                            </a:rPr>
                            <a:t>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6451" t="-138983" r="-311945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291" t="-138983" r="-165698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3169" t="-138983" r="-100704" b="-21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3169" t="-138983" r="-704" b="-21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No 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6451" t="-236975" r="-311945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291" t="-236975" r="-165698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3169" t="-236975" r="-100704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3169" t="-236975" r="-704" b="-109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126865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i="0" dirty="0">
                              <a:solidFill>
                                <a:srgbClr val="002060"/>
                              </a:solidFill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6451" t="-339831" r="-311945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291" t="-339831" r="-165698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3169" t="-339831" r="-100704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3169" t="-339831" r="-704" b="-1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3192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2037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1" grpId="0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91CE-5393-AA33-8897-8C7E540C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49A9-C0CD-F913-8366-025E2CE8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4BDEC-74E3-C2A0-C933-385D65F141BC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25102C-5DB9-4100-F946-7A707220F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57021"/>
              </p:ext>
            </p:extLst>
          </p:nvPr>
        </p:nvGraphicFramePr>
        <p:xfrm>
          <a:off x="131177" y="1560201"/>
          <a:ext cx="6235333" cy="411992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9188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577762-E78D-0A15-91DA-686EA3382CD3}"/>
                  </a:ext>
                </a:extLst>
              </p:cNvPr>
              <p:cNvSpPr txBox="1"/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577762-E78D-0A15-91DA-686EA338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A5CD7-D025-2A88-EC88-0D556294B1D9}"/>
                  </a:ext>
                </a:extLst>
              </p:cNvPr>
              <p:cNvSpPr txBox="1"/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A5CD7-D025-2A88-EC88-0D556294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95B0FB-3C4D-C1FF-7617-645284D481CC}"/>
                  </a:ext>
                </a:extLst>
              </p:cNvPr>
              <p:cNvSpPr txBox="1"/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95B0FB-3C4D-C1FF-7617-645284D4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2972D4-4FCB-98CA-1907-27C5526DD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882126"/>
              </p:ext>
            </p:extLst>
          </p:nvPr>
        </p:nvGraphicFramePr>
        <p:xfrm>
          <a:off x="6570091" y="1560201"/>
          <a:ext cx="5490732" cy="285719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856980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2640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322733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749216265"/>
                    </a:ext>
                  </a:extLst>
                </a:gridCol>
              </a:tblGrid>
              <a:tr h="869504">
                <a:tc>
                  <a:txBody>
                    <a:bodyPr/>
                    <a:lstStyle/>
                    <a:p>
                      <a:endParaRPr lang="en-IN" sz="20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21</a:t>
                      </a:r>
                      <a:endParaRPr lang="en-IN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30</a:t>
                      </a:r>
                      <a:endParaRPr lang="en-IN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002060"/>
                          </a:solidFill>
                        </a:rPr>
                        <a:t>87</a:t>
                      </a: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48 </a:t>
                      </a:r>
                      <a:endParaRPr lang="en-IN" sz="20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>
                          <a:solidFill>
                            <a:srgbClr val="002060"/>
                          </a:solidFill>
                        </a:rPr>
                        <a:t>93</a:t>
                      </a: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002060"/>
                          </a:solidFill>
                        </a:rPr>
                        <a:t>69</a:t>
                      </a: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002060"/>
                          </a:solidFill>
                        </a:rPr>
                        <a:t>62</a:t>
                      </a: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>
                          <a:solidFill>
                            <a:srgbClr val="002060"/>
                          </a:solidFill>
                        </a:rPr>
                        <a:t>49</a:t>
                      </a: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319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28669B-9B65-1B95-B636-E374CAB4E7A8}"/>
              </a:ext>
            </a:extLst>
          </p:cNvPr>
          <p:cNvSpPr txBox="1"/>
          <p:nvPr/>
        </p:nvSpPr>
        <p:spPr>
          <a:xfrm>
            <a:off x="596382" y="319619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B0FEA-4086-B412-471C-5CA2152CBCF9}"/>
              </a:ext>
            </a:extLst>
          </p:cNvPr>
          <p:cNvSpPr txBox="1"/>
          <p:nvPr/>
        </p:nvSpPr>
        <p:spPr>
          <a:xfrm>
            <a:off x="593648" y="405662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A1D4A-0285-12D9-84C3-37D9C20327A2}"/>
              </a:ext>
            </a:extLst>
          </p:cNvPr>
          <p:cNvSpPr txBox="1"/>
          <p:nvPr/>
        </p:nvSpPr>
        <p:spPr>
          <a:xfrm>
            <a:off x="602214" y="4973800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283584-E559-8BC8-B9A5-BFB622E2AEB3}"/>
                  </a:ext>
                </a:extLst>
              </p:cNvPr>
              <p:cNvSpPr txBox="1"/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283584-E559-8BC8-B9A5-BFB622E2A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18F6985-AF49-5B76-911F-A17E69483B6A}"/>
              </a:ext>
            </a:extLst>
          </p:cNvPr>
          <p:cNvSpPr txBox="1"/>
          <p:nvPr/>
        </p:nvSpPr>
        <p:spPr>
          <a:xfrm>
            <a:off x="3020310" y="318746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33.35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ED1368-29F5-285D-B862-4EDDDBB26232}"/>
                  </a:ext>
                </a:extLst>
              </p:cNvPr>
              <p:cNvSpPr txBox="1"/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62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ED1368-29F5-285D-B862-4EDDDBB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EB1A028-B768-D064-C64C-6BD135199A94}"/>
              </a:ext>
            </a:extLst>
          </p:cNvPr>
          <p:cNvSpPr txBox="1"/>
          <p:nvPr/>
        </p:nvSpPr>
        <p:spPr>
          <a:xfrm>
            <a:off x="3020310" y="408725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29.96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5F412F-07DE-89E6-E25F-945F1E7EE847}"/>
                  </a:ext>
                </a:extLst>
              </p:cNvPr>
              <p:cNvSpPr txBox="1"/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49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5F412F-07DE-89E6-E25F-945F1E7EE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FD5059CF-4371-F745-33FF-37177A80AFD8}"/>
              </a:ext>
            </a:extLst>
          </p:cNvPr>
          <p:cNvSpPr txBox="1"/>
          <p:nvPr/>
        </p:nvSpPr>
        <p:spPr>
          <a:xfrm>
            <a:off x="2996006" y="4984726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23.68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5C063E-F070-5EDB-7B20-54D109C1331C}"/>
              </a:ext>
            </a:extLst>
          </p:cNvPr>
          <p:cNvSpPr txBox="1"/>
          <p:nvPr/>
        </p:nvSpPr>
        <p:spPr>
          <a:xfrm>
            <a:off x="4981335" y="318746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4.57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15B4B0-BCCC-FD03-7E02-5B48CD751A7E}"/>
              </a:ext>
            </a:extLst>
          </p:cNvPr>
          <p:cNvSpPr txBox="1"/>
          <p:nvPr/>
        </p:nvSpPr>
        <p:spPr>
          <a:xfrm>
            <a:off x="4948735" y="4031043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3330F5-2D12-9BAF-DCAA-A47DCE5A65D1}"/>
              </a:ext>
            </a:extLst>
          </p:cNvPr>
          <p:cNvSpPr txBox="1"/>
          <p:nvPr/>
        </p:nvSpPr>
        <p:spPr>
          <a:xfrm>
            <a:off x="4948735" y="495094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1.68</a:t>
            </a:r>
          </a:p>
        </p:txBody>
      </p:sp>
    </p:spTree>
    <p:extLst>
      <p:ext uri="{BB962C8B-B14F-4D97-AF65-F5344CB8AC3E}">
        <p14:creationId xmlns:p14="http://schemas.microsoft.com/office/powerpoint/2010/main" val="143598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5" grpId="0"/>
      <p:bldP spid="6" grpId="0"/>
      <p:bldP spid="8" grpId="0"/>
      <p:bldP spid="11" grpId="0"/>
      <p:bldP spid="17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1EA3-C71C-89B0-6CD5-ABD82CA9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7D89-8337-F069-0BAA-8A85549F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 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8D38A-378B-825B-32D2-DBE602536561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2B5C24-97D9-F54E-6744-D8C707C89C4F}"/>
              </a:ext>
            </a:extLst>
          </p:cNvPr>
          <p:cNvGraphicFramePr>
            <a:graphicFrameLocks noGrp="1"/>
          </p:cNvGraphicFramePr>
          <p:nvPr/>
        </p:nvGraphicFramePr>
        <p:xfrm>
          <a:off x="131177" y="1560201"/>
          <a:ext cx="6235333" cy="411992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9188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F2F25-F0EA-2573-6070-E56FF5C02D22}"/>
                  </a:ext>
                </a:extLst>
              </p:cNvPr>
              <p:cNvSpPr txBox="1"/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F2F25-F0EA-2573-6070-E56FF5C0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8A860F-4A4F-8298-E391-6AC6207FDFD9}"/>
                  </a:ext>
                </a:extLst>
              </p:cNvPr>
              <p:cNvSpPr txBox="1"/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8A860F-4A4F-8298-E391-6AC6207FD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FCF4DC-786B-8AA2-E00D-D89BFD93F9FA}"/>
                  </a:ext>
                </a:extLst>
              </p:cNvPr>
              <p:cNvSpPr txBox="1"/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FCF4DC-786B-8AA2-E00D-D89BFD93F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B08349-15D9-0BE6-5C75-FB3F0AE4990D}"/>
              </a:ext>
            </a:extLst>
          </p:cNvPr>
          <p:cNvGraphicFramePr>
            <a:graphicFrameLocks noGrp="1"/>
          </p:cNvGraphicFramePr>
          <p:nvPr/>
        </p:nvGraphicFramePr>
        <p:xfrm>
          <a:off x="6570091" y="1560201"/>
          <a:ext cx="5490732" cy="285719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856980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2640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322733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749216265"/>
                    </a:ext>
                  </a:extLst>
                </a:gridCol>
              </a:tblGrid>
              <a:tr h="869504">
                <a:tc>
                  <a:txBody>
                    <a:bodyPr/>
                    <a:lstStyle/>
                    <a:p>
                      <a:endParaRPr lang="en-IN" sz="20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48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319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5D537E-DF1D-5F24-4502-66430336D768}"/>
              </a:ext>
            </a:extLst>
          </p:cNvPr>
          <p:cNvSpPr txBox="1"/>
          <p:nvPr/>
        </p:nvSpPr>
        <p:spPr>
          <a:xfrm>
            <a:off x="596382" y="319619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0B33D-45D8-0AA4-9994-4DEA6E8C2123}"/>
              </a:ext>
            </a:extLst>
          </p:cNvPr>
          <p:cNvSpPr txBox="1"/>
          <p:nvPr/>
        </p:nvSpPr>
        <p:spPr>
          <a:xfrm>
            <a:off x="593648" y="405662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659F2-5A1F-2AD1-5803-4EEF40722634}"/>
              </a:ext>
            </a:extLst>
          </p:cNvPr>
          <p:cNvSpPr txBox="1"/>
          <p:nvPr/>
        </p:nvSpPr>
        <p:spPr>
          <a:xfrm>
            <a:off x="602214" y="4973800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228CDE-FF3B-7553-0BFF-52A3E96A7DED}"/>
                  </a:ext>
                </a:extLst>
              </p:cNvPr>
              <p:cNvSpPr txBox="1"/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228CDE-FF3B-7553-0BFF-52A3E96A7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F292A0D-7767-5239-96B2-CC1C49B70FD9}"/>
              </a:ext>
            </a:extLst>
          </p:cNvPr>
          <p:cNvSpPr txBox="1"/>
          <p:nvPr/>
        </p:nvSpPr>
        <p:spPr>
          <a:xfrm>
            <a:off x="3020310" y="318746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35.65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524EA6-8363-D5F0-C367-C7F5A14063CB}"/>
                  </a:ext>
                </a:extLst>
              </p:cNvPr>
              <p:cNvSpPr txBox="1"/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62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524EA6-8363-D5F0-C367-C7F5A140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496B868-374F-1363-2ADC-D856EEEB6C6F}"/>
              </a:ext>
            </a:extLst>
          </p:cNvPr>
          <p:cNvSpPr txBox="1"/>
          <p:nvPr/>
        </p:nvSpPr>
        <p:spPr>
          <a:xfrm>
            <a:off x="3020310" y="408725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32.03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4D9D7C-0578-EE97-766A-7B4CE3283131}"/>
                  </a:ext>
                </a:extLst>
              </p:cNvPr>
              <p:cNvSpPr txBox="1"/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49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4D9D7C-0578-EE97-766A-7B4CE3283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889A485-00CF-B174-C667-18351FFAEB1E}"/>
              </a:ext>
            </a:extLst>
          </p:cNvPr>
          <p:cNvSpPr txBox="1"/>
          <p:nvPr/>
        </p:nvSpPr>
        <p:spPr>
          <a:xfrm>
            <a:off x="2996006" y="4984726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25.31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4BA65A-4FA1-D99F-989F-700C9EAD072F}"/>
              </a:ext>
            </a:extLst>
          </p:cNvPr>
          <p:cNvSpPr txBox="1"/>
          <p:nvPr/>
        </p:nvSpPr>
        <p:spPr>
          <a:xfrm>
            <a:off x="4981335" y="318746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4.27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E3B3C-EA5C-E9D7-DD64-794ABA9C5069}"/>
              </a:ext>
            </a:extLst>
          </p:cNvPr>
          <p:cNvSpPr txBox="1"/>
          <p:nvPr/>
        </p:nvSpPr>
        <p:spPr>
          <a:xfrm>
            <a:off x="4948735" y="4031043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1.13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A1F6FC-7D46-30F5-EFB3-A413A1700AB2}"/>
              </a:ext>
            </a:extLst>
          </p:cNvPr>
          <p:cNvSpPr txBox="1"/>
          <p:nvPr/>
        </p:nvSpPr>
        <p:spPr>
          <a:xfrm>
            <a:off x="4948735" y="495094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1.57</a:t>
            </a:r>
          </a:p>
        </p:txBody>
      </p:sp>
    </p:spTree>
    <p:extLst>
      <p:ext uri="{BB962C8B-B14F-4D97-AF65-F5344CB8AC3E}">
        <p14:creationId xmlns:p14="http://schemas.microsoft.com/office/powerpoint/2010/main" val="20279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5" grpId="0"/>
      <p:bldP spid="6" grpId="0"/>
      <p:bldP spid="8" grpId="0"/>
      <p:bldP spid="11" grpId="0"/>
      <p:bldP spid="17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6837-347F-E008-F86F-9705033A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C1D8-25B1-3E33-155F-191F5BD9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7A57FE-1D7A-AFBF-4F6E-B7287A0A7128}"/>
                  </a:ext>
                </a:extLst>
              </p:cNvPr>
              <p:cNvSpPr txBox="1"/>
              <p:nvPr/>
            </p:nvSpPr>
            <p:spPr>
              <a:xfrm>
                <a:off x="199152" y="1291946"/>
                <a:ext cx="358071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7A57FE-1D7A-AFBF-4F6E-B7287A0A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2" y="1291946"/>
                <a:ext cx="358071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41EA324-883B-01EB-827D-D0A6DBD335BF}"/>
              </a:ext>
            </a:extLst>
          </p:cNvPr>
          <p:cNvSpPr txBox="1"/>
          <p:nvPr/>
        </p:nvSpPr>
        <p:spPr>
          <a:xfrm>
            <a:off x="134453" y="887986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947E44-74AD-5279-5682-ECCDE123C49A}"/>
                  </a:ext>
                </a:extLst>
              </p:cNvPr>
              <p:cNvSpPr txBox="1"/>
              <p:nvPr/>
            </p:nvSpPr>
            <p:spPr>
              <a:xfrm>
                <a:off x="3197692" y="1653879"/>
                <a:ext cx="16932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=14.43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947E44-74AD-5279-5682-ECCDE123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92" y="1653879"/>
                <a:ext cx="169328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B866A70A-D8D5-0A10-A177-87923D133605}"/>
              </a:ext>
            </a:extLst>
          </p:cNvPr>
          <p:cNvSpPr/>
          <p:nvPr/>
        </p:nvSpPr>
        <p:spPr>
          <a:xfrm>
            <a:off x="134453" y="3635599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B5BB24-344E-B26D-D821-D66679C76482}"/>
                  </a:ext>
                </a:extLst>
              </p:cNvPr>
              <p:cNvSpPr txBox="1"/>
              <p:nvPr/>
            </p:nvSpPr>
            <p:spPr>
              <a:xfrm>
                <a:off x="4180509" y="3576293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=5.991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B5BB24-344E-B26D-D821-D66679C76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509" y="3576293"/>
                <a:ext cx="2948940" cy="602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CDE2C3-8EE1-B039-9103-69FB12738559}"/>
                  </a:ext>
                </a:extLst>
              </p:cNvPr>
              <p:cNvSpPr txBox="1"/>
              <p:nvPr/>
            </p:nvSpPr>
            <p:spPr>
              <a:xfrm>
                <a:off x="1945476" y="3598883"/>
                <a:ext cx="1898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CDE2C3-8EE1-B039-9103-69FB12738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476" y="3598883"/>
                <a:ext cx="189848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66FCDE2-2DEE-9FB3-5398-2D9D0AD1D677}"/>
                  </a:ext>
                </a:extLst>
              </p:cNvPr>
              <p:cNvSpPr txBox="1"/>
              <p:nvPr/>
            </p:nvSpPr>
            <p:spPr>
              <a:xfrm>
                <a:off x="1894676" y="4312568"/>
                <a:ext cx="2948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66FCDE2-2DEE-9FB3-5398-2D9D0AD1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76" y="4312568"/>
                <a:ext cx="2948940" cy="523220"/>
              </a:xfrm>
              <a:prstGeom prst="rect">
                <a:avLst/>
              </a:prstGeom>
              <a:blipFill>
                <a:blip r:embed="rId7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729B77-F044-3163-2162-DA89EF18DCBF}"/>
                  </a:ext>
                </a:extLst>
              </p:cNvPr>
              <p:cNvSpPr txBox="1"/>
              <p:nvPr/>
            </p:nvSpPr>
            <p:spPr>
              <a:xfrm>
                <a:off x="199152" y="4989537"/>
                <a:ext cx="10263285" cy="11611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smoking habits and hypertension are not independent (they are related).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729B77-F044-3163-2162-DA89EF18D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2" y="4989537"/>
                <a:ext cx="10263285" cy="1161152"/>
              </a:xfrm>
              <a:prstGeom prst="rect">
                <a:avLst/>
              </a:prstGeom>
              <a:blipFill>
                <a:blip r:embed="rId8"/>
                <a:stretch>
                  <a:fillRect l="-1248" r="-1188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93D7421-02EF-3865-1A0E-76980103A112}"/>
                  </a:ext>
                </a:extLst>
              </p:cNvPr>
              <p:cNvSpPr txBox="1"/>
              <p:nvPr/>
            </p:nvSpPr>
            <p:spPr>
              <a:xfrm>
                <a:off x="3824903" y="3582749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93D7421-02EF-3865-1A0E-76980103A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03" y="3582749"/>
                <a:ext cx="5743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AC3201B-DF18-DACD-6374-5F6C74F89534}"/>
              </a:ext>
            </a:extLst>
          </p:cNvPr>
          <p:cNvGrpSpPr/>
          <p:nvPr/>
        </p:nvGrpSpPr>
        <p:grpSpPr>
          <a:xfrm>
            <a:off x="11112500" y="711201"/>
            <a:ext cx="1092200" cy="3820605"/>
            <a:chOff x="11112500" y="711201"/>
            <a:chExt cx="1092200" cy="38206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F2EF479-2010-CB8B-45FD-5EF9F3C2B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00" t="41808" r="38875" b="24334"/>
            <a:stretch/>
          </p:blipFill>
          <p:spPr>
            <a:xfrm>
              <a:off x="11140440" y="711201"/>
              <a:ext cx="1051560" cy="232200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F8E2975-F802-8930-966A-0C338775C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87" t="53519" r="38855" b="24074"/>
            <a:stretch/>
          </p:blipFill>
          <p:spPr>
            <a:xfrm>
              <a:off x="11112500" y="2995105"/>
              <a:ext cx="1092200" cy="153670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8D45857-52EE-7968-5500-3B3958780ABB}"/>
              </a:ext>
            </a:extLst>
          </p:cNvPr>
          <p:cNvSpPr txBox="1"/>
          <p:nvPr/>
        </p:nvSpPr>
        <p:spPr>
          <a:xfrm>
            <a:off x="11023256" y="4447017"/>
            <a:ext cx="133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= 14.43 </a:t>
            </a:r>
            <a:endParaRPr lang="en-IN" sz="2800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AEA3EC-6257-F350-D596-7B3BFF9EC1C1}"/>
                  </a:ext>
                </a:extLst>
              </p:cNvPr>
              <p:cNvSpPr txBox="1"/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5.991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AEA3EC-6257-F350-D596-7B3BFF9EC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37" y="2897368"/>
                <a:ext cx="3616432" cy="60228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DC964E4-413F-CE29-1971-6CA4569EE02F}"/>
              </a:ext>
            </a:extLst>
          </p:cNvPr>
          <p:cNvSpPr/>
          <p:nvPr/>
        </p:nvSpPr>
        <p:spPr>
          <a:xfrm>
            <a:off x="136076" y="290578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2189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8" grpId="0"/>
      <p:bldP spid="39" grpId="0"/>
      <p:bldP spid="42" grpId="0"/>
      <p:bldP spid="43" grpId="0"/>
      <p:bldP spid="47" grpId="0"/>
      <p:bldP spid="48" grpId="0" animBg="1"/>
      <p:bldP spid="51" grpId="0"/>
      <p:bldP spid="7" grpId="0"/>
      <p:bldP spid="3" grpId="0"/>
      <p:bldP spid="5" grpId="0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4A62-0F92-65C0-6E28-3A4EE0EB0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2A8068-6F9D-E518-67A5-3555536A6F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6D1F3B-6B2F-8A00-C729-C7C56E0A5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4A76BE-D781-05CD-331F-41BFBC884C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D322C-D608-55D7-E055-3A7D5B861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9CE04E-009F-3BCA-6DA4-0EE644AA78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FE1E982-C048-0533-ADB8-9B4C5806D8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2339098-5096-6724-43E6-B5741C00055E}"/>
              </a:ext>
            </a:extLst>
          </p:cNvPr>
          <p:cNvGrpSpPr/>
          <p:nvPr/>
        </p:nvGrpSpPr>
        <p:grpSpPr>
          <a:xfrm>
            <a:off x="26704" y="1462475"/>
            <a:ext cx="8044476" cy="3103418"/>
            <a:chOff x="-12804" y="1537545"/>
            <a:chExt cx="8044476" cy="3103418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E7139D70-0D8D-30D8-ED2D-F73B42858F42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2F561ACF-4FA7-7BDA-D2F6-A5CA11293D1D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B14440"/>
                  </a:solidFill>
                </a:rPr>
                <a:t>THANK YOU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DDADAF8C-9EE5-60C5-1318-637F8B46D786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969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34216</TotalTime>
  <Words>17264</Words>
  <Application>Microsoft Office PowerPoint</Application>
  <PresentationFormat>Widescreen</PresentationFormat>
  <Paragraphs>3171</Paragraphs>
  <Slides>265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265</vt:i4>
      </vt:variant>
    </vt:vector>
  </HeadingPairs>
  <TitlesOfParts>
    <vt:vector size="274" baseType="lpstr">
      <vt:lpstr>Roboto Condensed Light</vt:lpstr>
      <vt:lpstr>Wingdings 3</vt:lpstr>
      <vt:lpstr>Calibri</vt:lpstr>
      <vt:lpstr>Arial</vt:lpstr>
      <vt:lpstr>Cambria Math</vt:lpstr>
      <vt:lpstr>Roboto Condensed</vt:lpstr>
      <vt:lpstr>Wingdings</vt:lpstr>
      <vt:lpstr>Wingdings 2</vt:lpstr>
      <vt:lpstr>Office Theme</vt:lpstr>
      <vt:lpstr>Unit: 5 Inferential Statistics – II</vt:lpstr>
      <vt:lpstr>PowerPoint Presentation</vt:lpstr>
      <vt:lpstr>PowerPoint Presentation</vt:lpstr>
      <vt:lpstr>Method – 1 Test for Single Mean</vt:lpstr>
      <vt:lpstr>Test for Single Mean</vt:lpstr>
      <vt:lpstr>Test for Single Mean</vt:lpstr>
      <vt:lpstr>Test for Single Mean</vt:lpstr>
      <vt:lpstr>Confidence Limits</vt:lpstr>
      <vt:lpstr>Method 1 ⇝ Example 1</vt:lpstr>
      <vt:lpstr>Method 1 ⇝ Example 1 ⇝ Meaning</vt:lpstr>
      <vt:lpstr>Method 1 ⇝ Example 1 ⇝ Idea about Hypotheses</vt:lpstr>
      <vt:lpstr>Method 1 ⇝ Example 1</vt:lpstr>
      <vt:lpstr>Method 1 ⇝ Example 1(Continue)</vt:lpstr>
      <vt:lpstr>Method 1 ⇝ Example 1(Continue)</vt:lpstr>
      <vt:lpstr>Method 1 ⇝ Example 1(Continue)</vt:lpstr>
      <vt:lpstr>Method 1 ⇝ Example 4 ⇝ Meaning</vt:lpstr>
      <vt:lpstr>Method 1 ⇝ Example 4</vt:lpstr>
      <vt:lpstr>Method 1 ⇝ Example 4(Continue)</vt:lpstr>
      <vt:lpstr>Method 1 ⇝ Example 7</vt:lpstr>
      <vt:lpstr>Method 1 ⇝ Example 7 ⇝ Meaning</vt:lpstr>
      <vt:lpstr>Method 1 ⇝ Example 7 ⇝ Idea about Hypotheses</vt:lpstr>
      <vt:lpstr>Method 1 ⇝ Example 7</vt:lpstr>
      <vt:lpstr>Method 1 ⇝ Example 7(Continue)</vt:lpstr>
      <vt:lpstr>Method 1 ⇝ Example 7(Continue)</vt:lpstr>
      <vt:lpstr>Method 1 ⇝ Example 10 ⇝ Meaning</vt:lpstr>
      <vt:lpstr>Method 1 ⇝ Example 10 ⇝ Meaning</vt:lpstr>
      <vt:lpstr>Method 1 ⇝ Example 10 ⇝ Idea about Hypotheses</vt:lpstr>
      <vt:lpstr>Method 1 ⇝ Example 10</vt:lpstr>
      <vt:lpstr>Method 1 ⇝ Example 10(Continue)</vt:lpstr>
      <vt:lpstr>Method – 2 Test for Difference of Mean</vt:lpstr>
      <vt:lpstr>What is Test for Difference of Means ?</vt:lpstr>
      <vt:lpstr>Basic Idea</vt:lpstr>
      <vt:lpstr>Test for Difference of Mean</vt:lpstr>
      <vt:lpstr>Test for Difference of Mean</vt:lpstr>
      <vt:lpstr>Test for Difference of Mean</vt:lpstr>
      <vt:lpstr>Method 2 ⇝ Example 1</vt:lpstr>
      <vt:lpstr>Method 2 ⇝ Example 1 (Continue)</vt:lpstr>
      <vt:lpstr>Method 2 ⇝ Example 1 (Continue)</vt:lpstr>
      <vt:lpstr>Method 2 ⇝ Example 5</vt:lpstr>
      <vt:lpstr>Method 2 ⇝ Example 5 ⇝ Meaning</vt:lpstr>
      <vt:lpstr>Method 2 ⇝ Example 5 ⇝ Meaning</vt:lpstr>
      <vt:lpstr>Method 2 ⇝ Example 5 ⇝ Idea about Hypotheses</vt:lpstr>
      <vt:lpstr>Method 2 ⇝ Example 5</vt:lpstr>
      <vt:lpstr>Method 2 ⇝ Example 5 (Continue)</vt:lpstr>
      <vt:lpstr>Method 2 ⇝ Example 5 (Continue)</vt:lpstr>
      <vt:lpstr>Method 2 ⇝ Example 5 (Continue)</vt:lpstr>
      <vt:lpstr>Method 2 ⇝ Example 9</vt:lpstr>
      <vt:lpstr>Method 2 ⇝ Example 9 ⇝ Meaning</vt:lpstr>
      <vt:lpstr>Method 2 ⇝ Example 9 ⇝ Meaning</vt:lpstr>
      <vt:lpstr>Method 2 ⇝ Example 9 ⇝ Idea about Hypotheses</vt:lpstr>
      <vt:lpstr>Method 2 ⇝ Example 9</vt:lpstr>
      <vt:lpstr>Method 2 ⇝ Example 9 (Continue)</vt:lpstr>
      <vt:lpstr>Method 2 ⇝ Example 9 (Continue)</vt:lpstr>
      <vt:lpstr>Method 2 ⇝ Example 10 ⇝ Meaning</vt:lpstr>
      <vt:lpstr>Method 2 ⇝ Example 10 ⇝ Idea about Hypotheses</vt:lpstr>
      <vt:lpstr>Method 2 ⇝ Example 10</vt:lpstr>
      <vt:lpstr>Method 2 ⇝ Example 10 (Continue)</vt:lpstr>
      <vt:lpstr>Method 2 ⇝ Example 10 (Continue)</vt:lpstr>
      <vt:lpstr>Method – 3 Test for Difference of Standard Deviation</vt:lpstr>
      <vt:lpstr>What is Test for Difference of Standard Deviations (Large Sample)?</vt:lpstr>
      <vt:lpstr>Why do we need this test?</vt:lpstr>
      <vt:lpstr>Why do we need this test?</vt:lpstr>
      <vt:lpstr>Example</vt:lpstr>
      <vt:lpstr>Example</vt:lpstr>
      <vt:lpstr>Test for Difference of Standard Deviation</vt:lpstr>
      <vt:lpstr>Test for Difference of Standard Deviation</vt:lpstr>
      <vt:lpstr>Test for Difference of Standard Deviation</vt:lpstr>
      <vt:lpstr>Method 3 ⇝ Example 1⇝ Meaning</vt:lpstr>
      <vt:lpstr>Method 3 ⇝ Example 1⇝ Meaning</vt:lpstr>
      <vt:lpstr>Method 3 ⇝ Example 1⇝ Idea about Hypotheses</vt:lpstr>
      <vt:lpstr>Method 3 ⇝ Example 1</vt:lpstr>
      <vt:lpstr>Method 3 ⇝ Example 1 (Continue)</vt:lpstr>
      <vt:lpstr>Method 3 ⇝ Example 4</vt:lpstr>
      <vt:lpstr>Method 3 ⇝ Example 4 (Continue)</vt:lpstr>
      <vt:lpstr>Method 3 ⇝ Example 4 (Continue)</vt:lpstr>
      <vt:lpstr>Hypothesis Testing for Small Sample</vt:lpstr>
      <vt:lpstr>Introduction</vt:lpstr>
      <vt:lpstr>Degree of Freedom</vt:lpstr>
      <vt:lpstr>Degree of Freedom</vt:lpstr>
      <vt:lpstr>Notation and General Formula</vt:lpstr>
      <vt:lpstr>Degree of Freedom in Small Sample Tests</vt:lpstr>
      <vt:lpstr>Steps for Testing of Statistical Hypothesis  </vt:lpstr>
      <vt:lpstr>Conclusion  </vt:lpstr>
      <vt:lpstr>Method – 4 t – Test for Single Mean</vt:lpstr>
      <vt:lpstr>t - Test for Single Mean</vt:lpstr>
      <vt:lpstr>Why this test is called “Student’s t-test”?</vt:lpstr>
      <vt:lpstr>t - Test for Single Mean</vt:lpstr>
      <vt:lpstr>t - Test for Single Mean</vt:lpstr>
      <vt:lpstr>Relation between s and S</vt:lpstr>
      <vt:lpstr>Relation between s and S</vt:lpstr>
      <vt:lpstr>t - Test for Single Mean</vt:lpstr>
      <vt:lpstr>t - Test for Single Mean</vt:lpstr>
      <vt:lpstr>Confidence Limits</vt:lpstr>
      <vt:lpstr>Method 4 ⇝ Example 1 ⇝ Meaning</vt:lpstr>
      <vt:lpstr>Method 4 ⇝ Example 1 ⇝ Idea about Hypotheses</vt:lpstr>
      <vt:lpstr>Method 4 ⇝ Example 1</vt:lpstr>
      <vt:lpstr>Method 4 ⇝ Example 1 (Continue)</vt:lpstr>
      <vt:lpstr>Method 4 ⇝ Example 1 (Continue)</vt:lpstr>
      <vt:lpstr>Method 4 ⇝ Example 4 ⇝ Meaning </vt:lpstr>
      <vt:lpstr>Method 4 ⇝ Example 4</vt:lpstr>
      <vt:lpstr>Method 4 ⇝ Example 4 (Continue)</vt:lpstr>
      <vt:lpstr>Method 4 ⇝ Example 6</vt:lpstr>
      <vt:lpstr>Method 4 ⇝ Example 6 (Continue)</vt:lpstr>
      <vt:lpstr>Method 4 ⇝ Example 10</vt:lpstr>
      <vt:lpstr>Method 4 ⇝ Example 10 ⇝ Meaning</vt:lpstr>
      <vt:lpstr>Method 4 ⇝ Example 10 ⇝ Idea about Hypotheses</vt:lpstr>
      <vt:lpstr>Method 4 ⇝ Example 10</vt:lpstr>
      <vt:lpstr>Method 4 ⇝ Example 10 (Continue)</vt:lpstr>
      <vt:lpstr>Method 4 ⇝ Example 10 (Continue)</vt:lpstr>
      <vt:lpstr>Method – 5 t – Test for Difference of Mean</vt:lpstr>
      <vt:lpstr>t - Test for difference of Mean</vt:lpstr>
      <vt:lpstr>t - Test for difference of Mean</vt:lpstr>
      <vt:lpstr>Assumption for this test</vt:lpstr>
      <vt:lpstr>Assumption for this test</vt:lpstr>
      <vt:lpstr>t - Test for difference of Mean</vt:lpstr>
      <vt:lpstr>Formula for Test Statistics</vt:lpstr>
      <vt:lpstr>Formula for Test Statistics</vt:lpstr>
      <vt:lpstr>Confidence Limits</vt:lpstr>
      <vt:lpstr>Confidence Limits</vt:lpstr>
      <vt:lpstr>Method 5 ⇝ Example 1</vt:lpstr>
      <vt:lpstr>Method 5 ⇝ Example 1 ⇝ Meaning</vt:lpstr>
      <vt:lpstr>Method 5 ⇝ Example 1 ⇝ Idea about Hypotheses</vt:lpstr>
      <vt:lpstr>Method 5 ⇝ Example 1 ⇝ Meaning of 95% Confidence Limits</vt:lpstr>
      <vt:lpstr>Why containing 0 means no significant difference</vt:lpstr>
      <vt:lpstr>Method 5 ⇝ Example 1</vt:lpstr>
      <vt:lpstr>Method 5 ⇝ Example 1 (Continue)</vt:lpstr>
      <vt:lpstr>Method 5 ⇝ Example 1 (Continue)</vt:lpstr>
      <vt:lpstr>Method 5 ⇝ Example 1 (Continue)</vt:lpstr>
      <vt:lpstr>Method 5 ⇝ Example 1 (Continue)</vt:lpstr>
      <vt:lpstr>Method 5 ⇝ Example 4</vt:lpstr>
      <vt:lpstr>Method 5 ⇝ Example 4 (Continue)</vt:lpstr>
      <vt:lpstr>Method 5 ⇝ Example 4 (Continue)</vt:lpstr>
      <vt:lpstr>Method 5 ⇝ Example 4 (Continue)</vt:lpstr>
      <vt:lpstr>Method 5 ⇝ Example 4 (Continue)</vt:lpstr>
      <vt:lpstr>Method 5 ⇝ Example 8 ⇝ Meaning</vt:lpstr>
      <vt:lpstr>Method 5 ⇝ Example 8 ⇝ Meaning</vt:lpstr>
      <vt:lpstr>Method 5 ⇝ Example 8 ⇝ Idea about Hypotheses</vt:lpstr>
      <vt:lpstr>Method 5 ⇝ Example 8</vt:lpstr>
      <vt:lpstr>Method 5 ⇝ Example 8 (Continue)</vt:lpstr>
      <vt:lpstr>Method 5 ⇝ Example 8 (Continue)</vt:lpstr>
      <vt:lpstr>Method 5 ⇝ Example 10</vt:lpstr>
      <vt:lpstr>Method 5 ⇝ Example 10 ⇝ Meaning</vt:lpstr>
      <vt:lpstr>Method 5 ⇝ Example 10 ⇝ Idea about Hypotheses</vt:lpstr>
      <vt:lpstr>Method 5 ⇝ Example 10 (Continue)</vt:lpstr>
      <vt:lpstr>Method 5 ⇝ Example 10 (Continue)</vt:lpstr>
      <vt:lpstr>Method 5 ⇝ Example 10 (Continue)</vt:lpstr>
      <vt:lpstr>Method – 6 F – Test for Equality of Two Population Variances</vt:lpstr>
      <vt:lpstr>F - Test for Ratio of Variance</vt:lpstr>
      <vt:lpstr>F - Test for Ratio of Variance</vt:lpstr>
      <vt:lpstr>Why not difference S_1^2-S_2^2?</vt:lpstr>
      <vt:lpstr>F - Test for Ratio of Variance</vt:lpstr>
      <vt:lpstr>F-Test Statistic</vt:lpstr>
      <vt:lpstr>Critical Region in F-Test</vt:lpstr>
      <vt:lpstr>F - Test for Ratio of Variance</vt:lpstr>
      <vt:lpstr>Method 6 ⇝ Example 1</vt:lpstr>
      <vt:lpstr>Method 6 ⇝ Example 1 (Continue)</vt:lpstr>
      <vt:lpstr>Method 6 ⇝ Example 1 (Continue)</vt:lpstr>
      <vt:lpstr>Method 6 ⇝ Example 1 (Continue)</vt:lpstr>
      <vt:lpstr>Method 6 ⇝ Example 4</vt:lpstr>
      <vt:lpstr>Method 6 ⇝ Example 4 (Continue)</vt:lpstr>
      <vt:lpstr>Method 6 ⇝ Example 4 (Continue)</vt:lpstr>
      <vt:lpstr>Method 6 ⇝ Example 8</vt:lpstr>
      <vt:lpstr>Method 6 ⇝ Example 8</vt:lpstr>
      <vt:lpstr>Method 6 ⇝ Example 8 ⇝ Which test should be performed first?</vt:lpstr>
      <vt:lpstr>Method 6 ⇝ Example 8 (Continue)</vt:lpstr>
      <vt:lpstr>Method 6 ⇝ Example 8 (Continue)</vt:lpstr>
      <vt:lpstr>Method 6 ⇝ Example 8 (Continue)</vt:lpstr>
      <vt:lpstr>Method 6 ⇝ Example 8 (Continue)</vt:lpstr>
      <vt:lpstr>Method 6 ⇝ Example 8 (Continue)</vt:lpstr>
      <vt:lpstr>Method 6 ⇝ Example 8 (Continue)</vt:lpstr>
      <vt:lpstr>Method 6 ⇝ Example 10</vt:lpstr>
      <vt:lpstr>Method 6 ⇝ Example 10 (Continue)</vt:lpstr>
      <vt:lpstr>Method 6 ⇝ Example 10 (Continue)</vt:lpstr>
      <vt:lpstr>Method 6 ⇝ Example 10 (Continue)</vt:lpstr>
      <vt:lpstr>Method 6 ⇝ Example 10 (Continue)</vt:lpstr>
      <vt:lpstr>Method 6 ⇝ Example 10 (Continue)</vt:lpstr>
      <vt:lpstr>Chi – Square Test</vt:lpstr>
      <vt:lpstr>What is Chi-Square ?</vt:lpstr>
      <vt:lpstr>What are Observed and Expected Values?</vt:lpstr>
      <vt:lpstr>What are Observed and Expected Values?</vt:lpstr>
      <vt:lpstr>How do we measure the difference?</vt:lpstr>
      <vt:lpstr>Chi-Square Test</vt:lpstr>
      <vt:lpstr>Chi-Square Distribution and Its Role in Hypothesis Testing</vt:lpstr>
      <vt:lpstr>Chi-Square Distribution and Its Role in Hypothesis Testing</vt:lpstr>
      <vt:lpstr>Chi-Square Test for Categorical Data</vt:lpstr>
      <vt:lpstr>Chi-Square Test for Categorical Data</vt:lpstr>
      <vt:lpstr>When do we use Chi-Square?</vt:lpstr>
      <vt:lpstr>When do we use Chi-Square?</vt:lpstr>
      <vt:lpstr>Why do we need Chi-Square (χ²) Test ?</vt:lpstr>
      <vt:lpstr>Why do we need Chi-Square (χ²) Test ?</vt:lpstr>
      <vt:lpstr>Chi-Square Statistic</vt:lpstr>
      <vt:lpstr>Chi-Square Statistic</vt:lpstr>
      <vt:lpstr>Conditions for validity of χ^2 test:</vt:lpstr>
      <vt:lpstr>Conditions for validity of χ^2 test:</vt:lpstr>
      <vt:lpstr>Applications of χ^2 test</vt:lpstr>
      <vt:lpstr>Applications of χ^2 test</vt:lpstr>
      <vt:lpstr>Working Rule for Chi – Square Test</vt:lpstr>
      <vt:lpstr>Conclusion</vt:lpstr>
      <vt:lpstr>Method – 7 Chi – Square Test: Goodness of Fit</vt:lpstr>
      <vt:lpstr>Degree of Freedom</vt:lpstr>
      <vt:lpstr>Degree of Freedom</vt:lpstr>
      <vt:lpstr>Degree of Freedom for Goodness of Fit</vt:lpstr>
      <vt:lpstr>Degree of Freedom for Binomial Distribution</vt:lpstr>
      <vt:lpstr>Degree of Freedom for Binomial Distribution</vt:lpstr>
      <vt:lpstr>Degree of Freedom for Poisson Distribution</vt:lpstr>
      <vt:lpstr>Degree of Freedom for Normal Distribution</vt:lpstr>
      <vt:lpstr>Degree of Freedom for Normal Distribution</vt:lpstr>
      <vt:lpstr>Chi – Square Test: Goodness of Fit</vt:lpstr>
      <vt:lpstr>Method 7 ⇝ Example 1</vt:lpstr>
      <vt:lpstr>Method 7 ⇝ Example 1 (Continue)</vt:lpstr>
      <vt:lpstr>Method 7 ⇝ Example 1 (Continue)</vt:lpstr>
      <vt:lpstr>Method 7 ⇝ Example 2 ⇝ Meaning</vt:lpstr>
      <vt:lpstr>Method 7 ⇝ Example 2 ⇝ Idea about Hypothesis</vt:lpstr>
      <vt:lpstr>Method 7 ⇝ Example 4</vt:lpstr>
      <vt:lpstr>Method 7 ⇝ Example 4 (Continue)</vt:lpstr>
      <vt:lpstr>Method 7 ⇝ Example 4 (Continue)</vt:lpstr>
      <vt:lpstr>Method 7 ⇝ Example 6</vt:lpstr>
      <vt:lpstr>Method 7 ⇝ Example 6 ⇝ Meaning</vt:lpstr>
      <vt:lpstr>Method 7 ⇝ Example 6 ⇝ Idea about Hypotheses </vt:lpstr>
      <vt:lpstr>Method 7 ⇝ Example 6</vt:lpstr>
      <vt:lpstr>Method 7 ⇝ Example 6 (Continue)</vt:lpstr>
      <vt:lpstr>Method 7 ⇝ Example 6 (Continue)</vt:lpstr>
      <vt:lpstr>Method 7 ⇝ Example 6 (Continue)</vt:lpstr>
      <vt:lpstr>Method 7 ⇝ Example 6 (Continue)</vt:lpstr>
      <vt:lpstr>Method 7 ⇝ Example 6 (Continue)</vt:lpstr>
      <vt:lpstr>Method 7 ⇝ Example 6 (Continue)</vt:lpstr>
      <vt:lpstr>Method 7 ⇝ Example 6 (Continue)</vt:lpstr>
      <vt:lpstr>Method 7 ⇝ Example 6</vt:lpstr>
      <vt:lpstr>Method 7 ⇝ Example 8</vt:lpstr>
      <vt:lpstr>Method 7 ⇝ Example 8 ⇝ Meaning</vt:lpstr>
      <vt:lpstr>Method 7 ⇝ Example 10 ⇝ Idea about Hypothesis</vt:lpstr>
      <vt:lpstr>Method 7 ⇝ Example 8</vt:lpstr>
      <vt:lpstr>In Calculator</vt:lpstr>
      <vt:lpstr>Method 7 ⇝ Example 8 (Continue)</vt:lpstr>
      <vt:lpstr>Method 7 ⇝ Example 8 (Continue)</vt:lpstr>
      <vt:lpstr>Method 7 ⇝ Example 8 (Continue)</vt:lpstr>
      <vt:lpstr>Method 7 ⇝ Example 8 (Continue)</vt:lpstr>
      <vt:lpstr>Method 7 ⇝ Example 10</vt:lpstr>
      <vt:lpstr>Method 7 ⇝ Example 10 ⇝ Meaning</vt:lpstr>
      <vt:lpstr>Method 7 ⇝ Example 10 ⇝ Idea about Hypothesis</vt:lpstr>
      <vt:lpstr>Method 7 ⇝ Example 10 ⇝ Idea about Degree of Freedom</vt:lpstr>
      <vt:lpstr>Method 7 ⇝ Example 10</vt:lpstr>
      <vt:lpstr>Method 7 ⇝ Example 10 (Continue)</vt:lpstr>
      <vt:lpstr>Method 7 ⇝ Example 10 (Continue)</vt:lpstr>
      <vt:lpstr>Method – 8 Chi – Square Test: Independence of Attributes</vt:lpstr>
      <vt:lpstr>Chi  - Square Test : Independence of Attributes </vt:lpstr>
      <vt:lpstr>Why do we need Chi  - Square Test : Independence of Attributes?</vt:lpstr>
      <vt:lpstr>What is a Contingency Table?</vt:lpstr>
      <vt:lpstr>What is a Contingency Table?</vt:lpstr>
      <vt:lpstr>Chi  - Square Test : Independence of Attributes </vt:lpstr>
      <vt:lpstr>Degree of Freedom for Independence of Attributes </vt:lpstr>
      <vt:lpstr>Chi  - Square Test : Independence of Attributes </vt:lpstr>
      <vt:lpstr>Method 8 ⇝ Example 1  </vt:lpstr>
      <vt:lpstr>Method 8 ⇝ Example 1 ⇝ Meaning   </vt:lpstr>
      <vt:lpstr>Method 8 ⇝ Example 1 ⇝ Idea about Hypothesis   </vt:lpstr>
      <vt:lpstr>Method 8 ⇝ Example 1 (Continue)</vt:lpstr>
      <vt:lpstr>Method 8 ⇝ Example 1 (Continue)</vt:lpstr>
      <vt:lpstr>Method 8 ⇝ Example 1 (Continue)</vt:lpstr>
      <vt:lpstr>Method 8 ⇝ Example 3  </vt:lpstr>
      <vt:lpstr>Method 8 ⇝ Example 3 ⇝ Meaning   </vt:lpstr>
      <vt:lpstr>Method 8 ⇝ Example 3 (Continue)</vt:lpstr>
      <vt:lpstr>Method 8 ⇝ Example 3 (Continue)</vt:lpstr>
      <vt:lpstr>Method 8 ⇝ Example 3 (Continue)</vt:lpstr>
      <vt:lpstr>Method 8 ⇝ Example 3 (Continue)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dhvanik.zala6596@gmail.com</cp:lastModifiedBy>
  <cp:revision>3012</cp:revision>
  <dcterms:created xsi:type="dcterms:W3CDTF">2020-05-01T05:09:15Z</dcterms:created>
  <dcterms:modified xsi:type="dcterms:W3CDTF">2026-03-24T10:15:40Z</dcterms:modified>
</cp:coreProperties>
</file>