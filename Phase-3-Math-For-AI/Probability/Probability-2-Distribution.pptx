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5"/>
  </p:notesMasterIdLst>
  <p:handoutMasterIdLst>
    <p:handoutMasterId r:id="rId236"/>
  </p:handoutMasterIdLst>
  <p:sldIdLst>
    <p:sldId id="256" r:id="rId2"/>
    <p:sldId id="1186" r:id="rId3"/>
    <p:sldId id="268" r:id="rId4"/>
    <p:sldId id="856" r:id="rId5"/>
    <p:sldId id="1176" r:id="rId6"/>
    <p:sldId id="1187" r:id="rId7"/>
    <p:sldId id="857" r:id="rId8"/>
    <p:sldId id="1188" r:id="rId9"/>
    <p:sldId id="1177" r:id="rId10"/>
    <p:sldId id="1178" r:id="rId11"/>
    <p:sldId id="928" r:id="rId12"/>
    <p:sldId id="1179" r:id="rId13"/>
    <p:sldId id="1180" r:id="rId14"/>
    <p:sldId id="1199" r:id="rId15"/>
    <p:sldId id="1181" r:id="rId16"/>
    <p:sldId id="1200" r:id="rId17"/>
    <p:sldId id="1141" r:id="rId18"/>
    <p:sldId id="1201" r:id="rId19"/>
    <p:sldId id="1182" r:id="rId20"/>
    <p:sldId id="929" r:id="rId21"/>
    <p:sldId id="1183" r:id="rId22"/>
    <p:sldId id="930" r:id="rId23"/>
    <p:sldId id="1299" r:id="rId24"/>
    <p:sldId id="945" r:id="rId25"/>
    <p:sldId id="946" r:id="rId26"/>
    <p:sldId id="947" r:id="rId27"/>
    <p:sldId id="948" r:id="rId28"/>
    <p:sldId id="949" r:id="rId29"/>
    <p:sldId id="950" r:id="rId30"/>
    <p:sldId id="951" r:id="rId31"/>
    <p:sldId id="1189" r:id="rId32"/>
    <p:sldId id="954" r:id="rId33"/>
    <p:sldId id="955" r:id="rId34"/>
    <p:sldId id="956" r:id="rId35"/>
    <p:sldId id="1190" r:id="rId36"/>
    <p:sldId id="1127" r:id="rId37"/>
    <p:sldId id="969" r:id="rId38"/>
    <p:sldId id="1129" r:id="rId39"/>
    <p:sldId id="1130" r:id="rId40"/>
    <p:sldId id="1191" r:id="rId41"/>
    <p:sldId id="1192" r:id="rId42"/>
    <p:sldId id="1193" r:id="rId43"/>
    <p:sldId id="1194" r:id="rId44"/>
    <p:sldId id="1195" r:id="rId45"/>
    <p:sldId id="979" r:id="rId46"/>
    <p:sldId id="1196" r:id="rId47"/>
    <p:sldId id="1197" r:id="rId48"/>
    <p:sldId id="1198" r:id="rId49"/>
    <p:sldId id="932" r:id="rId50"/>
    <p:sldId id="1203" r:id="rId51"/>
    <p:sldId id="1204" r:id="rId52"/>
    <p:sldId id="1205" r:id="rId53"/>
    <p:sldId id="1107" r:id="rId54"/>
    <p:sldId id="1212" r:id="rId55"/>
    <p:sldId id="1215" r:id="rId56"/>
    <p:sldId id="1238" r:id="rId57"/>
    <p:sldId id="1239" r:id="rId58"/>
    <p:sldId id="1237" r:id="rId59"/>
    <p:sldId id="1209" r:id="rId60"/>
    <p:sldId id="1236" r:id="rId61"/>
    <p:sldId id="1275" r:id="rId62"/>
    <p:sldId id="1277" r:id="rId63"/>
    <p:sldId id="1278" r:id="rId64"/>
    <p:sldId id="1207" r:id="rId65"/>
    <p:sldId id="1208" r:id="rId66"/>
    <p:sldId id="1210" r:id="rId67"/>
    <p:sldId id="935" r:id="rId68"/>
    <p:sldId id="1109" r:id="rId69"/>
    <p:sldId id="986" r:id="rId70"/>
    <p:sldId id="1211" r:id="rId71"/>
    <p:sldId id="987" r:id="rId72"/>
    <p:sldId id="989" r:id="rId73"/>
    <p:sldId id="1144" r:id="rId74"/>
    <p:sldId id="991" r:id="rId75"/>
    <p:sldId id="992" r:id="rId76"/>
    <p:sldId id="1217" r:id="rId77"/>
    <p:sldId id="999" r:id="rId78"/>
    <p:sldId id="1147" r:id="rId79"/>
    <p:sldId id="1000" r:id="rId80"/>
    <p:sldId id="1001" r:id="rId81"/>
    <p:sldId id="1149" r:id="rId82"/>
    <p:sldId id="1150" r:id="rId83"/>
    <p:sldId id="1218" r:id="rId84"/>
    <p:sldId id="941" r:id="rId85"/>
    <p:sldId id="1225" r:id="rId86"/>
    <p:sldId id="1219" r:id="rId87"/>
    <p:sldId id="1220" r:id="rId88"/>
    <p:sldId id="1223" r:id="rId89"/>
    <p:sldId id="1221" r:id="rId90"/>
    <p:sldId id="1224" r:id="rId91"/>
    <p:sldId id="1226" r:id="rId92"/>
    <p:sldId id="1227" r:id="rId93"/>
    <p:sldId id="1228" r:id="rId94"/>
    <p:sldId id="1231" r:id="rId95"/>
    <p:sldId id="1232" r:id="rId96"/>
    <p:sldId id="1279" r:id="rId97"/>
    <p:sldId id="1280" r:id="rId98"/>
    <p:sldId id="1281" r:id="rId99"/>
    <p:sldId id="1233" r:id="rId100"/>
    <p:sldId id="1244" r:id="rId101"/>
    <p:sldId id="1234" r:id="rId102"/>
    <p:sldId id="1246" r:id="rId103"/>
    <p:sldId id="1240" r:id="rId104"/>
    <p:sldId id="1241" r:id="rId105"/>
    <p:sldId id="1245" r:id="rId106"/>
    <p:sldId id="1300" r:id="rId107"/>
    <p:sldId id="1242" r:id="rId108"/>
    <p:sldId id="1248" r:id="rId109"/>
    <p:sldId id="1249" r:id="rId110"/>
    <p:sldId id="1250" r:id="rId111"/>
    <p:sldId id="1282" r:id="rId112"/>
    <p:sldId id="1283" r:id="rId113"/>
    <p:sldId id="1297" r:id="rId114"/>
    <p:sldId id="1298" r:id="rId115"/>
    <p:sldId id="1004" r:id="rId116"/>
    <p:sldId id="1251" r:id="rId117"/>
    <p:sldId id="1172" r:id="rId118"/>
    <p:sldId id="1174" r:id="rId119"/>
    <p:sldId id="1252" r:id="rId120"/>
    <p:sldId id="1253" r:id="rId121"/>
    <p:sldId id="1010" r:id="rId122"/>
    <p:sldId id="1011" r:id="rId123"/>
    <p:sldId id="1255" r:id="rId124"/>
    <p:sldId id="1012" r:id="rId125"/>
    <p:sldId id="1256" r:id="rId126"/>
    <p:sldId id="1257" r:id="rId127"/>
    <p:sldId id="1258" r:id="rId128"/>
    <p:sldId id="1259" r:id="rId129"/>
    <p:sldId id="1260" r:id="rId130"/>
    <p:sldId id="1261" r:id="rId131"/>
    <p:sldId id="1262" r:id="rId132"/>
    <p:sldId id="1263" r:id="rId133"/>
    <p:sldId id="1264" r:id="rId134"/>
    <p:sldId id="1265" r:id="rId135"/>
    <p:sldId id="1270" r:id="rId136"/>
    <p:sldId id="1273" r:id="rId137"/>
    <p:sldId id="1272" r:id="rId138"/>
    <p:sldId id="1155" r:id="rId139"/>
    <p:sldId id="1274" r:id="rId140"/>
    <p:sldId id="937" r:id="rId141"/>
    <p:sldId id="1301" r:id="rId142"/>
    <p:sldId id="1302" r:id="rId143"/>
    <p:sldId id="1303" r:id="rId144"/>
    <p:sldId id="1304" r:id="rId145"/>
    <p:sldId id="1306" r:id="rId146"/>
    <p:sldId id="1305" r:id="rId147"/>
    <p:sldId id="1307" r:id="rId148"/>
    <p:sldId id="1308" r:id="rId149"/>
    <p:sldId id="1309" r:id="rId150"/>
    <p:sldId id="1310" r:id="rId151"/>
    <p:sldId id="1311" r:id="rId152"/>
    <p:sldId id="1312" r:id="rId153"/>
    <p:sldId id="1313" r:id="rId154"/>
    <p:sldId id="1314" r:id="rId155"/>
    <p:sldId id="1315" r:id="rId156"/>
    <p:sldId id="1166" r:id="rId157"/>
    <p:sldId id="1031" r:id="rId158"/>
    <p:sldId id="1316" r:id="rId159"/>
    <p:sldId id="1317" r:id="rId160"/>
    <p:sldId id="1318" r:id="rId161"/>
    <p:sldId id="1319" r:id="rId162"/>
    <p:sldId id="1320" r:id="rId163"/>
    <p:sldId id="1322" r:id="rId164"/>
    <p:sldId id="1323" r:id="rId165"/>
    <p:sldId id="1324" r:id="rId166"/>
    <p:sldId id="1034" r:id="rId167"/>
    <p:sldId id="1035" r:id="rId168"/>
    <p:sldId id="1036" r:id="rId169"/>
    <p:sldId id="1113" r:id="rId170"/>
    <p:sldId id="1325" r:id="rId171"/>
    <p:sldId id="1038" r:id="rId172"/>
    <p:sldId id="1039" r:id="rId173"/>
    <p:sldId id="1333" r:id="rId174"/>
    <p:sldId id="1040" r:id="rId175"/>
    <p:sldId id="1326" r:id="rId176"/>
    <p:sldId id="1334" r:id="rId177"/>
    <p:sldId id="1327" r:id="rId178"/>
    <p:sldId id="1328" r:id="rId179"/>
    <p:sldId id="1329" r:id="rId180"/>
    <p:sldId id="1335" r:id="rId181"/>
    <p:sldId id="1330" r:id="rId182"/>
    <p:sldId id="1049" r:id="rId183"/>
    <p:sldId id="1050" r:id="rId184"/>
    <p:sldId id="1331" r:id="rId185"/>
    <p:sldId id="1159" r:id="rId186"/>
    <p:sldId id="1332" r:id="rId187"/>
    <p:sldId id="1062" r:id="rId188"/>
    <p:sldId id="1093" r:id="rId189"/>
    <p:sldId id="1051" r:id="rId190"/>
    <p:sldId id="1160" r:id="rId191"/>
    <p:sldId id="1053" r:id="rId192"/>
    <p:sldId id="1336" r:id="rId193"/>
    <p:sldId id="1337" r:id="rId194"/>
    <p:sldId id="1056" r:id="rId195"/>
    <p:sldId id="1338" r:id="rId196"/>
    <p:sldId id="1057" r:id="rId197"/>
    <p:sldId id="1095" r:id="rId198"/>
    <p:sldId id="1058" r:id="rId199"/>
    <p:sldId id="1059" r:id="rId200"/>
    <p:sldId id="1119" r:id="rId201"/>
    <p:sldId id="1348" r:id="rId202"/>
    <p:sldId id="1349" r:id="rId203"/>
    <p:sldId id="1350" r:id="rId204"/>
    <p:sldId id="1351" r:id="rId205"/>
    <p:sldId id="1352" r:id="rId206"/>
    <p:sldId id="1063" r:id="rId207"/>
    <p:sldId id="1161" r:id="rId208"/>
    <p:sldId id="1341" r:id="rId209"/>
    <p:sldId id="1066" r:id="rId210"/>
    <p:sldId id="1067" r:id="rId211"/>
    <p:sldId id="1068" r:id="rId212"/>
    <p:sldId id="1069" r:id="rId213"/>
    <p:sldId id="1342" r:id="rId214"/>
    <p:sldId id="1079" r:id="rId215"/>
    <p:sldId id="1343" r:id="rId216"/>
    <p:sldId id="1347" r:id="rId217"/>
    <p:sldId id="1080" r:id="rId218"/>
    <p:sldId id="1345" r:id="rId219"/>
    <p:sldId id="1081" r:id="rId220"/>
    <p:sldId id="1346" r:id="rId221"/>
    <p:sldId id="1102" r:id="rId222"/>
    <p:sldId id="1353" r:id="rId223"/>
    <p:sldId id="1083" r:id="rId224"/>
    <p:sldId id="1354" r:id="rId225"/>
    <p:sldId id="1355" r:id="rId226"/>
    <p:sldId id="1356" r:id="rId227"/>
    <p:sldId id="1357" r:id="rId228"/>
    <p:sldId id="1116" r:id="rId229"/>
    <p:sldId id="1358" r:id="rId230"/>
    <p:sldId id="1361" r:id="rId231"/>
    <p:sldId id="1359" r:id="rId232"/>
    <p:sldId id="1118" r:id="rId233"/>
    <p:sldId id="1360" r:id="rId234"/>
  </p:sldIdLst>
  <p:sldSz cx="12192000" cy="6858000"/>
  <p:notesSz cx="6858000" cy="9144000"/>
  <p:embeddedFontLst>
    <p:embeddedFont>
      <p:font typeface="Cambria" panose="02040503050406030204" pitchFamily="18" charset="0"/>
      <p:regular r:id="rId237"/>
      <p:bold r:id="rId238"/>
      <p:italic r:id="rId239"/>
      <p:boldItalic r:id="rId240"/>
    </p:embeddedFont>
    <p:embeddedFont>
      <p:font typeface="Cambria Math" panose="02040503050406030204" pitchFamily="18" charset="0"/>
      <p:regular r:id="rId241"/>
    </p:embeddedFont>
    <p:embeddedFont>
      <p:font typeface="Roboto Condensed" panose="02000000000000000000" pitchFamily="2" charset="0"/>
      <p:regular r:id="rId242"/>
      <p:bold r:id="rId243"/>
      <p:italic r:id="rId244"/>
      <p:boldItalic r:id="rId245"/>
    </p:embeddedFont>
    <p:embeddedFont>
      <p:font typeface="Roboto Condensed Light" panose="02000000000000000000" pitchFamily="2" charset="0"/>
      <p:regular r:id="rId246"/>
      <p:italic r:id="rId247"/>
    </p:embeddedFont>
    <p:embeddedFont>
      <p:font typeface="Wingdings 2" panose="05020102010507070707" pitchFamily="18" charset="2"/>
      <p:regular r:id="rId248"/>
    </p:embeddedFont>
    <p:embeddedFont>
      <p:font typeface="Wingdings 3" panose="05040102010807070707" pitchFamily="18" charset="2"/>
      <p:regular r:id="rId2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v/ETLLXGwWkox+6/btxz5Q==" hashData="PrQkAEDdKtdzuG96UVg7EIYAHRPET5A2ztXH0lYjmUOP7R7JbiF6vVZbzqbt76UQPnwm8UqE12alSsqGD9kIBA=="/>
  <p:extLst>
    <p:ext uri="{521415D9-36F7-43E2-AB2F-B90AF26B5E84}">
      <p14:sectionLst xmlns:p14="http://schemas.microsoft.com/office/powerpoint/2010/main">
        <p14:section name="Introduction" id="{4C7717EA-605E-4A53-8581-8E510265544C}">
          <p14:sldIdLst>
            <p14:sldId id="256"/>
            <p14:sldId id="1186"/>
            <p14:sldId id="268"/>
            <p14:sldId id="856"/>
            <p14:sldId id="1176"/>
            <p14:sldId id="1187"/>
            <p14:sldId id="857"/>
            <p14:sldId id="1188"/>
            <p14:sldId id="1177"/>
            <p14:sldId id="1178"/>
          </p14:sldIdLst>
        </p14:section>
        <p14:section name="Binomial Distribution" id="{06B9C80A-8F71-4273-98BD-7BE4C64DAF22}">
          <p14:sldIdLst>
            <p14:sldId id="928"/>
            <p14:sldId id="1179"/>
            <p14:sldId id="1180"/>
            <p14:sldId id="1199"/>
            <p14:sldId id="1181"/>
            <p14:sldId id="1200"/>
            <p14:sldId id="1141"/>
            <p14:sldId id="1201"/>
            <p14:sldId id="1182"/>
            <p14:sldId id="929"/>
            <p14:sldId id="1183"/>
            <p14:sldId id="930"/>
            <p14:sldId id="1299"/>
            <p14:sldId id="945"/>
            <p14:sldId id="946"/>
            <p14:sldId id="947"/>
            <p14:sldId id="948"/>
            <p14:sldId id="949"/>
            <p14:sldId id="950"/>
            <p14:sldId id="951"/>
            <p14:sldId id="1189"/>
            <p14:sldId id="954"/>
            <p14:sldId id="955"/>
            <p14:sldId id="956"/>
            <p14:sldId id="1190"/>
            <p14:sldId id="1127"/>
            <p14:sldId id="969"/>
            <p14:sldId id="1129"/>
            <p14:sldId id="1130"/>
            <p14:sldId id="1191"/>
            <p14:sldId id="1192"/>
            <p14:sldId id="1193"/>
            <p14:sldId id="1194"/>
            <p14:sldId id="1195"/>
            <p14:sldId id="979"/>
            <p14:sldId id="1196"/>
            <p14:sldId id="1197"/>
            <p14:sldId id="1198"/>
          </p14:sldIdLst>
        </p14:section>
        <p14:section name="Poisson Distribution" id="{355D51EE-1E25-4405-839B-50E2057A51F8}">
          <p14:sldIdLst>
            <p14:sldId id="932"/>
            <p14:sldId id="1203"/>
            <p14:sldId id="1204"/>
            <p14:sldId id="1205"/>
            <p14:sldId id="1107"/>
            <p14:sldId id="1212"/>
            <p14:sldId id="1215"/>
            <p14:sldId id="1238"/>
            <p14:sldId id="1239"/>
            <p14:sldId id="1237"/>
            <p14:sldId id="1209"/>
            <p14:sldId id="1236"/>
            <p14:sldId id="1275"/>
            <p14:sldId id="1277"/>
            <p14:sldId id="1278"/>
            <p14:sldId id="1207"/>
            <p14:sldId id="1208"/>
            <p14:sldId id="1210"/>
            <p14:sldId id="935"/>
            <p14:sldId id="1109"/>
            <p14:sldId id="986"/>
            <p14:sldId id="1211"/>
            <p14:sldId id="987"/>
            <p14:sldId id="989"/>
            <p14:sldId id="1144"/>
            <p14:sldId id="991"/>
            <p14:sldId id="992"/>
            <p14:sldId id="1217"/>
            <p14:sldId id="999"/>
            <p14:sldId id="1147"/>
            <p14:sldId id="1000"/>
            <p14:sldId id="1001"/>
            <p14:sldId id="1149"/>
            <p14:sldId id="1150"/>
            <p14:sldId id="1218"/>
          </p14:sldIdLst>
        </p14:section>
        <p14:section name="Exponential Distribution" id="{6EF4FF87-4DDE-4535-8962-4ED1DC61E0AF}">
          <p14:sldIdLst>
            <p14:sldId id="941"/>
            <p14:sldId id="1225"/>
            <p14:sldId id="1219"/>
            <p14:sldId id="1220"/>
            <p14:sldId id="1223"/>
            <p14:sldId id="1221"/>
            <p14:sldId id="1224"/>
            <p14:sldId id="1226"/>
            <p14:sldId id="1227"/>
            <p14:sldId id="1228"/>
            <p14:sldId id="1231"/>
            <p14:sldId id="1232"/>
            <p14:sldId id="1279"/>
            <p14:sldId id="1280"/>
            <p14:sldId id="1281"/>
            <p14:sldId id="1233"/>
            <p14:sldId id="1244"/>
            <p14:sldId id="1234"/>
            <p14:sldId id="1246"/>
            <p14:sldId id="1240"/>
            <p14:sldId id="1241"/>
            <p14:sldId id="1245"/>
            <p14:sldId id="1300"/>
            <p14:sldId id="1242"/>
            <p14:sldId id="1248"/>
            <p14:sldId id="1249"/>
            <p14:sldId id="1250"/>
            <p14:sldId id="1282"/>
            <p14:sldId id="1283"/>
            <p14:sldId id="1297"/>
            <p14:sldId id="1298"/>
            <p14:sldId id="1004"/>
            <p14:sldId id="1251"/>
            <p14:sldId id="1172"/>
            <p14:sldId id="1174"/>
            <p14:sldId id="1252"/>
            <p14:sldId id="1253"/>
            <p14:sldId id="1010"/>
            <p14:sldId id="1011"/>
            <p14:sldId id="1255"/>
            <p14:sldId id="1012"/>
            <p14:sldId id="1256"/>
            <p14:sldId id="1257"/>
            <p14:sldId id="1258"/>
            <p14:sldId id="1259"/>
            <p14:sldId id="1260"/>
            <p14:sldId id="1261"/>
            <p14:sldId id="1262"/>
            <p14:sldId id="1263"/>
            <p14:sldId id="1264"/>
            <p14:sldId id="1265"/>
            <p14:sldId id="1270"/>
            <p14:sldId id="1273"/>
            <p14:sldId id="1272"/>
            <p14:sldId id="1155"/>
            <p14:sldId id="1274"/>
          </p14:sldIdLst>
        </p14:section>
        <p14:section name="Normal Distribution" id="{CC110789-9228-444A-9EFB-6B466C84B889}">
          <p14:sldIdLst>
            <p14:sldId id="937"/>
            <p14:sldId id="1301"/>
            <p14:sldId id="1302"/>
            <p14:sldId id="1303"/>
            <p14:sldId id="1304"/>
            <p14:sldId id="1306"/>
            <p14:sldId id="1305"/>
            <p14:sldId id="1307"/>
            <p14:sldId id="1308"/>
            <p14:sldId id="1309"/>
            <p14:sldId id="1310"/>
            <p14:sldId id="1311"/>
            <p14:sldId id="1312"/>
            <p14:sldId id="1313"/>
            <p14:sldId id="1314"/>
            <p14:sldId id="1315"/>
            <p14:sldId id="1166"/>
            <p14:sldId id="1031"/>
            <p14:sldId id="1316"/>
            <p14:sldId id="1317"/>
            <p14:sldId id="1318"/>
            <p14:sldId id="1319"/>
            <p14:sldId id="1320"/>
            <p14:sldId id="1322"/>
            <p14:sldId id="1323"/>
            <p14:sldId id="1324"/>
            <p14:sldId id="1034"/>
            <p14:sldId id="1035"/>
            <p14:sldId id="1036"/>
            <p14:sldId id="1113"/>
            <p14:sldId id="1325"/>
            <p14:sldId id="1038"/>
            <p14:sldId id="1039"/>
            <p14:sldId id="1333"/>
            <p14:sldId id="1040"/>
            <p14:sldId id="1326"/>
            <p14:sldId id="1334"/>
            <p14:sldId id="1327"/>
            <p14:sldId id="1328"/>
            <p14:sldId id="1329"/>
            <p14:sldId id="1335"/>
            <p14:sldId id="1330"/>
            <p14:sldId id="1049"/>
            <p14:sldId id="1050"/>
            <p14:sldId id="1331"/>
            <p14:sldId id="1159"/>
            <p14:sldId id="1332"/>
            <p14:sldId id="1062"/>
            <p14:sldId id="1093"/>
            <p14:sldId id="1051"/>
            <p14:sldId id="1160"/>
            <p14:sldId id="1053"/>
            <p14:sldId id="1336"/>
            <p14:sldId id="1337"/>
            <p14:sldId id="1056"/>
            <p14:sldId id="1338"/>
            <p14:sldId id="1057"/>
            <p14:sldId id="1095"/>
            <p14:sldId id="1058"/>
            <p14:sldId id="1059"/>
            <p14:sldId id="1119"/>
            <p14:sldId id="1348"/>
            <p14:sldId id="1349"/>
            <p14:sldId id="1350"/>
            <p14:sldId id="1351"/>
            <p14:sldId id="1352"/>
            <p14:sldId id="1063"/>
            <p14:sldId id="1161"/>
            <p14:sldId id="1341"/>
            <p14:sldId id="1066"/>
            <p14:sldId id="1067"/>
            <p14:sldId id="1068"/>
            <p14:sldId id="1069"/>
            <p14:sldId id="1342"/>
            <p14:sldId id="1079"/>
            <p14:sldId id="1343"/>
            <p14:sldId id="1347"/>
            <p14:sldId id="1080"/>
            <p14:sldId id="1345"/>
            <p14:sldId id="1081"/>
            <p14:sldId id="1346"/>
            <p14:sldId id="1102"/>
            <p14:sldId id="1353"/>
            <p14:sldId id="1083"/>
            <p14:sldId id="1354"/>
            <p14:sldId id="1355"/>
            <p14:sldId id="1356"/>
            <p14:sldId id="1357"/>
            <p14:sldId id="1116"/>
            <p14:sldId id="1358"/>
            <p14:sldId id="1361"/>
            <p14:sldId id="1359"/>
            <p14:sldId id="1118"/>
          </p14:sldIdLst>
        </p14:section>
        <p14:section name="Thank you" id="{483D8745-203F-4EED-9105-1CCD1FBEA77C}">
          <p14:sldIdLst>
            <p14:sldId id="13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sujain39@gmail.com" initials="v" lastIdx="1" clrIdx="0">
    <p:extLst>
      <p:ext uri="{19B8F6BF-5375-455C-9EA6-DF929625EA0E}">
        <p15:presenceInfo xmlns:p15="http://schemas.microsoft.com/office/powerpoint/2012/main" userId="4e3c4d1726c659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6765"/>
    <a:srgbClr val="009788"/>
    <a:srgbClr val="301B92"/>
    <a:srgbClr val="0690DF"/>
    <a:srgbClr val="000000"/>
    <a:srgbClr val="FF4848"/>
    <a:srgbClr val="FE5722"/>
    <a:srgbClr val="B14440"/>
    <a:srgbClr val="FF9801"/>
    <a:srgbClr val="B71B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0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907" y="72"/>
      </p:cViewPr>
      <p:guideLst/>
    </p:cSldViewPr>
  </p:slideViewPr>
  <p:outlineViewPr>
    <p:cViewPr>
      <p:scale>
        <a:sx n="33" d="100"/>
        <a:sy n="33" d="100"/>
      </p:scale>
      <p:origin x="0" y="-2659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7" d="100"/>
          <a:sy n="47" d="100"/>
        </p:scale>
        <p:origin x="2040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font" Target="fonts/font11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font" Target="fonts/font1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font" Target="fonts/font12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font" Target="fonts/font2.fntdata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font" Target="fonts/font13.fntdata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font" Target="fonts/font3.fntdata"/><Relationship Id="rId250" Type="http://schemas.openxmlformats.org/officeDocument/2006/relationships/commentAuthors" Target="commentAuthor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font" Target="fonts/font4.fntdata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presProps" Target="presProp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font" Target="fonts/font5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viewProps" Target="viewProps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font" Target="fonts/font6.fntdata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theme" Target="theme/theme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font" Target="fonts/font7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tableStyles" Target="tableStyle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font" Target="fonts/font8.fntdata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font" Target="fonts/font9.fntdata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notesMaster" Target="notesMasters/notesMaster1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font" Target="fonts/font10.fntdata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691E0-E0E7-464F-892B-71ACC2518A4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3689D-5810-4E66-9D5F-1657D824C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9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156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137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F133-11D0-36F5-68D3-C76AADBF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54E9A-A468-B139-D69A-8EFC8F516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9802D-D5C1-E939-FA47-790E0577C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CCD25-05E0-56A8-1058-7120F878CF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365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CDBE3-BCBE-5283-D24D-58F80299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83F37-1A08-208A-CC0D-4849D8F10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316E-A2A6-7A13-8174-2F5C82141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5E773-E5CA-A970-DA04-32F9E0188A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140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096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16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369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52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98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60A19-D03B-C088-5BB0-F0C7AD2C6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53948-D7A4-C212-C8BF-1ECA2EB65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F17E4-E0B1-8E32-E5AD-3232B9152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F3A8A-4470-F7BA-F2C9-03388B5D2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3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microsoft.com/office/2007/relationships/hdphoto" Target="../media/hdphoto2.wdp"/><Relationship Id="rId10" Type="http://schemas.microsoft.com/office/2007/relationships/hdphoto" Target="../media/hdphoto3.wdp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openxmlformats.org/officeDocument/2006/relationships/image" Target="../media/image13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Dhvanik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H. Zala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Probability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71437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Probability Distribution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Dhvanik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H. Zala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9CEFE85F-2151-46C7-9A0F-6DC35B63465B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Probability Distribution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Dhvanik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H. Zala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buFont typeface="Arial" panose="020B0604020202020204" pitchFamily="34" charset="0"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509243ED-EF14-4000-8D29-49BD9FDFB6E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Probability Distribution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Dhvanik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H. Zala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FAE2654C-FB9B-4801-9176-92B28A7821B5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Probability Distribution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Dhvanik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H. Zala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FC55E61B-6CD2-4079-BDCD-79E4C1452CE4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Probability Distribution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Dhvanik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H. Zala</a:t>
            </a:r>
          </a:p>
        </p:txBody>
      </p:sp>
    </p:spTree>
    <p:extLst>
      <p:ext uri="{BB962C8B-B14F-4D97-AF65-F5344CB8AC3E}">
        <p14:creationId xmlns:p14="http://schemas.microsoft.com/office/powerpoint/2010/main" val="265857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14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529" b="96322" l="1337" r="97813">
                        <a14:foregroundMark x1="69745" y1="57931" x2="71932" y2="39770"/>
                        <a14:foregroundMark x1="65614" y1="88046" x2="83475" y2="91034"/>
                        <a14:foregroundMark x1="64156" y1="91034" x2="83475" y2="91034"/>
                        <a14:foregroundMark x1="60875" y1="89655" x2="87849" y2="88046"/>
                        <a14:foregroundMark x1="63062" y1="90345" x2="88943" y2="90345"/>
                        <a14:foregroundMark x1="84933" y1="91724" x2="85298" y2="90345"/>
                        <a14:foregroundMark x1="52977" y1="82529" x2="52977" y2="82989"/>
                        <a14:foregroundMark x1="62576" y1="91954" x2="84812" y2="93563"/>
                        <a14:foregroundMark x1="62940" y1="96322" x2="85298" y2="95632"/>
                        <a14:foregroundMark x1="13973" y1="90115" x2="32564" y2="956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100" y="1858049"/>
            <a:ext cx="3424700" cy="18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094" y="1609868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72" r:id="rId5"/>
    <p:sldLayoutId id="2147483689" r:id="rId6"/>
    <p:sldLayoutId id="2147483692" r:id="rId7"/>
    <p:sldLayoutId id="2147483673" r:id="rId8"/>
    <p:sldLayoutId id="2147483691" r:id="rId9"/>
    <p:sldLayoutId id="2147483674" r:id="rId10"/>
    <p:sldLayoutId id="2147483676" r:id="rId11"/>
    <p:sldLayoutId id="2147483677" r:id="rId12"/>
    <p:sldLayoutId id="2147483678" r:id="rId13"/>
    <p:sldLayoutId id="2147483679" r:id="rId14"/>
    <p:sldLayoutId id="2147483681" r:id="rId15"/>
    <p:sldLayoutId id="2147483683" r:id="rId16"/>
    <p:sldLayoutId id="2147483682" r:id="rId17"/>
    <p:sldLayoutId id="2147483684" r:id="rId18"/>
    <p:sldLayoutId id="2147483685" r:id="rId19"/>
    <p:sldLayoutId id="214748368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2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5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30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38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44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10.png"/><Relationship Id="rId3" Type="http://schemas.openxmlformats.org/officeDocument/2006/relationships/image" Target="../media/image78.png"/><Relationship Id="rId7" Type="http://schemas.openxmlformats.org/officeDocument/2006/relationships/image" Target="../media/image655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630.png"/><Relationship Id="rId10" Type="http://schemas.openxmlformats.org/officeDocument/2006/relationships/image" Target="../media/image81.png"/><Relationship Id="rId4" Type="http://schemas.openxmlformats.org/officeDocument/2006/relationships/image" Target="../media/image620.png"/><Relationship Id="rId9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8.png"/><Relationship Id="rId3" Type="http://schemas.openxmlformats.org/officeDocument/2006/relationships/image" Target="../media/image83.png"/><Relationship Id="rId7" Type="http://schemas.openxmlformats.org/officeDocument/2006/relationships/image" Target="../media/image86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89.png"/><Relationship Id="rId5" Type="http://schemas.openxmlformats.org/officeDocument/2006/relationships/image" Target="../media/image7210.png"/><Relationship Id="rId10" Type="http://schemas.openxmlformats.org/officeDocument/2006/relationships/image" Target="../media/image88.png"/><Relationship Id="rId4" Type="http://schemas.openxmlformats.org/officeDocument/2006/relationships/image" Target="../media/image84.png"/><Relationship Id="rId9" Type="http://schemas.openxmlformats.org/officeDocument/2006/relationships/image" Target="../media/image8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91.png"/><Relationship Id="rId7" Type="http://schemas.openxmlformats.org/officeDocument/2006/relationships/image" Target="../media/image81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10" Type="http://schemas.openxmlformats.org/officeDocument/2006/relationships/image" Target="../media/image8410.png"/><Relationship Id="rId4" Type="http://schemas.openxmlformats.org/officeDocument/2006/relationships/image" Target="../media/image87.png"/><Relationship Id="rId9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8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0.png"/><Relationship Id="rId7" Type="http://schemas.openxmlformats.org/officeDocument/2006/relationships/image" Target="../media/image102.png"/><Relationship Id="rId2" Type="http://schemas.openxmlformats.org/officeDocument/2006/relationships/image" Target="../media/image9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0.png"/><Relationship Id="rId5" Type="http://schemas.openxmlformats.org/officeDocument/2006/relationships/image" Target="../media/image1000.png"/><Relationship Id="rId4" Type="http://schemas.openxmlformats.org/officeDocument/2006/relationships/image" Target="../media/image99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0.png"/><Relationship Id="rId3" Type="http://schemas.openxmlformats.org/officeDocument/2006/relationships/image" Target="../media/image992.png"/><Relationship Id="rId7" Type="http://schemas.openxmlformats.org/officeDocument/2006/relationships/image" Target="../media/image961.png"/><Relationship Id="rId2" Type="http://schemas.openxmlformats.org/officeDocument/2006/relationships/image" Target="../media/image9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07.png"/><Relationship Id="rId5" Type="http://schemas.openxmlformats.org/officeDocument/2006/relationships/image" Target="../media/image104.png"/><Relationship Id="rId10" Type="http://schemas.openxmlformats.org/officeDocument/2006/relationships/image" Target="../media/image106.png"/><Relationship Id="rId4" Type="http://schemas.openxmlformats.org/officeDocument/2006/relationships/image" Target="../media/image103.png"/><Relationship Id="rId9" Type="http://schemas.openxmlformats.org/officeDocument/2006/relationships/image" Target="../media/image105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3.png"/><Relationship Id="rId7" Type="http://schemas.openxmlformats.org/officeDocument/2006/relationships/image" Target="../media/image1090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0.png"/><Relationship Id="rId11" Type="http://schemas.openxmlformats.org/officeDocument/2006/relationships/image" Target="../media/image113.png"/><Relationship Id="rId5" Type="http://schemas.openxmlformats.org/officeDocument/2006/relationships/image" Target="../media/image105.png"/><Relationship Id="rId10" Type="http://schemas.openxmlformats.org/officeDocument/2006/relationships/image" Target="../media/image112.png"/><Relationship Id="rId4" Type="http://schemas.openxmlformats.org/officeDocument/2006/relationships/image" Target="../media/image104.png"/><Relationship Id="rId9" Type="http://schemas.openxmlformats.org/officeDocument/2006/relationships/image" Target="../media/image11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04.png"/><Relationship Id="rId7" Type="http://schemas.openxmlformats.org/officeDocument/2006/relationships/image" Target="../media/image115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030.png"/><Relationship Id="rId10" Type="http://schemas.openxmlformats.org/officeDocument/2006/relationships/image" Target="../media/image118.png"/><Relationship Id="rId4" Type="http://schemas.openxmlformats.org/officeDocument/2006/relationships/image" Target="../media/image105.png"/><Relationship Id="rId9" Type="http://schemas.openxmlformats.org/officeDocument/2006/relationships/image" Target="../media/image117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3.png"/><Relationship Id="rId3" Type="http://schemas.openxmlformats.org/officeDocument/2006/relationships/image" Target="../media/image104.png"/><Relationship Id="rId7" Type="http://schemas.openxmlformats.org/officeDocument/2006/relationships/image" Target="../media/image119.png"/><Relationship Id="rId12" Type="http://schemas.openxmlformats.org/officeDocument/2006/relationships/image" Target="../media/image12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0.png"/><Relationship Id="rId11" Type="http://schemas.openxmlformats.org/officeDocument/2006/relationships/image" Target="../media/image121.png"/><Relationship Id="rId5" Type="http://schemas.openxmlformats.org/officeDocument/2006/relationships/image" Target="../media/image109.png"/><Relationship Id="rId4" Type="http://schemas.openxmlformats.org/officeDocument/2006/relationships/image" Target="../media/image105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1.png"/><Relationship Id="rId3" Type="http://schemas.openxmlformats.org/officeDocument/2006/relationships/image" Target="../media/image950.png"/><Relationship Id="rId7" Type="http://schemas.openxmlformats.org/officeDocument/2006/relationships/image" Target="../media/image1301.pn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1.png"/><Relationship Id="rId5" Type="http://schemas.openxmlformats.org/officeDocument/2006/relationships/image" Target="../media/image1281.png"/><Relationship Id="rId4" Type="http://schemas.openxmlformats.org/officeDocument/2006/relationships/image" Target="../media/image127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04.png"/><Relationship Id="rId7" Type="http://schemas.openxmlformats.org/officeDocument/2006/relationships/image" Target="../media/image13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1.png"/><Relationship Id="rId11" Type="http://schemas.openxmlformats.org/officeDocument/2006/relationships/image" Target="../media/image120.png"/><Relationship Id="rId5" Type="http://schemas.openxmlformats.org/officeDocument/2006/relationships/image" Target="../media/image960.png"/><Relationship Id="rId10" Type="http://schemas.openxmlformats.org/officeDocument/2006/relationships/image" Target="../media/image137.png"/><Relationship Id="rId4" Type="http://schemas.openxmlformats.org/officeDocument/2006/relationships/image" Target="../media/image105.png"/><Relationship Id="rId9" Type="http://schemas.openxmlformats.org/officeDocument/2006/relationships/image" Target="../media/image13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32.png"/><Relationship Id="rId7" Type="http://schemas.openxmlformats.org/officeDocument/2006/relationships/image" Target="../media/image149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38.png"/><Relationship Id="rId4" Type="http://schemas.openxmlformats.org/officeDocument/2006/relationships/image" Target="../media/image133.png"/><Relationship Id="rId9" Type="http://schemas.openxmlformats.org/officeDocument/2006/relationships/image" Target="../media/image15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24.png"/><Relationship Id="rId7" Type="http://schemas.openxmlformats.org/officeDocument/2006/relationships/image" Target="../media/image154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11" Type="http://schemas.openxmlformats.org/officeDocument/2006/relationships/image" Target="../media/image158.png"/><Relationship Id="rId5" Type="http://schemas.openxmlformats.org/officeDocument/2006/relationships/image" Target="../media/image133.png"/><Relationship Id="rId10" Type="http://schemas.openxmlformats.org/officeDocument/2006/relationships/image" Target="../media/image157.png"/><Relationship Id="rId4" Type="http://schemas.openxmlformats.org/officeDocument/2006/relationships/image" Target="../media/image132.png"/><Relationship Id="rId9" Type="http://schemas.openxmlformats.org/officeDocument/2006/relationships/image" Target="../media/image15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24.png"/><Relationship Id="rId7" Type="http://schemas.openxmlformats.org/officeDocument/2006/relationships/image" Target="../media/image161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65.png"/><Relationship Id="rId5" Type="http://schemas.openxmlformats.org/officeDocument/2006/relationships/image" Target="../media/image133.png"/><Relationship Id="rId10" Type="http://schemas.openxmlformats.org/officeDocument/2006/relationships/image" Target="../media/image164.png"/><Relationship Id="rId4" Type="http://schemas.openxmlformats.org/officeDocument/2006/relationships/image" Target="../media/image132.png"/><Relationship Id="rId9" Type="http://schemas.openxmlformats.org/officeDocument/2006/relationships/image" Target="../media/image16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0.png"/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400.png"/><Relationship Id="rId7" Type="http://schemas.openxmlformats.org/officeDocument/2006/relationships/image" Target="../media/image167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10" Type="http://schemas.openxmlformats.org/officeDocument/2006/relationships/image" Target="../media/image170.png"/><Relationship Id="rId4" Type="http://schemas.openxmlformats.org/officeDocument/2006/relationships/image" Target="../media/image1411.png"/><Relationship Id="rId9" Type="http://schemas.openxmlformats.org/officeDocument/2006/relationships/image" Target="../media/image16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4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2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7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3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5.png"/><Relationship Id="rId7" Type="http://schemas.openxmlformats.org/officeDocument/2006/relationships/image" Target="../media/image199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4" Type="http://schemas.openxmlformats.org/officeDocument/2006/relationships/image" Target="../media/image196.png"/><Relationship Id="rId9" Type="http://schemas.openxmlformats.org/officeDocument/2006/relationships/image" Target="../media/image201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image" Target="../media/image18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image" Target="../media/image218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12" Type="http://schemas.openxmlformats.org/officeDocument/2006/relationships/image" Target="../media/image1970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17.png"/><Relationship Id="rId5" Type="http://schemas.openxmlformats.org/officeDocument/2006/relationships/image" Target="../media/image211.png"/><Relationship Id="rId10" Type="http://schemas.openxmlformats.org/officeDocument/2006/relationships/image" Target="../media/image216.png"/><Relationship Id="rId4" Type="http://schemas.openxmlformats.org/officeDocument/2006/relationships/image" Target="../media/image210.png"/><Relationship Id="rId9" Type="http://schemas.openxmlformats.org/officeDocument/2006/relationships/image" Target="../media/image215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0.png"/><Relationship Id="rId3" Type="http://schemas.openxmlformats.org/officeDocument/2006/relationships/image" Target="../media/image219.png"/><Relationship Id="rId7" Type="http://schemas.openxmlformats.org/officeDocument/2006/relationships/image" Target="../media/image223.png"/><Relationship Id="rId2" Type="http://schemas.openxmlformats.org/officeDocument/2006/relationships/image" Target="../media/image19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2.png"/><Relationship Id="rId5" Type="http://schemas.openxmlformats.org/officeDocument/2006/relationships/image" Target="../media/image221.png"/><Relationship Id="rId4" Type="http://schemas.openxmlformats.org/officeDocument/2006/relationships/image" Target="../media/image220.png"/><Relationship Id="rId9" Type="http://schemas.openxmlformats.org/officeDocument/2006/relationships/image" Target="../media/image22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7" Type="http://schemas.openxmlformats.org/officeDocument/2006/relationships/image" Target="../media/image230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png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4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235.png"/><Relationship Id="rId7" Type="http://schemas.openxmlformats.org/officeDocument/2006/relationships/image" Target="../media/image239.png"/><Relationship Id="rId2" Type="http://schemas.openxmlformats.org/officeDocument/2006/relationships/image" Target="../media/image2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36.png"/><Relationship Id="rId9" Type="http://schemas.openxmlformats.org/officeDocument/2006/relationships/image" Target="../media/image241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3" Type="http://schemas.openxmlformats.org/officeDocument/2006/relationships/image" Target="../media/image242.png"/><Relationship Id="rId7" Type="http://schemas.openxmlformats.org/officeDocument/2006/relationships/image" Target="../media/image246.png"/><Relationship Id="rId2" Type="http://schemas.openxmlformats.org/officeDocument/2006/relationships/image" Target="../media/image2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4" Type="http://schemas.openxmlformats.org/officeDocument/2006/relationships/image" Target="../media/image243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3" Type="http://schemas.openxmlformats.org/officeDocument/2006/relationships/image" Target="../media/image249.png"/><Relationship Id="rId7" Type="http://schemas.openxmlformats.org/officeDocument/2006/relationships/image" Target="../media/image252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5" Type="http://schemas.openxmlformats.org/officeDocument/2006/relationships/image" Target="../media/image243.png"/><Relationship Id="rId4" Type="http://schemas.openxmlformats.org/officeDocument/2006/relationships/image" Target="../media/image250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54.png"/><Relationship Id="rId7" Type="http://schemas.openxmlformats.org/officeDocument/2006/relationships/image" Target="../media/image258.png"/><Relationship Id="rId2" Type="http://schemas.openxmlformats.org/officeDocument/2006/relationships/image" Target="../media/image2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55.png"/><Relationship Id="rId9" Type="http://schemas.openxmlformats.org/officeDocument/2006/relationships/image" Target="../media/image26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7" Type="http://schemas.openxmlformats.org/officeDocument/2006/relationships/image" Target="../media/image265.png"/><Relationship Id="rId2" Type="http://schemas.openxmlformats.org/officeDocument/2006/relationships/image" Target="../media/image2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5" Type="http://schemas.openxmlformats.org/officeDocument/2006/relationships/image" Target="../media/image263.png"/><Relationship Id="rId4" Type="http://schemas.openxmlformats.org/officeDocument/2006/relationships/image" Target="../media/image26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png"/><Relationship Id="rId7" Type="http://schemas.openxmlformats.org/officeDocument/2006/relationships/image" Target="../media/image269.png"/><Relationship Id="rId2" Type="http://schemas.openxmlformats.org/officeDocument/2006/relationships/image" Target="../media/image25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png"/><Relationship Id="rId5" Type="http://schemas.openxmlformats.org/officeDocument/2006/relationships/image" Target="../media/image268.png"/><Relationship Id="rId4" Type="http://schemas.openxmlformats.org/officeDocument/2006/relationships/image" Target="../media/image267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png"/><Relationship Id="rId3" Type="http://schemas.openxmlformats.org/officeDocument/2006/relationships/image" Target="../media/image270.png"/><Relationship Id="rId7" Type="http://schemas.openxmlformats.org/officeDocument/2006/relationships/image" Target="../media/image273.png"/><Relationship Id="rId2" Type="http://schemas.openxmlformats.org/officeDocument/2006/relationships/image" Target="../media/image25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png"/><Relationship Id="rId5" Type="http://schemas.openxmlformats.org/officeDocument/2006/relationships/image" Target="../media/image272.png"/><Relationship Id="rId4" Type="http://schemas.openxmlformats.org/officeDocument/2006/relationships/image" Target="../media/image271.png"/><Relationship Id="rId9" Type="http://schemas.openxmlformats.org/officeDocument/2006/relationships/image" Target="../media/image275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6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7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8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0.png"/><Relationship Id="rId2" Type="http://schemas.openxmlformats.org/officeDocument/2006/relationships/image" Target="../media/image27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64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4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3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0.png"/><Relationship Id="rId2" Type="http://schemas.openxmlformats.org/officeDocument/2006/relationships/image" Target="../media/image27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6.png"/><Relationship Id="rId4" Type="http://schemas.openxmlformats.org/officeDocument/2006/relationships/image" Target="../media/image2750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7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3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image" Target="../media/image2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8.png"/><Relationship Id="rId5" Type="http://schemas.openxmlformats.org/officeDocument/2006/relationships/image" Target="../media/image287.png"/><Relationship Id="rId4" Type="http://schemas.openxmlformats.org/officeDocument/2006/relationships/image" Target="../media/image28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5" Type="http://schemas.openxmlformats.org/officeDocument/2006/relationships/image" Target="../media/image291.png"/><Relationship Id="rId4" Type="http://schemas.openxmlformats.org/officeDocument/2006/relationships/image" Target="../media/image290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95.png"/><Relationship Id="rId7" Type="http://schemas.openxmlformats.org/officeDocument/2006/relationships/image" Target="../media/image299.png"/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8.png"/><Relationship Id="rId11" Type="http://schemas.openxmlformats.org/officeDocument/2006/relationships/image" Target="../media/image293.png"/><Relationship Id="rId5" Type="http://schemas.openxmlformats.org/officeDocument/2006/relationships/image" Target="../media/image297.png"/><Relationship Id="rId10" Type="http://schemas.openxmlformats.org/officeDocument/2006/relationships/image" Target="../media/image286.png"/><Relationship Id="rId9" Type="http://schemas.openxmlformats.org/officeDocument/2006/relationships/image" Target="../media/image301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6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3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305.png"/><Relationship Id="rId7" Type="http://schemas.openxmlformats.org/officeDocument/2006/relationships/image" Target="../media/image309.png"/><Relationship Id="rId2" Type="http://schemas.openxmlformats.org/officeDocument/2006/relationships/image" Target="../media/image30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8.png"/><Relationship Id="rId5" Type="http://schemas.openxmlformats.org/officeDocument/2006/relationships/image" Target="../media/image307.png"/><Relationship Id="rId4" Type="http://schemas.openxmlformats.org/officeDocument/2006/relationships/image" Target="../media/image306.png"/><Relationship Id="rId9" Type="http://schemas.openxmlformats.org/officeDocument/2006/relationships/image" Target="../media/image31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image" Target="../media/image3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3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25.png"/><Relationship Id="rId3" Type="http://schemas.openxmlformats.org/officeDocument/2006/relationships/image" Target="../media/image315.png"/><Relationship Id="rId7" Type="http://schemas.openxmlformats.org/officeDocument/2006/relationships/image" Target="../media/image319.png"/><Relationship Id="rId12" Type="http://schemas.openxmlformats.org/officeDocument/2006/relationships/image" Target="../media/image324.png"/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8.png"/><Relationship Id="rId11" Type="http://schemas.openxmlformats.org/officeDocument/2006/relationships/image" Target="../media/image323.png"/><Relationship Id="rId5" Type="http://schemas.openxmlformats.org/officeDocument/2006/relationships/image" Target="../media/image317.png"/><Relationship Id="rId10" Type="http://schemas.openxmlformats.org/officeDocument/2006/relationships/image" Target="../media/image322.png"/><Relationship Id="rId4" Type="http://schemas.openxmlformats.org/officeDocument/2006/relationships/image" Target="../media/image316.png"/><Relationship Id="rId9" Type="http://schemas.openxmlformats.org/officeDocument/2006/relationships/image" Target="../media/image32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7" Type="http://schemas.openxmlformats.org/officeDocument/2006/relationships/image" Target="../media/image331.png"/><Relationship Id="rId2" Type="http://schemas.openxmlformats.org/officeDocument/2006/relationships/image" Target="../media/image3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329.png"/><Relationship Id="rId4" Type="http://schemas.openxmlformats.org/officeDocument/2006/relationships/image" Target="../media/image328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png"/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7" Type="http://schemas.openxmlformats.org/officeDocument/2006/relationships/image" Target="../media/image338.png"/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7.png"/><Relationship Id="rId5" Type="http://schemas.openxmlformats.org/officeDocument/2006/relationships/image" Target="../media/image336.png"/><Relationship Id="rId4" Type="http://schemas.openxmlformats.org/officeDocument/2006/relationships/image" Target="../media/image335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3" Type="http://schemas.openxmlformats.org/officeDocument/2006/relationships/image" Target="../media/image340.png"/><Relationship Id="rId7" Type="http://schemas.openxmlformats.org/officeDocument/2006/relationships/image" Target="../media/image344.png"/><Relationship Id="rId2" Type="http://schemas.openxmlformats.org/officeDocument/2006/relationships/image" Target="../media/image3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3.png"/><Relationship Id="rId5" Type="http://schemas.openxmlformats.org/officeDocument/2006/relationships/image" Target="../media/image342.png"/><Relationship Id="rId4" Type="http://schemas.openxmlformats.org/officeDocument/2006/relationships/image" Target="../media/image341.png"/><Relationship Id="rId9" Type="http://schemas.openxmlformats.org/officeDocument/2006/relationships/image" Target="../media/image345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7.pn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pn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1.png"/><Relationship Id="rId4" Type="http://schemas.openxmlformats.org/officeDocument/2006/relationships/image" Target="../media/image350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png"/><Relationship Id="rId3" Type="http://schemas.openxmlformats.org/officeDocument/2006/relationships/image" Target="../media/image352.png"/><Relationship Id="rId7" Type="http://schemas.openxmlformats.org/officeDocument/2006/relationships/image" Target="../media/image357.png"/><Relationship Id="rId2" Type="http://schemas.openxmlformats.org/officeDocument/2006/relationships/image" Target="../media/image3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6.png"/><Relationship Id="rId11" Type="http://schemas.openxmlformats.org/officeDocument/2006/relationships/image" Target="../media/image361.png"/><Relationship Id="rId5" Type="http://schemas.openxmlformats.org/officeDocument/2006/relationships/image" Target="../media/image355.png"/><Relationship Id="rId10" Type="http://schemas.openxmlformats.org/officeDocument/2006/relationships/image" Target="../media/image360.png"/><Relationship Id="rId4" Type="http://schemas.openxmlformats.org/officeDocument/2006/relationships/image" Target="../media/image354.png"/><Relationship Id="rId9" Type="http://schemas.openxmlformats.org/officeDocument/2006/relationships/image" Target="../media/image359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0.png"/><Relationship Id="rId3" Type="http://schemas.openxmlformats.org/officeDocument/2006/relationships/image" Target="../media/image363.png"/><Relationship Id="rId7" Type="http://schemas.openxmlformats.org/officeDocument/2006/relationships/image" Target="../media/image367.png"/><Relationship Id="rId2" Type="http://schemas.openxmlformats.org/officeDocument/2006/relationships/image" Target="../media/image3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6.png"/><Relationship Id="rId5" Type="http://schemas.openxmlformats.org/officeDocument/2006/relationships/image" Target="../media/image365.png"/><Relationship Id="rId4" Type="http://schemas.openxmlformats.org/officeDocument/2006/relationships/image" Target="../media/image364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8.png"/><Relationship Id="rId2" Type="http://schemas.openxmlformats.org/officeDocument/2006/relationships/image" Target="../media/image3661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9.png"/><Relationship Id="rId2" Type="http://schemas.openxmlformats.org/officeDocument/2006/relationships/image" Target="../media/image3661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71.png"/><Relationship Id="rId3" Type="http://schemas.openxmlformats.org/officeDocument/2006/relationships/image" Target="../media/image370.png"/><Relationship Id="rId7" Type="http://schemas.openxmlformats.org/officeDocument/2006/relationships/image" Target="../media/image373.png"/><Relationship Id="rId2" Type="http://schemas.openxmlformats.org/officeDocument/2006/relationships/image" Target="../media/image366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2.png"/><Relationship Id="rId5" Type="http://schemas.openxmlformats.org/officeDocument/2006/relationships/image" Target="../media/image371.png"/><Relationship Id="rId4" Type="http://schemas.openxmlformats.org/officeDocument/2006/relationships/image" Target="../media/image3700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png"/><Relationship Id="rId3" Type="http://schemas.openxmlformats.org/officeDocument/2006/relationships/image" Target="../media/image376.png"/><Relationship Id="rId7" Type="http://schemas.openxmlformats.org/officeDocument/2006/relationships/image" Target="../media/image380.png"/><Relationship Id="rId2" Type="http://schemas.openxmlformats.org/officeDocument/2006/relationships/image" Target="../media/image3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9.png"/><Relationship Id="rId5" Type="http://schemas.openxmlformats.org/officeDocument/2006/relationships/image" Target="../media/image378.png"/><Relationship Id="rId10" Type="http://schemas.openxmlformats.org/officeDocument/2006/relationships/image" Target="../media/image375.png"/><Relationship Id="rId4" Type="http://schemas.openxmlformats.org/officeDocument/2006/relationships/image" Target="../media/image377.png"/><Relationship Id="rId9" Type="http://schemas.openxmlformats.org/officeDocument/2006/relationships/image" Target="../media/image382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4.png"/><Relationship Id="rId7" Type="http://schemas.openxmlformats.org/officeDocument/2006/relationships/image" Target="../media/image375.png"/><Relationship Id="rId2" Type="http://schemas.openxmlformats.org/officeDocument/2006/relationships/image" Target="../media/image3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6.png"/><Relationship Id="rId5" Type="http://schemas.openxmlformats.org/officeDocument/2006/relationships/image" Target="../media/image385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png"/><Relationship Id="rId3" Type="http://schemas.openxmlformats.org/officeDocument/2006/relationships/image" Target="../media/image383.png"/><Relationship Id="rId7" Type="http://schemas.openxmlformats.org/officeDocument/2006/relationships/image" Target="../media/image3830.png"/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389.png"/><Relationship Id="rId4" Type="http://schemas.openxmlformats.org/officeDocument/2006/relationships/image" Target="../media/image388.png"/><Relationship Id="rId9" Type="http://schemas.openxmlformats.org/officeDocument/2006/relationships/image" Target="../media/image392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png"/><Relationship Id="rId3" Type="http://schemas.openxmlformats.org/officeDocument/2006/relationships/image" Target="../media/image393.png"/><Relationship Id="rId7" Type="http://schemas.openxmlformats.org/officeDocument/2006/relationships/image" Target="../media/image398.png"/><Relationship Id="rId2" Type="http://schemas.openxmlformats.org/officeDocument/2006/relationships/image" Target="../media/image3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7.png"/><Relationship Id="rId5" Type="http://schemas.openxmlformats.org/officeDocument/2006/relationships/image" Target="../media/image396.png"/><Relationship Id="rId4" Type="http://schemas.openxmlformats.org/officeDocument/2006/relationships/image" Target="../media/image395.png"/><Relationship Id="rId9" Type="http://schemas.openxmlformats.org/officeDocument/2006/relationships/image" Target="../media/image40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4.png"/><Relationship Id="rId2" Type="http://schemas.openxmlformats.org/officeDocument/2006/relationships/image" Target="../media/image4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00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8.png"/><Relationship Id="rId3" Type="http://schemas.openxmlformats.org/officeDocument/2006/relationships/image" Target="../media/image401.png"/><Relationship Id="rId7" Type="http://schemas.openxmlformats.org/officeDocument/2006/relationships/image" Target="../media/image407.png"/><Relationship Id="rId2" Type="http://schemas.openxmlformats.org/officeDocument/2006/relationships/image" Target="../media/image4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6.png"/><Relationship Id="rId5" Type="http://schemas.openxmlformats.org/officeDocument/2006/relationships/image" Target="../media/image405.png"/><Relationship Id="rId10" Type="http://schemas.openxmlformats.org/officeDocument/2006/relationships/image" Target="../media/image4050.png"/><Relationship Id="rId4" Type="http://schemas.openxmlformats.org/officeDocument/2006/relationships/image" Target="../media/image402.png"/><Relationship Id="rId9" Type="http://schemas.openxmlformats.org/officeDocument/2006/relationships/image" Target="../media/image409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0.png"/><Relationship Id="rId2" Type="http://schemas.openxmlformats.org/officeDocument/2006/relationships/image" Target="../media/image412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20.png"/><Relationship Id="rId2" Type="http://schemas.openxmlformats.org/officeDocument/2006/relationships/image" Target="../media/image4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6.png"/><Relationship Id="rId5" Type="http://schemas.openxmlformats.org/officeDocument/2006/relationships/image" Target="../media/image415.png"/><Relationship Id="rId4" Type="http://schemas.openxmlformats.org/officeDocument/2006/relationships/image" Target="../media/image414.png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7.png"/><Relationship Id="rId3" Type="http://schemas.openxmlformats.org/officeDocument/2006/relationships/image" Target="../media/image417.png"/><Relationship Id="rId7" Type="http://schemas.openxmlformats.org/officeDocument/2006/relationships/image" Target="../media/image426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5" Type="http://schemas.openxmlformats.org/officeDocument/2006/relationships/image" Target="../media/image419.png"/><Relationship Id="rId10" Type="http://schemas.openxmlformats.org/officeDocument/2006/relationships/image" Target="../media/image429.png"/><Relationship Id="rId4" Type="http://schemas.openxmlformats.org/officeDocument/2006/relationships/image" Target="../media/image418.png"/><Relationship Id="rId9" Type="http://schemas.openxmlformats.org/officeDocument/2006/relationships/image" Target="../media/image422.pn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50.png"/><Relationship Id="rId3" Type="http://schemas.openxmlformats.org/officeDocument/2006/relationships/image" Target="../media/image431.png"/><Relationship Id="rId7" Type="http://schemas.openxmlformats.org/officeDocument/2006/relationships/image" Target="../media/image435.png"/><Relationship Id="rId2" Type="http://schemas.openxmlformats.org/officeDocument/2006/relationships/image" Target="../media/image4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4.png"/><Relationship Id="rId5" Type="http://schemas.openxmlformats.org/officeDocument/2006/relationships/image" Target="../media/image433.png"/><Relationship Id="rId4" Type="http://schemas.openxmlformats.org/officeDocument/2006/relationships/image" Target="../media/image4100.png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4.png"/><Relationship Id="rId2" Type="http://schemas.openxmlformats.org/officeDocument/2006/relationships/image" Target="../media/image413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22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5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m/q5H4sxcE" TargetMode="External"/><Relationship Id="rId2" Type="http://schemas.openxmlformats.org/officeDocument/2006/relationships/image" Target="../media/image428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21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7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page.divms.uiowa.edu/~mbognar/applets/pois.html" TargetMode="External"/><Relationship Id="rId2" Type="http://schemas.openxmlformats.org/officeDocument/2006/relationships/image" Target="../media/image438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m/rGXMGrV4" TargetMode="External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data/quincunx.html" TargetMode="External"/><Relationship Id="rId2" Type="http://schemas.openxmlformats.org/officeDocument/2006/relationships/image" Target="../media/image425.gif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81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7" Type="http://schemas.openxmlformats.org/officeDocument/2006/relationships/image" Target="../media/image2500.png"/><Relationship Id="rId2" Type="http://schemas.openxmlformats.org/officeDocument/2006/relationships/image" Target="../media/image4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2.png"/><Relationship Id="rId5" Type="http://schemas.openxmlformats.org/officeDocument/2006/relationships/image" Target="../media/image441.png"/><Relationship Id="rId4" Type="http://schemas.openxmlformats.org/officeDocument/2006/relationships/image" Target="../media/image2471.png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3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4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5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6.png"/><Relationship Id="rId2" Type="http://schemas.openxmlformats.org/officeDocument/2006/relationships/image" Target="../media/image4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7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desmos.com/calculator/0x3rpqtgrx" TargetMode="External"/><Relationship Id="rId4" Type="http://schemas.openxmlformats.org/officeDocument/2006/relationships/image" Target="../media/image450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image" Target="../media/image448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20.png"/><Relationship Id="rId2" Type="http://schemas.openxmlformats.org/officeDocument/2006/relationships/image" Target="../media/image4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4.png"/><Relationship Id="rId5" Type="http://schemas.openxmlformats.org/officeDocument/2006/relationships/image" Target="../media/image453.png"/><Relationship Id="rId4" Type="http://schemas.openxmlformats.org/officeDocument/2006/relationships/image" Target="../media/image452.png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2.png"/><Relationship Id="rId3" Type="http://schemas.openxmlformats.org/officeDocument/2006/relationships/image" Target="../media/image460.png"/><Relationship Id="rId7" Type="http://schemas.openxmlformats.org/officeDocument/2006/relationships/image" Target="../media/image464.png"/><Relationship Id="rId2" Type="http://schemas.openxmlformats.org/officeDocument/2006/relationships/image" Target="../media/image4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3.png"/><Relationship Id="rId5" Type="http://schemas.openxmlformats.org/officeDocument/2006/relationships/image" Target="../media/image462.png"/><Relationship Id="rId4" Type="http://schemas.openxmlformats.org/officeDocument/2006/relationships/image" Target="../media/image46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6.png"/><Relationship Id="rId2" Type="http://schemas.openxmlformats.org/officeDocument/2006/relationships/image" Target="../media/image4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6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6.png"/><Relationship Id="rId4" Type="http://schemas.openxmlformats.org/officeDocument/2006/relationships/image" Target="../media/image456.png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9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4.png"/><Relationship Id="rId3" Type="http://schemas.openxmlformats.org/officeDocument/2006/relationships/image" Target="../media/image455.PNG"/><Relationship Id="rId7" Type="http://schemas.openxmlformats.org/officeDocument/2006/relationships/image" Target="../media/image473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2.png"/><Relationship Id="rId5" Type="http://schemas.openxmlformats.org/officeDocument/2006/relationships/image" Target="../media/image471.png"/><Relationship Id="rId4" Type="http://schemas.openxmlformats.org/officeDocument/2006/relationships/image" Target="../media/image468.png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30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0.png"/><Relationship Id="rId7" Type="http://schemas.openxmlformats.org/officeDocument/2006/relationships/image" Target="../media/image457.png"/><Relationship Id="rId2" Type="http://schemas.openxmlformats.org/officeDocument/2006/relationships/image" Target="../media/image47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5.png"/><Relationship Id="rId5" Type="http://schemas.openxmlformats.org/officeDocument/2006/relationships/image" Target="../media/image1640.png"/><Relationship Id="rId4" Type="http://schemas.openxmlformats.org/officeDocument/2006/relationships/image" Target="../media/image1630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7.png"/><Relationship Id="rId2" Type="http://schemas.openxmlformats.org/officeDocument/2006/relationships/image" Target="../media/image476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8.png"/><Relationship Id="rId4" Type="http://schemas.openxmlformats.org/officeDocument/2006/relationships/image" Target="../media/image478.png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png"/><Relationship Id="rId3" Type="http://schemas.openxmlformats.org/officeDocument/2006/relationships/image" Target="../media/image481.png"/><Relationship Id="rId7" Type="http://schemas.openxmlformats.org/officeDocument/2006/relationships/image" Target="../media/image485.png"/><Relationship Id="rId2" Type="http://schemas.openxmlformats.org/officeDocument/2006/relationships/image" Target="../media/image4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4.png"/><Relationship Id="rId5" Type="http://schemas.openxmlformats.org/officeDocument/2006/relationships/image" Target="../media/image483.png"/><Relationship Id="rId10" Type="http://schemas.openxmlformats.org/officeDocument/2006/relationships/image" Target="../media/image488.png"/><Relationship Id="rId4" Type="http://schemas.openxmlformats.org/officeDocument/2006/relationships/image" Target="../media/image482.png"/><Relationship Id="rId9" Type="http://schemas.openxmlformats.org/officeDocument/2006/relationships/image" Target="../media/image487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10.png"/><Relationship Id="rId7" Type="http://schemas.openxmlformats.org/officeDocument/2006/relationships/image" Target="../media/image4850.png"/><Relationship Id="rId2" Type="http://schemas.openxmlformats.org/officeDocument/2006/relationships/image" Target="../media/image4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40.png"/><Relationship Id="rId5" Type="http://schemas.openxmlformats.org/officeDocument/2006/relationships/image" Target="../media/image4830.png"/><Relationship Id="rId4" Type="http://schemas.openxmlformats.org/officeDocument/2006/relationships/image" Target="../media/image4820.png"/></Relationships>
</file>

<file path=ppt/slides/_rels/slide1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png"/><Relationship Id="rId13" Type="http://schemas.openxmlformats.org/officeDocument/2006/relationships/image" Target="../media/image497.png"/><Relationship Id="rId3" Type="http://schemas.openxmlformats.org/officeDocument/2006/relationships/image" Target="../media/image4870.png"/><Relationship Id="rId7" Type="http://schemas.openxmlformats.org/officeDocument/2006/relationships/image" Target="../media/image491.png"/><Relationship Id="rId12" Type="http://schemas.openxmlformats.org/officeDocument/2006/relationships/image" Target="../media/image467.png"/><Relationship Id="rId2" Type="http://schemas.openxmlformats.org/officeDocument/2006/relationships/image" Target="../media/image48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0.png"/><Relationship Id="rId11" Type="http://schemas.openxmlformats.org/officeDocument/2006/relationships/image" Target="../media/image495.png"/><Relationship Id="rId5" Type="http://schemas.openxmlformats.org/officeDocument/2006/relationships/image" Target="../media/image489.png"/><Relationship Id="rId10" Type="http://schemas.openxmlformats.org/officeDocument/2006/relationships/image" Target="../media/image494.png"/><Relationship Id="rId4" Type="http://schemas.openxmlformats.org/officeDocument/2006/relationships/image" Target="../media/image4880.png"/><Relationship Id="rId9" Type="http://schemas.openxmlformats.org/officeDocument/2006/relationships/image" Target="../media/image493.png"/></Relationships>
</file>

<file path=ppt/slides/_rels/slide1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png"/><Relationship Id="rId3" Type="http://schemas.openxmlformats.org/officeDocument/2006/relationships/image" Target="../media/image499.png"/><Relationship Id="rId7" Type="http://schemas.openxmlformats.org/officeDocument/2006/relationships/image" Target="../media/image485.png"/><Relationship Id="rId2" Type="http://schemas.openxmlformats.org/officeDocument/2006/relationships/image" Target="../media/image4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4.png"/><Relationship Id="rId5" Type="http://schemas.openxmlformats.org/officeDocument/2006/relationships/image" Target="../media/image483.png"/><Relationship Id="rId10" Type="http://schemas.openxmlformats.org/officeDocument/2006/relationships/image" Target="../media/image501.png"/><Relationship Id="rId4" Type="http://schemas.openxmlformats.org/officeDocument/2006/relationships/image" Target="../media/image482.png"/><Relationship Id="rId9" Type="http://schemas.openxmlformats.org/officeDocument/2006/relationships/image" Target="../media/image487.png"/></Relationships>
</file>

<file path=ppt/slides/_rels/slide1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5.png"/><Relationship Id="rId3" Type="http://schemas.openxmlformats.org/officeDocument/2006/relationships/image" Target="../media/image4990.png"/><Relationship Id="rId7" Type="http://schemas.openxmlformats.org/officeDocument/2006/relationships/image" Target="../media/image504.png"/><Relationship Id="rId2" Type="http://schemas.openxmlformats.org/officeDocument/2006/relationships/image" Target="../media/image49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3.png"/><Relationship Id="rId5" Type="http://schemas.openxmlformats.org/officeDocument/2006/relationships/image" Target="../media/image502.png"/><Relationship Id="rId4" Type="http://schemas.openxmlformats.org/officeDocument/2006/relationships/image" Target="../media/image5010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7.png"/><Relationship Id="rId2" Type="http://schemas.openxmlformats.org/officeDocument/2006/relationships/image" Target="../media/image5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5" Type="http://schemas.openxmlformats.org/officeDocument/2006/relationships/image" Target="../media/image479.png"/><Relationship Id="rId4" Type="http://schemas.openxmlformats.org/officeDocument/2006/relationships/image" Target="../media/image508.png"/></Relationships>
</file>

<file path=ppt/slides/_rels/slide1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4.png"/><Relationship Id="rId3" Type="http://schemas.openxmlformats.org/officeDocument/2006/relationships/image" Target="../media/image500.png"/><Relationship Id="rId7" Type="http://schemas.openxmlformats.org/officeDocument/2006/relationships/image" Target="../media/image513.png"/><Relationship Id="rId12" Type="http://schemas.openxmlformats.org/officeDocument/2006/relationships/image" Target="../media/image518.png"/><Relationship Id="rId2" Type="http://schemas.openxmlformats.org/officeDocument/2006/relationships/image" Target="../media/image4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2.png"/><Relationship Id="rId11" Type="http://schemas.openxmlformats.org/officeDocument/2006/relationships/image" Target="../media/image517.png"/><Relationship Id="rId5" Type="http://schemas.openxmlformats.org/officeDocument/2006/relationships/image" Target="../media/image511.png"/><Relationship Id="rId10" Type="http://schemas.openxmlformats.org/officeDocument/2006/relationships/image" Target="../media/image516.png"/><Relationship Id="rId4" Type="http://schemas.openxmlformats.org/officeDocument/2006/relationships/image" Target="../media/image509.png"/><Relationship Id="rId9" Type="http://schemas.openxmlformats.org/officeDocument/2006/relationships/image" Target="../media/image515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40.png"/><Relationship Id="rId2" Type="http://schemas.openxmlformats.org/officeDocument/2006/relationships/image" Target="../media/image5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71.png"/><Relationship Id="rId5" Type="http://schemas.openxmlformats.org/officeDocument/2006/relationships/image" Target="../media/image5161.png"/><Relationship Id="rId4" Type="http://schemas.openxmlformats.org/officeDocument/2006/relationships/image" Target="../media/image5150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70.png"/><Relationship Id="rId2" Type="http://schemas.openxmlformats.org/officeDocument/2006/relationships/image" Target="../media/image51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0.png"/><Relationship Id="rId5" Type="http://schemas.openxmlformats.org/officeDocument/2006/relationships/image" Target="../media/image519.png"/><Relationship Id="rId4" Type="http://schemas.openxmlformats.org/officeDocument/2006/relationships/image" Target="../media/image5180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2.png"/><Relationship Id="rId2" Type="http://schemas.openxmlformats.org/officeDocument/2006/relationships/image" Target="../media/image5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5.png"/><Relationship Id="rId5" Type="http://schemas.openxmlformats.org/officeDocument/2006/relationships/image" Target="../media/image523.png"/><Relationship Id="rId4" Type="http://schemas.openxmlformats.org/officeDocument/2006/relationships/image" Target="../media/image524.png"/></Relationships>
</file>

<file path=ppt/slides/_rels/slide1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image" Target="../media/image528.png"/><Relationship Id="rId7" Type="http://schemas.openxmlformats.org/officeDocument/2006/relationships/image" Target="../media/image529.png"/><Relationship Id="rId2" Type="http://schemas.openxmlformats.org/officeDocument/2006/relationships/image" Target="../media/image5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6.png"/><Relationship Id="rId5" Type="http://schemas.openxmlformats.org/officeDocument/2006/relationships/image" Target="../media/image531.png"/><Relationship Id="rId10" Type="http://schemas.openxmlformats.org/officeDocument/2006/relationships/image" Target="../media/image533.png"/><Relationship Id="rId9" Type="http://schemas.openxmlformats.org/officeDocument/2006/relationships/image" Target="../media/image532.png"/></Relationships>
</file>

<file path=ppt/slides/_rels/slide18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7.png"/><Relationship Id="rId8" Type="http://schemas.openxmlformats.org/officeDocument/2006/relationships/image" Target="../media/image542.png"/><Relationship Id="rId3" Type="http://schemas.openxmlformats.org/officeDocument/2006/relationships/image" Target="../media/image5330.png"/><Relationship Id="rId7" Type="http://schemas.openxmlformats.org/officeDocument/2006/relationships/image" Target="../media/image520.png"/><Relationship Id="rId12" Type="http://schemas.openxmlformats.org/officeDocument/2006/relationships/image" Target="../media/image546.png"/><Relationship Id="rId2" Type="http://schemas.openxmlformats.org/officeDocument/2006/relationships/image" Target="../media/image536.png"/><Relationship Id="rId16" Type="http://schemas.openxmlformats.org/officeDocument/2006/relationships/image" Target="../media/image5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5.png"/><Relationship Id="rId11" Type="http://schemas.openxmlformats.org/officeDocument/2006/relationships/image" Target="../media/image545.png"/><Relationship Id="rId5" Type="http://schemas.openxmlformats.org/officeDocument/2006/relationships/image" Target="../media/image539.png"/><Relationship Id="rId15" Type="http://schemas.openxmlformats.org/officeDocument/2006/relationships/image" Target="../media/image538.png"/><Relationship Id="rId10" Type="http://schemas.openxmlformats.org/officeDocument/2006/relationships/image" Target="../media/image544.png"/><Relationship Id="rId4" Type="http://schemas.openxmlformats.org/officeDocument/2006/relationships/image" Target="../media/image534.png"/><Relationship Id="rId14" Type="http://schemas.openxmlformats.org/officeDocument/2006/relationships/image" Target="../media/image548.png"/><Relationship Id="rId9" Type="http://schemas.openxmlformats.org/officeDocument/2006/relationships/image" Target="../media/image543.png"/></Relationships>
</file>

<file path=ppt/slides/_rels/slide1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4.png"/><Relationship Id="rId3" Type="http://schemas.openxmlformats.org/officeDocument/2006/relationships/image" Target="../media/image540.png"/><Relationship Id="rId7" Type="http://schemas.openxmlformats.org/officeDocument/2006/relationships/image" Target="../media/image553.png"/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2.png"/><Relationship Id="rId5" Type="http://schemas.openxmlformats.org/officeDocument/2006/relationships/image" Target="../media/image551.png"/><Relationship Id="rId4" Type="http://schemas.openxmlformats.org/officeDocument/2006/relationships/image" Target="../media/image549.png"/><Relationship Id="rId9" Type="http://schemas.openxmlformats.org/officeDocument/2006/relationships/image" Target="../media/image555.png"/></Relationships>
</file>

<file path=ppt/slides/_rels/slide1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7.png"/><Relationship Id="rId13" Type="http://schemas.openxmlformats.org/officeDocument/2006/relationships/image" Target="../media/image565.png"/><Relationship Id="rId3" Type="http://schemas.openxmlformats.org/officeDocument/2006/relationships/image" Target="../media/image557.png"/><Relationship Id="rId7" Type="http://schemas.openxmlformats.org/officeDocument/2006/relationships/image" Target="../media/image561.png"/><Relationship Id="rId12" Type="http://schemas.openxmlformats.org/officeDocument/2006/relationships/image" Target="../media/image564.png"/><Relationship Id="rId2" Type="http://schemas.openxmlformats.org/officeDocument/2006/relationships/image" Target="../media/image55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0.png"/><Relationship Id="rId11" Type="http://schemas.openxmlformats.org/officeDocument/2006/relationships/image" Target="../media/image563.png"/><Relationship Id="rId5" Type="http://schemas.openxmlformats.org/officeDocument/2006/relationships/image" Target="../media/image559.png"/><Relationship Id="rId10" Type="http://schemas.openxmlformats.org/officeDocument/2006/relationships/image" Target="../media/image5620.png"/><Relationship Id="rId4" Type="http://schemas.openxmlformats.org/officeDocument/2006/relationships/image" Target="../media/image558.png"/><Relationship Id="rId9" Type="http://schemas.openxmlformats.org/officeDocument/2006/relationships/image" Target="../media/image5610.png"/><Relationship Id="rId14" Type="http://schemas.openxmlformats.org/officeDocument/2006/relationships/image" Target="../media/image566.png"/></Relationships>
</file>

<file path=ppt/slides/_rels/slide1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2.png"/><Relationship Id="rId3" Type="http://schemas.openxmlformats.org/officeDocument/2006/relationships/image" Target="../media/image568.png"/><Relationship Id="rId7" Type="http://schemas.openxmlformats.org/officeDocument/2006/relationships/image" Target="../media/image5710.png"/><Relationship Id="rId2" Type="http://schemas.openxmlformats.org/officeDocument/2006/relationships/image" Target="../media/image5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1.png"/><Relationship Id="rId5" Type="http://schemas.openxmlformats.org/officeDocument/2006/relationships/image" Target="../media/image570.png"/><Relationship Id="rId10" Type="http://schemas.openxmlformats.org/officeDocument/2006/relationships/image" Target="../media/image574.png"/><Relationship Id="rId4" Type="http://schemas.openxmlformats.org/officeDocument/2006/relationships/image" Target="../media/image569.png"/><Relationship Id="rId9" Type="http://schemas.openxmlformats.org/officeDocument/2006/relationships/image" Target="../media/image573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6.png"/><Relationship Id="rId2" Type="http://schemas.openxmlformats.org/officeDocument/2006/relationships/image" Target="../media/image5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9.png"/><Relationship Id="rId5" Type="http://schemas.openxmlformats.org/officeDocument/2006/relationships/image" Target="../media/image578.png"/><Relationship Id="rId4" Type="http://schemas.openxmlformats.org/officeDocument/2006/relationships/image" Target="../media/image577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1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3.png"/><Relationship Id="rId5" Type="http://schemas.openxmlformats.org/officeDocument/2006/relationships/image" Target="../media/image589.png"/><Relationship Id="rId4" Type="http://schemas.openxmlformats.org/officeDocument/2006/relationships/image" Target="../media/image582.png"/></Relationships>
</file>

<file path=ppt/slides/_rels/slide19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1.png"/><Relationship Id="rId3" Type="http://schemas.openxmlformats.org/officeDocument/2006/relationships/image" Target="../media/image585.png"/><Relationship Id="rId7" Type="http://schemas.openxmlformats.org/officeDocument/2006/relationships/image" Target="../media/image586.png"/><Relationship Id="rId12" Type="http://schemas.openxmlformats.org/officeDocument/2006/relationships/image" Target="../media/image590.png"/><Relationship Id="rId2" Type="http://schemas.openxmlformats.org/officeDocument/2006/relationships/image" Target="../media/image5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7.png"/><Relationship Id="rId11" Type="http://schemas.openxmlformats.org/officeDocument/2006/relationships/image" Target="../media/image588.png"/><Relationship Id="rId10" Type="http://schemas.openxmlformats.org/officeDocument/2006/relationships/image" Target="../media/image587.png"/><Relationship Id="rId9" Type="http://schemas.openxmlformats.org/officeDocument/2006/relationships/image" Target="../media/image601.png"/></Relationships>
</file>

<file path=ppt/slides/_rels/slide1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4.png"/><Relationship Id="rId3" Type="http://schemas.openxmlformats.org/officeDocument/2006/relationships/image" Target="../media/image520.png"/><Relationship Id="rId7" Type="http://schemas.openxmlformats.org/officeDocument/2006/relationships/image" Target="../media/image5830.png"/><Relationship Id="rId2" Type="http://schemas.openxmlformats.org/officeDocument/2006/relationships/image" Target="../media/image58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3.png"/><Relationship Id="rId4" Type="http://schemas.openxmlformats.org/officeDocument/2006/relationships/image" Target="../media/image592.png"/><Relationship Id="rId9" Type="http://schemas.openxmlformats.org/officeDocument/2006/relationships/image" Target="../media/image595.png"/></Relationships>
</file>

<file path=ppt/slides/_rels/slide1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9.png"/><Relationship Id="rId3" Type="http://schemas.openxmlformats.org/officeDocument/2006/relationships/image" Target="../media/image596.png"/><Relationship Id="rId7" Type="http://schemas.openxmlformats.org/officeDocument/2006/relationships/image" Target="../media/image598.png"/><Relationship Id="rId2" Type="http://schemas.openxmlformats.org/officeDocument/2006/relationships/image" Target="../media/image59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4.png"/><Relationship Id="rId5" Type="http://schemas.openxmlformats.org/officeDocument/2006/relationships/image" Target="../media/image5950.png"/><Relationship Id="rId4" Type="http://schemas.openxmlformats.org/officeDocument/2006/relationships/image" Target="../media/image5940.png"/><Relationship Id="rId9" Type="http://schemas.openxmlformats.org/officeDocument/2006/relationships/image" Target="../media/image602.png"/></Relationships>
</file>

<file path=ppt/slides/_rels/slide1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4.png"/><Relationship Id="rId13" Type="http://schemas.openxmlformats.org/officeDocument/2006/relationships/image" Target="../media/image619.png"/><Relationship Id="rId3" Type="http://schemas.openxmlformats.org/officeDocument/2006/relationships/image" Target="../media/image605.png"/><Relationship Id="rId7" Type="http://schemas.openxmlformats.org/officeDocument/2006/relationships/image" Target="../media/image432.png"/><Relationship Id="rId12" Type="http://schemas.openxmlformats.org/officeDocument/2006/relationships/image" Target="../media/image618.png"/><Relationship Id="rId2" Type="http://schemas.openxmlformats.org/officeDocument/2006/relationships/image" Target="../media/image603.png"/><Relationship Id="rId16" Type="http://schemas.openxmlformats.org/officeDocument/2006/relationships/image" Target="../media/image6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8.png"/><Relationship Id="rId11" Type="http://schemas.openxmlformats.org/officeDocument/2006/relationships/image" Target="../media/image617.png"/><Relationship Id="rId5" Type="http://schemas.openxmlformats.org/officeDocument/2006/relationships/image" Target="../media/image607.png"/><Relationship Id="rId15" Type="http://schemas.openxmlformats.org/officeDocument/2006/relationships/image" Target="../media/image622.png"/><Relationship Id="rId10" Type="http://schemas.openxmlformats.org/officeDocument/2006/relationships/image" Target="../media/image616.png"/><Relationship Id="rId4" Type="http://schemas.openxmlformats.org/officeDocument/2006/relationships/image" Target="../media/image606.png"/><Relationship Id="rId9" Type="http://schemas.openxmlformats.org/officeDocument/2006/relationships/image" Target="../media/image615.png"/><Relationship Id="rId14" Type="http://schemas.openxmlformats.org/officeDocument/2006/relationships/image" Target="../media/image62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9.png"/><Relationship Id="rId2" Type="http://schemas.openxmlformats.org/officeDocument/2006/relationships/image" Target="../media/image6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1.png"/><Relationship Id="rId4" Type="http://schemas.openxmlformats.org/officeDocument/2006/relationships/image" Target="../media/image610.png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6.png"/><Relationship Id="rId3" Type="http://schemas.openxmlformats.org/officeDocument/2006/relationships/image" Target="../media/image613.png"/><Relationship Id="rId7" Type="http://schemas.openxmlformats.org/officeDocument/2006/relationships/image" Target="../media/image625.png"/><Relationship Id="rId2" Type="http://schemas.openxmlformats.org/officeDocument/2006/relationships/image" Target="../media/image6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3.png"/><Relationship Id="rId5" Type="http://schemas.openxmlformats.org/officeDocument/2006/relationships/image" Target="../media/image632.png"/><Relationship Id="rId4" Type="http://schemas.openxmlformats.org/officeDocument/2006/relationships/image" Target="../media/image631.png"/><Relationship Id="rId9" Type="http://schemas.openxmlformats.org/officeDocument/2006/relationships/image" Target="../media/image627.png"/></Relationships>
</file>

<file path=ppt/slides/_rels/slide1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7.png"/><Relationship Id="rId13" Type="http://schemas.openxmlformats.org/officeDocument/2006/relationships/image" Target="../media/image647.png"/><Relationship Id="rId3" Type="http://schemas.openxmlformats.org/officeDocument/2006/relationships/image" Target="../media/image629.png"/><Relationship Id="rId7" Type="http://schemas.openxmlformats.org/officeDocument/2006/relationships/image" Target="../media/image637.png"/><Relationship Id="rId12" Type="http://schemas.openxmlformats.org/officeDocument/2006/relationships/image" Target="../media/image646.png"/><Relationship Id="rId2" Type="http://schemas.openxmlformats.org/officeDocument/2006/relationships/image" Target="../media/image6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6.png"/><Relationship Id="rId11" Type="http://schemas.openxmlformats.org/officeDocument/2006/relationships/image" Target="../media/image645.png"/><Relationship Id="rId5" Type="http://schemas.openxmlformats.org/officeDocument/2006/relationships/image" Target="../media/image635.png"/><Relationship Id="rId15" Type="http://schemas.openxmlformats.org/officeDocument/2006/relationships/image" Target="../media/image649.png"/><Relationship Id="rId10" Type="http://schemas.openxmlformats.org/officeDocument/2006/relationships/image" Target="../media/image644.png"/><Relationship Id="rId4" Type="http://schemas.openxmlformats.org/officeDocument/2006/relationships/image" Target="../media/image634.png"/><Relationship Id="rId9" Type="http://schemas.openxmlformats.org/officeDocument/2006/relationships/image" Target="../media/image643.png"/><Relationship Id="rId14" Type="http://schemas.openxmlformats.org/officeDocument/2006/relationships/image" Target="../media/image648.png"/></Relationships>
</file>

<file path=ppt/slides/_rels/slide1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3" Type="http://schemas.openxmlformats.org/officeDocument/2006/relationships/image" Target="../media/image651.png"/><Relationship Id="rId7" Type="http://schemas.openxmlformats.org/officeDocument/2006/relationships/image" Target="../media/image639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8.png"/><Relationship Id="rId11" Type="http://schemas.openxmlformats.org/officeDocument/2006/relationships/image" Target="../media/image654.png"/><Relationship Id="rId5" Type="http://schemas.openxmlformats.org/officeDocument/2006/relationships/image" Target="../media/image653.png"/><Relationship Id="rId10" Type="http://schemas.openxmlformats.org/officeDocument/2006/relationships/image" Target="../media/image642.png"/><Relationship Id="rId4" Type="http://schemas.openxmlformats.org/officeDocument/2006/relationships/image" Target="../media/image652.png"/><Relationship Id="rId9" Type="http://schemas.openxmlformats.org/officeDocument/2006/relationships/image" Target="../media/image641.png"/></Relationships>
</file>

<file path=ppt/slides/_rels/slide1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5.png"/><Relationship Id="rId13" Type="http://schemas.openxmlformats.org/officeDocument/2006/relationships/image" Target="../media/image670.png"/><Relationship Id="rId3" Type="http://schemas.openxmlformats.org/officeDocument/2006/relationships/image" Target="../media/image660.png"/><Relationship Id="rId7" Type="http://schemas.openxmlformats.org/officeDocument/2006/relationships/image" Target="../media/image664.png"/><Relationship Id="rId12" Type="http://schemas.openxmlformats.org/officeDocument/2006/relationships/image" Target="../media/image669.png"/><Relationship Id="rId2" Type="http://schemas.openxmlformats.org/officeDocument/2006/relationships/image" Target="../media/image6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8.emf"/><Relationship Id="rId11" Type="http://schemas.openxmlformats.org/officeDocument/2006/relationships/image" Target="../media/image668.png"/><Relationship Id="rId5" Type="http://schemas.openxmlformats.org/officeDocument/2006/relationships/image" Target="../media/image6540.png"/><Relationship Id="rId15" Type="http://schemas.openxmlformats.org/officeDocument/2006/relationships/image" Target="../media/image657.png"/><Relationship Id="rId10" Type="http://schemas.openxmlformats.org/officeDocument/2006/relationships/image" Target="../media/image667.png"/><Relationship Id="rId4" Type="http://schemas.openxmlformats.org/officeDocument/2006/relationships/image" Target="../media/image661.png"/><Relationship Id="rId9" Type="http://schemas.openxmlformats.org/officeDocument/2006/relationships/image" Target="../media/image666.png"/><Relationship Id="rId14" Type="http://schemas.openxmlformats.org/officeDocument/2006/relationships/image" Target="../media/image656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8.png"/><Relationship Id="rId7" Type="http://schemas.openxmlformats.org/officeDocument/2006/relationships/image" Target="../media/image672.png"/><Relationship Id="rId2" Type="http://schemas.openxmlformats.org/officeDocument/2006/relationships/image" Target="../media/image6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1.png"/><Relationship Id="rId5" Type="http://schemas.openxmlformats.org/officeDocument/2006/relationships/image" Target="../media/image663.png"/><Relationship Id="rId4" Type="http://schemas.openxmlformats.org/officeDocument/2006/relationships/image" Target="../media/image662.png"/></Relationships>
</file>

<file path=ppt/slides/_rels/slide2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685.png"/><Relationship Id="rId3" Type="http://schemas.openxmlformats.org/officeDocument/2006/relationships/image" Target="../media/image675.png"/><Relationship Id="rId7" Type="http://schemas.openxmlformats.org/officeDocument/2006/relationships/image" Target="../media/image679.png"/><Relationship Id="rId12" Type="http://schemas.openxmlformats.org/officeDocument/2006/relationships/image" Target="../media/image684.png"/><Relationship Id="rId2" Type="http://schemas.openxmlformats.org/officeDocument/2006/relationships/image" Target="../media/image6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8.png"/><Relationship Id="rId11" Type="http://schemas.openxmlformats.org/officeDocument/2006/relationships/image" Target="../media/image683.png"/><Relationship Id="rId5" Type="http://schemas.openxmlformats.org/officeDocument/2006/relationships/image" Target="../media/image677.png"/><Relationship Id="rId10" Type="http://schemas.openxmlformats.org/officeDocument/2006/relationships/image" Target="../media/image682.png"/><Relationship Id="rId4" Type="http://schemas.openxmlformats.org/officeDocument/2006/relationships/image" Target="../media/image676.png"/><Relationship Id="rId9" Type="http://schemas.openxmlformats.org/officeDocument/2006/relationships/image" Target="../media/image681.png"/></Relationships>
</file>

<file path=ppt/slides/_rels/slide2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.png"/><Relationship Id="rId13" Type="http://schemas.openxmlformats.org/officeDocument/2006/relationships/image" Target="../media/image695.png"/><Relationship Id="rId3" Type="http://schemas.openxmlformats.org/officeDocument/2006/relationships/image" Target="../media/image675.png"/><Relationship Id="rId7" Type="http://schemas.openxmlformats.org/officeDocument/2006/relationships/image" Target="../media/image689.png"/><Relationship Id="rId12" Type="http://schemas.openxmlformats.org/officeDocument/2006/relationships/image" Target="../media/image694.png"/><Relationship Id="rId2" Type="http://schemas.openxmlformats.org/officeDocument/2006/relationships/image" Target="../media/image6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8.png"/><Relationship Id="rId11" Type="http://schemas.openxmlformats.org/officeDocument/2006/relationships/image" Target="../media/image693.png"/><Relationship Id="rId5" Type="http://schemas.openxmlformats.org/officeDocument/2006/relationships/image" Target="../media/image687.png"/><Relationship Id="rId15" Type="http://schemas.openxmlformats.org/officeDocument/2006/relationships/image" Target="../media/image697.png"/><Relationship Id="rId10" Type="http://schemas.openxmlformats.org/officeDocument/2006/relationships/image" Target="../media/image692.png"/><Relationship Id="rId4" Type="http://schemas.openxmlformats.org/officeDocument/2006/relationships/image" Target="../media/image686.png"/><Relationship Id="rId9" Type="http://schemas.openxmlformats.org/officeDocument/2006/relationships/image" Target="../media/image691.png"/><Relationship Id="rId14" Type="http://schemas.openxmlformats.org/officeDocument/2006/relationships/image" Target="../media/image696.png"/></Relationships>
</file>

<file path=ppt/slides/_rels/slide2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1.png"/><Relationship Id="rId3" Type="http://schemas.openxmlformats.org/officeDocument/2006/relationships/image" Target="../media/image675.png"/><Relationship Id="rId7" Type="http://schemas.openxmlformats.org/officeDocument/2006/relationships/image" Target="../media/image700.png"/><Relationship Id="rId2" Type="http://schemas.openxmlformats.org/officeDocument/2006/relationships/image" Target="../media/image6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9.png"/><Relationship Id="rId5" Type="http://schemas.openxmlformats.org/officeDocument/2006/relationships/image" Target="../media/image698.png"/><Relationship Id="rId10" Type="http://schemas.openxmlformats.org/officeDocument/2006/relationships/image" Target="../media/image703.png"/><Relationship Id="rId4" Type="http://schemas.openxmlformats.org/officeDocument/2006/relationships/image" Target="../media/image696.png"/><Relationship Id="rId9" Type="http://schemas.openxmlformats.org/officeDocument/2006/relationships/image" Target="../media/image702.png"/></Relationships>
</file>

<file path=ppt/slides/_rels/slide2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3" Type="http://schemas.openxmlformats.org/officeDocument/2006/relationships/image" Target="../media/image705.png"/><Relationship Id="rId7" Type="http://schemas.openxmlformats.org/officeDocument/2006/relationships/image" Target="../media/image709.png"/><Relationship Id="rId2" Type="http://schemas.openxmlformats.org/officeDocument/2006/relationships/image" Target="../media/image7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8.png"/><Relationship Id="rId5" Type="http://schemas.openxmlformats.org/officeDocument/2006/relationships/image" Target="../media/image707.png"/><Relationship Id="rId10" Type="http://schemas.openxmlformats.org/officeDocument/2006/relationships/image" Target="../media/image712.png"/><Relationship Id="rId4" Type="http://schemas.openxmlformats.org/officeDocument/2006/relationships/image" Target="../media/image706.png"/><Relationship Id="rId9" Type="http://schemas.openxmlformats.org/officeDocument/2006/relationships/image" Target="../media/image711.png"/></Relationships>
</file>

<file path=ppt/slides/_rels/slide2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9.png"/><Relationship Id="rId3" Type="http://schemas.openxmlformats.org/officeDocument/2006/relationships/image" Target="../media/image714.png"/><Relationship Id="rId7" Type="http://schemas.openxmlformats.org/officeDocument/2006/relationships/image" Target="../media/image718.png"/><Relationship Id="rId2" Type="http://schemas.openxmlformats.org/officeDocument/2006/relationships/image" Target="../media/image7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7.png"/><Relationship Id="rId5" Type="http://schemas.openxmlformats.org/officeDocument/2006/relationships/image" Target="../media/image716.png"/><Relationship Id="rId4" Type="http://schemas.openxmlformats.org/officeDocument/2006/relationships/image" Target="../media/image715.png"/><Relationship Id="rId9" Type="http://schemas.openxmlformats.org/officeDocument/2006/relationships/image" Target="../media/image72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2.png"/><Relationship Id="rId2" Type="http://schemas.openxmlformats.org/officeDocument/2006/relationships/image" Target="../media/image7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4.png"/><Relationship Id="rId4" Type="http://schemas.openxmlformats.org/officeDocument/2006/relationships/image" Target="../media/image723.png"/></Relationships>
</file>

<file path=ppt/slides/_rels/slide2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7.png"/><Relationship Id="rId3" Type="http://schemas.openxmlformats.org/officeDocument/2006/relationships/image" Target="../media/image7010.png"/><Relationship Id="rId7" Type="http://schemas.openxmlformats.org/officeDocument/2006/relationships/image" Target="../media/image726.png"/><Relationship Id="rId2" Type="http://schemas.openxmlformats.org/officeDocument/2006/relationships/image" Target="../media/image7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5.png"/><Relationship Id="rId5" Type="http://schemas.openxmlformats.org/officeDocument/2006/relationships/image" Target="../media/image7030.png"/><Relationship Id="rId10" Type="http://schemas.openxmlformats.org/officeDocument/2006/relationships/image" Target="../media/image729.png"/><Relationship Id="rId4" Type="http://schemas.openxmlformats.org/officeDocument/2006/relationships/image" Target="../media/image7020.png"/><Relationship Id="rId9" Type="http://schemas.openxmlformats.org/officeDocument/2006/relationships/image" Target="../media/image728.png"/></Relationships>
</file>

<file path=ppt/slides/_rels/slide2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40.png"/><Relationship Id="rId13" Type="http://schemas.openxmlformats.org/officeDocument/2006/relationships/image" Target="../media/image7190.png"/><Relationship Id="rId18" Type="http://schemas.openxmlformats.org/officeDocument/2006/relationships/image" Target="../media/image736.png"/><Relationship Id="rId3" Type="http://schemas.openxmlformats.org/officeDocument/2006/relationships/image" Target="../media/image731.png"/><Relationship Id="rId7" Type="http://schemas.openxmlformats.org/officeDocument/2006/relationships/image" Target="../media/image7130.png"/><Relationship Id="rId12" Type="http://schemas.openxmlformats.org/officeDocument/2006/relationships/image" Target="../media/image7180.png"/><Relationship Id="rId17" Type="http://schemas.openxmlformats.org/officeDocument/2006/relationships/image" Target="../media/image735.png"/><Relationship Id="rId2" Type="http://schemas.openxmlformats.org/officeDocument/2006/relationships/image" Target="../media/image730.png"/><Relationship Id="rId16" Type="http://schemas.openxmlformats.org/officeDocument/2006/relationships/image" Target="../media/image7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0.png"/><Relationship Id="rId11" Type="http://schemas.openxmlformats.org/officeDocument/2006/relationships/image" Target="../media/image7170.png"/><Relationship Id="rId5" Type="http://schemas.openxmlformats.org/officeDocument/2006/relationships/image" Target="../media/image733.png"/><Relationship Id="rId15" Type="http://schemas.openxmlformats.org/officeDocument/2006/relationships/image" Target="../media/image7211.png"/><Relationship Id="rId10" Type="http://schemas.openxmlformats.org/officeDocument/2006/relationships/image" Target="../media/image7160.png"/><Relationship Id="rId4" Type="http://schemas.openxmlformats.org/officeDocument/2006/relationships/image" Target="../media/image732.png"/><Relationship Id="rId9" Type="http://schemas.openxmlformats.org/officeDocument/2006/relationships/image" Target="../media/image7150.png"/><Relationship Id="rId14" Type="http://schemas.openxmlformats.org/officeDocument/2006/relationships/image" Target="../media/image7200.png"/></Relationships>
</file>

<file path=ppt/slides/_rels/slide2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9.png"/><Relationship Id="rId3" Type="http://schemas.openxmlformats.org/officeDocument/2006/relationships/image" Target="../media/image7010.png"/><Relationship Id="rId7" Type="http://schemas.openxmlformats.org/officeDocument/2006/relationships/image" Target="../media/image738.png"/><Relationship Id="rId2" Type="http://schemas.openxmlformats.org/officeDocument/2006/relationships/image" Target="../media/image7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7.png"/><Relationship Id="rId5" Type="http://schemas.openxmlformats.org/officeDocument/2006/relationships/image" Target="../media/image7260.png"/><Relationship Id="rId4" Type="http://schemas.openxmlformats.org/officeDocument/2006/relationships/image" Target="../media/image7020.png"/><Relationship Id="rId9" Type="http://schemas.openxmlformats.org/officeDocument/2006/relationships/image" Target="../media/image740.png"/></Relationships>
</file>

<file path=ppt/slides/_rels/slide2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60.png"/><Relationship Id="rId13" Type="http://schemas.openxmlformats.org/officeDocument/2006/relationships/image" Target="../media/image7410.png"/><Relationship Id="rId3" Type="http://schemas.openxmlformats.org/officeDocument/2006/relationships/image" Target="../media/image742.png"/><Relationship Id="rId7" Type="http://schemas.openxmlformats.org/officeDocument/2006/relationships/image" Target="../media/image7350.png"/><Relationship Id="rId12" Type="http://schemas.openxmlformats.org/officeDocument/2006/relationships/image" Target="../media/image7400.png"/><Relationship Id="rId2" Type="http://schemas.openxmlformats.org/officeDocument/2006/relationships/image" Target="../media/image741.png"/><Relationship Id="rId16" Type="http://schemas.openxmlformats.org/officeDocument/2006/relationships/image" Target="../media/image7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0.png"/><Relationship Id="rId11" Type="http://schemas.openxmlformats.org/officeDocument/2006/relationships/image" Target="../media/image7390.png"/><Relationship Id="rId5" Type="http://schemas.openxmlformats.org/officeDocument/2006/relationships/image" Target="../media/image744.png"/><Relationship Id="rId15" Type="http://schemas.openxmlformats.org/officeDocument/2006/relationships/image" Target="../media/image746.png"/><Relationship Id="rId10" Type="http://schemas.openxmlformats.org/officeDocument/2006/relationships/image" Target="../media/image7380.png"/><Relationship Id="rId4" Type="http://schemas.openxmlformats.org/officeDocument/2006/relationships/image" Target="../media/image743.png"/><Relationship Id="rId9" Type="http://schemas.openxmlformats.org/officeDocument/2006/relationships/image" Target="../media/image7370.png"/><Relationship Id="rId14" Type="http://schemas.openxmlformats.org/officeDocument/2006/relationships/image" Target="../media/image745.png"/></Relationships>
</file>

<file path=ppt/slides/_rels/slide2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3" Type="http://schemas.openxmlformats.org/officeDocument/2006/relationships/image" Target="../media/image7460.png"/><Relationship Id="rId7" Type="http://schemas.openxmlformats.org/officeDocument/2006/relationships/image" Target="../media/image749.png"/><Relationship Id="rId2" Type="http://schemas.openxmlformats.org/officeDocument/2006/relationships/image" Target="../media/image74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5.png"/><Relationship Id="rId5" Type="http://schemas.openxmlformats.org/officeDocument/2006/relationships/image" Target="../media/image748.png"/><Relationship Id="rId10" Type="http://schemas.openxmlformats.org/officeDocument/2006/relationships/image" Target="../media/image752.png"/><Relationship Id="rId4" Type="http://schemas.openxmlformats.org/officeDocument/2006/relationships/image" Target="../media/image7470.png"/><Relationship Id="rId9" Type="http://schemas.openxmlformats.org/officeDocument/2006/relationships/image" Target="../media/image751.png"/></Relationships>
</file>

<file path=ppt/slides/_rels/slide2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9.emf"/><Relationship Id="rId13" Type="http://schemas.openxmlformats.org/officeDocument/2006/relationships/image" Target="../media/image7530.png"/><Relationship Id="rId18" Type="http://schemas.openxmlformats.org/officeDocument/2006/relationships/image" Target="../media/image763.png"/><Relationship Id="rId3" Type="http://schemas.openxmlformats.org/officeDocument/2006/relationships/image" Target="../media/image753.png"/><Relationship Id="rId7" Type="http://schemas.openxmlformats.org/officeDocument/2006/relationships/image" Target="../media/image757.png"/><Relationship Id="rId12" Type="http://schemas.openxmlformats.org/officeDocument/2006/relationships/image" Target="../media/image7080.png"/><Relationship Id="rId17" Type="http://schemas.openxmlformats.org/officeDocument/2006/relationships/image" Target="../media/image76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6.png"/><Relationship Id="rId11" Type="http://schemas.openxmlformats.org/officeDocument/2006/relationships/image" Target="../media/image7070.png"/><Relationship Id="rId5" Type="http://schemas.openxmlformats.org/officeDocument/2006/relationships/image" Target="../media/image755.png"/><Relationship Id="rId15" Type="http://schemas.openxmlformats.org/officeDocument/2006/relationships/image" Target="../media/image760.png"/><Relationship Id="rId10" Type="http://schemas.openxmlformats.org/officeDocument/2006/relationships/image" Target="../media/image7060.png"/><Relationship Id="rId4" Type="http://schemas.openxmlformats.org/officeDocument/2006/relationships/image" Target="../media/image754.png"/><Relationship Id="rId14" Type="http://schemas.openxmlformats.org/officeDocument/2006/relationships/image" Target="../media/image759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2.png"/><Relationship Id="rId2" Type="http://schemas.openxmlformats.org/officeDocument/2006/relationships/image" Target="../media/image7620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30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5.png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7.png"/><Relationship Id="rId2" Type="http://schemas.openxmlformats.org/officeDocument/2006/relationships/image" Target="../media/image7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5" Type="http://schemas.openxmlformats.org/officeDocument/2006/relationships/image" Target="../media/image769.png"/><Relationship Id="rId4" Type="http://schemas.openxmlformats.org/officeDocument/2006/relationships/image" Target="../media/image768.png"/></Relationships>
</file>

<file path=ppt/slides/_rels/slide2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7.png"/><Relationship Id="rId3" Type="http://schemas.openxmlformats.org/officeDocument/2006/relationships/image" Target="../media/image773.png"/><Relationship Id="rId7" Type="http://schemas.openxmlformats.org/officeDocument/2006/relationships/image" Target="../media/image776.png"/><Relationship Id="rId2" Type="http://schemas.openxmlformats.org/officeDocument/2006/relationships/image" Target="../media/image7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1.png"/><Relationship Id="rId5" Type="http://schemas.openxmlformats.org/officeDocument/2006/relationships/image" Target="../media/image775.png"/><Relationship Id="rId4" Type="http://schemas.openxmlformats.org/officeDocument/2006/relationships/image" Target="../media/image774.png"/><Relationship Id="rId9" Type="http://schemas.openxmlformats.org/officeDocument/2006/relationships/image" Target="../media/image778.png"/></Relationships>
</file>

<file path=ppt/slides/_rels/slide2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2.png"/><Relationship Id="rId3" Type="http://schemas.openxmlformats.org/officeDocument/2006/relationships/image" Target="../media/image774.png"/><Relationship Id="rId7" Type="http://schemas.openxmlformats.org/officeDocument/2006/relationships/image" Target="../media/image781.png"/><Relationship Id="rId2" Type="http://schemas.openxmlformats.org/officeDocument/2006/relationships/image" Target="../media/image7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0.png"/><Relationship Id="rId5" Type="http://schemas.openxmlformats.org/officeDocument/2006/relationships/image" Target="../media/image779.png"/><Relationship Id="rId4" Type="http://schemas.openxmlformats.org/officeDocument/2006/relationships/image" Target="../media/image775.png"/><Relationship Id="rId9" Type="http://schemas.openxmlformats.org/officeDocument/2006/relationships/image" Target="../media/image783.png"/></Relationships>
</file>

<file path=ppt/slides/_rels/slide2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4.png"/><Relationship Id="rId3" Type="http://schemas.openxmlformats.org/officeDocument/2006/relationships/image" Target="../media/image785.png"/><Relationship Id="rId7" Type="http://schemas.openxmlformats.org/officeDocument/2006/relationships/image" Target="../media/image789.png"/><Relationship Id="rId2" Type="http://schemas.openxmlformats.org/officeDocument/2006/relationships/image" Target="../media/image7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8.png"/><Relationship Id="rId5" Type="http://schemas.openxmlformats.org/officeDocument/2006/relationships/image" Target="../media/image787.png"/><Relationship Id="rId4" Type="http://schemas.openxmlformats.org/officeDocument/2006/relationships/image" Target="../media/image786.png"/><Relationship Id="rId9" Type="http://schemas.openxmlformats.org/officeDocument/2006/relationships/image" Target="../media/image79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4.png"/><Relationship Id="rId7" Type="http://schemas.openxmlformats.org/officeDocument/2006/relationships/image" Target="../media/image798.png"/><Relationship Id="rId2" Type="http://schemas.openxmlformats.org/officeDocument/2006/relationships/image" Target="../media/image7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6.png"/><Relationship Id="rId5" Type="http://schemas.openxmlformats.org/officeDocument/2006/relationships/image" Target="../media/image795.png"/><Relationship Id="rId4" Type="http://schemas.openxmlformats.org/officeDocument/2006/relationships/image" Target="../media/image793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9.png"/><Relationship Id="rId2" Type="http://schemas.openxmlformats.org/officeDocument/2006/relationships/image" Target="../media/image7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0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2.png"/><Relationship Id="rId2" Type="http://schemas.openxmlformats.org/officeDocument/2006/relationships/image" Target="../media/image80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5.png"/><Relationship Id="rId5" Type="http://schemas.openxmlformats.org/officeDocument/2006/relationships/image" Target="../media/image804.png"/><Relationship Id="rId4" Type="http://schemas.openxmlformats.org/officeDocument/2006/relationships/image" Target="../media/image803.png"/></Relationships>
</file>

<file path=ppt/slides/_rels/slide2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2.png"/><Relationship Id="rId3" Type="http://schemas.openxmlformats.org/officeDocument/2006/relationships/image" Target="../media/image807.png"/><Relationship Id="rId7" Type="http://schemas.openxmlformats.org/officeDocument/2006/relationships/image" Target="../media/image811.png"/><Relationship Id="rId2" Type="http://schemas.openxmlformats.org/officeDocument/2006/relationships/image" Target="../media/image8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5" Type="http://schemas.openxmlformats.org/officeDocument/2006/relationships/image" Target="../media/image809.png"/><Relationship Id="rId4" Type="http://schemas.openxmlformats.org/officeDocument/2006/relationships/image" Target="../media/image808.png"/></Relationships>
</file>

<file path=ppt/slides/_rels/slide2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6.png"/><Relationship Id="rId13" Type="http://schemas.openxmlformats.org/officeDocument/2006/relationships/image" Target="../media/image822.png"/><Relationship Id="rId3" Type="http://schemas.openxmlformats.org/officeDocument/2006/relationships/image" Target="../media/image814.png"/><Relationship Id="rId7" Type="http://schemas.openxmlformats.org/officeDocument/2006/relationships/image" Target="../media/image815.png"/><Relationship Id="rId12" Type="http://schemas.openxmlformats.org/officeDocument/2006/relationships/image" Target="../media/image821.png"/><Relationship Id="rId2" Type="http://schemas.openxmlformats.org/officeDocument/2006/relationships/image" Target="../media/image8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7.png"/><Relationship Id="rId11" Type="http://schemas.openxmlformats.org/officeDocument/2006/relationships/image" Target="../media/image820.png"/><Relationship Id="rId15" Type="http://schemas.openxmlformats.org/officeDocument/2006/relationships/image" Target="../media/image824.png"/><Relationship Id="rId10" Type="http://schemas.openxmlformats.org/officeDocument/2006/relationships/image" Target="../media/image819.png"/><Relationship Id="rId9" Type="http://schemas.openxmlformats.org/officeDocument/2006/relationships/image" Target="../media/image818.png"/><Relationship Id="rId14" Type="http://schemas.openxmlformats.org/officeDocument/2006/relationships/image" Target="../media/image823.png"/></Relationships>
</file>

<file path=ppt/slides/_rels/slide2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20.png"/><Relationship Id="rId13" Type="http://schemas.openxmlformats.org/officeDocument/2006/relationships/image" Target="../media/image827.png"/><Relationship Id="rId18" Type="http://schemas.openxmlformats.org/officeDocument/2006/relationships/image" Target="../media/image832.png"/><Relationship Id="rId3" Type="http://schemas.openxmlformats.org/officeDocument/2006/relationships/image" Target="../media/image813.png"/><Relationship Id="rId7" Type="http://schemas.openxmlformats.org/officeDocument/2006/relationships/image" Target="../media/image8210.png"/><Relationship Id="rId12" Type="http://schemas.openxmlformats.org/officeDocument/2006/relationships/image" Target="../media/image826.png"/><Relationship Id="rId17" Type="http://schemas.openxmlformats.org/officeDocument/2006/relationships/image" Target="../media/image83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00.png"/><Relationship Id="rId11" Type="http://schemas.openxmlformats.org/officeDocument/2006/relationships/image" Target="../media/image825.png"/><Relationship Id="rId5" Type="http://schemas.openxmlformats.org/officeDocument/2006/relationships/image" Target="../media/image8190.png"/><Relationship Id="rId15" Type="http://schemas.openxmlformats.org/officeDocument/2006/relationships/image" Target="../media/image829.png"/><Relationship Id="rId10" Type="http://schemas.openxmlformats.org/officeDocument/2006/relationships/image" Target="../media/image8240.png"/><Relationship Id="rId4" Type="http://schemas.openxmlformats.org/officeDocument/2006/relationships/image" Target="../media/image814.png"/><Relationship Id="rId9" Type="http://schemas.openxmlformats.org/officeDocument/2006/relationships/image" Target="../media/image8230.png"/><Relationship Id="rId14" Type="http://schemas.openxmlformats.org/officeDocument/2006/relationships/image" Target="../media/image828.png"/></Relationships>
</file>

<file path=ppt/slides/_rels/slide2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5.png"/><Relationship Id="rId3" Type="http://schemas.openxmlformats.org/officeDocument/2006/relationships/image" Target="../media/image814.png"/><Relationship Id="rId7" Type="http://schemas.openxmlformats.org/officeDocument/2006/relationships/image" Target="../media/image834.png"/><Relationship Id="rId12" Type="http://schemas.openxmlformats.org/officeDocument/2006/relationships/image" Target="../media/image839.png"/><Relationship Id="rId2" Type="http://schemas.openxmlformats.org/officeDocument/2006/relationships/image" Target="../media/image8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3.png"/><Relationship Id="rId11" Type="http://schemas.openxmlformats.org/officeDocument/2006/relationships/image" Target="../media/image838.png"/><Relationship Id="rId5" Type="http://schemas.openxmlformats.org/officeDocument/2006/relationships/image" Target="../media/image831.png"/><Relationship Id="rId10" Type="http://schemas.openxmlformats.org/officeDocument/2006/relationships/image" Target="../media/image837.png"/><Relationship Id="rId4" Type="http://schemas.openxmlformats.org/officeDocument/2006/relationships/image" Target="../media/image830.png"/><Relationship Id="rId9" Type="http://schemas.openxmlformats.org/officeDocument/2006/relationships/image" Target="../media/image836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1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4.png"/><Relationship Id="rId5" Type="http://schemas.openxmlformats.org/officeDocument/2006/relationships/image" Target="../media/image843.png"/><Relationship Id="rId4" Type="http://schemas.openxmlformats.org/officeDocument/2006/relationships/image" Target="../media/image842.png"/></Relationships>
</file>

<file path=ppt/slides/_rels/slide2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3" Type="http://schemas.openxmlformats.org/officeDocument/2006/relationships/image" Target="../media/image807.png"/><Relationship Id="rId7" Type="http://schemas.openxmlformats.org/officeDocument/2006/relationships/image" Target="../media/image849.png"/><Relationship Id="rId2" Type="http://schemas.openxmlformats.org/officeDocument/2006/relationships/image" Target="../media/image8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8.png"/><Relationship Id="rId5" Type="http://schemas.openxmlformats.org/officeDocument/2006/relationships/image" Target="../media/image847.png"/><Relationship Id="rId4" Type="http://schemas.openxmlformats.org/officeDocument/2006/relationships/image" Target="../media/image846.png"/></Relationships>
</file>

<file path=ppt/slides/_rels/slide2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80.png"/><Relationship Id="rId13" Type="http://schemas.openxmlformats.org/officeDocument/2006/relationships/image" Target="../media/image8211.png"/><Relationship Id="rId3" Type="http://schemas.openxmlformats.org/officeDocument/2006/relationships/image" Target="../media/image852.png"/><Relationship Id="rId7" Type="http://schemas.openxmlformats.org/officeDocument/2006/relationships/image" Target="../media/image8160.png"/><Relationship Id="rId12" Type="http://schemas.openxmlformats.org/officeDocument/2006/relationships/image" Target="../media/image8560.png"/><Relationship Id="rId2" Type="http://schemas.openxmlformats.org/officeDocument/2006/relationships/image" Target="../media/image8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5.png"/><Relationship Id="rId5" Type="http://schemas.openxmlformats.org/officeDocument/2006/relationships/image" Target="../media/image854.png"/><Relationship Id="rId15" Type="http://schemas.openxmlformats.org/officeDocument/2006/relationships/image" Target="../media/image824.png"/><Relationship Id="rId4" Type="http://schemas.openxmlformats.org/officeDocument/2006/relationships/image" Target="../media/image853.png"/><Relationship Id="rId9" Type="http://schemas.openxmlformats.org/officeDocument/2006/relationships/image" Target="../media/image856.png"/><Relationship Id="rId14" Type="http://schemas.openxmlformats.org/officeDocument/2006/relationships/image" Target="../media/image8221.png"/></Relationships>
</file>

<file path=ppt/slides/_rels/slide2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2.png"/><Relationship Id="rId13" Type="http://schemas.openxmlformats.org/officeDocument/2006/relationships/image" Target="../media/image867.png"/><Relationship Id="rId3" Type="http://schemas.openxmlformats.org/officeDocument/2006/relationships/image" Target="../media/image857.png"/><Relationship Id="rId7" Type="http://schemas.openxmlformats.org/officeDocument/2006/relationships/image" Target="../media/image861.png"/><Relationship Id="rId12" Type="http://schemas.openxmlformats.org/officeDocument/2006/relationships/image" Target="../media/image866.png"/><Relationship Id="rId2" Type="http://schemas.openxmlformats.org/officeDocument/2006/relationships/image" Target="../media/image790.png"/><Relationship Id="rId16" Type="http://schemas.openxmlformats.org/officeDocument/2006/relationships/image" Target="../media/image8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0.png"/><Relationship Id="rId11" Type="http://schemas.openxmlformats.org/officeDocument/2006/relationships/image" Target="../media/image865.png"/><Relationship Id="rId5" Type="http://schemas.openxmlformats.org/officeDocument/2006/relationships/image" Target="../media/image859.png"/><Relationship Id="rId15" Type="http://schemas.openxmlformats.org/officeDocument/2006/relationships/image" Target="../media/image869.png"/><Relationship Id="rId10" Type="http://schemas.openxmlformats.org/officeDocument/2006/relationships/image" Target="../media/image864.png"/><Relationship Id="rId4" Type="http://schemas.openxmlformats.org/officeDocument/2006/relationships/image" Target="../media/image858.png"/><Relationship Id="rId9" Type="http://schemas.openxmlformats.org/officeDocument/2006/relationships/image" Target="../media/image863.png"/><Relationship Id="rId14" Type="http://schemas.openxmlformats.org/officeDocument/2006/relationships/image" Target="../media/image868.png"/></Relationships>
</file>

<file path=ppt/slides/_rels/slide2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10.png"/><Relationship Id="rId3" Type="http://schemas.openxmlformats.org/officeDocument/2006/relationships/image" Target="../media/image852.png"/><Relationship Id="rId7" Type="http://schemas.openxmlformats.org/officeDocument/2006/relationships/image" Target="../media/image8600.png"/><Relationship Id="rId12" Type="http://schemas.openxmlformats.org/officeDocument/2006/relationships/image" Target="../media/image8650.png"/><Relationship Id="rId2" Type="http://schemas.openxmlformats.org/officeDocument/2006/relationships/image" Target="../media/image8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90.png"/><Relationship Id="rId11" Type="http://schemas.openxmlformats.org/officeDocument/2006/relationships/image" Target="../media/image8640.png"/><Relationship Id="rId5" Type="http://schemas.openxmlformats.org/officeDocument/2006/relationships/image" Target="../media/image8580.png"/><Relationship Id="rId10" Type="http://schemas.openxmlformats.org/officeDocument/2006/relationships/image" Target="../media/image8630.png"/><Relationship Id="rId4" Type="http://schemas.openxmlformats.org/officeDocument/2006/relationships/image" Target="../media/image8570.png"/><Relationship Id="rId9" Type="http://schemas.openxmlformats.org/officeDocument/2006/relationships/image" Target="../media/image8620.png"/></Relationships>
</file>

<file path=ppt/slides/_rels/slide2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2.png"/><Relationship Id="rId13" Type="http://schemas.openxmlformats.org/officeDocument/2006/relationships/image" Target="../media/image877.png"/><Relationship Id="rId18" Type="http://schemas.openxmlformats.org/officeDocument/2006/relationships/image" Target="../media/image882.png"/><Relationship Id="rId3" Type="http://schemas.openxmlformats.org/officeDocument/2006/relationships/image" Target="../media/image8670.png"/><Relationship Id="rId12" Type="http://schemas.openxmlformats.org/officeDocument/2006/relationships/image" Target="../media/image876.png"/><Relationship Id="rId7" Type="http://schemas.openxmlformats.org/officeDocument/2006/relationships/image" Target="../media/image871.png"/><Relationship Id="rId17" Type="http://schemas.openxmlformats.org/officeDocument/2006/relationships/image" Target="../media/image881.png"/><Relationship Id="rId2" Type="http://schemas.openxmlformats.org/officeDocument/2006/relationships/image" Target="../media/image8660.png"/><Relationship Id="rId16" Type="http://schemas.openxmlformats.org/officeDocument/2006/relationships/image" Target="../media/image8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00.png"/><Relationship Id="rId11" Type="http://schemas.openxmlformats.org/officeDocument/2006/relationships/image" Target="../media/image875.png"/><Relationship Id="rId5" Type="http://schemas.openxmlformats.org/officeDocument/2006/relationships/image" Target="../media/image8690.png"/><Relationship Id="rId15" Type="http://schemas.openxmlformats.org/officeDocument/2006/relationships/image" Target="../media/image879.png"/><Relationship Id="rId10" Type="http://schemas.openxmlformats.org/officeDocument/2006/relationships/image" Target="../media/image874.png"/><Relationship Id="rId4" Type="http://schemas.openxmlformats.org/officeDocument/2006/relationships/image" Target="../media/image8680.png"/><Relationship Id="rId9" Type="http://schemas.openxmlformats.org/officeDocument/2006/relationships/image" Target="../media/image873.png"/><Relationship Id="rId14" Type="http://schemas.openxmlformats.org/officeDocument/2006/relationships/image" Target="../media/image878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D125B39-4795-4BA6-B9B5-11FFCFC98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8106839" cy="1948382"/>
          </a:xfrm>
        </p:spPr>
        <p:txBody>
          <a:bodyPr/>
          <a:lstStyle/>
          <a:p>
            <a:r>
              <a:rPr lang="en-US" dirty="0"/>
              <a:t>Unit – 3</a:t>
            </a:r>
            <a:br>
              <a:rPr lang="en-US" dirty="0"/>
            </a:br>
            <a:r>
              <a:rPr lang="en-IN" dirty="0"/>
              <a:t>Probability Distribution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DD3C75D-9CAD-401D-B6F2-D687EEC3CD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Humanities &amp; Science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2C6FA8-76F5-4F55-873C-76674E986E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Probability &amp; Statistics (P&amp;S)</a:t>
            </a:r>
          </a:p>
          <a:p>
            <a:r>
              <a:rPr lang="en-IN" dirty="0"/>
              <a:t>DU # 2301HS402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IN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Mr. </a:t>
            </a:r>
            <a:r>
              <a:rPr lang="en-IN" dirty="0" err="1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Dhvanik</a:t>
            </a:r>
            <a:r>
              <a:rPr lang="en-IN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 H. Zala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dhvanik.zala@darshan.ac.in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82385 88865</a:t>
            </a:r>
          </a:p>
        </p:txBody>
      </p:sp>
      <p:sp>
        <p:nvSpPr>
          <p:cNvPr id="11" name="Title 13">
            <a:extLst>
              <a:ext uri="{FF2B5EF4-FFF2-40B4-BE49-F238E27FC236}">
                <a16:creationId xmlns:a16="http://schemas.microsoft.com/office/drawing/2014/main" id="{F3B88914-E51B-4A33-96D7-EC0CE630740C}"/>
              </a:ext>
            </a:extLst>
          </p:cNvPr>
          <p:cNvSpPr txBox="1">
            <a:spLocks/>
          </p:cNvSpPr>
          <p:nvPr/>
        </p:nvSpPr>
        <p:spPr>
          <a:xfrm>
            <a:off x="602350" y="3773437"/>
            <a:ext cx="801907" cy="46871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2400" dirty="0">
                <a:latin typeface="+mn-lt"/>
              </a:rPr>
              <a:t>CO3:</a:t>
            </a:r>
            <a:br>
              <a:rPr lang="en-US" sz="2400" dirty="0"/>
            </a:br>
            <a:endParaRPr lang="en-US" sz="2400" dirty="0">
              <a:latin typeface="+mn-lt"/>
            </a:endParaRPr>
          </a:p>
        </p:txBody>
      </p:sp>
      <p:sp>
        <p:nvSpPr>
          <p:cNvPr id="12" name="Title 13">
            <a:extLst>
              <a:ext uri="{FF2B5EF4-FFF2-40B4-BE49-F238E27FC236}">
                <a16:creationId xmlns:a16="http://schemas.microsoft.com/office/drawing/2014/main" id="{BBA8A0F4-F547-438E-815A-3C41AF4A49EB}"/>
              </a:ext>
            </a:extLst>
          </p:cNvPr>
          <p:cNvSpPr txBox="1">
            <a:spLocks/>
          </p:cNvSpPr>
          <p:nvPr/>
        </p:nvSpPr>
        <p:spPr>
          <a:xfrm>
            <a:off x="1252873" y="3773437"/>
            <a:ext cx="6950601" cy="78202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 algn="just"/>
            <a:r>
              <a:rPr lang="en-US" sz="2400" dirty="0"/>
              <a:t>At the end of this Unit, students will be able to </a:t>
            </a:r>
            <a:r>
              <a:rPr lang="en-US" sz="2400" dirty="0">
                <a:solidFill>
                  <a:srgbClr val="FF0000"/>
                </a:solidFill>
              </a:rPr>
              <a:t>use probability distribution.</a:t>
            </a:r>
            <a:endParaRPr lang="en-GB" sz="24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04A3685E-0818-CE0D-36C9-8157301950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3" r="6193"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solidFill>
            <a:prstClr val="white"/>
          </a:solidFill>
          <a:ln>
            <a:solidFill>
              <a:prstClr val="white">
                <a:lumMod val="65000"/>
              </a:prstClr>
            </a:solidFill>
          </a:ln>
        </p:spPr>
      </p:pic>
    </p:spTree>
    <p:extLst>
      <p:ext uri="{BB962C8B-B14F-4D97-AF65-F5344CB8AC3E}">
        <p14:creationId xmlns:p14="http://schemas.microsoft.com/office/powerpoint/2010/main" val="127326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520B0-7A53-6ECF-973A-452CBE86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5463F266-ED0C-C765-993B-5D5F5AFF522B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2B102D-7BC1-05D5-62EA-0ED23B637DE6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7B59D3-C16F-AD7B-55B3-6CDBBC7073FC}"/>
              </a:ext>
            </a:extLst>
          </p:cNvPr>
          <p:cNvCxnSpPr>
            <a:cxnSpLocks/>
          </p:cNvCxnSpPr>
          <p:nvPr/>
        </p:nvCxnSpPr>
        <p:spPr>
          <a:xfrm>
            <a:off x="1191446" y="986018"/>
            <a:ext cx="0" cy="4032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0D66E8-DBBC-97F9-87E2-04D5390067AA}"/>
              </a:ext>
            </a:extLst>
          </p:cNvPr>
          <p:cNvSpPr txBox="1"/>
          <p:nvPr/>
        </p:nvSpPr>
        <p:spPr>
          <a:xfrm>
            <a:off x="1458964" y="560256"/>
            <a:ext cx="6154249" cy="4635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Topics of Unit 3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Discrete Probability Distributions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Binomial Distribution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Poisson Distribution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Continuous Probability Distributions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Exponential</a:t>
            </a:r>
            <a:r>
              <a:rPr lang="en-IN" sz="2800" dirty="0">
                <a:solidFill>
                  <a:srgbClr val="002060"/>
                </a:solidFill>
              </a:rPr>
              <a:t> Distribution</a:t>
            </a:r>
            <a:r>
              <a:rPr lang="en-GB" sz="2800" dirty="0">
                <a:solidFill>
                  <a:srgbClr val="002060"/>
                </a:solidFill>
              </a:rPr>
              <a:t> 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002060"/>
                </a:solidFill>
              </a:rPr>
              <a:t>Normal </a:t>
            </a:r>
            <a:r>
              <a:rPr lang="en-GB" sz="2800" dirty="0">
                <a:solidFill>
                  <a:srgbClr val="002060"/>
                </a:solidFill>
              </a:rPr>
              <a:t>Distribution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625D6E-0D2D-182D-E3C3-E70D57D46744}"/>
              </a:ext>
            </a:extLst>
          </p:cNvPr>
          <p:cNvCxnSpPr>
            <a:cxnSpLocks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11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854CD797-DE29-41C7-B2F5-D10F1D62CC82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37DD2-AB22-447A-B018-EB2E669A682A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9A2A3-AF1C-4060-BA07-51DF9E55FE5F}"/>
              </a:ext>
            </a:extLst>
          </p:cNvPr>
          <p:cNvCxnSpPr>
            <a:cxnSpLocks/>
          </p:cNvCxnSpPr>
          <p:nvPr/>
        </p:nvCxnSpPr>
        <p:spPr>
          <a:xfrm>
            <a:off x="1191446" y="986018"/>
            <a:ext cx="0" cy="4788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3DE0D8-BF47-4896-BF8F-200F546123CB}"/>
              </a:ext>
            </a:extLst>
          </p:cNvPr>
          <p:cNvSpPr txBox="1"/>
          <p:nvPr/>
        </p:nvSpPr>
        <p:spPr>
          <a:xfrm>
            <a:off x="1458964" y="560256"/>
            <a:ext cx="6680034" cy="5359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Outline of Unit 3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Introduction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Discrete Probability Distributions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Method 1 – Binomial Distribution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Method 2 – Poisson Distribution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Continuous Probability Distributions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002060"/>
                </a:solidFill>
              </a:rPr>
              <a:t>Method 3 – </a:t>
            </a:r>
            <a:r>
              <a:rPr lang="en-GB" sz="2800" dirty="0">
                <a:solidFill>
                  <a:srgbClr val="002060"/>
                </a:solidFill>
              </a:rPr>
              <a:t>Exponential</a:t>
            </a:r>
            <a:r>
              <a:rPr lang="en-IN" sz="2800" dirty="0">
                <a:solidFill>
                  <a:srgbClr val="002060"/>
                </a:solidFill>
              </a:rPr>
              <a:t> Distribution</a:t>
            </a:r>
            <a:r>
              <a:rPr lang="en-GB" sz="2800" dirty="0">
                <a:solidFill>
                  <a:srgbClr val="002060"/>
                </a:solidFill>
              </a:rPr>
              <a:t> 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002060"/>
                </a:solidFill>
              </a:rPr>
              <a:t>Method 4 – </a:t>
            </a:r>
            <a:r>
              <a:rPr lang="en-IN" sz="2800" dirty="0">
                <a:solidFill>
                  <a:srgbClr val="002060"/>
                </a:solidFill>
              </a:rPr>
              <a:t>Normal </a:t>
            </a:r>
            <a:r>
              <a:rPr lang="en-GB" sz="2800" dirty="0">
                <a:solidFill>
                  <a:srgbClr val="002060"/>
                </a:solidFill>
              </a:rPr>
              <a:t>Distribution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0783CB-CD6F-42CF-8BA5-118F6020C29C}"/>
              </a:ext>
            </a:extLst>
          </p:cNvPr>
          <p:cNvCxnSpPr>
            <a:cxnSpLocks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98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46D6E4-2CDF-4CD2-9674-A490F9F9E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dirty="0"/>
              <a:t>Have you ever wondered: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How many defective items might appear in a factory today?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How long will we wait before the next call arrives?</a:t>
            </a:r>
          </a:p>
          <a:p>
            <a:pPr lvl="1">
              <a:spcAft>
                <a:spcPts val="300"/>
              </a:spcAft>
            </a:pPr>
            <a:r>
              <a:rPr lang="en-US" dirty="0"/>
              <a:t>Why do marks, heights and measurement errors follow a pattern?</a:t>
            </a:r>
          </a:p>
          <a:p>
            <a:pPr>
              <a:spcAft>
                <a:spcPts val="300"/>
              </a:spcAft>
            </a:pPr>
            <a:r>
              <a:rPr lang="en-US" dirty="0"/>
              <a:t>All these questions involve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uncertainty</a:t>
            </a:r>
            <a:r>
              <a:rPr lang="en-US" dirty="0"/>
              <a:t>, and the language used to understand this uncertainty is called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probability distributions</a:t>
            </a:r>
            <a:r>
              <a:rPr lang="en-US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939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CA473-5E37-B11D-A2C4-B071388EF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1DB584-E508-FB21-5D4B-2FE1BA6C5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Probability Distribution?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3AECB7-79CF-7677-FCF3-6346B2DD9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en-US" dirty="0"/>
              <a:t>A probability distribution is not just a formula. It is a mathematical story of how uncertainty behaves.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en-US" dirty="0"/>
              <a:t>It answers questions like:</a:t>
            </a:r>
          </a:p>
          <a:p>
            <a:pPr lvl="1">
              <a:lnSpc>
                <a:spcPct val="130000"/>
              </a:lnSpc>
              <a:spcAft>
                <a:spcPts val="300"/>
              </a:spcAft>
            </a:pPr>
            <a:r>
              <a:rPr lang="en-US" dirty="0"/>
              <a:t>What outcomes are possible?</a:t>
            </a:r>
          </a:p>
          <a:p>
            <a:pPr lvl="1">
              <a:lnSpc>
                <a:spcPct val="130000"/>
              </a:lnSpc>
              <a:spcAft>
                <a:spcPts val="300"/>
              </a:spcAft>
            </a:pPr>
            <a:r>
              <a:rPr lang="en-US" dirty="0"/>
              <a:t>How often does each outcome occur?</a:t>
            </a:r>
          </a:p>
          <a:p>
            <a:pPr lvl="1">
              <a:lnSpc>
                <a:spcPct val="130000"/>
              </a:lnSpc>
              <a:spcAft>
                <a:spcPts val="300"/>
              </a:spcAft>
            </a:pPr>
            <a:r>
              <a:rPr lang="en-US" dirty="0"/>
              <a:t>How is uncertainty spread?</a:t>
            </a:r>
          </a:p>
          <a:p>
            <a:pPr lvl="1">
              <a:lnSpc>
                <a:spcPct val="130000"/>
              </a:lnSpc>
              <a:spcAft>
                <a:spcPts val="300"/>
              </a:spcAft>
            </a:pPr>
            <a:r>
              <a:rPr lang="en-US" dirty="0"/>
              <a:t>Is randomness jumpy or smooth?</a:t>
            </a:r>
          </a:p>
          <a:p>
            <a:pPr lvl="1">
              <a:lnSpc>
                <a:spcPct val="130000"/>
              </a:lnSpc>
              <a:spcAft>
                <a:spcPts val="300"/>
              </a:spcAft>
            </a:pPr>
            <a:r>
              <a:rPr lang="en-US" dirty="0"/>
              <a:t>Are extreme values rare or common?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en-US" dirty="0"/>
              <a:t>Different situations give different stories of uncertainty.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12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C4144-823D-D05A-E817-EB8D0B63D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C5C2B6-274C-F920-9818-C6571F32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PMF vs PDF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BB3CB8F-B75E-AC28-B174-7D8456D3B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544125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en-US" dirty="0"/>
                  <a:t>Imagine two questions:</a:t>
                </a:r>
              </a:p>
              <a:p>
                <a:pPr lvl="1"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en-US" dirty="0"/>
                  <a:t>How many students will be absent today?</a:t>
                </a:r>
              </a:p>
              <a:p>
                <a:pPr lvl="1"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en-US" dirty="0"/>
                  <a:t>How long will you wait for the next bus?</a:t>
                </a:r>
              </a:p>
              <a:p>
                <a:pPr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en-US" dirty="0"/>
                  <a:t>Both involve uncertainty — but they are not the same kind of uncertainty.</a:t>
                </a:r>
              </a:p>
              <a:p>
                <a:pPr lvl="1"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en-US" dirty="0"/>
                  <a:t>In the first case, the answer can only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0, 1, 2, 3, … </m:t>
                    </m:r>
                  </m:oMath>
                </a14:m>
                <a:r>
                  <a:rPr lang="en-US" dirty="0"/>
                  <a:t>— we can count the outcomes.</a:t>
                </a:r>
              </a:p>
              <a:p>
                <a:pPr lvl="1"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en-US" dirty="0"/>
                  <a:t>In the second case, the answer could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5.2</m:t>
                    </m:r>
                  </m:oMath>
                </a14:m>
                <a:r>
                  <a:rPr lang="en-US" dirty="0"/>
                  <a:t> minutes,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5.25</m:t>
                    </m:r>
                  </m:oMath>
                </a14:m>
                <a:r>
                  <a:rPr lang="en-US" dirty="0"/>
                  <a:t> minutes,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5.251</m:t>
                    </m:r>
                  </m:oMath>
                </a14:m>
                <a:r>
                  <a:rPr lang="en-US" dirty="0"/>
                  <a:t> minutes — we measure the outcome. </a:t>
                </a:r>
              </a:p>
              <a:p>
                <a:pPr>
                  <a:lnSpc>
                    <a:spcPct val="130000"/>
                  </a:lnSpc>
                  <a:spcAft>
                    <a:spcPts val="300"/>
                  </a:spcAft>
                </a:pPr>
                <a:r>
                  <a:rPr lang="en-US" dirty="0"/>
                  <a:t>This difference leads to two powerful ideas in probability:</a:t>
                </a:r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BB3CB8F-B75E-AC28-B174-7D8456D3B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544125"/>
              </a:xfrm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188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Probability Distributions (PMF)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46D6E4-2CDF-4CD2-9674-A490F9F9E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814289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dirty="0"/>
              <a:t>When outcomes are countable, we use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distributions</a:t>
            </a:r>
            <a:r>
              <a:rPr lang="en-US" dirty="0"/>
              <a:t>, described by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Probability Mass Function</a:t>
            </a:r>
            <a:r>
              <a:rPr lang="en-US" dirty="0"/>
              <a:t> (PMF).</a:t>
            </a:r>
          </a:p>
          <a:p>
            <a:pPr>
              <a:spcAft>
                <a:spcPts val="300"/>
              </a:spcAft>
            </a:pPr>
            <a:r>
              <a:rPr lang="en-US" dirty="0"/>
              <a:t>PMF tells us the probability of each exact value of a random variable.</a:t>
            </a:r>
          </a:p>
          <a:p>
            <a:pPr>
              <a:spcAft>
                <a:spcPts val="300"/>
              </a:spcAft>
            </a:pPr>
            <a:r>
              <a:rPr lang="en-US" dirty="0"/>
              <a:t>To model such countable situations in practice, we study two important discrete probability distributions:</a:t>
            </a:r>
          </a:p>
          <a:p>
            <a:pPr lvl="1">
              <a:spcAft>
                <a:spcPts val="300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Binomial Distribution</a:t>
            </a:r>
            <a:r>
              <a:rPr lang="en-US" dirty="0"/>
              <a:t> – counts successes in repeated trials (like number of heads in coin tosses)</a:t>
            </a:r>
          </a:p>
          <a:p>
            <a:pPr lvl="1">
              <a:spcAft>
                <a:spcPts val="300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Poisson Distribution</a:t>
            </a:r>
            <a:r>
              <a:rPr lang="en-US" dirty="0"/>
              <a:t> – counts rare events (like phone calls, accidents, or system failures)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002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8C19-3F61-9346-D310-7E53E21F1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9615DE-460D-2AAB-C3D2-3608313A8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Probability Distributions (PDF)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7E4F80-09E0-11FB-B5B9-81F80539D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dirty="0"/>
              <a:t>When outcomes can take any value within an interval, we use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continuous distributions</a:t>
            </a:r>
            <a:r>
              <a:rPr lang="en-US" dirty="0"/>
              <a:t>, described by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Probability Density Function</a:t>
            </a:r>
            <a:r>
              <a:rPr lang="en-US" dirty="0"/>
              <a:t> (PDF).</a:t>
            </a:r>
          </a:p>
          <a:p>
            <a:pPr>
              <a:spcAft>
                <a:spcPts val="300"/>
              </a:spcAft>
            </a:pPr>
            <a:r>
              <a:rPr lang="en-US" dirty="0"/>
              <a:t>PDF describes how probability is spread over an interval, not at a single point.</a:t>
            </a:r>
          </a:p>
          <a:p>
            <a:pPr>
              <a:spcAft>
                <a:spcPts val="300"/>
              </a:spcAft>
            </a:pPr>
            <a:r>
              <a:rPr lang="en-US" dirty="0"/>
              <a:t>To model such continuous random variables, this unit focuses on two widely used continuous distributions:</a:t>
            </a:r>
          </a:p>
          <a:p>
            <a:pPr lvl="1">
              <a:spcAft>
                <a:spcPts val="300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Exponential Distribution</a:t>
            </a:r>
            <a:r>
              <a:rPr lang="en-US" dirty="0"/>
              <a:t> – answers “How long do we wait?”</a:t>
            </a:r>
          </a:p>
          <a:p>
            <a:pPr lvl="1">
              <a:spcAft>
                <a:spcPts val="300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Normal Distribution</a:t>
            </a:r>
            <a:r>
              <a:rPr lang="en-US" dirty="0"/>
              <a:t> – explains why most natural data cluster around an average.</a:t>
            </a:r>
          </a:p>
        </p:txBody>
      </p:sp>
    </p:spTree>
    <p:extLst>
      <p:ext uri="{BB962C8B-B14F-4D97-AF65-F5344CB8AC3E}">
        <p14:creationId xmlns:p14="http://schemas.microsoft.com/office/powerpoint/2010/main" val="133448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2D3BD-F87C-BB6B-6F37-412BD760D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2FC528-4C94-FB10-211D-B5F9FC226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different distributions?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478DB56-1333-9D2B-1D55-BA55026529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>
                  <a:spcAft>
                    <a:spcPts val="300"/>
                  </a:spcAft>
                </a:pPr>
                <a:r>
                  <a:rPr lang="en-US" dirty="0"/>
                  <a:t>Uncertainty in the real world does not come in one form.</a:t>
                </a:r>
              </a:p>
              <a:p>
                <a:pPr>
                  <a:spcAft>
                    <a:spcPts val="300"/>
                  </a:spcAft>
                </a:pPr>
                <a:r>
                  <a:rPr lang="en-US" dirty="0"/>
                  <a:t>There are different kinds of randomness, and each kind behaves differently.</a:t>
                </a:r>
              </a:p>
              <a:p>
                <a:pPr lvl="1">
                  <a:spcAft>
                    <a:spcPts val="300"/>
                  </a:spcAft>
                </a:pPr>
                <a:r>
                  <a:rPr lang="en-US" b="1" dirty="0">
                    <a:solidFill>
                      <a:srgbClr val="301B92"/>
                    </a:solidFill>
                  </a:rPr>
                  <a:t>Examples</a:t>
                </a:r>
              </a:p>
              <a:p>
                <a:pPr lvl="2">
                  <a:spcAft>
                    <a:spcPts val="300"/>
                  </a:spcAft>
                </a:pPr>
                <a:r>
                  <a:rPr lang="en-US" dirty="0"/>
                  <a:t>Number of correct answers when a student attempts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MCQs.</a:t>
                </a:r>
              </a:p>
              <a:p>
                <a:pPr lvl="2">
                  <a:spcAft>
                    <a:spcPts val="300"/>
                  </a:spcAft>
                </a:pPr>
                <a:r>
                  <a:rPr lang="en-US" dirty="0"/>
                  <a:t>Number of phone calls received by a call center in one hour.</a:t>
                </a:r>
              </a:p>
              <a:p>
                <a:pPr lvl="2">
                  <a:spcAft>
                    <a:spcPts val="300"/>
                  </a:spcAft>
                </a:pPr>
                <a:r>
                  <a:rPr lang="en-US" dirty="0"/>
                  <a:t>Time until an electric bulb stops working.</a:t>
                </a:r>
              </a:p>
              <a:p>
                <a:pPr lvl="2">
                  <a:spcAft>
                    <a:spcPts val="300"/>
                  </a:spcAft>
                </a:pPr>
                <a:r>
                  <a:rPr lang="en-US" dirty="0"/>
                  <a:t>Heights of students in a class.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478DB56-1333-9D2B-1D55-BA55026529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875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E0034-DB99-A3AE-3A90-6602A084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2E30F5-A5C7-BF86-DE3C-165FED088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different distributions?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298436-FA88-3D96-3914-A9AA60879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4401125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dirty="0"/>
              <a:t>Because randomness behaves differently in different situations, we need different probability distributions to model it correctly.</a:t>
            </a:r>
          </a:p>
          <a:p>
            <a:pPr>
              <a:spcAft>
                <a:spcPts val="300"/>
              </a:spcAft>
            </a:pPr>
            <a:r>
              <a:rPr lang="en-US" dirty="0"/>
              <a:t>These four distributions represent the four most common ways uncertainty appears in the real world.</a:t>
            </a:r>
          </a:p>
          <a:p>
            <a:pPr>
              <a:spcAft>
                <a:spcPts val="300"/>
              </a:spcAft>
            </a:pPr>
            <a:r>
              <a:rPr lang="en-US" dirty="0"/>
              <a:t>Different probability distributions exist because randomness itself has different forms, and each form needs its own mathematical description.</a:t>
            </a:r>
          </a:p>
        </p:txBody>
      </p:sp>
    </p:spTree>
    <p:extLst>
      <p:ext uri="{BB962C8B-B14F-4D97-AF65-F5344CB8AC3E}">
        <p14:creationId xmlns:p14="http://schemas.microsoft.com/office/powerpoint/2010/main" val="271494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1</a:t>
            </a:r>
            <a:br>
              <a:rPr lang="en-IN" dirty="0"/>
            </a:br>
            <a:r>
              <a:rPr lang="en-IN" dirty="0"/>
              <a:t>Binomial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039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CE2EF-37A8-C28B-B438-CD708AEB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42C37A-97CA-77C7-E5A9-1EFBCACE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Bernoulli’s Trial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E5BC5C-C5EB-26F9-5D16-6CC418B33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lvl="0"/>
            <a:r>
              <a:rPr lang="en-US" dirty="0"/>
              <a:t>A Bernoulli’s Trial is the most basic random experiment in probability. It models situations where each experiment has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only two possible outcomes</a:t>
            </a:r>
            <a:r>
              <a:rPr lang="en-US" dirty="0"/>
              <a:t> and nothing more.</a:t>
            </a:r>
          </a:p>
          <a:p>
            <a:pPr lvl="0"/>
            <a:r>
              <a:rPr lang="en-US" dirty="0"/>
              <a:t>A Bernoulli’s trial is a random experiment that satisfies all of the following conditions:</a:t>
            </a:r>
          </a:p>
          <a:p>
            <a:pPr lvl="1"/>
            <a:r>
              <a:rPr lang="en-US" b="1" dirty="0"/>
              <a:t>Exactly two possible outcomes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Success (S)</a:t>
            </a:r>
          </a:p>
          <a:p>
            <a:pPr lvl="2"/>
            <a:r>
              <a:rPr lang="en-US" dirty="0"/>
              <a:t>Failure (F)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B65A61-06E2-2447-DBB9-1627F56567BE}"/>
              </a:ext>
            </a:extLst>
          </p:cNvPr>
          <p:cNvSpPr/>
          <p:nvPr/>
        </p:nvSpPr>
        <p:spPr>
          <a:xfrm>
            <a:off x="6567054" y="4708336"/>
            <a:ext cx="5493765" cy="1745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US" sz="2400" b="1" dirty="0">
                <a:solidFill>
                  <a:srgbClr val="FF0000"/>
                </a:solidFill>
              </a:rPr>
              <a:t>Important</a:t>
            </a:r>
          </a:p>
          <a:p>
            <a:pPr algn="ctr">
              <a:buClr>
                <a:schemeClr val="accent6"/>
              </a:buClr>
            </a:pPr>
            <a:r>
              <a:rPr lang="en-US" sz="2400" b="1" dirty="0">
                <a:solidFill>
                  <a:srgbClr val="000000"/>
                </a:solidFill>
              </a:rPr>
              <a:t>“Success” does not mean something good.</a:t>
            </a:r>
          </a:p>
          <a:p>
            <a:pPr algn="ctr">
              <a:buClr>
                <a:schemeClr val="accent6"/>
              </a:buClr>
            </a:pPr>
            <a:r>
              <a:rPr lang="en-US" sz="2400" b="1" dirty="0">
                <a:solidFill>
                  <a:srgbClr val="000000"/>
                </a:solidFill>
              </a:rPr>
              <a:t>It simply means the outcome we are interested in.</a:t>
            </a:r>
            <a:endParaRPr lang="en-IN" sz="2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26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8282-8D3B-92E8-515A-2DC12381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54CCCD-EB2E-E878-5574-568C8C70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Bernoulli’s Trial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87C7091-8038-EBF8-3C1E-9A0596E482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63838" cy="5772725"/>
              </a:xfrm>
            </p:spPr>
            <p:txBody>
              <a:bodyPr/>
              <a:lstStyle/>
              <a:p>
                <a:pPr lvl="1"/>
                <a:r>
                  <a:rPr lang="en-US" b="1" dirty="0"/>
                  <a:t>Probability of success is constant. </a:t>
                </a:r>
              </a:p>
              <a:p>
                <a:pPr lvl="2"/>
                <a:r>
                  <a:rPr lang="en-US" dirty="0"/>
                  <a:t>i.e., The probability of success is the same for every trial.</a:t>
                </a:r>
              </a:p>
              <a:p>
                <a:pPr lvl="2"/>
                <a:r>
                  <a:rPr lang="en-IN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IN" b="0" i="0" dirty="0">
                    <a:latin typeface="+mj-lt"/>
                  </a:rPr>
                  <a:t>(Success)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;0≤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IN" dirty="0"/>
                  <a:t> then </a:t>
                </a:r>
              </a:p>
              <a:p>
                <a:pPr lvl="2" algn="l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IN" i="0" dirty="0">
                    <a:latin typeface="+mj-lt"/>
                  </a:rPr>
                  <a:t>(</a:t>
                </a:r>
                <a:r>
                  <a:rPr lang="en-IN" b="0" i="0" dirty="0">
                    <a:latin typeface="+mj-lt"/>
                  </a:rPr>
                  <a:t>Failure)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IN" dirty="0"/>
                  <a:t> </a:t>
                </a:r>
              </a:p>
              <a:p>
                <a:pPr marL="914400" lvl="2" indent="0" algn="l">
                  <a:buNone/>
                </a:pPr>
                <a:r>
                  <a:rPr lang="en-IN" sz="2400" b="1" i="0" dirty="0">
                    <a:solidFill>
                      <a:schemeClr val="accent6">
                        <a:lumMod val="75000"/>
                      </a:schemeClr>
                    </a:solidFill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b="1" dirty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∵</m:t>
                    </m:r>
                    <m:r>
                      <a:rPr lang="en-IN" sz="24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IN" sz="24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𝐪</m:t>
                    </m:r>
                    <m:r>
                      <a:rPr lang="en-IN" sz="24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N" sz="2400" b="1" i="0" dirty="0">
                    <a:solidFill>
                      <a:schemeClr val="accent6">
                        <a:lumMod val="75000"/>
                      </a:schemeClr>
                    </a:solidFill>
                    <a:latin typeface="+mj-lt"/>
                  </a:rPr>
                  <a:t> → Mutually Exclusive and Exhaustive)</a:t>
                </a:r>
                <a:endParaRPr lang="en-IN" sz="2400" b="1" dirty="0"/>
              </a:p>
              <a:p>
                <a:pPr lvl="1"/>
                <a:r>
                  <a:rPr lang="en-US" b="1" dirty="0"/>
                  <a:t>Each trial is independent.</a:t>
                </a:r>
              </a:p>
              <a:p>
                <a:pPr lvl="2"/>
                <a:r>
                  <a:rPr lang="en-US" dirty="0"/>
                  <a:t>The outcome of one trial does not affect any other trial.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87C7091-8038-EBF8-3C1E-9A0596E48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63838" cy="57727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06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A1E83-E357-029E-6CAD-08826CEF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Bernoulli’s Trial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BC1E63-C80F-1DC6-C2E3-E9D08BE164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2275" cy="2198252"/>
              </a:xfrm>
            </p:spPr>
            <p:txBody>
              <a:bodyPr/>
              <a:lstStyle/>
              <a:p>
                <a:r>
                  <a:rPr lang="en-IN" b="1" dirty="0">
                    <a:solidFill>
                      <a:srgbClr val="301B92"/>
                    </a:solidFill>
                  </a:rPr>
                  <a:t>Example:</a:t>
                </a:r>
                <a:r>
                  <a:rPr lang="en-IN" dirty="0"/>
                  <a:t> </a:t>
                </a:r>
                <a:r>
                  <a:rPr lang="en-US" dirty="0"/>
                  <a:t>Tossing a coin once and getting Head.</a:t>
                </a:r>
              </a:p>
              <a:p>
                <a:pPr lvl="1"/>
                <a:r>
                  <a:rPr lang="en-US" dirty="0"/>
                  <a:t>Success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Getting Head and Failure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Getting Tail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probability of head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BC1E63-C80F-1DC6-C2E3-E9D08BE164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2275" cy="2198252"/>
              </a:xfrm>
              <a:blipFill>
                <a:blip r:embed="rId2"/>
                <a:stretch>
                  <a:fillRect l="-9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0B70AAE-79A5-A052-B069-9776955AC7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16149" y="1814945"/>
                <a:ext cx="849469" cy="109450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2 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0B70AAE-79A5-A052-B069-9776955AC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149" y="1814945"/>
                <a:ext cx="849469" cy="10945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6EC3EA-0882-2A30-BCAC-651C16C11220}"/>
              </a:ext>
            </a:extLst>
          </p:cNvPr>
          <p:cNvSpPr txBox="1">
            <a:spLocks/>
          </p:cNvSpPr>
          <p:nvPr/>
        </p:nvSpPr>
        <p:spPr>
          <a:xfrm>
            <a:off x="131179" y="2732809"/>
            <a:ext cx="11922275" cy="3865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Why This is a Bernoulli Trial ?</a:t>
            </a:r>
          </a:p>
          <a:p>
            <a:pPr lvl="1"/>
            <a:r>
              <a:rPr lang="en-US" dirty="0"/>
              <a:t>The experiment is done only once.</a:t>
            </a:r>
          </a:p>
          <a:p>
            <a:pPr lvl="1"/>
            <a:r>
              <a:rPr lang="en-US" dirty="0"/>
              <a:t>There are only two possible outcomes: </a:t>
            </a:r>
          </a:p>
          <a:p>
            <a:pPr lvl="2"/>
            <a:r>
              <a:rPr lang="en-US" dirty="0"/>
              <a:t>Head (success) and Tail (failure)</a:t>
            </a:r>
          </a:p>
          <a:p>
            <a:pPr lvl="1"/>
            <a:r>
              <a:rPr lang="en-US" dirty="0"/>
              <a:t>The probability of getting Head is fixed.</a:t>
            </a:r>
          </a:p>
          <a:p>
            <a:r>
              <a:rPr lang="en-US" dirty="0"/>
              <a:t>Hence, tossing a coin once is a Bernoulli trial.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55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3CB48-2C63-D469-699E-050594A1B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ADFB09-D0E0-0CCE-792B-5B5A94C7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Bernoulli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B583442-27FF-693B-ABAC-722FF39C64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2060820" cy="5742808"/>
              </a:xfrm>
            </p:spPr>
            <p:txBody>
              <a:bodyPr/>
              <a:lstStyle/>
              <a:p>
                <a:r>
                  <a:rPr lang="en-US" dirty="0"/>
                  <a:t>Let random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represent the outcome of a Bernoulli trial: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1 ;</m:t>
                              </m:r>
                              <m:r>
                                <m:rPr>
                                  <m:nor/>
                                </m:rPr>
                                <a:rPr lang="en-IN" i="0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IN" i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i="0"/>
                                <m:t>success</m:t>
                              </m:r>
                              <m:r>
                                <m:rPr>
                                  <m:nor/>
                                </m:rPr>
                                <a:rPr lang="en-IN" i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i="0"/>
                                <m:t>occurs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   ;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 b="0" i="0" smtClean="0"/>
                                <m:t>failure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IN"/>
                                <m:t>occurs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dirty="0"/>
              </a:p>
              <a:p>
                <a:pPr marL="269875" indent="0">
                  <a:buNone/>
                </a:pPr>
                <a:r>
                  <a:rPr lang="en-IN" dirty="0"/>
                  <a:t>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IN" dirty="0"/>
              </a:p>
              <a:p>
                <a:r>
                  <a:rPr lang="en-US" dirty="0"/>
                  <a:t>This random variable is called a Bernoulli random variable.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B583442-27FF-693B-ABAC-722FF39C64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2060820" cy="5742808"/>
              </a:xfrm>
              <a:blipFill>
                <a:blip r:embed="rId2"/>
                <a:stretch>
                  <a:fillRect l="-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85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22D6B-66FB-9FB8-4D3B-6F84F24D6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D5AB49-C685-F6CA-EE83-04FD58B4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FE51FA-2BC0-CAE1-5E4F-168A43F8F9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6458526"/>
              </a:xfrm>
            </p:spPr>
            <p:txBody>
              <a:bodyPr/>
              <a:lstStyle/>
              <a:p>
                <a:pPr lvl="0"/>
                <a:r>
                  <a:rPr lang="en-US" dirty="0"/>
                  <a:t>The Binomial Distribution is the probability distribution of the number of successes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independent Bernoulli trials, where each trial has the same probability of success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successes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trials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</a:t>
                </a:r>
                <a:r>
                  <a:rPr lang="en-US" dirty="0"/>
                  <a:t>probability of success in each trial,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follows a binomial distribution, written as: </a:t>
                </a:r>
              </a:p>
              <a:p>
                <a:pPr marL="0" lv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269875" lvl="0" indent="0">
                  <a:buNone/>
                </a:pPr>
                <a:r>
                  <a:rPr lang="en-IN" dirty="0"/>
                  <a:t>and </a:t>
                </a:r>
                <a:r>
                  <a:rPr lang="en-US" dirty="0"/>
                  <a:t>the probability mass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for binomial distribution is defined as,</a:t>
                </a:r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1" i="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  <m: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n-IN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p>
                          <m:r>
                            <a:rPr lang="en-IN" b="1" i="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b="1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0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b="1" i="0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1" i="0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</m:d>
                        </m:e>
                        <m:sup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IN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,…, 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</m:oMath>
                  </m:oMathPara>
                </a14:m>
                <a:endParaRPr lang="en-IN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FE51FA-2BC0-CAE1-5E4F-168A43F8F9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6458526"/>
              </a:xfrm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69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6458526"/>
              </a:xfrm>
            </p:spPr>
            <p:txBody>
              <a:bodyPr/>
              <a:lstStyle/>
              <a:p>
                <a:pPr lvl="0"/>
                <a:r>
                  <a:rPr lang="en-IN" b="1" dirty="0">
                    <a:solidFill>
                      <a:srgbClr val="301B92"/>
                    </a:solidFill>
                  </a:rPr>
                  <a:t>Example:</a:t>
                </a:r>
                <a:r>
                  <a:rPr lang="en-IN" dirty="0"/>
                  <a:t> </a:t>
                </a:r>
                <a:r>
                  <a:rPr lang="en-US" dirty="0"/>
                  <a:t>Tossing a coin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times and getting a head.</a:t>
                </a:r>
              </a:p>
              <a:p>
                <a:pPr lvl="1"/>
                <a:r>
                  <a:rPr lang="en-US" dirty="0"/>
                  <a:t>This experiment is binomial because: </a:t>
                </a:r>
              </a:p>
              <a:p>
                <a:pPr lvl="2"/>
                <a:r>
                  <a:rPr lang="en-US" dirty="0"/>
                  <a:t>The coin is tossed a fixed number of times.</a:t>
                </a:r>
              </a:p>
              <a:p>
                <a:pPr lvl="2"/>
                <a:r>
                  <a:rPr lang="en-US" dirty="0"/>
                  <a:t>Each toss has only two possible outcomes:</a:t>
                </a:r>
              </a:p>
              <a:p>
                <a:pPr lvl="3"/>
                <a:r>
                  <a:rPr lang="en-US" dirty="0"/>
                  <a:t>Getting Head</a:t>
                </a:r>
              </a:p>
              <a:p>
                <a:pPr lvl="3"/>
                <a:r>
                  <a:rPr lang="en-US" dirty="0"/>
                  <a:t>Not getting Head</a:t>
                </a:r>
              </a:p>
              <a:p>
                <a:pPr lvl="2"/>
                <a:r>
                  <a:rPr lang="en-US" dirty="0"/>
                  <a:t>The probability of getting Head is the same in every toss.</a:t>
                </a:r>
              </a:p>
              <a:p>
                <a:pPr lvl="2"/>
                <a:r>
                  <a:rPr lang="en-US" dirty="0"/>
                  <a:t>Each toss is independent of the other.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6458526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61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BD2C6-C274-0DD8-B67E-3EF2B44E7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37664F-541D-9F45-0988-D5C995F202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Binomial Distribution : How to define 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/>
                  <a:t>and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37664F-541D-9F45-0988-D5C995F202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EB0F642-41AA-8CD7-A2CD-BD97327F35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3517899"/>
              </a:xfrm>
            </p:spPr>
            <p:txBody>
              <a:bodyPr/>
              <a:lstStyle/>
              <a:p>
                <a:pPr lvl="0"/>
                <a:r>
                  <a:rPr lang="en-IN" b="1" dirty="0">
                    <a:solidFill>
                      <a:srgbClr val="301B92"/>
                    </a:solidFill>
                  </a:rPr>
                  <a:t>Example:</a:t>
                </a:r>
                <a:r>
                  <a:rPr lang="en-IN" dirty="0"/>
                  <a:t> </a:t>
                </a:r>
                <a:r>
                  <a:rPr lang="en-US" dirty="0"/>
                  <a:t>Tossing a coin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times and getting a head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times Head occurs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tosses</a:t>
                </a:r>
              </a:p>
              <a:p>
                <a:pPr lvl="2"/>
                <a:r>
                  <a:rPr lang="en-US" dirty="0"/>
                  <a:t>Possible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=0, 1, 2, 3, 4, 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>
                    <a:latin typeface="+mj-lt"/>
                  </a:rPr>
                  <a:t>number of toss(trial) </a:t>
                </a:r>
                <a:r>
                  <a:rPr lang="en-IN" dirty="0">
                    <a:latin typeface="Cambria Math" panose="02040503050406030204" pitchFamily="18" charset="0"/>
                  </a:rPr>
                  <a:t>= 5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probability of head in one toss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</a:t>
                </a: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EB0F642-41AA-8CD7-A2CD-BD97327F3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3517899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ECBCBBDC-1C83-ACA3-05CA-5344032691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5568" y="3051463"/>
                <a:ext cx="849469" cy="109450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2 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ECBCBBDC-1C83-ACA3-05CA-534403269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568" y="3051463"/>
                <a:ext cx="849469" cy="10945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F9F44CDB-58BA-E3DE-A979-30B70D601C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553" y="3991266"/>
                <a:ext cx="2508112" cy="8197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∴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IN" dirty="0"/>
                  <a:t> </a:t>
                </a: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F9F44CDB-58BA-E3DE-A979-30B70D601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53" y="3991266"/>
                <a:ext cx="2508112" cy="8197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C4ADC59D-4E26-6828-FCE1-9DA22C3E5C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163" y="4561609"/>
                <a:ext cx="2508112" cy="1423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2 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C4ADC59D-4E26-6828-FCE1-9DA22C3E5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63" y="4561609"/>
                <a:ext cx="2508112" cy="1423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F40E2DDA-776A-A26F-9D2D-E74324C573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54658" y="4561609"/>
                <a:ext cx="1387405" cy="14235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2 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F40E2DDA-776A-A26F-9D2D-E74324C57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658" y="4561609"/>
                <a:ext cx="1387405" cy="1423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32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" grpId="0"/>
      <p:bldP spid="3" grpId="0" uiExpand="1" build="p"/>
      <p:bldP spid="6" grpId="0" uiExpand="1" build="p"/>
      <p:bldP spid="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65130-5569-D351-A1B7-6EBEB1FE3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A0AD92-6EC6-DD0C-AA8A-1343152F7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Conditions for a Binomial Experiment – Remember 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1C6F2B7-161A-DB5A-1127-9FF14762A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751944"/>
              </a:xfrm>
            </p:spPr>
            <p:txBody>
              <a:bodyPr/>
              <a:lstStyle/>
              <a:p>
                <a:pPr lvl="0"/>
                <a:r>
                  <a:rPr lang="en-US" dirty="0"/>
                  <a:t>An experiment is Binomial if all these conditions are satisfied:</a:t>
                </a:r>
              </a:p>
              <a:p>
                <a:pPr lvl="1"/>
                <a:r>
                  <a:rPr lang="en-US" dirty="0"/>
                  <a:t>Fixed number of trials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is fixed in advance)</a:t>
                </a:r>
              </a:p>
              <a:p>
                <a:pPr lvl="1"/>
                <a:r>
                  <a:rPr lang="en-US" dirty="0"/>
                  <a:t>Each trial has only two outcomes (success / failure)</a:t>
                </a:r>
              </a:p>
              <a:p>
                <a:pPr lvl="1"/>
                <a:r>
                  <a:rPr lang="en-US" dirty="0"/>
                  <a:t>Trials are independent </a:t>
                </a:r>
              </a:p>
              <a:p>
                <a:pPr lvl="1"/>
                <a:r>
                  <a:rPr lang="en-US" dirty="0"/>
                  <a:t>Probability of success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</m:oMath>
                </a14:m>
                <a:r>
                  <a:rPr lang="en-US" dirty="0"/>
                  <a:t> remains constant/does not change from trial to trial</a:t>
                </a:r>
              </a:p>
              <a:p>
                <a:r>
                  <a:rPr lang="en-US" dirty="0"/>
                  <a:t>If any one condition fails, it is not Binomial.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1C6F2B7-161A-DB5A-1127-9FF14762A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751944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599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US" b="1" dirty="0">
                    <a:solidFill>
                      <a:schemeClr val="tx2">
                        <a:lumMod val="50000"/>
                      </a:schemeClr>
                    </a:solidFill>
                  </a:rPr>
                  <a:t>The following are Binomial Experiments</a:t>
                </a:r>
              </a:p>
              <a:p>
                <a:pPr lvl="1"/>
                <a:r>
                  <a:rPr lang="en-US" dirty="0"/>
                  <a:t>Toss a fair coin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times and record the number of heads.</a:t>
                </a:r>
              </a:p>
              <a:p>
                <a:pPr lvl="1"/>
                <a:r>
                  <a:rPr lang="en-US" dirty="0"/>
                  <a:t>Roll three dice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times and record the number of times a total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occurs.</a:t>
                </a:r>
              </a:p>
              <a:p>
                <a:pPr lvl="1"/>
                <a:r>
                  <a:rPr lang="en-US" dirty="0"/>
                  <a:t>Draw a card from an ordinary pack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lang="en-US" dirty="0"/>
                  <a:t> playing cards and record whether it is a spade or not. Repeat the experiment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times, replacing the card after each trial.</a:t>
                </a:r>
                <a:r>
                  <a:rPr lang="en-US" dirty="0">
                    <a:solidFill>
                      <a:srgbClr val="002060"/>
                    </a:solidFill>
                  </a:rPr>
                  <a:t>er of heads obtained</a:t>
                </a:r>
              </a:p>
              <a:p>
                <a:pPr lvl="1"/>
                <a:r>
                  <a:rPr lang="en-US" dirty="0"/>
                  <a:t>A machine produces bolts. From a large production lot,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dirty="0"/>
                  <a:t> bolts are selected at random, and the number of defective bolts is recorded.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8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22EF7-FC9B-296A-CDB6-57B7F5C10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79DCAF-B078-1780-7167-1A2E300AD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Binomial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9C6D030-7C63-8651-BA2D-3464112E5C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742809"/>
              </a:xfrm>
            </p:spPr>
            <p:txBody>
              <a:bodyPr/>
              <a:lstStyle/>
              <a:p>
                <a:pPr lvl="0"/>
                <a:r>
                  <a:rPr lang="en-US" b="1" dirty="0">
                    <a:solidFill>
                      <a:schemeClr val="tx2">
                        <a:lumMod val="50000"/>
                      </a:schemeClr>
                    </a:solidFill>
                  </a:rPr>
                  <a:t>The following are not Binomial experiments:</a:t>
                </a:r>
              </a:p>
              <a:p>
                <a:pPr lvl="1"/>
                <a:r>
                  <a:rPr lang="en-US" dirty="0"/>
                  <a:t>Toss a fair coin until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heads are obtained.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is not fixed before the experiment.)</a:t>
                </a:r>
              </a:p>
              <a:p>
                <a:pPr lvl="1"/>
                <a:r>
                  <a:rPr lang="en-US" dirty="0"/>
                  <a:t>Draw a card from an ordinary pack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lang="en-US" dirty="0"/>
                  <a:t> playing cards and record whether it is a spade or not. Repeat the experiment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times without replacing the card after each trial. (Trials are not independent;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changes from trial to trial.)</a:t>
                </a:r>
              </a:p>
              <a:p>
                <a:pPr lvl="1"/>
                <a:r>
                  <a:rPr lang="en-US" dirty="0"/>
                  <a:t>Draw a card from an ordinary pack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lang="en-US" dirty="0"/>
                  <a:t> playing cards and record whether it is a spade, heart, diamond or club. Repeat the experiment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times, replacing the card after each trial. (There are four possible outcomes.)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9C6D030-7C63-8651-BA2D-3464112E5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742809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73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Binomial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346698"/>
              </a:xfrm>
            </p:spPr>
            <p:txBody>
              <a:bodyPr/>
              <a:lstStyle/>
              <a:p>
                <a:pPr lvl="0"/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d>
                      <m:dPr>
                        <m:ctrlP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</m:d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;</m:t>
                    </m:r>
                  </m:oMath>
                </a14:m>
                <a:r>
                  <a:rPr lang="en-US" dirty="0"/>
                  <a:t> where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independent trials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successes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trials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of success in one trial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of failure in one trial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</a:t>
                </a:r>
                <a:r>
                  <a:rPr lang="en-US" dirty="0"/>
                  <a:t> of binomial distribution is defined as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𝛍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𝐄</m:t>
                    </m:r>
                    <m:d>
                      <m:d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dirty="0" err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𝐧𝐩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variance</a:t>
                </a:r>
                <a:r>
                  <a:rPr lang="en-US" dirty="0"/>
                  <a:t> of binomial distribution is defined as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dirty="0" err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𝐧𝐩𝐪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pPr lvl="2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standard deviation</a:t>
                </a:r>
                <a:r>
                  <a:rPr lang="en-US" dirty="0"/>
                  <a:t> of binomial distribution is defined as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𝛔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𝐧𝐩𝐪</m:t>
                        </m:r>
                      </m:e>
                    </m:rad>
                  </m:oMath>
                </a14:m>
                <a:r>
                  <a:rPr lang="en-US" dirty="0"/>
                  <a:t>.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34669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99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5D430-1FBA-C9C6-879C-63257F53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466D8F-7F6A-D9A3-7DEA-80C81028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Binomial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B75FB47-5AE4-0125-FBC0-28EA444FE9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3868013"/>
              </a:xfrm>
            </p:spPr>
            <p:txBody>
              <a:bodyPr/>
              <a:lstStyle/>
              <a:p>
                <a:pPr lvl="0"/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d>
                      <m:dPr>
                        <m:ctrlP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</m:d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;</m:t>
                    </m:r>
                  </m:oMath>
                </a14:m>
                <a:r>
                  <a:rPr lang="en-US" dirty="0"/>
                  <a:t> where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independent trials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successes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trials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of success in one trial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of failure in one trial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</a:t>
                </a:r>
                <a:r>
                  <a:rPr lang="en-US" dirty="0"/>
                  <a:t> of binomial distribution is defined as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𝛍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𝐄</m:t>
                    </m:r>
                    <m:d>
                      <m:d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dirty="0" err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𝐧𝐩</m:t>
                    </m:r>
                  </m:oMath>
                </a14:m>
                <a:r>
                  <a:rPr lang="en-US" b="1" dirty="0"/>
                  <a:t>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B75FB47-5AE4-0125-FBC0-28EA444FE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3868013"/>
              </a:xfrm>
              <a:blipFill>
                <a:blip r:embed="rId2"/>
                <a:stretch>
                  <a:fillRect l="-971" b="-44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F99E99-44FA-2E51-AD5D-6C784224D4F7}"/>
                  </a:ext>
                </a:extLst>
              </p:cNvPr>
              <p:cNvSpPr txBox="1"/>
              <p:nvPr/>
            </p:nvSpPr>
            <p:spPr>
              <a:xfrm>
                <a:off x="4095750" y="4465812"/>
                <a:ext cx="6224154" cy="1135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en-IN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nary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𝐧𝐩</m:t>
                      </m:r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F99E99-44FA-2E51-AD5D-6C784224D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750" y="4465812"/>
                <a:ext cx="6224154" cy="11356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631E0A7E-15C9-4EA1-E759-5F9299B283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5295380"/>
                <a:ext cx="10852011" cy="6746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variance</a:t>
                </a:r>
                <a:r>
                  <a:rPr lang="en-US" dirty="0"/>
                  <a:t> of binomial distribution is defined as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𝐕</m:t>
                    </m:r>
                    <m:d>
                      <m:d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dirty="0" err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𝐧𝐩𝐪</m:t>
                    </m:r>
                  </m:oMath>
                </a14:m>
                <a:r>
                  <a:rPr lang="en-US" b="1" dirty="0"/>
                  <a:t>.</a:t>
                </a:r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631E0A7E-15C9-4EA1-E759-5F9299B28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5295380"/>
                <a:ext cx="10852011" cy="674601"/>
              </a:xfrm>
              <a:prstGeom prst="rect">
                <a:avLst/>
              </a:prstGeom>
              <a:blipFill>
                <a:blip r:embed="rId4"/>
                <a:stretch>
                  <a:fillRect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BF9A506-FAD5-EF51-4D32-C01F657248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5907635"/>
                <a:ext cx="11610547" cy="6746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standard deviation</a:t>
                </a:r>
                <a:r>
                  <a:rPr lang="en-US" dirty="0"/>
                  <a:t> of binomial distribution is defined as </a:t>
                </a:r>
                <a14:m>
                  <m:oMath xmlns:m="http://schemas.openxmlformats.org/officeDocument/2006/math"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𝛔</m:t>
                    </m:r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𝐧𝐩𝐪</m:t>
                        </m:r>
                      </m:e>
                    </m:rad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BF9A506-FAD5-EF51-4D32-C01F65724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5907635"/>
                <a:ext cx="11610547" cy="674601"/>
              </a:xfrm>
              <a:prstGeom prst="rect">
                <a:avLst/>
              </a:prstGeom>
              <a:blipFill>
                <a:blip r:embed="rId5"/>
                <a:stretch>
                  <a:fillRect b="-243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61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/>
      <p:bldP spid="7" grpId="0" uiExpand="1" build="p"/>
      <p:bldP spid="8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127795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For the binomial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=20,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=0.35</m:t>
                    </m:r>
                  </m:oMath>
                </a14:m>
                <a:r>
                  <a:rPr lang="en-US" dirty="0"/>
                  <a:t>. Find mean, variance and standard deviation.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1277956"/>
              </a:xfrm>
              <a:prstGeom prst="rect">
                <a:avLst/>
              </a:prstGeom>
              <a:blipFill>
                <a:blip r:embed="rId2"/>
                <a:stretch>
                  <a:fillRect l="-1074" r="-1074" b="-8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304919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2147038"/>
                <a:ext cx="4820705" cy="2677656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>
                  <a:lnSpc>
                    <a:spcPct val="150000"/>
                  </a:lnSpc>
                  <a:buClr>
                    <a:srgbClr val="B84742"/>
                  </a:buClr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=20,</m:t>
                    </m:r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=0.35</m:t>
                    </m:r>
                  </m:oMath>
                </a14:m>
                <a:endParaRPr lang="en-IN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0" lvl="0" indent="0" algn="l">
                  <a:lnSpc>
                    <a:spcPct val="150000"/>
                  </a:lnSpc>
                  <a:buClr>
                    <a:srgbClr val="B84742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=1−0.35=0.65</m:t>
                      </m:r>
                    </m:oMath>
                  </m:oMathPara>
                </a14:m>
                <a:endParaRPr lang="en-US" b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2147038"/>
                <a:ext cx="4820705" cy="2677656"/>
              </a:xfrm>
              <a:prstGeom prst="rect">
                <a:avLst/>
              </a:prstGeom>
              <a:blipFill>
                <a:blip r:embed="rId3"/>
                <a:stretch>
                  <a:fillRect l="-2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1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8323" y="798285"/>
                <a:ext cx="5157134" cy="564770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To Find mean,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np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</m:e>
                      </m:d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To find variance,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npq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IN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0.35</m:t>
                          </m:r>
                        </m:e>
                      </m:d>
                      <m:r>
                        <a:rPr lang="en-IN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0.65</m:t>
                          </m:r>
                        </m:e>
                      </m:d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=4.55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23" y="798285"/>
                <a:ext cx="5157134" cy="5647700"/>
              </a:xfrm>
              <a:prstGeom prst="rect">
                <a:avLst/>
              </a:prstGeom>
              <a:blipFill>
                <a:blip r:embed="rId2"/>
                <a:stretch>
                  <a:fillRect l="-23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371772" y="883820"/>
                <a:ext cx="5631542" cy="28743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6"/>
                  </a:buClr>
                  <a:tabLst>
                    <a:tab pos="447675" algn="l"/>
                    <a:tab pos="457200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To find standard deviation,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npq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6"/>
                  </a:buClr>
                  <a:tabLst>
                    <a:tab pos="447675" algn="l"/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×0.35×0.65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6"/>
                  </a:buClr>
                  <a:tabLst>
                    <a:tab pos="447675" algn="l"/>
                    <a:tab pos="45720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=2.1331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772" y="883820"/>
                <a:ext cx="5631542" cy="2874377"/>
              </a:xfrm>
              <a:prstGeom prst="rect">
                <a:avLst/>
              </a:prstGeom>
              <a:blipFill>
                <a:blip r:embed="rId3"/>
                <a:stretch>
                  <a:fillRect l="-21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 flipH="1">
            <a:off x="5692462" y="914399"/>
            <a:ext cx="12879" cy="551215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15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1"/>
                <a:ext cx="11929643" cy="95590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Obtain the binomial distribution function for which mean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and variance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955901"/>
              </a:xfrm>
              <a:prstGeom prst="rect">
                <a:avLst/>
              </a:prstGeom>
              <a:blipFill>
                <a:blip r:embed="rId2"/>
                <a:stretch>
                  <a:fillRect l="-1074" b="-32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010327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210" y="1884528"/>
                <a:ext cx="4862238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210" y="1884528"/>
                <a:ext cx="4862238" cy="665631"/>
              </a:xfrm>
              <a:prstGeom prst="rect">
                <a:avLst/>
              </a:prstGeom>
              <a:blipFill>
                <a:blip r:embed="rId3"/>
                <a:stretch>
                  <a:fillRect l="-250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952857" y="1870377"/>
                <a:ext cx="4742518" cy="34522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6"/>
                  </a:buClr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We know that,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algn="ctr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6"/>
                  </a:buClr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eq.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np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857" y="1870377"/>
                <a:ext cx="4742518" cy="3452227"/>
              </a:xfrm>
              <a:prstGeom prst="rect">
                <a:avLst/>
              </a:prstGeom>
              <a:blipFill>
                <a:blip r:embed="rId4"/>
                <a:stretch>
                  <a:fillRect l="-26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6558448" y="1988438"/>
            <a:ext cx="0" cy="450000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719629" y="2822949"/>
            <a:ext cx="9046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Now,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19629" y="3477686"/>
                <a:ext cx="4240566" cy="25952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npq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⇒5=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   (By (1))</a:t>
                </a:r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629" y="3477686"/>
                <a:ext cx="4240566" cy="25952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624267" y="2666641"/>
                <a:ext cx="3838878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np</m:t>
                    </m:r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--------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267" y="2666641"/>
                <a:ext cx="3838878" cy="665631"/>
              </a:xfrm>
              <a:prstGeom prst="rect">
                <a:avLst/>
              </a:prstGeom>
              <a:blipFill>
                <a:blip r:embed="rId6"/>
                <a:stretch>
                  <a:fillRect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7270379" y="1688719"/>
            <a:ext cx="158314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494442" y="1688719"/>
            <a:ext cx="174145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93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4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8323" y="798285"/>
                <a:ext cx="11284978" cy="330276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IN" dirty="0">
                    <a:solidFill>
                      <a:srgbClr val="002060"/>
                    </a:solidFill>
                  </a:rPr>
                  <a:t>Binomial distribution function is,</a:t>
                </a: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den>
                          </m:f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;</m:t>
                      </m:r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,…, </m:t>
                      </m:r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den>
                          </m:f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sSup>
                        <m:sSup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</m:e>
                        <m:sup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20−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;</m:t>
                      </m:r>
                      <m:r>
                        <m:rPr>
                          <m:sty m:val="p"/>
                        </m:rP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 1, 2,…,20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23" y="798285"/>
                <a:ext cx="11284978" cy="3302764"/>
              </a:xfrm>
              <a:prstGeom prst="rect">
                <a:avLst/>
              </a:prstGeom>
              <a:blipFill>
                <a:blip r:embed="rId2"/>
                <a:stretch>
                  <a:fillRect l="-10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65872" y="1000757"/>
                <a:ext cx="1476000" cy="81173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872" y="1000757"/>
                <a:ext cx="1476000" cy="811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65872" y="1963360"/>
                <a:ext cx="1476000" cy="81173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872" y="1963360"/>
                <a:ext cx="1476000" cy="8117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65872" y="2925963"/>
                <a:ext cx="1476000" cy="81173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872" y="2925963"/>
                <a:ext cx="1476000" cy="811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664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4" grpId="0" animBg="1"/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11025"/>
                <a:ext cx="11929643" cy="200076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12%</m:t>
                    </m:r>
                  </m:oMath>
                </a14:m>
                <a:r>
                  <a:rPr lang="en-US" dirty="0"/>
                  <a:t> of the tablets produced by a tablet machine are defective. What is the probability that out of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tablets produced by the machine,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are defective?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11025"/>
                <a:ext cx="11929643" cy="2000764"/>
              </a:xfrm>
              <a:prstGeom prst="rect">
                <a:avLst/>
              </a:prstGeom>
              <a:blipFill>
                <a:blip r:embed="rId2"/>
                <a:stretch>
                  <a:fillRect l="-1074" r="-1074" b="-12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5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975711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2866527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No. of defective tablets </a:t>
                </a:r>
                <a:r>
                  <a:rPr lang="en-IN" dirty="0">
                    <a:solidFill>
                      <a:srgbClr val="002060"/>
                    </a:solidFill>
                  </a:rPr>
                  <a:t>in a random sample of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tablets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2866527"/>
                <a:ext cx="10435223" cy="665631"/>
              </a:xfrm>
              <a:prstGeom prst="rect">
                <a:avLst/>
              </a:prstGeom>
              <a:blipFill>
                <a:blip r:embed="rId3"/>
                <a:stretch>
                  <a:fillRect l="-122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>
            <a:cxnSpLocks/>
          </p:cNvCxnSpPr>
          <p:nvPr/>
        </p:nvCxnSpPr>
        <p:spPr>
          <a:xfrm>
            <a:off x="3862316" y="2141509"/>
            <a:ext cx="424259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673527" y="1591772"/>
            <a:ext cx="4313126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81910" y="2712678"/>
            <a:ext cx="196780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5B40118-A930-726C-048C-9C24D1D656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489627"/>
                <a:ext cx="8609448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follows a binomial distribution.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5B40118-A930-726C-048C-9C24D1D65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489627"/>
                <a:ext cx="8609448" cy="665631"/>
              </a:xfrm>
              <a:prstGeom prst="rect">
                <a:avLst/>
              </a:prstGeom>
              <a:blipFill>
                <a:blip r:embed="rId4"/>
                <a:stretch>
                  <a:fillRect l="-1487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77E3818-BCEB-90CA-43A2-C9A9A79411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4155258"/>
                <a:ext cx="533480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No. of tablets </a:t>
                </a:r>
                <a14:m>
                  <m:oMath xmlns:m="http://schemas.openxmlformats.org/officeDocument/2006/math"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77E3818-BCEB-90CA-43A2-C9A9A7941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155258"/>
                <a:ext cx="5334803" cy="665631"/>
              </a:xfrm>
              <a:prstGeom prst="rect">
                <a:avLst/>
              </a:prstGeom>
              <a:blipFill>
                <a:blip r:embed="rId5"/>
                <a:stretch>
                  <a:fillRect l="-240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701E258-C5E2-14A7-59E6-D2ED298ADC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5396" y="4748248"/>
                <a:ext cx="9191339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probability that a tablet is defective </a:t>
                </a:r>
                <a14:m>
                  <m:oMath xmlns:m="http://schemas.openxmlformats.org/officeDocument/2006/math"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=12%=0.12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701E258-C5E2-14A7-59E6-D2ED298AD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396" y="4748248"/>
                <a:ext cx="9191339" cy="665631"/>
              </a:xfrm>
              <a:prstGeom prst="rect">
                <a:avLst/>
              </a:prstGeom>
              <a:blipFill>
                <a:blip r:embed="rId6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C53F6DE1-220A-6284-D539-EB8A788AE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5396" y="5381344"/>
                <a:ext cx="7196285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probability that a tablet is non - defective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C53F6DE1-220A-6284-D539-EB8A788AE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396" y="5381344"/>
                <a:ext cx="7196285" cy="665631"/>
              </a:xfrm>
              <a:prstGeom prst="rect">
                <a:avLst/>
              </a:prstGeom>
              <a:blipFill>
                <a:blip r:embed="rId7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3E2D27A-3FED-FF0F-B7FD-417A27C271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18591" y="5941407"/>
                <a:ext cx="3292767" cy="73866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=0.88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3E2D27A-3FED-FF0F-B7FD-417A27C27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591" y="5941407"/>
                <a:ext cx="3292767" cy="7386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92392C-A91F-DDE8-E62A-544454620D23}"/>
                  </a:ext>
                </a:extLst>
              </p:cNvPr>
              <p:cNvSpPr/>
              <p:nvPr/>
            </p:nvSpPr>
            <p:spPr>
              <a:xfrm>
                <a:off x="9843406" y="5694373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92392C-A91F-DDE8-E62A-544454620D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406" y="5694373"/>
                <a:ext cx="2217414" cy="7467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526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4" grpId="0" uiExpand="1" build="p"/>
      <p:bldP spid="6" grpId="0" uiExpand="1" build="p"/>
      <p:bldP spid="7" grpId="0" uiExpand="1" build="p"/>
      <p:bldP spid="11" grpId="0" uiExpand="1" build="p"/>
      <p:bldP spid="12" grpId="0" uiExpand="1" build="p"/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5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1506" y="711201"/>
                <a:ext cx="9196871" cy="398019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The required probability is</a:t>
                </a:r>
              </a:p>
              <a:p>
                <a:pPr marL="446088" indent="-446088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den>
                          </m:f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=5</m:t>
                          </m:r>
                        </m:e>
                      </m:d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num>
                            <m:den>
                              <m:r>
                                <a:rPr lang="en-US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0.12</m:t>
                              </m:r>
                            </m:e>
                          </m:d>
                        </m:e>
                        <m:sup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IN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0.88</m:t>
                              </m:r>
                            </m:e>
                          </m:d>
                        </m:e>
                        <m:sup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20−5</m:t>
                          </m:r>
                        </m:sup>
                      </m:sSup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=5</m:t>
                          </m:r>
                        </m:e>
                      </m:d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0.0567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06" y="711201"/>
                <a:ext cx="9196871" cy="3980192"/>
              </a:xfrm>
              <a:prstGeom prst="rect">
                <a:avLst/>
              </a:prstGeom>
              <a:blipFill>
                <a:blip r:embed="rId2"/>
                <a:stretch>
                  <a:fillRect l="-13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41182" y="2826568"/>
                <a:ext cx="1686280" cy="74676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1182" y="2826568"/>
                <a:ext cx="1686280" cy="7467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41182" y="3723078"/>
                <a:ext cx="1686280" cy="74676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1182" y="3723078"/>
                <a:ext cx="1686280" cy="746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41182" y="4619588"/>
                <a:ext cx="1686280" cy="74676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𝟖𝟖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1182" y="4619588"/>
                <a:ext cx="1686280" cy="7467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41182" y="1930058"/>
                <a:ext cx="1669312" cy="74676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1182" y="1930058"/>
                <a:ext cx="1669312" cy="7467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1946537-FD37-3096-440B-BCFEEA3E9B58}"/>
                  </a:ext>
                </a:extLst>
              </p:cNvPr>
              <p:cNvSpPr/>
              <p:nvPr/>
            </p:nvSpPr>
            <p:spPr>
              <a:xfrm>
                <a:off x="9793080" y="932018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1946537-FD37-3096-440B-BCFEEA3E9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3080" y="932018"/>
                <a:ext cx="2217414" cy="7467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848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1"/>
                <a:ext cx="11929643" cy="100841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Find probability of getting a sum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at least once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tosses of a pair of dice.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1008417"/>
              </a:xfrm>
              <a:prstGeom prst="rect">
                <a:avLst/>
              </a:prstGeom>
              <a:blipFill>
                <a:blip r:embed="rId2"/>
                <a:stretch>
                  <a:fillRect l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038460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262" y="1934995"/>
                <a:ext cx="10405556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times the sum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appears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tosses of a pair of dice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262" y="1934995"/>
                <a:ext cx="10405556" cy="665631"/>
              </a:xfrm>
              <a:prstGeom prst="rect">
                <a:avLst/>
              </a:prstGeom>
              <a:blipFill>
                <a:blip r:embed="rId3"/>
                <a:stretch>
                  <a:fillRect l="-1231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655263" y="3828669"/>
                <a:ext cx="10300175" cy="13119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number of tosses (trials)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Also, Getting a sum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at least once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(</a:t>
                </a:r>
                <a:r>
                  <a:rPr lang="en-US" sz="2800" dirty="0">
                    <a:solidFill>
                      <a:srgbClr val="002060"/>
                    </a:solidFill>
                  </a:rPr>
                  <a:t>Success</a:t>
                </a:r>
                <a:r>
                  <a:rPr lang="en-IN" sz="2800" dirty="0">
                    <a:solidFill>
                      <a:srgbClr val="00206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263" y="3828669"/>
                <a:ext cx="10300175" cy="1311962"/>
              </a:xfrm>
              <a:prstGeom prst="rect">
                <a:avLst/>
              </a:prstGeom>
              <a:blipFill>
                <a:blip r:embed="rId4"/>
                <a:stretch>
                  <a:fillRect l="-1243" b="-1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7F644A-82A6-869C-5D29-72F1B13298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264" y="3188365"/>
                <a:ext cx="10405556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follows a binomial distribution.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7F644A-82A6-869C-5D29-72F1B1329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264" y="3188365"/>
                <a:ext cx="10405556" cy="665631"/>
              </a:xfrm>
              <a:prstGeom prst="rect">
                <a:avLst/>
              </a:prstGeom>
              <a:blipFill>
                <a:blip r:embed="rId5"/>
                <a:stretch>
                  <a:fillRect l="-1231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5EAA01C-0AB0-DDCD-A064-1FE4B28C4314}"/>
                  </a:ext>
                </a:extLst>
              </p:cNvPr>
              <p:cNvSpPr/>
              <p:nvPr/>
            </p:nvSpPr>
            <p:spPr>
              <a:xfrm>
                <a:off x="1655264" y="5187771"/>
                <a:ext cx="10300175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Probability of getting sum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in one toss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5EAA01C-0AB0-DDCD-A064-1FE4B28C43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264" y="5187771"/>
                <a:ext cx="10300175" cy="665631"/>
              </a:xfrm>
              <a:prstGeom prst="rect">
                <a:avLst/>
              </a:prstGeom>
              <a:blipFill>
                <a:blip r:embed="rId6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A0752AB-DBC1-68E7-4BA0-DB8D9CB4ADFB}"/>
                  </a:ext>
                </a:extLst>
              </p:cNvPr>
              <p:cNvSpPr/>
              <p:nvPr/>
            </p:nvSpPr>
            <p:spPr>
              <a:xfrm>
                <a:off x="1625597" y="5900542"/>
                <a:ext cx="804833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Now, total outcomes when two dice are thrown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36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A0752AB-DBC1-68E7-4BA0-DB8D9CB4A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900542"/>
                <a:ext cx="8048339" cy="665631"/>
              </a:xfrm>
              <a:prstGeom prst="rect">
                <a:avLst/>
              </a:prstGeom>
              <a:blipFill>
                <a:blip r:embed="rId7"/>
                <a:stretch>
                  <a:fillRect l="-1591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D77A17F-94DD-E167-AFF6-0DB38D459A3B}"/>
                  </a:ext>
                </a:extLst>
              </p:cNvPr>
              <p:cNvSpPr/>
              <p:nvPr/>
            </p:nvSpPr>
            <p:spPr>
              <a:xfrm>
                <a:off x="9843406" y="5694373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D77A17F-94DD-E167-AFF6-0DB38D459A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406" y="5694373"/>
                <a:ext cx="2217414" cy="7467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C30183C8-8A63-D4DD-BC26-3DBE3D16CD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5263" y="2561680"/>
                <a:ext cx="5743064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Possible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0, 1, 2, 3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C30183C8-8A63-D4DD-BC26-3DBE3D16C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263" y="2561680"/>
                <a:ext cx="5743064" cy="665631"/>
              </a:xfrm>
              <a:prstGeom prst="rect">
                <a:avLst/>
              </a:prstGeom>
              <a:blipFill>
                <a:blip r:embed="rId9"/>
                <a:stretch>
                  <a:fillRect l="-2229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05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3" grpId="0" uiExpand="1" build="p"/>
      <p:bldP spid="6" grpId="0" animBg="1"/>
      <p:bldP spid="12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84F6-45A9-CDD7-9DA6-A81185CE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75D41-3F09-5499-FCFF-F5F25CCCE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FB463F0-B8E4-C717-07EA-BC629A5C4449}"/>
                  </a:ext>
                </a:extLst>
              </p:cNvPr>
              <p:cNvSpPr/>
              <p:nvPr/>
            </p:nvSpPr>
            <p:spPr>
              <a:xfrm>
                <a:off x="138192" y="711201"/>
                <a:ext cx="10300175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Probability of getting sum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in one toss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FB463F0-B8E4-C717-07EA-BC629A5C44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2" y="711201"/>
                <a:ext cx="10300175" cy="665631"/>
              </a:xfrm>
              <a:prstGeom prst="rect">
                <a:avLst/>
              </a:prstGeom>
              <a:blipFill>
                <a:blip r:embed="rId2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1FCC54-E08D-7933-CFEB-678997A013F6}"/>
                  </a:ext>
                </a:extLst>
              </p:cNvPr>
              <p:cNvSpPr/>
              <p:nvPr/>
            </p:nvSpPr>
            <p:spPr>
              <a:xfrm>
                <a:off x="138192" y="1442172"/>
                <a:ext cx="804833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total outcomes when two dice are thrown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36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1FCC54-E08D-7933-CFEB-678997A013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2" y="1442172"/>
                <a:ext cx="8048339" cy="665631"/>
              </a:xfrm>
              <a:prstGeom prst="rect">
                <a:avLst/>
              </a:prstGeom>
              <a:blipFill>
                <a:blip r:embed="rId3"/>
                <a:stretch>
                  <a:fillRect l="-1591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ADFD8F0-D8B3-6A6A-E499-6EB339EE1BDA}"/>
                  </a:ext>
                </a:extLst>
              </p:cNvPr>
              <p:cNvSpPr/>
              <p:nvPr/>
            </p:nvSpPr>
            <p:spPr>
              <a:xfrm>
                <a:off x="138192" y="2218712"/>
                <a:ext cx="11321475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Favourable outcomes for sum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: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6,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5,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3,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4,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ADFD8F0-D8B3-6A6A-E499-6EB339EE1B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2" y="2218712"/>
                <a:ext cx="11321475" cy="665631"/>
              </a:xfrm>
              <a:prstGeom prst="rect">
                <a:avLst/>
              </a:prstGeom>
              <a:blipFill>
                <a:blip r:embed="rId4"/>
                <a:stretch>
                  <a:fillRect l="-1131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E0091D7-75A6-7919-A161-EC698A43BC33}"/>
                  </a:ext>
                </a:extLst>
              </p:cNvPr>
              <p:cNvSpPr/>
              <p:nvPr/>
            </p:nvSpPr>
            <p:spPr>
              <a:xfrm>
                <a:off x="138192" y="2969455"/>
                <a:ext cx="2406075" cy="13065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E0091D7-75A6-7919-A161-EC698A43BC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2" y="2969455"/>
                <a:ext cx="2406075" cy="13065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578B343-A199-209A-DE09-A725A9D84AF3}"/>
                  </a:ext>
                </a:extLst>
              </p:cNvPr>
              <p:cNvSpPr/>
              <p:nvPr/>
            </p:nvSpPr>
            <p:spPr>
              <a:xfrm>
                <a:off x="138192" y="4346286"/>
                <a:ext cx="3810353" cy="1319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578B343-A199-209A-DE09-A725A9D84A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2" y="4346286"/>
                <a:ext cx="3810353" cy="1319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43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11 (Continue)</a:t>
            </a:r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0C88CCD-ABF6-487A-A003-269BE830EF70}"/>
              </a:ext>
            </a:extLst>
          </p:cNvPr>
          <p:cNvSpPr txBox="1">
            <a:spLocks/>
          </p:cNvSpPr>
          <p:nvPr/>
        </p:nvSpPr>
        <p:spPr>
          <a:xfrm>
            <a:off x="153401" y="695713"/>
            <a:ext cx="5426518" cy="664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  <a:tabLst>
                <a:tab pos="447675" algn="l"/>
              </a:tabLst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The required probability 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075528" y="902918"/>
                <a:ext cx="4963071" cy="104599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num>
                            <m:den>
                              <m:r>
                                <a:rPr lang="en-US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</m:d>
                        </m:e>
                        <m:sup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𝐪</m:t>
                              </m:r>
                            </m:e>
                          </m:d>
                        </m:e>
                        <m:sup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528" y="902918"/>
                <a:ext cx="4963071" cy="1045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D48E22A-1CB8-9F3F-A89A-0FDEDF525079}"/>
                  </a:ext>
                </a:extLst>
              </p:cNvPr>
              <p:cNvSpPr/>
              <p:nvPr/>
            </p:nvSpPr>
            <p:spPr>
              <a:xfrm>
                <a:off x="10487915" y="2089437"/>
                <a:ext cx="1550684" cy="73146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D48E22A-1CB8-9F3F-A89A-0FDEDF525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915" y="2089437"/>
                <a:ext cx="1550684" cy="731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5CE49FC-8A2B-702A-3C52-5F796D86F904}"/>
                  </a:ext>
                </a:extLst>
              </p:cNvPr>
              <p:cNvSpPr/>
              <p:nvPr/>
            </p:nvSpPr>
            <p:spPr>
              <a:xfrm>
                <a:off x="10487915" y="2969871"/>
                <a:ext cx="1550684" cy="10264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5CE49FC-8A2B-702A-3C52-5F796D86F9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915" y="2969871"/>
                <a:ext cx="1550684" cy="10264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C2D0B15-725B-C9B0-CC2A-753604E44CBD}"/>
                  </a:ext>
                </a:extLst>
              </p:cNvPr>
              <p:cNvSpPr/>
              <p:nvPr/>
            </p:nvSpPr>
            <p:spPr>
              <a:xfrm>
                <a:off x="10487915" y="4214894"/>
                <a:ext cx="1550684" cy="10264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C2D0B15-725B-C9B0-CC2A-753604E44C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915" y="4214894"/>
                <a:ext cx="1550684" cy="10264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6C7F4A-A277-D81C-0E02-81AEF796871C}"/>
                  </a:ext>
                </a:extLst>
              </p:cNvPr>
              <p:cNvSpPr/>
              <p:nvPr/>
            </p:nvSpPr>
            <p:spPr>
              <a:xfrm>
                <a:off x="562602" y="1340423"/>
                <a:ext cx="651292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6C7F4A-A277-D81C-0E02-81AEF79687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02" y="1340423"/>
                <a:ext cx="651292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C642169-A5C0-D4BC-0408-38EBD307211B}"/>
                  </a:ext>
                </a:extLst>
              </p:cNvPr>
              <p:cNvSpPr/>
              <p:nvPr/>
            </p:nvSpPr>
            <p:spPr>
              <a:xfrm>
                <a:off x="153400" y="2147260"/>
                <a:ext cx="651292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C642169-A5C0-D4BC-0408-38EBD3072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00" y="2147260"/>
                <a:ext cx="6512927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DBA28C7-6014-B9A4-74B2-9C95503113B2}"/>
                  </a:ext>
                </a:extLst>
              </p:cNvPr>
              <p:cNvSpPr/>
              <p:nvPr/>
            </p:nvSpPr>
            <p:spPr>
              <a:xfrm>
                <a:off x="153400" y="2542705"/>
                <a:ext cx="6512927" cy="16721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6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6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DBA28C7-6014-B9A4-74B2-9C9550311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00" y="2542705"/>
                <a:ext cx="6512927" cy="16721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A329931-74D5-5A3E-54A3-01D143260CC3}"/>
                  </a:ext>
                </a:extLst>
              </p:cNvPr>
              <p:cNvSpPr/>
              <p:nvPr/>
            </p:nvSpPr>
            <p:spPr>
              <a:xfrm>
                <a:off x="153400" y="3972077"/>
                <a:ext cx="6512927" cy="15445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125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216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A329931-74D5-5A3E-54A3-01D143260C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00" y="3972077"/>
                <a:ext cx="6512927" cy="154459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1CFC6E0-4591-1CEC-CC89-9CF7AF68CF84}"/>
                  </a:ext>
                </a:extLst>
              </p:cNvPr>
              <p:cNvSpPr/>
              <p:nvPr/>
            </p:nvSpPr>
            <p:spPr>
              <a:xfrm>
                <a:off x="153401" y="5313409"/>
                <a:ext cx="4034136" cy="13065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91</m:t>
                          </m:r>
                        </m:num>
                        <m:den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216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1CFC6E0-4591-1CEC-CC89-9CF7AF68CF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01" y="5313409"/>
                <a:ext cx="4034136" cy="13065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31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6" grpId="0"/>
      <p:bldP spid="8" grpId="0"/>
      <p:bldP spid="9" grpId="0"/>
      <p:bldP spid="10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87193"/>
                <a:ext cx="11929643" cy="298934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The probability that India wins a cricket test match against Australia is given to be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IN" dirty="0"/>
                  <a:t>If India and Australia play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dirty="0"/>
                  <a:t> test matches, what is the probability</a:t>
                </a:r>
              </a:p>
              <a:p>
                <a:r>
                  <a:rPr lang="en-US" dirty="0"/>
                  <a:t>(a)  India will lose all the three test matches?</a:t>
                </a:r>
                <a:endParaRPr lang="en-IN" dirty="0"/>
              </a:p>
              <a:p>
                <a:r>
                  <a:rPr lang="en-US" dirty="0"/>
                  <a:t>(b)  India will win at least one test match?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7193"/>
                <a:ext cx="11929643" cy="2989343"/>
              </a:xfrm>
              <a:prstGeom prst="rect">
                <a:avLst/>
              </a:prstGeom>
              <a:blipFill>
                <a:blip r:embed="rId2"/>
                <a:stretch>
                  <a:fillRect l="-1074" r="-1074" b="-34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14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837450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755177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test matches won by India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755177"/>
                <a:ext cx="10435223" cy="665631"/>
              </a:xfrm>
              <a:prstGeom prst="rect">
                <a:avLst/>
              </a:prstGeom>
              <a:blipFill>
                <a:blip r:embed="rId3"/>
                <a:stretch>
                  <a:fillRect l="-122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6501740" y="2831007"/>
            <a:ext cx="12192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7890547" y="2559450"/>
                <a:ext cx="1236573" cy="52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IN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547" y="2559450"/>
                <a:ext cx="1236573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6501740" y="3429000"/>
            <a:ext cx="12192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7890547" y="3157443"/>
                <a:ext cx="1236573" cy="52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IN" sz="28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547" y="3157443"/>
                <a:ext cx="1236573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9C0A839-08F2-0255-1636-117578CF6CD7}"/>
                  </a:ext>
                </a:extLst>
              </p:cNvPr>
              <p:cNvSpPr/>
              <p:nvPr/>
            </p:nvSpPr>
            <p:spPr>
              <a:xfrm>
                <a:off x="1625595" y="5744684"/>
                <a:ext cx="8940806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Number of test matches played (trials)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9C0A839-08F2-0255-1636-117578CF6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5" y="5744684"/>
                <a:ext cx="8940806" cy="665631"/>
              </a:xfrm>
              <a:prstGeom prst="rect">
                <a:avLst/>
              </a:prstGeom>
              <a:blipFill>
                <a:blip r:embed="rId6"/>
                <a:stretch>
                  <a:fillRect l="-1432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F68133D-16FD-7C5F-8377-4FF18EFD9A5F}"/>
                  </a:ext>
                </a:extLst>
              </p:cNvPr>
              <p:cNvSpPr/>
              <p:nvPr/>
            </p:nvSpPr>
            <p:spPr>
              <a:xfrm>
                <a:off x="9843406" y="4700705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F68133D-16FD-7C5F-8377-4FF18EFD9A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406" y="4700705"/>
                <a:ext cx="2217414" cy="7467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C0FB55-60EF-BE03-B90A-343192C2A0C7}"/>
                  </a:ext>
                </a:extLst>
              </p:cNvPr>
              <p:cNvSpPr/>
              <p:nvPr/>
            </p:nvSpPr>
            <p:spPr>
              <a:xfrm>
                <a:off x="9843406" y="5697423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C0FB55-60EF-BE03-B90A-343192C2A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406" y="5697423"/>
                <a:ext cx="2217414" cy="7467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57A1586B-50BF-1AC6-EC05-3BE7F92BEE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4420808"/>
                <a:ext cx="377767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 1, 2, 3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57A1586B-50BF-1AC6-EC05-3BE7F92BE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420808"/>
                <a:ext cx="3777677" cy="665631"/>
              </a:xfrm>
              <a:prstGeom prst="rect">
                <a:avLst/>
              </a:prstGeom>
              <a:blipFill>
                <a:blip r:embed="rId9"/>
                <a:stretch>
                  <a:fillRect l="-3393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D59D55F-E7FF-24EF-A10F-B390D0239CAE}"/>
                  </a:ext>
                </a:extLst>
              </p:cNvPr>
              <p:cNvSpPr/>
              <p:nvPr/>
            </p:nvSpPr>
            <p:spPr>
              <a:xfrm>
                <a:off x="1625595" y="5087349"/>
                <a:ext cx="8940806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 binomial distribution.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D59D55F-E7FF-24EF-A10F-B390D0239C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5" y="5087349"/>
                <a:ext cx="8940806" cy="665631"/>
              </a:xfrm>
              <a:prstGeom prst="rect">
                <a:avLst/>
              </a:prstGeom>
              <a:blipFill>
                <a:blip r:embed="rId10"/>
                <a:stretch>
                  <a:fillRect l="-143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947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4" grpId="0" animBg="1"/>
      <p:bldP spid="16" grpId="0" animBg="1"/>
      <p:bldP spid="9" grpId="0" animBg="1"/>
      <p:bldP spid="12" grpId="0" animBg="1"/>
      <p:bldP spid="1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9518" y="1568338"/>
                <a:ext cx="4026043" cy="13065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18" y="1568338"/>
                <a:ext cx="4026043" cy="13065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9518" y="1045118"/>
                <a:ext cx="873546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Probability that India wins </a:t>
                </a:r>
                <a:r>
                  <a:rPr lang="en-US" sz="2800" b="1" i="0" dirty="0">
                    <a:solidFill>
                      <a:srgbClr val="002060"/>
                    </a:solidFill>
                    <a:latin typeface="+mj-lt"/>
                  </a:rPr>
                  <a:t>a test</a:t>
                </a: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match against Australia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18" y="1045118"/>
                <a:ext cx="8735468" cy="523220"/>
              </a:xfrm>
              <a:prstGeom prst="rect">
                <a:avLst/>
              </a:prstGeom>
              <a:blipFill>
                <a:blip r:embed="rId3"/>
                <a:stretch>
                  <a:fillRect t="-10465" r="-419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6D13C44-5312-BF92-A4DC-054B7E6CB781}"/>
                  </a:ext>
                </a:extLst>
              </p:cNvPr>
              <p:cNvSpPr/>
              <p:nvPr/>
            </p:nvSpPr>
            <p:spPr>
              <a:xfrm>
                <a:off x="8681966" y="549992"/>
                <a:ext cx="1225972" cy="13065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3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6D13C44-5312-BF92-A4DC-054B7E6CB7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1966" y="549992"/>
                <a:ext cx="1225972" cy="1306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56421A5-DDEA-DC7D-4B97-3183468FE8F1}"/>
                  </a:ext>
                </a:extLst>
              </p:cNvPr>
              <p:cNvSpPr/>
              <p:nvPr/>
            </p:nvSpPr>
            <p:spPr>
              <a:xfrm>
                <a:off x="129518" y="2773019"/>
                <a:ext cx="11801429" cy="13119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To find probability of India will lose all three test matches</a:t>
                </a:r>
              </a:p>
              <a:p>
                <a:pPr lvl="1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Number of test cricket match India win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(</a:t>
                </a: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Success</a:t>
                </a:r>
                <a:r>
                  <a:rPr lang="en-IN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56421A5-DDEA-DC7D-4B97-3183468FE8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18" y="2773019"/>
                <a:ext cx="11801429" cy="1311962"/>
              </a:xfrm>
              <a:prstGeom prst="rect">
                <a:avLst/>
              </a:prstGeom>
              <a:blipFill>
                <a:blip r:embed="rId5"/>
                <a:stretch>
                  <a:fillRect l="-1033" b="-1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2EA574D-5D22-4258-B036-3BDF34082CE9}"/>
              </a:ext>
            </a:extLst>
          </p:cNvPr>
          <p:cNvSpPr/>
          <p:nvPr/>
        </p:nvSpPr>
        <p:spPr>
          <a:xfrm>
            <a:off x="578788" y="4263208"/>
            <a:ext cx="4010431" cy="665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dirty="0">
                <a:solidFill>
                  <a:srgbClr val="002060"/>
                </a:solidFill>
              </a:rPr>
              <a:t>From Binomial distribution, </a:t>
            </a:r>
            <a:endParaRPr lang="en-IN" sz="2800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B346CF-9775-C44C-F9FE-DCE6FEDC648B}"/>
                  </a:ext>
                </a:extLst>
              </p:cNvPr>
              <p:cNvSpPr/>
              <p:nvPr/>
            </p:nvSpPr>
            <p:spPr>
              <a:xfrm>
                <a:off x="4439091" y="4247754"/>
                <a:ext cx="3912405" cy="85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B346CF-9775-C44C-F9FE-DCE6FEDC64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091" y="4247754"/>
                <a:ext cx="3912405" cy="854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25C864A-A652-7E8F-5A83-4D37455D1E40}"/>
                  </a:ext>
                </a:extLst>
              </p:cNvPr>
              <p:cNvSpPr/>
              <p:nvPr/>
            </p:nvSpPr>
            <p:spPr>
              <a:xfrm>
                <a:off x="4019498" y="5289662"/>
                <a:ext cx="5404590" cy="1145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25C864A-A652-7E8F-5A83-4D37455D1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498" y="5289662"/>
                <a:ext cx="5404590" cy="1145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FA0CE5D-3637-C456-6E47-DAA90B14E939}"/>
                  </a:ext>
                </a:extLst>
              </p:cNvPr>
              <p:cNvSpPr/>
              <p:nvPr/>
            </p:nvSpPr>
            <p:spPr>
              <a:xfrm>
                <a:off x="9845068" y="933344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FA0CE5D-3637-C456-6E47-DAA90B14E9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068" y="933344"/>
                <a:ext cx="2217414" cy="7467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8F9DA1D-F261-C2B7-C070-99EA23295067}"/>
                  </a:ext>
                </a:extLst>
              </p:cNvPr>
              <p:cNvSpPr/>
              <p:nvPr/>
            </p:nvSpPr>
            <p:spPr>
              <a:xfrm>
                <a:off x="10354470" y="1902255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8F9DA1D-F261-C2B7-C070-99EA232950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470" y="1902255"/>
                <a:ext cx="1708012" cy="522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80C372C-A60D-476C-1C85-5B09EDA2AACD}"/>
                  </a:ext>
                </a:extLst>
              </p:cNvPr>
              <p:cNvSpPr/>
              <p:nvPr/>
            </p:nvSpPr>
            <p:spPr>
              <a:xfrm>
                <a:off x="10354470" y="2626727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80C372C-A60D-476C-1C85-5B09EDA2AA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470" y="2626727"/>
                <a:ext cx="1708012" cy="9497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FBB691-8C76-0945-3FE4-E70D5ED9E492}"/>
                  </a:ext>
                </a:extLst>
              </p:cNvPr>
              <p:cNvSpPr/>
              <p:nvPr/>
            </p:nvSpPr>
            <p:spPr>
              <a:xfrm>
                <a:off x="10354470" y="3778932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FBB691-8C76-0945-3FE4-E70D5ED9E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470" y="3778932"/>
                <a:ext cx="1708012" cy="98133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11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" grpId="0"/>
      <p:bldP spid="9" grpId="0"/>
      <p:bldP spid="10" grpId="0"/>
      <p:bldP spid="11" grpId="0" build="allAtOnce"/>
      <p:bldP spid="12" grpId="0" animBg="1"/>
      <p:bldP spid="14" grpId="0" animBg="1"/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0A44-06A8-F639-19BD-52BA01A63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9DC2-D9E9-7FC3-5C00-E88D7F3B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A6B905E-9F8F-4FE7-4D35-F7FFB5CF5883}"/>
                  </a:ext>
                </a:extLst>
              </p:cNvPr>
              <p:cNvSpPr/>
              <p:nvPr/>
            </p:nvSpPr>
            <p:spPr>
              <a:xfrm>
                <a:off x="91734" y="811180"/>
                <a:ext cx="5404590" cy="1145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A6B905E-9F8F-4FE7-4D35-F7FFB5CF58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34" y="811180"/>
                <a:ext cx="5404590" cy="1145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DB62266-F100-B590-5009-140711A21405}"/>
                  </a:ext>
                </a:extLst>
              </p:cNvPr>
              <p:cNvSpPr/>
              <p:nvPr/>
            </p:nvSpPr>
            <p:spPr>
              <a:xfrm>
                <a:off x="91734" y="2189707"/>
                <a:ext cx="5404590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27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DB62266-F100-B590-5009-140711A214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34" y="2189707"/>
                <a:ext cx="5404590" cy="898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42313FE-D3D7-7FDD-1903-D262F52D28D3}"/>
                  </a:ext>
                </a:extLst>
              </p:cNvPr>
              <p:cNvSpPr/>
              <p:nvPr/>
            </p:nvSpPr>
            <p:spPr>
              <a:xfrm>
                <a:off x="10354470" y="1902255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42313FE-D3D7-7FDD-1903-D262F52D28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470" y="1902255"/>
                <a:ext cx="1708012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8DC8BF8-BEE4-2140-495C-C664E542041F}"/>
                  </a:ext>
                </a:extLst>
              </p:cNvPr>
              <p:cNvSpPr/>
              <p:nvPr/>
            </p:nvSpPr>
            <p:spPr>
              <a:xfrm>
                <a:off x="10354470" y="2626727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8DC8BF8-BEE4-2140-495C-C664E54204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470" y="2626727"/>
                <a:ext cx="1708012" cy="9497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8CF50C2-C9CC-8554-4320-51992D767C20}"/>
                  </a:ext>
                </a:extLst>
              </p:cNvPr>
              <p:cNvSpPr/>
              <p:nvPr/>
            </p:nvSpPr>
            <p:spPr>
              <a:xfrm>
                <a:off x="10354470" y="3778932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8CF50C2-C9CC-8554-4320-51992D767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470" y="3778932"/>
                <a:ext cx="1708012" cy="9813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BC77CCB-9F6C-C717-7F45-8ADB2EBF0229}"/>
                  </a:ext>
                </a:extLst>
              </p:cNvPr>
              <p:cNvSpPr/>
              <p:nvPr/>
            </p:nvSpPr>
            <p:spPr>
              <a:xfrm>
                <a:off x="0" y="3291143"/>
                <a:ext cx="11801429" cy="13119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To find probability of India will win at least one test match</a:t>
                </a:r>
              </a:p>
              <a:p>
                <a:pPr lvl="1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At least one means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1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IN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(</a:t>
                </a: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Success</a:t>
                </a:r>
                <a:r>
                  <a:rPr lang="en-IN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BC77CCB-9F6C-C717-7F45-8ADB2EBF02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91143"/>
                <a:ext cx="11801429" cy="1311962"/>
              </a:xfrm>
              <a:prstGeom prst="rect">
                <a:avLst/>
              </a:prstGeom>
              <a:blipFill>
                <a:blip r:embed="rId7"/>
                <a:stretch>
                  <a:fillRect l="-1033" b="-1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A2EA560-8F7B-3652-3D15-A18C979BBA6C}"/>
                  </a:ext>
                </a:extLst>
              </p:cNvPr>
              <p:cNvSpPr/>
              <p:nvPr/>
            </p:nvSpPr>
            <p:spPr>
              <a:xfrm>
                <a:off x="511327" y="4668529"/>
                <a:ext cx="651292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A2EA560-8F7B-3652-3D15-A18C979BB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27" y="4668529"/>
                <a:ext cx="6512927" cy="7386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B1526E5-24ED-ABCD-B39F-D7EEA9B7D450}"/>
                  </a:ext>
                </a:extLst>
              </p:cNvPr>
              <p:cNvSpPr/>
              <p:nvPr/>
            </p:nvSpPr>
            <p:spPr>
              <a:xfrm>
                <a:off x="91734" y="5475472"/>
                <a:ext cx="651292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B1526E5-24ED-ABCD-B39F-D7EEA9B7D4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34" y="5475472"/>
                <a:ext cx="6512927" cy="738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C2E1B2A-0619-409F-6AFA-80C2719AEB1A}"/>
                  </a:ext>
                </a:extLst>
              </p:cNvPr>
              <p:cNvSpPr/>
              <p:nvPr/>
            </p:nvSpPr>
            <p:spPr>
              <a:xfrm>
                <a:off x="9845068" y="933344"/>
                <a:ext cx="2217414" cy="746768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C2E1B2A-0619-409F-6AFA-80C2719AEB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068" y="933344"/>
                <a:ext cx="2217414" cy="7467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28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  <p:bldP spid="18" grpId="0"/>
      <p:bldP spid="19" grpId="0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450280" y="2066993"/>
                <a:ext cx="2593073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𝟐𝟕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280" y="2066993"/>
                <a:ext cx="2593073" cy="981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48647" y="711201"/>
                <a:ext cx="494048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47" y="711201"/>
                <a:ext cx="4940488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7824B18-60BD-0AF2-6A35-75B2001E450C}"/>
                  </a:ext>
                </a:extLst>
              </p:cNvPr>
              <p:cNvSpPr/>
              <p:nvPr/>
            </p:nvSpPr>
            <p:spPr>
              <a:xfrm>
                <a:off x="148647" y="1622137"/>
                <a:ext cx="4940488" cy="130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27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7824B18-60BD-0AF2-6A35-75B2001E4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47" y="1622137"/>
                <a:ext cx="4940488" cy="13022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5A43A7E-1FA6-5915-CA82-8A50DAB17CBF}"/>
                  </a:ext>
                </a:extLst>
              </p:cNvPr>
              <p:cNvSpPr/>
              <p:nvPr/>
            </p:nvSpPr>
            <p:spPr>
              <a:xfrm>
                <a:off x="148647" y="2924417"/>
                <a:ext cx="4940488" cy="130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27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5A43A7E-1FA6-5915-CA82-8A50DAB17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47" y="2924417"/>
                <a:ext cx="4940488" cy="1302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20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87193"/>
                <a:ext cx="11929643" cy="277688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By assuming equal probabilities for boys &amp; girls.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families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children each, how many would you expect to have</a:t>
                </a:r>
                <a:endParaRPr lang="en-IN" dirty="0"/>
              </a:p>
              <a:p>
                <a:r>
                  <a:rPr lang="en-US" dirty="0"/>
                  <a:t>(a)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boys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girls? 				(b)  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boy?</a:t>
                </a:r>
                <a:endParaRPr lang="en-IN" dirty="0"/>
              </a:p>
              <a:p>
                <a:r>
                  <a:rPr lang="en-US" dirty="0"/>
                  <a:t>(c)   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girls? 				(d)   no girl?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7193"/>
                <a:ext cx="11929643" cy="2776889"/>
              </a:xfrm>
              <a:prstGeom prst="rect">
                <a:avLst/>
              </a:prstGeom>
              <a:blipFill>
                <a:blip r:embed="rId2"/>
                <a:stretch>
                  <a:fillRect l="-1074" r="-1074" b="-26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21 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764378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645994"/>
                <a:ext cx="1020083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boys in one family ( or number of girls in one family )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645994"/>
                <a:ext cx="10200837" cy="665631"/>
              </a:xfrm>
              <a:prstGeom prst="rect">
                <a:avLst/>
              </a:prstGeom>
              <a:blipFill>
                <a:blip r:embed="rId3"/>
                <a:stretch>
                  <a:fillRect l="-1255" r="-6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E010E-95B3-E0AA-F69C-E2ED209D3E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8488" y="5865279"/>
                <a:ext cx="8183421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:r>
                  <a:rPr lang="en-US" dirty="0">
                    <a:solidFill>
                      <a:srgbClr val="002060"/>
                    </a:solidFill>
                  </a:rPr>
                  <a:t>Number of children in one family </a:t>
                </a:r>
                <a14:m>
                  <m:oMath xmlns:m="http://schemas.openxmlformats.org/officeDocument/2006/math">
                    <m:r>
                      <a:rPr lang="en-IN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E010E-95B3-E0AA-F69C-E2ED209D3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488" y="5865279"/>
                <a:ext cx="8183421" cy="665631"/>
              </a:xfrm>
              <a:prstGeom prst="rect">
                <a:avLst/>
              </a:prstGeom>
              <a:blipFill>
                <a:blip r:embed="rId4"/>
                <a:stretch>
                  <a:fillRect l="-156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600387D-3589-14A9-2DB0-D273B65C52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8488" y="5125487"/>
                <a:ext cx="1020083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follows a binomial distribution.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600387D-3589-14A9-2DB0-D273B65C5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488" y="5125487"/>
                <a:ext cx="10200837" cy="665631"/>
              </a:xfrm>
              <a:prstGeom prst="rect">
                <a:avLst/>
              </a:prstGeom>
              <a:blipFill>
                <a:blip r:embed="rId5"/>
                <a:stretch>
                  <a:fillRect l="-125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00A723F-01D6-AEBF-7915-678FC8F687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52593" y="4385695"/>
                <a:ext cx="400627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 1, 2, 3, 4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00A723F-01D6-AEBF-7915-678FC8F68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593" y="4385695"/>
                <a:ext cx="4006277" cy="665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17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4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53023" y="2346594"/>
                <a:ext cx="4224627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m:rPr>
                        <m:sty m:val="p"/>
                      </m:rPr>
                      <a:rPr lang="en-US" sz="2800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800" b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800" dirty="0">
                    <a:solidFill>
                      <a:schemeClr val="tx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Probability of a boy </a:t>
                </a:r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23" y="2346594"/>
                <a:ext cx="4224627" cy="664221"/>
              </a:xfrm>
              <a:prstGeom prst="rect">
                <a:avLst/>
              </a:prstGeom>
              <a:blipFill>
                <a:blip r:embed="rId2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35081" y="4453229"/>
                <a:ext cx="591242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Also, total number of families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81" y="4453229"/>
                <a:ext cx="5912427" cy="523220"/>
              </a:xfrm>
              <a:prstGeom prst="rect">
                <a:avLst/>
              </a:prstGeom>
              <a:blipFill>
                <a:blip r:embed="rId3"/>
                <a:stretch>
                  <a:fillRect l="-2062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30F0621-FF5E-CDF0-48E2-A0DBEECB3E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1459" y="1418350"/>
                <a:ext cx="6855695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So, Probability of a boy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Probability of a girl </a:t>
                </a:r>
                <a:endParaRPr lang="en-IN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30F0621-FF5E-CDF0-48E2-A0DBEECB3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59" y="1418350"/>
                <a:ext cx="6855695" cy="665631"/>
              </a:xfrm>
              <a:prstGeom prst="rect">
                <a:avLst/>
              </a:prstGeom>
              <a:blipFill>
                <a:blip r:embed="rId4"/>
                <a:stretch>
                  <a:fillRect l="-186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E511ED-3F24-90B1-EEB7-6285F99EA686}"/>
                  </a:ext>
                </a:extLst>
              </p:cNvPr>
              <p:cNvSpPr/>
              <p:nvPr/>
            </p:nvSpPr>
            <p:spPr>
              <a:xfrm>
                <a:off x="553023" y="3010815"/>
                <a:ext cx="3271633" cy="130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 b="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sz="2800" b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E511ED-3F24-90B1-EEB7-6285F99EA6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23" y="3010815"/>
                <a:ext cx="3271633" cy="1302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D33F6C6-140B-E73F-28F2-F477E3A83C9A}"/>
                  </a:ext>
                </a:extLst>
              </p:cNvPr>
              <p:cNvSpPr/>
              <p:nvPr/>
            </p:nvSpPr>
            <p:spPr>
              <a:xfrm>
                <a:off x="4270515" y="1968818"/>
                <a:ext cx="1280535" cy="130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2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D33F6C6-140B-E73F-28F2-F477E3A83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515" y="1968818"/>
                <a:ext cx="1280535" cy="13022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286DA6-B6A9-1C62-C859-D7FA39F7D105}"/>
                  </a:ext>
                </a:extLst>
              </p:cNvPr>
              <p:cNvSpPr txBox="1"/>
              <p:nvPr/>
            </p:nvSpPr>
            <p:spPr>
              <a:xfrm>
                <a:off x="135080" y="5034735"/>
                <a:ext cx="11045537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B14440"/>
                    </a:solidFill>
                    <a:sym typeface="Wingdings 3" panose="05040102010807070707" pitchFamily="18" charset="2"/>
                  </a:rPr>
                  <a:t></a:t>
                </a:r>
                <a:r>
                  <a:rPr lang="en-US" sz="2800" dirty="0">
                    <a:solidFill>
                      <a:srgbClr val="002060"/>
                    </a:solidFill>
                    <a:sym typeface="Wingdings 3" panose="05040102010807070707" pitchFamily="18" charset="2"/>
                  </a:rPr>
                  <a:t> </a:t>
                </a:r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Note that, if an event occurs with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 for one family, then</a:t>
                </a:r>
              </a:p>
              <a:p>
                <a:pPr algn="ctr">
                  <a:tabLst>
                    <a:tab pos="895350" algn="l"/>
                  </a:tabLst>
                </a:pPr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Expected number of such families out of </a:t>
                </a:r>
                <a14:m>
                  <m:oMath xmlns:m="http://schemas.openxmlformats.org/officeDocument/2006/math"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800=</m:t>
                    </m:r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𝟖𝟎𝟎</m:t>
                    </m:r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sz="2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IN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IN" sz="2800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286DA6-B6A9-1C62-C859-D7FA39F7D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80" y="5034735"/>
                <a:ext cx="11045537" cy="1384995"/>
              </a:xfrm>
              <a:prstGeom prst="rect">
                <a:avLst/>
              </a:prstGeom>
              <a:blipFill>
                <a:blip r:embed="rId7"/>
                <a:stretch>
                  <a:fillRect l="-1104" b="-118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6155E55-E1C2-01CD-9095-221CE6721E80}"/>
              </a:ext>
            </a:extLst>
          </p:cNvPr>
          <p:cNvSpPr txBox="1"/>
          <p:nvPr/>
        </p:nvSpPr>
        <p:spPr>
          <a:xfrm>
            <a:off x="135081" y="839121"/>
            <a:ext cx="11284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From the data, by assuming equal probabilities for boys and girls</a:t>
            </a:r>
            <a:endParaRPr lang="en-IN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40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  <p:bldP spid="5" grpId="0"/>
      <p:bldP spid="6" grpId="0"/>
      <p:bldP spid="7" grpId="0"/>
      <p:bldP spid="8" grpId="0"/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0798" y="711201"/>
                <a:ext cx="118014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Expected number of families with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boys 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girls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" y="711201"/>
                <a:ext cx="11801429" cy="665631"/>
              </a:xfrm>
              <a:prstGeom prst="rect">
                <a:avLst/>
              </a:prstGeom>
              <a:blipFill>
                <a:blip r:embed="rId2"/>
                <a:stretch>
                  <a:fillRect l="-108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617454" y="1317732"/>
            <a:ext cx="4010431" cy="665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From Binomial distribution, </a:t>
            </a:r>
            <a:endParaRPr lang="en-IN" sz="2800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43302" y="2108824"/>
                <a:ext cx="5393817" cy="1145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02" y="2108824"/>
                <a:ext cx="5393817" cy="1145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676432" y="4491228"/>
                <a:ext cx="2953437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=800×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300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432" y="4491228"/>
                <a:ext cx="2953437" cy="9017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44B2CAB-2FA4-720A-2E50-B8F57CEBF8A8}"/>
                  </a:ext>
                </a:extLst>
              </p:cNvPr>
              <p:cNvSpPr/>
              <p:nvPr/>
            </p:nvSpPr>
            <p:spPr>
              <a:xfrm>
                <a:off x="223535" y="3462709"/>
                <a:ext cx="5217401" cy="9019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44B2CAB-2FA4-720A-2E50-B8F57CEBF8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35" y="3462709"/>
                <a:ext cx="5217401" cy="9019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B9CA197-1B41-1BB3-0AF9-01E9A3408FD0}"/>
                  </a:ext>
                </a:extLst>
              </p:cNvPr>
              <p:cNvSpPr/>
              <p:nvPr/>
            </p:nvSpPr>
            <p:spPr>
              <a:xfrm>
                <a:off x="3198604" y="4680511"/>
                <a:ext cx="266329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B9CA197-1B41-1BB3-0AF9-01E9A3408F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604" y="4680511"/>
                <a:ext cx="266329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848A0DC-FC3B-9608-E927-ACF8D4758AAA}"/>
                  </a:ext>
                </a:extLst>
              </p:cNvPr>
              <p:cNvSpPr/>
              <p:nvPr/>
            </p:nvSpPr>
            <p:spPr>
              <a:xfrm>
                <a:off x="332769" y="5306210"/>
                <a:ext cx="11801429" cy="1310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If we look 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families with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children each, then on average, about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families will have exactly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boys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girls.</a:t>
                </a:r>
                <a:endParaRPr lang="en-IN" sz="2800" b="1" i="1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848A0DC-FC3B-9608-E927-ACF8D4758A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69" y="5306210"/>
                <a:ext cx="11801429" cy="1310552"/>
              </a:xfrm>
              <a:prstGeom prst="rect">
                <a:avLst/>
              </a:prstGeom>
              <a:blipFill>
                <a:blip r:embed="rId11"/>
                <a:stretch>
                  <a:fillRect l="-1085" r="-1033" b="-1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8082B4E-E422-F78C-5D38-149A6057FAAB}"/>
              </a:ext>
            </a:extLst>
          </p:cNvPr>
          <p:cNvSpPr txBox="1"/>
          <p:nvPr/>
        </p:nvSpPr>
        <p:spPr>
          <a:xfrm>
            <a:off x="223535" y="4683153"/>
            <a:ext cx="4218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Expected Number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8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 animBg="1"/>
      <p:bldP spid="21" grpId="0"/>
      <p:bldP spid="5" grpId="0"/>
      <p:bldP spid="7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7AF7C-24D2-24A6-AFE9-917C01566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8E20E-4EEB-727E-582F-DB574C72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3383EB4-01B0-3964-A08C-1F6C46AFF8E7}"/>
                  </a:ext>
                </a:extLst>
              </p:cNvPr>
              <p:cNvSpPr/>
              <p:nvPr/>
            </p:nvSpPr>
            <p:spPr>
              <a:xfrm>
                <a:off x="150798" y="711201"/>
                <a:ext cx="118014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Expected number of families with at least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boy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3383EB4-01B0-3964-A08C-1F6C46AFF8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" y="711201"/>
                <a:ext cx="11801429" cy="665631"/>
              </a:xfrm>
              <a:prstGeom prst="rect">
                <a:avLst/>
              </a:prstGeom>
              <a:blipFill>
                <a:blip r:embed="rId2"/>
                <a:stretch>
                  <a:fillRect l="-108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6742B46-2C21-3D86-4B48-9820056F7B27}"/>
                  </a:ext>
                </a:extLst>
              </p:cNvPr>
              <p:cNvSpPr/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6742B46-2C21-3D86-4B48-9820056F7B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D768D62-9026-404C-5909-D34A89301313}"/>
                  </a:ext>
                </a:extLst>
              </p:cNvPr>
              <p:cNvSpPr/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D768D62-9026-404C-5909-D34A89301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89B9C04-A5C8-E4B6-EB52-31E436CB30CD}"/>
                  </a:ext>
                </a:extLst>
              </p:cNvPr>
              <p:cNvSpPr/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89B9C04-A5C8-E4B6-EB52-31E436CB3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DB15BBB-58A3-41ED-F727-0B4E370D8015}"/>
                  </a:ext>
                </a:extLst>
              </p:cNvPr>
              <p:cNvSpPr/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DB15BBB-58A3-41ED-F727-0B4E370D80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B198EE4-8D39-257F-3FB6-5D7125B12C78}"/>
                  </a:ext>
                </a:extLst>
              </p:cNvPr>
              <p:cNvSpPr/>
              <p:nvPr/>
            </p:nvSpPr>
            <p:spPr>
              <a:xfrm>
                <a:off x="674301" y="1454967"/>
                <a:ext cx="512365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m:t>At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m:t>least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m:t>one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m:t>means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m:t> </m:t>
                      </m:r>
                      <m:r>
                        <a:rPr lang="en-US" sz="2800" i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i="1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B198EE4-8D39-257F-3FB6-5D7125B12C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01" y="1454967"/>
                <a:ext cx="512365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2C25242-45E5-BE67-80AA-F7C9C4C6789D}"/>
                  </a:ext>
                </a:extLst>
              </p:cNvPr>
              <p:cNvSpPr/>
              <p:nvPr/>
            </p:nvSpPr>
            <p:spPr>
              <a:xfrm>
                <a:off x="674301" y="2023796"/>
                <a:ext cx="651292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2C25242-45E5-BE67-80AA-F7C9C4C678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01" y="2023796"/>
                <a:ext cx="6512927" cy="7386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1CBDE10-D101-36AD-64C1-27B141D28C15}"/>
                  </a:ext>
                </a:extLst>
              </p:cNvPr>
              <p:cNvSpPr/>
              <p:nvPr/>
            </p:nvSpPr>
            <p:spPr>
              <a:xfrm>
                <a:off x="254708" y="2875644"/>
                <a:ext cx="651292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1CBDE10-D101-36AD-64C1-27B141D28C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08" y="2875644"/>
                <a:ext cx="6512927" cy="738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914CFF1-3561-23F5-B705-7D428E7D2AFB}"/>
                  </a:ext>
                </a:extLst>
              </p:cNvPr>
              <p:cNvSpPr/>
              <p:nvPr/>
            </p:nvSpPr>
            <p:spPr>
              <a:xfrm>
                <a:off x="254708" y="3476999"/>
                <a:ext cx="6512927" cy="16721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914CFF1-3561-23F5-B705-7D428E7D2A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08" y="3476999"/>
                <a:ext cx="6512927" cy="167218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940C66D-DE77-2CA1-DE93-27DA4B6619E9}"/>
                  </a:ext>
                </a:extLst>
              </p:cNvPr>
              <p:cNvSpPr/>
              <p:nvPr/>
            </p:nvSpPr>
            <p:spPr>
              <a:xfrm>
                <a:off x="254708" y="5099403"/>
                <a:ext cx="4338074" cy="130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940C66D-DE77-2CA1-DE93-27DA4B661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08" y="5099403"/>
                <a:ext cx="4338074" cy="13022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090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9" grpId="0"/>
      <p:bldP spid="10" grpId="0"/>
      <p:bldP spid="11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1B29-AE7A-3C2A-C428-432E7DC2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583C9-E484-722F-C30D-FE61348DC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21 (Continue)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FE9D88-5863-F4F6-433F-626714D1124B}"/>
              </a:ext>
            </a:extLst>
          </p:cNvPr>
          <p:cNvSpPr/>
          <p:nvPr/>
        </p:nvSpPr>
        <p:spPr>
          <a:xfrm>
            <a:off x="150798" y="711201"/>
            <a:ext cx="11801429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(b) Expected number of families with at least 1 boy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EEFADB-F304-5368-F066-1D138E06CCE4}"/>
                  </a:ext>
                </a:extLst>
              </p:cNvPr>
              <p:cNvSpPr/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EEFADB-F304-5368-F066-1D138E06CC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A5D9CF7-EB0F-BC06-B2E7-AB53D478A494}"/>
                  </a:ext>
                </a:extLst>
              </p:cNvPr>
              <p:cNvSpPr/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A5D9CF7-EB0F-BC06-B2E7-AB53D478A4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695B42-3BB0-7C95-9200-89172A04B193}"/>
                  </a:ext>
                </a:extLst>
              </p:cNvPr>
              <p:cNvSpPr/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695B42-3BB0-7C95-9200-89172A04B1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DE6B4F-6A2A-61C5-D2A7-06769C037DA1}"/>
                  </a:ext>
                </a:extLst>
              </p:cNvPr>
              <p:cNvSpPr/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DE6B4F-6A2A-61C5-D2A7-06769C037D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3CF42B-CFE2-3106-FC69-333D64DD2A71}"/>
                  </a:ext>
                </a:extLst>
              </p:cNvPr>
              <p:cNvSpPr/>
              <p:nvPr/>
            </p:nvSpPr>
            <p:spPr>
              <a:xfrm>
                <a:off x="239773" y="1237842"/>
                <a:ext cx="4338074" cy="130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3CF42B-CFE2-3106-FC69-333D64DD2A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73" y="1237842"/>
                <a:ext cx="4338074" cy="13022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7A3BAB8-56CE-376B-F71D-82213D5E8AFD}"/>
                  </a:ext>
                </a:extLst>
              </p:cNvPr>
              <p:cNvSpPr/>
              <p:nvPr/>
            </p:nvSpPr>
            <p:spPr>
              <a:xfrm>
                <a:off x="239773" y="2540122"/>
                <a:ext cx="4338074" cy="1319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7A3BAB8-56CE-376B-F71D-82213D5E8A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73" y="2540122"/>
                <a:ext cx="4338074" cy="13197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31AC36-0B5E-397B-E99B-1238A40F3F2A}"/>
                  </a:ext>
                </a:extLst>
              </p:cNvPr>
              <p:cNvSpPr/>
              <p:nvPr/>
            </p:nvSpPr>
            <p:spPr>
              <a:xfrm>
                <a:off x="3214842" y="4985308"/>
                <a:ext cx="2464194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=800×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631AC36-0B5E-397B-E99B-1238A40F3F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842" y="4985308"/>
                <a:ext cx="2464194" cy="910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B1931A9-BB49-30F5-C8D9-47DAE314145D}"/>
                  </a:ext>
                </a:extLst>
              </p:cNvPr>
              <p:cNvSpPr/>
              <p:nvPr/>
            </p:nvSpPr>
            <p:spPr>
              <a:xfrm>
                <a:off x="3214842" y="4160965"/>
                <a:ext cx="266489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B1931A9-BB49-30F5-C8D9-47DAE3141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842" y="4160965"/>
                <a:ext cx="26648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E3C7FB2-46D3-D01C-3ABF-70D315B1FBB9}"/>
              </a:ext>
            </a:extLst>
          </p:cNvPr>
          <p:cNvSpPr txBox="1"/>
          <p:nvPr/>
        </p:nvSpPr>
        <p:spPr>
          <a:xfrm>
            <a:off x="239773" y="4163607"/>
            <a:ext cx="4218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Expected Number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FDB509-6D38-28B0-71B1-D4749EB38867}"/>
                  </a:ext>
                </a:extLst>
              </p:cNvPr>
              <p:cNvSpPr/>
              <p:nvPr/>
            </p:nvSpPr>
            <p:spPr>
              <a:xfrm>
                <a:off x="5239307" y="5210156"/>
                <a:ext cx="17433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750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FDB509-6D38-28B0-71B1-D4749EB38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307" y="5210156"/>
                <a:ext cx="174338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8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8084-8887-34F4-EC80-03D66124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D42A7-3BA8-640A-4858-ECBB6A02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9BF18DD-E3E5-112A-8A06-24E259C88EFD}"/>
                  </a:ext>
                </a:extLst>
              </p:cNvPr>
              <p:cNvSpPr/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9BF18DD-E3E5-112A-8A06-24E259C88E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6C2690C-7052-289A-6A61-B2D9FDEA7B8C}"/>
                  </a:ext>
                </a:extLst>
              </p:cNvPr>
              <p:cNvSpPr/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6C2690C-7052-289A-6A61-B2D9FDEA7B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6D76AEF-8E6A-C61C-FFC6-9A785AAE4886}"/>
                  </a:ext>
                </a:extLst>
              </p:cNvPr>
              <p:cNvSpPr/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6D76AEF-8E6A-C61C-FFC6-9A785AAE4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EFD746C-C708-C425-A225-9221D607380B}"/>
                  </a:ext>
                </a:extLst>
              </p:cNvPr>
              <p:cNvSpPr/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EFD746C-C708-C425-A225-9221D60738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C732822-0C94-FEDF-5C23-F721E7612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9382" y="1336450"/>
                <a:ext cx="7512628" cy="3017341"/>
              </a:xfrm>
            </p:spPr>
            <p:txBody>
              <a:bodyPr/>
              <a:lstStyle/>
              <a:p>
                <a:pPr lvl="0">
                  <a:lnSpc>
                    <a:spcPct val="130000"/>
                  </a:lnSpc>
                </a:pP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girls means:</a:t>
                </a:r>
              </a:p>
              <a:p>
                <a:pPr lvl="1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girls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IN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IN" i="1" dirty="0">
                    <a:solidFill>
                      <a:schemeClr val="tx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dirty="0">
                    <a:solidFill>
                      <a:schemeClr val="tx2">
                        <a:lumMod val="50000"/>
                      </a:schemeClr>
                    </a:solidFill>
                  </a:rPr>
                  <a:t>boys</a:t>
                </a:r>
              </a:p>
              <a:p>
                <a:pPr lvl="1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girl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IN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i="1" dirty="0">
                    <a:solidFill>
                      <a:schemeClr val="tx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dirty="0">
                    <a:solidFill>
                      <a:schemeClr val="tx2">
                        <a:lumMod val="50000"/>
                      </a:schemeClr>
                    </a:solidFill>
                  </a:rPr>
                  <a:t>boys</a:t>
                </a:r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 lvl="1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girls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IN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i="1" dirty="0">
                    <a:solidFill>
                      <a:schemeClr val="tx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dirty="0">
                    <a:solidFill>
                      <a:schemeClr val="tx2">
                        <a:lumMod val="50000"/>
                      </a:schemeClr>
                    </a:solidFill>
                  </a:rPr>
                  <a:t>boys</a:t>
                </a:r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That is equivalent to </a:t>
                </a:r>
                <a:r>
                  <a:rPr lang="en-US" b="1" dirty="0">
                    <a:solidFill>
                      <a:schemeClr val="tx2">
                        <a:lumMod val="50000"/>
                      </a:schemeClr>
                    </a:solidFill>
                  </a:rPr>
                  <a:t>at least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b="1" dirty="0">
                    <a:solidFill>
                      <a:schemeClr val="tx2">
                        <a:lumMod val="50000"/>
                      </a:schemeClr>
                    </a:solidFill>
                  </a:rPr>
                  <a:t> boys</a:t>
                </a: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IN" b="1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b="1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C732822-0C94-FEDF-5C23-F721E7612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9382" y="1336450"/>
                <a:ext cx="7512628" cy="3017341"/>
              </a:xfrm>
              <a:blipFill>
                <a:blip r:embed="rId6"/>
                <a:stretch>
                  <a:fillRect l="-15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71F0063-B254-601A-A82E-30903D40FE47}"/>
                  </a:ext>
                </a:extLst>
              </p:cNvPr>
              <p:cNvSpPr/>
              <p:nvPr/>
            </p:nvSpPr>
            <p:spPr>
              <a:xfrm>
                <a:off x="9518073" y="4737147"/>
                <a:ext cx="2523129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71F0063-B254-601A-A82E-30903D40F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8073" y="4737147"/>
                <a:ext cx="2523129" cy="9813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4CAB7454-5187-FF7A-EA9C-B6E357FB205B}"/>
              </a:ext>
            </a:extLst>
          </p:cNvPr>
          <p:cNvSpPr/>
          <p:nvPr/>
        </p:nvSpPr>
        <p:spPr>
          <a:xfrm>
            <a:off x="150797" y="670819"/>
            <a:ext cx="11801429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(c) Expected number of families with at most 2 girls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7EE958B-D7D7-7882-8064-DAF2F5898DD4}"/>
                  </a:ext>
                </a:extLst>
              </p:cNvPr>
              <p:cNvSpPr/>
              <p:nvPr/>
            </p:nvSpPr>
            <p:spPr>
              <a:xfrm>
                <a:off x="633846" y="4424647"/>
                <a:ext cx="22860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7EE958B-D7D7-7882-8064-DAF2F5898D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46" y="4424647"/>
                <a:ext cx="228600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C5DF413-1056-4CC9-4817-CFC8E8CECEEF}"/>
                  </a:ext>
                </a:extLst>
              </p:cNvPr>
              <p:cNvSpPr/>
              <p:nvPr/>
            </p:nvSpPr>
            <p:spPr>
              <a:xfrm>
                <a:off x="2504209" y="4424647"/>
                <a:ext cx="52578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C5DF413-1056-4CC9-4817-CFC8E8CECE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209" y="4424647"/>
                <a:ext cx="525780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BAB468C-538B-A33E-4D47-B3BE4528D1DE}"/>
                  </a:ext>
                </a:extLst>
              </p:cNvPr>
              <p:cNvSpPr/>
              <p:nvPr/>
            </p:nvSpPr>
            <p:spPr>
              <a:xfrm>
                <a:off x="249382" y="5243496"/>
                <a:ext cx="7512627" cy="1220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16 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type m:val="noBar"/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BAB468C-538B-A33E-4D47-B3BE4528D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82" y="5243496"/>
                <a:ext cx="7512627" cy="12202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18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" grpId="0" animBg="1"/>
      <p:bldP spid="5" grpId="0"/>
      <p:bldP spid="6" grpId="0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52357-9354-7FD3-69D3-2316CEAF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6FF2-C9B9-4DAA-AD11-5ACF5FFD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21 (Continue)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42A18-802F-9E8D-0446-758DE137CFFC}"/>
              </a:ext>
            </a:extLst>
          </p:cNvPr>
          <p:cNvSpPr/>
          <p:nvPr/>
        </p:nvSpPr>
        <p:spPr>
          <a:xfrm>
            <a:off x="150797" y="670819"/>
            <a:ext cx="11801429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(c) Expected number of families with at most 2 girls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CDA9F23-C779-A09E-DFF2-3D90FFBBE8FF}"/>
                  </a:ext>
                </a:extLst>
              </p:cNvPr>
              <p:cNvSpPr/>
              <p:nvPr/>
            </p:nvSpPr>
            <p:spPr>
              <a:xfrm>
                <a:off x="150798" y="1798942"/>
                <a:ext cx="277437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CDA9F23-C779-A09E-DFF2-3D90FFBBE8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" y="1798942"/>
                <a:ext cx="277437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3FFA52D-23A7-86F5-A8FD-43DC43B4B16E}"/>
                  </a:ext>
                </a:extLst>
              </p:cNvPr>
              <p:cNvSpPr/>
              <p:nvPr/>
            </p:nvSpPr>
            <p:spPr>
              <a:xfrm>
                <a:off x="2436797" y="1450417"/>
                <a:ext cx="5787737" cy="1220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16 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type m:val="noBar"/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3FFA52D-23A7-86F5-A8FD-43DC43B4B1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797" y="1450417"/>
                <a:ext cx="5787737" cy="1220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FF151BD-F738-1F3D-7B0D-638B706A62A8}"/>
                  </a:ext>
                </a:extLst>
              </p:cNvPr>
              <p:cNvSpPr/>
              <p:nvPr/>
            </p:nvSpPr>
            <p:spPr>
              <a:xfrm>
                <a:off x="2021161" y="2868964"/>
                <a:ext cx="4074840" cy="10511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16 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16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FF151BD-F738-1F3D-7B0D-638B706A62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161" y="2868964"/>
                <a:ext cx="4074840" cy="10511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81A6C09-7770-2B2D-7E2B-DD68EBA67CFF}"/>
                  </a:ext>
                </a:extLst>
              </p:cNvPr>
              <p:cNvSpPr/>
              <p:nvPr/>
            </p:nvSpPr>
            <p:spPr>
              <a:xfrm>
                <a:off x="150798" y="4089235"/>
                <a:ext cx="3756184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81A6C09-7770-2B2D-7E2B-DD68EBA67C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" y="4089235"/>
                <a:ext cx="3756184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9ABC8BD-0CFB-B9C6-FEBA-8B296DA63164}"/>
                  </a:ext>
                </a:extLst>
              </p:cNvPr>
              <p:cNvSpPr/>
              <p:nvPr/>
            </p:nvSpPr>
            <p:spPr>
              <a:xfrm>
                <a:off x="9299058" y="4305143"/>
                <a:ext cx="2464194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=800×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9ABC8BD-0CFB-B9C6-FEBA-8B296DA63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058" y="4305143"/>
                <a:ext cx="2464194" cy="910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53F2549-C39F-B24F-5055-266EF65907E0}"/>
                  </a:ext>
                </a:extLst>
              </p:cNvPr>
              <p:cNvSpPr/>
              <p:nvPr/>
            </p:nvSpPr>
            <p:spPr>
              <a:xfrm>
                <a:off x="9287329" y="3546174"/>
                <a:ext cx="266489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53F2549-C39F-B24F-5055-266EF65907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329" y="3546174"/>
                <a:ext cx="266489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8639F4F-316E-F217-5E60-3186FFC54675}"/>
              </a:ext>
            </a:extLst>
          </p:cNvPr>
          <p:cNvSpPr txBox="1"/>
          <p:nvPr/>
        </p:nvSpPr>
        <p:spPr>
          <a:xfrm>
            <a:off x="6312260" y="3548816"/>
            <a:ext cx="4218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Expected Number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7E3BD6-7D36-1065-A659-A6171C1C2AF7}"/>
                  </a:ext>
                </a:extLst>
              </p:cNvPr>
              <p:cNvSpPr/>
              <p:nvPr/>
            </p:nvSpPr>
            <p:spPr>
              <a:xfrm>
                <a:off x="9299058" y="5563932"/>
                <a:ext cx="17433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550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7E3BD6-7D36-1065-A659-A6171C1C2A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058" y="5563932"/>
                <a:ext cx="174338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77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/>
      <p:bldP spid="15" grpId="0"/>
      <p:bldP spid="2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400E8-1CA3-D878-5587-265EA58B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A4D6F-BFA5-3A66-9725-46A6B5692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21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D919D6B-F0E4-850A-806B-619DBB9D3DDF}"/>
                  </a:ext>
                </a:extLst>
              </p:cNvPr>
              <p:cNvSpPr/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D919D6B-F0E4-850A-806B-619DBB9D3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676660"/>
                <a:ext cx="1708012" cy="52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B5F03D7-1E45-7CB8-C0DB-D2F7FEC0AB61}"/>
                  </a:ext>
                </a:extLst>
              </p:cNvPr>
              <p:cNvSpPr/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B5F03D7-1E45-7CB8-C0DB-D2F7FEC0AB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401132"/>
                <a:ext cx="1708012" cy="949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9E63958-DAF1-5888-7578-9185F9AFEFB1}"/>
                  </a:ext>
                </a:extLst>
              </p:cNvPr>
              <p:cNvSpPr/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9E63958-DAF1-5888-7578-9185F9AFEF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553337"/>
                <a:ext cx="1708012" cy="981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878B5180-9CAA-85F0-A0F9-87B15DD11B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238991" y="1365548"/>
                <a:ext cx="7512628" cy="816641"/>
              </a:xfrm>
            </p:spPr>
            <p:txBody>
              <a:bodyPr/>
              <a:lstStyle/>
              <a:p>
                <a:pPr lvl="1"/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No girls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878B5180-9CAA-85F0-A0F9-87B15DD11B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238991" y="1365548"/>
                <a:ext cx="7512628" cy="816641"/>
              </a:xfrm>
              <a:blipFill>
                <a:blip r:embed="rId5"/>
                <a:stretch>
                  <a:fillRect b="-22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0276D03-D83A-8881-BD8F-F4C133A235D9}"/>
                  </a:ext>
                </a:extLst>
              </p:cNvPr>
              <p:cNvSpPr/>
              <p:nvPr/>
            </p:nvSpPr>
            <p:spPr>
              <a:xfrm>
                <a:off x="556043" y="2193261"/>
                <a:ext cx="5787737" cy="1145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0276D03-D83A-8881-BD8F-F4C133A235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43" y="2193261"/>
                <a:ext cx="5787737" cy="1145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BD66F13-41DC-CF05-1693-3A1E3F598622}"/>
                  </a:ext>
                </a:extLst>
              </p:cNvPr>
              <p:cNvSpPr/>
              <p:nvPr/>
            </p:nvSpPr>
            <p:spPr>
              <a:xfrm>
                <a:off x="150797" y="3650341"/>
                <a:ext cx="5257800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BD66F13-41DC-CF05-1693-3A1E3F598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7" y="3650341"/>
                <a:ext cx="5257800" cy="8989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37A2DB43-2DF6-61C9-6457-BB1DD5965698}"/>
              </a:ext>
            </a:extLst>
          </p:cNvPr>
          <p:cNvSpPr/>
          <p:nvPr/>
        </p:nvSpPr>
        <p:spPr>
          <a:xfrm>
            <a:off x="150797" y="670819"/>
            <a:ext cx="11801429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(d) Expected number of families with no girl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A50AF6E-C5D0-B4E8-F69F-106E738B25D7}"/>
                  </a:ext>
                </a:extLst>
              </p:cNvPr>
              <p:cNvSpPr/>
              <p:nvPr/>
            </p:nvSpPr>
            <p:spPr>
              <a:xfrm>
                <a:off x="3125866" y="5631326"/>
                <a:ext cx="2464194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=800×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16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A50AF6E-C5D0-B4E8-F69F-106E738B25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866" y="5631326"/>
                <a:ext cx="2464194" cy="910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B9B784-2192-008E-7E9A-D595351F8A98}"/>
                  </a:ext>
                </a:extLst>
              </p:cNvPr>
              <p:cNvSpPr/>
              <p:nvPr/>
            </p:nvSpPr>
            <p:spPr>
              <a:xfrm>
                <a:off x="3125866" y="4806983"/>
                <a:ext cx="266489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B9B784-2192-008E-7E9A-D595351F8A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866" y="4806983"/>
                <a:ext cx="26648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7A6504A-59AB-47C3-CA55-C866E2157048}"/>
              </a:ext>
            </a:extLst>
          </p:cNvPr>
          <p:cNvSpPr txBox="1"/>
          <p:nvPr/>
        </p:nvSpPr>
        <p:spPr>
          <a:xfrm>
            <a:off x="150797" y="4809625"/>
            <a:ext cx="4218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Expected Number</a:t>
            </a:r>
            <a:endParaRPr lang="en-IN" sz="2800" b="1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2D3B67-5CD2-7980-33E0-41002A335882}"/>
                  </a:ext>
                </a:extLst>
              </p:cNvPr>
              <p:cNvSpPr/>
              <p:nvPr/>
            </p:nvSpPr>
            <p:spPr>
              <a:xfrm>
                <a:off x="5150331" y="5856174"/>
                <a:ext cx="17433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2D3B67-5CD2-7980-33E0-41002A335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331" y="5856174"/>
                <a:ext cx="174338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C10EAA6-BAAA-E0E2-0BCF-53B718F90A6C}"/>
                  </a:ext>
                </a:extLst>
              </p:cNvPr>
              <p:cNvSpPr/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C10EAA6-BAAA-E0E2-0BCF-53B718F90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952188"/>
                <a:ext cx="1708012" cy="522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6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0" grpId="0"/>
      <p:bldP spid="7" grpId="0"/>
      <p:bldP spid="8" grpId="0"/>
      <p:bldP spid="12" grpId="0"/>
      <p:bldP spid="13" grpId="0"/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87194"/>
                <a:ext cx="11929643" cy="130048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Find the probability that in five tosses of a fair die,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will appear twice, at most once, and at least two times.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7194"/>
                <a:ext cx="11929643" cy="1300486"/>
              </a:xfrm>
              <a:prstGeom prst="rect">
                <a:avLst/>
              </a:prstGeom>
              <a:blipFill>
                <a:blip r:embed="rId2"/>
                <a:stretch>
                  <a:fillRect l="-1074" r="-1074" b="-13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23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6" y="2158474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8" y="2023672"/>
                <a:ext cx="1020083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Number of times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appears in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tosses</a:t>
                </a:r>
                <a:endParaRPr lang="en-IN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8" y="2023672"/>
                <a:ext cx="10200837" cy="665631"/>
              </a:xfrm>
              <a:prstGeom prst="rect">
                <a:avLst/>
              </a:prstGeom>
              <a:blipFill>
                <a:blip r:embed="rId3"/>
                <a:stretch>
                  <a:fillRect l="-125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752311" y="5460897"/>
                <a:ext cx="5553125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311" y="5460897"/>
                <a:ext cx="5553125" cy="910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FCD10-E50A-E6F0-C97B-51895BA861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8" y="3324158"/>
                <a:ext cx="1020083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chemeClr val="tx2">
                        <a:lumMod val="50000"/>
                      </a:schemeClr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>
                    <a:solidFill>
                      <a:schemeClr val="tx2">
                        <a:lumMod val="50000"/>
                      </a:schemeClr>
                    </a:solidFill>
                  </a:rPr>
                  <a:t> follows a binomial distribution.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FCD10-E50A-E6F0-C97B-51895BA86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8" y="3324158"/>
                <a:ext cx="10200837" cy="665631"/>
              </a:xfrm>
              <a:prstGeom prst="rect">
                <a:avLst/>
              </a:prstGeom>
              <a:blipFill>
                <a:blip r:embed="rId5"/>
                <a:stretch>
                  <a:fillRect l="-125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A4694FE-99CE-A04A-D786-ABCD288567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4049892"/>
                <a:ext cx="8183421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Number of tosses </a:t>
                </a:r>
                <a14:m>
                  <m:oMath xmlns:m="http://schemas.openxmlformats.org/officeDocument/2006/math">
                    <m:r>
                      <a:rPr lang="en-IN" i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A4694FE-99CE-A04A-D786-ABCD28856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049892"/>
                <a:ext cx="8183421" cy="665631"/>
              </a:xfrm>
              <a:prstGeom prst="rect">
                <a:avLst/>
              </a:prstGeom>
              <a:blipFill>
                <a:blip r:embed="rId6"/>
                <a:stretch>
                  <a:fillRect l="-1565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F23CA27-E7AD-F684-2BA4-D7559C8645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6" y="4766336"/>
                <a:ext cx="8183421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chemeClr val="tx2">
                        <a:lumMod val="50000"/>
                      </a:schemeClr>
                    </a:solidFill>
                  </a:rPr>
                  <a:t> probability of </a:t>
                </a:r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getting a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on a toss</a:t>
                </a:r>
                <a:endParaRPr lang="en-IN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F23CA27-E7AD-F684-2BA4-D7559C864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4766336"/>
                <a:ext cx="8183421" cy="665631"/>
              </a:xfrm>
              <a:prstGeom prst="rect">
                <a:avLst/>
              </a:prstGeom>
              <a:blipFill>
                <a:blip r:embed="rId7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117FB85-465C-6B32-246C-E6818C827866}"/>
                  </a:ext>
                </a:extLst>
              </p:cNvPr>
              <p:cNvSpPr/>
              <p:nvPr/>
            </p:nvSpPr>
            <p:spPr>
              <a:xfrm>
                <a:off x="1317748" y="5480515"/>
                <a:ext cx="1903436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117FB85-465C-6B32-246C-E6818C8278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748" y="5480515"/>
                <a:ext cx="1903436" cy="910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50C85BA-F57B-614C-3416-CE585ADFC7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52593" y="2627354"/>
                <a:ext cx="400627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chemeClr val="tx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=0, 1, 2, 3, 4, 5</m:t>
                    </m:r>
                  </m:oMath>
                </a14:m>
                <a:endParaRPr lang="en-US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50C85BA-F57B-614C-3416-CE585ADFC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593" y="2627354"/>
                <a:ext cx="4006277" cy="665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65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3" grpId="0"/>
      <p:bldP spid="4" grpId="0"/>
      <p:bldP spid="5" grpId="0"/>
      <p:bldP spid="9" grpId="0"/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77DDD-FA0D-CBFE-AD90-6A81A5231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C123-BB13-120C-1B86-A2FDBAC3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23 (Continue)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FAED3A-D1CC-C3AA-ED55-840B84E544A7}"/>
              </a:ext>
            </a:extLst>
          </p:cNvPr>
          <p:cNvSpPr/>
          <p:nvPr/>
        </p:nvSpPr>
        <p:spPr>
          <a:xfrm>
            <a:off x="150798" y="711201"/>
            <a:ext cx="7195575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(a) Probability that 3 appears exactly twice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48C3F6E-D9CE-36AB-158D-D970701581CD}"/>
                  </a:ext>
                </a:extLst>
              </p:cNvPr>
              <p:cNvSpPr/>
              <p:nvPr/>
            </p:nvSpPr>
            <p:spPr>
              <a:xfrm>
                <a:off x="10333190" y="1840972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48C3F6E-D9CE-36AB-158D-D97070158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840972"/>
                <a:ext cx="1708012" cy="52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984DFC9-CFF3-5CE0-C432-8B0F578E5E5B}"/>
                  </a:ext>
                </a:extLst>
              </p:cNvPr>
              <p:cNvSpPr/>
              <p:nvPr/>
            </p:nvSpPr>
            <p:spPr>
              <a:xfrm>
                <a:off x="10333190" y="2565444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984DFC9-CFF3-5CE0-C432-8B0F578E5E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565444"/>
                <a:ext cx="1708012" cy="9497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A47C78-8F9D-A021-9D42-5841B3A34DC1}"/>
                  </a:ext>
                </a:extLst>
              </p:cNvPr>
              <p:cNvSpPr/>
              <p:nvPr/>
            </p:nvSpPr>
            <p:spPr>
              <a:xfrm>
                <a:off x="10333190" y="3717649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A47C78-8F9D-A021-9D42-5841B3A34D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717649"/>
                <a:ext cx="1708012" cy="981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C3B76AF-3B33-7807-60EB-641979DD5CB9}"/>
                  </a:ext>
                </a:extLst>
              </p:cNvPr>
              <p:cNvSpPr/>
              <p:nvPr/>
            </p:nvSpPr>
            <p:spPr>
              <a:xfrm>
                <a:off x="9757064" y="952187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C3B76AF-3B33-7807-60EB-641979DD5C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064" y="952187"/>
                <a:ext cx="2284138" cy="7111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F614A1F-A71D-E03F-4F2A-B9ACAA162C91}"/>
                  </a:ext>
                </a:extLst>
              </p:cNvPr>
              <p:cNvSpPr/>
              <p:nvPr/>
            </p:nvSpPr>
            <p:spPr>
              <a:xfrm>
                <a:off x="6308064" y="709028"/>
                <a:ext cx="262177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Success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)</m:t>
                      </m:r>
                    </m:oMath>
                  </m:oMathPara>
                </a14:m>
                <a:endParaRPr lang="en-IN" sz="2800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F614A1F-A71D-E03F-4F2A-B9ACAA162C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64" y="709028"/>
                <a:ext cx="2621778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D572B8-99D0-603A-5E2B-2AE242605ACE}"/>
                  </a:ext>
                </a:extLst>
              </p:cNvPr>
              <p:cNvSpPr/>
              <p:nvPr/>
            </p:nvSpPr>
            <p:spPr>
              <a:xfrm>
                <a:off x="201866" y="4939794"/>
                <a:ext cx="4338074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0.1608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D572B8-99D0-603A-5E2B-2AE242605A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66" y="4939794"/>
                <a:ext cx="4338074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CEF8092-E1E1-9EF8-9B76-4BA2671981DB}"/>
              </a:ext>
            </a:extLst>
          </p:cNvPr>
          <p:cNvSpPr/>
          <p:nvPr/>
        </p:nvSpPr>
        <p:spPr>
          <a:xfrm>
            <a:off x="201866" y="1407553"/>
            <a:ext cx="401043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From Binomial distribution, </a:t>
            </a:r>
            <a:endParaRPr lang="en-IN" sz="2800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8B8CBDB-9729-A3AB-A3F3-3A0AD0C797A2}"/>
                  </a:ext>
                </a:extLst>
              </p:cNvPr>
              <p:cNvSpPr/>
              <p:nvPr/>
            </p:nvSpPr>
            <p:spPr>
              <a:xfrm>
                <a:off x="603455" y="2176938"/>
                <a:ext cx="5250431" cy="1145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2800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8B8CBDB-9729-A3AB-A3F3-3A0AD0C797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55" y="2176938"/>
                <a:ext cx="5250431" cy="1145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0B1AB35-B423-CC2B-7235-6666140A53D9}"/>
                  </a:ext>
                </a:extLst>
              </p:cNvPr>
              <p:cNvSpPr/>
              <p:nvPr/>
            </p:nvSpPr>
            <p:spPr>
              <a:xfrm>
                <a:off x="201866" y="3675770"/>
                <a:ext cx="5250431" cy="9107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625</m:t>
                          </m:r>
                        </m:num>
                        <m:den>
                          <m: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3888</m:t>
                          </m:r>
                        </m:den>
                      </m:f>
                    </m:oMath>
                  </m:oMathPara>
                </a14:m>
                <a:endParaRPr lang="en-IN" sz="2800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0B1AB35-B423-CC2B-7235-6666140A53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66" y="3675770"/>
                <a:ext cx="5250431" cy="9107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17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2" grpId="0"/>
      <p:bldP spid="4" grpId="0"/>
      <p:bldP spid="3" grpId="0"/>
      <p:bldP spid="9" grpId="0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51C4D-3C21-EA77-E698-CD08230CB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506B-3BE4-8A76-50CC-F85B4C27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23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89F13C3-7B59-E615-E7C4-D4F19F0660E9}"/>
                  </a:ext>
                </a:extLst>
              </p:cNvPr>
              <p:cNvSpPr/>
              <p:nvPr/>
            </p:nvSpPr>
            <p:spPr>
              <a:xfrm>
                <a:off x="150798" y="711201"/>
                <a:ext cx="7195575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Probability that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appears at most once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89F13C3-7B59-E615-E7C4-D4F19F0660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" y="711201"/>
                <a:ext cx="7195575" cy="665631"/>
              </a:xfrm>
              <a:prstGeom prst="rect">
                <a:avLst/>
              </a:prstGeom>
              <a:blipFill>
                <a:blip r:embed="rId2"/>
                <a:stretch>
                  <a:fillRect l="-178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D21B570-5F94-2C68-340D-72F899BFDE5D}"/>
                  </a:ext>
                </a:extLst>
              </p:cNvPr>
              <p:cNvSpPr/>
              <p:nvPr/>
            </p:nvSpPr>
            <p:spPr>
              <a:xfrm>
                <a:off x="10333190" y="1840972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D21B570-5F94-2C68-340D-72F899BFDE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840972"/>
                <a:ext cx="1708012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9E1338C-F0FD-E2A4-770C-C7B499C577CC}"/>
                  </a:ext>
                </a:extLst>
              </p:cNvPr>
              <p:cNvSpPr/>
              <p:nvPr/>
            </p:nvSpPr>
            <p:spPr>
              <a:xfrm>
                <a:off x="10333190" y="2565444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9E1338C-F0FD-E2A4-770C-C7B499C577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565444"/>
                <a:ext cx="1708012" cy="9497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7ADFC92-2D72-D1E0-14E0-E5FBDBB5E008}"/>
                  </a:ext>
                </a:extLst>
              </p:cNvPr>
              <p:cNvSpPr/>
              <p:nvPr/>
            </p:nvSpPr>
            <p:spPr>
              <a:xfrm>
                <a:off x="10333190" y="3717649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7ADFC92-2D72-D1E0-14E0-E5FBDBB5E0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717649"/>
                <a:ext cx="1708012" cy="981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F9CA3C-B024-E2F9-E20B-59788CB7963B}"/>
                  </a:ext>
                </a:extLst>
              </p:cNvPr>
              <p:cNvSpPr/>
              <p:nvPr/>
            </p:nvSpPr>
            <p:spPr>
              <a:xfrm>
                <a:off x="9757064" y="952187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F9CA3C-B024-E2F9-E20B-59788CB796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064" y="952187"/>
                <a:ext cx="2284138" cy="7111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15B6B75-D285-CF0E-3C55-A1394AC082AE}"/>
                  </a:ext>
                </a:extLst>
              </p:cNvPr>
              <p:cNvSpPr/>
              <p:nvPr/>
            </p:nvSpPr>
            <p:spPr>
              <a:xfrm>
                <a:off x="6308064" y="709028"/>
                <a:ext cx="262177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Success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)</m:t>
                      </m:r>
                    </m:oMath>
                  </m:oMathPara>
                </a14:m>
                <a:endParaRPr lang="en-IN" sz="2800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15B6B75-D285-CF0E-3C55-A1394AC082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64" y="709028"/>
                <a:ext cx="2621778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A8232BD-BBC2-D4B7-042C-82E42317C075}"/>
              </a:ext>
            </a:extLst>
          </p:cNvPr>
          <p:cNvSpPr/>
          <p:nvPr/>
        </p:nvSpPr>
        <p:spPr>
          <a:xfrm>
            <a:off x="201866" y="1407553"/>
            <a:ext cx="401043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From Binomial distribution, </a:t>
            </a:r>
            <a:endParaRPr lang="en-IN" sz="2800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0B5313C-AEAB-EB3F-16D6-A20FBD98DED8}"/>
                  </a:ext>
                </a:extLst>
              </p:cNvPr>
              <p:cNvSpPr/>
              <p:nvPr/>
            </p:nvSpPr>
            <p:spPr>
              <a:xfrm>
                <a:off x="645801" y="2287207"/>
                <a:ext cx="58077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  <m:r>
                        <a:rPr lang="en-US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0B5313C-AEAB-EB3F-16D6-A20FBD98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01" y="2287207"/>
                <a:ext cx="580773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55C0D37-B4D0-0DE1-DAEB-0A71FA8B48B7}"/>
                  </a:ext>
                </a:extLst>
              </p:cNvPr>
              <p:cNvSpPr/>
              <p:nvPr/>
            </p:nvSpPr>
            <p:spPr>
              <a:xfrm>
                <a:off x="223532" y="3056592"/>
                <a:ext cx="9481575" cy="11517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b="0" i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 b="0" i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 b="0" i="0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noBar"/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IN" sz="28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IN" sz="2800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55C0D37-B4D0-0DE1-DAEB-0A71FA8B48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32" y="3056592"/>
                <a:ext cx="9481575" cy="11517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A3F048-9E48-E881-EEF4-A49A0C939300}"/>
                  </a:ext>
                </a:extLst>
              </p:cNvPr>
              <p:cNvSpPr/>
              <p:nvPr/>
            </p:nvSpPr>
            <p:spPr>
              <a:xfrm>
                <a:off x="223532" y="4454483"/>
                <a:ext cx="594520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=0.4019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0.4019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A3F048-9E48-E881-EEF4-A49A0C9393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32" y="4454483"/>
                <a:ext cx="594520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B4E16DE-EDE1-8297-CFA0-B497796F5C9C}"/>
                  </a:ext>
                </a:extLst>
              </p:cNvPr>
              <p:cNvSpPr/>
              <p:nvPr/>
            </p:nvSpPr>
            <p:spPr>
              <a:xfrm>
                <a:off x="239164" y="5223868"/>
                <a:ext cx="594520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8038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B4E16DE-EDE1-8297-CFA0-B497796F5C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64" y="5223868"/>
                <a:ext cx="594520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4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2" grpId="0"/>
      <p:bldP spid="3" grpId="0"/>
      <p:bldP spid="9" grpId="0"/>
      <p:bldP spid="10" grpId="0"/>
      <p:bldP spid="5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5D55C-A815-F9D3-5968-FAD485548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A8E03-2984-5E04-3568-00B1AD352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23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5F5A1C-1E2E-7905-1F30-55AE4D36A79F}"/>
                  </a:ext>
                </a:extLst>
              </p:cNvPr>
              <p:cNvSpPr/>
              <p:nvPr/>
            </p:nvSpPr>
            <p:spPr>
              <a:xfrm>
                <a:off x="150798" y="711201"/>
                <a:ext cx="6426647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(c) Probability that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appears at least twice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5F5A1C-1E2E-7905-1F30-55AE4D36A7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8" y="711201"/>
                <a:ext cx="6426647" cy="665631"/>
              </a:xfrm>
              <a:prstGeom prst="rect">
                <a:avLst/>
              </a:prstGeom>
              <a:blipFill>
                <a:blip r:embed="rId2"/>
                <a:stretch>
                  <a:fillRect l="-199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1973770-107E-1885-8965-E968DFAD79DE}"/>
                  </a:ext>
                </a:extLst>
              </p:cNvPr>
              <p:cNvSpPr/>
              <p:nvPr/>
            </p:nvSpPr>
            <p:spPr>
              <a:xfrm>
                <a:off x="10333190" y="1840972"/>
                <a:ext cx="17080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1973770-107E-1885-8965-E968DFAD79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1840972"/>
                <a:ext cx="1708012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5A765D0-DD04-F5B3-2030-80C1EF5AFE14}"/>
                  </a:ext>
                </a:extLst>
              </p:cNvPr>
              <p:cNvSpPr/>
              <p:nvPr/>
            </p:nvSpPr>
            <p:spPr>
              <a:xfrm>
                <a:off x="10333190" y="2565444"/>
                <a:ext cx="1708012" cy="9497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5A765D0-DD04-F5B3-2030-80C1EF5AFE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2565444"/>
                <a:ext cx="1708012" cy="9497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77B187B-2996-A604-1DE0-BB67270690C3}"/>
                  </a:ext>
                </a:extLst>
              </p:cNvPr>
              <p:cNvSpPr/>
              <p:nvPr/>
            </p:nvSpPr>
            <p:spPr>
              <a:xfrm>
                <a:off x="10333190" y="3717649"/>
                <a:ext cx="1708012" cy="98133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77B187B-2996-A604-1DE0-BB67270690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190" y="3717649"/>
                <a:ext cx="1708012" cy="981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AA93F1E-7C01-A7AA-CBBE-FBAA91EE26DB}"/>
                  </a:ext>
                </a:extLst>
              </p:cNvPr>
              <p:cNvSpPr/>
              <p:nvPr/>
            </p:nvSpPr>
            <p:spPr>
              <a:xfrm>
                <a:off x="9757064" y="952187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AA93F1E-7C01-A7AA-CBBE-FBAA91EE26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064" y="952187"/>
                <a:ext cx="2284138" cy="7111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EB98E88-DDD7-301B-3F3B-41A9949BE19D}"/>
                  </a:ext>
                </a:extLst>
              </p:cNvPr>
              <p:cNvSpPr/>
              <p:nvPr/>
            </p:nvSpPr>
            <p:spPr>
              <a:xfrm>
                <a:off x="6308064" y="709028"/>
                <a:ext cx="262177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IN" sz="28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Success</m:t>
                      </m:r>
                      <m:r>
                        <m:rPr>
                          <m:nor/>
                        </m:rPr>
                        <a:rPr lang="en-IN" sz="28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)</m:t>
                      </m:r>
                    </m:oMath>
                  </m:oMathPara>
                </a14:m>
                <a:endParaRPr lang="en-IN" sz="2800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EB98E88-DDD7-301B-3F3B-41A9949BE1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064" y="709028"/>
                <a:ext cx="2621778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7CE4B55-AD01-CE04-73A6-24EB389EE3B9}"/>
              </a:ext>
            </a:extLst>
          </p:cNvPr>
          <p:cNvSpPr/>
          <p:nvPr/>
        </p:nvSpPr>
        <p:spPr>
          <a:xfrm>
            <a:off x="201866" y="1407553"/>
            <a:ext cx="401043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47675" algn="l"/>
              </a:tabLst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From Binomial distribution, </a:t>
            </a:r>
            <a:endParaRPr lang="en-IN" sz="2800" dirty="0">
              <a:solidFill>
                <a:schemeClr val="tx2">
                  <a:lumMod val="50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434A30B-A763-D9E5-B55E-B68B7763E08F}"/>
                  </a:ext>
                </a:extLst>
              </p:cNvPr>
              <p:cNvSpPr/>
              <p:nvPr/>
            </p:nvSpPr>
            <p:spPr>
              <a:xfrm>
                <a:off x="614628" y="2219520"/>
                <a:ext cx="58077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434A30B-A763-D9E5-B55E-B68B7763E0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28" y="2219520"/>
                <a:ext cx="580773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AD5A1C0-77E9-4AFA-BA9F-56262EE916DF}"/>
                  </a:ext>
                </a:extLst>
              </p:cNvPr>
              <p:cNvSpPr/>
              <p:nvPr/>
            </p:nvSpPr>
            <p:spPr>
              <a:xfrm>
                <a:off x="201866" y="3758290"/>
                <a:ext cx="51901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8038</m:t>
                      </m:r>
                    </m:oMath>
                  </m:oMathPara>
                </a14:m>
                <a:endParaRPr lang="en-IN" sz="2800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AD5A1C0-77E9-4AFA-BA9F-56262EE916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66" y="3758290"/>
                <a:ext cx="519013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F21840-657E-CC05-3D84-F497028232B8}"/>
                  </a:ext>
                </a:extLst>
              </p:cNvPr>
              <p:cNvSpPr/>
              <p:nvPr/>
            </p:nvSpPr>
            <p:spPr>
              <a:xfrm>
                <a:off x="201866" y="4527675"/>
                <a:ext cx="51901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0.1962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F21840-657E-CC05-3D84-F49702823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66" y="4527675"/>
                <a:ext cx="519013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E001DE1-2359-0438-3B1E-47ED72C2B6FC}"/>
                  </a:ext>
                </a:extLst>
              </p:cNvPr>
              <p:cNvSpPr/>
              <p:nvPr/>
            </p:nvSpPr>
            <p:spPr>
              <a:xfrm>
                <a:off x="201866" y="2988905"/>
                <a:ext cx="51901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</m:e>
                      </m:d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E001DE1-2359-0438-3B1E-47ED72C2B6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66" y="2988905"/>
                <a:ext cx="519013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2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2" grpId="0"/>
      <p:bldP spid="3" grpId="0"/>
      <p:bldP spid="9" grpId="0"/>
      <p:bldP spid="10" grpId="0"/>
      <p:bldP spid="4" grpId="0"/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2</a:t>
            </a:r>
            <a:br>
              <a:rPr lang="en-IN" dirty="0"/>
            </a:br>
            <a:r>
              <a:rPr lang="en-IN" dirty="0"/>
              <a:t>Poisson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1514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8BF5B-4364-8AC2-37E9-DAC455C0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7B73E-F7C7-1746-A408-E0B2B7688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4130962"/>
          </a:xfrm>
        </p:spPr>
        <p:txBody>
          <a:bodyPr/>
          <a:lstStyle/>
          <a:p>
            <a:r>
              <a:rPr lang="en-US" dirty="0"/>
              <a:t>Poisson distribution answers one simple but powerful question: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How many times will a certain event occur in a fixed interval?</a:t>
            </a:r>
          </a:p>
          <a:p>
            <a:r>
              <a:rPr lang="en-US" dirty="0"/>
              <a:t>Interval can be:</a:t>
            </a:r>
          </a:p>
          <a:p>
            <a:pPr lvl="1"/>
            <a:r>
              <a:rPr lang="en-US" dirty="0"/>
              <a:t>Time (per minute, per hour, per day)</a:t>
            </a:r>
          </a:p>
          <a:p>
            <a:pPr lvl="1"/>
            <a:r>
              <a:rPr lang="en-US" dirty="0"/>
              <a:t>Space (per square meter, per kilometer)</a:t>
            </a:r>
          </a:p>
          <a:p>
            <a:pPr lvl="1"/>
            <a:r>
              <a:rPr lang="en-US" dirty="0"/>
              <a:t>Volume / area / length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95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87754-786F-0C26-DCA8-3C8B6AC25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6597-5B14-33AC-6F76-7A4BDCE07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739CEF-2EE9-501C-4569-1D65E022AD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45463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rgbClr val="301B92"/>
                    </a:solidFill>
                  </a:rPr>
                  <a:t>Example</a:t>
                </a:r>
              </a:p>
              <a:p>
                <a:pPr lvl="1"/>
                <a:r>
                  <a:rPr lang="en-US" dirty="0"/>
                  <a:t>Number of phone calls received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minutes.</a:t>
                </a:r>
              </a:p>
              <a:p>
                <a:pPr lvl="1"/>
                <a:r>
                  <a:rPr lang="en-US" dirty="0"/>
                  <a:t>Number of accidents at a crossing in one day.</a:t>
                </a:r>
              </a:p>
              <a:p>
                <a:pPr lvl="1"/>
                <a:r>
                  <a:rPr lang="en-US" dirty="0"/>
                  <a:t>number of defects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meter of cloth.</a:t>
                </a:r>
              </a:p>
              <a:p>
                <a:pPr lvl="1"/>
                <a:r>
                  <a:rPr lang="en-US" dirty="0"/>
                  <a:t>Number of customers entering a shop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hour.</a:t>
                </a:r>
              </a:p>
              <a:p>
                <a:r>
                  <a:rPr lang="en-US" dirty="0"/>
                  <a:t>Here, </a:t>
                </a:r>
              </a:p>
              <a:p>
                <a:pPr lvl="1"/>
                <a:r>
                  <a:rPr lang="en-US" dirty="0"/>
                  <a:t>time, length, area → these are continuous</a:t>
                </a:r>
              </a:p>
              <a:p>
                <a:pPr lvl="1"/>
                <a:r>
                  <a:rPr lang="en-US" dirty="0"/>
                  <a:t>number of occurrences/events → this is countable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739CEF-2EE9-501C-4569-1D65E022AD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45463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78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C8903-0CF9-AA88-1ADD-82AE753E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FC8CC-9438-8D3C-994B-F9D5C2723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79C9E-0861-10CC-414E-FB5471BFB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845463"/>
          </a:xfrm>
        </p:spPr>
        <p:txBody>
          <a:bodyPr/>
          <a:lstStyle/>
          <a:p>
            <a:r>
              <a:rPr lang="en-US" dirty="0"/>
              <a:t>Here, </a:t>
            </a:r>
          </a:p>
          <a:p>
            <a:pPr lvl="1"/>
            <a:r>
              <a:rPr lang="en-US" dirty="0"/>
              <a:t>time, length, area → these are continuous</a:t>
            </a:r>
          </a:p>
          <a:p>
            <a:pPr lvl="1"/>
            <a:r>
              <a:rPr lang="en-US" dirty="0"/>
              <a:t>but number of occurrences → this is countable</a:t>
            </a:r>
          </a:p>
          <a:p>
            <a:r>
              <a:rPr lang="en-US" dirty="0"/>
              <a:t>Poisson is not modeling the interval.</a:t>
            </a:r>
          </a:p>
          <a:p>
            <a:r>
              <a:rPr lang="en-US" dirty="0"/>
              <a:t>Poisson is modeling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count of events inside the interval.</a:t>
            </a:r>
          </a:p>
          <a:p>
            <a:r>
              <a:rPr lang="en-US" dirty="0"/>
              <a:t>So, the random variable is discrete.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9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Poisson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845462"/>
              </a:xfrm>
            </p:spPr>
            <p:txBody>
              <a:bodyPr/>
              <a:lstStyle/>
              <a:p>
                <a:pPr lvl="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event occurs in a fixed interval.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follows Poisson distribution, written as: </a:t>
                </a:r>
              </a:p>
              <a:p>
                <a:pPr marL="0" lv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269875" lvl="0" indent="0">
                  <a:buNone/>
                </a:pPr>
                <a:r>
                  <a:rPr lang="en-IN" dirty="0"/>
                  <a:t>and </a:t>
                </a:r>
                <a:r>
                  <a:rPr lang="en-US" dirty="0"/>
                  <a:t>the probability mass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 defined as,</a:t>
                </a:r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b="1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0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𝐞</m:t>
                              </m:r>
                            </m:e>
                            <m:sup>
                              <m:r>
                                <a:rPr lang="en-US" b="1" i="0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0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𝛌</m:t>
                              </m:r>
                            </m:sup>
                          </m:sSup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b="1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0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𝛌</m:t>
                              </m:r>
                            </m:e>
                            <m:sup>
                              <m:r>
                                <a:rPr lang="en-US" b="1" i="0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sup>
                          </m:sSup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,…  </m:t>
                      </m:r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lvl="0" indent="0">
                  <a:buNone/>
                </a:pPr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𝛌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average number of events in the fixed interval</a:t>
                </a:r>
              </a:p>
              <a:p>
                <a:r>
                  <a:rPr lang="en-US" dirty="0"/>
                  <a:t>Poisson distribution answers the question: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If events occur randomly at an average rate </a:t>
                </a:r>
                <a14:m>
                  <m:oMath xmlns:m="http://schemas.openxmlformats.org/officeDocument/2006/math"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, how many times will the event occur in a fixed interval?</a:t>
                </a:r>
                <a:endParaRPr lang="en-IN" b="1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845462"/>
              </a:xfrm>
              <a:blipFill>
                <a:blip r:embed="rId2"/>
                <a:stretch>
                  <a:fillRect l="-971" r="-1074" b="-22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9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54954-21C4-B08E-3823-C95BD28F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C848F3C5-FB7C-1CC1-9D30-25744A6EE39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Poisson Parameter 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C848F3C5-FB7C-1CC1-9D30-25744A6EE3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7344D5-5ED1-AD21-D9D3-B520D4346D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845462"/>
              </a:xfrm>
            </p:spPr>
            <p:txBody>
              <a:bodyPr/>
              <a:lstStyle/>
              <a:p>
                <a:pPr lvl="0"/>
                <a:r>
                  <a:rPr lang="en-IN" b="1" dirty="0">
                    <a:solidFill>
                      <a:srgbClr val="301B92"/>
                    </a:solidFill>
                  </a:rPr>
                  <a:t>Example :</a:t>
                </a:r>
                <a:r>
                  <a:rPr lang="en-IN" dirty="0"/>
                  <a:t> </a:t>
                </a:r>
                <a:r>
                  <a:rPr lang="en-US" dirty="0"/>
                  <a:t>Suppose </a:t>
                </a:r>
              </a:p>
              <a:p>
                <a:pPr lvl="1"/>
                <a:r>
                  <a:rPr lang="en-US" dirty="0"/>
                  <a:t>a call center receives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calls per minute on average</a:t>
                </a:r>
              </a:p>
              <a:p>
                <a:pPr lvl="2"/>
                <a:r>
                  <a:rPr lang="en-US" dirty="0"/>
                  <a:t>Time interval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minute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b="0" i="0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dirty="0"/>
                  <a:t> → probability of no calls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minute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 → probability of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call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minute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</m:oMath>
                </a14:m>
                <a:r>
                  <a:rPr lang="en-US" dirty="0"/>
                  <a:t> → probability of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calls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minute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≥1</m:t>
                        </m:r>
                      </m:e>
                    </m:d>
                  </m:oMath>
                </a14:m>
                <a:r>
                  <a:rPr lang="en-US" dirty="0"/>
                  <a:t> → probability of at least one call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minute</a:t>
                </a:r>
              </a:p>
              <a:p>
                <a:pPr lvl="0"/>
                <a:r>
                  <a:rPr lang="en-US" dirty="0"/>
                  <a:t>So, the Poisson answer predicts call load.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7344D5-5ED1-AD21-D9D3-B520D4346D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845462"/>
              </a:xfrm>
              <a:blipFill>
                <a:blip r:embed="rId3"/>
                <a:stretch>
                  <a:fillRect l="-971" b="-18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74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06CF3-DF8F-9B92-6222-DA17F069D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E3128D69-08F5-D1B4-61BA-BFBBEFDA5A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Poisson Parameter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E3128D69-08F5-D1B4-61BA-BFBBEFDA5A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45CB7BA-BCC1-E311-6D34-4EEEAAC1D0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2193344"/>
              </a:xfrm>
            </p:spPr>
            <p:txBody>
              <a:bodyPr/>
              <a:lstStyle/>
              <a:p>
                <a:pPr lvl="0"/>
                <a:r>
                  <a:rPr lang="en-IN" b="1" dirty="0">
                    <a:solidFill>
                      <a:srgbClr val="301B92"/>
                    </a:solidFill>
                  </a:rPr>
                  <a:t>Example: 1 – </a:t>
                </a:r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Interval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 Time</a:t>
                </a:r>
              </a:p>
              <a:p>
                <a:pPr lvl="1"/>
                <a:r>
                  <a:rPr lang="en-IN" dirty="0">
                    <a:solidFill>
                      <a:srgbClr val="002060"/>
                    </a:solidFill>
                  </a:rPr>
                  <a:t>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events per minute</a:t>
                </a:r>
              </a:p>
              <a:p>
                <a:pPr lvl="1"/>
                <a:r>
                  <a:rPr lang="en-IN" dirty="0">
                    <a:solidFill>
                      <a:srgbClr val="002060"/>
                    </a:solidFill>
                  </a:rPr>
                  <a:t>Interval (Time)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seconds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45CB7BA-BCC1-E311-6D34-4EEEAAC1D0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2193344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DD0C3C2B-46E3-8F58-DFEF-956F3132FB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966" y="4211388"/>
                <a:ext cx="2088573" cy="9017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DD0C3C2B-46E3-8F58-DFEF-956F3132F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66" y="4211388"/>
                <a:ext cx="2088573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F5542D05-969E-556D-9586-1172688ACA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966" y="4957309"/>
                <a:ext cx="4252052" cy="13710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/>
                            <m:t>minute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6 </m:t>
                          </m:r>
                        </m:den>
                      </m:f>
                      <m:r>
                        <m:rPr>
                          <m:nor/>
                        </m:rPr>
                        <a:rPr lang="en-IN"/>
                        <m:t>minute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F5542D05-969E-556D-9586-1172688AC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66" y="4957309"/>
                <a:ext cx="4252052" cy="1371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8236DC-DF83-9BAC-65FB-54E5AB60EBA8}"/>
                  </a:ext>
                </a:extLst>
              </p:cNvPr>
              <p:cNvSpPr txBox="1"/>
              <p:nvPr/>
            </p:nvSpPr>
            <p:spPr>
              <a:xfrm>
                <a:off x="2639290" y="2904547"/>
                <a:ext cx="2088573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8236DC-DF83-9BAC-65FB-54E5AB60E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290" y="2904547"/>
                <a:ext cx="2088573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EC4C24-5C2B-AD69-3742-F5FC54E4BB61}"/>
                  </a:ext>
                </a:extLst>
              </p:cNvPr>
              <p:cNvSpPr txBox="1"/>
              <p:nvPr/>
            </p:nvSpPr>
            <p:spPr>
              <a:xfrm>
                <a:off x="8614064" y="3094573"/>
                <a:ext cx="35779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</m:t>
                          </m:r>
                          <m:func>
                            <m:func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func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60 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Seconds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EC4C24-5C2B-AD69-3742-F5FC54E4B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4064" y="3094573"/>
                <a:ext cx="357793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85FA6B-B810-A4C8-6855-272BF13C5509}"/>
                  </a:ext>
                </a:extLst>
              </p:cNvPr>
              <p:cNvSpPr txBox="1"/>
              <p:nvPr/>
            </p:nvSpPr>
            <p:spPr>
              <a:xfrm>
                <a:off x="4125189" y="2904546"/>
                <a:ext cx="2961409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minute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85FA6B-B810-A4C8-6855-272BF13C5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189" y="2904546"/>
                <a:ext cx="2961409" cy="9017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DE8A0322-73E7-CC23-0E9B-6BA5FD2DCE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9428" y="4957309"/>
                <a:ext cx="1111827" cy="13710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6 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DE8A0322-73E7-CC23-0E9B-6BA5FD2DC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428" y="4957309"/>
                <a:ext cx="1111827" cy="13710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78B1B0-0739-2245-306E-CA6F42E243C9}"/>
                  </a:ext>
                </a:extLst>
              </p:cNvPr>
              <p:cNvSpPr txBox="1"/>
              <p:nvPr/>
            </p:nvSpPr>
            <p:spPr>
              <a:xfrm>
                <a:off x="5605894" y="5486959"/>
                <a:ext cx="61306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→ average no. of events 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seconds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78B1B0-0739-2245-306E-CA6F42E24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894" y="5486959"/>
                <a:ext cx="6130636" cy="523220"/>
              </a:xfrm>
              <a:prstGeom prst="rect">
                <a:avLst/>
              </a:prstGeom>
              <a:blipFill>
                <a:blip r:embed="rId10"/>
                <a:stretch>
                  <a:fillRect l="-2090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625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6" grpId="0" build="allAtOnce"/>
      <p:bldP spid="8" grpId="0"/>
      <p:bldP spid="9" grpId="0"/>
      <p:bldP spid="10" grpId="0"/>
      <p:bldP spid="11" grpId="0" build="allAtOnce"/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7CD88-C709-B3E5-8CDF-F81EE58D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E0ECCA77-F2F1-99A7-F4C6-E32C140AA15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Poisson Parameter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E0ECCA77-F2F1-99A7-F4C6-E32C140AA1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5FF9A11-3F7C-BEB6-62DB-E98EE62960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2193344"/>
              </a:xfrm>
            </p:spPr>
            <p:txBody>
              <a:bodyPr/>
              <a:lstStyle/>
              <a:p>
                <a:pPr lvl="0"/>
                <a:r>
                  <a:rPr lang="en-IN" b="1" dirty="0">
                    <a:solidFill>
                      <a:srgbClr val="301B92"/>
                    </a:solidFill>
                  </a:rPr>
                  <a:t>Example: 2 – </a:t>
                </a:r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Interval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 Space</a:t>
                </a:r>
              </a:p>
              <a:p>
                <a:pPr lvl="1"/>
                <a:r>
                  <a:rPr lang="en-IN" dirty="0">
                    <a:solidFill>
                      <a:srgbClr val="002060"/>
                    </a:solidFill>
                  </a:rPr>
                  <a:t>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defects per </a:t>
                </a:r>
                <a:r>
                  <a:rPr lang="en-IN" b="1" dirty="0">
                    <a:solidFill>
                      <a:srgbClr val="002060"/>
                    </a:solidFill>
                  </a:rPr>
                  <a:t>meter</a:t>
                </a:r>
              </a:p>
              <a:p>
                <a:pPr lvl="1"/>
                <a:r>
                  <a:rPr lang="en-IN" dirty="0">
                    <a:solidFill>
                      <a:srgbClr val="002060"/>
                    </a:solidFill>
                  </a:rPr>
                  <a:t>Interval (Length)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:r>
                  <a:rPr lang="en-IN" b="1" dirty="0"/>
                  <a:t>meter</a:t>
                </a:r>
                <a:r>
                  <a:rPr lang="en-US" b="1" dirty="0">
                    <a:solidFill>
                      <a:srgbClr val="002060"/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5FF9A11-3F7C-BEB6-62DB-E98EE62960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2193344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4290525-631F-4662-BF5B-E567C6B92F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5743" y="3007325"/>
                <a:ext cx="2088573" cy="9017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4290525-631F-4662-BF5B-E567C6B92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43" y="3007325"/>
                <a:ext cx="2088573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0E92B26A-85C6-B98E-B1BC-E3520CC204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5743" y="3753246"/>
                <a:ext cx="4252052" cy="13710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/>
                            <m:t>m</m:t>
                          </m:r>
                          <m:r>
                            <m:rPr>
                              <m:nor/>
                            </m:rPr>
                            <a:rPr lang="en-IN" b="0" i="0" smtClean="0"/>
                            <m:t>eter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/>
                        <m:t>meter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0E92B26A-85C6-B98E-B1BC-E3520CC20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43" y="3753246"/>
                <a:ext cx="4252052" cy="13710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A9882CB-7149-B714-0169-78781E0EC0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02616" y="4135177"/>
                <a:ext cx="836466" cy="9017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A9882CB-7149-B714-0169-78781E0EC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616" y="4135177"/>
                <a:ext cx="836466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BF0581-0FA2-6954-7A06-AFDFF2A14385}"/>
                  </a:ext>
                </a:extLst>
              </p:cNvPr>
              <p:cNvSpPr txBox="1"/>
              <p:nvPr/>
            </p:nvSpPr>
            <p:spPr>
              <a:xfrm>
                <a:off x="4793607" y="4295787"/>
                <a:ext cx="61306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→ average no. of defects in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meters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BF0581-0FA2-6954-7A06-AFDFF2A14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607" y="4295787"/>
                <a:ext cx="6130636" cy="523220"/>
              </a:xfrm>
              <a:prstGeom prst="rect">
                <a:avLst/>
              </a:prstGeom>
              <a:blipFill>
                <a:blip r:embed="rId7"/>
                <a:stretch>
                  <a:fillRect l="-1988" t="-1279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c 29">
            <a:extLst>
              <a:ext uri="{FF2B5EF4-FFF2-40B4-BE49-F238E27FC236}">
                <a16:creationId xmlns:a16="http://schemas.microsoft.com/office/drawing/2014/main" id="{619A0071-BCA4-2061-B185-A5BC16A92A73}"/>
              </a:ext>
            </a:extLst>
          </p:cNvPr>
          <p:cNvSpPr/>
          <p:nvPr/>
        </p:nvSpPr>
        <p:spPr>
          <a:xfrm>
            <a:off x="4908000" y="1717562"/>
            <a:ext cx="1188000" cy="720000"/>
          </a:xfrm>
          <a:prstGeom prst="arc">
            <a:avLst>
              <a:gd name="adj1" fmla="val 16200000"/>
              <a:gd name="adj2" fmla="val 5360335"/>
            </a:avLst>
          </a:prstGeom>
          <a:ln w="38100">
            <a:solidFill>
              <a:srgbClr val="FF0000"/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6D3BBF-F80E-492A-A468-0FB16E073B30}"/>
              </a:ext>
            </a:extLst>
          </p:cNvPr>
          <p:cNvSpPr txBox="1"/>
          <p:nvPr/>
        </p:nvSpPr>
        <p:spPr>
          <a:xfrm>
            <a:off x="6163734" y="1807874"/>
            <a:ext cx="27883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Units are same</a:t>
            </a:r>
          </a:p>
        </p:txBody>
      </p:sp>
    </p:spTree>
    <p:extLst>
      <p:ext uri="{BB962C8B-B14F-4D97-AF65-F5344CB8AC3E}">
        <p14:creationId xmlns:p14="http://schemas.microsoft.com/office/powerpoint/2010/main" val="362850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6" grpId="0" build="allAtOnce"/>
      <p:bldP spid="11" grpId="0" build="allAtOnce"/>
      <p:bldP spid="13" grpId="0"/>
      <p:bldP spid="30" grpId="0" animBg="1"/>
      <p:bldP spid="3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27470-113A-8198-7F92-8E35DBE3C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5930450C-6EE4-318A-B8BF-BEF21A5441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Poisson Parameter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5930450C-6EE4-318A-B8BF-BEF21A544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1D53C73-A135-B6A2-66F4-19ABDF927C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2193344"/>
              </a:xfrm>
            </p:spPr>
            <p:txBody>
              <a:bodyPr/>
              <a:lstStyle/>
              <a:p>
                <a:pPr lvl="0"/>
                <a:r>
                  <a:rPr lang="en-IN" b="1" dirty="0">
                    <a:solidFill>
                      <a:srgbClr val="301B92"/>
                    </a:solidFill>
                  </a:rPr>
                  <a:t>Example: 3 – </a:t>
                </a:r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Interval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 Time</a:t>
                </a:r>
              </a:p>
              <a:p>
                <a:pPr lvl="1"/>
                <a:r>
                  <a:rPr lang="en-IN" dirty="0">
                    <a:solidFill>
                      <a:srgbClr val="002060"/>
                    </a:solidFill>
                  </a:rPr>
                  <a:t>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events per hours</a:t>
                </a:r>
              </a:p>
              <a:p>
                <a:pPr lvl="1"/>
                <a:r>
                  <a:rPr lang="en-IN" dirty="0">
                    <a:solidFill>
                      <a:srgbClr val="002060"/>
                    </a:solidFill>
                  </a:rPr>
                  <a:t>Interval (Time)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minutes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1D53C73-A135-B6A2-66F4-19ABDF927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2193344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E40AA374-F7D9-D834-A4B8-00B0277D9F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966" y="3741645"/>
                <a:ext cx="2088573" cy="9017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E40AA374-F7D9-D834-A4B8-00B0277D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66" y="3741645"/>
                <a:ext cx="2088573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1D6378EE-C97F-A538-8C74-5C15443B57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4966" y="4643430"/>
                <a:ext cx="2988723" cy="743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12×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1D6378EE-C97F-A538-8C74-5C15443B5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66" y="4643430"/>
                <a:ext cx="2988723" cy="7435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6E6E0A-CF61-236E-BE89-533B2C9173C5}"/>
                  </a:ext>
                </a:extLst>
              </p:cNvPr>
              <p:cNvSpPr txBox="1"/>
              <p:nvPr/>
            </p:nvSpPr>
            <p:spPr>
              <a:xfrm>
                <a:off x="2639290" y="2904547"/>
                <a:ext cx="25977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.5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hours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6E6E0A-CF61-236E-BE89-533B2C917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290" y="2904547"/>
                <a:ext cx="2597728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13D6B42-1EB4-A8F4-A782-F3DA3707A5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19223" y="4643430"/>
                <a:ext cx="965328" cy="80738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C13D6B42-1EB4-A8F4-A782-F3DA3707A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223" y="4643430"/>
                <a:ext cx="965328" cy="8073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5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6" grpId="0" build="allAtOnce"/>
      <p:bldP spid="8" grpId="0"/>
      <p:bldP spid="11" grpId="0" build="allAtOnce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96CFD-2426-F6A6-010B-40B922F73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A48E0E09-F475-3BFF-D87E-EB938386243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Poisson Parameter 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A48E0E09-F475-3BFF-D87E-EB9383862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4B9FF4F-40AB-9C63-291E-21543AC923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845462"/>
              </a:xfrm>
            </p:spPr>
            <p:txBody>
              <a:bodyPr/>
              <a:lstStyle/>
              <a:p>
                <a:pPr lvl="0"/>
                <a:r>
                  <a:rPr lang="en-IN" dirty="0"/>
                  <a:t>Formula: </a:t>
                </a:r>
              </a:p>
              <a:p>
                <a:pPr lvl="1"/>
                <a:r>
                  <a:rPr lang="en-US" dirty="0"/>
                  <a:t>If events occur at an average 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per unit, then the Poisson parameter for an interval of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𝛌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IN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:pPr lvl="2"/>
                <a:r>
                  <a:rPr lang="en-IN" dirty="0"/>
                  <a:t>i.e. If Rate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IN" dirty="0"/>
                  <a:t> events per unit</a:t>
                </a:r>
              </a:p>
              <a:p>
                <a:pPr lvl="2"/>
                <a:r>
                  <a:rPr lang="en-IN" b="0" dirty="0"/>
                  <a:t>Interval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IN" dirty="0"/>
                  <a:t> unit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unit</m:t>
                          </m:r>
                        </m:den>
                      </m:f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unit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IN" b="0" i="0" smtClean="0">
                          <a:ea typeface="Cambria Math" panose="02040503050406030204" pitchFamily="18" charset="0"/>
                        </a:rPr>
                        <m:t>unit</m:t>
                      </m:r>
                      <m:r>
                        <m:rPr>
                          <m:nor/>
                        </m:rPr>
                        <a:rPr lang="en-IN" b="0" i="0" smtClean="0"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ea typeface="Cambria Math" panose="02040503050406030204" pitchFamily="18" charset="0"/>
                        </a:rPr>
                        <m:t>less</m:t>
                      </m:r>
                    </m:oMath>
                  </m:oMathPara>
                </a14:m>
                <a:endParaRPr lang="en-IN" dirty="0"/>
              </a:p>
              <a:p>
                <a:pPr lvl="2"/>
                <a:r>
                  <a:rPr lang="en-US" dirty="0"/>
                  <a:t>Before computing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/>
                  <a:t>, express the interval length in the same unit as the denominator of the given rate.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4B9FF4F-40AB-9C63-291E-21543AC923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845462"/>
              </a:xfrm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95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721FC-3BF9-DB2B-D2A1-18367AF2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508217-FF9B-11D0-7A24-172521B8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Why Poisson Distribution Exist?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BEE9D3-8675-77E0-87D7-41250E8BF5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56748"/>
                <a:ext cx="11929641" cy="4876798"/>
              </a:xfrm>
            </p:spPr>
            <p:txBody>
              <a:bodyPr/>
              <a:lstStyle/>
              <a:p>
                <a:r>
                  <a:rPr lang="en-US" dirty="0"/>
                  <a:t>Poisson distribution is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limiting case</a:t>
                </a:r>
                <a:r>
                  <a:rPr lang="en-US" dirty="0"/>
                  <a:t> of Binomial distribution.</a:t>
                </a:r>
              </a:p>
              <a:p>
                <a:r>
                  <a:rPr lang="en-US" dirty="0"/>
                  <a:t>When</a:t>
                </a:r>
              </a:p>
              <a:p>
                <a:pPr lvl="1"/>
                <a:r>
                  <a:rPr lang="en-US" dirty="0"/>
                  <a:t>Number of trials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Probability of success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IN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But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𝐧𝐩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r>
                  <a:rPr lang="en-US" dirty="0"/>
                  <a:t> remains finite</a:t>
                </a:r>
              </a:p>
              <a:p>
                <a:pPr marL="271463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B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Poisson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explains why Poisson is called “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distribution of rare events</a:t>
                </a:r>
                <a:r>
                  <a:rPr lang="en-US" dirty="0"/>
                  <a:t>”.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BEE9D3-8675-77E0-87D7-41250E8BF5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56748"/>
                <a:ext cx="11929641" cy="487679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02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CC41D-88A1-0588-3F39-5F40B5C9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AD74C06-F2F8-4AEF-E2E9-CB5106AED32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Interpretation of </a:t>
                </a:r>
                <a14:m>
                  <m:oMath xmlns:m="http://schemas.openxmlformats.org/officeDocument/2006/math">
                    <m:r>
                      <a:rPr lang="en-IN" smtClean="0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AD74C06-F2F8-4AEF-E2E9-CB5106AED3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448A68-3A61-E020-C267-D8C85D7F94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920826"/>
              </a:xfrm>
            </p:spPr>
            <p:txBody>
              <a:bodyPr/>
              <a:lstStyle/>
              <a:p>
                <a:r>
                  <a:rPr lang="en-US" dirty="0"/>
                  <a:t>A tap is dripping water.</a:t>
                </a:r>
              </a:p>
              <a:p>
                <a:pPr lvl="1"/>
                <a:r>
                  <a:rPr lang="en-US" dirty="0"/>
                  <a:t>Drops fall randomly</a:t>
                </a:r>
              </a:p>
              <a:p>
                <a:pPr lvl="1"/>
                <a:r>
                  <a:rPr lang="en-US" dirty="0"/>
                  <a:t>But on average, the tap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drops per minute</a:t>
                </a:r>
              </a:p>
              <a:p>
                <a:r>
                  <a:rPr lang="en-US" dirty="0"/>
                  <a:t>This average speed of dripping does not change.</a:t>
                </a:r>
              </a:p>
              <a:p>
                <a:r>
                  <a:rPr lang="en-US" dirty="0"/>
                  <a:t>We observe the tap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dirty="0"/>
                  <a:t> minutes.</a:t>
                </a:r>
              </a:p>
              <a:p>
                <a:r>
                  <a:rPr lang="en-US" dirty="0"/>
                  <a:t>On average, the total number of drops collected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dirty="0"/>
                  <a:t> minutes is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 err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i="0" dirty="0" err="1" smtClean="0"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​This number does not depend on how closely we watch the tap.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448A68-3A61-E020-C267-D8C85D7F9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920826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60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3378-8C5D-E602-6AC7-5F4C1636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66C88B-FC29-AE73-68C9-296034C3A7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Interpretation of </a:t>
                </a:r>
                <a14:m>
                  <m:oMath xmlns:m="http://schemas.openxmlformats.org/officeDocument/2006/math">
                    <m:r>
                      <a:rPr lang="en-IN" smtClean="0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r>
                  <a:rPr lang="en-IN" dirty="0"/>
                  <a:t> - </a:t>
                </a:r>
                <a:r>
                  <a:rPr lang="en-US" dirty="0"/>
                  <a:t>Zoom In: divide time into tiny pieces</a:t>
                </a:r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66C88B-FC29-AE73-68C9-296034C3A7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E33BE-F095-707B-A49A-DA92567770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1429325"/>
              </a:xfrm>
            </p:spPr>
            <p:txBody>
              <a:bodyPr/>
              <a:lstStyle/>
              <a:p>
                <a:r>
                  <a:rPr lang="en-US" dirty="0"/>
                  <a:t>Divide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dirty="0"/>
                  <a:t> minutes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very small time slots</a:t>
                </a:r>
              </a:p>
              <a:p>
                <a:pPr lvl="1"/>
                <a:r>
                  <a:rPr lang="en-US" dirty="0"/>
                  <a:t>Length of each slot: 	​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E33BE-F095-707B-A49A-DA9256777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1429325"/>
              </a:xfrm>
              <a:blipFill>
                <a:blip r:embed="rId3"/>
                <a:stretch>
                  <a:fillRect l="-971" b="-34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19DEA1-8DBC-0CA1-B902-2AF43DCD96AF}"/>
                  </a:ext>
                </a:extLst>
              </p:cNvPr>
              <p:cNvSpPr txBox="1"/>
              <p:nvPr/>
            </p:nvSpPr>
            <p:spPr>
              <a:xfrm>
                <a:off x="4984170" y="2292018"/>
                <a:ext cx="2223655" cy="8989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ΔL</m:t>
                      </m:r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a:rPr lang="en-IN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IN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19DEA1-8DBC-0CA1-B902-2AF43DCD9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170" y="2292018"/>
                <a:ext cx="2223655" cy="898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9E2EEE0-6F39-AA90-E1F3-D2949C5C4329}"/>
              </a:ext>
            </a:extLst>
          </p:cNvPr>
          <p:cNvSpPr txBox="1">
            <a:spLocks/>
          </p:cNvSpPr>
          <p:nvPr/>
        </p:nvSpPr>
        <p:spPr>
          <a:xfrm>
            <a:off x="131178" y="3342409"/>
            <a:ext cx="11929641" cy="28043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14375" indent="-352425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 slot is so small that </a:t>
            </a:r>
            <a:r>
              <a:rPr lang="en-US" b="1" dirty="0"/>
              <a:t>at most one</a:t>
            </a:r>
            <a:r>
              <a:rPr lang="en-US" dirty="0"/>
              <a:t> drop can occur</a:t>
            </a:r>
          </a:p>
          <a:p>
            <a:r>
              <a:rPr lang="en-US" dirty="0"/>
              <a:t>As we make pieces smaller:</a:t>
            </a:r>
          </a:p>
          <a:p>
            <a:pPr lvl="1"/>
            <a:r>
              <a:rPr lang="en-US" dirty="0"/>
              <a:t>drops look very rare in one slot </a:t>
            </a:r>
          </a:p>
          <a:p>
            <a:pPr lvl="1"/>
            <a:r>
              <a:rPr lang="en-US" dirty="0"/>
              <a:t>but the number of slots increases – trials becomes large​</a:t>
            </a:r>
          </a:p>
        </p:txBody>
      </p:sp>
    </p:spTree>
    <p:extLst>
      <p:ext uri="{BB962C8B-B14F-4D97-AF65-F5344CB8AC3E}">
        <p14:creationId xmlns:p14="http://schemas.microsoft.com/office/powerpoint/2010/main" val="270720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8A9E3-BC31-7949-CC91-2356F8B5E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F2FE22-F58F-677D-5021-9BFE4D59E90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Interpretation of </a:t>
                </a:r>
                <a14:m>
                  <m:oMath xmlns:m="http://schemas.openxmlformats.org/officeDocument/2006/math">
                    <m:r>
                      <a:rPr lang="en-IN" smtClean="0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r>
                  <a:rPr lang="en-IN" dirty="0"/>
                  <a:t> - </a:t>
                </a:r>
                <a:r>
                  <a:rPr lang="en-US" dirty="0"/>
                  <a:t>Zoom In: divide time into tiny pieces</a:t>
                </a:r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F2FE22-F58F-677D-5021-9BFE4D59E9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B2DACB-1AA1-9836-903A-D83225ACC805}"/>
                  </a:ext>
                </a:extLst>
              </p:cNvPr>
              <p:cNvSpPr txBox="1"/>
              <p:nvPr/>
            </p:nvSpPr>
            <p:spPr>
              <a:xfrm>
                <a:off x="3799608" y="4249882"/>
                <a:ext cx="30999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B2DACB-1AA1-9836-903A-D83225ACC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608" y="4249882"/>
                <a:ext cx="309995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EA2275-C919-B132-443E-2004E69C1B92}"/>
              </a:ext>
            </a:extLst>
          </p:cNvPr>
          <p:cNvSpPr txBox="1">
            <a:spLocks/>
          </p:cNvSpPr>
          <p:nvPr/>
        </p:nvSpPr>
        <p:spPr>
          <a:xfrm>
            <a:off x="131178" y="711202"/>
            <a:ext cx="11929641" cy="20943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14375" indent="-352425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 we make pieces smaller:</a:t>
            </a:r>
          </a:p>
          <a:p>
            <a:pPr lvl="1"/>
            <a:r>
              <a:rPr lang="en-US" dirty="0"/>
              <a:t>drops look very rare in one slot </a:t>
            </a:r>
          </a:p>
          <a:p>
            <a:pPr lvl="1"/>
            <a:r>
              <a:rPr lang="en-US" dirty="0"/>
              <a:t>but the number of slots increases – trials becomes large 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7E27EE6-DC43-5E0F-3904-0209E979CE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8" y="2680855"/>
                <a:ext cx="11433903" cy="156902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Because the time is tiny:</a:t>
                </a:r>
              </a:p>
              <a:p>
                <a:pPr lvl="1"/>
                <a:r>
                  <a:rPr lang="en-US" dirty="0"/>
                  <a:t>Probability of one drop </a:t>
                </a:r>
                <a14:m>
                  <m:oMath xmlns:m="http://schemas.openxmlformats.org/officeDocument/2006/math">
                    <m: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average number of drops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7E27EE6-DC43-5E0F-3904-0209E979C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8" y="2680855"/>
                <a:ext cx="11433903" cy="1569027"/>
              </a:xfrm>
              <a:prstGeom prst="rect">
                <a:avLst/>
              </a:prstGeom>
              <a:blipFill>
                <a:blip r:embed="rId4"/>
                <a:stretch>
                  <a:fillRect l="-10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98105E-59A1-AFC3-B68A-1CBEFCCF10A4}"/>
                  </a:ext>
                </a:extLst>
              </p:cNvPr>
              <p:cNvSpPr txBox="1"/>
              <p:nvPr/>
            </p:nvSpPr>
            <p:spPr>
              <a:xfrm>
                <a:off x="3799608" y="4984173"/>
                <a:ext cx="3099956" cy="896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98105E-59A1-AFC3-B68A-1CBEFCCF1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608" y="4984173"/>
                <a:ext cx="3099956" cy="8961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597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6549A-C807-03B9-CB67-328FDE4E7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CDDC268-6C3E-6372-79E6-53F2FED8BA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Interpretation of </a:t>
                </a:r>
                <a14:m>
                  <m:oMath xmlns:m="http://schemas.openxmlformats.org/officeDocument/2006/math">
                    <m:r>
                      <a:rPr lang="en-IN" smtClean="0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r>
                  <a:rPr lang="en-IN" dirty="0"/>
                  <a:t> - </a:t>
                </a:r>
                <a:r>
                  <a:rPr lang="en-US" dirty="0"/>
                  <a:t>Zoom In: divide time into tiny pieces</a:t>
                </a:r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CDDC268-6C3E-6372-79E6-53F2FED8BA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377B613-967C-2F65-F731-DF02A185E4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614" y="1705370"/>
                <a:ext cx="5157795" cy="156902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As we zoom in more: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377B613-967C-2F65-F731-DF02A185E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4" y="1705370"/>
                <a:ext cx="5157795" cy="1569027"/>
              </a:xfrm>
              <a:prstGeom prst="rect">
                <a:avLst/>
              </a:prstGeom>
              <a:blipFill>
                <a:blip r:embed="rId3"/>
                <a:stretch>
                  <a:fillRect l="-22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F3F351-E08C-B6C5-58BC-E5DD1B0A794B}"/>
                  </a:ext>
                </a:extLst>
              </p:cNvPr>
              <p:cNvSpPr txBox="1"/>
              <p:nvPr/>
            </p:nvSpPr>
            <p:spPr>
              <a:xfrm>
                <a:off x="5138304" y="809227"/>
                <a:ext cx="1915392" cy="896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F3F351-E08C-B6C5-58BC-E5DD1B0A7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304" y="809227"/>
                <a:ext cx="1915392" cy="8961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A09DB-4450-F23F-575C-DB462E731F9C}"/>
              </a:ext>
            </a:extLst>
          </p:cNvPr>
          <p:cNvSpPr txBox="1">
            <a:spLocks/>
          </p:cNvSpPr>
          <p:nvPr/>
        </p:nvSpPr>
        <p:spPr>
          <a:xfrm>
            <a:off x="89614" y="3205373"/>
            <a:ext cx="1313160" cy="694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14375" indent="-352425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But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74000ED-EE2C-FC45-E6A4-A6C6E6509D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82071" y="2699539"/>
                <a:ext cx="4627858" cy="156902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np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n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  <m:f>
                            <m:fPr>
                              <m:ctrlPr>
                                <a:rPr lang="en-I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IN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i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den>
                          </m:f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74000ED-EE2C-FC45-E6A4-A6C6E6509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071" y="2699539"/>
                <a:ext cx="4627858" cy="15690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6FFE705-81EA-059B-9C01-AB44B8D2F1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614" y="4381168"/>
                <a:ext cx="12012772" cy="197806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We cut time into smaller and smaller pieces,</a:t>
                </a:r>
              </a:p>
              <a:p>
                <a:pPr lvl="1"/>
                <a:r>
                  <a:rPr lang="en-US" dirty="0"/>
                  <a:t>so, drops become rarer in each piece, but the tap’s average flow stays the same.</a:t>
                </a:r>
              </a:p>
              <a:p>
                <a:r>
                  <a:rPr lang="en-US" dirty="0"/>
                  <a:t>That average flow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6FFE705-81EA-059B-9C01-AB44B8D2F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4" y="4381168"/>
                <a:ext cx="12012772" cy="1978068"/>
              </a:xfrm>
              <a:prstGeom prst="rect">
                <a:avLst/>
              </a:prstGeom>
              <a:blipFill>
                <a:blip r:embed="rId6"/>
                <a:stretch>
                  <a:fillRect l="-964" b="-70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28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A6C10-361D-EE39-83F6-8762AF4E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“trial” in Poisson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B990B3-81FD-1212-08E1-31944D58E3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398653"/>
              </a:xfrm>
            </p:spPr>
            <p:txBody>
              <a:bodyPr/>
              <a:lstStyle/>
              <a:p>
                <a:r>
                  <a:rPr lang="en-US" dirty="0"/>
                  <a:t>In Binomial:</a:t>
                </a:r>
              </a:p>
              <a:p>
                <a:pPr lvl="1"/>
                <a:r>
                  <a:rPr lang="en-US" dirty="0"/>
                  <a:t>Trial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one coin toss</a:t>
                </a:r>
              </a:p>
              <a:p>
                <a:pPr lvl="1"/>
                <a:r>
                  <a:rPr lang="en-US" dirty="0"/>
                  <a:t>Clearly defined, countable</a:t>
                </a:r>
              </a:p>
              <a:p>
                <a:r>
                  <a:rPr lang="en-US" dirty="0"/>
                  <a:t>In Poisson:</a:t>
                </a:r>
              </a:p>
              <a:p>
                <a:pPr lvl="1"/>
                <a:r>
                  <a:rPr lang="en-US" dirty="0"/>
                  <a:t>Trial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a very small sub-interval</a:t>
                </a:r>
              </a:p>
              <a:p>
                <a:pPr lvl="1"/>
                <a:r>
                  <a:rPr lang="en-US" dirty="0"/>
                  <a:t>So small that: Probability of one event is very tiny</a:t>
                </a:r>
              </a:p>
              <a:p>
                <a:pPr lvl="2"/>
                <a:r>
                  <a:rPr lang="en-US" dirty="0"/>
                  <a:t>Probability of two or more events is almost zero</a:t>
                </a:r>
              </a:p>
              <a:p>
                <a:pPr lvl="2"/>
                <a:r>
                  <a:rPr lang="en-US" dirty="0"/>
                  <a:t>Trials are not physical actions — they are conceptual divisions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B990B3-81FD-1212-08E1-31944D58E3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398653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35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74EB7-8421-87BF-37E6-2916E729A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1307-1E46-DE9B-8132-97737FE4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“trial” in Poisson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33D002-73BB-0873-BB07-D9C5DCAA32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Suppose: On average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calls per hour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We imagine:</a:t>
                </a:r>
              </a:p>
              <a:p>
                <a:pPr lvl="2">
                  <a:lnSpc>
                    <a:spcPct val="130000"/>
                  </a:lnSpc>
                </a:pPr>
                <a:r>
                  <a:rPr lang="en-US" dirty="0"/>
                  <a:t>Divide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hour into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3600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2">
                  <a:lnSpc>
                    <a:spcPct val="130000"/>
                  </a:lnSpc>
                </a:pPr>
                <a:r>
                  <a:rPr lang="en-US" dirty="0"/>
                  <a:t>Each second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one tiny trial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For each second: </a:t>
                </a:r>
              </a:p>
              <a:p>
                <a:pPr lvl="2">
                  <a:lnSpc>
                    <a:spcPct val="130000"/>
                  </a:lnSpc>
                </a:pPr>
                <a:r>
                  <a:rPr lang="en-US" dirty="0"/>
                  <a:t>Probability of a call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very small</a:t>
                </a:r>
              </a:p>
              <a:p>
                <a:pPr lvl="2">
                  <a:lnSpc>
                    <a:spcPct val="130000"/>
                  </a:lnSpc>
                </a:pPr>
                <a:r>
                  <a:rPr lang="en-US" dirty="0"/>
                  <a:t>Mostly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calls</a:t>
                </a:r>
              </a:p>
              <a:p>
                <a:pPr lvl="2">
                  <a:lnSpc>
                    <a:spcPct val="130000"/>
                  </a:lnSpc>
                </a:pPr>
                <a:r>
                  <a:rPr lang="en-US" dirty="0"/>
                  <a:t>Occasionally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call</a:t>
                </a:r>
              </a:p>
              <a:p>
                <a:pPr lvl="2">
                  <a:lnSpc>
                    <a:spcPct val="130000"/>
                  </a:lnSpc>
                </a:pPr>
                <a:r>
                  <a:rPr lang="en-US" dirty="0"/>
                  <a:t>Never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calls in the same second.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These seconds are the “trials” in Poisson.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33D002-73BB-0873-BB07-D9C5DCAA32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b="-3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85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A255D-3E8F-D706-C4A6-062648011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F3FF16-473B-3BF1-CE60-F38501240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Assumptions Behind Poisson Distribution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F719E06-011C-9B41-C076-EBE8451588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56747"/>
                <a:ext cx="11929641" cy="5822731"/>
              </a:xfrm>
            </p:spPr>
            <p:txBody>
              <a:bodyPr/>
              <a:lstStyle/>
              <a:p>
                <a:r>
                  <a:rPr lang="en-US" dirty="0"/>
                  <a:t>Poisson distribution works only if all these conditions are satisfied:</a:t>
                </a:r>
              </a:p>
              <a:p>
                <a:pPr lvl="1"/>
                <a:r>
                  <a:rPr lang="en-US" dirty="0"/>
                  <a:t>We count events in a fixed interval</a:t>
                </a:r>
                <a:endParaRPr lang="en-IN" dirty="0"/>
              </a:p>
              <a:p>
                <a:pPr lvl="1"/>
                <a:r>
                  <a:rPr lang="en-US" dirty="0"/>
                  <a:t>Events occur randomly</a:t>
                </a:r>
              </a:p>
              <a:p>
                <a:pPr lvl="1"/>
                <a:r>
                  <a:rPr lang="en-US" dirty="0"/>
                  <a:t>Events occur independently</a:t>
                </a:r>
              </a:p>
              <a:p>
                <a:pPr lvl="1"/>
                <a:r>
                  <a:rPr lang="en-US" dirty="0"/>
                  <a:t>Average 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/>
                  <a:t> is constant</a:t>
                </a:r>
              </a:p>
              <a:p>
                <a:pPr lvl="1"/>
                <a:r>
                  <a:rPr lang="en-US" dirty="0"/>
                  <a:t>Two events cannot occur at exactly the same instant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F719E06-011C-9B41-C076-EBE8451588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56747"/>
                <a:ext cx="11929641" cy="5822731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3244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Poisson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60413"/>
                <a:ext cx="11929641" cy="2959532"/>
              </a:xfrm>
            </p:spPr>
            <p:txBody>
              <a:bodyPr/>
              <a:lstStyle/>
              <a:p>
                <a:pPr lvl="0"/>
                <a:r>
                  <a:rPr lang="en-US" dirty="0"/>
                  <a:t>The random variable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 should be discrete.</a:t>
                </a:r>
                <a:endParaRPr lang="en-IN" dirty="0"/>
              </a:p>
              <a:p>
                <a:pPr lvl="0"/>
                <a:r>
                  <a:rPr lang="en-US" dirty="0"/>
                  <a:t>The number of trials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very large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The probability of success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𝐩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very small</a:t>
                </a:r>
                <a:r>
                  <a:rPr lang="en-US" dirty="0"/>
                  <a:t> (very close to zero).</a:t>
                </a:r>
                <a:endParaRPr lang="en-IN" dirty="0"/>
              </a:p>
              <a:p>
                <a:pPr lvl="0"/>
                <a:r>
                  <a:rPr lang="en-US" dirty="0"/>
                  <a:t>The occurrences are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rare</a:t>
                </a:r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60413"/>
                <a:ext cx="11929641" cy="2959532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46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Poisson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60413"/>
                <a:ext cx="11929641" cy="3634942"/>
              </a:xfrm>
            </p:spPr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variance</a:t>
                </a:r>
                <a:r>
                  <a:rPr lang="en-US" dirty="0"/>
                  <a:t> of the Poisson distribution with parameter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/>
                  <a:t> are defined as</a:t>
                </a:r>
                <a:r>
                  <a:rPr lang="en-IN" dirty="0"/>
                  <a:t> </a:t>
                </a:r>
                <a:r>
                  <a:rPr lang="en-US" dirty="0"/>
                  <a:t>mean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b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𝛌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err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𝐧𝐩</m:t>
                    </m:r>
                    <m:r>
                      <a:rPr lang="en-US">
                        <a:solidFill>
                          <a:srgbClr val="FE572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 &amp;   </m:t>
                    </m:r>
                  </m:oMath>
                </a14:m>
                <a:r>
                  <a:rPr lang="en-US" dirty="0"/>
                  <a:t>variance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IN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p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0"/>
                <a:r>
                  <a:rPr lang="en-US" dirty="0"/>
                  <a:t>Generalized formula of Poisson distribution to obtain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</a:t>
                </a:r>
                <a:r>
                  <a:rPr lang="en-US" dirty="0"/>
                  <a:t> is,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US" b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</m:e>
                      </m:nary>
                      <m:r>
                        <a:rPr lang="en-IN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,…</m:t>
                      </m:r>
                    </m:oMath>
                  </m:oMathPara>
                </a14:m>
                <a:endParaRPr lang="en-IN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60413"/>
                <a:ext cx="11929641" cy="3634942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85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94132"/>
                <a:ext cx="11929643" cy="82130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For Poisson variant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=4)</m:t>
                    </m:r>
                  </m:oMath>
                </a14:m>
                <a:r>
                  <a:rPr lang="en-US" dirty="0"/>
                  <a:t>, then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4132"/>
                <a:ext cx="11929643" cy="821308"/>
              </a:xfrm>
              <a:prstGeom prst="rect">
                <a:avLst/>
              </a:prstGeom>
              <a:blipFill rotWithShape="0">
                <a:blip r:embed="rId2"/>
                <a:stretch>
                  <a:fillRect l="-1074" b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199610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1728250"/>
                <a:ext cx="10200837" cy="97578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0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002060"/>
                          </a:solidFill>
                        </a:rPr>
                        <m:t>We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002060"/>
                          </a:solidFill>
                        </a:rPr>
                        <m:t>know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002060"/>
                          </a:solidFill>
                        </a:rPr>
                        <m:t>that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002060"/>
                          </a:solidFill>
                        </a:rPr>
                        <m:t>,</m:t>
                      </m:r>
                      <m:r>
                        <a:rPr lang="en-IN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r>
                        <m:rPr>
                          <m:sty m:val="p"/>
                        </m:rP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=0,1,2,3,…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1728250"/>
                <a:ext cx="10200837" cy="9757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625597" y="2932632"/>
                <a:ext cx="4360281" cy="34112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Given</m:t>
                      </m:r>
                      <m:r>
                        <m:rPr>
                          <m:nor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=4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 !</m:t>
                          </m:r>
                        </m:den>
                      </m:f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4! </m:t>
                          </m:r>
                        </m:num>
                        <m:den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2932632"/>
                <a:ext cx="4360281" cy="34112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454837" y="2887662"/>
                <a:ext cx="4006108" cy="3341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To find</a:t>
                </a:r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×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837" y="2887662"/>
                <a:ext cx="4006108" cy="3341107"/>
              </a:xfrm>
              <a:prstGeom prst="rect">
                <a:avLst/>
              </a:prstGeom>
              <a:blipFill>
                <a:blip r:embed="rId5"/>
                <a:stretch>
                  <a:fillRect l="-31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>
            <a:cxnSpLocks/>
          </p:cNvCxnSpPr>
          <p:nvPr/>
        </p:nvCxnSpPr>
        <p:spPr>
          <a:xfrm flipH="1">
            <a:off x="6714699" y="2932632"/>
            <a:ext cx="11317" cy="3554979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32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89A9F-296F-0CA1-01DD-35BD44AA9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3A88F30-5970-A262-5B31-ECF0F4B20030}"/>
              </a:ext>
            </a:extLst>
          </p:cNvPr>
          <p:cNvSpPr txBox="1">
            <a:spLocks/>
          </p:cNvSpPr>
          <p:nvPr/>
        </p:nvSpPr>
        <p:spPr>
          <a:xfrm>
            <a:off x="131177" y="794132"/>
            <a:ext cx="11929643" cy="353887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05402-553D-B681-3FD3-899EAFDA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7F710-1FB8-567C-7084-A5B20D835AF8}"/>
              </a:ext>
            </a:extLst>
          </p:cNvPr>
          <p:cNvSpPr txBox="1"/>
          <p:nvPr/>
        </p:nvSpPr>
        <p:spPr>
          <a:xfrm>
            <a:off x="174692" y="872042"/>
            <a:ext cx="118426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chemeClr val="bg1"/>
                </a:solidFill>
              </a:rPr>
              <a:t>The number of page requests that arrive at a Web server is a Poisson random variable. Its probability distribution is as follows: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12AE6E0-9338-E0FE-F815-43B6C3C067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1477296"/>
                  </p:ext>
                </p:extLst>
              </p:nvPr>
            </p:nvGraphicFramePr>
            <p:xfrm>
              <a:off x="260526" y="1935233"/>
              <a:ext cx="11670942" cy="166002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6799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80443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Number of x requests/sec.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1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2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3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4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5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6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0658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Probability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effectLst/>
                                      <a:uFill>
                                        <a:solidFill>
                                          <a:srgbClr val="0070C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Shruti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uFill>
                                        <a:solidFill>
                                          <a:srgbClr val="0070C0"/>
                                        </a:solidFill>
                                      </a:u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Shruti"/>
                                    </a:rPr>
                                    <m:t>x</m:t>
                                  </m:r>
                                </m:e>
                              </m:d>
                            </m:oMath>
                          </a14:m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0.368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0.368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0.184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0.061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0.015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0.003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0.001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12AE6E0-9338-E0FE-F815-43B6C3C067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1477296"/>
                  </p:ext>
                </p:extLst>
              </p:nvPr>
            </p:nvGraphicFramePr>
            <p:xfrm>
              <a:off x="260526" y="1935233"/>
              <a:ext cx="11670942" cy="166002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6799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286135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8534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Number of x requests/sec.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1</a:t>
                          </a:r>
                          <a:endParaRPr lang="en-IN" sz="280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2</a:t>
                          </a:r>
                          <a:endParaRPr lang="en-IN" sz="280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3</a:t>
                          </a:r>
                          <a:endParaRPr lang="en-IN" sz="280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4</a:t>
                          </a:r>
                          <a:endParaRPr lang="en-IN" sz="280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5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6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065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85" t="-118797" r="-338813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0.368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0.368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0.184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0.061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0.015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0.003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dirty="0">
                              <a:solidFill>
                                <a:schemeClr val="bg1"/>
                              </a:solidFill>
                              <a:effectLst/>
                              <a:uFill>
                                <a:solidFill>
                                  <a:srgbClr val="0070C0"/>
                                </a:solidFill>
                              </a:u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a:t>0.001</a:t>
                          </a:r>
                          <a:endParaRPr lang="en-IN" sz="2800" dirty="0">
                            <a:solidFill>
                              <a:schemeClr val="bg1"/>
                            </a:solidFill>
                            <a:effectLst/>
                            <a:uFill>
                              <a:solidFill>
                                <a:srgbClr val="0070C0"/>
                              </a:solidFill>
                            </a:u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6D656BD-8FB4-A413-9F38-0A9381A11505}"/>
              </a:ext>
            </a:extLst>
          </p:cNvPr>
          <p:cNvSpPr txBox="1"/>
          <p:nvPr/>
        </p:nvSpPr>
        <p:spPr>
          <a:xfrm>
            <a:off x="174691" y="3704339"/>
            <a:ext cx="118426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Find the mean and variance of this probability distribution.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38B30A-DBF7-9961-94DA-2A7423261EFF}"/>
              </a:ext>
            </a:extLst>
          </p:cNvPr>
          <p:cNvSpPr/>
          <p:nvPr/>
        </p:nvSpPr>
        <p:spPr>
          <a:xfrm>
            <a:off x="131177" y="4487274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E48B2D-F86F-EB46-B704-77A1E5D19C28}"/>
                  </a:ext>
                </a:extLst>
              </p:cNvPr>
              <p:cNvSpPr txBox="1"/>
              <p:nvPr/>
            </p:nvSpPr>
            <p:spPr>
              <a:xfrm>
                <a:off x="131177" y="5050458"/>
                <a:ext cx="4025187" cy="1304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smtClean="0">
                          <a:solidFill>
                            <a:srgbClr val="002060"/>
                          </a:solidFill>
                        </a:rPr>
                        <m:t>M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ean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E48B2D-F86F-EB46-B704-77A1E5D19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5050458"/>
                <a:ext cx="4025187" cy="13040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0B78E2-4822-AB76-AE19-56CF7FB4F73A}"/>
                  </a:ext>
                </a:extLst>
              </p:cNvPr>
              <p:cNvSpPr txBox="1"/>
              <p:nvPr/>
            </p:nvSpPr>
            <p:spPr>
              <a:xfrm>
                <a:off x="3677942" y="5447129"/>
                <a:ext cx="88742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0B78E2-4822-AB76-AE19-56CF7FB4F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942" y="5447129"/>
                <a:ext cx="887427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003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3B8201-222A-1AA9-9CCD-2343DDD96D7D}"/>
                  </a:ext>
                </a:extLst>
              </p:cNvPr>
              <p:cNvSpPr txBox="1"/>
              <p:nvPr/>
            </p:nvSpPr>
            <p:spPr>
              <a:xfrm>
                <a:off x="120786" y="711201"/>
                <a:ext cx="4025187" cy="1304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smtClean="0">
                          <a:solidFill>
                            <a:srgbClr val="002060"/>
                          </a:solidFill>
                        </a:rPr>
                        <m:t>M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ean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3B8201-222A-1AA9-9CCD-2343DDD96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6" y="711201"/>
                <a:ext cx="4025187" cy="13040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56F50B-FFB2-2281-3304-A76966E0D791}"/>
                  </a:ext>
                </a:extLst>
              </p:cNvPr>
              <p:cNvSpPr txBox="1"/>
              <p:nvPr/>
            </p:nvSpPr>
            <p:spPr>
              <a:xfrm>
                <a:off x="3667551" y="1107872"/>
                <a:ext cx="88742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6×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56F50B-FFB2-2281-3304-A76966E0D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551" y="1107872"/>
                <a:ext cx="887427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9DEF2C2-3921-1989-0C4A-00C613C1C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493" y="5307273"/>
            <a:ext cx="7686324" cy="11858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AD868C-AF94-8861-BF1D-A7131A7EA4A4}"/>
                  </a:ext>
                </a:extLst>
              </p:cNvPr>
              <p:cNvSpPr txBox="1"/>
              <p:nvPr/>
            </p:nvSpPr>
            <p:spPr>
              <a:xfrm>
                <a:off x="2660073" y="2027763"/>
                <a:ext cx="100309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0×0.368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1×0.368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2×0.184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3×0.061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AD868C-AF94-8861-BF1D-A7131A7EA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073" y="2027763"/>
                <a:ext cx="1003091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E0CDBD-525B-C2BB-0F69-35147044D9DD}"/>
                  </a:ext>
                </a:extLst>
              </p:cNvPr>
              <p:cNvSpPr txBox="1"/>
              <p:nvPr/>
            </p:nvSpPr>
            <p:spPr>
              <a:xfrm>
                <a:off x="5493106" y="2672582"/>
                <a:ext cx="7048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4×0.015</m:t>
                          </m:r>
                        </m:e>
                      </m:d>
                      <m:r>
                        <m:rPr>
                          <m:nor/>
                        </m:rP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5×0.003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6×0.001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E0CDBD-525B-C2BB-0F69-35147044D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106" y="2672582"/>
                <a:ext cx="70487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514E7D-3E4F-E385-F7EF-90A1ACA865EE}"/>
                  </a:ext>
                </a:extLst>
              </p:cNvPr>
              <p:cNvSpPr txBox="1"/>
              <p:nvPr/>
            </p:nvSpPr>
            <p:spPr>
              <a:xfrm>
                <a:off x="2660073" y="3429000"/>
                <a:ext cx="100309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=0+0.368+0.368+0.183+0.060+0.015+0.006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514E7D-3E4F-E385-F7EF-90A1ACA86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073" y="3429000"/>
                <a:ext cx="1003091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BF8892-BB4B-FD23-12D4-50B900590E70}"/>
                  </a:ext>
                </a:extLst>
              </p:cNvPr>
              <p:cNvSpPr txBox="1"/>
              <p:nvPr/>
            </p:nvSpPr>
            <p:spPr>
              <a:xfrm>
                <a:off x="2660073" y="4108130"/>
                <a:ext cx="19327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BF8892-BB4B-FD23-12D4-50B900590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073" y="4108130"/>
                <a:ext cx="193270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15903D-9C94-6D8B-D965-D3FEF2706C64}"/>
                  </a:ext>
                </a:extLst>
              </p:cNvPr>
              <p:cNvSpPr txBox="1"/>
              <p:nvPr/>
            </p:nvSpPr>
            <p:spPr>
              <a:xfrm>
                <a:off x="120786" y="4787260"/>
                <a:ext cx="504349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smtClean="0">
                        <a:solidFill>
                          <a:srgbClr val="00206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IN" sz="2800" b="0" smtClean="0">
                        <a:solidFill>
                          <a:srgbClr val="002060"/>
                        </a:solidFill>
                      </a:rPr>
                      <m:t>lso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Variance </a:t>
                </a:r>
                <a14:m>
                  <m:oMath xmlns:m="http://schemas.openxmlformats.org/officeDocument/2006/math">
                    <m: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15903D-9C94-6D8B-D965-D3FEF2706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6" y="4787260"/>
                <a:ext cx="5043496" cy="523220"/>
              </a:xfrm>
              <a:prstGeom prst="rect">
                <a:avLst/>
              </a:prstGeom>
              <a:blipFill>
                <a:blip r:embed="rId9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42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94131"/>
                <a:ext cx="11929643" cy="19632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In sampling a large number of parts manufactured by a machine, the mean number of defectives in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dirty="0"/>
                  <a:t> such samples, how many would be expected to contain exactly two defective parts?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4131"/>
                <a:ext cx="11929643" cy="1963211"/>
              </a:xfrm>
              <a:prstGeom prst="rect">
                <a:avLst/>
              </a:prstGeom>
              <a:blipFill>
                <a:blip r:embed="rId2"/>
                <a:stretch>
                  <a:fillRect l="-1074" r="-1074" b="-83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7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6" y="282773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2893" y="2757343"/>
                <a:ext cx="1056910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defective parts in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3" y="2757343"/>
                <a:ext cx="10569107" cy="665631"/>
              </a:xfrm>
              <a:prstGeom prst="rect">
                <a:avLst/>
              </a:prstGeom>
              <a:blipFill>
                <a:blip r:embed="rId3"/>
                <a:stretch>
                  <a:fillRect l="-1153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622892" y="5002591"/>
                <a:ext cx="6518901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Number of defective parts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2" y="5002591"/>
                <a:ext cx="6518901" cy="665631"/>
              </a:xfrm>
              <a:prstGeom prst="rect">
                <a:avLst/>
              </a:prstGeom>
              <a:blipFill>
                <a:blip r:embed="rId4"/>
                <a:stretch>
                  <a:fillRect l="-1869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622892" y="4240098"/>
                <a:ext cx="79783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 Poisson distribution.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2" y="4240098"/>
                <a:ext cx="7978329" cy="665631"/>
              </a:xfrm>
              <a:prstGeom prst="rect">
                <a:avLst/>
              </a:prstGeom>
              <a:blipFill>
                <a:blip r:embed="rId5"/>
                <a:stretch>
                  <a:fillRect l="-152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135879" y="3490612"/>
                <a:ext cx="6221958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and number of parts (samples)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879" y="3490612"/>
                <a:ext cx="6221958" cy="665631"/>
              </a:xfrm>
              <a:prstGeom prst="rect">
                <a:avLst/>
              </a:prstGeom>
              <a:blipFill>
                <a:blip r:embed="rId6"/>
                <a:stretch>
                  <a:fillRect l="-1959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622892" y="3620016"/>
                <a:ext cx="372634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  &amp; 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2" y="3620016"/>
                <a:ext cx="3726348" cy="523220"/>
              </a:xfrm>
              <a:prstGeom prst="rect">
                <a:avLst/>
              </a:prstGeom>
              <a:blipFill>
                <a:blip r:embed="rId7"/>
                <a:stretch>
                  <a:fillRect l="-326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C542A37-88EC-0287-ACAF-2C93256AA178}"/>
                  </a:ext>
                </a:extLst>
              </p:cNvPr>
              <p:cNvSpPr/>
              <p:nvPr/>
            </p:nvSpPr>
            <p:spPr>
              <a:xfrm>
                <a:off x="9776682" y="5708269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C542A37-88EC-0287-ACAF-2C93256AA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6682" y="5708269"/>
                <a:ext cx="2284138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525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  <p:bldP spid="15" grpId="0"/>
      <p:bldP spid="17" grpId="0"/>
      <p:bldP spid="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54345" y="1556269"/>
                <a:ext cx="3178178" cy="9757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5" y="1556269"/>
                <a:ext cx="3178178" cy="9757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14300" y="872125"/>
            <a:ext cx="44094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The required probability is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118361" y="1604204"/>
                <a:ext cx="18414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361" y="1604204"/>
                <a:ext cx="1841412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118361" y="879732"/>
                <a:ext cx="18414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361" y="879732"/>
                <a:ext cx="1841412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118361" y="2376066"/>
                <a:ext cx="1841412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361" y="2376066"/>
                <a:ext cx="1841412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D0AE60-1C11-FFCB-DED1-6623BE3B45DC}"/>
                  </a:ext>
                </a:extLst>
              </p:cNvPr>
              <p:cNvSpPr/>
              <p:nvPr/>
            </p:nvSpPr>
            <p:spPr>
              <a:xfrm>
                <a:off x="114300" y="2793202"/>
                <a:ext cx="4362413" cy="954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×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D0AE60-1C11-FFCB-DED1-6623BE3B4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2793202"/>
                <a:ext cx="4362413" cy="9543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5F05EB3-0D81-4C81-3788-A67E49357867}"/>
                  </a:ext>
                </a:extLst>
              </p:cNvPr>
              <p:cNvSpPr/>
              <p:nvPr/>
            </p:nvSpPr>
            <p:spPr>
              <a:xfrm>
                <a:off x="114300" y="4055035"/>
                <a:ext cx="380307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=0.2707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5F05EB3-0D81-4C81-3788-A67E49357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4055035"/>
                <a:ext cx="380307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FB279DB-EA89-6B86-B160-630B7597CC96}"/>
                  </a:ext>
                </a:extLst>
              </p:cNvPr>
              <p:cNvSpPr/>
              <p:nvPr/>
            </p:nvSpPr>
            <p:spPr>
              <a:xfrm>
                <a:off x="3018819" y="5525375"/>
                <a:ext cx="33508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=1000×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2707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FB279DB-EA89-6B86-B160-630B7597CC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19" y="5525375"/>
                <a:ext cx="335080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E368E2-DAB7-0BCB-0D84-AA9D7420D750}"/>
                  </a:ext>
                </a:extLst>
              </p:cNvPr>
              <p:cNvSpPr/>
              <p:nvPr/>
            </p:nvSpPr>
            <p:spPr>
              <a:xfrm>
                <a:off x="3018819" y="4841231"/>
                <a:ext cx="266489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E368E2-DAB7-0BCB-0D84-AA9D7420D7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19" y="4841231"/>
                <a:ext cx="26648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3AC31CA-2238-2F19-B49E-1D73BD3D7F5D}"/>
              </a:ext>
            </a:extLst>
          </p:cNvPr>
          <p:cNvSpPr txBox="1"/>
          <p:nvPr/>
        </p:nvSpPr>
        <p:spPr>
          <a:xfrm>
            <a:off x="43750" y="4843873"/>
            <a:ext cx="4218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 </a:t>
            </a:r>
            <a:r>
              <a:rPr lang="en-US" sz="2800" dirty="0">
                <a:solidFill>
                  <a:srgbClr val="002060"/>
                </a:solidFill>
              </a:rPr>
              <a:t>Expected Number</a:t>
            </a:r>
            <a:endParaRPr lang="en-IN" sz="2800" b="1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F2ACC4E-B8A6-B9EE-AB23-D18C44E09CF0}"/>
                  </a:ext>
                </a:extLst>
              </p:cNvPr>
              <p:cNvSpPr/>
              <p:nvPr/>
            </p:nvSpPr>
            <p:spPr>
              <a:xfrm>
                <a:off x="5760257" y="5525375"/>
                <a:ext cx="17433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270.7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F2ACC4E-B8A6-B9EE-AB23-D18C44E09C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257" y="5525375"/>
                <a:ext cx="174338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020C910-6536-0D28-AC50-69580E1D3778}"/>
                  </a:ext>
                </a:extLst>
              </p:cNvPr>
              <p:cNvSpPr/>
              <p:nvPr/>
            </p:nvSpPr>
            <p:spPr>
              <a:xfrm>
                <a:off x="7066049" y="5516070"/>
                <a:ext cx="17433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271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020C910-6536-0D28-AC50-69580E1D37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6049" y="5516070"/>
                <a:ext cx="174338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87A1568-D62C-0D58-FBBD-C067B2C29C96}"/>
                  </a:ext>
                </a:extLst>
              </p:cNvPr>
              <p:cNvSpPr/>
              <p:nvPr/>
            </p:nvSpPr>
            <p:spPr>
              <a:xfrm>
                <a:off x="386613" y="5957153"/>
                <a:ext cx="11805387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Out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 such samples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271</m:t>
                    </m:r>
                  </m:oMath>
                </a14:m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 samples have exactly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 defective parts.</a:t>
                </a:r>
                <a:endParaRPr lang="en-IN" sz="280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87A1568-D62C-0D58-FBBD-C067B2C29C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13" y="5957153"/>
                <a:ext cx="11805387" cy="665631"/>
              </a:xfrm>
              <a:prstGeom prst="rect">
                <a:avLst/>
              </a:prstGeom>
              <a:blipFill>
                <a:blip r:embed="rId12"/>
                <a:stretch>
                  <a:fillRect l="-1033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053127B-E304-13E0-5B4F-EC93747749A6}"/>
                  </a:ext>
                </a:extLst>
              </p:cNvPr>
              <p:cNvSpPr/>
              <p:nvPr/>
            </p:nvSpPr>
            <p:spPr>
              <a:xfrm>
                <a:off x="9675635" y="3153308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053127B-E304-13E0-5B4F-EC93747749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5635" y="3153308"/>
                <a:ext cx="2284138" cy="7111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67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4" grpId="0"/>
      <p:bldP spid="15" grpId="0"/>
      <p:bldP spid="16" grpId="0"/>
      <p:bldP spid="17" grpId="0"/>
      <p:bldP spid="1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94131"/>
                <a:ext cx="11929643" cy="263486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Potholes on a highway can be serious problems. The past experience suggests that there are, on an average,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potholes per mile after a certain amount of usage. It is assumed that Poisson process applies to random variable “no. of potholes”. What is the probability that no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potholes will occur in a given section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miles? 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4131"/>
                <a:ext cx="11929643" cy="2634869"/>
              </a:xfrm>
              <a:prstGeom prst="rect">
                <a:avLst/>
              </a:prstGeom>
              <a:blipFill>
                <a:blip r:embed="rId2"/>
                <a:stretch>
                  <a:fillRect l="-1074" r="-1074" b="-55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9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517650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428802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Here, </a:t>
                </a:r>
                <a:r>
                  <a:rPr lang="en-US" dirty="0">
                    <a:solidFill>
                      <a:srgbClr val="002060"/>
                    </a:solidFill>
                  </a:rPr>
                  <a:t>Average potholes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per mile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428802"/>
                <a:ext cx="10435223" cy="665631"/>
              </a:xfrm>
              <a:prstGeom prst="rect">
                <a:avLst/>
              </a:prstGeom>
              <a:blipFill>
                <a:blip r:embed="rId3"/>
                <a:stretch>
                  <a:fillRect l="-1227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5F1D81-EB6A-2C02-E9D3-41F8235809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4035898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Length of highway section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miles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5F1D81-EB6A-2C02-E9D3-41F823580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035898"/>
                <a:ext cx="10435223" cy="665631"/>
              </a:xfrm>
              <a:prstGeom prst="rect">
                <a:avLst/>
              </a:prstGeom>
              <a:blipFill>
                <a:blip r:embed="rId4"/>
                <a:stretch>
                  <a:fillRect l="-122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5D6B06F-0EC7-8F3A-3DA7-4FE214B946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5" y="4654945"/>
                <a:ext cx="705081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So, the mean number of potholes in </a:t>
                </a:r>
                <a14:m>
                  <m:oMath xmlns:m="http://schemas.openxmlformats.org/officeDocument/2006/math"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miles is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5D6B06F-0EC7-8F3A-3DA7-4FE214B9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5" y="4654945"/>
                <a:ext cx="7050813" cy="665631"/>
              </a:xfrm>
              <a:prstGeom prst="rect">
                <a:avLst/>
              </a:prstGeom>
              <a:blipFill>
                <a:blip r:embed="rId5"/>
                <a:stretch>
                  <a:fillRect l="-181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B8BECC4-2846-73BD-601C-8015771674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38163" y="4648713"/>
                <a:ext cx="3060704" cy="73866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=2×5=10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B8BECC4-2846-73BD-601C-801577167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163" y="4648713"/>
                <a:ext cx="3060704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55557EA-7C4C-B35C-C251-A18493F2BE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4" y="5247840"/>
                <a:ext cx="705081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 number of potholes in </a:t>
                </a:r>
                <a14:m>
                  <m:oMath xmlns:m="http://schemas.openxmlformats.org/officeDocument/2006/math"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+mj-lt"/>
                  </a:rPr>
                  <a:t> miles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55557EA-7C4C-B35C-C251-A18493F2B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4" y="5247840"/>
                <a:ext cx="7050813" cy="665631"/>
              </a:xfrm>
              <a:prstGeom prst="rect">
                <a:avLst/>
              </a:prstGeom>
              <a:blipFill>
                <a:blip r:embed="rId7"/>
                <a:stretch>
                  <a:fillRect l="-181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5A98DE2-FE2A-FBF4-1B54-831F8AAF0568}"/>
                  </a:ext>
                </a:extLst>
              </p:cNvPr>
              <p:cNvSpPr/>
              <p:nvPr/>
            </p:nvSpPr>
            <p:spPr>
              <a:xfrm>
                <a:off x="9776682" y="5625141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5A98DE2-FE2A-FBF4-1B54-831F8AAF05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6682" y="5625141"/>
                <a:ext cx="2284138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3FFEC1B-2D17-9543-DBE8-429D305679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9505" y="5846670"/>
                <a:ext cx="3143831" cy="73866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 1, 2, 3, …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3FFEC1B-2D17-9543-DBE8-429D30567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505" y="5846670"/>
                <a:ext cx="3143831" cy="738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018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/>
      <p:bldP spid="4" grpId="0"/>
      <p:bldP spid="5" grpId="0"/>
      <p:bldP spid="6" grpId="0"/>
      <p:bldP spid="10" grpId="0" animBg="1"/>
      <p:bldP spid="1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2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E525422-F1CB-E7FA-7BCE-5B7F34C48E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1439718"/>
              </a:xfrm>
            </p:spPr>
            <p:txBody>
              <a:bodyPr/>
              <a:lstStyle/>
              <a:p>
                <a:r>
                  <a:rPr lang="en-IN" dirty="0">
                    <a:solidFill>
                      <a:srgbClr val="002060"/>
                    </a:solidFill>
                  </a:rPr>
                  <a:t>Since a Poisson process applies: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IN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Poisson</m:t>
                      </m:r>
                      <m:r>
                        <a:rPr lang="en-IN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=10)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EE525422-F1CB-E7FA-7BCE-5B7F34C48E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143971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328EDF9-DF3F-EE45-C071-904A1CC855C2}"/>
                  </a:ext>
                </a:extLst>
              </p:cNvPr>
              <p:cNvSpPr/>
              <p:nvPr/>
            </p:nvSpPr>
            <p:spPr>
              <a:xfrm>
                <a:off x="9776682" y="980406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328EDF9-DF3F-EE45-C071-904A1CC855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6682" y="980406"/>
                <a:ext cx="2284138" cy="7111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846FBA9-225A-E347-432D-0247F2F3EC0D}"/>
              </a:ext>
            </a:extLst>
          </p:cNvPr>
          <p:cNvSpPr txBox="1">
            <a:spLocks/>
          </p:cNvSpPr>
          <p:nvPr/>
        </p:nvSpPr>
        <p:spPr>
          <a:xfrm>
            <a:off x="131179" y="1986139"/>
            <a:ext cx="5426518" cy="664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  <a:tabLst>
                <a:tab pos="447675" algn="l"/>
              </a:tabLst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The required probability 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8DBC4E6-402C-E34C-473B-29E6A0CD045D}"/>
                  </a:ext>
                </a:extLst>
              </p:cNvPr>
              <p:cNvSpPr/>
              <p:nvPr/>
            </p:nvSpPr>
            <p:spPr>
              <a:xfrm>
                <a:off x="519599" y="2709847"/>
                <a:ext cx="2130084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≤4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8DBC4E6-402C-E34C-473B-29E6A0CD0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99" y="2709847"/>
                <a:ext cx="213008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A96B188-FF05-E782-BC67-F6FF769DBC9E}"/>
                  </a:ext>
                </a:extLst>
              </p:cNvPr>
              <p:cNvSpPr/>
              <p:nvPr/>
            </p:nvSpPr>
            <p:spPr>
              <a:xfrm>
                <a:off x="2346641" y="2709847"/>
                <a:ext cx="9845359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=4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A96B188-FF05-E782-BC67-F6FF769DBC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641" y="2709847"/>
                <a:ext cx="9845359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D827AA-EDB8-D109-F535-CD3878BABFE0}"/>
                  </a:ext>
                </a:extLst>
              </p:cNvPr>
              <p:cNvSpPr txBox="1"/>
              <p:nvPr/>
            </p:nvSpPr>
            <p:spPr>
              <a:xfrm>
                <a:off x="1974273" y="3620744"/>
                <a:ext cx="2701635" cy="1302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sup>
                              </m:s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p>
                              </m:s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D827AA-EDB8-D109-F535-CD3878BAB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273" y="3620744"/>
                <a:ext cx="2701635" cy="13022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193774-548E-D503-9E27-5977B37B5E9D}"/>
                  </a:ext>
                </a:extLst>
              </p:cNvPr>
              <p:cNvSpPr txBox="1"/>
              <p:nvPr/>
            </p:nvSpPr>
            <p:spPr>
              <a:xfrm>
                <a:off x="1974272" y="5095193"/>
                <a:ext cx="2701635" cy="1302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p>
                              </m:s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193774-548E-D503-9E27-5977B37B5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272" y="5095193"/>
                <a:ext cx="2701635" cy="13022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983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  <p:bldP spid="11" grpId="0"/>
      <p:bldP spid="12" grpId="0"/>
      <p:bldP spid="17" grpId="0"/>
      <p:bldP spid="1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3131-EDB0-BE66-DF60-90AF34576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EBAA-0489-AD9E-F9C0-B482E6AE3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2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444E5BA-3352-5E58-A850-D90466CF6470}"/>
                  </a:ext>
                </a:extLst>
              </p:cNvPr>
              <p:cNvSpPr/>
              <p:nvPr/>
            </p:nvSpPr>
            <p:spPr>
              <a:xfrm>
                <a:off x="9776682" y="980406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444E5BA-3352-5E58-A850-D90466CF6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6682" y="980406"/>
                <a:ext cx="2284138" cy="7111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9B31CC-6C27-B07F-F2A7-22B23BE9ED90}"/>
                  </a:ext>
                </a:extLst>
              </p:cNvPr>
              <p:cNvSpPr txBox="1"/>
              <p:nvPr/>
            </p:nvSpPr>
            <p:spPr>
              <a:xfrm>
                <a:off x="131180" y="809587"/>
                <a:ext cx="6130636" cy="1302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≤4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p>
                              </m:s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9B31CC-6C27-B07F-F2A7-22B23BE9E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09587"/>
                <a:ext cx="6130636" cy="13022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9F2729-2C1A-BD4D-DA67-B3C3C3E2F1D3}"/>
                  </a:ext>
                </a:extLst>
              </p:cNvPr>
              <p:cNvSpPr txBox="1"/>
              <p:nvPr/>
            </p:nvSpPr>
            <p:spPr>
              <a:xfrm>
                <a:off x="131179" y="2639501"/>
                <a:ext cx="8399756" cy="1064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≤4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0!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1!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3!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9F2729-2C1A-BD4D-DA67-B3C3C3E2F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2639501"/>
                <a:ext cx="8399756" cy="10644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70FF8C-FD8D-72C0-AA0D-8829C10876ED}"/>
                  </a:ext>
                </a:extLst>
              </p:cNvPr>
              <p:cNvSpPr txBox="1"/>
              <p:nvPr/>
            </p:nvSpPr>
            <p:spPr>
              <a:xfrm>
                <a:off x="131179" y="4231659"/>
                <a:ext cx="101038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≤4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000045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0+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0+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66.67+416.67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70FF8C-FD8D-72C0-AA0D-8829C1087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4231659"/>
                <a:ext cx="1010386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365776-BC1B-03D6-E717-FB51A73CE169}"/>
                  </a:ext>
                </a:extLst>
              </p:cNvPr>
              <p:cNvSpPr txBox="1"/>
              <p:nvPr/>
            </p:nvSpPr>
            <p:spPr>
              <a:xfrm>
                <a:off x="131179" y="5282578"/>
                <a:ext cx="57812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≤4</m:t>
                          </m:r>
                        </m:e>
                      </m:d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.0293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365776-BC1B-03D6-E717-FB51A73CE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5282578"/>
                <a:ext cx="578124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25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94131"/>
                <a:ext cx="11929643" cy="139443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The probability that a person catch corona virus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lang="en-US" dirty="0"/>
                  <a:t>. Find the probability that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3000</m:t>
                    </m:r>
                  </m:oMath>
                </a14:m>
                <a:r>
                  <a:rPr lang="en-US" dirty="0"/>
                  <a:t> persons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,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persons will catch the corona virus.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4131"/>
                <a:ext cx="11929643" cy="1394433"/>
              </a:xfrm>
              <a:prstGeom prst="rect">
                <a:avLst/>
              </a:prstGeom>
              <a:blipFill>
                <a:blip r:embed="rId2"/>
                <a:stretch>
                  <a:fillRect l="-1074" r="-1074" b="-91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17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6" y="2313024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6" y="2241818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persons who catch corona virus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2241818"/>
                <a:ext cx="10435223" cy="665631"/>
              </a:xfrm>
              <a:prstGeom prst="rect">
                <a:avLst/>
              </a:prstGeom>
              <a:blipFill>
                <a:blip r:embed="rId3"/>
                <a:stretch>
                  <a:fillRect l="-122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EE298-B3D7-207E-4DED-0476506684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5" y="2907449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b="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persons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=3000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EE298-B3D7-207E-4DED-047650668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5" y="2907449"/>
                <a:ext cx="10435223" cy="665631"/>
              </a:xfrm>
              <a:prstGeom prst="rect">
                <a:avLst/>
              </a:prstGeom>
              <a:blipFill>
                <a:blip r:embed="rId4"/>
                <a:stretch>
                  <a:fillRect l="-122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391529E-E05E-EAB2-C202-5B33B778A3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25694" y="3573080"/>
                <a:ext cx="10435223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Probability that one person catches corona virus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391529E-E05E-EAB2-C202-5B33B778A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694" y="3573080"/>
                <a:ext cx="10435223" cy="665631"/>
              </a:xfrm>
              <a:prstGeom prst="rect">
                <a:avLst/>
              </a:prstGeom>
              <a:blipFill>
                <a:blip r:embed="rId5"/>
                <a:stretch>
                  <a:fillRect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C0095D-CA5F-5264-24B0-FDE277AFD1E3}"/>
                  </a:ext>
                </a:extLst>
              </p:cNvPr>
              <p:cNvSpPr/>
              <p:nvPr/>
            </p:nvSpPr>
            <p:spPr>
              <a:xfrm>
                <a:off x="1625595" y="4220760"/>
                <a:ext cx="79783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 Poisson distribution.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C0095D-CA5F-5264-24B0-FDE277AFD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5" y="4220760"/>
                <a:ext cx="7978329" cy="665631"/>
              </a:xfrm>
              <a:prstGeom prst="rect">
                <a:avLst/>
              </a:prstGeom>
              <a:blipFill>
                <a:blip r:embed="rId6"/>
                <a:stretch>
                  <a:fillRect l="-1606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4E2AD0-38BA-E10C-CCC2-1B08B0A14FA7}"/>
                  </a:ext>
                </a:extLst>
              </p:cNvPr>
              <p:cNvSpPr txBox="1"/>
              <p:nvPr/>
            </p:nvSpPr>
            <p:spPr>
              <a:xfrm>
                <a:off x="1314579" y="4959815"/>
                <a:ext cx="42188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B14440"/>
                    </a:solidFill>
                    <a:sym typeface="Wingdings 3" panose="05040102010807070707" pitchFamily="18" charset="2"/>
                  </a:rPr>
                  <a:t></a:t>
                </a:r>
                <a:r>
                  <a:rPr lang="en-US" sz="2800" dirty="0">
                    <a:solidFill>
                      <a:srgbClr val="002060"/>
                    </a:solidFill>
                    <a:sym typeface="Wingdings 3" panose="05040102010807070707" pitchFamily="18" charset="2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np</m:t>
                    </m:r>
                  </m:oMath>
                </a14:m>
                <a:endParaRPr lang="en-IN" sz="2800" b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4E2AD0-38BA-E10C-CCC2-1B08B0A14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579" y="4959815"/>
                <a:ext cx="4218895" cy="523220"/>
              </a:xfrm>
              <a:prstGeom prst="rect">
                <a:avLst/>
              </a:prstGeom>
              <a:blipFill>
                <a:blip r:embed="rId7"/>
                <a:stretch>
                  <a:fillRect l="-3035" t="-14118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DF1C58-2528-19CE-2C18-DEDD675D6087}"/>
                  </a:ext>
                </a:extLst>
              </p:cNvPr>
              <p:cNvSpPr txBox="1"/>
              <p:nvPr/>
            </p:nvSpPr>
            <p:spPr>
              <a:xfrm>
                <a:off x="2166633" y="5519747"/>
                <a:ext cx="42188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3000</m:t>
                          </m:r>
                        </m:e>
                      </m:d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0.001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DF1C58-2528-19CE-2C18-DEDD675D6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633" y="5519747"/>
                <a:ext cx="421889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E598A4-35E5-9C8A-379A-DE71179B07D3}"/>
                  </a:ext>
                </a:extLst>
              </p:cNvPr>
              <p:cNvSpPr txBox="1"/>
              <p:nvPr/>
            </p:nvSpPr>
            <p:spPr>
              <a:xfrm>
                <a:off x="2166633" y="6079679"/>
                <a:ext cx="18355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E598A4-35E5-9C8A-379A-DE71179B0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633" y="6079679"/>
                <a:ext cx="183552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41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4" grpId="0"/>
      <p:bldP spid="5" grpId="0"/>
      <p:bldP spid="11" grpId="0"/>
      <p:bldP spid="12" grpId="0"/>
      <p:bldP spid="1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3520" y="699236"/>
                <a:ext cx="7647708" cy="665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Probability that exactly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persons catch the virus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0" y="699236"/>
                <a:ext cx="7647708" cy="665182"/>
              </a:xfrm>
              <a:prstGeom prst="rect">
                <a:avLst/>
              </a:prstGeom>
              <a:blipFill>
                <a:blip r:embed="rId2"/>
                <a:stretch>
                  <a:fillRect l="-1594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39505" y="1540433"/>
            <a:ext cx="44094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From the Poisson distribution,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280136" y="2234670"/>
                <a:ext cx="3628022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36" y="2234670"/>
                <a:ext cx="3628022" cy="9757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754681" y="1873405"/>
                <a:ext cx="129781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4681" y="1873405"/>
                <a:ext cx="1297814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95DAD94-F542-9867-EF1C-EC1FD0441C21}"/>
                  </a:ext>
                </a:extLst>
              </p:cNvPr>
              <p:cNvSpPr/>
              <p:nvPr/>
            </p:nvSpPr>
            <p:spPr>
              <a:xfrm>
                <a:off x="833327" y="3647551"/>
                <a:ext cx="3915318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95DAD94-F542-9867-EF1C-EC1FD0441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27" y="3647551"/>
                <a:ext cx="3915318" cy="9757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ABB40E2-64D6-8A3D-2A20-7EF57E2C6947}"/>
                  </a:ext>
                </a:extLst>
              </p:cNvPr>
              <p:cNvSpPr/>
              <p:nvPr/>
            </p:nvSpPr>
            <p:spPr>
              <a:xfrm>
                <a:off x="833327" y="5056890"/>
                <a:ext cx="391531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.2240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ABB40E2-64D6-8A3D-2A20-7EF57E2C69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27" y="5056890"/>
                <a:ext cx="391531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63D1E51-725C-DF38-06F1-8C3C9E976597}"/>
                  </a:ext>
                </a:extLst>
              </p:cNvPr>
              <p:cNvSpPr/>
              <p:nvPr/>
            </p:nvSpPr>
            <p:spPr>
              <a:xfrm>
                <a:off x="9539447" y="4533670"/>
                <a:ext cx="391531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.0498 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63D1E51-725C-DF38-06F1-8C3C9E9765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447" y="4533670"/>
                <a:ext cx="391531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D15EA67-5669-B174-E749-414A9F3FD6E9}"/>
                  </a:ext>
                </a:extLst>
              </p:cNvPr>
              <p:cNvSpPr/>
              <p:nvPr/>
            </p:nvSpPr>
            <p:spPr>
              <a:xfrm>
                <a:off x="9768357" y="976062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D15EA67-5669-B174-E749-414A9F3FD6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357" y="976062"/>
                <a:ext cx="2284138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439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6" grpId="0"/>
      <p:bldP spid="8" grpId="0"/>
      <p:bldP spid="9" grpId="0"/>
      <p:bldP spid="1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7353" y="1543089"/>
                <a:ext cx="8744773" cy="73866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53" y="1543089"/>
                <a:ext cx="8744773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91122" y="702580"/>
            <a:ext cx="11515269" cy="664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(b) Probability that more than 2 persons catch the virus</a:t>
            </a:r>
            <a:endParaRPr lang="en-IN" sz="2800" b="1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39505" y="2509705"/>
                <a:ext cx="9007863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05" y="2509705"/>
                <a:ext cx="9007863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9505" y="5254826"/>
                <a:ext cx="4065329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576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05" y="5254826"/>
                <a:ext cx="4065329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083FB61-1EF7-E06D-F673-0019574E7986}"/>
                  </a:ext>
                </a:extLst>
              </p:cNvPr>
              <p:cNvSpPr/>
              <p:nvPr/>
            </p:nvSpPr>
            <p:spPr>
              <a:xfrm>
                <a:off x="10754681" y="1873405"/>
                <a:ext cx="129781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083FB61-1EF7-E06D-F673-0019574E79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4681" y="1873405"/>
                <a:ext cx="1297814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BAF720F-49EE-E823-056E-38EEA1533FCF}"/>
                  </a:ext>
                </a:extLst>
              </p:cNvPr>
              <p:cNvSpPr/>
              <p:nvPr/>
            </p:nvSpPr>
            <p:spPr>
              <a:xfrm>
                <a:off x="9768357" y="976062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BAF720F-49EE-E823-056E-38EEA1533F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357" y="976062"/>
                <a:ext cx="2284138" cy="7111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9E3D5F-56AA-D6D0-7BC5-C4D180A23232}"/>
                  </a:ext>
                </a:extLst>
              </p:cNvPr>
              <p:cNvSpPr/>
              <p:nvPr/>
            </p:nvSpPr>
            <p:spPr>
              <a:xfrm>
                <a:off x="139505" y="3476321"/>
                <a:ext cx="6936704" cy="1550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0!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1!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9E3D5F-56AA-D6D0-7BC5-C4D180A232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05" y="3476321"/>
                <a:ext cx="6936704" cy="1550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A6961CA-85CA-75D5-330F-C9B7C9642B68}"/>
                  </a:ext>
                </a:extLst>
              </p:cNvPr>
              <p:cNvSpPr/>
              <p:nvPr/>
            </p:nvSpPr>
            <p:spPr>
              <a:xfrm>
                <a:off x="9508275" y="4053676"/>
                <a:ext cx="30439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.0498 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A6961CA-85CA-75D5-330F-C9B7C9642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8275" y="4053676"/>
                <a:ext cx="304394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94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" grpId="0"/>
      <p:bldP spid="7" grpId="0"/>
      <p:bldP spid="10" grpId="0" animBg="1"/>
      <p:bldP spid="11" grpId="0"/>
      <p:bldP spid="1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07778"/>
                <a:ext cx="11929643" cy="17866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of the items made by machine are defective. In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items find the probability that the sample contains all good,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defective and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defectives.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07778"/>
                <a:ext cx="11929643" cy="1786645"/>
              </a:xfrm>
              <a:prstGeom prst="rect">
                <a:avLst/>
              </a:prstGeom>
              <a:blipFill>
                <a:blip r:embed="rId2"/>
                <a:stretch>
                  <a:fillRect l="-1074" r="-1074" b="-71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20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73501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75786C9-D18A-B2B1-2F79-FA324526048C}"/>
                  </a:ext>
                </a:extLst>
              </p:cNvPr>
              <p:cNvSpPr/>
              <p:nvPr/>
            </p:nvSpPr>
            <p:spPr>
              <a:xfrm>
                <a:off x="1635754" y="2615205"/>
                <a:ext cx="10445380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Let random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number of defective items in the sample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75786C9-D18A-B2B1-2F79-FA3245260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54" y="2615205"/>
                <a:ext cx="10445380" cy="665631"/>
              </a:xfrm>
              <a:prstGeom prst="rect">
                <a:avLst/>
              </a:prstGeom>
              <a:blipFill>
                <a:blip r:embed="rId3"/>
                <a:stretch>
                  <a:fillRect l="-116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E76405D-CB33-AAD1-D684-DFA6654803C7}"/>
                  </a:ext>
                </a:extLst>
              </p:cNvPr>
              <p:cNvSpPr/>
              <p:nvPr/>
            </p:nvSpPr>
            <p:spPr>
              <a:xfrm>
                <a:off x="1625597" y="3280836"/>
                <a:ext cx="10445380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number of items in the sample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E76405D-CB33-AAD1-D684-DFA6654803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280836"/>
                <a:ext cx="10445380" cy="665631"/>
              </a:xfrm>
              <a:prstGeom prst="rect">
                <a:avLst/>
              </a:prstGeom>
              <a:blipFill>
                <a:blip r:embed="rId4"/>
                <a:stretch>
                  <a:fillRect l="-122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6C7F75-20C8-B12E-912B-CD3E35F7CF6C}"/>
                  </a:ext>
                </a:extLst>
              </p:cNvPr>
              <p:cNvSpPr/>
              <p:nvPr/>
            </p:nvSpPr>
            <p:spPr>
              <a:xfrm>
                <a:off x="1833649" y="3917727"/>
                <a:ext cx="10445380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Probability that an item is defective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=1%=0.01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C6C7F75-20C8-B12E-912B-CD3E35F7CF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649" y="3917727"/>
                <a:ext cx="10445380" cy="665631"/>
              </a:xfrm>
              <a:prstGeom prst="rect">
                <a:avLst/>
              </a:prstGeom>
              <a:blipFill>
                <a:blip r:embed="rId5"/>
                <a:stretch>
                  <a:fillRect l="-122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55194B4-A250-1E97-24C6-DD12B8CB956E}"/>
                  </a:ext>
                </a:extLst>
              </p:cNvPr>
              <p:cNvSpPr/>
              <p:nvPr/>
            </p:nvSpPr>
            <p:spPr>
              <a:xfrm>
                <a:off x="1635754" y="4583358"/>
                <a:ext cx="79783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 Poisson distribution.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55194B4-A250-1E97-24C6-DD12B8CB95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54" y="4583358"/>
                <a:ext cx="7978329" cy="665631"/>
              </a:xfrm>
              <a:prstGeom prst="rect">
                <a:avLst/>
              </a:prstGeom>
              <a:blipFill>
                <a:blip r:embed="rId6"/>
                <a:stretch>
                  <a:fillRect l="-152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35AE74-363D-D341-D0DC-B98EA3B8A789}"/>
                  </a:ext>
                </a:extLst>
              </p:cNvPr>
              <p:cNvSpPr txBox="1"/>
              <p:nvPr/>
            </p:nvSpPr>
            <p:spPr>
              <a:xfrm>
                <a:off x="1625597" y="5362660"/>
                <a:ext cx="42188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B14440"/>
                    </a:solidFill>
                    <a:sym typeface="Wingdings 3" panose="05040102010807070707" pitchFamily="18" charset="2"/>
                  </a:rPr>
                  <a:t></a:t>
                </a:r>
                <a:r>
                  <a:rPr lang="en-US" sz="2800" dirty="0">
                    <a:solidFill>
                      <a:srgbClr val="002060"/>
                    </a:solidFill>
                    <a:sym typeface="Wingdings 3" panose="05040102010807070707" pitchFamily="18" charset="2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np</m:t>
                    </m:r>
                  </m:oMath>
                </a14:m>
                <a:endParaRPr lang="en-IN" sz="2800" b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35AE74-363D-D341-D0DC-B98EA3B8A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362660"/>
                <a:ext cx="4218895" cy="523220"/>
              </a:xfrm>
              <a:prstGeom prst="rect">
                <a:avLst/>
              </a:prstGeom>
              <a:blipFill>
                <a:blip r:embed="rId7"/>
                <a:stretch>
                  <a:fillRect l="-3035" t="-13953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EF23E6-0675-6AEE-5AC8-D224D9B12C34}"/>
                  </a:ext>
                </a:extLst>
              </p:cNvPr>
              <p:cNvSpPr txBox="1"/>
              <p:nvPr/>
            </p:nvSpPr>
            <p:spPr>
              <a:xfrm>
                <a:off x="2483395" y="5964142"/>
                <a:ext cx="325238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×0.01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EF23E6-0675-6AEE-5AC8-D224D9B12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395" y="5964142"/>
                <a:ext cx="325238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1B4DAF-05DE-2FEA-C4AA-D86803A541AF}"/>
                  </a:ext>
                </a:extLst>
              </p:cNvPr>
              <p:cNvSpPr txBox="1"/>
              <p:nvPr/>
            </p:nvSpPr>
            <p:spPr>
              <a:xfrm>
                <a:off x="5243109" y="5964142"/>
                <a:ext cx="14486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1B4DAF-05DE-2FEA-C4AA-D86803A54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109" y="5964142"/>
                <a:ext cx="144863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360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5" grpId="0"/>
      <p:bldP spid="1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64999" y="1358699"/>
                <a:ext cx="11550802" cy="13119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Here, the sample contains all good items, it means sample does not have any defective item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800" i="1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800" i="1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sz="2800" i="1"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99" y="1358699"/>
                <a:ext cx="11550802" cy="1311962"/>
              </a:xfrm>
              <a:prstGeom prst="rect">
                <a:avLst/>
              </a:prstGeom>
              <a:blipFill>
                <a:blip r:embed="rId2"/>
                <a:stretch>
                  <a:fillRect l="-1108" r="-1055" b="-1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823926" y="3392077"/>
                <a:ext cx="4272074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926" y="3392077"/>
                <a:ext cx="4272074" cy="9757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731276" y="3193881"/>
                <a:ext cx="129781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276" y="3193881"/>
                <a:ext cx="1297814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70856FA-4B0B-9B20-9C4C-D4CF3E3C4965}"/>
              </a:ext>
            </a:extLst>
          </p:cNvPr>
          <p:cNvSpPr txBox="1"/>
          <p:nvPr/>
        </p:nvSpPr>
        <p:spPr>
          <a:xfrm>
            <a:off x="139424" y="835479"/>
            <a:ext cx="8853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(a) Probability that the sample contains all good items</a:t>
            </a:r>
            <a:endParaRPr lang="en-I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B552B9-CB79-9550-486E-B59A7E39E20C}"/>
              </a:ext>
            </a:extLst>
          </p:cNvPr>
          <p:cNvSpPr txBox="1">
            <a:spLocks/>
          </p:cNvSpPr>
          <p:nvPr/>
        </p:nvSpPr>
        <p:spPr>
          <a:xfrm>
            <a:off x="564999" y="2653938"/>
            <a:ext cx="5426518" cy="664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  <a:tabLst>
                <a:tab pos="447675" algn="l"/>
              </a:tabLst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The required probability 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B8148A8-D0C9-91D2-5701-BC2293D804DE}"/>
                  </a:ext>
                </a:extLst>
              </p:cNvPr>
              <p:cNvSpPr/>
              <p:nvPr/>
            </p:nvSpPr>
            <p:spPr>
              <a:xfrm>
                <a:off x="1460245" y="4613398"/>
                <a:ext cx="4272074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B8148A8-D0C9-91D2-5701-BC2293D804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245" y="4613398"/>
                <a:ext cx="4272074" cy="9757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7C8EBB-586E-D6E9-18B4-79F709D3B1D7}"/>
                  </a:ext>
                </a:extLst>
              </p:cNvPr>
              <p:cNvSpPr/>
              <p:nvPr/>
            </p:nvSpPr>
            <p:spPr>
              <a:xfrm>
                <a:off x="1460245" y="5834719"/>
                <a:ext cx="427207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.3679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7C8EBB-586E-D6E9-18B4-79F709D3B1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245" y="5834719"/>
                <a:ext cx="427207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7CA0607-D3DD-F0AC-6708-01BF9AA3F1CA}"/>
                  </a:ext>
                </a:extLst>
              </p:cNvPr>
              <p:cNvSpPr/>
              <p:nvPr/>
            </p:nvSpPr>
            <p:spPr>
              <a:xfrm>
                <a:off x="9744952" y="2315061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7CA0607-D3DD-F0AC-6708-01BF9AA3F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952" y="2315061"/>
                <a:ext cx="2284138" cy="71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75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5" grpId="0"/>
      <p:bldP spid="11" grpId="0"/>
      <p:bldP spid="12" grpId="0"/>
      <p:bldP spid="1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7585" y="751232"/>
                <a:ext cx="11830929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Probability that the sample contains exactly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defective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5" y="751232"/>
                <a:ext cx="11830929" cy="664221"/>
              </a:xfrm>
              <a:prstGeom prst="rect">
                <a:avLst/>
              </a:prstGeom>
              <a:blipFill>
                <a:blip r:embed="rId2"/>
                <a:stretch>
                  <a:fillRect l="-108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8F9CA-66FD-F470-9014-D6D0EAE9E5C5}"/>
              </a:ext>
            </a:extLst>
          </p:cNvPr>
          <p:cNvSpPr txBox="1">
            <a:spLocks/>
          </p:cNvSpPr>
          <p:nvPr/>
        </p:nvSpPr>
        <p:spPr>
          <a:xfrm>
            <a:off x="534785" y="1481322"/>
            <a:ext cx="4182688" cy="664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  <a:tabLst>
                <a:tab pos="447675" algn="l"/>
              </a:tabLst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The required probability 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BB38DF3-17C2-45D5-AECF-183F8AE8D3FB}"/>
                  </a:ext>
                </a:extLst>
              </p:cNvPr>
              <p:cNvSpPr/>
              <p:nvPr/>
            </p:nvSpPr>
            <p:spPr>
              <a:xfrm>
                <a:off x="1393075" y="2394919"/>
                <a:ext cx="4272074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BB38DF3-17C2-45D5-AECF-183F8AE8D3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075" y="2394919"/>
                <a:ext cx="4272074" cy="9757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D1357D8-10BC-FE5C-BE53-31DCEF92A3A2}"/>
                  </a:ext>
                </a:extLst>
              </p:cNvPr>
              <p:cNvSpPr/>
              <p:nvPr/>
            </p:nvSpPr>
            <p:spPr>
              <a:xfrm>
                <a:off x="1060567" y="3803276"/>
                <a:ext cx="4272074" cy="975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D1357D8-10BC-FE5C-BE53-31DCEF92A3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567" y="3803276"/>
                <a:ext cx="4272074" cy="9757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D424551-7135-F423-1C68-54A7C16A996B}"/>
                  </a:ext>
                </a:extLst>
              </p:cNvPr>
              <p:cNvSpPr/>
              <p:nvPr/>
            </p:nvSpPr>
            <p:spPr>
              <a:xfrm>
                <a:off x="1060567" y="5211633"/>
                <a:ext cx="427207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.3679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D424551-7135-F423-1C68-54A7C16A99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567" y="5211633"/>
                <a:ext cx="427207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45A24F9-F328-486B-F92A-EC99B9D260FB}"/>
                  </a:ext>
                </a:extLst>
              </p:cNvPr>
              <p:cNvSpPr/>
              <p:nvPr/>
            </p:nvSpPr>
            <p:spPr>
              <a:xfrm>
                <a:off x="10731276" y="3193881"/>
                <a:ext cx="129781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45A24F9-F328-486B-F92A-EC99B9D26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276" y="3193881"/>
                <a:ext cx="1297814" cy="52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32DBC4D-1D43-65F3-6A55-D051FCEE5DD0}"/>
                  </a:ext>
                </a:extLst>
              </p:cNvPr>
              <p:cNvSpPr/>
              <p:nvPr/>
            </p:nvSpPr>
            <p:spPr>
              <a:xfrm>
                <a:off x="9744952" y="2315061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32DBC4D-1D43-65F3-6A55-D051FCEE5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952" y="2315061"/>
                <a:ext cx="2284138" cy="71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2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/>
      <p:bldP spid="1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95FA-9BD4-E7B4-9BB7-C82848F8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6CF8-40D1-C7EC-8CD1-8C023C55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20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616776-56C4-BD73-BBE1-F6C8A8DB42E4}"/>
                  </a:ext>
                </a:extLst>
              </p:cNvPr>
              <p:cNvSpPr/>
              <p:nvPr/>
            </p:nvSpPr>
            <p:spPr>
              <a:xfrm>
                <a:off x="77585" y="751232"/>
                <a:ext cx="11830929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(c) Probability that the sample contains at least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defectives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616776-56C4-BD73-BBE1-F6C8A8DB42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5" y="751232"/>
                <a:ext cx="11830929" cy="664221"/>
              </a:xfrm>
              <a:prstGeom prst="rect">
                <a:avLst/>
              </a:prstGeom>
              <a:blipFill>
                <a:blip r:embed="rId2"/>
                <a:stretch>
                  <a:fillRect l="-108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C12D2-D109-5A3D-AE70-13163949813A}"/>
              </a:ext>
            </a:extLst>
          </p:cNvPr>
          <p:cNvSpPr txBox="1">
            <a:spLocks/>
          </p:cNvSpPr>
          <p:nvPr/>
        </p:nvSpPr>
        <p:spPr>
          <a:xfrm>
            <a:off x="534785" y="1481322"/>
            <a:ext cx="4182688" cy="664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  <a:tabLst>
                <a:tab pos="447675" algn="l"/>
              </a:tabLst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The required probability is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2060AA0-3256-2773-DC77-ACAF14CD3C37}"/>
                  </a:ext>
                </a:extLst>
              </p:cNvPr>
              <p:cNvSpPr/>
              <p:nvPr/>
            </p:nvSpPr>
            <p:spPr>
              <a:xfrm>
                <a:off x="1393075" y="2394919"/>
                <a:ext cx="427207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≥3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2060AA0-3256-2773-DC77-ACAF14CD3C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075" y="2394919"/>
                <a:ext cx="427207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766E086-2D5C-5D4B-ECEE-BE693E70AE3C}"/>
                  </a:ext>
                </a:extLst>
              </p:cNvPr>
              <p:cNvSpPr/>
              <p:nvPr/>
            </p:nvSpPr>
            <p:spPr>
              <a:xfrm>
                <a:off x="988525" y="3992843"/>
                <a:ext cx="850946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766E086-2D5C-5D4B-ECEE-BE693E70AE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25" y="3992843"/>
                <a:ext cx="850946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613ACE0-F3FF-B98A-F7C3-4A2E3B6DE529}"/>
                  </a:ext>
                </a:extLst>
              </p:cNvPr>
              <p:cNvSpPr/>
              <p:nvPr/>
            </p:nvSpPr>
            <p:spPr>
              <a:xfrm>
                <a:off x="988524" y="4737202"/>
                <a:ext cx="8509461" cy="10644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0!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613ACE0-F3FF-B98A-F7C3-4A2E3B6DE5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24" y="4737202"/>
                <a:ext cx="8509461" cy="10644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C5E212E-FD2B-6253-F133-8EC7710837E9}"/>
                  </a:ext>
                </a:extLst>
              </p:cNvPr>
              <p:cNvSpPr/>
              <p:nvPr/>
            </p:nvSpPr>
            <p:spPr>
              <a:xfrm>
                <a:off x="10731276" y="3193881"/>
                <a:ext cx="129781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C5E212E-FD2B-6253-F133-8EC7710837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276" y="3193881"/>
                <a:ext cx="1297814" cy="52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F328ACA-871B-82D7-9135-144994F1B45D}"/>
                  </a:ext>
                </a:extLst>
              </p:cNvPr>
              <p:cNvSpPr/>
              <p:nvPr/>
            </p:nvSpPr>
            <p:spPr>
              <a:xfrm>
                <a:off x="9744952" y="2315061"/>
                <a:ext cx="228413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F328ACA-871B-82D7-9135-144994F1B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952" y="2315061"/>
                <a:ext cx="2284138" cy="71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8BDDC4-CEC8-EA25-4725-EF39FFAABA13}"/>
                  </a:ext>
                </a:extLst>
              </p:cNvPr>
              <p:cNvSpPr/>
              <p:nvPr/>
            </p:nvSpPr>
            <p:spPr>
              <a:xfrm>
                <a:off x="988525" y="3193881"/>
                <a:ext cx="488583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≥3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8BDDC4-CEC8-EA25-4725-EF39FFAABA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25" y="3193881"/>
                <a:ext cx="488583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5C115B8-D000-0F61-7319-EAC93AD09E9F}"/>
                  </a:ext>
                </a:extLst>
              </p:cNvPr>
              <p:cNvSpPr/>
              <p:nvPr/>
            </p:nvSpPr>
            <p:spPr>
              <a:xfrm>
                <a:off x="988523" y="5948611"/>
                <a:ext cx="467662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.0803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5C115B8-D000-0F61-7319-EAC93AD09E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23" y="5948611"/>
                <a:ext cx="467662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90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/>
      <p:bldP spid="13" grpId="0" animBg="1"/>
      <p:bldP spid="7" grpId="0"/>
      <p:bldP spid="8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3</a:t>
            </a:r>
            <a:br>
              <a:rPr lang="en-IN" dirty="0"/>
            </a:br>
            <a:r>
              <a:rPr lang="en-IN" dirty="0"/>
              <a:t>Exponential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9282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CC5AD-7758-6598-7E0D-F92196F2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5F7388-CF3A-750F-0683-6B3E051D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Exponential Distribution?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4A33DB-9ACC-BF62-FAE5-0F9C7B205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dirty="0"/>
              <a:t>Exponential Distribution answers one fundamental question:</a:t>
            </a:r>
          </a:p>
          <a:p>
            <a:pPr marL="0" indent="0" algn="ctr">
              <a:buNone/>
            </a:pPr>
            <a:r>
              <a:rPr lang="en-US" b="1" dirty="0"/>
              <a:t>How long will I have to wait from now until the next event occurs?</a:t>
            </a:r>
          </a:p>
          <a:p>
            <a:pPr lvl="1" algn="l"/>
            <a:r>
              <a:rPr lang="en-US" dirty="0"/>
              <a:t>This simply means: </a:t>
            </a:r>
          </a:p>
          <a:p>
            <a:pPr marL="361950" lvl="1" indent="0" algn="ctr">
              <a:buNone/>
            </a:pPr>
            <a:r>
              <a:rPr lang="en-US" dirty="0"/>
              <a:t>Starting from now, how much time will pass before one event occurs?</a:t>
            </a:r>
          </a:p>
        </p:txBody>
      </p:sp>
    </p:spTree>
    <p:extLst>
      <p:ext uri="{BB962C8B-B14F-4D97-AF65-F5344CB8AC3E}">
        <p14:creationId xmlns:p14="http://schemas.microsoft.com/office/powerpoint/2010/main" val="264321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32D333-1D8C-F19E-7BF0-58ED88D2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will I have to wait from </a:t>
            </a:r>
            <a:r>
              <a:rPr lang="en-US" dirty="0">
                <a:solidFill>
                  <a:srgbClr val="FF0000"/>
                </a:solidFill>
              </a:rPr>
              <a:t>now</a:t>
            </a:r>
            <a:r>
              <a:rPr lang="en-US" dirty="0"/>
              <a:t> until the next event occurs?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37BC35-5C4E-95D7-1121-8E1F58520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algn="l"/>
            <a:r>
              <a:rPr lang="en-US" b="1" dirty="0"/>
              <a:t>Example : 1</a:t>
            </a:r>
            <a:r>
              <a:rPr lang="en-US" dirty="0"/>
              <a:t> -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Waiting for a Phone Call</a:t>
            </a:r>
          </a:p>
          <a:p>
            <a:pPr algn="l"/>
            <a:r>
              <a:rPr lang="en-US" dirty="0"/>
              <a:t>You put your phone on the table.</a:t>
            </a:r>
          </a:p>
          <a:p>
            <a:pPr lvl="1" algn="l"/>
            <a:r>
              <a:rPr lang="en-US" dirty="0"/>
              <a:t>It is silent.</a:t>
            </a:r>
          </a:p>
          <a:p>
            <a:pPr lvl="1" algn="l"/>
            <a:r>
              <a:rPr lang="en-US" dirty="0"/>
              <a:t>At this moment, you look at the clock and say I’m going to observe now.</a:t>
            </a:r>
          </a:p>
          <a:p>
            <a:pPr algn="l"/>
            <a:r>
              <a:rPr lang="en-US" dirty="0"/>
              <a:t>That moment is </a:t>
            </a:r>
            <a:r>
              <a:rPr lang="en-US" b="1" dirty="0">
                <a:solidFill>
                  <a:srgbClr val="FF0000"/>
                </a:solidFill>
              </a:rPr>
              <a:t>Now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The random experiment starts at now.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280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F54D-51BE-4A86-C242-FE3CB4BC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332752-BE44-87FE-EEE7-A006C560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will I have to wait from now until the next </a:t>
            </a:r>
            <a:r>
              <a:rPr lang="en-US" dirty="0">
                <a:solidFill>
                  <a:srgbClr val="FF0000"/>
                </a:solidFill>
              </a:rPr>
              <a:t>event</a:t>
            </a:r>
            <a:r>
              <a:rPr lang="en-US" dirty="0"/>
              <a:t> occurs?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6AD37DC-EC99-939C-4712-F3C9EA6CE8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Now your phone is silent.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You start looking now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Nothing happens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Suddenly → Ring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b="1" dirty="0"/>
                  <a:t>That ring is the event.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Not</a:t>
                </a:r>
              </a:p>
              <a:p>
                <a:pPr lvl="2">
                  <a:lnSpc>
                    <a:spcPct val="130000"/>
                  </a:lnSpc>
                </a:pPr>
                <a:r>
                  <a:rPr lang="en-US" dirty="0"/>
                  <a:t>how many calls today</a:t>
                </a:r>
              </a:p>
              <a:p>
                <a:pPr lvl="2">
                  <a:lnSpc>
                    <a:spcPct val="130000"/>
                  </a:lnSpc>
                </a:pPr>
                <a:r>
                  <a:rPr lang="en-US" dirty="0"/>
                  <a:t>how many calls per hour  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Just this one ring. So, Event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Phone rings (incoming call)</a:t>
                </a:r>
              </a:p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dirty="0"/>
                  <a:t>An event is: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An event is something specific we are waiting for.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6AD37DC-EC99-939C-4712-F3C9EA6CE8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b="-3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31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ED1D-AB4D-CBC0-4BD8-0E7C6643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145062-7A13-457A-742B-C7A0BECC1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will I have to wait from now until the </a:t>
            </a:r>
            <a:r>
              <a:rPr lang="en-US" dirty="0">
                <a:solidFill>
                  <a:srgbClr val="FF0000"/>
                </a:solidFill>
              </a:rPr>
              <a:t>next</a:t>
            </a:r>
            <a:r>
              <a:rPr lang="en-US" dirty="0"/>
              <a:t> event occurs?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2B347AA-5B8B-0482-2535-7916555D2B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699990"/>
              </a:xfrm>
            </p:spPr>
            <p:txBody>
              <a:bodyPr/>
              <a:lstStyle/>
              <a:p>
                <a:r>
                  <a:rPr lang="en-US" dirty="0"/>
                  <a:t>Before now:</a:t>
                </a:r>
              </a:p>
              <a:p>
                <a:pPr lvl="1"/>
                <a:r>
                  <a:rPr lang="en-US" dirty="0"/>
                  <a:t>Maybe the phone rang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minute ago</a:t>
                </a:r>
              </a:p>
              <a:p>
                <a:pPr lvl="1"/>
                <a:r>
                  <a:rPr lang="en-US" dirty="0"/>
                  <a:t>Maybe it rang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times today</a:t>
                </a:r>
              </a:p>
              <a:p>
                <a:r>
                  <a:rPr lang="en-US" dirty="0"/>
                  <a:t>We completely ignore the past.</a:t>
                </a:r>
              </a:p>
              <a:p>
                <a:r>
                  <a:rPr lang="en-US" dirty="0"/>
                  <a:t>Next means: </a:t>
                </a:r>
              </a:p>
              <a:p>
                <a:pPr marL="0" indent="0" algn="ctr">
                  <a:buNone/>
                </a:pPr>
                <a:r>
                  <a:rPr lang="en-US" dirty="0"/>
                  <a:t>The very first ring that happens after you start observing (after Now).</a:t>
                </a:r>
              </a:p>
              <a:p>
                <a:pPr marL="0" indent="0" algn="ctr">
                  <a:buNone/>
                </a:pPr>
                <a:r>
                  <a:rPr lang="en-US" b="1" i="1" dirty="0"/>
                  <a:t>Next means:</a:t>
                </a:r>
                <a:r>
                  <a:rPr lang="en-US" b="1" i="1" dirty="0">
                    <a:solidFill>
                      <a:schemeClr val="accent6">
                        <a:lumMod val="75000"/>
                      </a:schemeClr>
                    </a:solidFill>
                  </a:rPr>
                  <a:t> the first event that occurs after the moment you start observing.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2B347AA-5B8B-0482-2535-7916555D2B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699990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054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2496-5938-0B6A-62D9-C4511092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2EBB45-424E-E75D-ED3C-BCD408E5D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will I have to wait from now until the </a:t>
            </a:r>
            <a:r>
              <a:rPr lang="en-US" dirty="0">
                <a:solidFill>
                  <a:srgbClr val="FF0000"/>
                </a:solidFill>
              </a:rPr>
              <a:t>next</a:t>
            </a:r>
            <a:r>
              <a:rPr lang="en-US" dirty="0"/>
              <a:t> event occurs?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7E006C-FC2E-CE6A-C2A5-026C883AC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309187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dirty="0"/>
              <a:t>So: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You are not waiting for the “second” ring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You are not counting calls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You are waiting for the first ring after now</a:t>
            </a:r>
          </a:p>
          <a:p>
            <a:pPr>
              <a:lnSpc>
                <a:spcPct val="130000"/>
              </a:lnSpc>
            </a:pPr>
            <a:r>
              <a:rPr lang="en-US" dirty="0"/>
              <a:t>That is the next event.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759066-517A-458D-340C-78394CA29BDB}"/>
              </a:ext>
            </a:extLst>
          </p:cNvPr>
          <p:cNvGrpSpPr/>
          <p:nvPr/>
        </p:nvGrpSpPr>
        <p:grpSpPr>
          <a:xfrm>
            <a:off x="3401508" y="4248044"/>
            <a:ext cx="4880047" cy="1545268"/>
            <a:chOff x="3401508" y="4248044"/>
            <a:chExt cx="4880047" cy="154526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8DFD3E-9716-5FC0-2D25-DBD5C640F7B3}"/>
                </a:ext>
              </a:extLst>
            </p:cNvPr>
            <p:cNvSpPr txBox="1"/>
            <p:nvPr/>
          </p:nvSpPr>
          <p:spPr>
            <a:xfrm>
              <a:off x="3401508" y="4248044"/>
              <a:ext cx="87283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/>
                <a:t>Now</a:t>
              </a:r>
              <a:endParaRPr lang="en-IN" sz="2800" b="1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83D33AB-3B53-B69A-4DC1-78B3A7C4D199}"/>
                </a:ext>
              </a:extLst>
            </p:cNvPr>
            <p:cNvCxnSpPr/>
            <p:nvPr/>
          </p:nvCxnSpPr>
          <p:spPr>
            <a:xfrm>
              <a:off x="4197927" y="4509654"/>
              <a:ext cx="2597727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A7246A-B8B2-CDD3-7B09-BAAAD413F0F8}"/>
                </a:ext>
              </a:extLst>
            </p:cNvPr>
            <p:cNvSpPr/>
            <p:nvPr/>
          </p:nvSpPr>
          <p:spPr>
            <a:xfrm>
              <a:off x="6795654" y="4329654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8343753-987A-C2F9-AA5F-9618FFBA05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654" y="4771264"/>
              <a:ext cx="0" cy="54032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E0AF66-4341-9337-6CAA-47F2918AF058}"/>
                </a:ext>
              </a:extLst>
            </p:cNvPr>
            <p:cNvSpPr txBox="1"/>
            <p:nvPr/>
          </p:nvSpPr>
          <p:spPr>
            <a:xfrm>
              <a:off x="5936891" y="5393202"/>
              <a:ext cx="234466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First event after Now</a:t>
              </a:r>
              <a:endParaRPr lang="en-IN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7766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7856-2409-D63A-2955-5AA02EA95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EA4F5B-50DF-E193-9500-02F14C66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How long</a:t>
            </a:r>
            <a:r>
              <a:rPr lang="en-US" dirty="0"/>
              <a:t> will I have to wait from now until the next event occurs?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A6DB291-0741-2827-73B1-F3EEBAED3A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699990"/>
              </a:xfrm>
            </p:spPr>
            <p:txBody>
              <a:bodyPr/>
              <a:lstStyle/>
              <a:p>
                <a:r>
                  <a:rPr lang="en-US" dirty="0"/>
                  <a:t>You start counting time:</a:t>
                </a:r>
              </a:p>
              <a:p>
                <a:pPr lvl="1"/>
                <a:r>
                  <a:rPr lang="en-US" dirty="0"/>
                  <a:t>Maybe it rings after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1"/>
                <a:r>
                  <a:rPr lang="en-US" dirty="0"/>
                  <a:t>Maybe after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minutes</a:t>
                </a:r>
              </a:p>
              <a:p>
                <a:pPr lvl="1"/>
                <a:r>
                  <a:rPr lang="en-US" dirty="0"/>
                  <a:t>Maybe after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minutes</a:t>
                </a:r>
              </a:p>
              <a:p>
                <a:r>
                  <a:rPr lang="en-US" dirty="0"/>
                  <a:t>This time duration is unknown before it happens.</a:t>
                </a:r>
              </a:p>
              <a:p>
                <a:pPr lvl="1"/>
                <a:r>
                  <a:rPr lang="en-US" dirty="0"/>
                  <a:t>That time gap is what we are asking about.</a:t>
                </a:r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Waiting time = time from Now until the phone rings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A6DB291-0741-2827-73B1-F3EEBAED3A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699990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10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74DA-1AD7-FD3C-6B16-AD709C50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2BBBEF-F8FC-3C05-B578-2B2FF660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waiting time Random?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5A9FCF-4842-E91F-C836-4F22C10A8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273963"/>
          </a:xfrm>
        </p:spPr>
        <p:txBody>
          <a:bodyPr/>
          <a:lstStyle/>
          <a:p>
            <a:r>
              <a:rPr lang="en-US" dirty="0"/>
              <a:t>You cannot control:</a:t>
            </a:r>
          </a:p>
          <a:p>
            <a:pPr lvl="1"/>
            <a:r>
              <a:rPr lang="en-US" dirty="0"/>
              <a:t>When someone decides to call you</a:t>
            </a:r>
          </a:p>
          <a:p>
            <a:pPr lvl="1"/>
            <a:r>
              <a:rPr lang="en-US" dirty="0"/>
              <a:t>Whether it will be soon or late</a:t>
            </a:r>
          </a:p>
          <a:p>
            <a:r>
              <a:rPr lang="en-US" dirty="0"/>
              <a:t>So, the waiting time could be:</a:t>
            </a:r>
          </a:p>
          <a:p>
            <a:pPr lvl="1"/>
            <a:r>
              <a:rPr lang="en-US" dirty="0"/>
              <a:t>Short</a:t>
            </a:r>
          </a:p>
          <a:p>
            <a:pPr lvl="1"/>
            <a:r>
              <a:rPr lang="en-US" dirty="0"/>
              <a:t>Long</a:t>
            </a:r>
          </a:p>
          <a:p>
            <a:pPr lvl="1"/>
            <a:r>
              <a:rPr lang="en-US" dirty="0"/>
              <a:t>Very long</a:t>
            </a:r>
          </a:p>
          <a:p>
            <a:r>
              <a:rPr lang="en-US" dirty="0"/>
              <a:t>That uncertainty makes it random.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72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A269-4C04-462E-539D-B1AEA5B5A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5AC48C-F020-DBE4-212E-85E2BE3A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exactly is random here?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21D74C-3638-B753-CB4B-D97EC6658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1585189"/>
          </a:xfrm>
        </p:spPr>
        <p:txBody>
          <a:bodyPr/>
          <a:lstStyle/>
          <a:p>
            <a:r>
              <a:rPr lang="en-US" dirty="0"/>
              <a:t>That uncertainty makes it random.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Hence, waiting time is a random variable.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6E5D01-6C64-D528-15D2-50E4B506784B}"/>
              </a:ext>
            </a:extLst>
          </p:cNvPr>
          <p:cNvGrpSpPr/>
          <p:nvPr/>
        </p:nvGrpSpPr>
        <p:grpSpPr>
          <a:xfrm>
            <a:off x="1962068" y="2571884"/>
            <a:ext cx="8267863" cy="1298921"/>
            <a:chOff x="2306672" y="4383126"/>
            <a:chExt cx="8267863" cy="129892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065E042-2CAD-1E4F-C32E-38DE6D1B8FC9}"/>
                </a:ext>
              </a:extLst>
            </p:cNvPr>
            <p:cNvSpPr txBox="1"/>
            <p:nvPr/>
          </p:nvSpPr>
          <p:spPr>
            <a:xfrm>
              <a:off x="2306672" y="4383126"/>
              <a:ext cx="87283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</a:rPr>
                <a:t>Now</a:t>
              </a:r>
              <a:endParaRPr lang="en-IN" sz="28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72DCF62-EB46-C7EA-EAA8-34421AFEFA8B}"/>
                </a:ext>
              </a:extLst>
            </p:cNvPr>
            <p:cNvCxnSpPr/>
            <p:nvPr/>
          </p:nvCxnSpPr>
          <p:spPr>
            <a:xfrm>
              <a:off x="3054927" y="4644736"/>
              <a:ext cx="2597727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39FD2A4-0359-AA9A-2418-6661FAE1A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673" y="4741609"/>
              <a:ext cx="0" cy="54032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19289EB-55DC-3A76-9F1A-E390AB1594FB}"/>
                </a:ext>
              </a:extLst>
            </p:cNvPr>
            <p:cNvSpPr txBox="1"/>
            <p:nvPr/>
          </p:nvSpPr>
          <p:spPr>
            <a:xfrm>
              <a:off x="3441231" y="5281937"/>
              <a:ext cx="234466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Random length </a:t>
              </a:r>
              <a:endParaRPr lang="en-IN" sz="20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B6617C-0953-0562-BB06-53E629CDAE60}"/>
                </a:ext>
              </a:extLst>
            </p:cNvPr>
            <p:cNvSpPr txBox="1"/>
            <p:nvPr/>
          </p:nvSpPr>
          <p:spPr>
            <a:xfrm>
              <a:off x="5601353" y="4383446"/>
              <a:ext cx="153720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/>
                <a:t>(waiting)</a:t>
              </a:r>
              <a:endParaRPr lang="en-IN" sz="2800" b="1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E15FDC7-A86B-5E60-4E31-3A02534F4215}"/>
                </a:ext>
              </a:extLst>
            </p:cNvPr>
            <p:cNvCxnSpPr/>
            <p:nvPr/>
          </p:nvCxnSpPr>
          <p:spPr>
            <a:xfrm>
              <a:off x="6948054" y="4644736"/>
              <a:ext cx="2597727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F1D90A-0599-EB52-07D4-22EBCF54BA12}"/>
                </a:ext>
              </a:extLst>
            </p:cNvPr>
            <p:cNvSpPr txBox="1"/>
            <p:nvPr/>
          </p:nvSpPr>
          <p:spPr>
            <a:xfrm>
              <a:off x="9483707" y="4383126"/>
              <a:ext cx="109082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</a:rPr>
                <a:t>Event</a:t>
              </a:r>
              <a:endParaRPr lang="en-IN" sz="28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0479265E-48CD-A352-0752-BCDE020EAF2D}"/>
              </a:ext>
            </a:extLst>
          </p:cNvPr>
          <p:cNvSpPr txBox="1">
            <a:spLocks/>
          </p:cNvSpPr>
          <p:nvPr/>
        </p:nvSpPr>
        <p:spPr>
          <a:xfrm>
            <a:off x="131180" y="4155237"/>
            <a:ext cx="7293066" cy="812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14375" indent="-352425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That random length is the random variable.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84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5BDFC-5A7B-7266-B51E-E465107DC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4F8E69-90C3-6931-492E-C6E0F73F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FFE599-5A59-1CA2-5630-DEE991CAD0BA}"/>
                  </a:ext>
                </a:extLst>
              </p:cNvPr>
              <p:cNvSpPr txBox="1"/>
              <p:nvPr/>
            </p:nvSpPr>
            <p:spPr>
              <a:xfrm>
                <a:off x="1117347" y="876675"/>
                <a:ext cx="234466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Now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𝐭</m:t>
                        </m:r>
                        <m:r>
                          <a:rPr lang="en-IN" sz="28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FFE599-5A59-1CA2-5630-DEE991CAD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347" y="876675"/>
                <a:ext cx="2344664" cy="523220"/>
              </a:xfrm>
              <a:prstGeom prst="rect">
                <a:avLst/>
              </a:prstGeom>
              <a:blipFill>
                <a:blip r:embed="rId2"/>
                <a:stretch>
                  <a:fillRect l="-5195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013229-8B1D-D627-5994-B03DE4C0FFB8}"/>
              </a:ext>
            </a:extLst>
          </p:cNvPr>
          <p:cNvCxnSpPr/>
          <p:nvPr/>
        </p:nvCxnSpPr>
        <p:spPr>
          <a:xfrm>
            <a:off x="3034142" y="1140372"/>
            <a:ext cx="6552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E41C8C-6333-35E5-2328-0425C898597B}"/>
              </a:ext>
            </a:extLst>
          </p:cNvPr>
          <p:cNvCxnSpPr>
            <a:cxnSpLocks/>
          </p:cNvCxnSpPr>
          <p:nvPr/>
        </p:nvCxnSpPr>
        <p:spPr>
          <a:xfrm flipV="1">
            <a:off x="2123424" y="1399895"/>
            <a:ext cx="0" cy="540328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34E630-B857-F5A5-D7B4-F9AF83DDA58A}"/>
              </a:ext>
            </a:extLst>
          </p:cNvPr>
          <p:cNvSpPr txBox="1"/>
          <p:nvPr/>
        </p:nvSpPr>
        <p:spPr>
          <a:xfrm>
            <a:off x="1117347" y="2007264"/>
            <a:ext cx="2344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Observation starts</a:t>
            </a:r>
            <a:endParaRPr lang="en-IN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CEECB-5E4C-D76A-27AA-AB4491DF3563}"/>
              </a:ext>
            </a:extLst>
          </p:cNvPr>
          <p:cNvSpPr txBox="1"/>
          <p:nvPr/>
        </p:nvSpPr>
        <p:spPr>
          <a:xfrm>
            <a:off x="9555706" y="878762"/>
            <a:ext cx="10908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Time</a:t>
            </a:r>
            <a:endParaRPr lang="en-I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C28A26E2-0F25-BD16-FA84-8FB6AB0EB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38983" y="2987875"/>
                <a:ext cx="11598530" cy="33713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/>
                  <a:t>The experiment starts at now</a:t>
                </a:r>
              </a:p>
              <a:p>
                <a:pPr lvl="1"/>
                <a:r>
                  <a:rPr lang="en-US" dirty="0"/>
                  <a:t>Time flows continuously</a:t>
                </a:r>
              </a:p>
              <a:p>
                <a:pPr lvl="1"/>
                <a:r>
                  <a:rPr lang="en-US" dirty="0"/>
                  <a:t>We wait for the first phone ring</a:t>
                </a:r>
              </a:p>
              <a:p>
                <a:pPr lvl="1"/>
                <a:r>
                  <a:rPr lang="en-US" dirty="0"/>
                  <a:t>The time gap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is the outcome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Waiting time until the phone rings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C28A26E2-0F25-BD16-FA84-8FB6AB0EB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8983" y="2987875"/>
                <a:ext cx="11598530" cy="3371362"/>
              </a:xfrm>
              <a:prstGeom prst="rect">
                <a:avLst/>
              </a:prstGeom>
              <a:blipFill>
                <a:blip r:embed="rId3"/>
                <a:stretch>
                  <a:fillRect b="-7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1E972C-A16A-F762-BEA7-03A041ADA782}"/>
              </a:ext>
            </a:extLst>
          </p:cNvPr>
          <p:cNvCxnSpPr>
            <a:cxnSpLocks/>
          </p:cNvCxnSpPr>
          <p:nvPr/>
        </p:nvCxnSpPr>
        <p:spPr>
          <a:xfrm flipV="1">
            <a:off x="10006660" y="1399895"/>
            <a:ext cx="0" cy="540328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694CF3E-D79F-FBDA-A2C9-CBBB5682A0BA}"/>
              </a:ext>
            </a:extLst>
          </p:cNvPr>
          <p:cNvSpPr txBox="1"/>
          <p:nvPr/>
        </p:nvSpPr>
        <p:spPr>
          <a:xfrm>
            <a:off x="9114883" y="2007264"/>
            <a:ext cx="2344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Event (Phone Rings)</a:t>
            </a:r>
            <a:endParaRPr lang="en-IN" sz="2000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798938E-0874-1D99-2598-B44295F85398}"/>
              </a:ext>
            </a:extLst>
          </p:cNvPr>
          <p:cNvCxnSpPr>
            <a:cxnSpLocks/>
          </p:cNvCxnSpPr>
          <p:nvPr/>
        </p:nvCxnSpPr>
        <p:spPr>
          <a:xfrm rot="16200000" flipV="1">
            <a:off x="3635424" y="1275553"/>
            <a:ext cx="0" cy="3024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BECAE3-4D3B-7E10-EB95-219A7BE5C125}"/>
                  </a:ext>
                </a:extLst>
              </p:cNvPr>
              <p:cNvSpPr txBox="1"/>
              <p:nvPr/>
            </p:nvSpPr>
            <p:spPr>
              <a:xfrm>
                <a:off x="5112201" y="2594397"/>
                <a:ext cx="23446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Waiting Time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 dirty="0" smtClean="0"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d>
                  </m:oMath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BECAE3-4D3B-7E10-EB95-219A7BE5C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201" y="2594397"/>
                <a:ext cx="2344664" cy="400110"/>
              </a:xfrm>
              <a:prstGeom prst="rect">
                <a:avLst/>
              </a:prstGeom>
              <a:blipFill>
                <a:blip r:embed="rId4"/>
                <a:stretch>
                  <a:fillRect l="-2865"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17043CA-7189-87A0-C258-73621AFB7D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494660" y="1275552"/>
            <a:ext cx="0" cy="3024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68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C751A-8E08-6A97-4ECC-02E1E760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C39D13-DFF8-A31C-EEC7-993438FE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2 - Waiting for Internet to Reconnect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A0590E-E948-0BB2-2CA5-E6217D313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855853"/>
          </a:xfrm>
        </p:spPr>
        <p:txBody>
          <a:bodyPr/>
          <a:lstStyle/>
          <a:p>
            <a:pPr algn="l"/>
            <a:r>
              <a:rPr lang="en-US" dirty="0"/>
              <a:t>Imagine the situation</a:t>
            </a:r>
          </a:p>
          <a:p>
            <a:pPr lvl="1" algn="l"/>
            <a:r>
              <a:rPr lang="en-US" dirty="0"/>
              <a:t>You are in a hostel / university / home</a:t>
            </a:r>
          </a:p>
          <a:p>
            <a:pPr lvl="1" algn="l"/>
            <a:r>
              <a:rPr lang="en-US" dirty="0"/>
              <a:t>Internet suddenly disconnects</a:t>
            </a:r>
          </a:p>
          <a:p>
            <a:pPr lvl="1" algn="l"/>
            <a:r>
              <a:rPr lang="en-US" dirty="0"/>
              <a:t>Router starts trying to reconnect automatically</a:t>
            </a:r>
          </a:p>
          <a:p>
            <a:pPr lvl="1" algn="l"/>
            <a:r>
              <a:rPr lang="en-US" dirty="0"/>
              <a:t>You are just waiting and watching</a:t>
            </a:r>
          </a:p>
          <a:p>
            <a:pPr lvl="1" algn="l"/>
            <a:r>
              <a:rPr lang="en-US" dirty="0"/>
              <a:t>At this moment</a:t>
            </a:r>
          </a:p>
          <a:p>
            <a:pPr lvl="2" algn="l"/>
            <a:r>
              <a:rPr lang="en-US" dirty="0"/>
              <a:t>Internet is off</a:t>
            </a:r>
          </a:p>
          <a:p>
            <a:pPr lvl="2" algn="l"/>
            <a:r>
              <a:rPr lang="en-US" dirty="0"/>
              <a:t>You do not know when it will come back</a:t>
            </a:r>
          </a:p>
          <a:p>
            <a:pPr lvl="1" algn="l"/>
            <a:r>
              <a:rPr lang="en-US" dirty="0"/>
              <a:t>This moment is NOW and The random experiment starts NOW.</a:t>
            </a:r>
          </a:p>
        </p:txBody>
      </p:sp>
    </p:spTree>
    <p:extLst>
      <p:ext uri="{BB962C8B-B14F-4D97-AF65-F5344CB8AC3E}">
        <p14:creationId xmlns:p14="http://schemas.microsoft.com/office/powerpoint/2010/main" val="146193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F8EA1-0094-F10F-D8A1-F15B89C7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565843-C045-9F9A-96F5-DFB216C6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2 - Waiting for Internet to Reconnect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7D67A2B-8CCF-2B82-BC3E-2DB2098B3B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294744"/>
              </a:xfrm>
            </p:spPr>
            <p:txBody>
              <a:bodyPr/>
              <a:lstStyle/>
              <a:p>
                <a:pPr algn="l"/>
                <a:r>
                  <a:rPr lang="en-US" dirty="0"/>
                  <a:t>From NOW onwards:</a:t>
                </a:r>
              </a:p>
              <a:p>
                <a:pPr lvl="1" algn="l"/>
                <a:r>
                  <a:rPr lang="en-US" dirty="0"/>
                  <a:t>Internet may reconnect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1" algn="l"/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1" algn="l"/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minutes</a:t>
                </a:r>
              </a:p>
              <a:p>
                <a:pPr algn="l"/>
                <a:r>
                  <a:rPr lang="en-US" dirty="0"/>
                  <a:t>Before it happens:</a:t>
                </a:r>
              </a:p>
              <a:p>
                <a:pPr lvl="1" algn="l"/>
                <a:r>
                  <a:rPr lang="en-US" dirty="0"/>
                  <a:t>The exact reconnection time is unknown</a:t>
                </a:r>
              </a:p>
              <a:p>
                <a:pPr lvl="1" algn="l"/>
                <a:r>
                  <a:rPr lang="en-US" dirty="0"/>
                  <a:t>Different trials give different waiting times</a:t>
                </a:r>
              </a:p>
              <a:p>
                <a:pPr algn="l"/>
                <a:r>
                  <a:rPr lang="en-US" dirty="0"/>
                  <a:t>This uncertainty is what makes the waiting time random.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7D67A2B-8CCF-2B82-BC3E-2DB2098B3B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294744"/>
              </a:xfrm>
              <a:blipFill>
                <a:blip r:embed="rId2"/>
                <a:stretch>
                  <a:fillRect l="-971" b="-4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65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8B1E8-9B54-3C7F-FCAC-8B8223A5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0062D1-6511-B445-1DE2-508AD2FB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2 - Waiting for Internet to Reconnect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1C0FBD-1C5B-F282-F4C6-15547DF1F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294744"/>
          </a:xfrm>
        </p:spPr>
        <p:txBody>
          <a:bodyPr/>
          <a:lstStyle/>
          <a:p>
            <a:pPr algn="l"/>
            <a:r>
              <a:rPr lang="en-US" dirty="0"/>
              <a:t>We ask only one simple question:</a:t>
            </a:r>
          </a:p>
          <a:p>
            <a:pPr marL="0" indent="0" algn="ctr">
              <a:buNone/>
            </a:pPr>
            <a:r>
              <a:rPr lang="en-US" dirty="0"/>
              <a:t>	Starting from NOW, how much time will pass before the internet reconnects for the first time?</a:t>
            </a:r>
          </a:p>
          <a:p>
            <a:pPr algn="l"/>
            <a:r>
              <a:rPr lang="en-US" dirty="0"/>
              <a:t>Key words:</a:t>
            </a:r>
          </a:p>
          <a:p>
            <a:pPr lvl="1" algn="l"/>
            <a:r>
              <a:rPr lang="en-US" dirty="0"/>
              <a:t>Starting from NOW</a:t>
            </a:r>
          </a:p>
          <a:p>
            <a:pPr lvl="1" algn="l"/>
            <a:r>
              <a:rPr lang="en-US" dirty="0"/>
              <a:t>First reconnection</a:t>
            </a:r>
          </a:p>
          <a:p>
            <a:pPr lvl="1" algn="l"/>
            <a:r>
              <a:rPr lang="en-US" dirty="0"/>
              <a:t>Time until event.</a:t>
            </a:r>
          </a:p>
          <a:p>
            <a:pPr algn="l"/>
            <a:r>
              <a:rPr lang="en-IN" dirty="0"/>
              <a:t>This leads to the Exponential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72305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6CF9-4063-BEBB-8705-1CD04672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C94281-10BB-488C-61D7-92460FBC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2 - Waiting for Internet to Reconnect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FC856D6-DAFA-EA81-DF6F-36C71A9959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55853"/>
              </a:xfrm>
            </p:spPr>
            <p:txBody>
              <a:bodyPr/>
              <a:lstStyle/>
              <a:p>
                <a:r>
                  <a:rPr lang="en-US" b="1" dirty="0"/>
                  <a:t>Why exponential distribution is natural here?</a:t>
                </a:r>
              </a:p>
              <a:p>
                <a:r>
                  <a:rPr lang="en-US" dirty="0"/>
                  <a:t>Suppose: </a:t>
                </a:r>
              </a:p>
              <a:p>
                <a:pPr lvl="1"/>
                <a:r>
                  <a:rPr lang="en-US" dirty="0"/>
                  <a:t>You have already waited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1"/>
                <a:r>
                  <a:rPr lang="en-US" dirty="0"/>
                  <a:t>Internet has still not come back</a:t>
                </a:r>
              </a:p>
              <a:p>
                <a:r>
                  <a:rPr lang="en-US" dirty="0"/>
                  <a:t>Now ask yourself:</a:t>
                </a:r>
              </a:p>
              <a:p>
                <a:pPr lvl="1"/>
                <a:r>
                  <a:rPr lang="en-US" dirty="0"/>
                  <a:t>Does the router know that I have already waited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seconds? - No</a:t>
                </a:r>
              </a:p>
              <a:p>
                <a:r>
                  <a:rPr lang="en-US" dirty="0"/>
                  <a:t>From your point of view:</a:t>
                </a:r>
              </a:p>
              <a:p>
                <a:pPr lvl="1"/>
                <a:r>
                  <a:rPr lang="en-US" dirty="0"/>
                  <a:t>The chance that it reconnects in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seconds does not depend on how long you already waited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FC856D6-DAFA-EA81-DF6F-36C71A9959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55853"/>
              </a:xfrm>
              <a:blipFill>
                <a:blip r:embed="rId2"/>
                <a:stretch>
                  <a:fillRect l="-971" r="-1074" b="-17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154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ECBC0-5F41-A3B6-787C-15EA8D20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F32A75-A19B-4A5A-2BB3-62BA433F0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2 - Waiting at a Traffic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5E332C2-022D-043F-362E-341ED373C0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55853"/>
              </a:xfrm>
            </p:spPr>
            <p:txBody>
              <a:bodyPr/>
              <a:lstStyle/>
              <a:p>
                <a:r>
                  <a:rPr lang="en-US" dirty="0"/>
                  <a:t>From your point of view:</a:t>
                </a:r>
              </a:p>
              <a:p>
                <a:pPr lvl="1"/>
                <a:r>
                  <a:rPr lang="en-US" dirty="0"/>
                  <a:t>The chance that it reconnects in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seconds does not depend on how long you already waited</a:t>
                </a:r>
              </a:p>
              <a:p>
                <a:r>
                  <a:rPr lang="en-US" dirty="0"/>
                  <a:t>This is exactly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memoryless property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sepChr m:val="∣"/>
                          <m:ctrlPr>
                            <a:rPr lang="en-US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1" i="0" dirty="0" err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  <m:r>
                            <a:rPr lang="en-US" b="1" i="0" dirty="0" err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0" dirty="0" err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  <m:e>
                          <m:r>
                            <a:rPr lang="en-US" b="1" i="0" dirty="0" err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</m:d>
                      <m:r>
                        <a:rPr lang="en-US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1" i="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dirty="0"/>
                  <a:t>Only Exponential distribution satisfies this property.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5E332C2-022D-043F-362E-341ED373C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55853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87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27C4D-0DCB-65FE-FD97-39CBCC14C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02CFB3-9C4E-3D8A-1833-F5959EB5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2 - Waiting for Internet to Reconnect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36BF21C-8CE5-8935-AB4B-F573D9995B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55853"/>
              </a:xfrm>
            </p:spPr>
            <p:txBody>
              <a:bodyPr/>
              <a:lstStyle/>
              <a:p>
                <a:pPr algn="l"/>
                <a:r>
                  <a:rPr lang="en-US" dirty="0"/>
                  <a:t>Let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waiting time (in seconds) until the internet reconnects</a:t>
                </a:r>
              </a:p>
              <a:p>
                <a:pPr lvl="1" algn="l"/>
                <a:r>
                  <a:rPr lang="en-US" dirty="0"/>
                  <a:t>Clearly,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(waiting time cannot be negative)</a:t>
                </a:r>
              </a:p>
              <a:p>
                <a:pPr lvl="1" algn="l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 continuous (reconnection can happen at any instant)</a:t>
                </a:r>
              </a:p>
              <a:p>
                <a:pPr algn="l"/>
                <a:r>
                  <a:rPr lang="en-US" dirty="0"/>
                  <a:t>Now we ask a probability question:</a:t>
                </a:r>
              </a:p>
              <a:p>
                <a:pPr marL="0" indent="0" algn="ctr">
                  <a:buNone/>
                </a:pPr>
                <a:r>
                  <a:rPr lang="en-US" dirty="0"/>
                  <a:t>What is the probability that the internet reconnects within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lang="en-US" dirty="0"/>
                  <a:t> seconds?</a:t>
                </a:r>
              </a:p>
              <a:p>
                <a:pPr lvl="1" algn="l"/>
                <a:r>
                  <a:rPr lang="en-US" dirty="0"/>
                  <a:t>Mathematically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≤60</m:t>
                        </m:r>
                      </m:e>
                    </m:d>
                  </m:oMath>
                </a14:m>
                <a:endParaRPr lang="en-US" dirty="0"/>
              </a:p>
              <a:p>
                <a:pPr lvl="2" algn="l"/>
                <a:r>
                  <a:rPr lang="en-US" dirty="0"/>
                  <a:t>For this we need PDF of Exponential Distribution.	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36BF21C-8CE5-8935-AB4B-F573D9995B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55853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37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E2DAB-6FD9-C4F0-9156-126212419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89DE60-FF09-42F6-3CBF-A5D40256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Exponential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0F67FA4-767D-213D-B3EB-E3056818DF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200"/>
                <a:ext cx="11929641" cy="2021609"/>
              </a:xfrm>
            </p:spPr>
            <p:txBody>
              <a:bodyPr/>
              <a:lstStyle/>
              <a:p>
                <a:r>
                  <a:rPr lang="en-US" dirty="0"/>
                  <a:t>A continuous random variable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 assuming non-negative values is said to have 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Exponential Distribution</a:t>
                </a:r>
                <a:r>
                  <a:rPr lang="en-US" dirty="0"/>
                  <a:t> with parameter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𝛉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if its probability density function is given by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0F67FA4-767D-213D-B3EB-E3056818DF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200"/>
                <a:ext cx="11929641" cy="2021609"/>
              </a:xfrm>
              <a:blipFill>
                <a:blip r:embed="rId2"/>
                <a:stretch>
                  <a:fillRect l="-971" r="-1074" b="-48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CD0F83E-B4AC-6946-1415-0B56828191FA}"/>
                  </a:ext>
                </a:extLst>
              </p:cNvPr>
              <p:cNvSpPr/>
              <p:nvPr/>
            </p:nvSpPr>
            <p:spPr>
              <a:xfrm>
                <a:off x="2704819" y="2442904"/>
                <a:ext cx="6452953" cy="14679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𝐟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𝛉</m:t>
                                  </m:r>
                                  <m:r>
                                    <a:rPr lang="en-US" sz="2800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sup>
                              </m:sSup>
                              <m:r>
                                <a:rPr lang="en-US" sz="28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  &amp;; </m:t>
                              </m:r>
                              <m:r>
                                <a:rPr lang="en-US" sz="28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sz="28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8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IN" sz="28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8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    &amp;; </m:t>
                              </m:r>
                              <m:r>
                                <a:rPr lang="en-US" sz="28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𝐨𝐭𝐡𝐞𝐫𝐰𝐢𝐬𝐞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b="1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CD0F83E-B4AC-6946-1415-0B56828191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819" y="2442904"/>
                <a:ext cx="6452953" cy="1467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44D8D63F-D9C9-ECFB-680A-FF506A7579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4125192"/>
                <a:ext cx="11929641" cy="8312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is the rate parameter.  </a:t>
                </a:r>
              </a:p>
            </p:txBody>
          </p:sp>
        </mc:Choice>
        <mc:Fallback xmlns="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44D8D63F-D9C9-ECFB-680A-FF506A757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25192"/>
                <a:ext cx="11929641" cy="831273"/>
              </a:xfrm>
              <a:prstGeom prst="rect">
                <a:avLst/>
              </a:prstGeom>
              <a:blipFill>
                <a:blip r:embed="rId4"/>
                <a:stretch>
                  <a:fillRect b="-7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FB0CAD6C-B411-9A46-C7EA-7946CC7155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4811300"/>
                <a:ext cx="11929641" cy="14336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:r>
                  <a:rPr lang="en-US" dirty="0"/>
                  <a:t>Large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→ events happen quickly → short waiting time</a:t>
                </a:r>
              </a:p>
              <a:p>
                <a:pPr lvl="2"/>
                <a:r>
                  <a:rPr lang="en-US" dirty="0"/>
                  <a:t>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→ events happen slowly → long waiting time</a:t>
                </a: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FB0CAD6C-B411-9A46-C7EA-7946CC715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11300"/>
                <a:ext cx="11929641" cy="1433636"/>
              </a:xfrm>
              <a:prstGeom prst="rect">
                <a:avLst/>
              </a:prstGeom>
              <a:blipFill>
                <a:blip r:embed="rId5"/>
                <a:stretch>
                  <a:fillRect b="-29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4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9" grpId="0"/>
      <p:bldP spid="10" grpId="0" uiExpand="1" build="p"/>
      <p:bldP spid="18" grpId="0" uiExpand="1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EB1AE-9F53-F042-E10C-77BFBC0E1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6EB41D-D699-5ED5-6951-91F2F10F0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Exponential Distribution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99E765-842A-FE05-301F-F2CF10F5A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47833"/>
            <a:ext cx="11929641" cy="5905218"/>
          </a:xfrm>
        </p:spPr>
        <p:txBody>
          <a:bodyPr/>
          <a:lstStyle/>
          <a:p>
            <a:r>
              <a:rPr lang="en-US" dirty="0"/>
              <a:t>The Exponential Distribution is used to model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waiting time</a:t>
            </a:r>
            <a:r>
              <a:rPr lang="en-US" dirty="0"/>
              <a:t>.</a:t>
            </a:r>
          </a:p>
          <a:p>
            <a:r>
              <a:rPr lang="en-US" dirty="0"/>
              <a:t>It answers questions like:</a:t>
            </a:r>
          </a:p>
          <a:p>
            <a:pPr lvl="1"/>
            <a:r>
              <a:rPr lang="en-US" dirty="0"/>
              <a:t>How long will I wait until a bus arrives?</a:t>
            </a:r>
          </a:p>
          <a:p>
            <a:pPr lvl="1"/>
            <a:r>
              <a:rPr lang="en-US" dirty="0"/>
              <a:t>How long until a machine fails?</a:t>
            </a:r>
          </a:p>
          <a:p>
            <a:pPr lvl="1"/>
            <a:r>
              <a:rPr lang="en-US" dirty="0"/>
              <a:t>How long until the next phone call comes?</a:t>
            </a:r>
          </a:p>
          <a:p>
            <a:pPr lvl="1"/>
            <a:r>
              <a:rPr lang="en-US" dirty="0"/>
              <a:t>How long until a customer arrives? </a:t>
            </a:r>
          </a:p>
        </p:txBody>
      </p:sp>
    </p:spTree>
    <p:extLst>
      <p:ext uri="{BB962C8B-B14F-4D97-AF65-F5344CB8AC3E}">
        <p14:creationId xmlns:p14="http://schemas.microsoft.com/office/powerpoint/2010/main" val="410777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49809-38D1-C549-8893-2935412F7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FD7AA4-7FFD-6AA8-48D7-38C7076F9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Exponential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0744007-9F31-50C6-7BA4-22C83ACB8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47833"/>
                <a:ext cx="11929641" cy="5905218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Key points: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It does not count how many events happen.</a:t>
                </a:r>
              </a:p>
              <a:p>
                <a:pPr lvl="1"/>
                <a:r>
                  <a:rPr lang="en-US" dirty="0"/>
                  <a:t>It measures how much time you wait until the first event happens.</a:t>
                </a:r>
              </a:p>
              <a:p>
                <a:pPr lvl="1"/>
                <a:r>
                  <a:rPr lang="en-US" dirty="0"/>
                  <a:t>Example : Phone calls arrive randomly.</a:t>
                </a:r>
              </a:p>
              <a:p>
                <a:pPr lvl="2"/>
                <a:r>
                  <a:rPr lang="en-US" dirty="0"/>
                  <a:t>Number of calls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hour → Poisson</a:t>
                </a:r>
              </a:p>
              <a:p>
                <a:pPr lvl="2"/>
                <a:r>
                  <a:rPr lang="en-US" dirty="0"/>
                  <a:t>Time you wait until the next call → Exponential</a:t>
                </a:r>
              </a:p>
              <a:p>
                <a:pPr lvl="1"/>
                <a:r>
                  <a:rPr lang="en-US" dirty="0"/>
                  <a:t>So, Poisson counts events while exponential measures the gaps between them.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0744007-9F31-50C6-7BA4-22C83ACB8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47833"/>
                <a:ext cx="11929641" cy="5905218"/>
              </a:xfrm>
              <a:blipFill>
                <a:blip r:embed="rId2"/>
                <a:stretch>
                  <a:fillRect l="-971" r="-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059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5E7EE-F1B7-8A32-687D-950697EB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153CB2-BBB5-42BA-30DF-5D5F9690B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Exponential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07CAEF0-0D23-AF67-8D93-16247CE90D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199"/>
                <a:ext cx="11929641" cy="5757333"/>
              </a:xfrm>
            </p:spPr>
            <p:txBody>
              <a:bodyPr/>
              <a:lstStyle/>
              <a:p>
                <a:r>
                  <a:rPr lang="en-US" dirty="0"/>
                  <a:t>Suppose your phone receives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calls in one hour on average.</a:t>
                </a:r>
              </a:p>
              <a:p>
                <a:r>
                  <a:rPr lang="en-US" dirty="0"/>
                  <a:t>Now think:</a:t>
                </a:r>
              </a:p>
              <a:p>
                <a:pPr lvl="1"/>
                <a:r>
                  <a:rPr lang="en-US" dirty="0"/>
                  <a:t>If calls come very often, you won’t wait much — the phone rings quickly.</a:t>
                </a:r>
              </a:p>
              <a:p>
                <a:pPr lvl="1"/>
                <a:r>
                  <a:rPr lang="en-US" dirty="0"/>
                  <a:t>If calls come rarely, you will wait longer before it rings.</a:t>
                </a:r>
              </a:p>
              <a:p>
                <a:r>
                  <a:rPr lang="en-US" dirty="0"/>
                  <a:t>So, when we say:</a:t>
                </a:r>
              </a:p>
              <a:p>
                <a:pPr marL="361950" lvl="1" indent="0" algn="ctr">
                  <a:buNone/>
                </a:pPr>
                <a:r>
                  <a:rPr lang="en-US" dirty="0"/>
                  <a:t>On average,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calls come in one hour</a:t>
                </a:r>
              </a:p>
              <a:p>
                <a:r>
                  <a:rPr lang="en-US" dirty="0"/>
                  <a:t>it automatically means: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On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average</m:t>
                      </m:r>
                      <m:r>
                        <m:rPr>
                          <m:nor/>
                        </m:rPr>
                        <a:rPr lang="en-US" dirty="0"/>
                        <m:t>, </m:t>
                      </m:r>
                      <m:r>
                        <m:rPr>
                          <m:nor/>
                        </m:rPr>
                        <a:rPr lang="en-US" dirty="0"/>
                        <m:t>one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call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takes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about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hour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to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arrive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07CAEF0-0D23-AF67-8D93-16247CE90D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199"/>
                <a:ext cx="11929641" cy="5757333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668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E756D-FD91-E289-0CC5-9376B532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AD3950-983D-ED1A-CBED-7C48CE742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Exponential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4A2B4F4-43DD-6883-BBDE-3A17EDD843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199"/>
                <a:ext cx="11929641" cy="5757333"/>
              </a:xfrm>
            </p:spPr>
            <p:txBody>
              <a:bodyPr/>
              <a:lstStyle/>
              <a:p>
                <a:r>
                  <a:rPr lang="en-US" dirty="0"/>
                  <a:t>it automatically means: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On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average</m:t>
                      </m:r>
                      <m:r>
                        <m:rPr>
                          <m:nor/>
                        </m:rPr>
                        <a:rPr lang="en-US" dirty="0"/>
                        <m:t>, </m:t>
                      </m:r>
                      <m:r>
                        <m:rPr>
                          <m:nor/>
                        </m:rPr>
                        <a:rPr lang="en-US" dirty="0"/>
                        <m:t>one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call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takes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about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hour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to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arrive</m:t>
                      </m:r>
                    </m:oMath>
                  </m:oMathPara>
                </a14:m>
                <a:endParaRPr lang="en-IN" dirty="0"/>
              </a:p>
              <a:p>
                <a:r>
                  <a:rPr lang="en-US" dirty="0"/>
                  <a:t>That time from now until the next phone call is the waiting time.</a:t>
                </a:r>
              </a:p>
              <a:p>
                <a:r>
                  <a:rPr lang="en-US" dirty="0"/>
                  <a:t>That is why the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Mean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Exponential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distribution</m:t>
                      </m:r>
                      <m:r>
                        <a:rPr lang="en-IN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4A2B4F4-43DD-6883-BBDE-3A17EDD843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199"/>
                <a:ext cx="11929641" cy="5757333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09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F5A91-5310-BED5-CC85-0D47C0113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A479B4-E37F-C6D8-E4AA-65B2E1357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Exponential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E9A43B3-5A1D-863F-E365-105B87550E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199"/>
                <a:ext cx="11929641" cy="575733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Mean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Exponential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distribution</m:t>
                      </m:r>
                      <m:r>
                        <a:rPr lang="en-IN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tells how fast events are coming and</a:t>
                </a:r>
              </a:p>
              <a:p>
                <a:pPr marL="271463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m:rPr>
                          <m:nor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tells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how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long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you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usually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wait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for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one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event</m:t>
                      </m:r>
                      <m:r>
                        <m:rPr>
                          <m:nor/>
                        </m:rPr>
                        <a:rPr lang="en-IN" b="0" i="0" dirty="0" smtClean="0"/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Exponential distribution → gives waiting time</a:t>
                </a:r>
              </a:p>
              <a:p>
                <a:r>
                  <a:rPr lang="en-US" dirty="0"/>
                  <a:t>Mean of exponential → gives average of many waiting times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E9A43B3-5A1D-863F-E365-105B87550E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199"/>
                <a:ext cx="11929641" cy="5757333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812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3190-7D13-DB5F-8ACB-D2AAE88E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0F66F0-7958-C28F-7CF3-A68CD6D21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Exponential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354A47F-569B-5939-C314-9B2349E4C9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199"/>
                <a:ext cx="12060821" cy="584546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Exponential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distribution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just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mathematical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way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of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describing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this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waiting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time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.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tells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us</m:t>
                    </m:r>
                    <m:r>
                      <m:rPr>
                        <m:nor/>
                      </m:rPr>
                      <a:rPr lang="en-IN" b="0" i="0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fast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waiting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ends</m:t>
                    </m:r>
                    <m:r>
                      <m:rPr>
                        <m:nor/>
                      </m:rPr>
                      <a:rPr lang="en-US" dirty="0"/>
                      <m:t> — </m:t>
                    </m:r>
                    <m:r>
                      <m:rPr>
                        <m:nor/>
                      </m:rPr>
                      <a:rPr lang="en-US" dirty="0"/>
                      <m:t>in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other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words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busy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process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IN" b="0" i="0" dirty="0" smtClean="0"/>
                      <m:t>F</m:t>
                    </m:r>
                    <m:r>
                      <m:rPr>
                        <m:nor/>
                      </m:rPr>
                      <a:rPr lang="en-US" dirty="0"/>
                      <m:t>eels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while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we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are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waiting</m:t>
                    </m:r>
                    <m:r>
                      <m:rPr>
                        <m:nor/>
                      </m:rPr>
                      <a:rPr lang="en-US" dirty="0"/>
                      <m:t>.</m:t>
                    </m:r>
                  </m:oMath>
                </a14:m>
                <a:endParaRPr lang="en-IN" dirty="0"/>
              </a:p>
              <a:p>
                <a:pPr lvl="2"/>
                <a:r>
                  <a:rPr lang="en-IN" dirty="0"/>
                  <a:t>Larger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l-GR" dirty="0"/>
                  <a:t> → </a:t>
                </a:r>
                <a:r>
                  <a:rPr lang="en-IN" dirty="0"/>
                  <a:t>shorter waiting → feels busier</a:t>
                </a:r>
              </a:p>
              <a:p>
                <a:pPr lvl="2"/>
                <a:r>
                  <a:rPr lang="en-IN" dirty="0"/>
                  <a:t>Smaller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l-GR" dirty="0"/>
                  <a:t> → </a:t>
                </a:r>
                <a:r>
                  <a:rPr lang="en-IN" dirty="0"/>
                  <a:t>longer waiting → feels quieter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tells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us</m:t>
                    </m:r>
                    <m:r>
                      <m:rPr>
                        <m:nor/>
                      </m:rPr>
                      <a:rPr lang="en-IN" b="0" i="1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many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events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occur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a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time</m:t>
                    </m:r>
                    <m:r>
                      <m:rPr>
                        <m:nor/>
                      </m:rPr>
                      <a:rPr lang="en-US" dirty="0"/>
                      <m:t> — </m:t>
                    </m:r>
                    <m:r>
                      <m:rPr>
                        <m:nor/>
                      </m:rPr>
                      <a:rPr lang="en-US" dirty="0"/>
                      <m:t>that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busy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IN" b="0" i="0" dirty="0" smtClean="0"/>
                      <m:t> </m:t>
                    </m:r>
                    <m:r>
                      <m:rPr>
                        <m:nor/>
                      </m:rPr>
                      <a:rPr lang="en-IN" b="0" i="0" dirty="0" smtClean="0"/>
                      <m:t>P</m:t>
                    </m:r>
                    <m:r>
                      <m:rPr>
                        <m:nor/>
                      </m:rPr>
                      <a:rPr lang="en-US" dirty="0"/>
                      <m:t>rocess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when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we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count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events</m:t>
                    </m:r>
                    <m:r>
                      <m:rPr>
                        <m:nor/>
                      </m:rPr>
                      <a:rPr lang="en-US" i="1" dirty="0"/>
                      <m:t>.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Larger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r</m:t>
                    </m:r>
                    <m:r>
                      <m:rPr>
                        <m:nor/>
                      </m:rPr>
                      <a:rPr lang="en-US" dirty="0"/>
                      <m:t> → </m:t>
                    </m:r>
                    <m:r>
                      <m:rPr>
                        <m:nor/>
                      </m:rPr>
                      <a:rPr lang="en-US" dirty="0"/>
                      <m:t>more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events</m:t>
                    </m:r>
                    <m:r>
                      <m:rPr>
                        <m:nor/>
                      </m:rPr>
                      <a:rPr lang="en-US" dirty="0"/>
                      <m:t> → </m:t>
                    </m:r>
                    <m:r>
                      <m:rPr>
                        <m:nor/>
                      </m:rPr>
                      <a:rPr lang="en-US" dirty="0"/>
                      <m:t>actually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busier</m:t>
                    </m:r>
                  </m:oMath>
                </a14:m>
                <a:endParaRPr lang="en-IN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Smaller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r</m:t>
                    </m:r>
                    <m:r>
                      <m:rPr>
                        <m:nor/>
                      </m:rPr>
                      <a:rPr lang="en-US" dirty="0"/>
                      <m:t> → </m:t>
                    </m:r>
                    <m:r>
                      <m:rPr>
                        <m:nor/>
                      </m:rPr>
                      <a:rPr lang="en-US" dirty="0"/>
                      <m:t>fewer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events</m:t>
                    </m:r>
                    <m:r>
                      <m:rPr>
                        <m:nor/>
                      </m:rPr>
                      <a:rPr lang="en-US" dirty="0"/>
                      <m:t> → </m:t>
                    </m:r>
                    <m:r>
                      <m:rPr>
                        <m:nor/>
                      </m:rPr>
                      <a:rPr lang="en-US" dirty="0"/>
                      <m:t>actually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quieter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354A47F-569B-5939-C314-9B2349E4C9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199"/>
                <a:ext cx="12060821" cy="584546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65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8794-3BA3-CA96-F01B-B06B04E2D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76C583-7CD4-3064-5EBD-741C0687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Exponential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1FFF8FF-E105-A3CC-942D-5523B67D5E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199"/>
                <a:ext cx="11929641" cy="150206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Since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both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describe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same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busyness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,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they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are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taken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equal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rgbClr val="002060"/>
                        </a:solidFill>
                      </a:rPr>
                      <m:t>.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marL="269875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𝛉</m:t>
                    </m:r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en-US" b="1" dirty="0">
                    <a:solidFill>
                      <a:srgbClr val="002060"/>
                    </a:solidFill>
                  </a:rPr>
                  <a:t> </a:t>
                </a:r>
                <a:r>
                  <a:rPr lang="en-US" dirty="0">
                    <a:solidFill>
                      <a:srgbClr val="002060"/>
                    </a:solidFill>
                  </a:rPr>
                  <a:t>per unit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1FFF8FF-E105-A3CC-942D-5523B67D5E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199"/>
                <a:ext cx="11929641" cy="150206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911860-A1BE-D319-54ED-B2F7AEB44755}"/>
                  </a:ext>
                </a:extLst>
              </p:cNvPr>
              <p:cNvSpPr txBox="1"/>
              <p:nvPr/>
            </p:nvSpPr>
            <p:spPr>
              <a:xfrm>
                <a:off x="405243" y="2473569"/>
                <a:ext cx="4831774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𝐌𝐞𝐚𝐧</m:t>
                      </m:r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𝛉</m:t>
                          </m:r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𝐮𝐧𝐢𝐭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911860-A1BE-D319-54ED-B2F7AEB44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43" y="2473569"/>
                <a:ext cx="4831774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8F93A4-5B1E-2BF9-0FB3-9077E8B5765C}"/>
                  </a:ext>
                </a:extLst>
              </p:cNvPr>
              <p:cNvSpPr txBox="1"/>
              <p:nvPr/>
            </p:nvSpPr>
            <p:spPr>
              <a:xfrm>
                <a:off x="405243" y="3905822"/>
                <a:ext cx="5600702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𝐕𝐚𝐫𝐢𝐚𝐧𝐜𝐞</m:t>
                      </m:r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𝛉</m:t>
                              </m:r>
                            </m:e>
                            <m:sup>
                              <m:r>
                                <a:rPr lang="en-US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p>
                              <m:r>
                                <a:rPr lang="en-US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sSup>
                        <m:sSupPr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𝐮𝐧𝐢𝐭</m:t>
                              </m:r>
                            </m:e>
                          </m:d>
                        </m:e>
                        <m:sup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8F93A4-5B1E-2BF9-0FB3-9077E8B57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43" y="3905822"/>
                <a:ext cx="5600702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198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/>
      <p:bldP spid="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B0319-97A1-2C04-288F-D7F42793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D2F46A-3DDC-8E21-2226-DE1179F1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find probabilities?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4D7EA5-9545-C779-2758-C61AA665D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47833"/>
                <a:ext cx="6633302" cy="800412"/>
              </a:xfrm>
            </p:spPr>
            <p:txBody>
              <a:bodyPr/>
              <a:lstStyle/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is continuous random variable,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D4D7EA5-9545-C779-2758-C61AA665D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47833"/>
                <a:ext cx="6633302" cy="800412"/>
              </a:xfrm>
              <a:blipFill>
                <a:blip r:embed="rId2"/>
                <a:stretch>
                  <a:fillRect l="-1746" b="-4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3D3CE1-26E7-63E2-BC9E-76DDD156915E}"/>
                  </a:ext>
                </a:extLst>
              </p:cNvPr>
              <p:cNvSpPr txBox="1"/>
              <p:nvPr/>
            </p:nvSpPr>
            <p:spPr>
              <a:xfrm>
                <a:off x="740998" y="1548245"/>
                <a:ext cx="5195455" cy="1407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sub>
                        <m:sup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sup>
                        <m:e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</m:nary>
                      <m:sSup>
                        <m:sSupPr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p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𝛉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𝐝𝐱</m:t>
                      </m:r>
                    </m:oMath>
                  </m:oMathPara>
                </a14:m>
                <a:endParaRPr lang="en-US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3D3CE1-26E7-63E2-BC9E-76DDD1569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98" y="1548245"/>
                <a:ext cx="5195455" cy="14076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C2F2692-B788-2426-A152-B6E2E19EA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64" y="847835"/>
            <a:ext cx="5195455" cy="12469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6D736C05-571F-8699-1DAF-D204D03EFC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3221873"/>
                <a:ext cx="7869820" cy="8004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But we usually use the CDF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6D736C05-571F-8699-1DAF-D204D03EF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3221873"/>
                <a:ext cx="7869820" cy="800412"/>
              </a:xfrm>
              <a:prstGeom prst="rect">
                <a:avLst/>
              </a:prstGeom>
              <a:blipFill>
                <a:blip r:embed="rId5"/>
                <a:stretch>
                  <a:fillRect l="-1472" b="-4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169CD6A2-B1E7-987F-A33E-FB09E3D772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03890" y="4083067"/>
                <a:ext cx="5497110" cy="18219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dt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dt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169CD6A2-B1E7-987F-A33E-FB09E3D77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890" y="4083067"/>
                <a:ext cx="5497110" cy="18219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869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  <p:bldP spid="9" grpId="0"/>
      <p:bldP spid="10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F419-1B3F-AF68-72BB-14A33FC6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F1EBD6-4D34-072E-C211-1B062EF9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find probabilities?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6FB21A-EF74-2BCE-F975-B583B2B26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64" y="847835"/>
            <a:ext cx="5195455" cy="12469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0D06BD5D-BAF6-3E4E-1F2A-E932468126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1462" y="560316"/>
                <a:ext cx="5497110" cy="18219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dt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dt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0D06BD5D-BAF6-3E4E-1F2A-E93246812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62" y="560316"/>
                <a:ext cx="5497110" cy="1821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3DCB672A-5BC3-8C19-214C-E48141F9EA8A}"/>
              </a:ext>
            </a:extLst>
          </p:cNvPr>
          <p:cNvSpPr txBox="1">
            <a:spLocks/>
          </p:cNvSpPr>
          <p:nvPr/>
        </p:nvSpPr>
        <p:spPr>
          <a:xfrm>
            <a:off x="324785" y="2746387"/>
            <a:ext cx="6027880" cy="7761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23888" indent="-352425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900113" indent="-228600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262063" indent="-228600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612900" indent="-228600" algn="just" defTabSz="914400" rtl="0" eaLnBrk="1" latinLnBrk="0" hangingPunct="1">
              <a:lnSpc>
                <a:spcPct val="125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Since, waiting time cannot be negative.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DFFD67CD-EE1D-E5E7-2EA6-9D28054D45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8572" y="2094744"/>
                <a:ext cx="2606564" cy="20794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dt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DFFD67CD-EE1D-E5E7-2EA6-9D28054D4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572" y="2094744"/>
                <a:ext cx="2606564" cy="2079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248B9C68-3BA5-8A25-20BE-06E70F1908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2889" y="3271538"/>
                <a:ext cx="4172805" cy="18219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dt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248B9C68-3BA5-8A25-20BE-06E70F190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" y="3271538"/>
                <a:ext cx="4172805" cy="18219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DC9CD82A-DE57-B7B5-D59C-8F86E41CE4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2889" y="4842470"/>
                <a:ext cx="4172805" cy="18219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sSup>
                            <m:sSup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θt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IN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dt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DC9CD82A-DE57-B7B5-D59C-8F86E41CE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89" y="4842470"/>
                <a:ext cx="4172805" cy="18219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017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7" grpId="0"/>
      <p:bldP spid="13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2F1D-57C5-158D-3E53-34FDA84C1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8F74CC-F54D-5108-1C6F-55ECDC3A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find probabilities?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F045A8D9-4166-862D-5569-D5D3F5F4F6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1" y="560316"/>
                <a:ext cx="4172805" cy="18219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sSup>
                            <m:sSup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θt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IN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dt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F045A8D9-4166-862D-5569-D5D3F5F4F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1" y="560316"/>
                <a:ext cx="4172805" cy="18219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">
                <a:extLst>
                  <a:ext uri="{FF2B5EF4-FFF2-40B4-BE49-F238E27FC236}">
                    <a16:creationId xmlns:a16="http://schemas.microsoft.com/office/drawing/2014/main" id="{C2432FF7-E9E2-E82F-3B7A-AF6257F85F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1" y="2642861"/>
                <a:ext cx="4172805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p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𝛉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1">
                <a:extLst>
                  <a:ext uri="{FF2B5EF4-FFF2-40B4-BE49-F238E27FC236}">
                    <a16:creationId xmlns:a16="http://schemas.microsoft.com/office/drawing/2014/main" id="{C2432FF7-E9E2-E82F-3B7A-AF6257F85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1" y="2642861"/>
                <a:ext cx="4172805" cy="7861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1">
                <a:extLst>
                  <a:ext uri="{FF2B5EF4-FFF2-40B4-BE49-F238E27FC236}">
                    <a16:creationId xmlns:a16="http://schemas.microsoft.com/office/drawing/2014/main" id="{D70F92BA-35F9-7AA7-6A91-68D4ABDCE3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1" y="3689599"/>
                <a:ext cx="5523385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i="0" dirty="0">
                    <a:latin typeface="+mj-lt"/>
                  </a:rPr>
                  <a:t>N</a:t>
                </a:r>
                <a:r>
                  <a:rPr lang="en-IN" b="0" i="0" dirty="0">
                    <a:latin typeface="+mj-lt"/>
                  </a:rPr>
                  <a:t>ow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1">
                <a:extLst>
                  <a:ext uri="{FF2B5EF4-FFF2-40B4-BE49-F238E27FC236}">
                    <a16:creationId xmlns:a16="http://schemas.microsoft.com/office/drawing/2014/main" id="{D70F92BA-35F9-7AA7-6A91-68D4ABDCE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1" y="3689599"/>
                <a:ext cx="5523385" cy="786139"/>
              </a:xfrm>
              <a:prstGeom prst="rect">
                <a:avLst/>
              </a:prstGeom>
              <a:blipFill>
                <a:blip r:embed="rId5"/>
                <a:stretch>
                  <a:fillRect l="-23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BB3C3281-579E-1E37-2809-C0E8060AB6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1" y="4666069"/>
                <a:ext cx="5523385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θx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BB3C3281-579E-1E37-2809-C0E8060AB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1" y="4666069"/>
                <a:ext cx="5523385" cy="7861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FAEBB5CB-3D10-9810-2260-AFC5A0A1E4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1" y="5795931"/>
                <a:ext cx="5523385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p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𝛉</m:t>
                          </m:r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FAEBB5CB-3D10-9810-2260-AFC5A0A1E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1" y="5795931"/>
                <a:ext cx="5523385" cy="7861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00EA87B6-7AF6-8936-7134-543400D0E4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4673" y="3718028"/>
                <a:ext cx="3062291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 lang="en-IN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00EA87B6-7AF6-8936-7134-543400D0E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673" y="3718028"/>
                <a:ext cx="3062291" cy="7861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">
                <a:extLst>
                  <a:ext uri="{FF2B5EF4-FFF2-40B4-BE49-F238E27FC236}">
                    <a16:creationId xmlns:a16="http://schemas.microsoft.com/office/drawing/2014/main" id="{340CB4C8-13A8-0018-F720-C4E0F7748E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47373" y="3718028"/>
                <a:ext cx="3744627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Content Placeholder 1">
                <a:extLst>
                  <a:ext uri="{FF2B5EF4-FFF2-40B4-BE49-F238E27FC236}">
                    <a16:creationId xmlns:a16="http://schemas.microsoft.com/office/drawing/2014/main" id="{340CB4C8-13A8-0018-F720-C4E0F7748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7373" y="3718028"/>
                <a:ext cx="3744627" cy="7861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549BD47B-BD02-5241-8B87-CDE23A774B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5364" y="847835"/>
            <a:ext cx="5195455" cy="12469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9A9452F0-7AD4-77C2-E414-C816F75D6F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94518" y="4400125"/>
                <a:ext cx="4087091" cy="78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623888" indent="-352425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90011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262063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1612900" indent="-228600" algn="just" defTabSz="914400" rtl="0" eaLnBrk="1" latinLnBrk="0" hangingPunct="1">
                  <a:lnSpc>
                    <a:spcPct val="125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p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𝛉</m:t>
                          </m:r>
                        </m:sup>
                      </m:sSup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p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𝛉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9A9452F0-7AD4-77C2-E414-C816F75D6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518" y="4400125"/>
                <a:ext cx="4087091" cy="78613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DA3A8B-3407-1283-A17E-4B4A68FD3FCF}"/>
              </a:ext>
            </a:extLst>
          </p:cNvPr>
          <p:cNvCxnSpPr>
            <a:cxnSpLocks/>
          </p:cNvCxnSpPr>
          <p:nvPr/>
        </p:nvCxnSpPr>
        <p:spPr>
          <a:xfrm>
            <a:off x="5375563" y="2774373"/>
            <a:ext cx="0" cy="378940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27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  <p:bldP spid="5" grpId="0"/>
      <p:bldP spid="6" grpId="0"/>
      <p:bldP spid="9" grpId="0"/>
      <p:bldP spid="15" grpId="0"/>
      <p:bldP spid="19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1E4E7-1B78-8C6C-3AF2-20B4263A9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F96FEB-DC2E-C37B-9870-80BC960B5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The Memoryless Property – The Heart of Exponential distribution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8A0A5A3A-BAC1-4E0C-0A59-818BB3CBC6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10"/>
              </a:xfrm>
            </p:spPr>
            <p:txBody>
              <a:bodyPr/>
              <a:lstStyle/>
              <a:p>
                <a:r>
                  <a:rPr lang="en-IN" dirty="0"/>
                  <a:t>A continuous random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/>
                  <a:t> is memoryless if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IN" dirty="0"/>
                  <a:t>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i="0" dirty="0" err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i="0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i="0" dirty="0" err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i="0" dirty="0" err="1" smtClean="0"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i="0" dirty="0" err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IN" dirty="0"/>
                  <a:t>	</a:t>
                </a:r>
              </a:p>
              <a:p>
                <a:pPr algn="l"/>
                <a:r>
                  <a:rPr lang="en-US" dirty="0"/>
                  <a:t>In simple words:</a:t>
                </a:r>
              </a:p>
              <a:p>
                <a:pPr lvl="1" algn="l"/>
                <a:r>
                  <a:rPr lang="en-US" dirty="0"/>
                  <a:t>The future waiting time does not depend on how long you already waited.</a:t>
                </a:r>
              </a:p>
              <a:p>
                <a:pPr algn="l"/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time you have already waited</a:t>
                </a:r>
              </a:p>
              <a:p>
                <a:pPr lvl="1" algn="l"/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means “past waiting time”.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extra time you may still have to wait</a:t>
                </a:r>
              </a:p>
              <a:p>
                <a:pPr lvl="1"/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means “future waiting time”.</a:t>
                </a:r>
                <a:endParaRPr lang="en-IN" dirty="0"/>
              </a:p>
              <a:p>
                <a:pPr lvl="1" algn="l"/>
                <a:endParaRPr lang="en-US" dirty="0"/>
              </a:p>
              <a:p>
                <a:pPr lvl="1" algn="l"/>
                <a:endParaRPr lang="en-IN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8A0A5A3A-BAC1-4E0C-0A59-818BB3CBC6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10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41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5C503-3BE8-0741-52DF-89B6418E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CC48DF-7332-D52B-231B-F8EC7D54F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Memoryless Property – The Heart of Exponential distribution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A09A6302-6506-F87D-68C2-14412A7CF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algn="l"/>
                <a:r>
                  <a:rPr lang="en-IN" dirty="0"/>
                  <a:t>Meaning </a:t>
                </a:r>
              </a:p>
              <a:p>
                <a:pPr lvl="1" algn="l"/>
                <a:r>
                  <a:rPr lang="en-IN" dirty="0"/>
                  <a:t>​Left-hand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sepChr m:val="∣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dirty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 dirty="0" err="1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IN" dirty="0" err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dirty="0" err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IN" dirty="0" err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dirty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</m:oMath>
                </a14:m>
                <a:endParaRPr lang="en-IN" dirty="0"/>
              </a:p>
              <a:p>
                <a:pPr lvl="2" algn="l"/>
                <a:r>
                  <a:rPr lang="en-US" dirty="0"/>
                  <a:t>Given that I have already waited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time units and the event has not occurred, what is the probability that I must wait at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more time units?</a:t>
                </a:r>
              </a:p>
              <a:p>
                <a:pPr lvl="1" algn="l"/>
                <a:r>
                  <a:rPr lang="en-IN" dirty="0"/>
                  <a:t>Right-hand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dirty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endParaRPr lang="en-IN" dirty="0"/>
              </a:p>
              <a:p>
                <a:pPr lvl="2" algn="l"/>
                <a:r>
                  <a:rPr lang="en-US" dirty="0"/>
                  <a:t>What is the probability that, starting fresh from NOW, I have to wait at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time units?	</a:t>
                </a:r>
              </a:p>
              <a:p>
                <a:pPr lvl="1" algn="l"/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dirty="0"/>
                  <a:t> is the time already waited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is the extra time to wait.</a:t>
                </a:r>
              </a:p>
              <a:p>
                <a:pPr lvl="1" algn="l"/>
                <a:r>
                  <a:rPr lang="en-US" dirty="0"/>
                  <a:t>Memoryless property means that past waiting does not affect future waiting.</a:t>
                </a:r>
                <a:endParaRPr lang="en-IN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A09A6302-6506-F87D-68C2-14412A7CF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22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29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38C47-B708-77DD-B3BD-25CA214C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F3EA-0CA9-C7EC-3976-7DAA3915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Customer Arrival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38E78-0C4D-FC5E-842E-81503AEBF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68275"/>
              </a:xfrm>
            </p:spPr>
            <p:txBody>
              <a:bodyPr/>
              <a:lstStyle/>
              <a:p>
                <a:r>
                  <a:rPr lang="en-US" dirty="0"/>
                  <a:t>Statement</a:t>
                </a:r>
              </a:p>
              <a:p>
                <a:pPr marL="0" indent="0" algn="ctr">
                  <a:buNone/>
                </a:pPr>
                <a:r>
                  <a:rPr lang="en-US" dirty="0"/>
                  <a:t>	If no customer arrives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minutes, the probability of a customer arriving in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minutes is the same as when the shop first opened.</a:t>
                </a:r>
              </a:p>
              <a:p>
                <a:r>
                  <a:rPr lang="en-US" dirty="0"/>
                  <a:t>What is the random variable?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time until next customer arrives</a:t>
                </a:r>
              </a:p>
              <a:p>
                <a:r>
                  <a:rPr lang="en-US" dirty="0"/>
                  <a:t>What is known?</a:t>
                </a:r>
              </a:p>
              <a:p>
                <a:pPr lvl="1"/>
                <a:r>
                  <a:rPr lang="en-US" dirty="0"/>
                  <a:t>No customer has arrived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minutes</a:t>
                </a:r>
              </a:p>
              <a:p>
                <a:pPr lvl="1"/>
                <a:r>
                  <a:rPr lang="en-US" dirty="0"/>
                  <a:t>Mathematically: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38E78-0C4D-FC5E-842E-81503AEBF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68275"/>
              </a:xfrm>
              <a:blipFill>
                <a:blip r:embed="rId2"/>
                <a:stretch>
                  <a:fillRect l="-971" r="-1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74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79BD-C685-DFCD-8B1A-A9C09D2B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6AE7-110D-E333-D56F-0B33FDAE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Customer Arrival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11A04-54F0-8C21-BCBD-5F34A12556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68275"/>
              </a:xfrm>
            </p:spPr>
            <p:txBody>
              <a:bodyPr/>
              <a:lstStyle/>
              <a:p>
                <a:r>
                  <a:rPr lang="en-US" dirty="0"/>
                  <a:t>What is being asked?</a:t>
                </a:r>
              </a:p>
              <a:p>
                <a:pPr lvl="1"/>
                <a:r>
                  <a:rPr lang="en-US" dirty="0"/>
                  <a:t>What is the probability no customer arrives for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minutes?</a:t>
                </a:r>
              </a:p>
              <a:p>
                <a:pPr lvl="1"/>
                <a:r>
                  <a:rPr lang="en-US" dirty="0"/>
                  <a:t>That 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sepChr m:val="∣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&gt;35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&gt;30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Memoryless says: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&gt;35∣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&gt;30)=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&gt;5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Same chance as waiting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minutes from the opening time.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11A04-54F0-8C21-BCBD-5F34A12556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6827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71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1191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lifetime T of an alkaline battery is exponentially distributed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dirty="0"/>
                  <a:t> per hour. What are mean and standard deviation of batteries lifetime?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1191766"/>
              </a:xfrm>
              <a:prstGeom prst="rect">
                <a:avLst/>
              </a:prstGeom>
              <a:blipFill>
                <a:blip r:embed="rId2"/>
                <a:stretch>
                  <a:fillRect l="-1074" r="-1074" b="-128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331768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03667" y="2243833"/>
                <a:ext cx="3845359" cy="66422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Given,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2060"/>
                    </a:solidFill>
                  </a:rPr>
                  <a:t>per hour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667" y="2243833"/>
                <a:ext cx="3845359" cy="664221"/>
              </a:xfrm>
              <a:prstGeom prst="rect">
                <a:avLst/>
              </a:prstGeom>
              <a:blipFill>
                <a:blip r:embed="rId3"/>
                <a:stretch>
                  <a:fillRect l="-317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02886" y="2230771"/>
                <a:ext cx="5057934" cy="3921073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S.D. </a:t>
                </a:r>
                <a14:m>
                  <m:oMath xmlns:m="http://schemas.openxmlformats.org/officeDocument/2006/math">
                    <m:r>
                      <a:rPr lang="en-US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Variance</m:t>
                        </m:r>
                      </m:e>
                    </m:rad>
                  </m:oMath>
                </a14:m>
                <a:endParaRPr lang="en-IN" dirty="0">
                  <a:solidFill>
                    <a:srgbClr val="00206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IN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IN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.=</m:t>
                      </m:r>
                      <m:rad>
                        <m:radPr>
                          <m:degHide m:val="on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IN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p>
                                  <m:r>
                                    <a:rPr lang="en-US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.=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0.05 </m:t>
                          </m:r>
                        </m:den>
                      </m:f>
                      <m:r>
                        <a:rPr lang="en-US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>
                          <a:solidFill>
                            <a:srgbClr val="002060"/>
                          </a:solidFill>
                        </a:rPr>
                        <m:t>hours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886" y="2230771"/>
                <a:ext cx="5057934" cy="3921073"/>
              </a:xfrm>
              <a:prstGeom prst="rect">
                <a:avLst/>
              </a:prstGeom>
              <a:blipFill>
                <a:blip r:embed="rId4"/>
                <a:stretch>
                  <a:fillRect l="-25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6102927" y="2211451"/>
            <a:ext cx="0" cy="432730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705652" y="3262361"/>
            <a:ext cx="1718740" cy="6656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Now, Mean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257796" y="3165482"/>
                <a:ext cx="832664" cy="901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796" y="3165482"/>
                <a:ext cx="832664" cy="9017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001138" y="4377608"/>
                <a:ext cx="1381958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Mean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138" y="4377608"/>
                <a:ext cx="1381958" cy="665631"/>
              </a:xfrm>
              <a:prstGeom prst="rect">
                <a:avLst/>
              </a:prstGeom>
              <a:blipFill>
                <a:blip r:embed="rId6"/>
                <a:stretch>
                  <a:fillRect r="-484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257796" y="4280889"/>
                <a:ext cx="1303947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796" y="4280889"/>
                <a:ext cx="1303947" cy="9017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01138" y="5493945"/>
                <a:ext cx="1402005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Mean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138" y="5493945"/>
                <a:ext cx="1402005" cy="665631"/>
              </a:xfrm>
              <a:prstGeom prst="rect">
                <a:avLst/>
              </a:prstGeom>
              <a:blipFill>
                <a:blip r:embed="rId8"/>
                <a:stretch>
                  <a:fillRect r="-347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278182" y="5492855"/>
                <a:ext cx="1818511" cy="665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20 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hours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182" y="5492855"/>
                <a:ext cx="1818511" cy="665631"/>
              </a:xfrm>
              <a:prstGeom prst="rect">
                <a:avLst/>
              </a:prstGeom>
              <a:blipFill>
                <a:blip r:embed="rId9"/>
                <a:stretch>
                  <a:fillRect r="-5369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7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6" grpId="0" uiExpand="1" build="p"/>
      <p:bldP spid="5" grpId="0"/>
      <p:bldP spid="7" grpId="0"/>
      <p:bldP spid="11" grpId="0"/>
      <p:bldP spid="12" grpId="0"/>
      <p:bldP spid="13" grpId="0"/>
      <p:bldP spid="14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AC2E-6300-917B-CAF2-6D197CD1B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D66F221-F2F7-0D7E-00B3-54AF994906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89427"/>
                <a:ext cx="11929643" cy="359553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A random variable has an exponential distribution with probability density function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 </a:t>
                </a: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1 </m:t>
                                  </m:r>
                                </m:num>
                                <m:den>
                                  <m:r>
                                    <a:rPr lang="en-IN" b="0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IN" b="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b="0" i="0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num>
                                        <m:den>
                                          <m:r>
                                            <a:rPr lang="en-IN" b="0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IN" b="0" i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  <m:r>
                                            <a:rPr lang="en-IN" b="0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den>
                                      </m:f>
                                    </m:e>
                                  </m:d>
                                </m:sup>
                              </m:sSup>
                              <m:r>
                                <a:rPr lang="en-US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&amp;; 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IN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           &amp;; </m:t>
                              </m:r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Find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3≤</m:t>
                        </m:r>
                        <m:r>
                          <m:rPr>
                            <m:sty m:val="p"/>
                          </m:r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lang="en-IN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 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:r>
                  <a:rPr lang="en-IN" dirty="0">
                    <a:ea typeface="Cambria Math" panose="02040503050406030204" pitchFamily="18" charset="0"/>
                  </a:rPr>
                  <a:t>Mean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(d) </a:t>
                </a:r>
                <a:r>
                  <a:rPr lang="en-IN" dirty="0">
                    <a:ea typeface="Cambria Math" panose="02040503050406030204" pitchFamily="18" charset="0"/>
                  </a:rPr>
                  <a:t>Variance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D66F221-F2F7-0D7E-00B3-54AF99490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9427"/>
                <a:ext cx="11929643" cy="3595537"/>
              </a:xfrm>
              <a:prstGeom prst="rect">
                <a:avLst/>
              </a:prstGeom>
              <a:blipFill>
                <a:blip r:embed="rId2"/>
                <a:stretch>
                  <a:fillRect l="-1074" b="-1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7702472-90A1-5D07-2DAF-DFAA55EB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97E7ED-2697-4C20-F4AB-78C5D8B1CBA5}"/>
              </a:ext>
            </a:extLst>
          </p:cNvPr>
          <p:cNvSpPr/>
          <p:nvPr/>
        </p:nvSpPr>
        <p:spPr>
          <a:xfrm>
            <a:off x="131177" y="4463190"/>
            <a:ext cx="1478559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1DD5E5-D5A5-1DA0-92F1-85B9E59F9674}"/>
                  </a:ext>
                </a:extLst>
              </p:cNvPr>
              <p:cNvSpPr/>
              <p:nvPr/>
            </p:nvSpPr>
            <p:spPr>
              <a:xfrm>
                <a:off x="1609736" y="4463190"/>
                <a:ext cx="6380873" cy="21739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Comapring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given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PDF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with</m:t>
                      </m:r>
                    </m:oMath>
                  </m:oMathPara>
                </a14:m>
                <a:endParaRPr lang="en-IN" sz="2800" b="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θx</m:t>
                                  </m:r>
                                </m:sup>
                              </m:s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    &amp;;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           &amp;;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1DD5E5-D5A5-1DA0-92F1-85B9E59F9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36" y="4463190"/>
                <a:ext cx="6380873" cy="21739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0DF1863-42D0-C736-6542-4FFC34105072}"/>
                  </a:ext>
                </a:extLst>
              </p:cNvPr>
              <p:cNvSpPr/>
              <p:nvPr/>
            </p:nvSpPr>
            <p:spPr>
              <a:xfrm>
                <a:off x="7661348" y="5265548"/>
                <a:ext cx="3055708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1200"/>
                  </a:spcBef>
                  <a:spcAft>
                    <a:spcPts val="0"/>
                  </a:spcAft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θ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</m:ctrlPr>
                        </m:fPr>
                        <m:num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 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5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 </m:t>
                          </m:r>
                        </m:den>
                      </m:f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per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unit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0DF1863-42D0-C736-6542-4FFC341050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348" y="5265548"/>
                <a:ext cx="3055708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96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" grpId="0" animBg="1"/>
      <p:bldP spid="4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04228" y="772547"/>
                <a:ext cx="35241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Find</a:t>
                </a: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sz="2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28" y="772547"/>
                <a:ext cx="3524143" cy="523220"/>
              </a:xfrm>
              <a:prstGeom prst="rect">
                <a:avLst/>
              </a:prstGeom>
              <a:blipFill>
                <a:blip r:embed="rId2"/>
                <a:stretch>
                  <a:fillRect l="-3460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13BBB9B-3033-A760-22A8-7027F7ADC9B5}"/>
                  </a:ext>
                </a:extLst>
              </p:cNvPr>
              <p:cNvSpPr/>
              <p:nvPr/>
            </p:nvSpPr>
            <p:spPr>
              <a:xfrm>
                <a:off x="584154" y="1394826"/>
                <a:ext cx="3044217" cy="7670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θx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13BBB9B-3033-A760-22A8-7027F7ADC9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54" y="1394826"/>
                <a:ext cx="3044217" cy="7670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673CB90-6A82-E025-03D4-5C917D01AD57}"/>
                  </a:ext>
                </a:extLst>
              </p:cNvPr>
              <p:cNvSpPr/>
              <p:nvPr/>
            </p:nvSpPr>
            <p:spPr>
              <a:xfrm>
                <a:off x="158850" y="2260954"/>
                <a:ext cx="4061663" cy="10323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673CB90-6A82-E025-03D4-5C917D01A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50" y="2260954"/>
                <a:ext cx="4061663" cy="1032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8A6011F-736A-6468-F445-9CF6BC9EEE94}"/>
                  </a:ext>
                </a:extLst>
              </p:cNvPr>
              <p:cNvSpPr/>
              <p:nvPr/>
            </p:nvSpPr>
            <p:spPr>
              <a:xfrm>
                <a:off x="158850" y="3463519"/>
                <a:ext cx="4061663" cy="745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8A6011F-736A-6468-F445-9CF6BC9EEE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50" y="3463519"/>
                <a:ext cx="4061663" cy="7459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ED69A4C-6AF1-226B-DCFC-622CBF1C71A5}"/>
                  </a:ext>
                </a:extLst>
              </p:cNvPr>
              <p:cNvSpPr/>
              <p:nvPr/>
            </p:nvSpPr>
            <p:spPr>
              <a:xfrm>
                <a:off x="158850" y="4379659"/>
                <a:ext cx="4061663" cy="745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3679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ED69A4C-6AF1-226B-DCFC-622CBF1C71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50" y="4379659"/>
                <a:ext cx="4061663" cy="7459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3E56C89-72CE-45F7-161E-513234743E78}"/>
                  </a:ext>
                </a:extLst>
              </p:cNvPr>
              <p:cNvSpPr/>
              <p:nvPr/>
            </p:nvSpPr>
            <p:spPr>
              <a:xfrm>
                <a:off x="4820800" y="772547"/>
                <a:ext cx="598871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Find</a:t>
                </a:r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sz="2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800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2800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</m:oMath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3E56C89-72CE-45F7-161E-513234743E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800" y="772547"/>
                <a:ext cx="5988713" cy="523220"/>
              </a:xfrm>
              <a:prstGeom prst="rect">
                <a:avLst/>
              </a:prstGeom>
              <a:blipFill>
                <a:blip r:embed="rId7"/>
                <a:stretch>
                  <a:fillRect l="-213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698A7E-3E32-64BB-6A6E-9566FFEF1FC7}"/>
                  </a:ext>
                </a:extLst>
              </p:cNvPr>
              <p:cNvSpPr/>
              <p:nvPr/>
            </p:nvSpPr>
            <p:spPr>
              <a:xfrm>
                <a:off x="5266023" y="1304070"/>
                <a:ext cx="7089010" cy="7670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We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know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that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aθ</m:t>
                          </m:r>
                        </m:sup>
                      </m:sSup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bθ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698A7E-3E32-64BB-6A6E-9566FFEF1F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23" y="1304070"/>
                <a:ext cx="7089010" cy="7670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64CF19-0B24-9B5C-2E7F-99CFF84E849B}"/>
                  </a:ext>
                </a:extLst>
              </p:cNvPr>
              <p:cNvSpPr/>
              <p:nvPr/>
            </p:nvSpPr>
            <p:spPr>
              <a:xfrm>
                <a:off x="5266023" y="2071139"/>
                <a:ext cx="7089010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Here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 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64CF19-0B24-9B5C-2E7F-99CFF84E84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23" y="2071139"/>
                <a:ext cx="7089010" cy="664221"/>
              </a:xfrm>
              <a:prstGeom prst="rect">
                <a:avLst/>
              </a:prstGeom>
              <a:blipFill>
                <a:blip r:embed="rId9"/>
                <a:stretch>
                  <a:fillRect l="-180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EEDAF7C-B313-0E39-90B7-4EBC9C08524D}"/>
                  </a:ext>
                </a:extLst>
              </p:cNvPr>
              <p:cNvSpPr/>
              <p:nvPr/>
            </p:nvSpPr>
            <p:spPr>
              <a:xfrm>
                <a:off x="5266023" y="2731977"/>
                <a:ext cx="7089010" cy="10323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≤6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sup>
                      </m:sSup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−6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EEDAF7C-B313-0E39-90B7-4EBC9C0852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23" y="2731977"/>
                <a:ext cx="7089010" cy="10323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3AB591-1BD5-C407-1033-1AEC0E0CB992}"/>
                  </a:ext>
                </a:extLst>
              </p:cNvPr>
              <p:cNvSpPr/>
              <p:nvPr/>
            </p:nvSpPr>
            <p:spPr>
              <a:xfrm>
                <a:off x="5266023" y="3784234"/>
                <a:ext cx="7089010" cy="7822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≤6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0.6</m:t>
                              </m:r>
                            </m:e>
                          </m:d>
                        </m:sup>
                      </m:sSup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1.2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3AB591-1BD5-C407-1033-1AEC0E0CB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23" y="3784234"/>
                <a:ext cx="7089010" cy="7822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5C1B8F2-9977-22BB-9F93-A5B8FA44BAB4}"/>
                  </a:ext>
                </a:extLst>
              </p:cNvPr>
              <p:cNvSpPr/>
              <p:nvPr/>
            </p:nvSpPr>
            <p:spPr>
              <a:xfrm>
                <a:off x="5266023" y="4606215"/>
                <a:ext cx="7089010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≤6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=0.5488−0.301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5C1B8F2-9977-22BB-9F93-A5B8FA44BA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23" y="4606215"/>
                <a:ext cx="7089010" cy="73866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C932128-52DF-F518-C2B9-19C143DE63BB}"/>
                  </a:ext>
                </a:extLst>
              </p:cNvPr>
              <p:cNvSpPr/>
              <p:nvPr/>
            </p:nvSpPr>
            <p:spPr>
              <a:xfrm>
                <a:off x="5266023" y="5384595"/>
                <a:ext cx="7089010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  <a:buClr>
                    <a:schemeClr val="accent6"/>
                  </a:buClr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≤6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0.2476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C932128-52DF-F518-C2B9-19C143DE63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023" y="5384595"/>
                <a:ext cx="7089010" cy="73866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AA5FC2-8C2C-D9C3-F5D4-3F0E960A2E43}"/>
              </a:ext>
            </a:extLst>
          </p:cNvPr>
          <p:cNvCxnSpPr/>
          <p:nvPr/>
        </p:nvCxnSpPr>
        <p:spPr>
          <a:xfrm>
            <a:off x="4314031" y="907281"/>
            <a:ext cx="0" cy="55080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01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 (Continue)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20926" y="745439"/>
            <a:ext cx="4751091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buClr>
                <a:schemeClr val="accent6"/>
              </a:buClr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(c) Find Mean</a:t>
            </a:r>
            <a:endParaRPr lang="en-I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20374" y="1411070"/>
                <a:ext cx="1921489" cy="13064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dirty="0" smtClean="0">
                          <a:solidFill>
                            <a:srgbClr val="002060"/>
                          </a:solidFill>
                        </a:rPr>
                        <m:t>Mean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74" y="1411070"/>
                <a:ext cx="1921489" cy="13064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20926" y="2556769"/>
                <a:ext cx="2757870" cy="16527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IN" sz="2800" dirty="0">
                          <a:solidFill>
                            <a:srgbClr val="002060"/>
                          </a:solidFill>
                        </a:rPr>
                        <m:t>Mean</m:t>
                      </m:r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type m:val="skw"/>
                              <m:ctrlP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5 </m:t>
                              </m:r>
                            </m:den>
                          </m:f>
                          <m: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26" y="2556769"/>
                <a:ext cx="2757870" cy="1652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71ADF2E-D491-BAB3-4109-CE7554725A19}"/>
                  </a:ext>
                </a:extLst>
              </p:cNvPr>
              <p:cNvSpPr/>
              <p:nvPr/>
            </p:nvSpPr>
            <p:spPr>
              <a:xfrm>
                <a:off x="162489" y="4616564"/>
                <a:ext cx="2965173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IN" sz="2800" dirty="0">
                          <a:solidFill>
                            <a:srgbClr val="002060"/>
                          </a:solidFill>
                        </a:rPr>
                        <m:t>Mean</m:t>
                      </m:r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unit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71ADF2E-D491-BAB3-4109-CE7554725A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89" y="4616564"/>
                <a:ext cx="2965173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9229F98D-AE95-B01D-4A2F-2764954AD7BC}"/>
              </a:ext>
            </a:extLst>
          </p:cNvPr>
          <p:cNvSpPr/>
          <p:nvPr/>
        </p:nvSpPr>
        <p:spPr>
          <a:xfrm>
            <a:off x="5371055" y="744221"/>
            <a:ext cx="5600177" cy="6668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buClr>
                <a:schemeClr val="accent6"/>
              </a:buClr>
              <a:tabLst>
                <a:tab pos="447675" algn="l"/>
              </a:tabLst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(d) Find Variance</a:t>
            </a:r>
            <a:endParaRPr lang="en-IN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E639E37-C933-5A05-B2FB-BBF6370000DE}"/>
                  </a:ext>
                </a:extLst>
              </p:cNvPr>
              <p:cNvSpPr/>
              <p:nvPr/>
            </p:nvSpPr>
            <p:spPr>
              <a:xfrm>
                <a:off x="5805197" y="1655047"/>
                <a:ext cx="2805542" cy="9017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dirty="0" smtClean="0">
                          <a:solidFill>
                            <a:srgbClr val="002060"/>
                          </a:solidFill>
                        </a:rPr>
                        <m:t>Variance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E639E37-C933-5A05-B2FB-BBF6370000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197" y="1655047"/>
                <a:ext cx="2805542" cy="9017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918A82-79C7-B6B0-1F40-1B0E56370D5E}"/>
                  </a:ext>
                </a:extLst>
              </p:cNvPr>
              <p:cNvSpPr/>
              <p:nvPr/>
            </p:nvSpPr>
            <p:spPr>
              <a:xfrm>
                <a:off x="5371055" y="3094409"/>
                <a:ext cx="4460741" cy="12908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IN" sz="2800" dirty="0">
                          <a:solidFill>
                            <a:srgbClr val="002060"/>
                          </a:solidFill>
                        </a:rPr>
                        <m:t>Variance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IN" sz="2800" i="1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i="1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800" i="1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5 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918A82-79C7-B6B0-1F40-1B0E56370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055" y="3094409"/>
                <a:ext cx="4460741" cy="12908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7BFB249-40E1-E6D4-DF5B-D6D706869FF6}"/>
                  </a:ext>
                </a:extLst>
              </p:cNvPr>
              <p:cNvSpPr/>
              <p:nvPr/>
            </p:nvSpPr>
            <p:spPr>
              <a:xfrm>
                <a:off x="5371055" y="4833621"/>
                <a:ext cx="4167800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IN" sz="2800" dirty="0">
                          <a:solidFill>
                            <a:srgbClr val="002060"/>
                          </a:solidFill>
                        </a:rPr>
                        <m:t>Variance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25 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unit</m:t>
                              </m:r>
                            </m:e>
                          </m:d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7BFB249-40E1-E6D4-DF5B-D6D706869F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055" y="4833621"/>
                <a:ext cx="41678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97C5D4-3C54-8A70-99D3-4CFC5C32CFA0}"/>
              </a:ext>
            </a:extLst>
          </p:cNvPr>
          <p:cNvCxnSpPr/>
          <p:nvPr/>
        </p:nvCxnSpPr>
        <p:spPr>
          <a:xfrm>
            <a:off x="4199731" y="876357"/>
            <a:ext cx="0" cy="55080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93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3" grpId="0"/>
      <p:bldP spid="21" grpId="0"/>
      <p:bldP spid="23" grpId="0"/>
      <p:bldP spid="29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9AB0-C7D7-D2AA-A10D-3DA5B3C6B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57E0B17-D837-B052-9AD7-FFE29B0997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9897"/>
                <a:ext cx="11929643" cy="185893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time between breakdowns of a particular machine follows an exponential distribution with a mean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dirty="0"/>
                  <a:t> days. Calculate the probability that a machine breakdowns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days period.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57E0B17-D837-B052-9AD7-FFE29B099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9897"/>
                <a:ext cx="11929643" cy="1858933"/>
              </a:xfrm>
              <a:prstGeom prst="rect">
                <a:avLst/>
              </a:prstGeom>
              <a:blipFill>
                <a:blip r:embed="rId2"/>
                <a:stretch>
                  <a:fillRect l="-1074" r="-1074" b="-49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F9B5A52-D493-F7F4-7536-2EFE75E67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9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5F5753D-D93A-79CA-9439-C8E8108AF5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6" y="2618830"/>
                <a:ext cx="11929643" cy="389593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b="1" u="sng" dirty="0">
                    <a:solidFill>
                      <a:srgbClr val="002060"/>
                    </a:solidFill>
                  </a:rPr>
                  <a:t>Meaning of the question</a:t>
                </a:r>
              </a:p>
              <a:p>
                <a:pPr lvl="1">
                  <a:lnSpc>
                    <a:spcPct val="130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Look at the machine after a breakdown (stops working / fails / becomes non-functional)</a:t>
                </a:r>
              </a:p>
              <a:p>
                <a:pPr lvl="1">
                  <a:lnSpc>
                    <a:spcPct val="130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Start a clock Measure how many days pass until the </a:t>
                </a:r>
                <a:r>
                  <a:rPr lang="en-US" b="1" dirty="0">
                    <a:solidFill>
                      <a:srgbClr val="002060"/>
                    </a:solidFill>
                  </a:rPr>
                  <a:t>next</a:t>
                </a:r>
                <a:r>
                  <a:rPr lang="en-US" dirty="0">
                    <a:solidFill>
                      <a:srgbClr val="002060"/>
                    </a:solidFill>
                  </a:rPr>
                  <a:t> breakdown</a:t>
                </a:r>
              </a:p>
              <a:p>
                <a:pPr lvl="1">
                  <a:lnSpc>
                    <a:spcPct val="130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That waiting time is a random variable</a:t>
                </a:r>
              </a:p>
              <a:p>
                <a:pPr lvl="1">
                  <a:lnSpc>
                    <a:spcPct val="130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On average, that waiting time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days</a:t>
                </a:r>
              </a:p>
              <a:p>
                <a:pPr lvl="1">
                  <a:lnSpc>
                    <a:spcPct val="130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Starting from now, what is the chance that at least one breakdown happens within the next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days?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5F5753D-D93A-79CA-9439-C8E8108AF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2618830"/>
                <a:ext cx="11929643" cy="3895938"/>
              </a:xfrm>
              <a:prstGeom prst="rect">
                <a:avLst/>
              </a:prstGeom>
              <a:blipFill>
                <a:blip r:embed="rId3"/>
                <a:stretch>
                  <a:fillRect l="-971" r="-818" b="-28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68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6" grpId="0" uiExpand="1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465ED-41F1-FF57-2D94-F2ED7618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616CE39A-756F-7115-7A0B-D39BCFE750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59897"/>
                <a:ext cx="11929643" cy="185893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time between breakdowns of a particular machine follows an exponential distribution with a mean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dirty="0"/>
                  <a:t> days. Calculate the probability that a machine breakdowns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days period.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616CE39A-756F-7115-7A0B-D39BCFE75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59897"/>
                <a:ext cx="11929643" cy="1858933"/>
              </a:xfrm>
              <a:prstGeom prst="rect">
                <a:avLst/>
              </a:prstGeom>
              <a:blipFill>
                <a:blip r:embed="rId2"/>
                <a:stretch>
                  <a:fillRect l="-1074" r="-1074" b="-49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46327FB-D4E4-6BC4-4816-F2A666EF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9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DD52EE-247F-74BD-6E32-CEFC9DDE152A}"/>
              </a:ext>
            </a:extLst>
          </p:cNvPr>
          <p:cNvSpPr/>
          <p:nvPr/>
        </p:nvSpPr>
        <p:spPr>
          <a:xfrm>
            <a:off x="131177" y="2781566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6E9F6DE-59A6-4009-99B3-02D2B12D31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8" y="2667526"/>
                <a:ext cx="9762838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number of days until the next breakdown of machine occurs</a:t>
                </a: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6E9F6DE-59A6-4009-99B3-02D2B12D3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8" y="2667526"/>
                <a:ext cx="9762838" cy="665631"/>
              </a:xfrm>
              <a:prstGeom prst="rect">
                <a:avLst/>
              </a:prstGeom>
              <a:blipFill>
                <a:blip r:embed="rId3"/>
                <a:stretch>
                  <a:fillRect l="-131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9F46BA8-D2EE-1347-947C-F2EE75B61D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333157"/>
                <a:ext cx="7185894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follows an exponential distribution. 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9F46BA8-D2EE-1347-947C-F2EE75B61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333157"/>
                <a:ext cx="7185894" cy="665631"/>
              </a:xfrm>
              <a:prstGeom prst="rect">
                <a:avLst/>
              </a:prstGeom>
              <a:blipFill>
                <a:blip r:embed="rId4"/>
                <a:stretch>
                  <a:fillRect l="-1783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07BBED7-5671-39CB-5B89-15D0EF8B0B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4027159"/>
                <a:ext cx="4328394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IN" dirty="0">
                    <a:solidFill>
                      <a:srgbClr val="002060"/>
                    </a:solidFill>
                  </a:rPr>
                  <a:t>Here, mean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=17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day 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07BBED7-5671-39CB-5B89-15D0EF8B0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027159"/>
                <a:ext cx="4328394" cy="665631"/>
              </a:xfrm>
              <a:prstGeom prst="rect">
                <a:avLst/>
              </a:prstGeom>
              <a:blipFill>
                <a:blip r:embed="rId5"/>
                <a:stretch>
                  <a:fillRect l="-295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7ADA139-A7D3-80D4-DA3F-C18CC8AFFF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83869" y="4664419"/>
                <a:ext cx="4837548" cy="130644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IN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Mean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17 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solidFill>
                            <a:srgbClr val="002060"/>
                          </a:solidFill>
                        </a:rPr>
                        <m:t>per</m:t>
                      </m:r>
                      <m:r>
                        <m:rPr>
                          <m:nor/>
                        </m:rPr>
                        <a:rPr lang="en-IN" b="0" i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0" smtClean="0">
                          <a:solidFill>
                            <a:srgbClr val="002060"/>
                          </a:solidFill>
                        </a:rPr>
                        <m:t>day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7ADA139-A7D3-80D4-DA3F-C18CC8AFF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869" y="4664419"/>
                <a:ext cx="4837548" cy="13064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9CD155-4AD4-A852-8C85-EE4EEFB35E2B}"/>
                  </a:ext>
                </a:extLst>
              </p:cNvPr>
              <p:cNvSpPr/>
              <p:nvPr/>
            </p:nvSpPr>
            <p:spPr>
              <a:xfrm>
                <a:off x="9608131" y="4962043"/>
                <a:ext cx="2452689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9CD155-4AD4-A852-8C85-EE4EEFB35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131" y="4962043"/>
                <a:ext cx="2452689" cy="71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00A315-C742-FF77-4F13-D418AEAA444F}"/>
              </a:ext>
            </a:extLst>
          </p:cNvPr>
          <p:cNvCxnSpPr/>
          <p:nvPr/>
        </p:nvCxnSpPr>
        <p:spPr>
          <a:xfrm>
            <a:off x="5953991" y="2036616"/>
            <a:ext cx="6016336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8D34B1-0791-9966-14BF-20B7A4B5C42C}"/>
              </a:ext>
            </a:extLst>
          </p:cNvPr>
          <p:cNvCxnSpPr>
            <a:cxnSpLocks/>
          </p:cNvCxnSpPr>
          <p:nvPr/>
        </p:nvCxnSpPr>
        <p:spPr>
          <a:xfrm>
            <a:off x="204354" y="2521526"/>
            <a:ext cx="4232564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64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/>
      <p:bldP spid="7" grpId="0" uiExpand="1" build="p"/>
      <p:bldP spid="8" grpId="0" uiExpand="1" build="p"/>
      <p:bldP spid="9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9 (Continue)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506" y="772011"/>
            <a:ext cx="49257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From the Exponential distribution,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87743" y="1653297"/>
                <a:ext cx="3395097" cy="5421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θx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43" y="1653297"/>
                <a:ext cx="3395097" cy="5421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48164" y="2930987"/>
                <a:ext cx="1491330" cy="99602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𝛉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𝟏𝟕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8164" y="2930987"/>
                <a:ext cx="1491330" cy="9960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48164" y="2288238"/>
                <a:ext cx="1491330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8164" y="2288238"/>
                <a:ext cx="1491330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1E601B1-4577-A082-B9E2-54FEEEBA51C4}"/>
                  </a:ext>
                </a:extLst>
              </p:cNvPr>
              <p:cNvSpPr/>
              <p:nvPr/>
            </p:nvSpPr>
            <p:spPr>
              <a:xfrm>
                <a:off x="152506" y="2576792"/>
                <a:ext cx="5062989" cy="7262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17</m:t>
                                  </m:r>
                                  <m:r>
                                    <a:rPr lang="en-IN" sz="28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1E601B1-4577-A082-B9E2-54FEEEBA51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06" y="2576792"/>
                <a:ext cx="5062989" cy="7262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9E04824-D8DF-2261-EF24-F9DE1CC41534}"/>
                  </a:ext>
                </a:extLst>
              </p:cNvPr>
              <p:cNvSpPr/>
              <p:nvPr/>
            </p:nvSpPr>
            <p:spPr>
              <a:xfrm>
                <a:off x="152506" y="3684441"/>
                <a:ext cx="44080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0.4138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9E04824-D8DF-2261-EF24-F9DE1CC415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06" y="3684441"/>
                <a:ext cx="440800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04B642-BFB2-3269-C564-396FC33607D6}"/>
                  </a:ext>
                </a:extLst>
              </p:cNvPr>
              <p:cNvSpPr/>
              <p:nvPr/>
            </p:nvSpPr>
            <p:spPr>
              <a:xfrm>
                <a:off x="152506" y="4589021"/>
                <a:ext cx="392197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𝟓𝟖𝟔𝟐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04B642-BFB2-3269-C564-396FC33607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06" y="4589021"/>
                <a:ext cx="392197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E0E8183-B17A-5FA0-0276-CBBF2CF93C08}"/>
                  </a:ext>
                </a:extLst>
              </p:cNvPr>
              <p:cNvSpPr/>
              <p:nvPr/>
            </p:nvSpPr>
            <p:spPr>
              <a:xfrm>
                <a:off x="9586805" y="4056776"/>
                <a:ext cx="2452689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E0E8183-B17A-5FA0-0276-CBBF2CF93C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805" y="4056776"/>
                <a:ext cx="2452689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45545D8-A3EF-9F9E-8E1D-E0D8138066A1}"/>
                  </a:ext>
                </a:extLst>
              </p:cNvPr>
              <p:cNvSpPr/>
              <p:nvPr/>
            </p:nvSpPr>
            <p:spPr>
              <a:xfrm>
                <a:off x="152506" y="5454199"/>
                <a:ext cx="11886989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lt"/>
                    <a:ea typeface="Cambria Math" panose="02040503050406030204" pitchFamily="18" charset="0"/>
                  </a:rPr>
                  <a:t>There is approximately a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𝟓𝟖</m:t>
                    </m:r>
                    <m:r>
                      <a:rPr lang="en-US" sz="2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n-US" sz="2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lt"/>
                    <a:ea typeface="Cambria Math" panose="02040503050406030204" pitchFamily="18" charset="0"/>
                  </a:rPr>
                  <a:t>chance that the machine will experience at least one breakdown within the next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sz="2800" i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lt"/>
                    <a:ea typeface="Cambria Math" panose="02040503050406030204" pitchFamily="18" charset="0"/>
                  </a:rPr>
                  <a:t> days.</a:t>
                </a:r>
                <a:endParaRPr lang="en-IN" sz="2800" i="1"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45545D8-A3EF-9F9E-8E1D-E0D813806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06" y="5454199"/>
                <a:ext cx="11886989" cy="954107"/>
              </a:xfrm>
              <a:prstGeom prst="rect">
                <a:avLst/>
              </a:prstGeom>
              <a:blipFill>
                <a:blip r:embed="rId9"/>
                <a:stretch>
                  <a:fillRect l="-1026" t="-6410" r="-1077" b="-1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86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" grpId="0"/>
      <p:bldP spid="6" grpId="0"/>
      <p:bldP spid="10" grpId="0"/>
      <p:bldP spid="12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17565"/>
                <a:ext cx="11929643" cy="238283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lifetime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of an alkaline battery is exponentially distributed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dirty="0"/>
                  <a:t> per hour.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What are the probabilities for battery to last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hours? 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(b) What are the probabilities for the battery to last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hours?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17565"/>
                <a:ext cx="11929643" cy="2382836"/>
              </a:xfrm>
              <a:prstGeom prst="rect">
                <a:avLst/>
              </a:prstGeom>
              <a:blipFill>
                <a:blip r:embed="rId2"/>
                <a:stretch>
                  <a:fillRect l="-1074" r="-1074" b="-46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6" y="3221667"/>
                <a:ext cx="11929643" cy="3143425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b="1" u="sng" dirty="0">
                    <a:solidFill>
                      <a:srgbClr val="002060"/>
                    </a:solidFill>
                  </a:rPr>
                  <a:t>Meaning of the question</a:t>
                </a: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We are talking about one alkaline battery. The battery works for some time and then dies.</a:t>
                </a: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That working time is not fixed — it is random.</a:t>
                </a: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The average behavior of this lifetime is described by an exponential distribution.</a:t>
                </a: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The battery has a failure 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=0.05 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per hour</a:t>
                </a:r>
              </a:p>
              <a:p>
                <a:pPr lvl="2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dirty="0">
                    <a:solidFill>
                      <a:srgbClr val="002060"/>
                    </a:solidFill>
                  </a:rPr>
                  <a:t>This means: In each hour, the battery has a </a:t>
                </a:r>
                <a14:m>
                  <m:oMath xmlns:m="http://schemas.openxmlformats.org/officeDocument/2006/math">
                    <m:r>
                      <a:rPr lang="en-US" sz="24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chance (on average) of failing.</a:t>
                </a:r>
                <a:endParaRPr lang="en-IN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3221667"/>
                <a:ext cx="11929643" cy="3143425"/>
              </a:xfrm>
              <a:prstGeom prst="rect">
                <a:avLst/>
              </a:prstGeom>
              <a:blipFill>
                <a:blip r:embed="rId3"/>
                <a:stretch>
                  <a:fillRect l="-716" b="-34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15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5513-2CCC-5AB8-D491-FB714602B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0ECE6AB-C1B8-4C63-D38E-ACF82FE478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17565"/>
                <a:ext cx="11929643" cy="238283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lifetime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of an alkaline battery is exponentially distributed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dirty="0"/>
                  <a:t> per hour.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What are the probabilities for battery to last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hours? 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(b) What are the probabilities for the battery to last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 hours?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0ECE6AB-C1B8-4C63-D38E-ACF82FE47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17565"/>
                <a:ext cx="11929643" cy="2382836"/>
              </a:xfrm>
              <a:prstGeom prst="rect">
                <a:avLst/>
              </a:prstGeom>
              <a:blipFill>
                <a:blip r:embed="rId2"/>
                <a:stretch>
                  <a:fillRect l="-1074" r="-1074" b="-46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DAD80EF-2CEE-AABA-C6DB-358CC12C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10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8A226D-B17C-08B1-35EE-725841FD4C35}"/>
              </a:ext>
            </a:extLst>
          </p:cNvPr>
          <p:cNvSpPr/>
          <p:nvPr/>
        </p:nvSpPr>
        <p:spPr>
          <a:xfrm>
            <a:off x="131177" y="330676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8CDEB82-7428-C4E2-AE8F-407A79D033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2893" y="3200401"/>
                <a:ext cx="1043792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The lifetime of an alkaline battery (in hours)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8CDEB82-7428-C4E2-AE8F-407A79D03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3" y="3200401"/>
                <a:ext cx="10437927" cy="665631"/>
              </a:xfrm>
              <a:prstGeom prst="rect">
                <a:avLst/>
              </a:prstGeom>
              <a:blipFill>
                <a:blip r:embed="rId3"/>
                <a:stretch>
                  <a:fillRect l="-116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7AFC1BB-20C5-A989-5F1B-00954BACF9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2893" y="3936349"/>
                <a:ext cx="1043792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follows an exponential distribution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7AFC1BB-20C5-A989-5F1B-00954BACF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3" y="3936349"/>
                <a:ext cx="10437927" cy="665631"/>
              </a:xfrm>
              <a:prstGeom prst="rect">
                <a:avLst/>
              </a:prstGeom>
              <a:blipFill>
                <a:blip r:embed="rId4"/>
                <a:stretch>
                  <a:fillRect l="-116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26C8D80-AD84-A50E-9102-24D6F93AAF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2893" y="4672297"/>
                <a:ext cx="4549307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per hour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26C8D80-AD84-A50E-9102-24D6F93AA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893" y="4672297"/>
                <a:ext cx="4549307" cy="665631"/>
              </a:xfrm>
              <a:prstGeom prst="rect">
                <a:avLst/>
              </a:prstGeom>
              <a:blipFill>
                <a:blip r:embed="rId5"/>
                <a:stretch>
                  <a:fillRect l="-2677" b="-2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13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/>
      <p:bldP spid="7" grpId="0" uiExpand="1" build="p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938" y="782709"/>
                <a:ext cx="11998124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Probability that battery lasts between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hours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782709"/>
                <a:ext cx="11998124" cy="480131"/>
              </a:xfrm>
              <a:prstGeom prst="rect">
                <a:avLst/>
              </a:prstGeom>
              <a:blipFill>
                <a:blip r:embed="rId2"/>
                <a:stretch>
                  <a:fillRect l="-1067" t="-20253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69675" y="1395943"/>
            <a:ext cx="50348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From the Exponential distribution,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92854" y="2099135"/>
                <a:ext cx="4845032" cy="542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aθ</m:t>
                          </m:r>
                        </m:sup>
                      </m:sSup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bθ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54" y="2099135"/>
                <a:ext cx="4845032" cy="542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69675" y="4363197"/>
                <a:ext cx="6143220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≤15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=0.6065−0.472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5" y="4363197"/>
                <a:ext cx="614322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19386" y="2865706"/>
                <a:ext cx="1649774" cy="58987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𝛉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386" y="2865706"/>
                <a:ext cx="1649774" cy="589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16145" y="1237674"/>
                <a:ext cx="1297814" cy="67036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6145" y="1237674"/>
                <a:ext cx="1297814" cy="6703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516145" y="2045561"/>
                <a:ext cx="1297814" cy="67036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6145" y="2045561"/>
                <a:ext cx="1297814" cy="6703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F286170-D98B-C675-D6F7-0F29CC44A421}"/>
                  </a:ext>
                </a:extLst>
              </p:cNvPr>
              <p:cNvSpPr/>
              <p:nvPr/>
            </p:nvSpPr>
            <p:spPr>
              <a:xfrm>
                <a:off x="169675" y="2917250"/>
                <a:ext cx="7371828" cy="5522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≤15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e>
                          </m:d>
                        </m:sup>
                      </m:sSup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F286170-D98B-C675-D6F7-0F29CC44A4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5" y="2917250"/>
                <a:ext cx="7371828" cy="5522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06F49E-DBBB-4E3A-1986-E2BF29BDCE44}"/>
                  </a:ext>
                </a:extLst>
              </p:cNvPr>
              <p:cNvSpPr/>
              <p:nvPr/>
            </p:nvSpPr>
            <p:spPr>
              <a:xfrm>
                <a:off x="169675" y="3721322"/>
                <a:ext cx="7371828" cy="5280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≤15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</m:sup>
                      </m:sSup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−0.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606F49E-DBBB-4E3A-1986-E2BF29BDCE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5" y="3721322"/>
                <a:ext cx="7371828" cy="52809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374AFDB-8829-147D-0867-EDD548CBCAF1}"/>
                  </a:ext>
                </a:extLst>
              </p:cNvPr>
              <p:cNvSpPr/>
              <p:nvPr/>
            </p:nvSpPr>
            <p:spPr>
              <a:xfrm>
                <a:off x="169675" y="5184786"/>
                <a:ext cx="494265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≤15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341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374AFDB-8829-147D-0867-EDD548CBCA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5" y="5184786"/>
                <a:ext cx="4942652" cy="7386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FD7450D-C498-E9B3-4703-CE194C034F59}"/>
                  </a:ext>
                </a:extLst>
              </p:cNvPr>
              <p:cNvSpPr/>
              <p:nvPr/>
            </p:nvSpPr>
            <p:spPr>
              <a:xfrm>
                <a:off x="8637269" y="3632689"/>
                <a:ext cx="3387436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FD7450D-C498-E9B3-4703-CE194C034F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269" y="3632689"/>
                <a:ext cx="3387436" cy="7111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128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allAtOnce"/>
      <p:bldP spid="9" grpId="0" animBg="1"/>
      <p:bldP spid="10" grpId="0" animBg="1"/>
      <p:bldP spid="3" grpId="0"/>
      <p:bldP spid="4" grpId="0"/>
      <p:bldP spid="11" grpId="0" build="allAtOnce"/>
      <p:bldP spid="12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8926-0016-026E-FE2D-66C35577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958C-11C4-388D-B029-1BADAAEB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29E03A68-BFE2-CB72-BFE4-8C00B2D9A9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938" y="782709"/>
                <a:ext cx="11998124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(b) Probability that battery lasts more than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hours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29E03A68-BFE2-CB72-BFE4-8C00B2D9A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782709"/>
                <a:ext cx="11998124" cy="480131"/>
              </a:xfrm>
              <a:prstGeom prst="rect">
                <a:avLst/>
              </a:prstGeom>
              <a:blipFill>
                <a:blip r:embed="rId2"/>
                <a:stretch>
                  <a:fillRect l="-1067" t="-20253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EF48177-C9D3-36BD-73C8-4879C86C0ECB}"/>
              </a:ext>
            </a:extLst>
          </p:cNvPr>
          <p:cNvSpPr/>
          <p:nvPr/>
        </p:nvSpPr>
        <p:spPr>
          <a:xfrm>
            <a:off x="169675" y="1395943"/>
            <a:ext cx="50348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From the Exponential distribution,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922015D-C302-9974-9B64-1896E34A475D}"/>
                  </a:ext>
                </a:extLst>
              </p:cNvPr>
              <p:cNvSpPr/>
              <p:nvPr/>
            </p:nvSpPr>
            <p:spPr>
              <a:xfrm>
                <a:off x="1065590" y="2193926"/>
                <a:ext cx="4845032" cy="542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θx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922015D-C302-9974-9B64-1896E34A47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590" y="2193926"/>
                <a:ext cx="4845032" cy="542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E7C4E1-27F7-EC98-F67C-54996DEECFD5}"/>
                  </a:ext>
                </a:extLst>
              </p:cNvPr>
              <p:cNvSpPr/>
              <p:nvPr/>
            </p:nvSpPr>
            <p:spPr>
              <a:xfrm>
                <a:off x="10330987" y="2839125"/>
                <a:ext cx="1649774" cy="58987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𝛉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E7C4E1-27F7-EC98-F67C-54996DEECF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0987" y="2839125"/>
                <a:ext cx="1649774" cy="5898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17D9273-95D8-B1C6-F86B-39437A7AB0FB}"/>
                  </a:ext>
                </a:extLst>
              </p:cNvPr>
              <p:cNvSpPr/>
              <p:nvPr/>
            </p:nvSpPr>
            <p:spPr>
              <a:xfrm>
                <a:off x="429447" y="3010825"/>
                <a:ext cx="5316725" cy="5522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&gt;20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17D9273-95D8-B1C6-F86B-39437A7AB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7" y="3010825"/>
                <a:ext cx="5316725" cy="552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3D0C950-CA49-A8EB-EFA9-899106F99DDD}"/>
                  </a:ext>
                </a:extLst>
              </p:cNvPr>
              <p:cNvSpPr/>
              <p:nvPr/>
            </p:nvSpPr>
            <p:spPr>
              <a:xfrm>
                <a:off x="429447" y="3840072"/>
                <a:ext cx="4682880" cy="5280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&gt;20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3D0C950-CA49-A8EB-EFA9-899106F99D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7" y="3840072"/>
                <a:ext cx="4682880" cy="5280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63BB2C-18AF-AFCB-CD67-F9F94CB08A79}"/>
                  </a:ext>
                </a:extLst>
              </p:cNvPr>
              <p:cNvSpPr/>
              <p:nvPr/>
            </p:nvSpPr>
            <p:spPr>
              <a:xfrm>
                <a:off x="429447" y="4499672"/>
                <a:ext cx="494265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&gt;20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0.3679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63BB2C-18AF-AFCB-CD67-F9F94CB08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7" y="4499672"/>
                <a:ext cx="4942652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E7FC71-3C2A-D27D-A77A-4584C01F67E5}"/>
                  </a:ext>
                </a:extLst>
              </p:cNvPr>
              <p:cNvSpPr/>
              <p:nvPr/>
            </p:nvSpPr>
            <p:spPr>
              <a:xfrm>
                <a:off x="9570027" y="3632689"/>
                <a:ext cx="2454678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E7FC71-3C2A-D27D-A77A-4584C01F67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027" y="3632689"/>
                <a:ext cx="2454678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22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" grpId="0"/>
      <p:bldP spid="4" grpId="0"/>
      <p:bldP spid="11" grpId="0" build="allAtOnce"/>
      <p:bldP spid="12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301C0-5C91-CEC5-72B6-7D227B3B2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69BA7E3-573D-914D-26A0-9028FBF80C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90268"/>
                <a:ext cx="11929643" cy="2358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In a large corporate computer network, user log on to the system can be modeled as a Poisson process with a mean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dirty="0"/>
                  <a:t> log on per hour.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What is the probability that there are no log on in an interval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min.?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(b) What is the probability that time until next log on is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min.?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69BA7E3-573D-914D-26A0-9028FBF80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0268"/>
                <a:ext cx="11929643" cy="2358177"/>
              </a:xfrm>
              <a:prstGeom prst="rect">
                <a:avLst/>
              </a:prstGeom>
              <a:blipFill>
                <a:blip r:embed="rId2"/>
                <a:stretch>
                  <a:fillRect l="-1074" r="-1074" b="-54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BAD39DF-DABA-B529-FA31-099398EF8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DAF0FE-1DFC-8A25-8B53-FA7597ABEA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3200401"/>
                <a:ext cx="11807978" cy="3143425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b="1" u="sng" dirty="0">
                    <a:solidFill>
                      <a:srgbClr val="002060"/>
                    </a:solidFill>
                  </a:rPr>
                  <a:t>Meaning of the question</a:t>
                </a: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We are looking at a big corporate computer network.</a:t>
                </a:r>
              </a:p>
              <a:p>
                <a:pPr lvl="2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dirty="0">
                    <a:solidFill>
                      <a:srgbClr val="002060"/>
                    </a:solidFill>
                  </a:rPr>
                  <a:t>Many users log in to a company’s computer system.</a:t>
                </a:r>
              </a:p>
              <a:p>
                <a:pPr lvl="2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dirty="0">
                    <a:solidFill>
                      <a:srgbClr val="002060"/>
                    </a:solidFill>
                  </a:rPr>
                  <a:t>These logins happen randomly, not at fixed times.</a:t>
                </a:r>
              </a:p>
              <a:p>
                <a:pPr lvl="2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dirty="0">
                    <a:solidFill>
                      <a:srgbClr val="002060"/>
                    </a:solidFill>
                  </a:rPr>
                  <a:t>On average,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users log in every hour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002060"/>
                    </a:solidFill>
                  </a:rPr>
                  <a:t>Rate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en-US" sz="2400" b="1" dirty="0">
                    <a:solidFill>
                      <a:srgbClr val="002060"/>
                    </a:solidFill>
                  </a:rPr>
                  <a:t> per hour</a:t>
                </a:r>
              </a:p>
              <a:p>
                <a:pPr lvl="2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dirty="0">
                    <a:solidFill>
                      <a:srgbClr val="002060"/>
                    </a:solidFill>
                  </a:rPr>
                  <a:t>Such random arrivals are modeled by a Poisson process.</a:t>
                </a:r>
                <a:endParaRPr lang="en-IN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DAF0FE-1DFC-8A25-8B53-FA7597ABE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3200401"/>
                <a:ext cx="11807978" cy="3143425"/>
              </a:xfrm>
              <a:prstGeom prst="rect">
                <a:avLst/>
              </a:prstGeom>
              <a:blipFill>
                <a:blip r:embed="rId3"/>
                <a:stretch>
                  <a:fillRect l="-723" b="-34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650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A06D4-259F-DBD7-A1B1-475B71CD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1934A3E-0DB1-611E-D5FE-D0F33F4F50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90268"/>
                <a:ext cx="11929643" cy="2358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In a large corporate computer network, user log on to the system can be modeled as a Poisson process with a mean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dirty="0"/>
                  <a:t> log on per hour.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What is the probability that there are no log on in an interval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min.?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(b) What is the probability that time until next log on is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min.?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1934A3E-0DB1-611E-D5FE-D0F33F4F5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0268"/>
                <a:ext cx="11929643" cy="2358177"/>
              </a:xfrm>
              <a:prstGeom prst="rect">
                <a:avLst/>
              </a:prstGeom>
              <a:blipFill>
                <a:blip r:embed="rId2"/>
                <a:stretch>
                  <a:fillRect l="-1074" r="-1074" b="-54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5E56647-BFF3-BB91-B8DF-9E98227E7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0D9678-E5CE-491C-107D-47EECB8C4F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3200401"/>
                <a:ext cx="11807978" cy="261764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b="1" u="sng" dirty="0">
                    <a:solidFill>
                      <a:srgbClr val="002060"/>
                    </a:solidFill>
                  </a:rPr>
                  <a:t>What is a Random Variable here?</a:t>
                </a: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Random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 number whose value depends on chance.</a:t>
                </a: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Here:</a:t>
                </a:r>
              </a:p>
              <a:p>
                <a:pPr lvl="2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b="1" dirty="0">
                    <a:solidFill>
                      <a:srgbClr val="002060"/>
                    </a:solidFill>
                  </a:rPr>
                  <a:t>Number</a:t>
                </a:r>
                <a:r>
                  <a:rPr lang="en-US" sz="2400" dirty="0">
                    <a:solidFill>
                      <a:srgbClr val="002060"/>
                    </a:solidFill>
                  </a:rPr>
                  <a:t> of logins in a time interval -  </a:t>
                </a:r>
              </a:p>
              <a:p>
                <a:pPr lvl="2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b="1" dirty="0">
                    <a:solidFill>
                      <a:srgbClr val="002060"/>
                    </a:solidFill>
                  </a:rPr>
                  <a:t>Time</a:t>
                </a:r>
                <a:r>
                  <a:rPr lang="en-US" sz="2400" dirty="0">
                    <a:solidFill>
                      <a:srgbClr val="002060"/>
                    </a:solidFill>
                  </a:rPr>
                  <a:t>, we wait until the next login -</a:t>
                </a:r>
                <a:endParaRPr lang="en-IN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0D9678-E5CE-491C-107D-47EECB8C4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3200401"/>
                <a:ext cx="11807978" cy="2617640"/>
              </a:xfrm>
              <a:prstGeom prst="rect">
                <a:avLst/>
              </a:prstGeom>
              <a:blipFill>
                <a:blip r:embed="rId3"/>
                <a:stretch>
                  <a:fillRect l="-723" b="-46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0EEBFA-C34D-5CD0-21AA-75F8CF17A40E}"/>
              </a:ext>
            </a:extLst>
          </p:cNvPr>
          <p:cNvSpPr txBox="1">
            <a:spLocks/>
          </p:cNvSpPr>
          <p:nvPr/>
        </p:nvSpPr>
        <p:spPr>
          <a:xfrm>
            <a:off x="5550035" y="4755574"/>
            <a:ext cx="2958386" cy="5145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  <a:tabLst>
                <a:tab pos="447675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Poisson Distribution</a:t>
            </a:r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34AE14-B30F-DDAF-88BC-225887965141}"/>
              </a:ext>
            </a:extLst>
          </p:cNvPr>
          <p:cNvSpPr txBox="1">
            <a:spLocks/>
          </p:cNvSpPr>
          <p:nvPr/>
        </p:nvSpPr>
        <p:spPr>
          <a:xfrm>
            <a:off x="5371658" y="5281612"/>
            <a:ext cx="3315141" cy="5145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  <a:tabLst>
                <a:tab pos="447675" algn="l"/>
              </a:tabLst>
            </a:pPr>
            <a:r>
              <a:rPr lang="en-US" sz="2400" b="1" dirty="0">
                <a:solidFill>
                  <a:srgbClr val="002060"/>
                </a:solidFill>
              </a:rPr>
              <a:t>Exponential Distribution</a:t>
            </a:r>
            <a:endParaRPr lang="en-IN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70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5" grpId="0" uiExpand="1" build="p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B9647-2CC8-A5F9-1105-837DF2F1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0862E82-3D27-DE88-457C-23FBFFF699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90268"/>
                <a:ext cx="11929643" cy="2358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In a large corporate computer network, user log on to the system can be modeled as a Poisson process with a mean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dirty="0"/>
                  <a:t> log on per hour.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What is the probability that there are no log on in an interval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min.?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(b) What is the probability that time until next log on is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min.?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0862E82-3D27-DE88-457C-23FBFFF69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90268"/>
                <a:ext cx="11929643" cy="2358177"/>
              </a:xfrm>
              <a:prstGeom prst="rect">
                <a:avLst/>
              </a:prstGeom>
              <a:blipFill>
                <a:blip r:embed="rId2"/>
                <a:stretch>
                  <a:fillRect l="-1074" r="-1074" b="-54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CAA8CAF-9D76-4BAE-426D-79706271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8FCFF5-4FED-302D-4CE2-8E9B164B625A}"/>
              </a:ext>
            </a:extLst>
          </p:cNvPr>
          <p:cNvSpPr/>
          <p:nvPr/>
        </p:nvSpPr>
        <p:spPr>
          <a:xfrm>
            <a:off x="131177" y="3227512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09A1237-74F6-27B7-BA4E-2DDAEE74D271}"/>
                  </a:ext>
                </a:extLst>
              </p:cNvPr>
              <p:cNvSpPr/>
              <p:nvPr/>
            </p:nvSpPr>
            <p:spPr>
              <a:xfrm>
                <a:off x="1625597" y="3237903"/>
                <a:ext cx="50615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Here, 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per hour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09A1237-74F6-27B7-BA4E-2DDAEE74D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237903"/>
                <a:ext cx="5061584" cy="523220"/>
              </a:xfrm>
              <a:prstGeom prst="rect">
                <a:avLst/>
              </a:prstGeom>
              <a:blipFill>
                <a:blip r:embed="rId3"/>
                <a:stretch>
                  <a:fillRect l="-253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170135C-DCDC-AAAC-0A06-856B9E52DEE1}"/>
                  </a:ext>
                </a:extLst>
              </p:cNvPr>
              <p:cNvSpPr/>
              <p:nvPr/>
            </p:nvSpPr>
            <p:spPr>
              <a:xfrm>
                <a:off x="1625597" y="3850581"/>
                <a:ext cx="68930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Probability of no log on in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minutes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170135C-DCDC-AAAC-0A06-856B9E52D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850581"/>
                <a:ext cx="6893078" cy="523220"/>
              </a:xfrm>
              <a:prstGeom prst="rect">
                <a:avLst/>
              </a:prstGeom>
              <a:blipFill>
                <a:blip r:embed="rId4"/>
                <a:stretch>
                  <a:fillRect l="-1858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90BAB22-89F7-A491-7DDD-AAA0154F12F3}"/>
                  </a:ext>
                </a:extLst>
              </p:cNvPr>
              <p:cNvSpPr/>
              <p:nvPr/>
            </p:nvSpPr>
            <p:spPr>
              <a:xfrm>
                <a:off x="2103579" y="4463259"/>
                <a:ext cx="68930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number of logins 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minutes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90BAB22-89F7-A491-7DDD-AAA0154F12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579" y="4463259"/>
                <a:ext cx="6893078" cy="523220"/>
              </a:xfrm>
              <a:prstGeom prst="rect">
                <a:avLst/>
              </a:prstGeom>
              <a:blipFill>
                <a:blip r:embed="rId5"/>
                <a:stretch>
                  <a:fillRect l="-1768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507A907-4BE6-A762-25B8-86296ACD5808}"/>
                  </a:ext>
                </a:extLst>
              </p:cNvPr>
              <p:cNvSpPr/>
              <p:nvPr/>
            </p:nvSpPr>
            <p:spPr>
              <a:xfrm>
                <a:off x="2217879" y="5075937"/>
                <a:ext cx="37257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0, 1, 2, 3, …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507A907-4BE6-A762-25B8-86296ACD5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879" y="5075937"/>
                <a:ext cx="37257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B83B713-9B99-D444-7119-59D968A48B8E}"/>
                  </a:ext>
                </a:extLst>
              </p:cNvPr>
              <p:cNvSpPr/>
              <p:nvPr/>
            </p:nvSpPr>
            <p:spPr>
              <a:xfrm>
                <a:off x="2106833" y="5559173"/>
                <a:ext cx="7978329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 Poisson distribution.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B83B713-9B99-D444-7119-59D968A48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833" y="5559173"/>
                <a:ext cx="7978329" cy="665631"/>
              </a:xfrm>
              <a:prstGeom prst="rect">
                <a:avLst/>
              </a:prstGeom>
              <a:blipFill>
                <a:blip r:embed="rId7"/>
                <a:stretch>
                  <a:fillRect l="-160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835B43-D35E-AD86-FBB9-96DA13FBA8CD}"/>
              </a:ext>
            </a:extLst>
          </p:cNvPr>
          <p:cNvCxnSpPr>
            <a:cxnSpLocks/>
          </p:cNvCxnSpPr>
          <p:nvPr/>
        </p:nvCxnSpPr>
        <p:spPr>
          <a:xfrm>
            <a:off x="477401" y="2015834"/>
            <a:ext cx="229639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7862CD-E260-CA2D-DD8C-926462887FE7}"/>
              </a:ext>
            </a:extLst>
          </p:cNvPr>
          <p:cNvCxnSpPr>
            <a:cxnSpLocks/>
          </p:cNvCxnSpPr>
          <p:nvPr/>
        </p:nvCxnSpPr>
        <p:spPr>
          <a:xfrm>
            <a:off x="5773301" y="2573480"/>
            <a:ext cx="447213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1F3D2FF-3D04-4E41-DDC1-C8A4C4802DA1}"/>
                  </a:ext>
                </a:extLst>
              </p:cNvPr>
              <p:cNvSpPr/>
              <p:nvPr/>
            </p:nvSpPr>
            <p:spPr>
              <a:xfrm>
                <a:off x="9767454" y="5004219"/>
                <a:ext cx="2293365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1F3D2FF-3D04-4E41-DDC1-C8A4C4802D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454" y="5004219"/>
                <a:ext cx="2293365" cy="71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7586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  <p:bldP spid="18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E9EE-D9F0-32F3-0EE5-14E9A399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 (Continue)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569067D-9F35-4ADE-204A-10619FA08023}"/>
                  </a:ext>
                </a:extLst>
              </p:cNvPr>
              <p:cNvSpPr/>
              <p:nvPr/>
            </p:nvSpPr>
            <p:spPr>
              <a:xfrm>
                <a:off x="9767455" y="899210"/>
                <a:ext cx="2293365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569067D-9F35-4ADE-204A-10619FA080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455" y="899210"/>
                <a:ext cx="2293365" cy="7111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9B2318C-D8FD-60D5-CCFB-93607C761C66}"/>
                  </a:ext>
                </a:extLst>
              </p:cNvPr>
              <p:cNvSpPr/>
              <p:nvPr/>
            </p:nvSpPr>
            <p:spPr>
              <a:xfrm>
                <a:off x="131180" y="836446"/>
                <a:ext cx="47109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Here, 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per </a:t>
                </a:r>
                <a:r>
                  <a:rPr lang="en-IN" sz="2800" b="1" dirty="0">
                    <a:solidFill>
                      <a:srgbClr val="002060"/>
                    </a:solidFill>
                  </a:rPr>
                  <a:t>hour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9B2318C-D8FD-60D5-CCFB-93607C761C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36446"/>
                <a:ext cx="4710984" cy="523220"/>
              </a:xfrm>
              <a:prstGeom prst="rect">
                <a:avLst/>
              </a:prstGeom>
              <a:blipFill>
                <a:blip r:embed="rId3"/>
                <a:stretch>
                  <a:fillRect l="-272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523169-E59E-6F3C-09EB-704BDF41B364}"/>
                  </a:ext>
                </a:extLst>
              </p:cNvPr>
              <p:cNvSpPr/>
              <p:nvPr/>
            </p:nvSpPr>
            <p:spPr>
              <a:xfrm>
                <a:off x="910498" y="1484911"/>
                <a:ext cx="47109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Interval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Minutes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9523169-E59E-6F3C-09EB-704BDF41B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498" y="1484911"/>
                <a:ext cx="4710984" cy="523220"/>
              </a:xfrm>
              <a:prstGeom prst="rect">
                <a:avLst/>
              </a:prstGeom>
              <a:blipFill>
                <a:blip r:embed="rId4"/>
                <a:stretch>
                  <a:fillRect l="-2587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044F87-3F9B-64AB-6B38-91C2D1CEF579}"/>
                  </a:ext>
                </a:extLst>
              </p:cNvPr>
              <p:cNvSpPr/>
              <p:nvPr/>
            </p:nvSpPr>
            <p:spPr>
              <a:xfrm>
                <a:off x="2676952" y="2206112"/>
                <a:ext cx="4710984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60 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=0.1 </m:t>
                      </m:r>
                      <m:r>
                        <m:rPr>
                          <m:nor/>
                        </m:rPr>
                        <a:rPr lang="en-IN" sz="2800" b="1" i="0" smtClean="0">
                          <a:solidFill>
                            <a:srgbClr val="002060"/>
                          </a:solidFill>
                        </a:rPr>
                        <m:t>hour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5044F87-3F9B-64AB-6B38-91C2D1CEF5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952" y="2206112"/>
                <a:ext cx="4710984" cy="898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FFB6A86-C382-21BD-3CDA-7799904AA988}"/>
                  </a:ext>
                </a:extLst>
              </p:cNvPr>
              <p:cNvSpPr/>
              <p:nvPr/>
            </p:nvSpPr>
            <p:spPr>
              <a:xfrm>
                <a:off x="131180" y="3303057"/>
                <a:ext cx="621766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 Poisson Parameter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FFB6A86-C382-21BD-3CDA-7799904AA9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3303057"/>
                <a:ext cx="6217665" cy="523220"/>
              </a:xfrm>
              <a:prstGeom prst="rect">
                <a:avLst/>
              </a:prstGeom>
              <a:blipFill>
                <a:blip r:embed="rId6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4C03786-97BF-1462-B354-0476FDAF5034}"/>
                  </a:ext>
                </a:extLst>
              </p:cNvPr>
              <p:cNvSpPr/>
              <p:nvPr/>
            </p:nvSpPr>
            <p:spPr>
              <a:xfrm>
                <a:off x="2843208" y="4076767"/>
                <a:ext cx="333938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=25×0.1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4C03786-97BF-1462-B354-0476FDAF5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208" y="4076767"/>
                <a:ext cx="333938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8BCDFA-2BE1-EABA-D527-C78D30FF1B63}"/>
                  </a:ext>
                </a:extLst>
              </p:cNvPr>
              <p:cNvSpPr/>
              <p:nvPr/>
            </p:nvSpPr>
            <p:spPr>
              <a:xfrm>
                <a:off x="2843208" y="4859593"/>
                <a:ext cx="211325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8BCDFA-2BE1-EABA-D527-C78D30FF1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208" y="4859593"/>
                <a:ext cx="211325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9AF6D17-B7EE-52EB-E287-D37AC283DAAB}"/>
              </a:ext>
            </a:extLst>
          </p:cNvPr>
          <p:cNvSpPr/>
          <p:nvPr/>
        </p:nvSpPr>
        <p:spPr>
          <a:xfrm>
            <a:off x="131179" y="5759944"/>
            <a:ext cx="40563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required probability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96FCA11-52EA-45F4-2A23-63260132FB93}"/>
                  </a:ext>
                </a:extLst>
              </p:cNvPr>
              <p:cNvSpPr/>
              <p:nvPr/>
            </p:nvSpPr>
            <p:spPr>
              <a:xfrm>
                <a:off x="3871907" y="5481805"/>
                <a:ext cx="4056357" cy="9755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96FCA11-52EA-45F4-2A23-63260132F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07" y="5481805"/>
                <a:ext cx="4056357" cy="9755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E6E8962-D5BD-F415-3488-6DFD13318AC4}"/>
                  </a:ext>
                </a:extLst>
              </p:cNvPr>
              <p:cNvSpPr/>
              <p:nvPr/>
            </p:nvSpPr>
            <p:spPr>
              <a:xfrm>
                <a:off x="10185991" y="1747130"/>
                <a:ext cx="1619648" cy="711199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E6E8962-D5BD-F415-3488-6DFD13318A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991" y="1747130"/>
                <a:ext cx="1619648" cy="7111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489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2" grpId="0"/>
      <p:bldP spid="14" grpId="0"/>
      <p:bldP spid="15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F79E7-5099-C9B4-F9CC-3E3ADCA88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579B-9087-053B-6FDE-DA49D973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 (Continue)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F0A69A-B545-0A38-F6C6-CD9B1EEDBE27}"/>
              </a:ext>
            </a:extLst>
          </p:cNvPr>
          <p:cNvSpPr/>
          <p:nvPr/>
        </p:nvSpPr>
        <p:spPr>
          <a:xfrm>
            <a:off x="131180" y="1049682"/>
            <a:ext cx="40563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required probability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86FDBB2-3DBE-C2D5-5B9A-8DB47D42396A}"/>
                  </a:ext>
                </a:extLst>
              </p:cNvPr>
              <p:cNvSpPr/>
              <p:nvPr/>
            </p:nvSpPr>
            <p:spPr>
              <a:xfrm>
                <a:off x="3871908" y="771543"/>
                <a:ext cx="4056357" cy="9755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86FDBB2-3DBE-C2D5-5B9A-8DB47D423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908" y="771543"/>
                <a:ext cx="4056357" cy="9755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10C9047-F0DB-A127-1562-3DA9D83B6814}"/>
                  </a:ext>
                </a:extLst>
              </p:cNvPr>
              <p:cNvSpPr/>
              <p:nvPr/>
            </p:nvSpPr>
            <p:spPr>
              <a:xfrm>
                <a:off x="9767455" y="899210"/>
                <a:ext cx="2293365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10C9047-F0DB-A127-1562-3DA9D83B6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455" y="899210"/>
                <a:ext cx="2293365" cy="7111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B6FF17D-C333-1140-AF09-696B280874EF}"/>
                  </a:ext>
                </a:extLst>
              </p:cNvPr>
              <p:cNvSpPr/>
              <p:nvPr/>
            </p:nvSpPr>
            <p:spPr>
              <a:xfrm>
                <a:off x="3466662" y="2008131"/>
                <a:ext cx="4866847" cy="13984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−2.5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2.5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0!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B6FF17D-C333-1140-AF09-696B280874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662" y="2008131"/>
                <a:ext cx="4866847" cy="1398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D47CE5-455C-D947-95AE-DEC3C15C0390}"/>
                  </a:ext>
                </a:extLst>
              </p:cNvPr>
              <p:cNvSpPr/>
              <p:nvPr/>
            </p:nvSpPr>
            <p:spPr>
              <a:xfrm>
                <a:off x="3466661" y="3841820"/>
                <a:ext cx="486684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0821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D47CE5-455C-D947-95AE-DEC3C15C03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661" y="3841820"/>
                <a:ext cx="486684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1588384-339D-B2AC-8742-B2BF7828E505}"/>
                  </a:ext>
                </a:extLst>
              </p:cNvPr>
              <p:cNvSpPr/>
              <p:nvPr/>
            </p:nvSpPr>
            <p:spPr>
              <a:xfrm>
                <a:off x="10185991" y="1747130"/>
                <a:ext cx="1619648" cy="711199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1588384-339D-B2AC-8742-B2BF7828E5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991" y="1747130"/>
                <a:ext cx="1619648" cy="71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89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4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CDB2E-3D10-390E-AA31-0DADB09E2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79B53-C323-9547-344B-58009909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 (Continue)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35F1A5F-46B9-F522-3F70-E4E5EB84F386}"/>
                  </a:ext>
                </a:extLst>
              </p:cNvPr>
              <p:cNvSpPr/>
              <p:nvPr/>
            </p:nvSpPr>
            <p:spPr>
              <a:xfrm>
                <a:off x="131180" y="731589"/>
                <a:ext cx="99272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Probability that time until next log on is between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minutes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35F1A5F-46B9-F522-3F70-E4E5EB84F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731589"/>
                <a:ext cx="9927220" cy="523220"/>
              </a:xfrm>
              <a:prstGeom prst="rect">
                <a:avLst/>
              </a:prstGeom>
              <a:blipFill>
                <a:blip r:embed="rId2"/>
                <a:stretch>
                  <a:fillRect l="-129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0D4669A-2508-6CDC-8276-16466EBB99F4}"/>
              </a:ext>
            </a:extLst>
          </p:cNvPr>
          <p:cNvSpPr/>
          <p:nvPr/>
        </p:nvSpPr>
        <p:spPr>
          <a:xfrm>
            <a:off x="629943" y="1244024"/>
            <a:ext cx="11410095" cy="1161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If events follow a Poisson process, then waiting time until the next event follows an </a:t>
            </a:r>
            <a:r>
              <a:rPr lang="en-US" sz="2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Exponential distribution</a:t>
            </a:r>
            <a:r>
              <a:rPr lang="en-US" sz="28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.</a:t>
            </a:r>
            <a:endParaRPr lang="en-IN" sz="28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73FD43C-1EB3-FA5D-E0AC-88A044C81020}"/>
                  </a:ext>
                </a:extLst>
              </p:cNvPr>
              <p:cNvSpPr/>
              <p:nvPr/>
            </p:nvSpPr>
            <p:spPr>
              <a:xfrm>
                <a:off x="629943" y="3167390"/>
                <a:ext cx="73502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follows an Exponential distribution.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73FD43C-1EB3-FA5D-E0AC-88A044C810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43" y="3167390"/>
                <a:ext cx="7350275" cy="523220"/>
              </a:xfrm>
              <a:prstGeom prst="rect">
                <a:avLst/>
              </a:prstGeom>
              <a:blipFill>
                <a:blip r:embed="rId3"/>
                <a:stretch>
                  <a:fillRect l="-1658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8C00FF5-9BB9-7B33-9C76-37A0D0A46DF5}"/>
                  </a:ext>
                </a:extLst>
              </p:cNvPr>
              <p:cNvSpPr/>
              <p:nvPr/>
            </p:nvSpPr>
            <p:spPr>
              <a:xfrm>
                <a:off x="629943" y="3877664"/>
                <a:ext cx="46694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800" dirty="0">
                    <a:solidFill>
                      <a:srgbClr val="002060"/>
                    </a:solidFill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per hour,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8C00FF5-9BB9-7B33-9C76-37A0D0A46D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43" y="3877664"/>
                <a:ext cx="4669422" cy="523220"/>
              </a:xfrm>
              <a:prstGeom prst="rect">
                <a:avLst/>
              </a:prstGeom>
              <a:blipFill>
                <a:blip r:embed="rId4"/>
                <a:stretch>
                  <a:fillRect l="-2611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77C8E6-317B-C927-A2C1-40049065178D}"/>
                  </a:ext>
                </a:extLst>
              </p:cNvPr>
              <p:cNvSpPr/>
              <p:nvPr/>
            </p:nvSpPr>
            <p:spPr>
              <a:xfrm>
                <a:off x="1341719" y="4629545"/>
                <a:ext cx="348485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per hour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77C8E6-317B-C927-A2C1-400490651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719" y="4629545"/>
                <a:ext cx="3484859" cy="523220"/>
              </a:xfrm>
              <a:prstGeom prst="rect">
                <a:avLst/>
              </a:prstGeom>
              <a:blipFill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518774D-9186-964B-49A3-3EF7A2FEEB67}"/>
                  </a:ext>
                </a:extLst>
              </p:cNvPr>
              <p:cNvSpPr/>
              <p:nvPr/>
            </p:nvSpPr>
            <p:spPr>
              <a:xfrm>
                <a:off x="1009210" y="5489285"/>
                <a:ext cx="3848541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60 </m:t>
                          </m:r>
                        </m:den>
                      </m:f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per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1" i="0" smtClean="0">
                          <a:solidFill>
                            <a:srgbClr val="002060"/>
                          </a:solidFill>
                        </a:rPr>
                        <m:t>minute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518774D-9186-964B-49A3-3EF7A2FEEB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210" y="5489285"/>
                <a:ext cx="3848541" cy="910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8B1AFBE-493B-E5F6-CBC8-C2D73A997F2B}"/>
                  </a:ext>
                </a:extLst>
              </p:cNvPr>
              <p:cNvSpPr/>
              <p:nvPr/>
            </p:nvSpPr>
            <p:spPr>
              <a:xfrm>
                <a:off x="9008919" y="3465822"/>
                <a:ext cx="3031120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8B1AFBE-493B-E5F6-CBC8-C2D73A997F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8919" y="3465822"/>
                <a:ext cx="3031120" cy="71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9EF454C-0258-B2A3-4890-5476C4026A56}"/>
                  </a:ext>
                </a:extLst>
              </p:cNvPr>
              <p:cNvSpPr/>
              <p:nvPr/>
            </p:nvSpPr>
            <p:spPr>
              <a:xfrm>
                <a:off x="9698464" y="4339974"/>
                <a:ext cx="1652029" cy="130023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𝛉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9EF454C-0258-B2A3-4890-5476C4026A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464" y="4339974"/>
                <a:ext cx="1652029" cy="13002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0405D6-46B0-9B79-F0DE-F597CDCAD007}"/>
                  </a:ext>
                </a:extLst>
              </p:cNvPr>
              <p:cNvSpPr txBox="1"/>
              <p:nvPr/>
            </p:nvSpPr>
            <p:spPr>
              <a:xfrm>
                <a:off x="254707" y="2460395"/>
                <a:ext cx="75488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B14440"/>
                    </a:solidFill>
                    <a:sym typeface="Wingdings 3" panose="05040102010807070707" pitchFamily="18" charset="2"/>
                  </a:rPr>
                  <a:t></a:t>
                </a:r>
                <a:r>
                  <a:rPr lang="en-US" sz="2800" dirty="0">
                    <a:solidFill>
                      <a:srgbClr val="002060"/>
                    </a:solidFill>
                    <a:sym typeface="Wingdings 3" panose="05040102010807070707" pitchFamily="18" charset="2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time (in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minutes</a:t>
                </a:r>
                <a:r>
                  <a:rPr lang="en-US" sz="2800" dirty="0">
                    <a:solidFill>
                      <a:srgbClr val="002060"/>
                    </a:solidFill>
                  </a:rPr>
                  <a:t>) until the next login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0405D6-46B0-9B79-F0DE-F597CDCAD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07" y="2460395"/>
                <a:ext cx="7548866" cy="523220"/>
              </a:xfrm>
              <a:prstGeom prst="rect">
                <a:avLst/>
              </a:prstGeom>
              <a:blipFill>
                <a:blip r:embed="rId9"/>
                <a:stretch>
                  <a:fillRect l="-1696" t="-14118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89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6" grpId="0" animBg="1"/>
      <p:bldP spid="17" grpId="0" animBg="1"/>
      <p:bldP spid="18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C4570-E37E-6A34-D08D-98688315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DEA1-6702-D2C3-5A64-BACBFA59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 (Continue)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42A256D-2068-5194-6F8A-CB9736CD150B}"/>
                  </a:ext>
                </a:extLst>
              </p:cNvPr>
              <p:cNvSpPr/>
              <p:nvPr/>
            </p:nvSpPr>
            <p:spPr>
              <a:xfrm>
                <a:off x="9020474" y="870586"/>
                <a:ext cx="3031120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42A256D-2068-5194-6F8A-CB9736CD15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474" y="870586"/>
                <a:ext cx="3031120" cy="7111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B6339B8-195F-2307-2152-868597528C8C}"/>
                  </a:ext>
                </a:extLst>
              </p:cNvPr>
              <p:cNvSpPr/>
              <p:nvPr/>
            </p:nvSpPr>
            <p:spPr>
              <a:xfrm>
                <a:off x="10392073" y="1718507"/>
                <a:ext cx="1659520" cy="100627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𝛉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B6339B8-195F-2307-2152-868597528C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073" y="1718507"/>
                <a:ext cx="1659520" cy="10062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23F744E-5B0F-74F7-44C6-5AF369EDB5C8}"/>
              </a:ext>
            </a:extLst>
          </p:cNvPr>
          <p:cNvSpPr txBox="1"/>
          <p:nvPr/>
        </p:nvSpPr>
        <p:spPr>
          <a:xfrm>
            <a:off x="140407" y="870586"/>
            <a:ext cx="7548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IN" sz="2800" dirty="0">
                <a:solidFill>
                  <a:srgbClr val="002060"/>
                </a:solidFill>
              </a:rPr>
              <a:t>The required probability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B3357EE-D079-A48F-8D3C-FC8DAFCA6E6A}"/>
                  </a:ext>
                </a:extLst>
              </p:cNvPr>
              <p:cNvSpPr/>
              <p:nvPr/>
            </p:nvSpPr>
            <p:spPr>
              <a:xfrm>
                <a:off x="546045" y="1594755"/>
                <a:ext cx="4845032" cy="542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aθ</m:t>
                          </m:r>
                        </m:sup>
                      </m:sSup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bθ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B3357EE-D079-A48F-8D3C-FC8DAFCA6E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45" y="1594755"/>
                <a:ext cx="4845032" cy="542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27AA34B-2845-0F8E-50AC-AFC86CA4FE35}"/>
                  </a:ext>
                </a:extLst>
              </p:cNvPr>
              <p:cNvSpPr/>
              <p:nvPr/>
            </p:nvSpPr>
            <p:spPr>
              <a:xfrm>
                <a:off x="140407" y="2455419"/>
                <a:ext cx="7371828" cy="746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60 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60 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27AA34B-2845-0F8E-50AC-AFC86CA4F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07" y="2455419"/>
                <a:ext cx="7371828" cy="7465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C2EB552-6996-BD6C-E286-0E88E09C282E}"/>
                  </a:ext>
                </a:extLst>
              </p:cNvPr>
              <p:cNvSpPr/>
              <p:nvPr/>
            </p:nvSpPr>
            <p:spPr>
              <a:xfrm>
                <a:off x="10392073" y="2861507"/>
                <a:ext cx="1659520" cy="56749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C2EB552-6996-BD6C-E286-0E88E09C28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073" y="2861507"/>
                <a:ext cx="1659520" cy="5674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0F26634-3685-440D-6B16-7DED1D45A23F}"/>
                  </a:ext>
                </a:extLst>
              </p:cNvPr>
              <p:cNvSpPr/>
              <p:nvPr/>
            </p:nvSpPr>
            <p:spPr>
              <a:xfrm>
                <a:off x="10392073" y="3565722"/>
                <a:ext cx="1659520" cy="567493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0F26634-3685-440D-6B16-7DED1D45A2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073" y="3565722"/>
                <a:ext cx="1659520" cy="5674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ED5D6E6-2887-6140-D163-4F5AE183E209}"/>
                  </a:ext>
                </a:extLst>
              </p:cNvPr>
              <p:cNvSpPr/>
              <p:nvPr/>
            </p:nvSpPr>
            <p:spPr>
              <a:xfrm>
                <a:off x="140407" y="3669632"/>
                <a:ext cx="73718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434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2865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ED5D6E6-2887-6140-D163-4F5AE183E2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07" y="3669632"/>
                <a:ext cx="737182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1C2A006-7DBA-7CB5-9047-3964D9313D0F}"/>
                  </a:ext>
                </a:extLst>
              </p:cNvPr>
              <p:cNvSpPr/>
              <p:nvPr/>
            </p:nvSpPr>
            <p:spPr>
              <a:xfrm>
                <a:off x="140407" y="4660514"/>
                <a:ext cx="73718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0.1481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1C2A006-7DBA-7CB5-9047-3964D9313D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07" y="4660514"/>
                <a:ext cx="737182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98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/>
      <p:bldP spid="6" grpId="0"/>
      <p:bldP spid="11" grpId="0" animBg="1"/>
      <p:bldP spid="12" grpId="0" animBg="1"/>
      <p:bldP spid="13" grpId="0"/>
      <p:bldP spid="14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280B-9C66-1ACD-83B4-C8ECFE0D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52F75-B43A-4282-D433-6AB1C07A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 (Continue) – Another Method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55EBB9-8B19-382E-18E4-2069D6C1E62C}"/>
                  </a:ext>
                </a:extLst>
              </p:cNvPr>
              <p:cNvSpPr/>
              <p:nvPr/>
            </p:nvSpPr>
            <p:spPr>
              <a:xfrm>
                <a:off x="130015" y="797389"/>
                <a:ext cx="68930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Probability of no log on in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minutes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55EBB9-8B19-382E-18E4-2069D6C1E6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15" y="797389"/>
                <a:ext cx="6893078" cy="523220"/>
              </a:xfrm>
              <a:prstGeom prst="rect">
                <a:avLst/>
              </a:prstGeom>
              <a:blipFill>
                <a:blip r:embed="rId2"/>
                <a:stretch>
                  <a:fillRect l="-176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B334FFD4-7151-CE65-F7EC-E82CA95B0F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260" y="1406797"/>
                <a:ext cx="11797583" cy="2465242"/>
              </a:xfrm>
            </p:spPr>
            <p:txBody>
              <a:bodyPr/>
              <a:lstStyle/>
              <a:p>
                <a:pPr lvl="0">
                  <a:lnSpc>
                    <a:spcPct val="130000"/>
                  </a:lnSpc>
                </a:pPr>
                <a:r>
                  <a:rPr lang="en-US" dirty="0"/>
                  <a:t>Exponential does not count events.</a:t>
                </a:r>
              </a:p>
              <a:p>
                <a:pPr lvl="0">
                  <a:lnSpc>
                    <a:spcPct val="130000"/>
                  </a:lnSpc>
                </a:pPr>
                <a:r>
                  <a:rPr lang="en-US" dirty="0"/>
                  <a:t>So, it cannot directly answer: </a:t>
                </a:r>
              </a:p>
              <a:p>
                <a:pPr marL="0" lvl="0" indent="0" algn="ctr">
                  <a:lnSpc>
                    <a:spcPct val="130000"/>
                  </a:lnSpc>
                  <a:buNone/>
                </a:pPr>
                <a:r>
                  <a:rPr lang="en-US" dirty="0"/>
                  <a:t>How many logins happened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minutes?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That is a count question, so the natural RV is Poisson.</a:t>
                </a:r>
                <a:endParaRPr lang="en-IN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B334FFD4-7151-CE65-F7EC-E82CA95B0F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260" y="1406797"/>
                <a:ext cx="11797583" cy="2465242"/>
              </a:xfrm>
              <a:blipFill>
                <a:blip r:embed="rId3"/>
                <a:stretch>
                  <a:fillRect l="-9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3EEAB9D4-EEA3-4FBE-EF7A-41E88A546B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6261" y="3784063"/>
                <a:ext cx="11797584" cy="24652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You can derive part (a) using exponential indirectly,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because: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In a Poisson process,</a:t>
                </a:r>
              </a:p>
              <a:p>
                <a:pPr marL="361950" lvl="1" indent="0" algn="ctr">
                  <a:lnSpc>
                    <a:spcPct val="130000"/>
                  </a:lnSpc>
                  <a:buNone/>
                </a:pPr>
                <a:r>
                  <a:rPr lang="en-US" dirty="0"/>
                  <a:t>No events in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⇔ waiting time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3EEAB9D4-EEA3-4FBE-EF7A-41E88A546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61" y="3784063"/>
                <a:ext cx="11797584" cy="2465242"/>
              </a:xfrm>
              <a:prstGeom prst="rect">
                <a:avLst/>
              </a:prstGeom>
              <a:blipFill>
                <a:blip r:embed="rId4"/>
                <a:stretch>
                  <a:fillRect l="-9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86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9BC4C-EFF2-6640-43CC-FA691212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A5F5-FAB0-563E-B1B0-0CD8A1C67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13 (Continue) – Another Method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122EF9-D39D-D0E6-5A6A-A7582368F9F2}"/>
                  </a:ext>
                </a:extLst>
              </p:cNvPr>
              <p:cNvSpPr/>
              <p:nvPr/>
            </p:nvSpPr>
            <p:spPr>
              <a:xfrm>
                <a:off x="130015" y="797389"/>
                <a:ext cx="68930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(a) Probability of no log on in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minutes</a:t>
                </a:r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122EF9-D39D-D0E6-5A6A-A7582368F9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15" y="797389"/>
                <a:ext cx="6893078" cy="523220"/>
              </a:xfrm>
              <a:prstGeom prst="rect">
                <a:avLst/>
              </a:prstGeom>
              <a:blipFill>
                <a:blip r:embed="rId2"/>
                <a:stretch>
                  <a:fillRect l="-176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9187B26-E922-421E-3ACB-FF50A041AA2E}"/>
                  </a:ext>
                </a:extLst>
              </p:cNvPr>
              <p:cNvSpPr/>
              <p:nvPr/>
            </p:nvSpPr>
            <p:spPr>
              <a:xfrm>
                <a:off x="577989" y="2178242"/>
                <a:ext cx="73502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follows an Exponential distribution.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9187B26-E922-421E-3ACB-FF50A041A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89" y="2178242"/>
                <a:ext cx="7350275" cy="523220"/>
              </a:xfrm>
              <a:prstGeom prst="rect">
                <a:avLst/>
              </a:prstGeom>
              <a:blipFill>
                <a:blip r:embed="rId3"/>
                <a:stretch>
                  <a:fillRect l="-1741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F2CB33-E171-6786-A84D-26CCEDBB2EC3}"/>
                  </a:ext>
                </a:extLst>
              </p:cNvPr>
              <p:cNvSpPr txBox="1"/>
              <p:nvPr/>
            </p:nvSpPr>
            <p:spPr>
              <a:xfrm>
                <a:off x="202753" y="1514822"/>
                <a:ext cx="75488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B14440"/>
                    </a:solidFill>
                    <a:sym typeface="Wingdings 3" panose="05040102010807070707" pitchFamily="18" charset="2"/>
                  </a:rPr>
                  <a:t></a:t>
                </a:r>
                <a:r>
                  <a:rPr lang="en-US" sz="2800" dirty="0">
                    <a:solidFill>
                      <a:srgbClr val="002060"/>
                    </a:solidFill>
                    <a:sym typeface="Wingdings 3" panose="05040102010807070707" pitchFamily="18" charset="2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time (in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minutes</a:t>
                </a:r>
                <a:r>
                  <a:rPr lang="en-US" sz="2800" dirty="0">
                    <a:solidFill>
                      <a:srgbClr val="002060"/>
                    </a:solidFill>
                  </a:rPr>
                  <a:t>) until the next login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F2CB33-E171-6786-A84D-26CCEDBB2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53" y="1514822"/>
                <a:ext cx="7548866" cy="523220"/>
              </a:xfrm>
              <a:prstGeom prst="rect">
                <a:avLst/>
              </a:prstGeom>
              <a:blipFill>
                <a:blip r:embed="rId4"/>
                <a:stretch>
                  <a:fillRect l="-1614" t="-1279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6A0E360-2F3A-0962-B921-D4EC4B18254C}"/>
                  </a:ext>
                </a:extLst>
              </p:cNvPr>
              <p:cNvSpPr/>
              <p:nvPr/>
            </p:nvSpPr>
            <p:spPr>
              <a:xfrm>
                <a:off x="577989" y="2841663"/>
                <a:ext cx="73502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no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login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in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minutes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&gt;6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6A0E360-2F3A-0962-B921-D4EC4B1825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89" y="2841663"/>
                <a:ext cx="735027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9CFAC3C-D171-303E-8C86-07254FFDB446}"/>
                  </a:ext>
                </a:extLst>
              </p:cNvPr>
              <p:cNvSpPr/>
              <p:nvPr/>
            </p:nvSpPr>
            <p:spPr>
              <a:xfrm>
                <a:off x="2500307" y="3548658"/>
                <a:ext cx="7350275" cy="746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60 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9CFAC3C-D171-303E-8C86-07254FFDB4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307" y="3548658"/>
                <a:ext cx="7350275" cy="7465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46DF256-6777-9F82-3E29-C50282D434D9}"/>
                  </a:ext>
                </a:extLst>
              </p:cNvPr>
              <p:cNvSpPr/>
              <p:nvPr/>
            </p:nvSpPr>
            <p:spPr>
              <a:xfrm>
                <a:off x="10329727" y="975598"/>
                <a:ext cx="1659520" cy="100627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𝛉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46DF256-6777-9F82-3E29-C50282D43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727" y="975598"/>
                <a:ext cx="1659520" cy="10062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3E1978-4721-92AE-C133-C0458B973984}"/>
                  </a:ext>
                </a:extLst>
              </p:cNvPr>
              <p:cNvSpPr/>
              <p:nvPr/>
            </p:nvSpPr>
            <p:spPr>
              <a:xfrm>
                <a:off x="2500307" y="4590650"/>
                <a:ext cx="73502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2.5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3E1978-4721-92AE-C133-C0458B9739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307" y="4590650"/>
                <a:ext cx="735027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02C5A1-14E3-43CE-47FA-01B91E480593}"/>
                  </a:ext>
                </a:extLst>
              </p:cNvPr>
              <p:cNvSpPr/>
              <p:nvPr/>
            </p:nvSpPr>
            <p:spPr>
              <a:xfrm>
                <a:off x="2510699" y="5409311"/>
                <a:ext cx="735027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0821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02C5A1-14E3-43CE-47FA-01B91E4805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699" y="5409311"/>
                <a:ext cx="735027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A1F77FB-0D90-6B6A-60CE-15CD95648139}"/>
                  </a:ext>
                </a:extLst>
              </p:cNvPr>
              <p:cNvSpPr/>
              <p:nvPr/>
            </p:nvSpPr>
            <p:spPr>
              <a:xfrm>
                <a:off x="4731220" y="5977155"/>
                <a:ext cx="60823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800" i="1" dirty="0">
                    <a:solidFill>
                      <a:srgbClr val="7030A0"/>
                    </a:solidFill>
                  </a:rPr>
                  <a:t>which is same as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IN" sz="2800" i="1" dirty="0">
                    <a:solidFill>
                      <a:srgbClr val="7030A0"/>
                    </a:solidFill>
                  </a:rPr>
                  <a:t> for Poisson.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A1F77FB-0D90-6B6A-60CE-15CD956481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220" y="5977155"/>
                <a:ext cx="6082362" cy="523220"/>
              </a:xfrm>
              <a:prstGeom prst="rect">
                <a:avLst/>
              </a:prstGeom>
              <a:blipFill>
                <a:blip r:embed="rId10"/>
                <a:stretch>
                  <a:fillRect l="-2004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915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3" grpId="0"/>
      <p:bldP spid="14" grpId="0"/>
      <p:bldP spid="15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CBEA6-8988-46CF-49E6-EDED6E17B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BEA1C57-ACA0-956A-4927-1F8B2180AA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89428"/>
                <a:ext cx="11929643" cy="2376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income tax of a man is exponentially distributed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 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3 </m:t>
                        </m:r>
                      </m:den>
                    </m:f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3 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What is the probability that his income will exceed Rs.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17000</m:t>
                    </m:r>
                  </m:oMath>
                </a14:m>
                <a:r>
                  <a:rPr lang="en-US" dirty="0"/>
                  <a:t>? Assume that the income tax is levied at the rate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 on the income above Rs.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15000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BEA1C57-ACA0-956A-4927-1F8B2180A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9428"/>
                <a:ext cx="11929643" cy="2376000"/>
              </a:xfrm>
              <a:prstGeom prst="rect">
                <a:avLst/>
              </a:prstGeom>
              <a:blipFill>
                <a:blip r:embed="rId2"/>
                <a:stretch>
                  <a:fillRect l="-1074" r="-1074" b="-7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4AAE942-5767-2013-95D7-A84C72C33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60806C-6F86-593F-490E-CFB46A263F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3243655"/>
                <a:ext cx="11807978" cy="299864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b="1" u="sng" dirty="0">
                    <a:solidFill>
                      <a:srgbClr val="002060"/>
                    </a:solidFill>
                  </a:rPr>
                  <a:t>Meaning of the Question</a:t>
                </a: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The income tax amount of a man is a random quantity</a:t>
                </a: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It follows an Exponential distribution</a:t>
                </a: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Its probability density function is</a:t>
                </a:r>
              </a:p>
              <a:p>
                <a:pPr marL="457200" lvl="1" indent="0" algn="l">
                  <a:lnSpc>
                    <a:spcPct val="125000"/>
                  </a:lnSpc>
                  <a:buNone/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1 </m:t>
                          </m:r>
                        </m:num>
                        <m:den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3 </m:t>
                          </m:r>
                        </m:den>
                      </m:f>
                      <m:sSup>
                        <m:sSup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IN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3 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60806C-6F86-593F-490E-CFB46A263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3243655"/>
                <a:ext cx="11807978" cy="2998641"/>
              </a:xfrm>
              <a:prstGeom prst="rect">
                <a:avLst/>
              </a:prstGeom>
              <a:blipFill>
                <a:blip r:embed="rId3"/>
                <a:stretch>
                  <a:fillRect l="-7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9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5601F-8D51-E552-83BD-FDB993DD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7D95997-4A18-631F-56A4-3969993278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89427"/>
                <a:ext cx="11929643" cy="234255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income tax of a man is exponentially distributed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 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3 </m:t>
                        </m:r>
                      </m:den>
                    </m:f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3 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What is the probability that his income will exceed Rs.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17000</m:t>
                    </m:r>
                  </m:oMath>
                </a14:m>
                <a:r>
                  <a:rPr lang="en-US" dirty="0"/>
                  <a:t>? Assume that the income tax is levied at the rate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 on the income above Rs.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15000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7D95997-4A18-631F-56A4-396999327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9427"/>
                <a:ext cx="11929643" cy="2342557"/>
              </a:xfrm>
              <a:prstGeom prst="rect">
                <a:avLst/>
              </a:prstGeom>
              <a:blipFill>
                <a:blip r:embed="rId2"/>
                <a:stretch>
                  <a:fillRect l="-1074" r="-1074" b="-12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00947CC-1C2F-7E82-9A60-AE140045B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4837A3-63B5-2C4F-9E17-A37A68CA32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3200401"/>
                <a:ext cx="11807978" cy="3207545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b="1" u="sng" dirty="0">
                    <a:solidFill>
                      <a:srgbClr val="002060"/>
                    </a:solidFill>
                  </a:rPr>
                  <a:t>Meaning of the Question</a:t>
                </a:r>
              </a:p>
              <a:p>
                <a:pPr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dirty="0">
                    <a:solidFill>
                      <a:srgbClr val="002060"/>
                    </a:solidFill>
                  </a:rPr>
                  <a:t>This means:</a:t>
                </a: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The random variable is income tax, not income</a:t>
                </a: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We are asked about income exceeding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₹17,000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Tax rule: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tax is charged only on income above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₹15,000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2" algn="l">
                  <a:lnSpc>
                    <a:spcPct val="125000"/>
                  </a:lnSpc>
                  <a:tabLst>
                    <a:tab pos="447675" algn="l"/>
                  </a:tabLst>
                </a:pPr>
                <a:r>
                  <a:rPr lang="en-US" sz="2400" dirty="0">
                    <a:solidFill>
                      <a:srgbClr val="002060"/>
                    </a:solidFill>
                  </a:rPr>
                  <a:t>So, first we must convert income into tax, then find the probability.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4837A3-63B5-2C4F-9E17-A37A68CA3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3200401"/>
                <a:ext cx="11807978" cy="3207545"/>
              </a:xfrm>
              <a:prstGeom prst="rect">
                <a:avLst/>
              </a:prstGeom>
              <a:blipFill>
                <a:blip r:embed="rId3"/>
                <a:stretch>
                  <a:fillRect l="-723" b="-36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62541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F2492-7F08-0C38-3FA7-5336108B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CD49555E-6BB4-7A9B-677B-FC118F7C18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789427"/>
                <a:ext cx="11929643" cy="234255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income tax of a man is exponentially distributed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 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3 </m:t>
                        </m:r>
                      </m:den>
                    </m:f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num>
                              <m:den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3 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What is the probability that his income will exceed Rs.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17000</m:t>
                    </m:r>
                  </m:oMath>
                </a14:m>
                <a:r>
                  <a:rPr lang="en-US" dirty="0"/>
                  <a:t>? Assume that the income tax is levied at the rate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 on the income above Rs.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15000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CD49555E-6BB4-7A9B-677B-FC118F7C1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9427"/>
                <a:ext cx="11929643" cy="2342557"/>
              </a:xfrm>
              <a:prstGeom prst="rect">
                <a:avLst/>
              </a:prstGeom>
              <a:blipFill>
                <a:blip r:embed="rId2"/>
                <a:stretch>
                  <a:fillRect l="-1074" r="-1074" b="-12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CE472D0-7FDF-F53E-F19C-DD9A1EFAC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18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346044-1958-CCD6-B585-5796C602E7BF}"/>
              </a:ext>
            </a:extLst>
          </p:cNvPr>
          <p:cNvSpPr/>
          <p:nvPr/>
        </p:nvSpPr>
        <p:spPr>
          <a:xfrm>
            <a:off x="131177" y="3213873"/>
            <a:ext cx="1478559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6493F1A-9220-DB79-A1CB-081FEBBFBB9F}"/>
                  </a:ext>
                </a:extLst>
              </p:cNvPr>
              <p:cNvSpPr/>
              <p:nvPr/>
            </p:nvSpPr>
            <p:spPr>
              <a:xfrm>
                <a:off x="1609736" y="3213873"/>
                <a:ext cx="68276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income tax (in thousands of rupees)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6493F1A-9220-DB79-A1CB-081FEBBFBB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36" y="3213873"/>
                <a:ext cx="6827682" cy="523220"/>
              </a:xfrm>
              <a:prstGeom prst="rect">
                <a:avLst/>
              </a:prstGeom>
              <a:blipFill>
                <a:blip r:embed="rId3"/>
                <a:stretch>
                  <a:fillRect l="-1786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30847E1-D888-7396-1CF2-417CE63F3BE0}"/>
                  </a:ext>
                </a:extLst>
              </p:cNvPr>
              <p:cNvSpPr/>
              <p:nvPr/>
            </p:nvSpPr>
            <p:spPr>
              <a:xfrm>
                <a:off x="1609736" y="3725463"/>
                <a:ext cx="10451084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an Exponential distribution.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30847E1-D888-7396-1CF2-417CE63F3B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36" y="3725463"/>
                <a:ext cx="10451084" cy="665631"/>
              </a:xfrm>
              <a:prstGeom prst="rect">
                <a:avLst/>
              </a:prstGeom>
              <a:blipFill>
                <a:blip r:embed="rId4"/>
                <a:stretch>
                  <a:fillRect l="-1167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A15B20-5C62-A2EC-17D3-A888300909D0}"/>
                  </a:ext>
                </a:extLst>
              </p:cNvPr>
              <p:cNvSpPr/>
              <p:nvPr/>
            </p:nvSpPr>
            <p:spPr>
              <a:xfrm>
                <a:off x="1609736" y="4472983"/>
                <a:ext cx="6380873" cy="21739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Comapring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given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PDF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</a:rPr>
                        <m:t>with</m:t>
                      </m:r>
                    </m:oMath>
                  </m:oMathPara>
                </a14:m>
                <a:endParaRPr lang="en-IN" sz="2800" b="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θx</m:t>
                                  </m:r>
                                </m:sup>
                              </m:s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    &amp;;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           &amp;;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A15B20-5C62-A2EC-17D3-A888300909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36" y="4472983"/>
                <a:ext cx="6380873" cy="21739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A1D1BF6-5A0C-4B26-C810-01EED3B04905}"/>
                  </a:ext>
                </a:extLst>
              </p:cNvPr>
              <p:cNvSpPr/>
              <p:nvPr/>
            </p:nvSpPr>
            <p:spPr>
              <a:xfrm>
                <a:off x="7008080" y="5296123"/>
                <a:ext cx="5183920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1200"/>
                  </a:spcBef>
                  <a:spcAft>
                    <a:spcPts val="0"/>
                  </a:spcAft>
                  <a:tabLst>
                    <a:tab pos="4476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θ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</m:ctrlPr>
                        </m:fPr>
                        <m:num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1</m:t>
                          </m:r>
                        </m:num>
                        <m:den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 3 </m:t>
                          </m:r>
                        </m:den>
                      </m:f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per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thousand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rupees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A1D1BF6-5A0C-4B26-C810-01EED3B049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080" y="5296123"/>
                <a:ext cx="5183920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13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3 ⇝ Example 18 (Continue)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CEB04-C908-6D79-8A4B-E26C8A6BB05C}"/>
              </a:ext>
            </a:extLst>
          </p:cNvPr>
          <p:cNvSpPr txBox="1"/>
          <p:nvPr/>
        </p:nvSpPr>
        <p:spPr>
          <a:xfrm>
            <a:off x="98844" y="78745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b="1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b="1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Given that, if income is above </a:t>
            </a:r>
            <a:r>
              <a:rPr lang="en-US" sz="2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15000</a:t>
            </a:r>
            <a:r>
              <a:rPr lang="en-US" sz="28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then income tax is levied at the rate of </a:t>
            </a:r>
            <a:r>
              <a:rPr lang="en-US" sz="2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15%.</a:t>
            </a:r>
            <a:endParaRPr lang="en-IN" sz="2800" b="1" dirty="0">
              <a:solidFill>
                <a:schemeClr val="tx1">
                  <a:lumMod val="90000"/>
                  <a:lumOff val="1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92D2A8-490B-F69A-45D1-823FB1162EA3}"/>
                  </a:ext>
                </a:extLst>
              </p:cNvPr>
              <p:cNvSpPr txBox="1"/>
              <p:nvPr/>
            </p:nvSpPr>
            <p:spPr>
              <a:xfrm>
                <a:off x="514480" y="1386936"/>
                <a:ext cx="74241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i.e., Only income above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₹</m:t>
                    </m:r>
                    <m:r>
                      <a:rPr lang="en-US" sz="2800" b="1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sz="2800" b="1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1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</m:oMath>
                </a14:m>
                <a:r>
                  <a:rPr lang="en-US" sz="28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is taxed.</a:t>
                </a:r>
                <a:endParaRPr lang="en-IN" sz="2800" b="1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92D2A8-490B-F69A-45D1-823FB1162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80" y="1386936"/>
                <a:ext cx="7424175" cy="523220"/>
              </a:xfrm>
              <a:prstGeom prst="rect">
                <a:avLst/>
              </a:prstGeom>
              <a:blipFill>
                <a:blip r:embed="rId2"/>
                <a:stretch>
                  <a:fillRect l="-1642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BCB618-58C2-EA85-6DC0-885E198D1EAA}"/>
                  </a:ext>
                </a:extLst>
              </p:cNvPr>
              <p:cNvSpPr txBox="1"/>
              <p:nvPr/>
            </p:nvSpPr>
            <p:spPr>
              <a:xfrm>
                <a:off x="514479" y="1986414"/>
                <a:ext cx="74241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So, taxable income: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17000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15000=2000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BCB618-58C2-EA85-6DC0-885E198D1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79" y="1986414"/>
                <a:ext cx="7424175" cy="523220"/>
              </a:xfrm>
              <a:prstGeom prst="rect">
                <a:avLst/>
              </a:prstGeom>
              <a:blipFill>
                <a:blip r:embed="rId3"/>
                <a:stretch>
                  <a:fillRect l="-1642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A19EF4-ECF1-5F57-6674-2DD5C9B4BC76}"/>
                  </a:ext>
                </a:extLst>
              </p:cNvPr>
              <p:cNvSpPr txBox="1"/>
              <p:nvPr/>
            </p:nvSpPr>
            <p:spPr>
              <a:xfrm>
                <a:off x="514479" y="2662150"/>
                <a:ext cx="74241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Tax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=15%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×2000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A19EF4-ECF1-5F57-6674-2DD5C9B4B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79" y="2662150"/>
                <a:ext cx="7424175" cy="523220"/>
              </a:xfrm>
              <a:prstGeom prst="rect">
                <a:avLst/>
              </a:prstGeom>
              <a:blipFill>
                <a:blip r:embed="rId4"/>
                <a:stretch>
                  <a:fillRect l="-1642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64DA63-BC08-FFBF-B5DA-EFD5529C971F}"/>
                  </a:ext>
                </a:extLst>
              </p:cNvPr>
              <p:cNvSpPr txBox="1"/>
              <p:nvPr/>
            </p:nvSpPr>
            <p:spPr>
              <a:xfrm>
                <a:off x="233925" y="3337886"/>
                <a:ext cx="74241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Tax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=300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64DA63-BC08-FFBF-B5DA-EFD5529C9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5" y="3337886"/>
                <a:ext cx="7424175" cy="523220"/>
              </a:xfrm>
              <a:prstGeom prst="rect">
                <a:avLst/>
              </a:prstGeom>
              <a:blipFill>
                <a:blip r:embed="rId5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F027D1-485C-4981-940B-7EBE49CC9E80}"/>
                  </a:ext>
                </a:extLst>
              </p:cNvPr>
              <p:cNvSpPr txBox="1"/>
              <p:nvPr/>
            </p:nvSpPr>
            <p:spPr>
              <a:xfrm>
                <a:off x="233925" y="4013622"/>
                <a:ext cx="74241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Tax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thousand rupees</a:t>
                </a:r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F027D1-485C-4981-940B-7EBE49CC9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5" y="4013622"/>
                <a:ext cx="7424175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5C9046-FE09-EBBE-8F4E-FC78E5D37B22}"/>
                  </a:ext>
                </a:extLst>
              </p:cNvPr>
              <p:cNvSpPr txBox="1"/>
              <p:nvPr/>
            </p:nvSpPr>
            <p:spPr>
              <a:xfrm>
                <a:off x="4459561" y="4044399"/>
                <a:ext cx="900705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400" b="1" i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lt"/>
                  </a:rPr>
                  <a:t>[ If income exceeds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₹</m:t>
                    </m:r>
                    <m:r>
                      <a:rPr lang="en-US" sz="2400" b="1" i="1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𝟏𝟕</m:t>
                    </m:r>
                    <m:r>
                      <a:rPr lang="en-US" sz="2400" b="1" i="1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  <m:r>
                      <a:rPr lang="en-US" sz="2400" b="1" i="1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b="1" i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lt"/>
                  </a:rPr>
                  <a:t>then tax must exceed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 ₹</m:t>
                    </m:r>
                    <m:r>
                      <a:rPr lang="en-US" sz="2400" b="1" i="1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𝟑𝟎𝟎</m:t>
                    </m:r>
                  </m:oMath>
                </a14:m>
                <a:r>
                  <a:rPr lang="en-IN" sz="24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5C9046-FE09-EBBE-8F4E-FC78E5D37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561" y="4044399"/>
                <a:ext cx="9007057" cy="461665"/>
              </a:xfrm>
              <a:prstGeom prst="rect">
                <a:avLst/>
              </a:prstGeom>
              <a:blipFill>
                <a:blip r:embed="rId7"/>
                <a:stretch>
                  <a:fillRect l="-1083" t="-11842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E64BD4-41C2-9DAA-F808-C1A12A80346B}"/>
                  </a:ext>
                </a:extLst>
              </p:cNvPr>
              <p:cNvSpPr txBox="1"/>
              <p:nvPr/>
            </p:nvSpPr>
            <p:spPr>
              <a:xfrm>
                <a:off x="98844" y="4673968"/>
                <a:ext cx="115701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IN" sz="28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ea typeface="Cambria Math" panose="02040503050406030204" pitchFamily="18" charset="0"/>
                  </a:rPr>
                  <a:t>Question :</a:t>
                </a:r>
                <a:r>
                  <a:rPr lang="en-IN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ea typeface="Cambria Math" panose="02040503050406030204" pitchFamily="18" charset="0"/>
                  </a:rPr>
                  <a:t>What is the probability that his income will exceed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₹</m:t>
                    </m:r>
                    <m:r>
                      <a:rPr lang="en-IN" sz="2800" b="1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𝟏𝟕𝟎𝟎𝟎</m:t>
                    </m:r>
                    <m:r>
                      <a:rPr lang="en-IN" sz="2800" b="1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?</m:t>
                    </m:r>
                  </m:oMath>
                </a14:m>
                <a:endParaRPr lang="en-IN" sz="28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E64BD4-41C2-9DAA-F808-C1A12A803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44" y="4673968"/>
                <a:ext cx="11570148" cy="523220"/>
              </a:xfrm>
              <a:prstGeom prst="rect">
                <a:avLst/>
              </a:prstGeom>
              <a:blipFill>
                <a:blip r:embed="rId8"/>
                <a:stretch>
                  <a:fillRect l="-1054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8554DD-0220-736E-39BC-3E3E1AE67A74}"/>
                  </a:ext>
                </a:extLst>
              </p:cNvPr>
              <p:cNvSpPr txBox="1"/>
              <p:nvPr/>
            </p:nvSpPr>
            <p:spPr>
              <a:xfrm>
                <a:off x="557904" y="5334314"/>
                <a:ext cx="116948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ea typeface="Cambria Math" panose="02040503050406030204" pitchFamily="18" charset="0"/>
                  </a:rPr>
                  <a:t>i.e., What is the probability that income tax</a:t>
                </a: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&gt;₹300</m:t>
                    </m:r>
                    <m:r>
                      <a:rPr lang="en-IN" sz="2800" b="0" i="1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800" i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+mj-lt"/>
                    <a:ea typeface="Cambria Math" panose="02040503050406030204" pitchFamily="18" charset="0"/>
                  </a:rPr>
                  <a:t>thousand rupees</a:t>
                </a: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?</a:t>
                </a:r>
                <a:endParaRPr lang="en-IN" sz="28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8554DD-0220-736E-39BC-3E3E1AE67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04" y="5334314"/>
                <a:ext cx="11694838" cy="523220"/>
              </a:xfrm>
              <a:prstGeom prst="rect">
                <a:avLst/>
              </a:prstGeom>
              <a:blipFill>
                <a:blip r:embed="rId9"/>
                <a:stretch>
                  <a:fillRect l="-1095" t="-1279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C97614-7C8E-9BF9-165E-19DA87AB90D0}"/>
                  </a:ext>
                </a:extLst>
              </p:cNvPr>
              <p:cNvSpPr txBox="1"/>
              <p:nvPr/>
            </p:nvSpPr>
            <p:spPr>
              <a:xfrm>
                <a:off x="557904" y="5964570"/>
                <a:ext cx="390165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ea typeface="Cambria Math" panose="02040503050406030204" pitchFamily="18" charset="0"/>
                  </a:rPr>
                  <a:t>i.e.,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sz="2800" b="1" i="1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𝐗</m:t>
                        </m:r>
                        <m:r>
                          <a:rPr lang="en-IN" sz="2800" b="1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IN" sz="2800" b="1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IN" sz="2800" b="1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IN" sz="2800" b="1" i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sz="28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?</a:t>
                </a:r>
                <a:endParaRPr lang="en-IN" sz="2800" b="1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C97614-7C8E-9BF9-165E-19DA87AB9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04" y="5964570"/>
                <a:ext cx="3901657" cy="523220"/>
              </a:xfrm>
              <a:prstGeom prst="rect">
                <a:avLst/>
              </a:prstGeom>
              <a:blipFill>
                <a:blip r:embed="rId10"/>
                <a:stretch>
                  <a:fillRect l="-3281" t="-1279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10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55C6-C74C-5EF5-6594-6175F773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479D-AB33-F778-A051-A6B09542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3 ⇝ Example 18 (Continue)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77B4FA-08D6-A345-248B-377D8C330CAA}"/>
              </a:ext>
            </a:extLst>
          </p:cNvPr>
          <p:cNvSpPr txBox="1"/>
          <p:nvPr/>
        </p:nvSpPr>
        <p:spPr>
          <a:xfrm>
            <a:off x="98844" y="787458"/>
            <a:ext cx="55849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895350" algn="l"/>
              </a:tabLst>
            </a:pPr>
            <a:r>
              <a:rPr lang="en-US" sz="2800" b="1" dirty="0">
                <a:solidFill>
                  <a:srgbClr val="B14440"/>
                </a:solidFill>
                <a:sym typeface="Wingdings 3" panose="05040102010807070707" pitchFamily="18" charset="2"/>
              </a:rPr>
              <a:t></a:t>
            </a:r>
            <a:r>
              <a:rPr lang="en-US" sz="2800" b="1" dirty="0">
                <a:solidFill>
                  <a:srgbClr val="002060"/>
                </a:solidFill>
                <a:sym typeface="Wingdings 3" panose="05040102010807070707" pitchFamily="18" charset="2"/>
              </a:rPr>
              <a:t> </a:t>
            </a:r>
            <a:r>
              <a:rPr lang="en-US" sz="2800" dirty="0">
                <a:solidFill>
                  <a:srgbClr val="002060"/>
                </a:solidFill>
              </a:rPr>
              <a:t>The required probability is</a:t>
            </a:r>
            <a:endParaRPr lang="en-IN" sz="28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412F20E-598E-29BE-FC59-AB023B88457D}"/>
                  </a:ext>
                </a:extLst>
              </p:cNvPr>
              <p:cNvSpPr/>
              <p:nvPr/>
            </p:nvSpPr>
            <p:spPr>
              <a:xfrm>
                <a:off x="10577945" y="975598"/>
                <a:ext cx="1411302" cy="1006278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𝛉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412F20E-598E-29BE-FC59-AB023B8845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7945" y="975598"/>
                <a:ext cx="1411302" cy="10062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7110C12-49C9-2F9D-8677-4B448F0E933D}"/>
                  </a:ext>
                </a:extLst>
              </p:cNvPr>
              <p:cNvSpPr/>
              <p:nvPr/>
            </p:nvSpPr>
            <p:spPr>
              <a:xfrm>
                <a:off x="9299863" y="2159059"/>
                <a:ext cx="2689383" cy="711199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7110C12-49C9-2F9D-8677-4B448F0E93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863" y="2159059"/>
                <a:ext cx="2689383" cy="7111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E6C09A-F232-1B47-8812-BE417E523DE0}"/>
                  </a:ext>
                </a:extLst>
              </p:cNvPr>
              <p:cNvSpPr txBox="1"/>
              <p:nvPr/>
            </p:nvSpPr>
            <p:spPr>
              <a:xfrm>
                <a:off x="862574" y="1488304"/>
                <a:ext cx="3901657" cy="539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θx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E6C09A-F232-1B47-8812-BE417E523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74" y="1488304"/>
                <a:ext cx="3901657" cy="5393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9D5011-3380-44D8-4D75-E7E68C2C8069}"/>
                  </a:ext>
                </a:extLst>
              </p:cNvPr>
              <p:cNvSpPr txBox="1"/>
              <p:nvPr/>
            </p:nvSpPr>
            <p:spPr>
              <a:xfrm>
                <a:off x="150799" y="2159059"/>
                <a:ext cx="4722537" cy="726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&gt;0.3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3 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0.3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9D5011-3380-44D8-4D75-E7E68C2C8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9" y="2159059"/>
                <a:ext cx="4722537" cy="7262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EC008A-B39E-8F9C-60A0-09C190199B4A}"/>
                  </a:ext>
                </a:extLst>
              </p:cNvPr>
              <p:cNvSpPr txBox="1"/>
              <p:nvPr/>
            </p:nvSpPr>
            <p:spPr>
              <a:xfrm>
                <a:off x="150799" y="3210509"/>
                <a:ext cx="47225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&gt;0.3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−0.1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EC008A-B39E-8F9C-60A0-09C190199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9" y="3210509"/>
                <a:ext cx="472253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AD02D1-6D59-FC99-9C87-1AB19304AE22}"/>
                  </a:ext>
                </a:extLst>
              </p:cNvPr>
              <p:cNvSpPr txBox="1"/>
              <p:nvPr/>
            </p:nvSpPr>
            <p:spPr>
              <a:xfrm>
                <a:off x="135212" y="3999937"/>
                <a:ext cx="47225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&gt;0.3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.9048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AD02D1-6D59-FC99-9C87-1AB19304A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12" y="3999937"/>
                <a:ext cx="472253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381DC6E-EA30-A073-3924-E570E81DF359}"/>
                  </a:ext>
                </a:extLst>
              </p:cNvPr>
              <p:cNvSpPr txBox="1"/>
              <p:nvPr/>
            </p:nvSpPr>
            <p:spPr>
              <a:xfrm>
                <a:off x="119625" y="4789365"/>
                <a:ext cx="107700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895350" algn="l"/>
                  </a:tabLst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So, there is about a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90.4%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chance that his income exceeds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₹17,</m:t>
                    </m:r>
                    <m:r>
                      <a:rPr lang="en-I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381DC6E-EA30-A073-3924-E570E81DF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25" y="4789365"/>
                <a:ext cx="10770048" cy="523220"/>
              </a:xfrm>
              <a:prstGeom prst="rect">
                <a:avLst/>
              </a:prstGeom>
              <a:blipFill>
                <a:blip r:embed="rId8"/>
                <a:stretch>
                  <a:fillRect l="-1189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087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6" grpId="0"/>
      <p:bldP spid="11" grpId="0"/>
      <p:bldP spid="18" grpId="0"/>
      <p:bldP spid="19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4</a:t>
            </a:r>
            <a:br>
              <a:rPr lang="en-IN" dirty="0"/>
            </a:br>
            <a:r>
              <a:rPr lang="en-IN" dirty="0"/>
              <a:t>Normal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09425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EF8B-9462-4BA2-93FD-8C2221E3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4A602-39B8-21A8-7BA6-29C4C41F4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89710"/>
            <a:ext cx="11929641" cy="5664300"/>
          </a:xfrm>
        </p:spPr>
        <p:txBody>
          <a:bodyPr/>
          <a:lstStyle/>
          <a:p>
            <a:r>
              <a:rPr lang="en-US" dirty="0"/>
              <a:t>We already know:</a:t>
            </a:r>
          </a:p>
          <a:p>
            <a:pPr lvl="1"/>
            <a:r>
              <a:rPr lang="en-US" dirty="0"/>
              <a:t>Binomial → count of success/failure</a:t>
            </a:r>
          </a:p>
          <a:p>
            <a:pPr lvl="1"/>
            <a:r>
              <a:rPr lang="en-US" dirty="0"/>
              <a:t>Poisson → count of rare events</a:t>
            </a:r>
          </a:p>
          <a:p>
            <a:pPr lvl="1"/>
            <a:r>
              <a:rPr lang="en-US" dirty="0"/>
              <a:t>Exponential → waiting time</a:t>
            </a:r>
          </a:p>
          <a:p>
            <a:r>
              <a:rPr lang="en-US" dirty="0"/>
              <a:t>But real-life data is NOT always:</a:t>
            </a:r>
          </a:p>
          <a:p>
            <a:pPr lvl="1"/>
            <a:r>
              <a:rPr lang="en-US" dirty="0"/>
              <a:t>Just success/failure</a:t>
            </a:r>
          </a:p>
          <a:p>
            <a:pPr lvl="1"/>
            <a:r>
              <a:rPr lang="en-US" dirty="0"/>
              <a:t>Just number of events</a:t>
            </a:r>
          </a:p>
          <a:p>
            <a:pPr lvl="1"/>
            <a:r>
              <a:rPr lang="en-US" dirty="0"/>
              <a:t>Just waiting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74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8D59-9599-5475-79B7-3A647C4B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992BD-D724-23FD-BC74-337D0D48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41831-37CF-4FDC-F0F4-7C0F535C2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48145"/>
            <a:ext cx="11929641" cy="5922817"/>
          </a:xfrm>
        </p:spPr>
        <p:txBody>
          <a:bodyPr/>
          <a:lstStyle/>
          <a:p>
            <a:r>
              <a:rPr lang="en-US" dirty="0"/>
              <a:t>Instead, real life gives us things like:</a:t>
            </a:r>
          </a:p>
          <a:p>
            <a:pPr lvl="1"/>
            <a:r>
              <a:rPr lang="en-US" dirty="0"/>
              <a:t>Heights of students</a:t>
            </a:r>
          </a:p>
          <a:p>
            <a:pPr lvl="1"/>
            <a:r>
              <a:rPr lang="en-US" dirty="0"/>
              <a:t>Marks in an exam</a:t>
            </a:r>
          </a:p>
          <a:p>
            <a:pPr lvl="1"/>
            <a:r>
              <a:rPr lang="en-US" dirty="0"/>
              <a:t>Errors in measurements</a:t>
            </a:r>
          </a:p>
          <a:p>
            <a:pPr lvl="1"/>
            <a:r>
              <a:rPr lang="en-US" dirty="0"/>
              <a:t>CPU response times</a:t>
            </a:r>
          </a:p>
          <a:p>
            <a:pPr lvl="1"/>
            <a:r>
              <a:rPr lang="en-US" dirty="0"/>
              <a:t>Noise in signals</a:t>
            </a:r>
          </a:p>
          <a:p>
            <a:pPr lvl="1"/>
            <a:r>
              <a:rPr lang="en-US" dirty="0"/>
              <a:t>IQ, </a:t>
            </a:r>
          </a:p>
          <a:p>
            <a:pPr lvl="1"/>
            <a:r>
              <a:rPr lang="en-US" dirty="0"/>
              <a:t>blood pressure, </a:t>
            </a:r>
          </a:p>
          <a:p>
            <a:pPr lvl="1"/>
            <a:r>
              <a:rPr lang="en-US" dirty="0"/>
              <a:t>temperature</a:t>
            </a:r>
          </a:p>
        </p:txBody>
      </p:sp>
    </p:spTree>
    <p:extLst>
      <p:ext uri="{BB962C8B-B14F-4D97-AF65-F5344CB8AC3E}">
        <p14:creationId xmlns:p14="http://schemas.microsoft.com/office/powerpoint/2010/main" val="101463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A5B6B-4D9E-E1DD-9E12-CB8B0614A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A4E9E-079E-96A7-2F49-5277438D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24D9A-DFB0-CF8F-2997-A9AC3E126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48145"/>
            <a:ext cx="11929641" cy="5922817"/>
          </a:xfrm>
        </p:spPr>
        <p:txBody>
          <a:bodyPr/>
          <a:lstStyle/>
          <a:p>
            <a:r>
              <a:rPr lang="en-US" dirty="0"/>
              <a:t>These values:</a:t>
            </a:r>
          </a:p>
          <a:p>
            <a:pPr lvl="1"/>
            <a:r>
              <a:rPr lang="en-US" dirty="0"/>
              <a:t>Are continuous</a:t>
            </a:r>
          </a:p>
          <a:p>
            <a:pPr lvl="1"/>
            <a:r>
              <a:rPr lang="en-US" dirty="0"/>
              <a:t>Come from many small causes together</a:t>
            </a:r>
          </a:p>
          <a:p>
            <a:pPr lvl="1"/>
            <a:r>
              <a:rPr lang="en-US" dirty="0"/>
              <a:t>Are not fixed outcomes</a:t>
            </a:r>
          </a:p>
          <a:p>
            <a:r>
              <a:rPr lang="en-US" dirty="0"/>
              <a:t>Which distribution handles this kind of data?</a:t>
            </a:r>
          </a:p>
          <a:p>
            <a:pPr lvl="1"/>
            <a:r>
              <a:rPr lang="en-US" dirty="0"/>
              <a:t>That’s where Normal Distribution is born.</a:t>
            </a:r>
          </a:p>
        </p:txBody>
      </p:sp>
    </p:spTree>
    <p:extLst>
      <p:ext uri="{BB962C8B-B14F-4D97-AF65-F5344CB8AC3E}">
        <p14:creationId xmlns:p14="http://schemas.microsoft.com/office/powerpoint/2010/main" val="410580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95DF-CE64-02A9-0E3B-861E1021D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22B8-99FA-A0F7-AAA6-CA75FA9AD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Bell shape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2A2A2-A7D0-C643-1413-4CF9AB807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48145"/>
            <a:ext cx="11929641" cy="4644737"/>
          </a:xfrm>
        </p:spPr>
        <p:txBody>
          <a:bodyPr/>
          <a:lstStyle/>
          <a:p>
            <a:r>
              <a:rPr lang="en-US" dirty="0"/>
              <a:t>A mathematical model that describes how values naturally spread around an average when many small random factors act together.</a:t>
            </a:r>
          </a:p>
          <a:p>
            <a:r>
              <a:rPr lang="en-US" dirty="0"/>
              <a:t>In simple language:</a:t>
            </a:r>
          </a:p>
          <a:p>
            <a:pPr lvl="1"/>
            <a:r>
              <a:rPr lang="en-US" dirty="0"/>
              <a:t>Most values stay near the average</a:t>
            </a:r>
          </a:p>
          <a:p>
            <a:pPr lvl="1"/>
            <a:r>
              <a:rPr lang="en-US" dirty="0"/>
              <a:t>Few values go far away</a:t>
            </a:r>
          </a:p>
          <a:p>
            <a:pPr lvl="1"/>
            <a:r>
              <a:rPr lang="en-US" dirty="0"/>
              <a:t>Extreme values are rare</a:t>
            </a:r>
          </a:p>
          <a:p>
            <a:r>
              <a:rPr lang="en-US" dirty="0"/>
              <a:t>That natural “spread” creates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bell shape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89DDF9-45A2-C949-40E6-4CB26AE7D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927" y="2780618"/>
            <a:ext cx="4023709" cy="2938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D87289-35CA-0AE3-5B0E-56D306189FF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74218" y="3070513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1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08FF9-5724-DA57-7C5B-76A735FB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1A2D-9FB8-486E-F809-17BF34500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the bell shape appear everywhere?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4AEA5-0958-3A7E-34B7-F995036277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</p:spPr>
            <p:txBody>
              <a:bodyPr/>
              <a:lstStyle/>
              <a:p>
                <a:r>
                  <a:rPr lang="en-US" dirty="0"/>
                  <a:t>Example: Marks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dirty="0"/>
                  <a:t> students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Each student’s mark depends on:</a:t>
                </a:r>
              </a:p>
              <a:p>
                <a:pPr lvl="2">
                  <a:lnSpc>
                    <a:spcPct val="135000"/>
                  </a:lnSpc>
                </a:pPr>
                <a:r>
                  <a:rPr lang="en-US" dirty="0"/>
                  <a:t>Understanding</a:t>
                </a:r>
              </a:p>
              <a:p>
                <a:pPr lvl="2">
                  <a:lnSpc>
                    <a:spcPct val="135000"/>
                  </a:lnSpc>
                </a:pPr>
                <a:r>
                  <a:rPr lang="en-US" dirty="0"/>
                  <a:t>Memory</a:t>
                </a:r>
              </a:p>
              <a:p>
                <a:pPr lvl="2">
                  <a:lnSpc>
                    <a:spcPct val="135000"/>
                  </a:lnSpc>
                </a:pPr>
                <a:r>
                  <a:rPr lang="en-US" dirty="0"/>
                  <a:t>Sleep</a:t>
                </a:r>
              </a:p>
              <a:p>
                <a:pPr lvl="2">
                  <a:lnSpc>
                    <a:spcPct val="135000"/>
                  </a:lnSpc>
                </a:pPr>
                <a:r>
                  <a:rPr lang="en-US" dirty="0"/>
                  <a:t>Health</a:t>
                </a:r>
              </a:p>
              <a:p>
                <a:pPr lvl="2">
                  <a:lnSpc>
                    <a:spcPct val="135000"/>
                  </a:lnSpc>
                </a:pPr>
                <a:r>
                  <a:rPr lang="en-US" dirty="0"/>
                  <a:t>Stress</a:t>
                </a:r>
              </a:p>
              <a:p>
                <a:pPr lvl="2">
                  <a:lnSpc>
                    <a:spcPct val="135000"/>
                  </a:lnSpc>
                </a:pPr>
                <a:r>
                  <a:rPr lang="en-US" dirty="0"/>
                  <a:t>Teaching quality</a:t>
                </a:r>
              </a:p>
              <a:p>
                <a:pPr lvl="2">
                  <a:lnSpc>
                    <a:spcPct val="135000"/>
                  </a:lnSpc>
                </a:pPr>
                <a:r>
                  <a:rPr lang="en-US" dirty="0"/>
                  <a:t>Question difficulty</a:t>
                </a:r>
              </a:p>
              <a:p>
                <a:pPr lvl="2">
                  <a:lnSpc>
                    <a:spcPct val="135000"/>
                  </a:lnSpc>
                </a:pPr>
                <a:r>
                  <a:rPr lang="en-US" dirty="0"/>
                  <a:t>Luck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4AEA5-0958-3A7E-34B7-F995036277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  <a:blipFill>
                <a:blip r:embed="rId2"/>
                <a:stretch>
                  <a:fillRect l="-971" b="-26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825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FF646-C992-92AD-8F4A-ECAF08CEF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64A5-7A41-346A-AD90-ECAB18CA3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the bell shape appear everywhere?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1B7DB-AC69-116C-A09C-8A319EE24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876635"/>
          </a:xfrm>
        </p:spPr>
        <p:txBody>
          <a:bodyPr/>
          <a:lstStyle/>
          <a:p>
            <a:r>
              <a:rPr lang="en-US" dirty="0"/>
              <a:t>Each factor is small, but together they decide the final mark </a:t>
            </a:r>
          </a:p>
          <a:p>
            <a:pPr marL="0" indent="0" algn="ctr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When many small independent effects add up, the result always tends to a Normal Distribution.</a:t>
            </a:r>
          </a:p>
          <a:p>
            <a:r>
              <a:rPr lang="en-US" dirty="0"/>
              <a:t>This is not coincidence.</a:t>
            </a:r>
          </a:p>
          <a:p>
            <a:r>
              <a:rPr lang="en-US" dirty="0"/>
              <a:t>This is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law of nature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647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9CF37-03ED-AC56-C698-EC285DE0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0CCCE-206A-36B4-7D06-83AC8848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Central Limit Theorem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F2BE3-3972-2E5B-E50C-1C94B2FFC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876635"/>
          </a:xfrm>
        </p:spPr>
        <p:txBody>
          <a:bodyPr/>
          <a:lstStyle/>
          <a:p>
            <a:r>
              <a:rPr lang="en-US" dirty="0"/>
              <a:t>The most important idea in statistics: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When many independent random variables are added, their sum tends to follow a Normal Distribution — regardless of the original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99448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9EAC8-E0EE-7596-4F90-018C892D5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5F5E-247B-DBCC-8DC3-808CCB3B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Binomial Distribution becomes Normal?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DC936B-1CB2-24E2-F2F3-671B62FAFD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</p:spPr>
            <p:txBody>
              <a:bodyPr/>
              <a:lstStyle/>
              <a:p>
                <a:r>
                  <a:rPr lang="en-US" dirty="0"/>
                  <a:t>Binomial Distribution is used when:</a:t>
                </a:r>
              </a:p>
              <a:p>
                <a:pPr lvl="1"/>
                <a:r>
                  <a:rPr lang="en-US" dirty="0"/>
                  <a:t>Fixed number of trials (n)</a:t>
                </a:r>
              </a:p>
              <a:p>
                <a:pPr lvl="1"/>
                <a:r>
                  <a:rPr lang="en-US" dirty="0"/>
                  <a:t>Each trial has two outcomes (success/failure)</a:t>
                </a:r>
              </a:p>
              <a:p>
                <a:pPr lvl="1"/>
                <a:r>
                  <a:rPr lang="en-US" dirty="0"/>
                  <a:t>Probability of success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(constant)</a:t>
                </a:r>
              </a:p>
              <a:p>
                <a:pPr lvl="1"/>
                <a:r>
                  <a:rPr lang="en-US" dirty="0"/>
                  <a:t>Trials are independent</a:t>
                </a:r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Tossing a coin</a:t>
                </a:r>
              </a:p>
              <a:p>
                <a:pPr lvl="1"/>
                <a:r>
                  <a:rPr lang="en-US" dirty="0"/>
                  <a:t>Pass/Fail result</a:t>
                </a:r>
              </a:p>
              <a:p>
                <a:pPr lvl="1"/>
                <a:r>
                  <a:rPr lang="en-US" dirty="0"/>
                  <a:t>Defective/Non-defective item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DC936B-1CB2-24E2-F2F3-671B62FAFD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  <a:blipFill>
                <a:blip r:embed="rId2"/>
                <a:stretch>
                  <a:fillRect l="-971" b="-13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63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07E26-29CA-8DFE-49F4-C997CCE1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C7D3-4664-8C18-A4EF-A5258940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Binomial Distribution becomes Normal?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C67EB1-941A-C30F-4F6D-8521A0C62B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</p:spPr>
            <p:txBody>
              <a:bodyPr/>
              <a:lstStyle/>
              <a:p>
                <a:r>
                  <a:rPr lang="en-US" dirty="0"/>
                  <a:t>When:</a:t>
                </a:r>
              </a:p>
              <a:p>
                <a:pPr lvl="1"/>
                <a:r>
                  <a:rPr lang="en-US" dirty="0"/>
                  <a:t>Number of trials n is large</a:t>
                </a:r>
              </a:p>
              <a:p>
                <a:pPr lvl="1"/>
                <a:r>
                  <a:rPr lang="en-US" dirty="0"/>
                  <a:t>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is not very close to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Then:</a:t>
                </a:r>
              </a:p>
              <a:p>
                <a:pPr lvl="1"/>
                <a:r>
                  <a:rPr lang="en-US" dirty="0"/>
                  <a:t>Many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s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s are added together</a:t>
                </a:r>
              </a:p>
              <a:p>
                <a:pPr lvl="1"/>
                <a:r>
                  <a:rPr lang="en-US" dirty="0"/>
                  <a:t>Each trial contributes a small random effect</a:t>
                </a:r>
              </a:p>
              <a:p>
                <a:pPr lvl="1"/>
                <a:r>
                  <a:rPr lang="en-US" dirty="0"/>
                  <a:t>No single trial dominates the result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C67EB1-941A-C30F-4F6D-8521A0C62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FD42CA8-EB6E-5C21-16BF-B06BB23F4C9C}"/>
              </a:ext>
            </a:extLst>
          </p:cNvPr>
          <p:cNvSpPr txBox="1"/>
          <p:nvPr/>
        </p:nvSpPr>
        <p:spPr>
          <a:xfrm>
            <a:off x="2708563" y="5743348"/>
            <a:ext cx="6774874" cy="523220"/>
          </a:xfrm>
          <a:prstGeom prst="rect">
            <a:avLst/>
          </a:prstGeom>
          <a:noFill/>
          <a:ln w="28575">
            <a:solidFill>
              <a:srgbClr val="301B92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IN" dirty="0"/>
              <a:t>Visit : </a:t>
            </a:r>
            <a:r>
              <a:rPr lang="en-IN" dirty="0">
                <a:hlinkClick r:id="rId3"/>
              </a:rPr>
              <a:t>https://www.geogebra.org/m/q5H4sxcE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80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28225-C8CB-BE88-E877-152CE3899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5ACB1-42B5-EED0-73F2-FA56DF3E9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Poisson becomes Normal?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F5CB89-C753-6152-57C4-EE70F546F3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</p:spPr>
            <p:txBody>
              <a:bodyPr/>
              <a:lstStyle/>
              <a:p>
                <a:r>
                  <a:rPr lang="en-US" dirty="0"/>
                  <a:t>Poisson Distribution is used when:</a:t>
                </a:r>
              </a:p>
              <a:p>
                <a:pPr lvl="1"/>
                <a:r>
                  <a:rPr lang="en-US" dirty="0"/>
                  <a:t>Counting number of events</a:t>
                </a:r>
              </a:p>
              <a:p>
                <a:pPr lvl="1"/>
                <a:r>
                  <a:rPr lang="en-US" dirty="0"/>
                  <a:t>In a fixed time or space</a:t>
                </a:r>
              </a:p>
              <a:p>
                <a:pPr lvl="1"/>
                <a:r>
                  <a:rPr lang="en-US" dirty="0"/>
                  <a:t>Events occur randomly &amp; independently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Calls per minute</a:t>
                </a:r>
              </a:p>
              <a:p>
                <a:pPr lvl="1"/>
                <a:r>
                  <a:rPr lang="en-US" dirty="0"/>
                  <a:t>Defects per meter</a:t>
                </a:r>
              </a:p>
              <a:p>
                <a:pPr lvl="1"/>
                <a:r>
                  <a:rPr lang="en-US" dirty="0"/>
                  <a:t>Packets arriving per second</a:t>
                </a:r>
              </a:p>
              <a:p>
                <a:r>
                  <a:rPr lang="en-US" dirty="0"/>
                  <a:t>Parameter: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dirty="0"/>
                  <a:t> average number of events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F5CB89-C753-6152-57C4-EE70F546F3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  <a:blipFill>
                <a:blip r:embed="rId2"/>
                <a:stretch>
                  <a:fillRect l="-971" b="-13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573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30EB5-1200-B24E-B210-79E8CEEA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A5BD0-1A77-28B1-4E88-E8FE8320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Poisson becomes Normal?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C45637-ECC9-9B11-C05D-18D2485598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</p:spPr>
            <p:txBody>
              <a:bodyPr/>
              <a:lstStyle/>
              <a:p>
                <a:pPr>
                  <a:lnSpc>
                    <a:spcPct val="135000"/>
                  </a:lnSpc>
                </a:pPr>
                <a:r>
                  <a:rPr lang="en-US" dirty="0"/>
                  <a:t>When: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Average number of events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/>
                  <a:t> increases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Then: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Events are no longer rare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Random fluctuations balance out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Distribution becomes: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Less skewed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More symmetric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Smooth and bell-shaped and 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Shape starts looking like Normal.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C45637-ECC9-9B11-C05D-18D2485598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  <a:blipFill>
                <a:blip r:embed="rId2"/>
                <a:stretch>
                  <a:fillRect l="-971" b="-1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97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CDE71-C840-13ED-392A-37126BBE0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D4EE4-51AC-D082-460C-3503A98BC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Poisson becomes Normal?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75182D-2E99-6EA5-1A51-E4940F1CDF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</p:spPr>
            <p:txBody>
              <a:bodyPr/>
              <a:lstStyle/>
              <a:p>
                <a:pPr>
                  <a:lnSpc>
                    <a:spcPct val="135000"/>
                  </a:lnSpc>
                </a:pPr>
                <a:r>
                  <a:rPr lang="en-US" dirty="0"/>
                  <a:t>Central Limit Theorem idea: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Poisson counts many small random event chances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When events are frequent, their total behaves like a sum of many small random variables</a:t>
                </a:r>
              </a:p>
              <a:p>
                <a:pPr>
                  <a:lnSpc>
                    <a:spcPct val="135000"/>
                  </a:lnSpc>
                </a:pPr>
                <a:r>
                  <a:rPr lang="fr-FR" b="1" dirty="0">
                    <a:solidFill>
                      <a:schemeClr val="accent6">
                        <a:lumMod val="75000"/>
                      </a:schemeClr>
                    </a:solidFill>
                  </a:rPr>
                  <a:t>Large </a:t>
                </a:r>
                <a14:m>
                  <m:oMath xmlns:m="http://schemas.openxmlformats.org/officeDocument/2006/math">
                    <m:r>
                      <a:rPr lang="fr-FR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r>
                  <a:rPr lang="fr-FR" b="1" dirty="0">
                    <a:solidFill>
                      <a:schemeClr val="accent6">
                        <a:lumMod val="75000"/>
                      </a:schemeClr>
                    </a:solidFill>
                  </a:rPr>
                  <a:t> Poisson ≈ Normal Distribution</a:t>
                </a:r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75182D-2E99-6EA5-1A51-E4940F1CDF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7663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A170320-3310-95F3-A2B8-C32477750859}"/>
              </a:ext>
            </a:extLst>
          </p:cNvPr>
          <p:cNvSpPr txBox="1"/>
          <p:nvPr/>
        </p:nvSpPr>
        <p:spPr>
          <a:xfrm>
            <a:off x="1009650" y="4943248"/>
            <a:ext cx="10172700" cy="523220"/>
          </a:xfrm>
          <a:prstGeom prst="rect">
            <a:avLst/>
          </a:prstGeom>
          <a:noFill/>
          <a:ln w="28575">
            <a:solidFill>
              <a:srgbClr val="301B92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IN" dirty="0"/>
              <a:t>Visit : </a:t>
            </a:r>
            <a:r>
              <a:rPr lang="en-IN" dirty="0">
                <a:hlinkClick r:id="rId3"/>
              </a:rPr>
              <a:t>https://homepage.divms.uiowa.edu/~mbognar/applets/pois.html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784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261AB-B81A-ECC0-AECD-718CFBD1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C536D-C6E5-28AD-0CE3-DEC6F18D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sum of Exponentials becomes Normal?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F334C-E651-514F-12EC-E31B26381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876635"/>
          </a:xfrm>
        </p:spPr>
        <p:txBody>
          <a:bodyPr/>
          <a:lstStyle/>
          <a:p>
            <a:pPr>
              <a:lnSpc>
                <a:spcPct val="135000"/>
              </a:lnSpc>
            </a:pPr>
            <a:r>
              <a:rPr lang="en-US" dirty="0"/>
              <a:t>Exponential Distribution models: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Waiting time until the next event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Time between consecutive events</a:t>
            </a:r>
          </a:p>
          <a:p>
            <a:pPr>
              <a:lnSpc>
                <a:spcPct val="135000"/>
              </a:lnSpc>
            </a:pPr>
            <a:r>
              <a:rPr lang="en-US" dirty="0"/>
              <a:t>Examples: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Time until next arrival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Time until failure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Time until packet drop</a:t>
            </a:r>
          </a:p>
          <a:p>
            <a:pPr>
              <a:lnSpc>
                <a:spcPct val="135000"/>
              </a:lnSpc>
            </a:pPr>
            <a:r>
              <a:rPr lang="en-US" dirty="0"/>
              <a:t>Property: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Right-skewed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Memoryless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43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12926-1F35-DE09-069A-FE4E793B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8115-F197-DDB5-CC3F-8DD5CDD5C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sum of Exponentials becomes Normal?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D85E4A-0E8D-3C83-CB6F-3135DADF92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>
                  <a:lnSpc>
                    <a:spcPct val="135000"/>
                  </a:lnSpc>
                </a:pPr>
                <a:r>
                  <a:rPr lang="en-US" dirty="0"/>
                  <a:t>Exponential describes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one waiting</a:t>
                </a:r>
                <a:r>
                  <a:rPr lang="en-US" dirty="0"/>
                  <a:t> time only.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It is always skewed.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When many independent waiting times are added, then 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small variations cancel out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Extremes become rare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Balance appears 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By Central Limit Theorem: </a:t>
                </a:r>
                <a:endParaRPr lang="en-IN" b="0" i="0" dirty="0">
                  <a:latin typeface="Cambria Math" panose="02040503050406030204" pitchFamily="18" charset="0"/>
                </a:endParaRPr>
              </a:p>
              <a:p>
                <a:pPr marL="361950" lvl="1" indent="0" algn="ctr">
                  <a:lnSpc>
                    <a:spcPct val="135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  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  Normal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Single wait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Exponential 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Many waits added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Normal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D85E4A-0E8D-3C83-CB6F-3135DADF92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b="-3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0786C3B-F652-994B-A1E6-335802B68BDC}"/>
              </a:ext>
            </a:extLst>
          </p:cNvPr>
          <p:cNvSpPr txBox="1"/>
          <p:nvPr/>
        </p:nvSpPr>
        <p:spPr>
          <a:xfrm>
            <a:off x="6186494" y="5885189"/>
            <a:ext cx="5874326" cy="523220"/>
          </a:xfrm>
          <a:prstGeom prst="rect">
            <a:avLst/>
          </a:prstGeom>
          <a:noFill/>
          <a:ln w="28575">
            <a:solidFill>
              <a:srgbClr val="301B92"/>
            </a:solidFill>
          </a:ln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Visit : </a:t>
            </a:r>
            <a:r>
              <a:rPr lang="en-IN" sz="2400" dirty="0">
                <a:hlinkClick r:id="rId3"/>
              </a:rPr>
              <a:t>https://www.geogebra.org/m/rGXMGrV4</a:t>
            </a:r>
            <a:r>
              <a:rPr lang="en-IN" sz="2400" dirty="0"/>
              <a:t>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189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E1A59-1D81-B862-AA0B-65C45A405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E946-76BC-39CB-6DA9-5C332DF63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Galton Board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D86CA3-E394-674D-B5DC-A1C0AEB00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46" y="711201"/>
            <a:ext cx="5872162" cy="58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5325EF-7166-F8EB-EF2E-5059F87AB281}"/>
              </a:ext>
            </a:extLst>
          </p:cNvPr>
          <p:cNvSpPr txBox="1"/>
          <p:nvPr/>
        </p:nvSpPr>
        <p:spPr>
          <a:xfrm>
            <a:off x="6382940" y="3244334"/>
            <a:ext cx="5683828" cy="369332"/>
          </a:xfrm>
          <a:prstGeom prst="rect">
            <a:avLst/>
          </a:prstGeom>
          <a:noFill/>
          <a:ln w="28575">
            <a:solidFill>
              <a:srgbClr val="301B92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IN" sz="1800" dirty="0"/>
              <a:t>Also Visit : </a:t>
            </a:r>
            <a:r>
              <a:rPr lang="en-IN" sz="1800" dirty="0">
                <a:hlinkClick r:id="rId3"/>
              </a:rPr>
              <a:t>https://www.mathsisfun.com/data/quincunx.html</a:t>
            </a:r>
            <a:r>
              <a:rPr lang="en-IN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238054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US" dirty="0"/>
                  <a:t>A continuous random variable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 is said to follow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Normal Distribution</a:t>
                </a:r>
                <a:r>
                  <a:rPr lang="en-US" dirty="0"/>
                  <a:t> with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μ</a:t>
                </a:r>
                <a:r>
                  <a:rPr lang="en-US" dirty="0"/>
                  <a:t>  and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𝛔</m:t>
                        </m:r>
                      </m:e>
                      <m:sup>
                        <m:r>
                          <a:rPr lang="en-IN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, written as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𝐍</m:t>
                    </m:r>
                    <m:d>
                      <m:dPr>
                        <m:ctrlP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𝛍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𝛔</m:t>
                            </m:r>
                          </m:e>
                          <m:sup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if its probability density function is given by,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𝐟</m:t>
                      </m:r>
                      <m:d>
                        <m:d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IN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𝛑</m:t>
                              </m:r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f>
                                <m:fPr>
                                  <m:ctrlPr>
                                    <a:rPr lang="en-IN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IN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N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𝛍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num>
                                        <m:den>
                                          <m: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𝛔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N" b="1" dirty="0">
                  <a:solidFill>
                    <a:srgbClr val="FF0000"/>
                  </a:solidFill>
                </a:endParaRPr>
              </a:p>
              <a:p>
                <a:pPr marL="0" indent="0" algn="r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∞&lt;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&lt;∞,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∞&lt;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&lt;∞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&amp; 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IN" dirty="0"/>
              </a:p>
              <a:p>
                <a:pPr lvl="0"/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(mean) &amp;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p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(variance) are known as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parameters</a:t>
                </a:r>
                <a:r>
                  <a:rPr lang="en-US" dirty="0"/>
                  <a:t> of the distribution.</a:t>
                </a:r>
              </a:p>
              <a:p>
                <a:r>
                  <a:rPr lang="en-US" dirty="0"/>
                  <a:t>The curve representing the normal distribution is called the normal curve.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91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 Distribution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41" y="754261"/>
                <a:ext cx="11988032" cy="1156426"/>
              </a:xfrm>
            </p:spPr>
            <p:txBody>
              <a:bodyPr/>
              <a:lstStyle/>
              <a:p>
                <a:pPr lvl="0">
                  <a:lnSpc>
                    <a:spcPct val="100000"/>
                  </a:lnSpc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 be a normal random variable with mean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/>
                  <a:t> and standard deviation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𝛔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The probability of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 lying in the interval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IN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IN" b="1" i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given by,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41" y="754261"/>
                <a:ext cx="11988032" cy="1156426"/>
              </a:xfrm>
              <a:blipFill>
                <a:blip r:embed="rId2"/>
                <a:stretch>
                  <a:fillRect l="-915" t="-5291" b="-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815253" y="2094456"/>
                <a:ext cx="8561722" cy="14027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IN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4"/>
                                </m:rPr>
                                <a:rPr lang="en-IN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m:rPr>
                                  <m:brk m:alnAt="24"/>
                                </m:rPr>
                                <a:rPr lang="en-IN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IN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𝛔</m:t>
                              </m:r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𝛑</m:t>
                                  </m:r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𝐞𝐱𝐩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f>
                                    <m:fPr>
                                      <m:ctrlPr>
                                        <a:rPr lang="en-IN" sz="28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a:rPr lang="en-US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en-US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IN" sz="28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IN" sz="28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IN" sz="28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  <m:r>
                                                <a:rPr lang="en-US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𝛍</m:t>
                                              </m:r>
                                              <m:r>
                                                <a:rPr lang="en-US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𝛔</m:t>
                                              </m:r>
                                              <m:r>
                                                <a:rPr lang="en-US" sz="28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28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𝐝𝐱</m:t>
                      </m:r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253" y="2094456"/>
                <a:ext cx="8561722" cy="1402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2941" y="3774575"/>
                <a:ext cx="6583519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lnSpc>
                    <a:spcPct val="150000"/>
                  </a:lnSpc>
                  <a:buClr>
                    <a:schemeClr val="accent6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the probability is equal to the area  under the normal curve between coordinates </a:t>
                </a:r>
                <a14:m>
                  <m:oMath xmlns:m="http://schemas.openxmlformats.org/officeDocument/2006/math">
                    <m:r>
                      <a:rPr lang="en-IN" sz="28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IN" sz="28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IN" sz="28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&amp; </a:t>
                </a:r>
                <a14:m>
                  <m:oMath xmlns:m="http://schemas.openxmlformats.org/officeDocument/2006/math">
                    <m:r>
                      <a:rPr lang="en-IN" sz="28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IN" sz="28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IN" sz="28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respectively.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1" y="3774575"/>
                <a:ext cx="6583519" cy="2031325"/>
              </a:xfrm>
              <a:prstGeom prst="rect">
                <a:avLst/>
              </a:prstGeom>
              <a:blipFill rotWithShape="0">
                <a:blip r:embed="rId4"/>
                <a:stretch>
                  <a:fillRect l="-1667" r="-1944" b="-42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3983992"/>
                  </p:ext>
                </p:extLst>
              </p:nvPr>
            </p:nvGraphicFramePr>
            <p:xfrm>
              <a:off x="7397087" y="3556211"/>
              <a:ext cx="3671247" cy="236508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6712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88112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100" b="1" i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395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2600" b="1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  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2600" b="1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1" i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IN" sz="2600" b="1" i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2600" b="1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  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2600" b="1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1" i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IN" sz="2600" b="1" i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endParaRPr lang="en-IN" sz="2600" b="1" i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3983992"/>
                  </p:ext>
                </p:extLst>
              </p:nvPr>
            </p:nvGraphicFramePr>
            <p:xfrm>
              <a:off x="7397087" y="3556211"/>
              <a:ext cx="3671247" cy="236508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6712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88112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100" b="1" i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39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166" t="-387500" r="-663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49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8" t="44711" r="69505" b="35591"/>
          <a:stretch>
            <a:fillRect/>
          </a:stretch>
        </p:blipFill>
        <p:spPr bwMode="auto">
          <a:xfrm>
            <a:off x="7397087" y="3556211"/>
            <a:ext cx="3671247" cy="203132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525460" y="3727778"/>
                <a:ext cx="851515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6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460" y="3727778"/>
                <a:ext cx="851515" cy="4924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97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DC26-F321-74AE-AD16-291478F93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do we face with a Normal random variable?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A834C4-F317-7866-D78C-703797A53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IN" dirty="0"/>
                  <a:t>A Normal random variable is 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</a:rPr>
                        <m:t>N</m:t>
                      </m:r>
                      <m:d>
                        <m:d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l-GR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i="0" dirty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l-GR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Now imagine this:</a:t>
                </a:r>
              </a:p>
              <a:p>
                <a:pPr lvl="1"/>
                <a:r>
                  <a:rPr lang="en-IN" dirty="0"/>
                  <a:t>Heights of students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165,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102</m:t>
                        </m:r>
                      </m:e>
                    </m:d>
                    <m:r>
                      <a:rPr lang="en-IN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CPU response time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200,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252</m:t>
                        </m:r>
                      </m:e>
                    </m:d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Exam scores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60,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152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But the problem is</a:t>
                </a:r>
              </a:p>
              <a:p>
                <a:pPr lvl="1"/>
                <a:r>
                  <a:rPr lang="en-US" dirty="0"/>
                  <a:t>Each normal distribution has different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,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A834C4-F317-7866-D78C-703797A53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869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CEA89-689D-2C1B-05BE-435F3183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CD87-4507-48D6-15C1-74B7E67F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do we face with a Normal random variable?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2D02E7-CA39-E2A3-FFD8-3F18630C98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887026"/>
              </a:xfrm>
            </p:spPr>
            <p:txBody>
              <a:bodyPr/>
              <a:lstStyle/>
              <a:p>
                <a:r>
                  <a:rPr lang="en-IN" dirty="0"/>
                  <a:t>But the problem is</a:t>
                </a:r>
              </a:p>
              <a:p>
                <a:pPr lvl="1"/>
                <a:r>
                  <a:rPr lang="en-US" dirty="0"/>
                  <a:t>Each normal distribution has different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, so each has</a:t>
                </a:r>
              </a:p>
              <a:p>
                <a:pPr lvl="2"/>
                <a:r>
                  <a:rPr lang="en-US" dirty="0"/>
                  <a:t>Different curves</a:t>
                </a:r>
              </a:p>
              <a:p>
                <a:pPr lvl="2"/>
                <a:r>
                  <a:rPr lang="en-US" dirty="0"/>
                  <a:t>Different probability calculations</a:t>
                </a:r>
              </a:p>
              <a:p>
                <a:pPr lvl="2"/>
                <a:r>
                  <a:rPr lang="en-US" dirty="0"/>
                  <a:t>Infinite varieties	</a:t>
                </a:r>
              </a:p>
              <a:p>
                <a:pPr lvl="1"/>
                <a:r>
                  <a:rPr lang="en-US" dirty="0"/>
                  <a:t>If we directly compute probabilities every time, we’d need:</a:t>
                </a:r>
              </a:p>
              <a:p>
                <a:pPr lvl="2"/>
                <a:r>
                  <a:rPr lang="en-US" dirty="0"/>
                  <a:t>Separate tables</a:t>
                </a:r>
              </a:p>
              <a:p>
                <a:pPr lvl="2"/>
                <a:r>
                  <a:rPr lang="en-US" dirty="0"/>
                  <a:t>Separate integrals</a:t>
                </a:r>
              </a:p>
              <a:p>
                <a:pPr lvl="2"/>
                <a:r>
                  <a:rPr lang="en-US" dirty="0"/>
                  <a:t>Separate formulas and that would be a nightmare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2D02E7-CA39-E2A3-FFD8-3F18630C98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887026"/>
              </a:xfrm>
              <a:blipFill>
                <a:blip r:embed="rId2"/>
                <a:stretch>
                  <a:fillRect l="-971" b="-12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722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1F4C8-EE87-B274-7EAC-0386303BD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41DF0-0035-56D4-5738-28EDFC30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do we face with a Normal random variable?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907D02-71BB-2AFE-ADF6-1CAE838358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887026"/>
              </a:xfrm>
            </p:spPr>
            <p:txBody>
              <a:bodyPr/>
              <a:lstStyle/>
              <a:p>
                <a:r>
                  <a:rPr lang="en-IN" dirty="0"/>
                  <a:t>Note that</a:t>
                </a:r>
              </a:p>
              <a:p>
                <a:pPr lvl="1"/>
                <a:r>
                  <a:rPr lang="en-US" dirty="0"/>
                  <a:t>All Normal distributions have the same bell shape</a:t>
                </a:r>
              </a:p>
              <a:p>
                <a:pPr lvl="1"/>
                <a:r>
                  <a:rPr lang="en-US" dirty="0"/>
                  <a:t>They only differ in location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</m:d>
                  </m:oMath>
                </a14:m>
                <a:r>
                  <a:rPr lang="en-US" dirty="0"/>
                  <a:t> and scale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So, the natural question is:</a:t>
                </a:r>
              </a:p>
              <a:p>
                <a:pPr marL="0" indent="0" algn="ctr">
                  <a:buNone/>
                </a:pPr>
                <a:r>
                  <a:rPr lang="en-US" dirty="0"/>
                  <a:t>Can we shift and rescale any normal variable so that all normals look identical?</a:t>
                </a:r>
              </a:p>
              <a:p>
                <a:pPr lvl="1"/>
                <a:r>
                  <a:rPr lang="en-US" dirty="0"/>
                  <a:t>Yes — and that new variable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907D02-71BB-2AFE-ADF6-1CAE838358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887026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26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73C66-B6B9-FE82-204D-E716B2BD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1A037-2BBC-065C-A1D2-68D3A81F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“standardizing” actually mean?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3D4D4-8056-AEC9-F493-8FBE33B222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3351643"/>
              </a:xfrm>
            </p:spPr>
            <p:txBody>
              <a:bodyPr/>
              <a:lstStyle/>
              <a:p>
                <a:r>
                  <a:rPr lang="en-US" dirty="0"/>
                  <a:t>Standardizing is a two-step physical operation:</a:t>
                </a:r>
              </a:p>
              <a:p>
                <a:pPr lvl="1"/>
                <a:r>
                  <a:rPr lang="en-US" dirty="0"/>
                  <a:t>Step 1: Shift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i="0" dirty="0" err="1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moves the center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dirty="0"/>
              </a:p>
              <a:p>
                <a:pPr lvl="1"/>
                <a:r>
                  <a:rPr lang="en-US" dirty="0"/>
                  <a:t>Step 2: Scale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3D4D4-8056-AEC9-F493-8FBE33B222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3351643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5932BCF-327E-72A4-4334-A1F885A81C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87651" y="3086100"/>
                <a:ext cx="1379404" cy="14443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361950" lvl="1" indent="0" algn="l">
                  <a:buFont typeface="Wingdings 3" panose="05040102010807070707" pitchFamily="18" charset="2"/>
                  <a:buNone/>
                </a:pPr>
                <a:r>
                  <a:rPr lang="en-US" dirty="0"/>
                  <a:t>​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5932BCF-327E-72A4-4334-A1F885A81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651" y="3086100"/>
                <a:ext cx="1379404" cy="1444336"/>
              </a:xfrm>
              <a:prstGeom prst="rect">
                <a:avLst/>
              </a:prstGeom>
              <a:blipFill>
                <a:blip r:embed="rId3"/>
                <a:stretch>
                  <a:fillRect b="-405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1C3045A-6535-4F0F-1BA4-4949CE55CD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4530436"/>
                <a:ext cx="6740675" cy="8716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/>
                <a:r>
                  <a:rPr lang="en-US" dirty="0"/>
                  <a:t>This makes the spread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1C3045A-6535-4F0F-1BA4-4949CE55C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4530436"/>
                <a:ext cx="6740675" cy="8716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58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389AE-96F4-573B-27A9-B59DE07C5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17BB-1020-5DAA-3AB8-EA8EA59FC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“standardizing” actually mean?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E644A-84AE-19CD-14C5-2BF9EA71E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711200"/>
          </a:xfrm>
        </p:spPr>
        <p:txBody>
          <a:bodyPr/>
          <a:lstStyle/>
          <a:p>
            <a:r>
              <a:rPr lang="en-US" dirty="0"/>
              <a:t>So, we define:​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14499EC-EA1A-AC01-84BA-EE76C11E3D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08871" y="939800"/>
                <a:ext cx="1774258" cy="14443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361950" lvl="1" indent="0" algn="l">
                  <a:buFont typeface="Wingdings 3" panose="05040102010807070707" pitchFamily="18" charset="2"/>
                  <a:buNone/>
                </a:pPr>
                <a:r>
                  <a:rPr lang="en-US" dirty="0"/>
                  <a:t>​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14499EC-EA1A-AC01-84BA-EE76C11E3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871" y="939800"/>
                <a:ext cx="1774258" cy="1444336"/>
              </a:xfrm>
              <a:prstGeom prst="rect">
                <a:avLst/>
              </a:prstGeom>
              <a:blipFill>
                <a:blip r:embed="rId3"/>
                <a:stretch>
                  <a:fillRect b="-405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2B1DEFB-E1AD-0B56-0D9D-C5D0F0B956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2259446"/>
                <a:ext cx="11953447" cy="407901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/>
                  <a:t>This new variable is called the Standard Normal Variable.</a:t>
                </a:r>
              </a:p>
              <a:p>
                <a:r>
                  <a:rPr lang="en-US" dirty="0"/>
                  <a:t>Every normal variable becomes this same universal curve after standardization.</a:t>
                </a:r>
              </a:p>
              <a:p>
                <a:r>
                  <a:rPr lang="en-US" dirty="0"/>
                  <a:t>So,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Real-life normal distributions differ in mean and spread.</a:t>
                </a:r>
              </a:p>
              <a:p>
                <a:pPr lvl="1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-score standardization removes these differences by rescaling data, so all normal distributions map to the same standard normal form without changing their relative structure​.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2B1DEFB-E1AD-0B56-0D9D-C5D0F0B95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2259446"/>
                <a:ext cx="11953447" cy="4079010"/>
              </a:xfrm>
              <a:prstGeom prst="rect">
                <a:avLst/>
              </a:prstGeom>
              <a:blipFill>
                <a:blip r:embed="rId4"/>
                <a:stretch>
                  <a:fillRect l="-969" r="-1071" b="-67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8437B8F-5307-8CCA-40A7-65C4C9D927DC}"/>
              </a:ext>
            </a:extLst>
          </p:cNvPr>
          <p:cNvSpPr txBox="1"/>
          <p:nvPr/>
        </p:nvSpPr>
        <p:spPr>
          <a:xfrm>
            <a:off x="6983129" y="6071692"/>
            <a:ext cx="5073790" cy="369332"/>
          </a:xfrm>
          <a:prstGeom prst="rect">
            <a:avLst/>
          </a:prstGeom>
          <a:noFill/>
          <a:ln w="28575">
            <a:solidFill>
              <a:srgbClr val="301B92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IN" sz="1800" dirty="0"/>
              <a:t>Visit : </a:t>
            </a:r>
            <a:r>
              <a:rPr lang="en-IN" sz="1800" dirty="0">
                <a:hlinkClick r:id="rId5"/>
              </a:rPr>
              <a:t>https://www.desmos.com/calculator/0x3rpqtgrx</a:t>
            </a:r>
            <a:r>
              <a:rPr lang="en-IN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328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64D8-3CA3-097D-E753-878AD3D0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CEC24-683F-0659-D55F-E9E35567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Normal Variable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2BC0D-4A3E-EF23-BB35-41DB11DC30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2060820" cy="2852880"/>
              </a:xfrm>
            </p:spPr>
            <p:txBody>
              <a:bodyPr/>
              <a:lstStyle/>
              <a:p>
                <a:r>
                  <a:rPr lang="en-US" dirty="0"/>
                  <a:t>A standard normal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 is a normal random variable with: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That means:</a:t>
                </a:r>
              </a:p>
              <a:p>
                <a:pPr lvl="1"/>
                <a:r>
                  <a:rPr lang="en-US" dirty="0"/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Standard deviation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σ</m:t>
                    </m:r>
                    <m:d>
                      <m:d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2BC0D-4A3E-EF23-BB35-41DB11DC30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2060820" cy="2852880"/>
              </a:xfrm>
              <a:blipFill>
                <a:blip r:embed="rId2"/>
                <a:stretch>
                  <a:fillRect l="-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2D6735-F0C2-A1E9-F13C-A071672790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63398" y="4300679"/>
                <a:ext cx="1774258" cy="14443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2D6735-F0C2-A1E9-F13C-A07167279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398" y="4300679"/>
                <a:ext cx="1774258" cy="14443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BEE2B0-1588-2E16-C90C-B34CD8A1AAC0}"/>
              </a:ext>
            </a:extLst>
          </p:cNvPr>
          <p:cNvSpPr txBox="1">
            <a:spLocks/>
          </p:cNvSpPr>
          <p:nvPr/>
        </p:nvSpPr>
        <p:spPr>
          <a:xfrm>
            <a:off x="131180" y="3429000"/>
            <a:ext cx="4104409" cy="8716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14375" indent="-352425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 is defined as </a:t>
            </a:r>
          </a:p>
        </p:txBody>
      </p:sp>
    </p:spTree>
    <p:extLst>
      <p:ext uri="{BB962C8B-B14F-4D97-AF65-F5344CB8AC3E}">
        <p14:creationId xmlns:p14="http://schemas.microsoft.com/office/powerpoint/2010/main" val="182558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DAC9-08A5-C974-5648-86E6DC3D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3FEAB4-36EE-C050-DFBE-BFDB74758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Normal Variable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5E46DCC-B6F1-095F-C9F8-8ADB273C60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404" y="783836"/>
                <a:ext cx="11988032" cy="711200"/>
              </a:xfrm>
            </p:spPr>
            <p:txBody>
              <a:bodyPr/>
              <a:lstStyle/>
              <a:p>
                <a:pPr lvl="0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dirty="0"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a:rPr lang="el-GR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dirty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l-GR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then it can be converted into a standard normal variable using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5E46DCC-B6F1-095F-C9F8-8ADB273C60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404" y="783836"/>
                <a:ext cx="11988032" cy="711200"/>
              </a:xfrm>
              <a:blipFill>
                <a:blip r:embed="rId2"/>
                <a:stretch>
                  <a:fillRect l="-966" b="-18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398DC2C-FC48-8DA0-85A5-C356D82069CB}"/>
                  </a:ext>
                </a:extLst>
              </p:cNvPr>
              <p:cNvSpPr/>
              <p:nvPr/>
            </p:nvSpPr>
            <p:spPr>
              <a:xfrm>
                <a:off x="5166855" y="1550953"/>
                <a:ext cx="2057215" cy="8989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28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𝛍</m:t>
                          </m:r>
                          <m:r>
                            <a:rPr lang="en-US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  <m:r>
                            <a:rPr lang="en-US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398DC2C-FC48-8DA0-85A5-C356D82069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855" y="1550953"/>
                <a:ext cx="2057215" cy="898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B2D2B5E-65BF-5F4B-4888-3D6F7C0F6718}"/>
                  </a:ext>
                </a:extLst>
              </p:cNvPr>
              <p:cNvSpPr/>
              <p:nvPr/>
            </p:nvSpPr>
            <p:spPr>
              <a:xfrm>
                <a:off x="162404" y="2449853"/>
                <a:ext cx="11988032" cy="19582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lnSpc>
                    <a:spcPct val="150000"/>
                  </a:lnSpc>
                  <a:buClr>
                    <a:schemeClr val="accent6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This conversion helps us easily evaluate probabilities such as</a:t>
                </a:r>
                <a:endParaRPr lang="en-IN" sz="2800" b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800" b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2800" b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sz="2800" b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IN" sz="28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 marL="269875" algn="just">
                  <a:lnSpc>
                    <a:spcPct val="150000"/>
                  </a:lnSpc>
                  <a:buClr>
                    <a:schemeClr val="accent6"/>
                  </a:buClr>
                </a:pPr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using standard normal tables.</a:t>
                </a:r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B2D2B5E-65BF-5F4B-4888-3D6F7C0F67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04" y="2449853"/>
                <a:ext cx="11988032" cy="1958293"/>
              </a:xfrm>
              <a:prstGeom prst="rect">
                <a:avLst/>
              </a:prstGeom>
              <a:blipFill>
                <a:blip r:embed="rId4"/>
                <a:stretch>
                  <a:fillRect l="-966" b="-81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6048856-F324-E0F1-51A0-6579AD67CE66}"/>
                  </a:ext>
                </a:extLst>
              </p:cNvPr>
              <p:cNvSpPr/>
              <p:nvPr/>
            </p:nvSpPr>
            <p:spPr>
              <a:xfrm>
                <a:off x="162404" y="4408146"/>
                <a:ext cx="11988032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lnSpc>
                    <a:spcPct val="150000"/>
                  </a:lnSpc>
                  <a:buClr>
                    <a:schemeClr val="accent6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PDF of Standard Normal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IN" sz="2800" dirty="0">
                    <a:solidFill>
                      <a:srgbClr val="FF0000"/>
                    </a:solidFill>
                  </a:rPr>
                  <a:t> </a:t>
                </a:r>
                <a:r>
                  <a:rPr lang="en-IN" sz="2800" dirty="0">
                    <a:solidFill>
                      <a:srgbClr val="002060"/>
                    </a:solidFill>
                  </a:rPr>
                  <a:t>is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6048856-F324-E0F1-51A0-6579AD67CE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04" y="4408146"/>
                <a:ext cx="11988032" cy="665631"/>
              </a:xfrm>
              <a:prstGeom prst="rect">
                <a:avLst/>
              </a:prstGeom>
              <a:blipFill>
                <a:blip r:embed="rId5"/>
                <a:stretch>
                  <a:fillRect l="-96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ECD4AC2-83D6-3BCF-5B12-0BAF65D25A83}"/>
                  </a:ext>
                </a:extLst>
              </p:cNvPr>
              <p:cNvSpPr/>
              <p:nvPr/>
            </p:nvSpPr>
            <p:spPr>
              <a:xfrm>
                <a:off x="3838264" y="5073777"/>
                <a:ext cx="5623408" cy="1427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IN"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en-US"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2800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b="1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800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𝛑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IN" sz="2800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p>
                          <m:r>
                            <a:rPr lang="en-US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N" sz="2800" b="1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800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IN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2800" b="1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p>
                              <m:r>
                                <a:rPr lang="en-US" sz="2800" b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sup>
                      </m:sSup>
                      <m:r>
                        <a:rPr lang="en-US" sz="2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; −∞&lt;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&lt;∞</m:t>
                      </m:r>
                    </m:oMath>
                  </m:oMathPara>
                </a14:m>
                <a:endParaRPr lang="en-IN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ECD4AC2-83D6-3BCF-5B12-0BAF65D25A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264" y="5073777"/>
                <a:ext cx="5623408" cy="14273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05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ACB90-0EF8-899C-6122-A390FCB3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E71FA4-34C2-4CA6-4D53-6DF7F5F74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 to Standard Normal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F89D7D3-A7E7-56C4-303C-701A9BF31B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1" y="672373"/>
                <a:ext cx="11839146" cy="1320199"/>
              </a:xfrm>
            </p:spPr>
            <p:txBody>
              <a:bodyPr/>
              <a:lstStyle/>
              <a:p>
                <a:pPr lvl="0"/>
                <a:r>
                  <a:rPr lang="en-US" dirty="0"/>
                  <a:t>Any normal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can be converted into a standard normal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/>
                <a:r>
                  <a:rPr lang="en-US" dirty="0"/>
                  <a:t>This is done because probability tables are available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F89D7D3-A7E7-56C4-303C-701A9BF31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1" y="672373"/>
                <a:ext cx="11839146" cy="1320199"/>
              </a:xfrm>
              <a:blipFill>
                <a:blip r:embed="rId2"/>
                <a:stretch>
                  <a:fillRect l="-978" b="-11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8158C2-9893-6DC2-42C3-04A571D7CE47}"/>
                  </a:ext>
                </a:extLst>
              </p:cNvPr>
              <p:cNvSpPr/>
              <p:nvPr/>
            </p:nvSpPr>
            <p:spPr>
              <a:xfrm>
                <a:off x="2041724" y="3014350"/>
                <a:ext cx="2260042" cy="8335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-Italic"/>
                            </a:rPr>
                          </m:ctrlPr>
                        </m:sSubPr>
                        <m:e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-Italic"/>
                            </a:rPr>
                            <m:t>𝐳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-Italic"/>
                            </a:rPr>
                            <m:t>𝟏</m:t>
                          </m:r>
                        </m:sub>
                      </m:sSub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-Italic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-Italic"/>
                            </a:rPr>
                          </m:ctrlPr>
                        </m:fPr>
                        <m:num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-Italic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-Italic"/>
                                </a:rPr>
                              </m:ctrlPr>
                            </m:sSubPr>
                            <m:e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m:t>−</m:t>
                          </m:r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m:t>𝛍</m:t>
                          </m:r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m:t>𝛔</m:t>
                          </m:r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8158C2-9893-6DC2-42C3-04A571D7C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724" y="3014350"/>
                <a:ext cx="2260042" cy="8335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B0A879F-C85B-9D60-B280-51982CD0D8ED}"/>
                  </a:ext>
                </a:extLst>
              </p:cNvPr>
              <p:cNvSpPr/>
              <p:nvPr/>
            </p:nvSpPr>
            <p:spPr>
              <a:xfrm>
                <a:off x="4840439" y="3014350"/>
                <a:ext cx="2260041" cy="8335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-Italic"/>
                            </a:rPr>
                          </m:ctrlPr>
                        </m:sSubPr>
                        <m:e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-Italic"/>
                            </a:rPr>
                            <m:t>𝐳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-Italic"/>
                            </a:rPr>
                            <m:t>𝟐</m:t>
                          </m:r>
                        </m:sub>
                      </m:sSub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-Italic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-Italic"/>
                            </a:rPr>
                          </m:ctrlPr>
                        </m:fPr>
                        <m:num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-Italic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-Italic"/>
                                </a:rPr>
                              </m:ctrlPr>
                            </m:sSubPr>
                            <m:e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m:t>−</m:t>
                          </m:r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m:t>𝛍</m:t>
                          </m:r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m:t>𝛔</m:t>
                          </m:r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B0A879F-C85B-9D60-B280-51982CD0D8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439" y="3014350"/>
                <a:ext cx="2260041" cy="8335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96D6174-5E82-1FC7-9255-373D788AFDFF}"/>
              </a:ext>
            </a:extLst>
          </p:cNvPr>
          <p:cNvSpPr/>
          <p:nvPr/>
        </p:nvSpPr>
        <p:spPr>
          <a:xfrm>
            <a:off x="999680" y="3166443"/>
            <a:ext cx="10951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where,</a:t>
            </a:r>
            <a:endParaRPr lang="en-IN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735B13-1310-F1C5-BF45-87A18C506BB2}"/>
              </a:ext>
            </a:extLst>
          </p:cNvPr>
          <p:cNvSpPr/>
          <p:nvPr/>
        </p:nvSpPr>
        <p:spPr>
          <a:xfrm>
            <a:off x="4216678" y="3163602"/>
            <a:ext cx="7088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and</a:t>
            </a:r>
            <a:endParaRPr lang="en-IN" sz="2800" dirty="0">
              <a:solidFill>
                <a:schemeClr val="tx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0C2E429-7EFD-4BEB-1E69-493BF5D46852}"/>
                  </a:ext>
                </a:extLst>
              </p:cNvPr>
              <p:cNvSpPr/>
              <p:nvPr/>
            </p:nvSpPr>
            <p:spPr>
              <a:xfrm>
                <a:off x="131182" y="4295721"/>
                <a:ext cx="6092198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5113" indent="-265113" algn="just">
                  <a:lnSpc>
                    <a:spcPct val="150000"/>
                  </a:lnSpc>
                  <a:buClr>
                    <a:schemeClr val="accent6"/>
                  </a:buClr>
                  <a:buFont typeface="Wingdings 3" panose="05040102010807070707" pitchFamily="18" charset="2"/>
                  <a:buChar char=""/>
                </a:pPr>
                <a:r>
                  <a:rPr lang="en-US" sz="2800" dirty="0">
                    <a:solidFill>
                      <a:srgbClr val="002060"/>
                    </a:solidFill>
                  </a:rPr>
                  <a:t>This probability is equal to area under the standard normal curve between the coordinates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2800" b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2800" b="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2800" b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0C2E429-7EFD-4BEB-1E69-493BF5D46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2" y="4295721"/>
                <a:ext cx="6092198" cy="2031325"/>
              </a:xfrm>
              <a:prstGeom prst="rect">
                <a:avLst/>
              </a:prstGeom>
              <a:blipFill>
                <a:blip r:embed="rId5"/>
                <a:stretch>
                  <a:fillRect l="-1902" r="-2002" b="-42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9606E3E-53B2-F962-8B5A-B6F6271BD0D2}"/>
                  </a:ext>
                </a:extLst>
              </p:cNvPr>
              <p:cNvSpPr/>
              <p:nvPr/>
            </p:nvSpPr>
            <p:spPr>
              <a:xfrm>
                <a:off x="438571" y="2134778"/>
                <a:ext cx="106914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/>
                  </a:rPr>
                  <a:t>So,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IN" sz="2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-Italic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-Italic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𝐗</m:t>
                        </m:r>
                        <m: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IN" sz="28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-Italic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sz="28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r>
                      <a:rPr lang="en-US" sz="2800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IN" sz="2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  <m: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sz="2800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IN" sz="28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US" sz="2800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9606E3E-53B2-F962-8B5A-B6F6271BD0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71" y="2134778"/>
                <a:ext cx="10691494" cy="523220"/>
              </a:xfrm>
              <a:prstGeom prst="rect">
                <a:avLst/>
              </a:prstGeom>
              <a:blipFill>
                <a:blip r:embed="rId6"/>
                <a:stretch>
                  <a:fillRect l="-1197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81ABF5D-1474-4362-3169-F4E813BD136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73755" y="3985814"/>
              <a:ext cx="3913177" cy="248744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9131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97844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899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IN" sz="2600" dirty="0">
                              <a:solidFill>
                                <a:schemeClr val="tx1"/>
                              </a:solidFill>
                              <a:effectLst/>
                            </a:rPr>
                            <a:t>   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2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1" i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𝐳</m:t>
                                  </m:r>
                                </m:e>
                                <m:sub>
                                  <m:r>
                                    <a:rPr lang="en-IN" sz="26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2600" dirty="0">
                              <a:solidFill>
                                <a:schemeClr val="tx1"/>
                              </a:solidFill>
                              <a:effectLst/>
                            </a:rPr>
                            <a:t>   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26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600" b="1" i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𝐳</m:t>
                                  </m:r>
                                </m:e>
                                <m:sub>
                                  <m:r>
                                    <a:rPr lang="en-IN" sz="26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N" sz="26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81ABF5D-1474-4362-3169-F4E813BD136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73755" y="3985814"/>
              <a:ext cx="3913177" cy="248744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9131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97844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IN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89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7"/>
                          <a:stretch>
                            <a:fillRect l="-156" t="-388095" r="-622" b="-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" name="Picture 10">
            <a:extLst>
              <a:ext uri="{FF2B5EF4-FFF2-40B4-BE49-F238E27FC236}">
                <a16:creationId xmlns:a16="http://schemas.microsoft.com/office/drawing/2014/main" id="{8988C29E-85EB-62DB-CC2F-2AC982A37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8" t="44711" r="69505" b="35591"/>
          <a:stretch>
            <a:fillRect/>
          </a:stretch>
        </p:blipFill>
        <p:spPr bwMode="auto">
          <a:xfrm>
            <a:off x="6673755" y="4005074"/>
            <a:ext cx="3913177" cy="20954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534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" grpId="0"/>
      <p:bldP spid="3" grpId="0"/>
      <p:bldP spid="6" grpId="0"/>
      <p:bldP spid="7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BCE1573B-CA90-43EC-9D0F-B94CEE0772B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Methods for Finding the Probability (area) from </a:t>
                </a:r>
                <a14:m>
                  <m:oMath xmlns:m="http://schemas.openxmlformats.org/officeDocument/2006/math"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dirty="0"/>
                  <a:t>Table  </a:t>
                </a: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BCE1573B-CA90-43EC-9D0F-B94CEE077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1" y="863445"/>
                <a:ext cx="7371055" cy="3407220"/>
              </a:xfrm>
            </p:spPr>
            <p:txBody>
              <a:bodyPr/>
              <a:lstStyle/>
              <a:p>
                <a:pPr lvl="0"/>
                <a:r>
                  <a:rPr lang="en-US" dirty="0"/>
                  <a:t>The normal curve represents the probability density of a normal distribution.</a:t>
                </a:r>
              </a:p>
              <a:p>
                <a:pPr marL="0" lvl="0" indent="0">
                  <a:buNone/>
                </a:pPr>
                <a:r>
                  <a:rPr lang="en-US" dirty="0"/>
                  <a:t> </a:t>
                </a:r>
                <a:endParaRPr lang="en-IN" dirty="0"/>
              </a:p>
              <a:p>
                <a:pPr lvl="0"/>
                <a:r>
                  <a:rPr lang="en-US" dirty="0"/>
                  <a:t>The total area under the curve (from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)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1" y="863445"/>
                <a:ext cx="7371055" cy="3407220"/>
              </a:xfrm>
              <a:blipFill>
                <a:blip r:embed="rId3"/>
                <a:stretch>
                  <a:fillRect l="-1572" r="-16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5C6CD9E-2CEB-3DD6-98C9-AC101C504CA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3152" y="1473414"/>
            <a:ext cx="5358848" cy="35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5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BCE1573B-CA90-43EC-9D0F-B94CEE0772B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Methods for Finding the Probability (area)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N" dirty="0"/>
                  <a:t>Table  </a:t>
                </a: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xmlns="" id="{BCE1573B-CA90-43EC-9D0F-B94CEE077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5"/>
                <a:ext cx="8056855" cy="4664520"/>
              </a:xfrm>
            </p:spPr>
            <p:txBody>
              <a:bodyPr/>
              <a:lstStyle/>
              <a:p>
                <a:pPr lvl="0"/>
                <a:r>
                  <a:rPr lang="en-US" dirty="0"/>
                  <a:t>The curve is symmetric about the mean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/>
                  <a:t> (or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).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lvl="0"/>
                <a:r>
                  <a:rPr lang="en-US" dirty="0"/>
                  <a:t>The probability(area) to the right side of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0.5 </m:t>
                    </m:r>
                  </m:oMath>
                </a14:m>
                <a:r>
                  <a:rPr lang="en-US" dirty="0"/>
                  <a:t>and it is denoted by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</m:d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:endParaRPr lang="en-IN" dirty="0">
                  <a:latin typeface="Cambria Math" panose="02040503050406030204" pitchFamily="18" charset="0"/>
                </a:endParaRPr>
              </a:p>
              <a:p>
                <a:pPr lvl="0"/>
                <a:r>
                  <a:rPr lang="en-US" dirty="0"/>
                  <a:t>The probability(area) to the left side of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dirty="0"/>
                  <a:t> is also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 and it is denoted by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</m:d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IN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5"/>
                <a:ext cx="8056855" cy="4664520"/>
              </a:xfrm>
              <a:blipFill>
                <a:blip r:embed="rId4"/>
                <a:stretch>
                  <a:fillRect l="-1438" r="-1514" b="-2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03C8CDDB-E408-AF93-682D-85D7D8B98F2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3152" y="711201"/>
            <a:ext cx="5358848" cy="35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6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1" y="711202"/>
                <a:ext cx="11880710" cy="571509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/>
                  </a:rPr>
                  <a:t>Case : (1)</a:t>
                </a:r>
                <a:r>
                  <a:rPr lang="en-US" dirty="0">
                    <a:ea typeface="Calibri" panose="020F0502020204030204" pitchFamily="34" charset="0"/>
                    <a:cs typeface="Shruti"/>
                  </a:rPr>
                  <a:t> 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Shruti"/>
                  </a:rPr>
                  <a:t>Area between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𝟎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𝐭𝐨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𝟏</m:t>
                        </m:r>
                      </m:sub>
                    </m:sSub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,</m:t>
                    </m:r>
                  </m:oMath>
                </a14:m>
                <a:r>
                  <a:rPr lang="en-IN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which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can be represented as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𝟎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sz="2700" b="1" dirty="0"/>
              </a:p>
              <a:p>
                <a:pPr lvl="1"/>
                <a:r>
                  <a:rPr lang="en-US" sz="2700" b="1" dirty="0"/>
                  <a:t>Example: </a:t>
                </a:r>
                <a:r>
                  <a:rPr lang="en-US" sz="2700" dirty="0"/>
                  <a:t>To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700" b="0" i="1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b="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700" b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US" sz="2700" b="0" i="1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sz="2700" b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700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700" b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700" b="0" i="1">
                            <a:latin typeface="Cambria Math" panose="02040503050406030204" pitchFamily="18" charset="0"/>
                          </a:rPr>
                          <m:t>43</m:t>
                        </m:r>
                      </m:e>
                    </m:d>
                  </m:oMath>
                </a14:m>
                <a:r>
                  <a:rPr lang="en-IN" sz="2700" dirty="0"/>
                  <a:t>.</a:t>
                </a:r>
              </a:p>
              <a:p>
                <a:pPr lvl="2"/>
                <a:r>
                  <a:rPr lang="en-US" sz="2700" dirty="0"/>
                  <a:t>Step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700" dirty="0"/>
                  <a:t>: Split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1.43</m:t>
                    </m:r>
                  </m:oMath>
                </a14:m>
                <a:r>
                  <a:rPr lang="en-US" sz="2700" dirty="0"/>
                  <a:t> as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1.4+0.03</m:t>
                    </m:r>
                  </m:oMath>
                </a14:m>
                <a:r>
                  <a:rPr lang="en-US" sz="2700" dirty="0"/>
                  <a:t> </a:t>
                </a:r>
              </a:p>
              <a:p>
                <a:pPr lvl="2"/>
                <a:r>
                  <a:rPr lang="en-US" sz="2700" dirty="0"/>
                  <a:t>Step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700" dirty="0"/>
                  <a:t>: Find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1.4</m:t>
                    </m:r>
                  </m:oMath>
                </a14:m>
                <a:r>
                  <a:rPr lang="en-US" sz="2700" dirty="0"/>
                  <a:t> in first column and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0.03</m:t>
                    </m:r>
                  </m:oMath>
                </a14:m>
                <a:r>
                  <a:rPr lang="en-US" sz="2700" dirty="0"/>
                  <a:t> in first row in </a:t>
                </a:r>
                <a14:m>
                  <m:oMath xmlns:m="http://schemas.openxmlformats.org/officeDocument/2006/math">
                    <m:r>
                      <a:rPr lang="en-US" sz="2700" b="1" i="0" dirty="0" smtClean="0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sz="2700" b="1" dirty="0"/>
                  <a:t> – table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1" y="711202"/>
                <a:ext cx="11880710" cy="5715098"/>
              </a:xfrm>
              <a:blipFill>
                <a:blip r:embed="rId2"/>
                <a:stretch>
                  <a:fillRect l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58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Method 4 ⇝ </a:t>
                </a:r>
                <a14:m>
                  <m:oMath xmlns:m="http://schemas.openxmlformats.org/officeDocument/2006/math">
                    <m:r>
                      <a:rPr lang="en-GB" b="1" i="0" dirty="0" smtClean="0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GB" dirty="0"/>
                  <a:t> – Table 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10256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1" y="749838"/>
            <a:ext cx="9801540" cy="57992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9183" y="5821251"/>
            <a:ext cx="643943" cy="309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10971" y="775238"/>
            <a:ext cx="822324" cy="309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/>
          <p:cNvCxnSpPr>
            <a:stCxn id="4" idx="3"/>
          </p:cNvCxnSpPr>
          <p:nvPr/>
        </p:nvCxnSpPr>
        <p:spPr>
          <a:xfrm flipV="1">
            <a:off x="873126" y="5975797"/>
            <a:ext cx="2599744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 flipV="1">
            <a:off x="1562074" y="3438911"/>
            <a:ext cx="4709160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15733" y="5808477"/>
            <a:ext cx="822325" cy="309093"/>
          </a:xfrm>
          <a:prstGeom prst="rect">
            <a:avLst/>
          </a:prstGeom>
          <a:noFill/>
          <a:ln w="38100">
            <a:solidFill>
              <a:srgbClr val="301B9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30A8D2-C1D9-81E0-C468-E7B4E9A5C77E}"/>
                  </a:ext>
                </a:extLst>
              </p:cNvPr>
              <p:cNvSpPr txBox="1"/>
              <p:nvPr/>
            </p:nvSpPr>
            <p:spPr>
              <a:xfrm>
                <a:off x="9767458" y="3467638"/>
                <a:ext cx="2424542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𝟒𝟑</m:t>
                      </m:r>
                    </m:oMath>
                  </m:oMathPara>
                </a14:m>
                <a:endParaRPr lang="en-IN" sz="2800" b="1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b="1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𝟎𝟑</m:t>
                      </m:r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30A8D2-C1D9-81E0-C468-E7B4E9A5C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458" y="3467638"/>
                <a:ext cx="2424542" cy="1384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936AFE6-BCC3-9025-5737-33C2CA2FCC21}"/>
              </a:ext>
            </a:extLst>
          </p:cNvPr>
          <p:cNvGrpSpPr>
            <a:grpSpLocks noChangeAspect="1"/>
          </p:cNvGrpSpPr>
          <p:nvPr/>
        </p:nvGrpSpPr>
        <p:grpSpPr>
          <a:xfrm>
            <a:off x="9778651" y="940417"/>
            <a:ext cx="2413584" cy="1866770"/>
            <a:chOff x="870969" y="2864804"/>
            <a:chExt cx="4817704" cy="3726219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4E0074-7752-A43D-58CF-E64FB7BEF022}"/>
                </a:ext>
              </a:extLst>
            </p:cNvPr>
            <p:cNvSpPr/>
            <p:nvPr/>
          </p:nvSpPr>
          <p:spPr>
            <a:xfrm>
              <a:off x="3412590" y="2864804"/>
              <a:ext cx="1432300" cy="3038880"/>
            </a:xfrm>
            <a:custGeom>
              <a:avLst/>
              <a:gdLst>
                <a:gd name="csX0" fmla="*/ 16246 w 1432300"/>
                <a:gd name="csY0" fmla="*/ 0 h 3038880"/>
                <a:gd name="csX1" fmla="*/ 1259753 w 1432300"/>
                <a:gd name="csY1" fmla="*/ 2159550 h 3038880"/>
                <a:gd name="csX2" fmla="*/ 1397994 w 1432300"/>
                <a:gd name="csY2" fmla="*/ 2420425 h 3038880"/>
                <a:gd name="csX3" fmla="*/ 1432300 w 1432300"/>
                <a:gd name="csY3" fmla="*/ 2472624 h 3038880"/>
                <a:gd name="csX4" fmla="*/ 1432300 w 1432300"/>
                <a:gd name="csY4" fmla="*/ 3038880 h 3038880"/>
                <a:gd name="csX5" fmla="*/ 0 w 1432300"/>
                <a:gd name="csY5" fmla="*/ 3038880 h 3038880"/>
                <a:gd name="csX6" fmla="*/ 0 w 1432300"/>
                <a:gd name="csY6" fmla="*/ 1771 h 303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32300" h="3038880">
                  <a:moveTo>
                    <a:pt x="16246" y="0"/>
                  </a:moveTo>
                  <a:cubicBezTo>
                    <a:pt x="492121" y="724"/>
                    <a:pt x="1055322" y="1727061"/>
                    <a:pt x="1259753" y="2159550"/>
                  </a:cubicBezTo>
                  <a:cubicBezTo>
                    <a:pt x="1304472" y="2254157"/>
                    <a:pt x="1350175" y="2341548"/>
                    <a:pt x="1397994" y="2420425"/>
                  </a:cubicBezTo>
                  <a:lnTo>
                    <a:pt x="1432300" y="2472624"/>
                  </a:lnTo>
                  <a:lnTo>
                    <a:pt x="1432300" y="3038880"/>
                  </a:lnTo>
                  <a:lnTo>
                    <a:pt x="0" y="3038880"/>
                  </a:lnTo>
                  <a:lnTo>
                    <a:pt x="0" y="1771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200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C18122C-4B0D-87E0-FAC1-7AEF76541802}"/>
                </a:ext>
              </a:extLst>
            </p:cNvPr>
            <p:cNvCxnSpPr>
              <a:cxnSpLocks/>
            </p:cNvCxnSpPr>
            <p:nvPr/>
          </p:nvCxnSpPr>
          <p:spPr>
            <a:xfrm>
              <a:off x="3384346" y="2881044"/>
              <a:ext cx="29615" cy="30330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EA3A632-8C51-9D5D-5E7A-BE6A728E1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4890" y="5382491"/>
              <a:ext cx="0" cy="5211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9C18CD3-FBF1-2277-4455-56C99C61E550}"/>
                </a:ext>
              </a:extLst>
            </p:cNvPr>
            <p:cNvSpPr/>
            <p:nvPr/>
          </p:nvSpPr>
          <p:spPr>
            <a:xfrm>
              <a:off x="1404822" y="2875192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sz="1200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8416234-0992-AAC0-E112-705660814270}"/>
                </a:ext>
              </a:extLst>
            </p:cNvPr>
            <p:cNvCxnSpPr>
              <a:cxnSpLocks/>
            </p:cNvCxnSpPr>
            <p:nvPr/>
          </p:nvCxnSpPr>
          <p:spPr>
            <a:xfrm>
              <a:off x="1404822" y="5914074"/>
              <a:ext cx="401827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ontent Placeholder 4">
                  <a:extLst>
                    <a:ext uri="{FF2B5EF4-FFF2-40B4-BE49-F238E27FC236}">
                      <a16:creationId xmlns:a16="http://schemas.microsoft.com/office/drawing/2014/main" id="{1F6CD3CE-DE36-A98A-E431-24B52F6C07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579317" y="5735095"/>
                  <a:ext cx="531146" cy="814364"/>
                </a:xfrm>
                <a:prstGeom prst="rect">
                  <a:avLst/>
                </a:prstGeom>
                <a:ln w="19050">
                  <a:noFill/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sz="1200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sz="1200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" name="Content Placeholder 4">
                  <a:extLst>
                    <a:ext uri="{FF2B5EF4-FFF2-40B4-BE49-F238E27FC236}">
                      <a16:creationId xmlns:a16="http://schemas.microsoft.com/office/drawing/2014/main" id="{1F6CD3CE-DE36-A98A-E431-24B52F6C07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9317" y="5735095"/>
                  <a:ext cx="531146" cy="8143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4">
                  <a:extLst>
                    <a:ext uri="{FF2B5EF4-FFF2-40B4-BE49-F238E27FC236}">
                      <a16:creationId xmlns:a16="http://schemas.microsoft.com/office/drawing/2014/main" id="{CE94D876-A454-E552-FDC2-CFD524D5224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27058" y="5776659"/>
                  <a:ext cx="371062" cy="814364"/>
                </a:xfrm>
                <a:prstGeom prst="rect">
                  <a:avLst/>
                </a:prstGeom>
                <a:ln w="19050">
                  <a:noFill/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1200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" name="Content Placeholder 4">
                  <a:extLst>
                    <a:ext uri="{FF2B5EF4-FFF2-40B4-BE49-F238E27FC236}">
                      <a16:creationId xmlns:a16="http://schemas.microsoft.com/office/drawing/2014/main" id="{CE94D876-A454-E552-FDC2-CFD524D522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058" y="5776659"/>
                  <a:ext cx="371062" cy="814364"/>
                </a:xfrm>
                <a:prstGeom prst="rect">
                  <a:avLst/>
                </a:prstGeom>
                <a:blipFill>
                  <a:blip r:embed="rId6"/>
                  <a:stretch>
                    <a:fillRect r="-26667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ontent Placeholder 4">
                  <a:extLst>
                    <a:ext uri="{FF2B5EF4-FFF2-40B4-BE49-F238E27FC236}">
                      <a16:creationId xmlns:a16="http://schemas.microsoft.com/office/drawing/2014/main" id="{27EB0E37-62C3-0156-4525-235C2B86AAE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11974" y="5755877"/>
                  <a:ext cx="476699" cy="814364"/>
                </a:xfrm>
                <a:prstGeom prst="rect">
                  <a:avLst/>
                </a:prstGeom>
                <a:ln w="19050">
                  <a:noFill/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1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sz="1200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Content Placeholder 4">
                  <a:extLst>
                    <a:ext uri="{FF2B5EF4-FFF2-40B4-BE49-F238E27FC236}">
                      <a16:creationId xmlns:a16="http://schemas.microsoft.com/office/drawing/2014/main" id="{27EB0E37-62C3-0156-4525-235C2B86AA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1974" y="5755877"/>
                  <a:ext cx="476699" cy="814364"/>
                </a:xfrm>
                <a:prstGeom prst="rect">
                  <a:avLst/>
                </a:prstGeom>
                <a:blipFill>
                  <a:blip r:embed="rId7"/>
                  <a:stretch>
                    <a:fillRect r="-7692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4">
                  <a:extLst>
                    <a:ext uri="{FF2B5EF4-FFF2-40B4-BE49-F238E27FC236}">
                      <a16:creationId xmlns:a16="http://schemas.microsoft.com/office/drawing/2014/main" id="{2218F419-BA34-32C6-3FE3-0E59008B4F8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70969" y="5755877"/>
                  <a:ext cx="782924" cy="814364"/>
                </a:xfrm>
                <a:prstGeom prst="rect">
                  <a:avLst/>
                </a:prstGeom>
                <a:ln w="19050">
                  <a:noFill/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sz="1200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Content Placeholder 4">
                  <a:extLst>
                    <a:ext uri="{FF2B5EF4-FFF2-40B4-BE49-F238E27FC236}">
                      <a16:creationId xmlns:a16="http://schemas.microsoft.com/office/drawing/2014/main" id="{2218F419-BA34-32C6-3FE3-0E59008B4F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969" y="5755877"/>
                  <a:ext cx="782924" cy="81436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4149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2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4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EDB97-7C73-AF46-05F2-FF5B83595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D80A21-7CA8-D9EB-7A89-668B1DA1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F289C56-C6A6-AF93-BE9A-62E07F0089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1" y="711202"/>
                <a:ext cx="11880710" cy="571509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/>
                  </a:rPr>
                  <a:t>Case : (1)</a:t>
                </a:r>
                <a:r>
                  <a:rPr lang="en-US" dirty="0">
                    <a:ea typeface="Calibri" panose="020F0502020204030204" pitchFamily="34" charset="0"/>
                    <a:cs typeface="Shruti"/>
                  </a:rPr>
                  <a:t> 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Shruti"/>
                  </a:rPr>
                  <a:t>Area between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𝟎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𝐭𝐨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𝟏</m:t>
                        </m:r>
                      </m:sub>
                    </m:sSub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,</m:t>
                    </m:r>
                  </m:oMath>
                </a14:m>
                <a:r>
                  <a:rPr lang="en-IN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which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can be represented as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𝟎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sz="2700" b="1" dirty="0"/>
              </a:p>
              <a:p>
                <a:pPr lvl="1"/>
                <a:r>
                  <a:rPr lang="en-US" sz="2700" b="1" dirty="0"/>
                  <a:t>Example:</a:t>
                </a:r>
                <a:r>
                  <a:rPr lang="en-US" sz="2700" dirty="0"/>
                  <a:t> To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700" b="0" i="1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b="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700" b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US" sz="2700" b="0" i="1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sz="2700" b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700" b="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700" b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700" b="0" i="1">
                            <a:latin typeface="Cambria Math" panose="02040503050406030204" pitchFamily="18" charset="0"/>
                          </a:rPr>
                          <m:t>43</m:t>
                        </m:r>
                      </m:e>
                    </m:d>
                  </m:oMath>
                </a14:m>
                <a:r>
                  <a:rPr lang="en-IN" sz="2700" dirty="0"/>
                  <a:t>.</a:t>
                </a:r>
              </a:p>
              <a:p>
                <a:pPr lvl="2"/>
                <a:r>
                  <a:rPr lang="en-US" sz="2700" dirty="0"/>
                  <a:t>Step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700" dirty="0"/>
                  <a:t>: Split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1.43</m:t>
                    </m:r>
                  </m:oMath>
                </a14:m>
                <a:r>
                  <a:rPr lang="en-US" sz="2700" dirty="0"/>
                  <a:t> as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1.4+0.03</m:t>
                    </m:r>
                  </m:oMath>
                </a14:m>
                <a:r>
                  <a:rPr lang="en-US" sz="2700" dirty="0"/>
                  <a:t> </a:t>
                </a:r>
              </a:p>
              <a:p>
                <a:pPr lvl="2"/>
                <a:r>
                  <a:rPr lang="en-US" sz="2700" dirty="0"/>
                  <a:t>Step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700" dirty="0"/>
                  <a:t>: Find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1.4</m:t>
                    </m:r>
                  </m:oMath>
                </a14:m>
                <a:r>
                  <a:rPr lang="en-US" sz="2700" dirty="0"/>
                  <a:t> in first column and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0.03</m:t>
                    </m:r>
                  </m:oMath>
                </a14:m>
                <a:r>
                  <a:rPr lang="en-US" sz="2700" dirty="0"/>
                  <a:t> in first row in </a:t>
                </a:r>
                <a14:m>
                  <m:oMath xmlns:m="http://schemas.openxmlformats.org/officeDocument/2006/math">
                    <m:r>
                      <a:rPr lang="en-US" sz="2700" b="1" i="0" dirty="0" smtClean="0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sz="2700" b="1" dirty="0"/>
                  <a:t> – table</a:t>
                </a:r>
              </a:p>
              <a:p>
                <a:pPr lvl="2"/>
                <a:r>
                  <a:rPr lang="en-US" dirty="0"/>
                  <a:t>Step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: Intersection of that row and column is answer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≤1.43</m:t>
                        </m:r>
                      </m:e>
                    </m:d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dirty="0"/>
                  <a:t>	   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≤1.43</m:t>
                        </m:r>
                      </m:e>
                    </m:d>
                    <m:r>
                      <a:rPr lang="en-US" b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4236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F289C56-C6A6-AF93-BE9A-62E07F008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1" y="711202"/>
                <a:ext cx="11880710" cy="5715098"/>
              </a:xfrm>
              <a:blipFill>
                <a:blip r:embed="rId2"/>
                <a:stretch>
                  <a:fillRect l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65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1" y="771339"/>
                <a:ext cx="11880710" cy="5590565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N" i="1" dirty="0">
                    <a:latin typeface="Cambria Math" panose="02040503050406030204" pitchFamily="18" charset="0"/>
                  </a:rPr>
                  <a:t>, </a:t>
                </a:r>
                <a:r>
                  <a:rPr lang="en-US" dirty="0"/>
                  <a:t>which can be represented as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IN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:r>
                  <a:rPr lang="en-US" dirty="0"/>
                  <a:t>So,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IN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– </m:t>
                    </m:r>
                  </m:oMath>
                </a14:m>
                <a:r>
                  <a:rPr lang="en-US" dirty="0"/>
                  <a:t>axis.</a:t>
                </a:r>
                <a:r>
                  <a:rPr lang="en-IN" dirty="0"/>
                  <a:t> </a:t>
                </a:r>
              </a:p>
              <a:p>
                <a:pPr lvl="1"/>
                <a:r>
                  <a:rPr lang="en-IN" dirty="0"/>
                  <a:t>That is,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≤1.43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−1.43≤</m:t>
                        </m:r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≤0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=0.4236</m:t>
                    </m:r>
                  </m:oMath>
                </a14:m>
                <a:endParaRPr lang="en-IN" b="1" dirty="0">
                  <a:latin typeface="Cambria Math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1" y="771339"/>
                <a:ext cx="11880710" cy="5590565"/>
              </a:xfrm>
              <a:blipFill>
                <a:blip r:embed="rId2"/>
                <a:stretch>
                  <a:fillRect l="-975" r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Canvas 42"/>
          <p:cNvGrpSpPr/>
          <p:nvPr/>
        </p:nvGrpSpPr>
        <p:grpSpPr>
          <a:xfrm>
            <a:off x="1738935" y="3790634"/>
            <a:ext cx="8714129" cy="2768697"/>
            <a:chOff x="0" y="0"/>
            <a:chExt cx="5486400" cy="14340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47"/>
                <p:cNvSpPr txBox="1"/>
                <p:nvPr/>
              </p:nvSpPr>
              <p:spPr>
                <a:xfrm>
                  <a:off x="4541214" y="1020217"/>
                  <a:ext cx="373769" cy="413816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IN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z</m:t>
                            </m:r>
                          </m:e>
                          <m:sub>
                            <m:r>
                              <a:rPr kumimoji="0" lang="en-US" sz="2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I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endParaRPr>
                </a:p>
              </p:txBody>
            </p:sp>
          </mc:Choice>
          <mc:Fallback xmlns="">
            <p:sp>
              <p:nvSpPr>
                <p:cNvPr id="8" name="Text 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1214" y="1020217"/>
                  <a:ext cx="373769" cy="413816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46"/>
                <p:cNvSpPr txBox="1"/>
                <p:nvPr/>
              </p:nvSpPr>
              <p:spPr>
                <a:xfrm>
                  <a:off x="625034" y="1026891"/>
                  <a:ext cx="393793" cy="313699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−</m:t>
                        </m:r>
                        <m:sSub>
                          <m:sSubPr>
                            <m:ctrlPr>
                              <a:rPr kumimoji="0" lang="en-IN" sz="2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z</m:t>
                            </m:r>
                          </m:e>
                          <m:sub>
                            <m:r>
                              <a:rPr kumimoji="0" lang="en-US" sz="2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I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endParaRPr>
                </a:p>
              </p:txBody>
            </p:sp>
          </mc:Choice>
          <mc:Fallback xmlns="">
            <p:sp>
              <p:nvSpPr>
                <p:cNvPr id="9" name="Text 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034" y="1026891"/>
                  <a:ext cx="393793" cy="3136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44"/>
                <p:cNvSpPr txBox="1"/>
                <p:nvPr/>
              </p:nvSpPr>
              <p:spPr>
                <a:xfrm>
                  <a:off x="1340062" y="1033563"/>
                  <a:ext cx="280327" cy="320374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0</m:t>
                        </m:r>
                      </m:oMath>
                    </m:oMathPara>
                  </a14:m>
                  <a:endParaRPr kumimoji="0" lang="en-I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Calibri" panose="020F0502020204030204" pitchFamily="34" charset="0"/>
                      <a:cs typeface="Shruti"/>
                    </a:rPr>
                    <a:t> </a:t>
                  </a:r>
                  <a:endParaRPr kumimoji="0" lang="en-I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endParaRPr>
                </a:p>
              </p:txBody>
            </p:sp>
          </mc:Choice>
          <mc:Fallback xmlns="">
            <p:sp>
              <p:nvSpPr>
                <p:cNvPr id="10" name="Text 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0062" y="1033563"/>
                  <a:ext cx="280327" cy="32037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45"/>
                <p:cNvSpPr txBox="1"/>
                <p:nvPr/>
              </p:nvSpPr>
              <p:spPr>
                <a:xfrm>
                  <a:off x="3885639" y="1033563"/>
                  <a:ext cx="413816" cy="247936"/>
                </a:xfrm>
                <a:prstGeom prst="rect">
                  <a:avLst/>
                </a:prstGeom>
                <a:solidFill>
                  <a:sysClr val="window" lastClr="FFFFFF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0</m:t>
                        </m:r>
                      </m:oMath>
                    </m:oMathPara>
                  </a14:m>
                  <a:endParaRPr kumimoji="0" lang="en-IN" sz="2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endParaRPr>
                </a:p>
              </p:txBody>
            </p:sp>
          </mc:Choice>
          <mc:Fallback xmlns="">
            <p:sp>
              <p:nvSpPr>
                <p:cNvPr id="11" name="Text 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5639" y="1033563"/>
                  <a:ext cx="413816" cy="2479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04" t="45499" r="29315" b="33623"/>
            <a:stretch/>
          </p:blipFill>
          <p:spPr bwMode="auto">
            <a:xfrm>
              <a:off x="0" y="0"/>
              <a:ext cx="5486400" cy="106680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0495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89710"/>
                <a:ext cx="12060820" cy="2836837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/>
                  </a:rPr>
                  <a:t>Case : (2)</a:t>
                </a:r>
                <a:r>
                  <a:rPr lang="en-US" dirty="0">
                    <a:ea typeface="Calibri" panose="020F0502020204030204" pitchFamily="34" charset="0"/>
                    <a:cs typeface="Shruti"/>
                  </a:rPr>
                  <a:t> 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Shruti"/>
                  </a:rPr>
                  <a:t>Area between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=−∞ 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𝐭𝐨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𝟏</m:t>
                        </m:r>
                      </m:sub>
                    </m:sSub>
                    <m:r>
                      <a:rPr lang="en-IN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,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which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can be represented as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89710"/>
                <a:ext cx="12060820" cy="2836837"/>
              </a:xfrm>
              <a:blipFill>
                <a:blip r:embed="rId2"/>
                <a:stretch>
                  <a:fillRect l="-10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C385CCC2-34BB-6035-95F0-03B7CBF0BD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049" y="2037927"/>
                <a:ext cx="8411684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dirty="0"/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−∞≤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C385CCC2-34BB-6035-95F0-03B7CBF0B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49" y="2037927"/>
                <a:ext cx="8411684" cy="814364"/>
              </a:xfrm>
              <a:prstGeom prst="rect">
                <a:avLst/>
              </a:prstGeom>
              <a:blipFill>
                <a:blip r:embed="rId3"/>
                <a:stretch>
                  <a:fillRect l="-1522" b="-22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25F7E7B9-8372-7E3B-8B65-35C2795BB1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050" y="2739431"/>
                <a:ext cx="12114311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dirty="0"/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−∞≤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can be found by using </a:t>
                </a:r>
                <a:r>
                  <a:rPr lang="en-US" b="1" dirty="0">
                    <a:solidFill>
                      <a:srgbClr val="FF0000"/>
                    </a:solidFill>
                  </a:rPr>
                  <a:t>case – (1)</a:t>
                </a:r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25F7E7B9-8372-7E3B-8B65-35C2795BB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50" y="2739431"/>
                <a:ext cx="12114311" cy="814364"/>
              </a:xfrm>
              <a:prstGeom prst="rect">
                <a:avLst/>
              </a:prstGeom>
              <a:blipFill>
                <a:blip r:embed="rId4"/>
                <a:stretch>
                  <a:fillRect l="-1057" b="-22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36AEB48-E967-9C24-1EE4-B1485FA9CC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696" t="1" r="64659" b="3034"/>
          <a:stretch>
            <a:fillRect/>
          </a:stretch>
        </p:blipFill>
        <p:spPr>
          <a:xfrm>
            <a:off x="131181" y="3599815"/>
            <a:ext cx="4222610" cy="2660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63599D-F1F2-80A8-BE2F-D16BE07755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131" b="-3404"/>
          <a:stretch>
            <a:fillRect/>
          </a:stretch>
        </p:blipFill>
        <p:spPr>
          <a:xfrm>
            <a:off x="4459846" y="3599815"/>
            <a:ext cx="7600973" cy="283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44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686E-1668-427E-B19A-0DECBEF9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43C401-F6FA-1CFB-7CA2-903B0C31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83311C-E3E0-2510-3FB7-F78A735865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7486"/>
                <a:ext cx="11350776" cy="1891831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𝐭𝐨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IN" i="0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which can be represented as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Also,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– axis.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83311C-E3E0-2510-3FB7-F78A735865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7486"/>
                <a:ext cx="11350776" cy="1891831"/>
              </a:xfrm>
              <a:blipFill>
                <a:blip r:embed="rId2"/>
                <a:stretch>
                  <a:fillRect l="-1020" r="-1074" b="-119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B535C088-983B-4A8B-AEFA-7E304B8AB945}"/>
              </a:ext>
            </a:extLst>
          </p:cNvPr>
          <p:cNvGrpSpPr/>
          <p:nvPr/>
        </p:nvGrpSpPr>
        <p:grpSpPr>
          <a:xfrm>
            <a:off x="986203" y="2857500"/>
            <a:ext cx="10219594" cy="3137056"/>
            <a:chOff x="17688" y="2975925"/>
            <a:chExt cx="10450061" cy="376891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EDF30E4-21B6-F4FD-F50A-C82200F56474}"/>
                </a:ext>
              </a:extLst>
            </p:cNvPr>
            <p:cNvSpPr/>
            <p:nvPr/>
          </p:nvSpPr>
          <p:spPr>
            <a:xfrm>
              <a:off x="1631654" y="2993617"/>
              <a:ext cx="2938165" cy="3038880"/>
            </a:xfrm>
            <a:custGeom>
              <a:avLst/>
              <a:gdLst>
                <a:gd name="csX0" fmla="*/ 911484 w 2938165"/>
                <a:gd name="csY0" fmla="*/ 0 h 3038880"/>
                <a:gd name="csX1" fmla="*/ 2154991 w 2938165"/>
                <a:gd name="csY1" fmla="*/ 2159550 h 3038880"/>
                <a:gd name="csX2" fmla="*/ 2811330 w 2938165"/>
                <a:gd name="csY2" fmla="*/ 2865440 h 3038880"/>
                <a:gd name="csX3" fmla="*/ 2938157 w 2938165"/>
                <a:gd name="csY3" fmla="*/ 2880685 h 3038880"/>
                <a:gd name="csX4" fmla="*/ 2938165 w 2938165"/>
                <a:gd name="csY4" fmla="*/ 2880685 h 3038880"/>
                <a:gd name="csX5" fmla="*/ 2938165 w 2938165"/>
                <a:gd name="csY5" fmla="*/ 2880686 h 3038880"/>
                <a:gd name="csX6" fmla="*/ 2938165 w 2938165"/>
                <a:gd name="csY6" fmla="*/ 3038880 h 3038880"/>
                <a:gd name="csX7" fmla="*/ 0 w 2938165"/>
                <a:gd name="csY7" fmla="*/ 3038880 h 3038880"/>
                <a:gd name="csX8" fmla="*/ 0 w 2938165"/>
                <a:gd name="csY8" fmla="*/ 1404475 h 3038880"/>
                <a:gd name="csX9" fmla="*/ 49158 w 2938165"/>
                <a:gd name="csY9" fmla="*/ 1281179 h 3038880"/>
                <a:gd name="csX10" fmla="*/ 911484 w 2938165"/>
                <a:gd name="csY10" fmla="*/ 0 h 303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38165" h="3038880">
                  <a:moveTo>
                    <a:pt x="911484" y="0"/>
                  </a:moveTo>
                  <a:cubicBezTo>
                    <a:pt x="1387359" y="724"/>
                    <a:pt x="1950560" y="1727061"/>
                    <a:pt x="2154991" y="2159550"/>
                  </a:cubicBezTo>
                  <a:cubicBezTo>
                    <a:pt x="2333867" y="2537978"/>
                    <a:pt x="2528480" y="2800946"/>
                    <a:pt x="2811330" y="2865440"/>
                  </a:cubicBezTo>
                  <a:lnTo>
                    <a:pt x="2938157" y="2880685"/>
                  </a:lnTo>
                  <a:lnTo>
                    <a:pt x="2938165" y="2880685"/>
                  </a:lnTo>
                  <a:lnTo>
                    <a:pt x="2938165" y="2880686"/>
                  </a:lnTo>
                  <a:lnTo>
                    <a:pt x="2938165" y="3038880"/>
                  </a:lnTo>
                  <a:lnTo>
                    <a:pt x="0" y="3038880"/>
                  </a:lnTo>
                  <a:lnTo>
                    <a:pt x="0" y="1404475"/>
                  </a:lnTo>
                  <a:lnTo>
                    <a:pt x="49158" y="1281179"/>
                  </a:lnTo>
                  <a:cubicBezTo>
                    <a:pt x="296393" y="670946"/>
                    <a:pt x="614062" y="-452"/>
                    <a:pt x="911484" y="0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8E22D-716B-FD34-F6AA-9A69DC2E414B}"/>
                </a:ext>
              </a:extLst>
            </p:cNvPr>
            <p:cNvCxnSpPr>
              <a:cxnSpLocks/>
            </p:cNvCxnSpPr>
            <p:nvPr/>
          </p:nvCxnSpPr>
          <p:spPr>
            <a:xfrm>
              <a:off x="2531065" y="2999469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7EB76A-2FF7-A815-6AFF-865B7A0098C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60805" y="5243958"/>
              <a:ext cx="154169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B4F517A-A38C-3456-65C9-834049305D04}"/>
                </a:ext>
              </a:extLst>
            </p:cNvPr>
            <p:cNvSpPr/>
            <p:nvPr/>
          </p:nvSpPr>
          <p:spPr>
            <a:xfrm>
              <a:off x="551541" y="2993617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9567432-500F-4378-C090-1F4888DB6C72}"/>
                </a:ext>
              </a:extLst>
            </p:cNvPr>
            <p:cNvCxnSpPr>
              <a:cxnSpLocks/>
            </p:cNvCxnSpPr>
            <p:nvPr/>
          </p:nvCxnSpPr>
          <p:spPr>
            <a:xfrm>
              <a:off x="551541" y="6032499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5333624-6605-46AC-9B75-E9395A792DFE}"/>
                </a:ext>
              </a:extLst>
            </p:cNvPr>
            <p:cNvSpPr/>
            <p:nvPr/>
          </p:nvSpPr>
          <p:spPr>
            <a:xfrm flipH="1">
              <a:off x="6231904" y="2975925"/>
              <a:ext cx="2938165" cy="3038880"/>
            </a:xfrm>
            <a:custGeom>
              <a:avLst/>
              <a:gdLst>
                <a:gd name="csX0" fmla="*/ 911484 w 2938165"/>
                <a:gd name="csY0" fmla="*/ 0 h 3038880"/>
                <a:gd name="csX1" fmla="*/ 2154991 w 2938165"/>
                <a:gd name="csY1" fmla="*/ 2159550 h 3038880"/>
                <a:gd name="csX2" fmla="*/ 2811330 w 2938165"/>
                <a:gd name="csY2" fmla="*/ 2865440 h 3038880"/>
                <a:gd name="csX3" fmla="*/ 2938157 w 2938165"/>
                <a:gd name="csY3" fmla="*/ 2880685 h 3038880"/>
                <a:gd name="csX4" fmla="*/ 2938165 w 2938165"/>
                <a:gd name="csY4" fmla="*/ 2880685 h 3038880"/>
                <a:gd name="csX5" fmla="*/ 2938165 w 2938165"/>
                <a:gd name="csY5" fmla="*/ 2880686 h 3038880"/>
                <a:gd name="csX6" fmla="*/ 2938165 w 2938165"/>
                <a:gd name="csY6" fmla="*/ 3038880 h 3038880"/>
                <a:gd name="csX7" fmla="*/ 0 w 2938165"/>
                <a:gd name="csY7" fmla="*/ 3038880 h 3038880"/>
                <a:gd name="csX8" fmla="*/ 0 w 2938165"/>
                <a:gd name="csY8" fmla="*/ 1404475 h 3038880"/>
                <a:gd name="csX9" fmla="*/ 49158 w 2938165"/>
                <a:gd name="csY9" fmla="*/ 1281179 h 3038880"/>
                <a:gd name="csX10" fmla="*/ 911484 w 2938165"/>
                <a:gd name="csY10" fmla="*/ 0 h 303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938165" h="3038880">
                  <a:moveTo>
                    <a:pt x="911484" y="0"/>
                  </a:moveTo>
                  <a:cubicBezTo>
                    <a:pt x="1387359" y="724"/>
                    <a:pt x="1950560" y="1727061"/>
                    <a:pt x="2154991" y="2159550"/>
                  </a:cubicBezTo>
                  <a:cubicBezTo>
                    <a:pt x="2333867" y="2537978"/>
                    <a:pt x="2528480" y="2800946"/>
                    <a:pt x="2811330" y="2865440"/>
                  </a:cubicBezTo>
                  <a:lnTo>
                    <a:pt x="2938157" y="2880685"/>
                  </a:lnTo>
                  <a:lnTo>
                    <a:pt x="2938165" y="2880685"/>
                  </a:lnTo>
                  <a:lnTo>
                    <a:pt x="2938165" y="2880686"/>
                  </a:lnTo>
                  <a:lnTo>
                    <a:pt x="2938165" y="3038880"/>
                  </a:lnTo>
                  <a:lnTo>
                    <a:pt x="0" y="3038880"/>
                  </a:lnTo>
                  <a:lnTo>
                    <a:pt x="0" y="1404475"/>
                  </a:lnTo>
                  <a:lnTo>
                    <a:pt x="49158" y="1281179"/>
                  </a:lnTo>
                  <a:cubicBezTo>
                    <a:pt x="296393" y="670946"/>
                    <a:pt x="614062" y="-452"/>
                    <a:pt x="911484" y="0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E72C1F7-5B0B-022E-4742-002572AFC5CF}"/>
                </a:ext>
              </a:extLst>
            </p:cNvPr>
            <p:cNvCxnSpPr>
              <a:cxnSpLocks/>
            </p:cNvCxnSpPr>
            <p:nvPr/>
          </p:nvCxnSpPr>
          <p:spPr>
            <a:xfrm>
              <a:off x="8211428" y="2999467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12D7070-978D-59AD-6321-F876D29F559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399220" y="5243958"/>
              <a:ext cx="154169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EADEF6B-3CBD-B5E6-4D6F-5DFA23179663}"/>
                </a:ext>
              </a:extLst>
            </p:cNvPr>
            <p:cNvSpPr/>
            <p:nvPr/>
          </p:nvSpPr>
          <p:spPr>
            <a:xfrm>
              <a:off x="6231904" y="2993615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1095C6D-0410-DB6F-2A83-12A4693DC985}"/>
                </a:ext>
              </a:extLst>
            </p:cNvPr>
            <p:cNvCxnSpPr>
              <a:cxnSpLocks/>
            </p:cNvCxnSpPr>
            <p:nvPr/>
          </p:nvCxnSpPr>
          <p:spPr>
            <a:xfrm>
              <a:off x="6231904" y="6032497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ontent Placeholder 4">
                  <a:extLst>
                    <a:ext uri="{FF2B5EF4-FFF2-40B4-BE49-F238E27FC236}">
                      <a16:creationId xmlns:a16="http://schemas.microsoft.com/office/drawing/2014/main" id="{07E122CB-8AB4-1942-0D07-98D805326EF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50954" y="5874302"/>
                  <a:ext cx="742123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Content Placeholder 4">
                  <a:extLst>
                    <a:ext uri="{FF2B5EF4-FFF2-40B4-BE49-F238E27FC236}">
                      <a16:creationId xmlns:a16="http://schemas.microsoft.com/office/drawing/2014/main" id="{07E122CB-8AB4-1942-0D07-98D805326E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0954" y="5874302"/>
                  <a:ext cx="742123" cy="81436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ontent Placeholder 4">
                  <a:extLst>
                    <a:ext uri="{FF2B5EF4-FFF2-40B4-BE49-F238E27FC236}">
                      <a16:creationId xmlns:a16="http://schemas.microsoft.com/office/drawing/2014/main" id="{1D2D7EC5-9969-90D4-4C10-3AB943CCC8D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73777" y="5895084"/>
                  <a:ext cx="371062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" name="Content Placeholder 4">
                  <a:extLst>
                    <a:ext uri="{FF2B5EF4-FFF2-40B4-BE49-F238E27FC236}">
                      <a16:creationId xmlns:a16="http://schemas.microsoft.com/office/drawing/2014/main" id="{1D2D7EC5-9969-90D4-4C10-3AB943CCC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3777" y="5895084"/>
                  <a:ext cx="371062" cy="81436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ontent Placeholder 4">
                  <a:extLst>
                    <a:ext uri="{FF2B5EF4-FFF2-40B4-BE49-F238E27FC236}">
                      <a16:creationId xmlns:a16="http://schemas.microsoft.com/office/drawing/2014/main" id="{F5F8763E-2FAC-BA84-D391-53EED65960A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01854" y="5874302"/>
                  <a:ext cx="476699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Content Placeholder 4">
                  <a:extLst>
                    <a:ext uri="{FF2B5EF4-FFF2-40B4-BE49-F238E27FC236}">
                      <a16:creationId xmlns:a16="http://schemas.microsoft.com/office/drawing/2014/main" id="{F5F8763E-2FAC-BA84-D391-53EED65960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854" y="5874302"/>
                  <a:ext cx="476699" cy="8143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ontent Placeholder 4">
                  <a:extLst>
                    <a:ext uri="{FF2B5EF4-FFF2-40B4-BE49-F238E27FC236}">
                      <a16:creationId xmlns:a16="http://schemas.microsoft.com/office/drawing/2014/main" id="{3A8A9E4F-A77B-D07B-7980-18530F3F086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7688" y="5874302"/>
                  <a:ext cx="782924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Content Placeholder 4">
                  <a:extLst>
                    <a:ext uri="{FF2B5EF4-FFF2-40B4-BE49-F238E27FC236}">
                      <a16:creationId xmlns:a16="http://schemas.microsoft.com/office/drawing/2014/main" id="{3A8A9E4F-A77B-D07B-7980-18530F3F08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88" y="5874302"/>
                  <a:ext cx="782924" cy="8143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ontent Placeholder 4">
                  <a:extLst>
                    <a:ext uri="{FF2B5EF4-FFF2-40B4-BE49-F238E27FC236}">
                      <a16:creationId xmlns:a16="http://schemas.microsoft.com/office/drawing/2014/main" id="{9390B25F-9999-0C44-B9E6-4F20568D174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052582" y="5930476"/>
                  <a:ext cx="371062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Content Placeholder 4">
                  <a:extLst>
                    <a:ext uri="{FF2B5EF4-FFF2-40B4-BE49-F238E27FC236}">
                      <a16:creationId xmlns:a16="http://schemas.microsoft.com/office/drawing/2014/main" id="{9390B25F-9999-0C44-B9E6-4F20568D17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2582" y="5930476"/>
                  <a:ext cx="371062" cy="8143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ontent Placeholder 4">
                  <a:extLst>
                    <a:ext uri="{FF2B5EF4-FFF2-40B4-BE49-F238E27FC236}">
                      <a16:creationId xmlns:a16="http://schemas.microsoft.com/office/drawing/2014/main" id="{5AF33A2F-B10B-67C4-0C57-57D516F9190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1050" y="5909694"/>
                  <a:ext cx="476699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Content Placeholder 4">
                  <a:extLst>
                    <a:ext uri="{FF2B5EF4-FFF2-40B4-BE49-F238E27FC236}">
                      <a16:creationId xmlns:a16="http://schemas.microsoft.com/office/drawing/2014/main" id="{5AF33A2F-B10B-67C4-0C57-57D516F91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1050" y="5909694"/>
                  <a:ext cx="476699" cy="81436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4">
                  <a:extLst>
                    <a:ext uri="{FF2B5EF4-FFF2-40B4-BE49-F238E27FC236}">
                      <a16:creationId xmlns:a16="http://schemas.microsoft.com/office/drawing/2014/main" id="{4C444A01-690A-35D9-044E-74719B0BD4A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727284" y="5895084"/>
                  <a:ext cx="782924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Content Placeholder 4">
                  <a:extLst>
                    <a:ext uri="{FF2B5EF4-FFF2-40B4-BE49-F238E27FC236}">
                      <a16:creationId xmlns:a16="http://schemas.microsoft.com/office/drawing/2014/main" id="{4C444A01-690A-35D9-044E-74719B0BD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7284" y="5895084"/>
                  <a:ext cx="782924" cy="81436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ontent Placeholder 4">
                  <a:extLst>
                    <a:ext uri="{FF2B5EF4-FFF2-40B4-BE49-F238E27FC236}">
                      <a16:creationId xmlns:a16="http://schemas.microsoft.com/office/drawing/2014/main" id="{E36E3BF8-D10F-02AF-60D6-ADBFF485866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909822" y="5874302"/>
                  <a:ext cx="605440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Content Placeholder 4">
                  <a:extLst>
                    <a:ext uri="{FF2B5EF4-FFF2-40B4-BE49-F238E27FC236}">
                      <a16:creationId xmlns:a16="http://schemas.microsoft.com/office/drawing/2014/main" id="{E36E3BF8-D10F-02AF-60D6-ADBFF48586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9822" y="5874302"/>
                  <a:ext cx="605440" cy="81436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Equals 26">
              <a:extLst>
                <a:ext uri="{FF2B5EF4-FFF2-40B4-BE49-F238E27FC236}">
                  <a16:creationId xmlns:a16="http://schemas.microsoft.com/office/drawing/2014/main" id="{0EBEFD30-705F-2849-F717-08F3AF717437}"/>
                </a:ext>
              </a:extLst>
            </p:cNvPr>
            <p:cNvSpPr/>
            <p:nvPr/>
          </p:nvSpPr>
          <p:spPr>
            <a:xfrm>
              <a:off x="4936406" y="4347619"/>
              <a:ext cx="1008000" cy="540000"/>
            </a:xfrm>
            <a:prstGeom prst="mathEqual">
              <a:avLst/>
            </a:pr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13003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288429" cy="2825275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𝐭𝐨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IN" i="0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which can be represented as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Also,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– axis.</a:t>
                </a:r>
                <a:endParaRPr lang="en-IN" dirty="0"/>
              </a:p>
              <a:p>
                <a:pPr lvl="1"/>
                <a:r>
                  <a:rPr lang="en-US" b="1" dirty="0"/>
                  <a:t>Example: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1.43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46D6E4-2CDF-4CD2-9674-A490F9F9E3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288429" cy="2825275"/>
              </a:xfrm>
              <a:blipFill>
                <a:blip r:embed="rId2"/>
                <a:stretch>
                  <a:fillRect l="-1026" r="-11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1912" y="4956419"/>
                <a:ext cx="3751118" cy="87716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600" dirty="0">
                    <a:solidFill>
                      <a:srgbClr val="002060"/>
                    </a:solidFill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6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IN" sz="2600" dirty="0">
                    <a:solidFill>
                      <a:srgbClr val="002060"/>
                    </a:solidFill>
                  </a:rPr>
                  <a:t>–Table </a:t>
                </a:r>
                <a:endParaRPr lang="en-IN" sz="25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5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1.43</m:t>
                          </m:r>
                        </m:e>
                      </m:d>
                      <m:r>
                        <a:rPr lang="en-IN" sz="25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=0.4236</m:t>
                      </m:r>
                    </m:oMath>
                  </m:oMathPara>
                </a14:m>
                <a:endParaRPr lang="en-IN" sz="25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12" y="4956419"/>
                <a:ext cx="3751118" cy="877163"/>
              </a:xfrm>
              <a:prstGeom prst="rect">
                <a:avLst/>
              </a:prstGeom>
              <a:blipFill>
                <a:blip r:embed="rId3"/>
                <a:stretch>
                  <a:fillRect t="-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294747" y="3536476"/>
                <a:ext cx="59627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−∞≤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1.43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747" y="3536476"/>
                <a:ext cx="596272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366639" y="4173350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0.4236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639" y="4173350"/>
                <a:ext cx="6096000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BC8777-B621-A45D-1D50-38B44A01B263}"/>
                  </a:ext>
                </a:extLst>
              </p:cNvPr>
              <p:cNvSpPr/>
              <p:nvPr/>
            </p:nvSpPr>
            <p:spPr>
              <a:xfrm>
                <a:off x="4739722" y="2610773"/>
                <a:ext cx="253638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≤1.43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BC8777-B621-A45D-1D50-38B44A01B2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722" y="2610773"/>
                <a:ext cx="253638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2682DE5-A4A0-E5E1-E624-170CBB1EDB3C}"/>
                  </a:ext>
                </a:extLst>
              </p:cNvPr>
              <p:cNvSpPr/>
              <p:nvPr/>
            </p:nvSpPr>
            <p:spPr>
              <a:xfrm>
                <a:off x="2028684" y="5025668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≤1.43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=0.9236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2682DE5-A4A0-E5E1-E624-170CBB1EDB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684" y="5025668"/>
                <a:ext cx="60960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38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3" grpId="0"/>
      <p:bldP spid="7" grpId="0"/>
      <p:bldP spid="8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366DD-FFCB-47FE-53A5-E7CC9ABA6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538585-9F19-DFBF-1C10-7528D56D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DD74D6D-1DF7-CC40-A0E5-992413FBFC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41960"/>
                <a:ext cx="11929641" cy="139630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/>
                  </a:rPr>
                  <a:t>Case : (3)</a:t>
                </a:r>
                <a:r>
                  <a:rPr lang="en-US" dirty="0">
                    <a:ea typeface="Calibri" panose="020F0502020204030204" pitchFamily="34" charset="0"/>
                    <a:cs typeface="Shruti"/>
                  </a:rPr>
                  <a:t> 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Shruti"/>
                  </a:rPr>
                  <a:t>Area between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=−∞ 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𝐭𝐨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−</m:t>
                        </m:r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US" b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𝟏</m:t>
                        </m:r>
                      </m:sub>
                    </m:sSub>
                    <m:r>
                      <a:rPr lang="en-IN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,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which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can be represented as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−</m:t>
                            </m:r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DD74D6D-1DF7-CC40-A0E5-992413FBFC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41960"/>
                <a:ext cx="11929641" cy="1396308"/>
              </a:xfrm>
              <a:blipFill>
                <a:blip r:embed="rId2"/>
                <a:stretch>
                  <a:fillRect l="-1074" b="-56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F71F4463-E75F-BC9C-7B5E-3003085CA2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589" y="2017145"/>
                <a:ext cx="8411684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dirty="0"/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−∞≤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≤0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≤0</m:t>
                        </m:r>
                      </m:e>
                    </m:d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F71F4463-E75F-BC9C-7B5E-3003085CA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89" y="2017145"/>
                <a:ext cx="8411684" cy="814364"/>
              </a:xfrm>
              <a:prstGeom prst="rect">
                <a:avLst/>
              </a:prstGeom>
              <a:blipFill>
                <a:blip r:embed="rId3"/>
                <a:stretch>
                  <a:fillRect l="-1522" b="-30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EF86E0DE-7C3E-3BC5-B3BE-95F524E89D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0752" y="2648041"/>
                <a:ext cx="8760659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=0.5−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EF86E0DE-7C3E-3BC5-B3BE-95F524E89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752" y="2648041"/>
                <a:ext cx="8760659" cy="8143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51">
                <a:extLst>
                  <a:ext uri="{FF2B5EF4-FFF2-40B4-BE49-F238E27FC236}">
                    <a16:creationId xmlns:a16="http://schemas.microsoft.com/office/drawing/2014/main" id="{9992BE75-4D44-7C6F-1267-2E4EC6CE2B21}"/>
                  </a:ext>
                </a:extLst>
              </p:cNvPr>
              <p:cNvSpPr txBox="1"/>
              <p:nvPr/>
            </p:nvSpPr>
            <p:spPr>
              <a:xfrm>
                <a:off x="2390288" y="6002597"/>
                <a:ext cx="361243" cy="478127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2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hruti"/>
                        </a:rPr>
                        <m:t>0</m:t>
                      </m:r>
                    </m:oMath>
                  </m:oMathPara>
                </a14:m>
                <a:endParaRPr kumimoji="0" lang="en-IN" sz="2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Shruti"/>
                </a:endParaRPr>
              </a:p>
            </p:txBody>
          </p:sp>
        </mc:Choice>
        <mc:Fallback xmlns="">
          <p:sp>
            <p:nvSpPr>
              <p:cNvPr id="8" name="Text Box 51">
                <a:extLst>
                  <a:ext uri="{FF2B5EF4-FFF2-40B4-BE49-F238E27FC236}">
                    <a16:creationId xmlns:a16="http://schemas.microsoft.com/office/drawing/2014/main" id="{9992BE75-4D44-7C6F-1267-2E4EC6CE2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288" y="6002597"/>
                <a:ext cx="361243" cy="4781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53">
                <a:extLst>
                  <a:ext uri="{FF2B5EF4-FFF2-40B4-BE49-F238E27FC236}">
                    <a16:creationId xmlns:a16="http://schemas.microsoft.com/office/drawing/2014/main" id="{821A96D1-2A29-02A3-6D85-E0C022D69B82}"/>
                  </a:ext>
                </a:extLst>
              </p:cNvPr>
              <p:cNvSpPr txBox="1"/>
              <p:nvPr/>
            </p:nvSpPr>
            <p:spPr>
              <a:xfrm>
                <a:off x="1258122" y="5972614"/>
                <a:ext cx="753660" cy="548676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280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hruti"/>
                            </a:rPr>
                          </m:ctrlPr>
                        </m:sSubPr>
                        <m:e>
                          <m:r>
                            <a:rPr kumimoji="0" lang="en-IN" sz="28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hruti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0" lang="en-US" sz="28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hruti"/>
                            </a:rPr>
                            <m:t>z</m:t>
                          </m:r>
                        </m:e>
                        <m:sub>
                          <m:r>
                            <a:rPr kumimoji="0" lang="en-US" sz="28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hruti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IN" sz="280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Shruti"/>
                </a:endParaRPr>
              </a:p>
            </p:txBody>
          </p:sp>
        </mc:Choice>
        <mc:Fallback xmlns="">
          <p:sp>
            <p:nvSpPr>
              <p:cNvPr id="9" name="Text Box 53">
                <a:extLst>
                  <a:ext uri="{FF2B5EF4-FFF2-40B4-BE49-F238E27FC236}">
                    <a16:creationId xmlns:a16="http://schemas.microsoft.com/office/drawing/2014/main" id="{821A96D1-2A29-02A3-6D85-E0C022D69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122" y="5972614"/>
                <a:ext cx="753660" cy="5486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2053A91-10D6-1A30-F9E5-552671A7BF0B}"/>
                  </a:ext>
                </a:extLst>
              </p:cNvPr>
              <p:cNvSpPr/>
              <p:nvPr/>
            </p:nvSpPr>
            <p:spPr>
              <a:xfrm>
                <a:off x="244712" y="5987274"/>
                <a:ext cx="837089" cy="6559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07000"/>
                  </a:lnSpc>
                  <a:spcAft>
                    <a:spcPts val="8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ker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hruti"/>
                        </a:rPr>
                        <m:t>−∞</m:t>
                      </m:r>
                    </m:oMath>
                  </m:oMathPara>
                </a14:m>
                <a:endParaRPr lang="en-IN" sz="2800" kern="0" dirty="0">
                  <a:solidFill>
                    <a:sysClr val="windowText" lastClr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Shruti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2053A91-10D6-1A30-F9E5-552671A7B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2" y="5987274"/>
                <a:ext cx="837089" cy="6559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21FC5DF-373E-B080-D551-51AA153224E2}"/>
                  </a:ext>
                </a:extLst>
              </p:cNvPr>
              <p:cNvSpPr/>
              <p:nvPr/>
            </p:nvSpPr>
            <p:spPr>
              <a:xfrm>
                <a:off x="4207886" y="6002597"/>
                <a:ext cx="837089" cy="6559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07000"/>
                  </a:lnSpc>
                  <a:spcAft>
                    <a:spcPts val="8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ker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hruti"/>
                        </a:rPr>
                        <m:t>−∞</m:t>
                      </m:r>
                    </m:oMath>
                  </m:oMathPara>
                </a14:m>
                <a:endParaRPr lang="en-IN" sz="2800" kern="0" dirty="0">
                  <a:solidFill>
                    <a:sysClr val="windowText" lastClr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Shruti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21FC5DF-373E-B080-D551-51AA15322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886" y="6002597"/>
                <a:ext cx="837089" cy="6559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51">
                <a:extLst>
                  <a:ext uri="{FF2B5EF4-FFF2-40B4-BE49-F238E27FC236}">
                    <a16:creationId xmlns:a16="http://schemas.microsoft.com/office/drawing/2014/main" id="{62554A23-020C-2164-B136-E3E6576D7BCE}"/>
                  </a:ext>
                </a:extLst>
              </p:cNvPr>
              <p:cNvSpPr txBox="1"/>
              <p:nvPr/>
            </p:nvSpPr>
            <p:spPr>
              <a:xfrm>
                <a:off x="6123696" y="5987274"/>
                <a:ext cx="330729" cy="507346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2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hruti"/>
                        </a:rPr>
                        <m:t>0</m:t>
                      </m:r>
                    </m:oMath>
                  </m:oMathPara>
                </a14:m>
                <a:endParaRPr kumimoji="0" lang="en-IN" sz="2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Shruti"/>
                </a:endParaRPr>
              </a:p>
            </p:txBody>
          </p:sp>
        </mc:Choice>
        <mc:Fallback xmlns="">
          <p:sp>
            <p:nvSpPr>
              <p:cNvPr id="13" name="Text Box 51">
                <a:extLst>
                  <a:ext uri="{FF2B5EF4-FFF2-40B4-BE49-F238E27FC236}">
                    <a16:creationId xmlns:a16="http://schemas.microsoft.com/office/drawing/2014/main" id="{62554A23-020C-2164-B136-E3E6576D7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696" y="5987274"/>
                <a:ext cx="330729" cy="5073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51">
                <a:extLst>
                  <a:ext uri="{FF2B5EF4-FFF2-40B4-BE49-F238E27FC236}">
                    <a16:creationId xmlns:a16="http://schemas.microsoft.com/office/drawing/2014/main" id="{0C2AFB7B-045E-B893-5E09-9807E908FF83}"/>
                  </a:ext>
                </a:extLst>
              </p:cNvPr>
              <p:cNvSpPr txBox="1"/>
              <p:nvPr/>
            </p:nvSpPr>
            <p:spPr>
              <a:xfrm>
                <a:off x="9851941" y="5987274"/>
                <a:ext cx="434528" cy="474755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2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hruti"/>
                        </a:rPr>
                        <m:t>0</m:t>
                      </m:r>
                    </m:oMath>
                  </m:oMathPara>
                </a14:m>
                <a:endParaRPr kumimoji="0" lang="en-IN" sz="2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Shruti"/>
                </a:endParaRPr>
              </a:p>
            </p:txBody>
          </p:sp>
        </mc:Choice>
        <mc:Fallback xmlns="">
          <p:sp>
            <p:nvSpPr>
              <p:cNvPr id="14" name="Text Box 51">
                <a:extLst>
                  <a:ext uri="{FF2B5EF4-FFF2-40B4-BE49-F238E27FC236}">
                    <a16:creationId xmlns:a16="http://schemas.microsoft.com/office/drawing/2014/main" id="{0C2AFB7B-045E-B893-5E09-9807E908F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1941" y="5987274"/>
                <a:ext cx="434528" cy="4747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53">
                <a:extLst>
                  <a:ext uri="{FF2B5EF4-FFF2-40B4-BE49-F238E27FC236}">
                    <a16:creationId xmlns:a16="http://schemas.microsoft.com/office/drawing/2014/main" id="{981FBC90-5C97-EE2B-765C-BB8678BD01F2}"/>
                  </a:ext>
                </a:extLst>
              </p:cNvPr>
              <p:cNvSpPr txBox="1"/>
              <p:nvPr/>
            </p:nvSpPr>
            <p:spPr>
              <a:xfrm>
                <a:off x="8649364" y="5961769"/>
                <a:ext cx="837089" cy="653114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280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hruti"/>
                            </a:rPr>
                          </m:ctrlPr>
                        </m:sSubPr>
                        <m:e>
                          <m:r>
                            <a:rPr kumimoji="0" lang="en-IN" sz="2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hruti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kumimoji="0" lang="en-US" sz="28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hruti"/>
                            </a:rPr>
                            <m:t>z</m:t>
                          </m:r>
                        </m:e>
                        <m:sub>
                          <m:r>
                            <a:rPr kumimoji="0" lang="en-US" sz="2800" b="0" i="0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hruti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IN" sz="280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Shruti"/>
                </a:endParaRPr>
              </a:p>
            </p:txBody>
          </p:sp>
        </mc:Choice>
        <mc:Fallback xmlns="">
          <p:sp>
            <p:nvSpPr>
              <p:cNvPr id="15" name="Text Box 53">
                <a:extLst>
                  <a:ext uri="{FF2B5EF4-FFF2-40B4-BE49-F238E27FC236}">
                    <a16:creationId xmlns:a16="http://schemas.microsoft.com/office/drawing/2014/main" id="{981FBC90-5C97-EE2B-765C-BB8678BD0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364" y="5961769"/>
                <a:ext cx="837089" cy="65311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F612827A-C589-BF26-9F5A-10BC3B8416D3}"/>
              </a:ext>
            </a:extLst>
          </p:cNvPr>
          <p:cNvPicPr/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2" t="50766" r="30220" b="28059"/>
          <a:stretch/>
        </p:blipFill>
        <p:spPr bwMode="auto">
          <a:xfrm>
            <a:off x="497591" y="4131250"/>
            <a:ext cx="11490346" cy="1973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2FFFB1EB-70E6-D7F0-CBD4-E9483F663A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15347" y="3123628"/>
                <a:ext cx="5305121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can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be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IN" b="0" i="0" dirty="0" smtClean="0"/>
                        <m:t>solve</m:t>
                      </m:r>
                      <m:r>
                        <m:rPr>
                          <m:nor/>
                        </m:rPr>
                        <a:rPr lang="en-US" dirty="0"/>
                        <m:t>d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by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using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FF0000"/>
                          </a:solidFill>
                        </a:rPr>
                        <m:t>case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FF0000"/>
                          </a:solidFill>
                        </a:rPr>
                        <m:t> – (1)</m:t>
                      </m:r>
                    </m:oMath>
                  </m:oMathPara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2FFFB1EB-70E6-D7F0-CBD4-E9483F663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5347" y="3123628"/>
                <a:ext cx="5305121" cy="81436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7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 build="p"/>
      <p:bldP spid="8" grpId="0" animBg="1"/>
      <p:bldP spid="9" grpId="0" animBg="1"/>
      <p:bldP spid="10" grpId="0"/>
      <p:bldP spid="11" grpId="0"/>
      <p:bldP spid="13" grpId="0" animBg="1"/>
      <p:bldP spid="14" grpId="0" animBg="1"/>
      <p:bldP spid="15" grpId="0" animBg="1"/>
      <p:bldP spid="17" grpId="0" uiExpand="1" build="p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5A628-EC3A-07E8-1A45-027B7A18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53E6DF-E423-82B3-3F2E-5868C2F5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9DB6204-DA27-5253-51E8-B2127C9B5C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67376"/>
                <a:ext cx="11517029" cy="2051618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𝐭𝐨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IN" i="0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which can be represented as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Also,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– axis.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9DB6204-DA27-5253-51E8-B2127C9B5C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67376"/>
                <a:ext cx="11517029" cy="2051618"/>
              </a:xfrm>
              <a:blipFill>
                <a:blip r:embed="rId2"/>
                <a:stretch>
                  <a:fillRect l="-1006" r="-1059" b="-32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86603AAB-B412-CF04-9168-4453037E5FB1}"/>
              </a:ext>
            </a:extLst>
          </p:cNvPr>
          <p:cNvGrpSpPr/>
          <p:nvPr/>
        </p:nvGrpSpPr>
        <p:grpSpPr>
          <a:xfrm>
            <a:off x="870969" y="2875190"/>
            <a:ext cx="10450061" cy="3751225"/>
            <a:chOff x="870969" y="2875190"/>
            <a:chExt cx="10450061" cy="3751225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42E1D3B-27C8-5ED1-801D-E898102DA862}"/>
                </a:ext>
              </a:extLst>
            </p:cNvPr>
            <p:cNvSpPr/>
            <p:nvPr/>
          </p:nvSpPr>
          <p:spPr>
            <a:xfrm flipH="1">
              <a:off x="7081706" y="3450559"/>
              <a:ext cx="1483573" cy="2453122"/>
            </a:xfrm>
            <a:custGeom>
              <a:avLst/>
              <a:gdLst>
                <a:gd name="csX0" fmla="*/ 0 w 1483573"/>
                <a:gd name="csY0" fmla="*/ 0 h 2453122"/>
                <a:gd name="csX1" fmla="*/ 14039 w 1483573"/>
                <a:gd name="csY1" fmla="*/ 0 h 2453122"/>
                <a:gd name="csX2" fmla="*/ 94266 w 1483573"/>
                <a:gd name="csY2" fmla="*/ 153221 h 2453122"/>
                <a:gd name="csX3" fmla="*/ 700399 w 1483573"/>
                <a:gd name="csY3" fmla="*/ 1573792 h 2453122"/>
                <a:gd name="csX4" fmla="*/ 1356738 w 1483573"/>
                <a:gd name="csY4" fmla="*/ 2279682 h 2453122"/>
                <a:gd name="csX5" fmla="*/ 1483565 w 1483573"/>
                <a:gd name="csY5" fmla="*/ 2294927 h 2453122"/>
                <a:gd name="csX6" fmla="*/ 1483573 w 1483573"/>
                <a:gd name="csY6" fmla="*/ 2294927 h 2453122"/>
                <a:gd name="csX7" fmla="*/ 1483573 w 1483573"/>
                <a:gd name="csY7" fmla="*/ 2294928 h 2453122"/>
                <a:gd name="csX8" fmla="*/ 1483573 w 1483573"/>
                <a:gd name="csY8" fmla="*/ 2453122 h 2453122"/>
                <a:gd name="csX9" fmla="*/ 0 w 1483573"/>
                <a:gd name="csY9" fmla="*/ 2453122 h 24531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83573" h="2453122">
                  <a:moveTo>
                    <a:pt x="0" y="0"/>
                  </a:moveTo>
                  <a:lnTo>
                    <a:pt x="14039" y="0"/>
                  </a:lnTo>
                  <a:lnTo>
                    <a:pt x="94266" y="153221"/>
                  </a:lnTo>
                  <a:cubicBezTo>
                    <a:pt x="356897" y="677860"/>
                    <a:pt x="585407" y="1330517"/>
                    <a:pt x="700399" y="1573792"/>
                  </a:cubicBezTo>
                  <a:cubicBezTo>
                    <a:pt x="879275" y="1952220"/>
                    <a:pt x="1073888" y="2215188"/>
                    <a:pt x="1356738" y="2279682"/>
                  </a:cubicBezTo>
                  <a:lnTo>
                    <a:pt x="1483565" y="2294927"/>
                  </a:lnTo>
                  <a:lnTo>
                    <a:pt x="1483573" y="2294927"/>
                  </a:lnTo>
                  <a:lnTo>
                    <a:pt x="1483573" y="2294928"/>
                  </a:lnTo>
                  <a:lnTo>
                    <a:pt x="1483573" y="2453122"/>
                  </a:lnTo>
                  <a:lnTo>
                    <a:pt x="0" y="2453122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738B8B5-D8AE-DDAA-ACD6-C70216F8F49A}"/>
                </a:ext>
              </a:extLst>
            </p:cNvPr>
            <p:cNvSpPr/>
            <p:nvPr/>
          </p:nvSpPr>
          <p:spPr>
            <a:xfrm>
              <a:off x="3938156" y="3429000"/>
              <a:ext cx="1483573" cy="2453122"/>
            </a:xfrm>
            <a:custGeom>
              <a:avLst/>
              <a:gdLst>
                <a:gd name="csX0" fmla="*/ 0 w 1483573"/>
                <a:gd name="csY0" fmla="*/ 0 h 2453122"/>
                <a:gd name="csX1" fmla="*/ 14039 w 1483573"/>
                <a:gd name="csY1" fmla="*/ 0 h 2453122"/>
                <a:gd name="csX2" fmla="*/ 94266 w 1483573"/>
                <a:gd name="csY2" fmla="*/ 153221 h 2453122"/>
                <a:gd name="csX3" fmla="*/ 700399 w 1483573"/>
                <a:gd name="csY3" fmla="*/ 1573792 h 2453122"/>
                <a:gd name="csX4" fmla="*/ 1356738 w 1483573"/>
                <a:gd name="csY4" fmla="*/ 2279682 h 2453122"/>
                <a:gd name="csX5" fmla="*/ 1483565 w 1483573"/>
                <a:gd name="csY5" fmla="*/ 2294927 h 2453122"/>
                <a:gd name="csX6" fmla="*/ 1483573 w 1483573"/>
                <a:gd name="csY6" fmla="*/ 2294927 h 2453122"/>
                <a:gd name="csX7" fmla="*/ 1483573 w 1483573"/>
                <a:gd name="csY7" fmla="*/ 2294928 h 2453122"/>
                <a:gd name="csX8" fmla="*/ 1483573 w 1483573"/>
                <a:gd name="csY8" fmla="*/ 2453122 h 2453122"/>
                <a:gd name="csX9" fmla="*/ 0 w 1483573"/>
                <a:gd name="csY9" fmla="*/ 2453122 h 24531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83573" h="2453122">
                  <a:moveTo>
                    <a:pt x="0" y="0"/>
                  </a:moveTo>
                  <a:lnTo>
                    <a:pt x="14039" y="0"/>
                  </a:lnTo>
                  <a:lnTo>
                    <a:pt x="94266" y="153221"/>
                  </a:lnTo>
                  <a:cubicBezTo>
                    <a:pt x="356897" y="677860"/>
                    <a:pt x="585407" y="1330517"/>
                    <a:pt x="700399" y="1573792"/>
                  </a:cubicBezTo>
                  <a:cubicBezTo>
                    <a:pt x="879275" y="1952220"/>
                    <a:pt x="1073888" y="2215188"/>
                    <a:pt x="1356738" y="2279682"/>
                  </a:cubicBezTo>
                  <a:lnTo>
                    <a:pt x="1483565" y="2294927"/>
                  </a:lnTo>
                  <a:lnTo>
                    <a:pt x="1483573" y="2294927"/>
                  </a:lnTo>
                  <a:lnTo>
                    <a:pt x="1483573" y="2294928"/>
                  </a:lnTo>
                  <a:lnTo>
                    <a:pt x="1483573" y="2453122"/>
                  </a:lnTo>
                  <a:lnTo>
                    <a:pt x="0" y="2453122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B1F21D5-7D1E-2D1E-DA44-4299B8E683A3}"/>
                </a:ext>
              </a:extLst>
            </p:cNvPr>
            <p:cNvCxnSpPr>
              <a:cxnSpLocks/>
            </p:cNvCxnSpPr>
            <p:nvPr/>
          </p:nvCxnSpPr>
          <p:spPr>
            <a:xfrm>
              <a:off x="3384346" y="2881044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AC7155A-2878-1ED0-7E8A-B46A04467E0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22689" y="4681161"/>
              <a:ext cx="241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1178424-F23F-D521-461B-94B3C0E087CE}"/>
                </a:ext>
              </a:extLst>
            </p:cNvPr>
            <p:cNvSpPr/>
            <p:nvPr/>
          </p:nvSpPr>
          <p:spPr>
            <a:xfrm>
              <a:off x="1404822" y="2875192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9DAAF2-AB0E-900A-E8EF-AF70BFE4E4A9}"/>
                </a:ext>
              </a:extLst>
            </p:cNvPr>
            <p:cNvCxnSpPr>
              <a:cxnSpLocks/>
            </p:cNvCxnSpPr>
            <p:nvPr/>
          </p:nvCxnSpPr>
          <p:spPr>
            <a:xfrm>
              <a:off x="1404822" y="5914074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1F4400-C62D-16E8-57F8-1E20F6BF9ACB}"/>
                </a:ext>
              </a:extLst>
            </p:cNvPr>
            <p:cNvCxnSpPr>
              <a:cxnSpLocks/>
            </p:cNvCxnSpPr>
            <p:nvPr/>
          </p:nvCxnSpPr>
          <p:spPr>
            <a:xfrm>
              <a:off x="9064709" y="2881042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97DB5F5-FFFF-919D-1138-4F29735EB1C8}"/>
                </a:ext>
              </a:extLst>
            </p:cNvPr>
            <p:cNvSpPr/>
            <p:nvPr/>
          </p:nvSpPr>
          <p:spPr>
            <a:xfrm>
              <a:off x="7085185" y="2875190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DF2500B-4C2A-8940-C67F-5DADAC3FE1A4}"/>
                </a:ext>
              </a:extLst>
            </p:cNvPr>
            <p:cNvCxnSpPr>
              <a:cxnSpLocks/>
            </p:cNvCxnSpPr>
            <p:nvPr/>
          </p:nvCxnSpPr>
          <p:spPr>
            <a:xfrm>
              <a:off x="7085185" y="5914072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ontent Placeholder 4">
                  <a:extLst>
                    <a:ext uri="{FF2B5EF4-FFF2-40B4-BE49-F238E27FC236}">
                      <a16:creationId xmlns:a16="http://schemas.microsoft.com/office/drawing/2014/main" id="{C5B22E79-EC23-8574-D6C8-94821009D18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701424" y="5755877"/>
                  <a:ext cx="742123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Content Placeholder 4">
                  <a:extLst>
                    <a:ext uri="{FF2B5EF4-FFF2-40B4-BE49-F238E27FC236}">
                      <a16:creationId xmlns:a16="http://schemas.microsoft.com/office/drawing/2014/main" id="{C5B22E79-EC23-8574-D6C8-94821009D1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1424" y="5755877"/>
                  <a:ext cx="742123" cy="81436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ontent Placeholder 4">
                  <a:extLst>
                    <a:ext uri="{FF2B5EF4-FFF2-40B4-BE49-F238E27FC236}">
                      <a16:creationId xmlns:a16="http://schemas.microsoft.com/office/drawing/2014/main" id="{23FB1477-E8CD-4EA3-34FA-845325B4633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27058" y="5776659"/>
                  <a:ext cx="371062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Content Placeholder 4">
                  <a:extLst>
                    <a:ext uri="{FF2B5EF4-FFF2-40B4-BE49-F238E27FC236}">
                      <a16:creationId xmlns:a16="http://schemas.microsoft.com/office/drawing/2014/main" id="{23FB1477-E8CD-4EA3-34FA-845325B463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7058" y="5776659"/>
                  <a:ext cx="371062" cy="81436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ontent Placeholder 4">
                  <a:extLst>
                    <a:ext uri="{FF2B5EF4-FFF2-40B4-BE49-F238E27FC236}">
                      <a16:creationId xmlns:a16="http://schemas.microsoft.com/office/drawing/2014/main" id="{A46B6FC9-D4B8-DB17-00D9-A543BBB5871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155135" y="5755877"/>
                  <a:ext cx="476699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Content Placeholder 4">
                  <a:extLst>
                    <a:ext uri="{FF2B5EF4-FFF2-40B4-BE49-F238E27FC236}">
                      <a16:creationId xmlns:a16="http://schemas.microsoft.com/office/drawing/2014/main" id="{A46B6FC9-D4B8-DB17-00D9-A543BBB587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5135" y="5755877"/>
                  <a:ext cx="476699" cy="8143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ontent Placeholder 4">
                  <a:extLst>
                    <a:ext uri="{FF2B5EF4-FFF2-40B4-BE49-F238E27FC236}">
                      <a16:creationId xmlns:a16="http://schemas.microsoft.com/office/drawing/2014/main" id="{341B2BB9-68E3-6385-EBBF-410FCF54871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70969" y="5755877"/>
                  <a:ext cx="782924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Content Placeholder 4">
                  <a:extLst>
                    <a:ext uri="{FF2B5EF4-FFF2-40B4-BE49-F238E27FC236}">
                      <a16:creationId xmlns:a16="http://schemas.microsoft.com/office/drawing/2014/main" id="{341B2BB9-68E3-6385-EBBF-410FCF5487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969" y="5755877"/>
                  <a:ext cx="782924" cy="8143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4">
                  <a:extLst>
                    <a:ext uri="{FF2B5EF4-FFF2-40B4-BE49-F238E27FC236}">
                      <a16:creationId xmlns:a16="http://schemas.microsoft.com/office/drawing/2014/main" id="{3E1B787F-5FB7-0D2F-05C0-0B6F9A640B3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905863" y="5812051"/>
                  <a:ext cx="371062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Content Placeholder 4">
                  <a:extLst>
                    <a:ext uri="{FF2B5EF4-FFF2-40B4-BE49-F238E27FC236}">
                      <a16:creationId xmlns:a16="http://schemas.microsoft.com/office/drawing/2014/main" id="{3E1B787F-5FB7-0D2F-05C0-0B6F9A640B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5863" y="5812051"/>
                  <a:ext cx="371062" cy="8143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ontent Placeholder 4">
                  <a:extLst>
                    <a:ext uri="{FF2B5EF4-FFF2-40B4-BE49-F238E27FC236}">
                      <a16:creationId xmlns:a16="http://schemas.microsoft.com/office/drawing/2014/main" id="{BE9B0529-A97F-4360-1EA8-B0ABA38DF70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844331" y="5791269"/>
                  <a:ext cx="476699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Content Placeholder 4">
                  <a:extLst>
                    <a:ext uri="{FF2B5EF4-FFF2-40B4-BE49-F238E27FC236}">
                      <a16:creationId xmlns:a16="http://schemas.microsoft.com/office/drawing/2014/main" id="{BE9B0529-A97F-4360-1EA8-B0ABA38DF7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4331" y="5791269"/>
                  <a:ext cx="476699" cy="81436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ontent Placeholder 4">
                  <a:extLst>
                    <a:ext uri="{FF2B5EF4-FFF2-40B4-BE49-F238E27FC236}">
                      <a16:creationId xmlns:a16="http://schemas.microsoft.com/office/drawing/2014/main" id="{9E1AE55A-DCFC-1DB9-F8B9-4912907C943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580565" y="5776659"/>
                  <a:ext cx="782924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" name="Content Placeholder 4">
                  <a:extLst>
                    <a:ext uri="{FF2B5EF4-FFF2-40B4-BE49-F238E27FC236}">
                      <a16:creationId xmlns:a16="http://schemas.microsoft.com/office/drawing/2014/main" id="{9E1AE55A-DCFC-1DB9-F8B9-4912907C9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0565" y="5776659"/>
                  <a:ext cx="782924" cy="81436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4">
                  <a:extLst>
                    <a:ext uri="{FF2B5EF4-FFF2-40B4-BE49-F238E27FC236}">
                      <a16:creationId xmlns:a16="http://schemas.microsoft.com/office/drawing/2014/main" id="{D66DF960-49A5-859C-FCCA-90BBAD7D81A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032174" y="5739617"/>
                  <a:ext cx="898721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" name="Content Placeholder 4">
                  <a:extLst>
                    <a:ext uri="{FF2B5EF4-FFF2-40B4-BE49-F238E27FC236}">
                      <a16:creationId xmlns:a16="http://schemas.microsoft.com/office/drawing/2014/main" id="{D66DF960-49A5-859C-FCCA-90BBAD7D81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2174" y="5739617"/>
                  <a:ext cx="898721" cy="81436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Equals 28">
              <a:extLst>
                <a:ext uri="{FF2B5EF4-FFF2-40B4-BE49-F238E27FC236}">
                  <a16:creationId xmlns:a16="http://schemas.microsoft.com/office/drawing/2014/main" id="{B013B834-847A-956A-0217-0FEDA297D475}"/>
                </a:ext>
              </a:extLst>
            </p:cNvPr>
            <p:cNvSpPr/>
            <p:nvPr/>
          </p:nvSpPr>
          <p:spPr>
            <a:xfrm>
              <a:off x="5789687" y="4229194"/>
              <a:ext cx="1008000" cy="540000"/>
            </a:xfrm>
            <a:prstGeom prst="mathEqual">
              <a:avLst/>
            </a:pr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67511AA-4836-C596-A132-D2C5ED2FCA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65279" y="3429000"/>
              <a:ext cx="7853" cy="24673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2140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9B9F-83C8-4AA9-6DC3-EB0FCBF7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FF88C8-5FEA-3A04-50B8-8724F43A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39F2D68-5828-579A-B767-23F82EE844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288429" cy="2825275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𝐭𝐨</m:t>
                    </m:r>
                    <m:r>
                      <a:rPr lang="en-US" b="1" i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IN" i="0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which can be represented as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Also,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– axis.</a:t>
                </a:r>
                <a:endParaRPr lang="en-IN" dirty="0"/>
              </a:p>
              <a:p>
                <a:pPr lvl="1"/>
                <a:r>
                  <a:rPr lang="en-US" b="1" dirty="0"/>
                  <a:t>Example: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≥1.43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39F2D68-5828-579A-B767-23F82EE844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288429" cy="2825275"/>
              </a:xfrm>
              <a:blipFill>
                <a:blip r:embed="rId2"/>
                <a:stretch>
                  <a:fillRect l="-1026" r="-11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DC7F97-2003-C1D9-F02F-FF78CB832968}"/>
                  </a:ext>
                </a:extLst>
              </p:cNvPr>
              <p:cNvSpPr txBox="1"/>
              <p:nvPr/>
            </p:nvSpPr>
            <p:spPr>
              <a:xfrm>
                <a:off x="8329609" y="5040607"/>
                <a:ext cx="3751118" cy="87716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600" dirty="0">
                    <a:solidFill>
                      <a:srgbClr val="002060"/>
                    </a:solidFill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6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IN" sz="2600" dirty="0">
                    <a:solidFill>
                      <a:srgbClr val="002060"/>
                    </a:solidFill>
                  </a:rPr>
                  <a:t>–Table </a:t>
                </a:r>
                <a:endParaRPr lang="en-IN" sz="25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5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4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1.43</m:t>
                          </m:r>
                        </m:e>
                      </m:d>
                      <m:r>
                        <a:rPr lang="en-IN" sz="25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=0.4236</m:t>
                      </m:r>
                    </m:oMath>
                  </m:oMathPara>
                </a14:m>
                <a:endParaRPr lang="en-IN" sz="25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DC7F97-2003-C1D9-F02F-FF78CB832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609" y="5040607"/>
                <a:ext cx="3751118" cy="877163"/>
              </a:xfrm>
              <a:prstGeom prst="rect">
                <a:avLst/>
              </a:prstGeom>
              <a:blipFill>
                <a:blip r:embed="rId3"/>
                <a:stretch>
                  <a:fillRect t="-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94EDBB5-9AA5-89FC-39FE-4E66D519B72D}"/>
                  </a:ext>
                </a:extLst>
              </p:cNvPr>
              <p:cNvSpPr/>
              <p:nvPr/>
            </p:nvSpPr>
            <p:spPr>
              <a:xfrm>
                <a:off x="4109168" y="3580181"/>
                <a:ext cx="623042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−∞≤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−1.43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94EDBB5-9AA5-89FC-39FE-4E66D519B7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168" y="3580181"/>
                <a:ext cx="623042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65D6A4E-AE8D-3A09-3BA9-D4E6B22C7858}"/>
                  </a:ext>
                </a:extLst>
              </p:cNvPr>
              <p:cNvSpPr/>
              <p:nvPr/>
            </p:nvSpPr>
            <p:spPr>
              <a:xfrm>
                <a:off x="4109168" y="5040607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IN" sz="2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0.4236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65D6A4E-AE8D-3A09-3BA9-D4E6B22C7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168" y="5040607"/>
                <a:ext cx="6096000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BDBDE8C-D184-EE9D-890F-F5F3FCB2C57E}"/>
                  </a:ext>
                </a:extLst>
              </p:cNvPr>
              <p:cNvSpPr/>
              <p:nvPr/>
            </p:nvSpPr>
            <p:spPr>
              <a:xfrm>
                <a:off x="4507200" y="2653425"/>
                <a:ext cx="253638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≤−1.43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BDBDE8C-D184-EE9D-890F-F5F3FCB2C5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200" y="2653425"/>
                <a:ext cx="253638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CD9489E-9FBE-E5FF-15D6-77DA6F2CBB11}"/>
                  </a:ext>
                </a:extLst>
              </p:cNvPr>
              <p:cNvSpPr/>
              <p:nvPr/>
            </p:nvSpPr>
            <p:spPr>
              <a:xfrm>
                <a:off x="1794629" y="5779271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1.43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0764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CD9489E-9FBE-E5FF-15D6-77DA6F2CB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629" y="5779271"/>
                <a:ext cx="60960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2004EB7-1460-B5C7-7BDE-01C85526CC05}"/>
                  </a:ext>
                </a:extLst>
              </p:cNvPr>
              <p:cNvSpPr/>
              <p:nvPr/>
            </p:nvSpPr>
            <p:spPr>
              <a:xfrm>
                <a:off x="4109168" y="4373000"/>
                <a:ext cx="59627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−∞≤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≤0</m:t>
                          </m:r>
                        </m:e>
                      </m:d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1.43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2004EB7-1460-B5C7-7BDE-01C85526C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168" y="4373000"/>
                <a:ext cx="596272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812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39516-7D6A-1BBB-792F-67567B3E8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D566C3-08EA-B178-445F-282DC4C15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AB5C6CA-B352-11C0-C87E-6459DA3960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41960"/>
                <a:ext cx="11929641" cy="139630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/>
                  </a:rPr>
                  <a:t>Case : (4)</a:t>
                </a:r>
                <a:r>
                  <a:rPr lang="en-US" dirty="0">
                    <a:ea typeface="Calibri" panose="020F0502020204030204" pitchFamily="34" charset="0"/>
                    <a:cs typeface="Shruti"/>
                  </a:rPr>
                  <a:t> 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Shruti"/>
                  </a:rPr>
                  <a:t>Area between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𝟏</m:t>
                        </m:r>
                      </m:sub>
                    </m:sSub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𝐭𝐨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US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IN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𝟐</m:t>
                        </m:r>
                      </m:sub>
                    </m:sSub>
                    <m:r>
                      <a:rPr lang="en-IN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,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which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can be represented as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  <m: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hruti"/>
                          </a:rPr>
                          <m:t>≤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AB5C6CA-B352-11C0-C87E-6459DA3960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41960"/>
                <a:ext cx="11929641" cy="1396308"/>
              </a:xfrm>
              <a:blipFill>
                <a:blip r:embed="rId2"/>
                <a:stretch>
                  <a:fillRect l="-1074" b="-56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402FF041-DD91-E6F7-8318-8D2FC59264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589" y="2037239"/>
                <a:ext cx="8411684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hruti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402FF041-DD91-E6F7-8318-8D2FC5926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89" y="2037239"/>
                <a:ext cx="8411684" cy="814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713A8D93-DD34-E6AE-34D7-0FAE16186B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589" y="2775092"/>
                <a:ext cx="11813986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Note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that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&amp;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can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be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found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by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using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FF0000"/>
                          </a:solidFill>
                        </a:rPr>
                        <m:t>case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rgbClr val="FF0000"/>
                          </a:solidFill>
                        </a:rPr>
                        <m:t> – (1)</m:t>
                      </m:r>
                    </m:oMath>
                  </m:oMathPara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713A8D93-DD34-E6AE-34D7-0FAE16186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89" y="2775092"/>
                <a:ext cx="11813986" cy="8143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2F65EB6E-CE5C-A09A-B205-03B360223A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191"/>
          <a:stretch>
            <a:fillRect/>
          </a:stretch>
        </p:blipFill>
        <p:spPr>
          <a:xfrm>
            <a:off x="4410377" y="4393645"/>
            <a:ext cx="7135631" cy="21703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DBAFCE-16D0-3D91-2452-E1F03AB9B2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449"/>
          <a:stretch>
            <a:fillRect/>
          </a:stretch>
        </p:blipFill>
        <p:spPr>
          <a:xfrm>
            <a:off x="244265" y="4318703"/>
            <a:ext cx="3694071" cy="21703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76923BD8-62FD-8367-80F6-39BC4A2EC6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59326" y="4945456"/>
                <a:ext cx="551051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76923BD8-62FD-8367-80F6-39BC4A2EC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326" y="4945456"/>
                <a:ext cx="551051" cy="8143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5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33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0C26C-C4FB-E2A7-1335-EE1542ABF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9B9C45-48F6-E4D2-30DA-6C3F9D59F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4">
                <a:extLst>
                  <a:ext uri="{FF2B5EF4-FFF2-40B4-BE49-F238E27FC236}">
                    <a16:creationId xmlns:a16="http://schemas.microsoft.com/office/drawing/2014/main" id="{F2B2639B-4F65-9482-B617-FBB42E3C0F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67367"/>
                <a:ext cx="11929641" cy="2661634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𝐭𝐨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IN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which can be represented as</a:t>
                </a:r>
              </a:p>
              <a:p>
                <a:pPr marL="269875" lvl="0" indent="0">
                  <a:buNone/>
                  <a:tabLst>
                    <a:tab pos="2698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dirty="0"/>
                  <a:t>Also,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– axis.</a:t>
                </a:r>
                <a:endParaRPr lang="en-IN" dirty="0"/>
              </a:p>
            </p:txBody>
          </p:sp>
        </mc:Choice>
        <mc:Fallback xmlns="">
          <p:sp>
            <p:nvSpPr>
              <p:cNvPr id="47" name="Content Placeholder 4">
                <a:extLst>
                  <a:ext uri="{FF2B5EF4-FFF2-40B4-BE49-F238E27FC236}">
                    <a16:creationId xmlns:a16="http://schemas.microsoft.com/office/drawing/2014/main" id="{F2B2639B-4F65-9482-B617-FBB42E3C0F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67367"/>
                <a:ext cx="11929641" cy="2661634"/>
              </a:xfrm>
              <a:blipFill>
                <a:blip r:embed="rId2"/>
                <a:stretch>
                  <a:fillRect l="-971" r="-1074" b="-34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B942B027-AEEC-9DCB-0357-49A80338FF69}"/>
              </a:ext>
            </a:extLst>
          </p:cNvPr>
          <p:cNvGrpSpPr/>
          <p:nvPr/>
        </p:nvGrpSpPr>
        <p:grpSpPr>
          <a:xfrm>
            <a:off x="1267003" y="3386468"/>
            <a:ext cx="9657993" cy="3306551"/>
            <a:chOff x="630349" y="1927250"/>
            <a:chExt cx="10717790" cy="371583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8B5951-9FCB-EB8C-7F77-06D66C114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5886" y="2321829"/>
              <a:ext cx="0" cy="26665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0A6A80B-18D7-7D71-4CDC-90B224724F2E}"/>
                </a:ext>
              </a:extLst>
            </p:cNvPr>
            <p:cNvSpPr/>
            <p:nvPr/>
          </p:nvSpPr>
          <p:spPr>
            <a:xfrm>
              <a:off x="1756731" y="2431473"/>
              <a:ext cx="1047924" cy="2556918"/>
            </a:xfrm>
            <a:custGeom>
              <a:avLst/>
              <a:gdLst>
                <a:gd name="csX0" fmla="*/ 1016677 w 1047924"/>
                <a:gd name="csY0" fmla="*/ 0 h 2556918"/>
                <a:gd name="csX1" fmla="*/ 1047924 w 1047924"/>
                <a:gd name="csY1" fmla="*/ 0 h 2556918"/>
                <a:gd name="csX2" fmla="*/ 1047924 w 1047924"/>
                <a:gd name="csY2" fmla="*/ 2556918 h 2556918"/>
                <a:gd name="csX3" fmla="*/ 0 w 1047924"/>
                <a:gd name="csY3" fmla="*/ 2556918 h 2556918"/>
                <a:gd name="csX4" fmla="*/ 0 w 1047924"/>
                <a:gd name="csY4" fmla="*/ 2152003 h 2556918"/>
                <a:gd name="csX5" fmla="*/ 3400 w 1047924"/>
                <a:gd name="csY5" fmla="*/ 2148532 h 2556918"/>
                <a:gd name="csX6" fmla="*/ 294803 w 1047924"/>
                <a:gd name="csY6" fmla="*/ 1673249 h 2556918"/>
                <a:gd name="csX7" fmla="*/ 968855 w 1047924"/>
                <a:gd name="csY7" fmla="*/ 84491 h 25569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47924" h="2556918">
                  <a:moveTo>
                    <a:pt x="1016677" y="0"/>
                  </a:moveTo>
                  <a:lnTo>
                    <a:pt x="1047924" y="0"/>
                  </a:lnTo>
                  <a:lnTo>
                    <a:pt x="1047924" y="2556918"/>
                  </a:lnTo>
                  <a:lnTo>
                    <a:pt x="0" y="2556918"/>
                  </a:lnTo>
                  <a:lnTo>
                    <a:pt x="0" y="2152003"/>
                  </a:lnTo>
                  <a:lnTo>
                    <a:pt x="3400" y="2148532"/>
                  </a:lnTo>
                  <a:cubicBezTo>
                    <a:pt x="109608" y="2026530"/>
                    <a:pt x="203757" y="1864316"/>
                    <a:pt x="294803" y="1673249"/>
                  </a:cubicBezTo>
                  <a:cubicBezTo>
                    <a:pt x="424871" y="1400297"/>
                    <a:pt x="679782" y="626374"/>
                    <a:pt x="968855" y="8449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179282F-DA1A-568B-3F95-63D715F606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0711" y="2348017"/>
              <a:ext cx="0" cy="2628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472F49FC-8351-73FA-4498-B8C6B1A2B7CE}"/>
                </a:ext>
              </a:extLst>
            </p:cNvPr>
            <p:cNvSpPr/>
            <p:nvPr/>
          </p:nvSpPr>
          <p:spPr>
            <a:xfrm flipH="1">
              <a:off x="9454575" y="2431473"/>
              <a:ext cx="1047924" cy="2556918"/>
            </a:xfrm>
            <a:custGeom>
              <a:avLst/>
              <a:gdLst>
                <a:gd name="csX0" fmla="*/ 1016677 w 1047924"/>
                <a:gd name="csY0" fmla="*/ 0 h 2556918"/>
                <a:gd name="csX1" fmla="*/ 1047924 w 1047924"/>
                <a:gd name="csY1" fmla="*/ 0 h 2556918"/>
                <a:gd name="csX2" fmla="*/ 1047924 w 1047924"/>
                <a:gd name="csY2" fmla="*/ 2556918 h 2556918"/>
                <a:gd name="csX3" fmla="*/ 0 w 1047924"/>
                <a:gd name="csY3" fmla="*/ 2556918 h 2556918"/>
                <a:gd name="csX4" fmla="*/ 0 w 1047924"/>
                <a:gd name="csY4" fmla="*/ 2152003 h 2556918"/>
                <a:gd name="csX5" fmla="*/ 3400 w 1047924"/>
                <a:gd name="csY5" fmla="*/ 2148532 h 2556918"/>
                <a:gd name="csX6" fmla="*/ 294803 w 1047924"/>
                <a:gd name="csY6" fmla="*/ 1673249 h 2556918"/>
                <a:gd name="csX7" fmla="*/ 968855 w 1047924"/>
                <a:gd name="csY7" fmla="*/ 84491 h 25569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47924" h="2556918">
                  <a:moveTo>
                    <a:pt x="1016677" y="0"/>
                  </a:moveTo>
                  <a:lnTo>
                    <a:pt x="1047924" y="0"/>
                  </a:lnTo>
                  <a:lnTo>
                    <a:pt x="1047924" y="2556918"/>
                  </a:lnTo>
                  <a:lnTo>
                    <a:pt x="0" y="2556918"/>
                  </a:lnTo>
                  <a:lnTo>
                    <a:pt x="0" y="2152003"/>
                  </a:lnTo>
                  <a:lnTo>
                    <a:pt x="3400" y="2148532"/>
                  </a:lnTo>
                  <a:cubicBezTo>
                    <a:pt x="109608" y="2026530"/>
                    <a:pt x="203757" y="1864316"/>
                    <a:pt x="294803" y="1673249"/>
                  </a:cubicBezTo>
                  <a:cubicBezTo>
                    <a:pt x="424871" y="1400297"/>
                    <a:pt x="679782" y="626374"/>
                    <a:pt x="968855" y="8449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2AAC476-5B7D-ACCD-B942-6D505B62F0AF}"/>
                </a:ext>
              </a:extLst>
            </p:cNvPr>
            <p:cNvCxnSpPr>
              <a:cxnSpLocks/>
            </p:cNvCxnSpPr>
            <p:nvPr/>
          </p:nvCxnSpPr>
          <p:spPr>
            <a:xfrm>
              <a:off x="3270046" y="1933104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499F18C-A3E7-7F39-5E21-151A5E0CA833}"/>
                </a:ext>
              </a:extLst>
            </p:cNvPr>
            <p:cNvSpPr/>
            <p:nvPr/>
          </p:nvSpPr>
          <p:spPr>
            <a:xfrm>
              <a:off x="1290522" y="1927252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79623EE-8ACA-026C-50B3-C6039720B4B2}"/>
                </a:ext>
              </a:extLst>
            </p:cNvPr>
            <p:cNvCxnSpPr>
              <a:cxnSpLocks/>
            </p:cNvCxnSpPr>
            <p:nvPr/>
          </p:nvCxnSpPr>
          <p:spPr>
            <a:xfrm>
              <a:off x="1290522" y="4966134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E491502-01E0-DC7C-D62A-688AE34DE1B9}"/>
                </a:ext>
              </a:extLst>
            </p:cNvPr>
            <p:cNvCxnSpPr>
              <a:cxnSpLocks/>
            </p:cNvCxnSpPr>
            <p:nvPr/>
          </p:nvCxnSpPr>
          <p:spPr>
            <a:xfrm>
              <a:off x="8950409" y="1933102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2DD823E-5415-C8E1-9233-54E1D21D0CC6}"/>
                </a:ext>
              </a:extLst>
            </p:cNvPr>
            <p:cNvSpPr/>
            <p:nvPr/>
          </p:nvSpPr>
          <p:spPr>
            <a:xfrm>
              <a:off x="6970885" y="1927250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40EE34-5E26-C6AB-E5B7-D89866F6E452}"/>
                </a:ext>
              </a:extLst>
            </p:cNvPr>
            <p:cNvCxnSpPr>
              <a:cxnSpLocks/>
            </p:cNvCxnSpPr>
            <p:nvPr/>
          </p:nvCxnSpPr>
          <p:spPr>
            <a:xfrm>
              <a:off x="6970885" y="4966132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ontent Placeholder 4">
                  <a:extLst>
                    <a:ext uri="{FF2B5EF4-FFF2-40B4-BE49-F238E27FC236}">
                      <a16:creationId xmlns:a16="http://schemas.microsoft.com/office/drawing/2014/main" id="{9FE3BA06-C3DB-5D46-50DA-310D8DDE32D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284834" y="4773075"/>
                  <a:ext cx="742123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Content Placeholder 4">
                  <a:extLst>
                    <a:ext uri="{FF2B5EF4-FFF2-40B4-BE49-F238E27FC236}">
                      <a16:creationId xmlns:a16="http://schemas.microsoft.com/office/drawing/2014/main" id="{9FE3BA06-C3DB-5D46-50DA-310D8DDE32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834" y="4773075"/>
                  <a:ext cx="742123" cy="814364"/>
                </a:xfrm>
                <a:prstGeom prst="rect">
                  <a:avLst/>
                </a:prstGeom>
                <a:blipFill>
                  <a:blip r:embed="rId3"/>
                  <a:stretch>
                    <a:fillRect r="-90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ontent Placeholder 4">
                  <a:extLst>
                    <a:ext uri="{FF2B5EF4-FFF2-40B4-BE49-F238E27FC236}">
                      <a16:creationId xmlns:a16="http://schemas.microsoft.com/office/drawing/2014/main" id="{6D969086-BD64-F595-00F5-0A5C11F9DAB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12758" y="4828719"/>
                  <a:ext cx="371062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Content Placeholder 4">
                  <a:extLst>
                    <a:ext uri="{FF2B5EF4-FFF2-40B4-BE49-F238E27FC236}">
                      <a16:creationId xmlns:a16="http://schemas.microsoft.com/office/drawing/2014/main" id="{6D969086-BD64-F595-00F5-0A5C11F9D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2758" y="4828719"/>
                  <a:ext cx="371062" cy="81436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ontent Placeholder 4">
                  <a:extLst>
                    <a:ext uri="{FF2B5EF4-FFF2-40B4-BE49-F238E27FC236}">
                      <a16:creationId xmlns:a16="http://schemas.microsoft.com/office/drawing/2014/main" id="{DA2C737F-5555-B07D-D076-2707912217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103495" y="4807937"/>
                  <a:ext cx="476699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Content Placeholder 4">
                  <a:extLst>
                    <a:ext uri="{FF2B5EF4-FFF2-40B4-BE49-F238E27FC236}">
                      <a16:creationId xmlns:a16="http://schemas.microsoft.com/office/drawing/2014/main" id="{DA2C737F-5555-B07D-D076-2707912217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3495" y="4807937"/>
                  <a:ext cx="476699" cy="8143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ontent Placeholder 4">
                  <a:extLst>
                    <a:ext uri="{FF2B5EF4-FFF2-40B4-BE49-F238E27FC236}">
                      <a16:creationId xmlns:a16="http://schemas.microsoft.com/office/drawing/2014/main" id="{F687B946-9A95-588C-B0DE-62951E8C665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30349" y="4807937"/>
                  <a:ext cx="782924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Content Placeholder 4">
                  <a:extLst>
                    <a:ext uri="{FF2B5EF4-FFF2-40B4-BE49-F238E27FC236}">
                      <a16:creationId xmlns:a16="http://schemas.microsoft.com/office/drawing/2014/main" id="{F687B946-9A95-588C-B0DE-62951E8C66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349" y="4807937"/>
                  <a:ext cx="782924" cy="8143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ontent Placeholder 4">
                  <a:extLst>
                    <a:ext uri="{FF2B5EF4-FFF2-40B4-BE49-F238E27FC236}">
                      <a16:creationId xmlns:a16="http://schemas.microsoft.com/office/drawing/2014/main" id="{AB8F0EB5-5D4B-9AAE-290E-D6F24C49F37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750400" y="4795988"/>
                  <a:ext cx="371062" cy="814365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b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Content Placeholder 4">
                  <a:extLst>
                    <a:ext uri="{FF2B5EF4-FFF2-40B4-BE49-F238E27FC236}">
                      <a16:creationId xmlns:a16="http://schemas.microsoft.com/office/drawing/2014/main" id="{AB8F0EB5-5D4B-9AAE-290E-D6F24C49F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0400" y="4795988"/>
                  <a:ext cx="371062" cy="8143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ontent Placeholder 4">
                  <a:extLst>
                    <a:ext uri="{FF2B5EF4-FFF2-40B4-BE49-F238E27FC236}">
                      <a16:creationId xmlns:a16="http://schemas.microsoft.com/office/drawing/2014/main" id="{23B9220A-A3A4-FF88-BEA3-5C5256D7899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871440" y="4773075"/>
                  <a:ext cx="476699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Content Placeholder 4">
                  <a:extLst>
                    <a:ext uri="{FF2B5EF4-FFF2-40B4-BE49-F238E27FC236}">
                      <a16:creationId xmlns:a16="http://schemas.microsoft.com/office/drawing/2014/main" id="{23B9220A-A3A4-FF88-BEA3-5C5256D789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1440" y="4773075"/>
                  <a:ext cx="476699" cy="81436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ontent Placeholder 4">
                  <a:extLst>
                    <a:ext uri="{FF2B5EF4-FFF2-40B4-BE49-F238E27FC236}">
                      <a16:creationId xmlns:a16="http://schemas.microsoft.com/office/drawing/2014/main" id="{E1228193-1F7B-CAE1-DFCF-4570AA384C2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469868" y="4795988"/>
                  <a:ext cx="782924" cy="814365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" name="Content Placeholder 4">
                  <a:extLst>
                    <a:ext uri="{FF2B5EF4-FFF2-40B4-BE49-F238E27FC236}">
                      <a16:creationId xmlns:a16="http://schemas.microsoft.com/office/drawing/2014/main" id="{E1228193-1F7B-CAE1-DFCF-4570AA384C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9868" y="4795988"/>
                  <a:ext cx="782924" cy="8143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ontent Placeholder 4">
                  <a:extLst>
                    <a:ext uri="{FF2B5EF4-FFF2-40B4-BE49-F238E27FC236}">
                      <a16:creationId xmlns:a16="http://schemas.microsoft.com/office/drawing/2014/main" id="{D4AE3612-7F30-6BF1-13BB-83AD2CC3AF6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228713" y="4752741"/>
                  <a:ext cx="605440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Content Placeholder 4">
                  <a:extLst>
                    <a:ext uri="{FF2B5EF4-FFF2-40B4-BE49-F238E27FC236}">
                      <a16:creationId xmlns:a16="http://schemas.microsoft.com/office/drawing/2014/main" id="{D4AE3612-7F30-6BF1-13BB-83AD2CC3AF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8713" y="4752741"/>
                  <a:ext cx="605440" cy="81436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Equals 19">
              <a:extLst>
                <a:ext uri="{FF2B5EF4-FFF2-40B4-BE49-F238E27FC236}">
                  <a16:creationId xmlns:a16="http://schemas.microsoft.com/office/drawing/2014/main" id="{40405615-752B-C0BA-C7A4-AE668A8775F5}"/>
                </a:ext>
              </a:extLst>
            </p:cNvPr>
            <p:cNvSpPr/>
            <p:nvPr/>
          </p:nvSpPr>
          <p:spPr>
            <a:xfrm>
              <a:off x="5675387" y="3281254"/>
              <a:ext cx="1008000" cy="540000"/>
            </a:xfrm>
            <a:prstGeom prst="mathEqual">
              <a:avLst/>
            </a:pr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763CE4-40F2-E43D-06BE-55BDA523053D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 flipV="1">
              <a:off x="1756731" y="4561609"/>
              <a:ext cx="0" cy="4267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ontent Placeholder 4">
                  <a:extLst>
                    <a:ext uri="{FF2B5EF4-FFF2-40B4-BE49-F238E27FC236}">
                      <a16:creationId xmlns:a16="http://schemas.microsoft.com/office/drawing/2014/main" id="{AB453811-4CD7-2DAA-570F-56EE632CE15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25506" y="4773075"/>
                  <a:ext cx="742123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Content Placeholder 4">
                  <a:extLst>
                    <a:ext uri="{FF2B5EF4-FFF2-40B4-BE49-F238E27FC236}">
                      <a16:creationId xmlns:a16="http://schemas.microsoft.com/office/drawing/2014/main" id="{AB453811-4CD7-2DAA-570F-56EE632CE1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5506" y="4773075"/>
                  <a:ext cx="742123" cy="81436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45A6B71-C30E-CF1F-687D-F04D9E308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6150" y="4539350"/>
              <a:ext cx="0" cy="4267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4">
                  <a:extLst>
                    <a:ext uri="{FF2B5EF4-FFF2-40B4-BE49-F238E27FC236}">
                      <a16:creationId xmlns:a16="http://schemas.microsoft.com/office/drawing/2014/main" id="{6C57C498-E078-892C-27BE-D8F7ACCD262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258405" y="4752741"/>
                  <a:ext cx="605440" cy="81436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Content Placeholder 4">
                  <a:extLst>
                    <a:ext uri="{FF2B5EF4-FFF2-40B4-BE49-F238E27FC236}">
                      <a16:creationId xmlns:a16="http://schemas.microsoft.com/office/drawing/2014/main" id="{6C57C498-E078-892C-27BE-D8F7ACCD26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58405" y="4752741"/>
                  <a:ext cx="605440" cy="81436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1469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uiExpand="1" build="p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2E7BC-A4FA-7482-3212-AD85BF21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0EB5FB-CE8D-8166-9ADC-247E2D16A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 : </a:t>
            </a:r>
            <a:r>
              <a:rPr lang="en-IN" dirty="0">
                <a:solidFill>
                  <a:srgbClr val="7030A0"/>
                </a:solidFill>
              </a:rPr>
              <a:t>Remark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CC53FA2-0B48-8A98-C61B-5B50300651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9896047" cy="3338045"/>
              </a:xfrm>
            </p:spPr>
            <p:txBody>
              <a:bodyPr/>
              <a:lstStyle/>
              <a:p>
                <a:pPr lvl="0"/>
                <a:r>
                  <a:rPr lang="en-US" dirty="0"/>
                  <a:t>Area between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𝐭𝐨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IN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which can be represented as </a:t>
                </a:r>
                <a14:m>
                  <m:oMath xmlns:m="http://schemas.openxmlformats.org/officeDocument/2006/math"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IN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Also,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as normal distribution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symmetric</a:t>
                </a:r>
                <a:r>
                  <a:rPr lang="en-US" dirty="0"/>
                  <a:t>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– axis.</a:t>
                </a:r>
                <a:endParaRPr lang="en-IN" dirty="0"/>
              </a:p>
              <a:p>
                <a:pPr lvl="1"/>
                <a:r>
                  <a:rPr lang="en-US" b="1" dirty="0"/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1.43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CC53FA2-0B48-8A98-C61B-5B5030065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9896047" cy="3338045"/>
              </a:xfrm>
              <a:blipFill>
                <a:blip r:embed="rId2"/>
                <a:stretch>
                  <a:fillRect l="-1171" r="-1232" b="-18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17258FA-DB5F-487D-63E7-1E3A61E4DF39}"/>
                  </a:ext>
                </a:extLst>
              </p:cNvPr>
              <p:cNvSpPr/>
              <p:nvPr/>
            </p:nvSpPr>
            <p:spPr>
              <a:xfrm>
                <a:off x="5304123" y="4860397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0.4772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0.4236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17258FA-DB5F-487D-63E7-1E3A61E4DF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123" y="4860397"/>
                <a:ext cx="6096000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B960F9F-66E7-D913-BF20-C6185255659E}"/>
                  </a:ext>
                </a:extLst>
              </p:cNvPr>
              <p:cNvSpPr/>
              <p:nvPr/>
            </p:nvSpPr>
            <p:spPr>
              <a:xfrm>
                <a:off x="5653381" y="3279219"/>
                <a:ext cx="3449056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1.43≤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B960F9F-66E7-D913-BF20-C618525565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381" y="3279219"/>
                <a:ext cx="3449056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9E3B91D-401F-CE36-D943-521A8A11A529}"/>
                  </a:ext>
                </a:extLst>
              </p:cNvPr>
              <p:cNvSpPr/>
              <p:nvPr/>
            </p:nvSpPr>
            <p:spPr>
              <a:xfrm>
                <a:off x="2334956" y="5599061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1.43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0536</m:t>
                      </m:r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9E3B91D-401F-CE36-D943-521A8A11A5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956" y="5599061"/>
                <a:ext cx="6096000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21641E8-74D3-0646-92F6-C2BDCE0AF011}"/>
                  </a:ext>
                </a:extLst>
              </p:cNvPr>
              <p:cNvSpPr/>
              <p:nvPr/>
            </p:nvSpPr>
            <p:spPr>
              <a:xfrm>
                <a:off x="5304123" y="4188141"/>
                <a:ext cx="56661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1.43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21641E8-74D3-0646-92F6-C2BDCE0AF0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123" y="4188141"/>
                <a:ext cx="566616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01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A463-B608-2759-F8A9-32EF5BA9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C5C56A-52DD-59E8-BDB4-126D31DB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A640E0D-F83A-6410-97F3-9E6C759BE9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41960"/>
                <a:ext cx="12337911" cy="1396308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ea typeface="Calibri" panose="020F0502020204030204" pitchFamily="34" charset="0"/>
                    <a:cs typeface="Shruti"/>
                  </a:rPr>
                  <a:t>Case : (5)</a:t>
                </a:r>
                <a:r>
                  <a:rPr lang="en-US" dirty="0">
                    <a:ea typeface="Calibri" panose="020F0502020204030204" pitchFamily="34" charset="0"/>
                    <a:cs typeface="Shruti"/>
                  </a:rPr>
                  <a:t> </a:t>
                </a:r>
              </a:p>
              <a:p>
                <a:r>
                  <a:rPr lang="en-US" dirty="0">
                    <a:ea typeface="Calibri" panose="020F0502020204030204" pitchFamily="34" charset="0"/>
                    <a:cs typeface="Shruti"/>
                  </a:rPr>
                  <a:t>Area between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Shruti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−</m:t>
                        </m:r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IN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𝟏</m:t>
                        </m:r>
                      </m:sub>
                    </m:sSub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𝐭𝐨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 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𝐙</m:t>
                    </m:r>
                    <m:r>
                      <a:rPr lang="en-US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=</m:t>
                    </m:r>
                    <m:sSub>
                      <m:sSubPr>
                        <m:ctrlPr>
                          <a:rPr lang="en-IN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sSubPr>
                      <m:e>
                        <m:r>
                          <a:rPr lang="en-US" b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𝐳</m:t>
                        </m:r>
                      </m:e>
                      <m:sub>
                        <m:r>
                          <a:rPr lang="en-IN" b="1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𝟐</m:t>
                        </m:r>
                      </m:sub>
                    </m:sSub>
                    <m:r>
                      <a:rPr lang="en-IN" b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,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which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:r>
                  <a:rPr lang="en-IN" dirty="0"/>
                  <a:t>can be represented as</a:t>
                </a:r>
                <a:r>
                  <a:rPr lang="en-IN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/>
                      </a:rPr>
                      <m:t>𝐏</m:t>
                    </m:r>
                    <m:d>
                      <m:d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−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𝟏</m:t>
                            </m:r>
                          </m:sub>
                        </m:sSub>
                        <m: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hruti"/>
                          </a:rPr>
                          <m:t>≤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/>
                          </a:rPr>
                          <m:t>≤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Shruti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Shruti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A640E0D-F83A-6410-97F3-9E6C759BE9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41960"/>
                <a:ext cx="12337911" cy="1396308"/>
              </a:xfrm>
              <a:blipFill>
                <a:blip r:embed="rId2"/>
                <a:stretch>
                  <a:fillRect l="-1038" b="-56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DD80F385-A928-8E61-96F4-C45F126ECB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589" y="2037239"/>
                <a:ext cx="8411684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hruti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m:t>0</m:t>
                          </m:r>
                        </m:e>
                      </m:d>
                      <m:r>
                        <a:rPr lang="en-IN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DD80F385-A928-8E61-96F4-C45F126EC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89" y="2037239"/>
                <a:ext cx="8411684" cy="814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72932BEF-67C9-8936-BA60-A2B205DE6F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589" y="2706741"/>
                <a:ext cx="11813986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Note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that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/>
                            </a:rPr>
                            <m:t>0</m:t>
                          </m:r>
                        </m:e>
                      </m:d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&amp;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Shruti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can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be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m:t>found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by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using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IN" b="1" i="0" dirty="0" smtClean="0">
                          <a:solidFill>
                            <a:srgbClr val="FF0000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rgbClr val="FF0000"/>
                          </a:solidFill>
                        </a:rPr>
                        <m:t>ase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rgbClr val="FF0000"/>
                          </a:solidFill>
                        </a:rPr>
                        <m:t> – </m:t>
                      </m:r>
                      <m:r>
                        <m:rPr>
                          <m:nor/>
                        </m:rPr>
                        <a:rPr lang="en-IN" b="1" i="0" dirty="0" smtClean="0">
                          <a:solidFill>
                            <a:srgbClr val="FF0000"/>
                          </a:solidFill>
                        </a:rPr>
                        <m:t>(1)</m:t>
                      </m:r>
                    </m:oMath>
                  </m:oMathPara>
                </a14:m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72932BEF-67C9-8936-BA60-A2B205DE6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89" y="2706741"/>
                <a:ext cx="11813986" cy="8143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074AD9F2-DD4F-E995-2C52-5420B72554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92716" y="4715960"/>
                <a:ext cx="551051" cy="8143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074AD9F2-DD4F-E995-2C52-5420B7255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716" y="4715960"/>
                <a:ext cx="551051" cy="8143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D9B4E89-0B10-68C0-83DE-3F9F01285E9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6004" b="-2653"/>
          <a:stretch>
            <a:fillRect/>
          </a:stretch>
        </p:blipFill>
        <p:spPr>
          <a:xfrm>
            <a:off x="0" y="3755710"/>
            <a:ext cx="4053941" cy="27348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573B59-C8E0-CA6E-6ED5-867176BF41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303" t="-1" b="-2653"/>
          <a:stretch>
            <a:fillRect/>
          </a:stretch>
        </p:blipFill>
        <p:spPr>
          <a:xfrm>
            <a:off x="4438660" y="3755710"/>
            <a:ext cx="7715005" cy="273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6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33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1"/>
                <a:ext cx="11929643" cy="233062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 normally distributed and the mean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/>
                  <a:t> and the SD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. Find out the probability of the following.</a:t>
                </a:r>
                <a:endParaRPr lang="en-IN" dirty="0"/>
              </a:p>
              <a:p>
                <a:pPr algn="l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1" dirty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≥20, 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≤20, 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0≤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≤12</m:t>
                      </m:r>
                    </m:oMath>
                  </m:oMathPara>
                </a14:m>
                <a:endParaRPr lang="en-IN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𝟒𝟕𝟕𝟐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400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𝟒𝟗𝟖𝟕</m:t>
                          </m:r>
                          <m:r>
                            <a:rPr lang="en-IN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b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330625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429000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8" y="3302131"/>
                <a:ext cx="7528794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follows a normal distribution. 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8" y="3302131"/>
                <a:ext cx="7528794" cy="665631"/>
              </a:xfrm>
              <a:prstGeom prst="rect">
                <a:avLst/>
              </a:prstGeom>
              <a:blipFill>
                <a:blip r:embed="rId3"/>
                <a:stretch>
                  <a:fillRect l="-170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0E10FA-82EB-9E67-B6E0-8539885FF7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4838710"/>
                <a:ext cx="3912758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To find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d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0E10FA-82EB-9E67-B6E0-8539885F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838710"/>
                <a:ext cx="3912758" cy="480131"/>
              </a:xfrm>
              <a:prstGeom prst="rect">
                <a:avLst/>
              </a:prstGeom>
              <a:blipFill>
                <a:blip r:embed="rId4"/>
                <a:stretch>
                  <a:fillRect l="-3271" t="-21519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0D06964-F7FE-FBF5-AD03-98CBD48CF30F}"/>
              </a:ext>
            </a:extLst>
          </p:cNvPr>
          <p:cNvSpPr/>
          <p:nvPr/>
        </p:nvSpPr>
        <p:spPr>
          <a:xfrm>
            <a:off x="2098989" y="5803711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269F085-49BD-3C44-F58B-FF6CD397959E}"/>
                  </a:ext>
                </a:extLst>
              </p:cNvPr>
              <p:cNvSpPr/>
              <p:nvPr/>
            </p:nvSpPr>
            <p:spPr>
              <a:xfrm>
                <a:off x="2626426" y="5606766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269F085-49BD-3C44-F58B-FF6CD39795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426" y="5606766"/>
                <a:ext cx="1911100" cy="898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C6DFDDE-9A50-B56A-77D0-6C55E13307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8" y="3967762"/>
                <a:ext cx="4556994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C6DFDDE-9A50-B56A-77D0-6C55E1330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8" y="3967762"/>
                <a:ext cx="4556994" cy="665631"/>
              </a:xfrm>
              <a:prstGeom prst="rect">
                <a:avLst/>
              </a:prstGeom>
              <a:blipFill>
                <a:blip r:embed="rId6"/>
                <a:stretch>
                  <a:fillRect l="-2811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192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/>
      <p:bldP spid="4" grpId="0"/>
      <p:bldP spid="5" grpId="0"/>
      <p:bldP spid="7" grpId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609118" y="1772032"/>
                <a:ext cx="1474358" cy="61130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118" y="1772032"/>
                <a:ext cx="1474358" cy="611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609118" y="2651443"/>
                <a:ext cx="1474358" cy="61130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118" y="2651443"/>
                <a:ext cx="1474358" cy="6113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D555335-CAC3-7848-63F4-EE3FCD1989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524" y="792605"/>
                <a:ext cx="3912758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To find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d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D555335-CAC3-7848-63F4-EE3FCD198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24" y="792605"/>
                <a:ext cx="3912758" cy="480131"/>
              </a:xfrm>
              <a:prstGeom prst="rect">
                <a:avLst/>
              </a:prstGeom>
              <a:blipFill>
                <a:blip r:embed="rId5"/>
                <a:stretch>
                  <a:fillRect l="-3271" t="-20253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0235279-9D24-5973-F785-DC94C5CB3A4E}"/>
                  </a:ext>
                </a:extLst>
              </p:cNvPr>
              <p:cNvSpPr/>
              <p:nvPr/>
            </p:nvSpPr>
            <p:spPr>
              <a:xfrm>
                <a:off x="592307" y="2651444"/>
                <a:ext cx="28770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≥20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0235279-9D24-5973-F785-DC94C5CB3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07" y="2651444"/>
                <a:ext cx="2877030" cy="523220"/>
              </a:xfrm>
              <a:prstGeom prst="rect">
                <a:avLst/>
              </a:prstGeom>
              <a:blipFill>
                <a:blip r:embed="rId6"/>
                <a:stretch>
                  <a:fillRect l="-4237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D3BAFB5-ED2A-F0FF-91D3-91D696A1809A}"/>
              </a:ext>
            </a:extLst>
          </p:cNvPr>
          <p:cNvSpPr/>
          <p:nvPr/>
        </p:nvSpPr>
        <p:spPr>
          <a:xfrm>
            <a:off x="592307" y="1611567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6CF28EA-B974-B3C3-B539-1F6285763EC2}"/>
                  </a:ext>
                </a:extLst>
              </p:cNvPr>
              <p:cNvSpPr/>
              <p:nvPr/>
            </p:nvSpPr>
            <p:spPr>
              <a:xfrm>
                <a:off x="1119744" y="1414622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6CF28EA-B974-B3C3-B539-1F6285763E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744" y="1414622"/>
                <a:ext cx="1911100" cy="8989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3C34C29-7A95-1984-D48B-BCE605F7E79D}"/>
                  </a:ext>
                </a:extLst>
              </p:cNvPr>
              <p:cNvSpPr/>
              <p:nvPr/>
            </p:nvSpPr>
            <p:spPr>
              <a:xfrm>
                <a:off x="3030844" y="2412732"/>
                <a:ext cx="4551193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3C34C29-7A95-1984-D48B-BCE605F7E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844" y="2412732"/>
                <a:ext cx="4551193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98D0347-1E06-8A94-BD03-555427D4BB82}"/>
                  </a:ext>
                </a:extLst>
              </p:cNvPr>
              <p:cNvSpPr/>
              <p:nvPr/>
            </p:nvSpPr>
            <p:spPr>
              <a:xfrm>
                <a:off x="3030844" y="3928055"/>
                <a:ext cx="4551193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98D0347-1E06-8A94-BD03-555427D4BB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844" y="3928055"/>
                <a:ext cx="4551193" cy="1060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739B4A6-6F39-B497-F36F-01F6A5D3916B}"/>
                  </a:ext>
                </a:extLst>
              </p:cNvPr>
              <p:cNvSpPr/>
              <p:nvPr/>
            </p:nvSpPr>
            <p:spPr>
              <a:xfrm>
                <a:off x="1066950" y="5542175"/>
                <a:ext cx="43018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≥20</m:t>
                          </m:r>
                        </m:e>
                      </m:d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739B4A6-6F39-B497-F36F-01F6A5D39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50" y="5542175"/>
                <a:ext cx="430183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00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  <p:bldP spid="14" grpId="0"/>
      <p:bldP spid="15" grpId="0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0D8D-CD0C-DE3A-9C5D-71DE4C4D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27CE-AD96-756D-1EEF-C9E908C8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38C0B73-36D2-011A-464E-AE00F62DEC0E}"/>
                  </a:ext>
                </a:extLst>
              </p:cNvPr>
              <p:cNvSpPr/>
              <p:nvPr/>
            </p:nvSpPr>
            <p:spPr>
              <a:xfrm>
                <a:off x="141668" y="711201"/>
                <a:ext cx="5735682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accent6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≥20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≥2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38C0B73-36D2-011A-464E-AE00F62DEC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68" y="711201"/>
                <a:ext cx="5735682" cy="664221"/>
              </a:xfrm>
              <a:prstGeom prst="rect">
                <a:avLst/>
              </a:prstGeom>
              <a:blipFill>
                <a:blip r:embed="rId2"/>
                <a:stretch>
                  <a:fillRect l="-212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0C3A14F-04DE-FEDE-460C-194370AC0B7D}"/>
                  </a:ext>
                </a:extLst>
              </p:cNvPr>
              <p:cNvSpPr/>
              <p:nvPr/>
            </p:nvSpPr>
            <p:spPr>
              <a:xfrm>
                <a:off x="8015148" y="912000"/>
                <a:ext cx="4047944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0C3A14F-04DE-FEDE-460C-194370AC0B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148" y="912000"/>
                <a:ext cx="4047944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DDE5D1-A486-8A7D-2606-3FD3CB3BBF2C}"/>
                  </a:ext>
                </a:extLst>
              </p:cNvPr>
              <p:cNvSpPr/>
              <p:nvPr/>
            </p:nvSpPr>
            <p:spPr>
              <a:xfrm>
                <a:off x="8015147" y="1829210"/>
                <a:ext cx="4047943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𝟒𝟕𝟕𝟐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DDE5D1-A486-8A7D-2606-3FD3CB3BBF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147" y="1829210"/>
                <a:ext cx="4047943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DBC59AE-03FC-2107-79A2-90C5E554DF74}"/>
                  </a:ext>
                </a:extLst>
              </p:cNvPr>
              <p:cNvSpPr/>
              <p:nvPr/>
            </p:nvSpPr>
            <p:spPr>
              <a:xfrm>
                <a:off x="496738" y="2350287"/>
                <a:ext cx="51844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=0.5−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0.4772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DBC59AE-03FC-2107-79A2-90C5E554DF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38" y="2350287"/>
                <a:ext cx="51844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59C8BB7-2806-B197-7165-64F2E3063BA7}"/>
                  </a:ext>
                </a:extLst>
              </p:cNvPr>
              <p:cNvSpPr/>
              <p:nvPr/>
            </p:nvSpPr>
            <p:spPr>
              <a:xfrm>
                <a:off x="496738" y="3115152"/>
                <a:ext cx="51844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𝟎𝟐</m:t>
                      </m:r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59C8BB7-2806-B197-7165-64F2E3063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38" y="3115152"/>
                <a:ext cx="51844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4AB56644-3005-8F0B-13D6-60B79A90D743}"/>
              </a:ext>
            </a:extLst>
          </p:cNvPr>
          <p:cNvGrpSpPr/>
          <p:nvPr/>
        </p:nvGrpSpPr>
        <p:grpSpPr>
          <a:xfrm>
            <a:off x="4291545" y="3998515"/>
            <a:ext cx="3723602" cy="2280805"/>
            <a:chOff x="4291545" y="3676397"/>
            <a:chExt cx="3723602" cy="228080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9227433-8A76-6A9C-73F9-DB8C15122CE9}"/>
                </a:ext>
              </a:extLst>
            </p:cNvPr>
            <p:cNvPicPr/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507" r="36326"/>
            <a:stretch/>
          </p:blipFill>
          <p:spPr bwMode="auto">
            <a:xfrm flipH="1">
              <a:off x="4291545" y="3676397"/>
              <a:ext cx="3419338" cy="188031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DE7B3665-3A74-2D6A-528A-F7527B9DC365}"/>
                    </a:ext>
                  </a:extLst>
                </p:cNvPr>
                <p:cNvSpPr/>
                <p:nvPr/>
              </p:nvSpPr>
              <p:spPr>
                <a:xfrm>
                  <a:off x="5795848" y="5433982"/>
                  <a:ext cx="49386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Clr>
                      <a:schemeClr val="accent6"/>
                    </a:buClr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DE7B3665-3A74-2D6A-528A-F7527B9DC3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5848" y="5433982"/>
                  <a:ext cx="493860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6CF2C71F-9996-D217-8739-EDDC5C30640E}"/>
                    </a:ext>
                  </a:extLst>
                </p:cNvPr>
                <p:cNvSpPr/>
                <p:nvPr/>
              </p:nvSpPr>
              <p:spPr>
                <a:xfrm>
                  <a:off x="7521287" y="5433982"/>
                  <a:ext cx="49386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Clr>
                      <a:schemeClr val="accent6"/>
                    </a:buClr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6CF2C71F-9996-D217-8739-EDDC5C3064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1287" y="5433982"/>
                  <a:ext cx="493860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3D9DDC-A489-5E7C-7B15-219FC876D65E}"/>
              </a:ext>
            </a:extLst>
          </p:cNvPr>
          <p:cNvGrpSpPr/>
          <p:nvPr/>
        </p:nvGrpSpPr>
        <p:grpSpPr>
          <a:xfrm>
            <a:off x="286215" y="3998515"/>
            <a:ext cx="3909788" cy="2280805"/>
            <a:chOff x="286215" y="3676397"/>
            <a:chExt cx="3909788" cy="228080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53FD6F0-6E2C-5773-3937-8A66035B60D8}"/>
                </a:ext>
              </a:extLst>
            </p:cNvPr>
            <p:cNvPicPr/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463"/>
            <a:stretch/>
          </p:blipFill>
          <p:spPr bwMode="auto">
            <a:xfrm flipH="1">
              <a:off x="286215" y="3676397"/>
              <a:ext cx="3374265" cy="188031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7E94A28C-42CD-ACCA-7997-7AAC1F322AAA}"/>
                    </a:ext>
                  </a:extLst>
                </p:cNvPr>
                <p:cNvSpPr/>
                <p:nvPr/>
              </p:nvSpPr>
              <p:spPr>
                <a:xfrm>
                  <a:off x="1695244" y="5433982"/>
                  <a:ext cx="49386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Clr>
                      <a:schemeClr val="accent6"/>
                    </a:buClr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7E94A28C-42CD-ACCA-7997-7AAC1F322A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5244" y="5433982"/>
                  <a:ext cx="493860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BAB701D-3154-AC91-1AE8-4AFD00DD1903}"/>
                    </a:ext>
                  </a:extLst>
                </p:cNvPr>
                <p:cNvSpPr/>
                <p:nvPr/>
              </p:nvSpPr>
              <p:spPr>
                <a:xfrm>
                  <a:off x="2499534" y="5433982"/>
                  <a:ext cx="49386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Clr>
                      <a:schemeClr val="accent6"/>
                    </a:buClr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BAB701D-3154-AC91-1AE8-4AFD00DD19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9534" y="5433982"/>
                  <a:ext cx="493860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0B94763F-2586-DC40-5B05-314EAE32479A}"/>
                    </a:ext>
                  </a:extLst>
                </p:cNvPr>
                <p:cNvSpPr/>
                <p:nvPr/>
              </p:nvSpPr>
              <p:spPr>
                <a:xfrm>
                  <a:off x="3702143" y="4438072"/>
                  <a:ext cx="49386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Clr>
                      <a:schemeClr val="accent6"/>
                    </a:buClr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0B94763F-2586-DC40-5B05-314EAE3247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2143" y="4438072"/>
                  <a:ext cx="493860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8A1D3EF-7177-45B0-3EFA-452BDD148E44}"/>
              </a:ext>
            </a:extLst>
          </p:cNvPr>
          <p:cNvGrpSpPr/>
          <p:nvPr/>
        </p:nvGrpSpPr>
        <p:grpSpPr>
          <a:xfrm>
            <a:off x="7921628" y="3998515"/>
            <a:ext cx="3646478" cy="2280805"/>
            <a:chOff x="7921628" y="3998515"/>
            <a:chExt cx="3646478" cy="228080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B5E24F4-381F-E57D-2F7D-7F7AABF8F515}"/>
                </a:ext>
              </a:extLst>
            </p:cNvPr>
            <p:cNvGrpSpPr/>
            <p:nvPr/>
          </p:nvGrpSpPr>
          <p:grpSpPr>
            <a:xfrm>
              <a:off x="8232479" y="3998515"/>
              <a:ext cx="3335627" cy="2280805"/>
              <a:chOff x="8232479" y="3676397"/>
              <a:chExt cx="3335627" cy="2280805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18D67D5C-E631-4072-8FA2-281105224902}"/>
                  </a:ext>
                </a:extLst>
              </p:cNvPr>
              <p:cNvPicPr/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226"/>
              <a:stretch/>
            </p:blipFill>
            <p:spPr bwMode="auto">
              <a:xfrm flipH="1">
                <a:off x="8232479" y="3676397"/>
                <a:ext cx="3335627" cy="1880315"/>
              </a:xfrm>
              <a:prstGeom prst="rect">
                <a:avLst/>
              </a:prstGeom>
              <a:noFill/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6D5E0917-AB1F-7FF9-8534-E9B66ED0A321}"/>
                      </a:ext>
                    </a:extLst>
                  </p:cNvPr>
                  <p:cNvSpPr/>
                  <p:nvPr/>
                </p:nvSpPr>
                <p:spPr>
                  <a:xfrm>
                    <a:off x="9740587" y="5433982"/>
                    <a:ext cx="493860" cy="52322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>
                      <a:buClr>
                        <a:schemeClr val="accent6"/>
                      </a:buClr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I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IN" sz="2800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6D5E0917-AB1F-7FF9-8534-E9B66ED0A32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0587" y="5433982"/>
                    <a:ext cx="493860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88BCBCE6-0B9A-6F6E-F39B-98FA98D21EC2}"/>
                      </a:ext>
                    </a:extLst>
                  </p:cNvPr>
                  <p:cNvSpPr/>
                  <p:nvPr/>
                </p:nvSpPr>
                <p:spPr>
                  <a:xfrm>
                    <a:off x="10554901" y="5433982"/>
                    <a:ext cx="493860" cy="52322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>
                      <a:buClr>
                        <a:schemeClr val="accent6"/>
                      </a:buClr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IN" sz="2800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88BCBCE6-0B9A-6F6E-F39B-98FA98D21EC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54901" y="5433982"/>
                    <a:ext cx="493860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23D75B5A-5423-D23B-6EDD-F2C774E5130F}"/>
                    </a:ext>
                  </a:extLst>
                </p:cNvPr>
                <p:cNvSpPr/>
                <p:nvPr/>
              </p:nvSpPr>
              <p:spPr>
                <a:xfrm>
                  <a:off x="7921628" y="4760190"/>
                  <a:ext cx="49386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Clr>
                      <a:schemeClr val="accent6"/>
                    </a:buClr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23D75B5A-5423-D23B-6EDD-F2C774E513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1628" y="4760190"/>
                  <a:ext cx="493860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6E5EDFF-6DDC-E3A6-420E-45240172CB10}"/>
                  </a:ext>
                </a:extLst>
              </p:cNvPr>
              <p:cNvSpPr/>
              <p:nvPr/>
            </p:nvSpPr>
            <p:spPr>
              <a:xfrm>
                <a:off x="2561880" y="1474377"/>
                <a:ext cx="573568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6E5EDFF-6DDC-E3A6-420E-45240172CB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880" y="1474377"/>
                <a:ext cx="5735682" cy="73866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3" grpId="0"/>
      <p:bldP spid="4" grpId="0"/>
      <p:bldP spid="18" grpId="0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98285"/>
                <a:ext cx="5136465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(b) To find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d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98285"/>
                <a:ext cx="5136465" cy="480131"/>
              </a:xfrm>
              <a:prstGeom prst="rect">
                <a:avLst/>
              </a:prstGeom>
              <a:blipFill>
                <a:blip r:embed="rId2"/>
                <a:stretch>
                  <a:fillRect l="-2372" t="-21519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29963" y="1653993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066276" y="1449765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76" y="1449765"/>
                <a:ext cx="1911100" cy="898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B12BF8-C63B-FE6F-5B78-A0449A0EB725}"/>
                  </a:ext>
                </a:extLst>
              </p:cNvPr>
              <p:cNvSpPr/>
              <p:nvPr/>
            </p:nvSpPr>
            <p:spPr>
              <a:xfrm>
                <a:off x="10619509" y="1772032"/>
                <a:ext cx="1463967" cy="61130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B12BF8-C63B-FE6F-5B78-A0449A0EB7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509" y="1772032"/>
                <a:ext cx="1463967" cy="6113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7971B08-E165-5377-D014-867EF444299B}"/>
                  </a:ext>
                </a:extLst>
              </p:cNvPr>
              <p:cNvSpPr/>
              <p:nvPr/>
            </p:nvSpPr>
            <p:spPr>
              <a:xfrm>
                <a:off x="10619509" y="2651443"/>
                <a:ext cx="1463967" cy="61130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7971B08-E165-5377-D014-867EF44429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509" y="2651443"/>
                <a:ext cx="1463967" cy="6113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6902E8-C2BF-EF6F-F0E6-00D7FFFD7840}"/>
                  </a:ext>
                </a:extLst>
              </p:cNvPr>
              <p:cNvSpPr/>
              <p:nvPr/>
            </p:nvSpPr>
            <p:spPr>
              <a:xfrm>
                <a:off x="529963" y="2826267"/>
                <a:ext cx="28770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6902E8-C2BF-EF6F-F0E6-00D7FFFD78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63" y="2826267"/>
                <a:ext cx="2877030" cy="523220"/>
              </a:xfrm>
              <a:prstGeom prst="rect">
                <a:avLst/>
              </a:prstGeom>
              <a:blipFill>
                <a:blip r:embed="rId6"/>
                <a:stretch>
                  <a:fillRect l="-4449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0593257-D05D-E2A1-8C94-8009AEAF93E0}"/>
                  </a:ext>
                </a:extLst>
              </p:cNvPr>
              <p:cNvSpPr/>
              <p:nvPr/>
            </p:nvSpPr>
            <p:spPr>
              <a:xfrm>
                <a:off x="2930247" y="2577807"/>
                <a:ext cx="4551193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0593257-D05D-E2A1-8C94-8009AEAF93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47" y="2577807"/>
                <a:ext cx="4551193" cy="10604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83F14A2-9457-F76E-66AD-8A0176B2360C}"/>
                  </a:ext>
                </a:extLst>
              </p:cNvPr>
              <p:cNvSpPr/>
              <p:nvPr/>
            </p:nvSpPr>
            <p:spPr>
              <a:xfrm>
                <a:off x="2930245" y="4240764"/>
                <a:ext cx="4551193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83F14A2-9457-F76E-66AD-8A0176B23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45" y="4240764"/>
                <a:ext cx="4551193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224819-4201-9D2A-733D-AA60D14D6EF2}"/>
                  </a:ext>
                </a:extLst>
              </p:cNvPr>
              <p:cNvSpPr/>
              <p:nvPr/>
            </p:nvSpPr>
            <p:spPr>
              <a:xfrm>
                <a:off x="2930245" y="5903721"/>
                <a:ext cx="227559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0224819-4201-9D2A-733D-AA60D14D6E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45" y="5903721"/>
                <a:ext cx="22755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116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5" grpId="0"/>
      <p:bldP spid="6" grpId="0"/>
      <p:bldP spid="7" grpId="0"/>
      <p:bldP spid="13" grpId="0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F8FEF-49C2-FA28-6335-85FA3A70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F9C5-DF89-E976-F57F-A02DADF7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5BDF121-DFFC-C1F5-A617-15F1114EE720}"/>
                  </a:ext>
                </a:extLst>
              </p:cNvPr>
              <p:cNvSpPr/>
              <p:nvPr/>
            </p:nvSpPr>
            <p:spPr>
              <a:xfrm>
                <a:off x="141668" y="711201"/>
                <a:ext cx="5735682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accent6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≤20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5BDF121-DFFC-C1F5-A617-15F1114EE7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68" y="711201"/>
                <a:ext cx="5735682" cy="664221"/>
              </a:xfrm>
              <a:prstGeom prst="rect">
                <a:avLst/>
              </a:prstGeom>
              <a:blipFill>
                <a:blip r:embed="rId2"/>
                <a:stretch>
                  <a:fillRect l="-212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20C4FDE-4E98-C5CC-6D2C-91C645D0C6B9}"/>
                  </a:ext>
                </a:extLst>
              </p:cNvPr>
              <p:cNvSpPr/>
              <p:nvPr/>
            </p:nvSpPr>
            <p:spPr>
              <a:xfrm>
                <a:off x="8042565" y="912000"/>
                <a:ext cx="4020527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20C4FDE-4E98-C5CC-6D2C-91C645D0C6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565" y="912000"/>
                <a:ext cx="4020527" cy="52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AD8241-D536-F959-BB1A-640F7BA02EA2}"/>
                  </a:ext>
                </a:extLst>
              </p:cNvPr>
              <p:cNvSpPr/>
              <p:nvPr/>
            </p:nvSpPr>
            <p:spPr>
              <a:xfrm>
                <a:off x="8042565" y="1829210"/>
                <a:ext cx="4020526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𝟒𝟕𝟕𝟐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AD8241-D536-F959-BB1A-640F7BA02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565" y="1829210"/>
                <a:ext cx="4020526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5482FE8-B967-A935-E09D-FA359B8EA28A}"/>
                  </a:ext>
                </a:extLst>
              </p:cNvPr>
              <p:cNvSpPr/>
              <p:nvPr/>
            </p:nvSpPr>
            <p:spPr>
              <a:xfrm>
                <a:off x="496738" y="2350287"/>
                <a:ext cx="51844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+0.4772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5482FE8-B967-A935-E09D-FA359B8EA2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38" y="2350287"/>
                <a:ext cx="51844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FEBEFB3-A922-1332-8476-A9715296AB0C}"/>
                  </a:ext>
                </a:extLst>
              </p:cNvPr>
              <p:cNvSpPr/>
              <p:nvPr/>
            </p:nvSpPr>
            <p:spPr>
              <a:xfrm>
                <a:off x="496738" y="3057366"/>
                <a:ext cx="51844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≥2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9772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FEBEFB3-A922-1332-8476-A9715296AB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38" y="3057366"/>
                <a:ext cx="51844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F4471A5-CD60-ABEC-0242-8B0AEDFE4FA0}"/>
                  </a:ext>
                </a:extLst>
              </p:cNvPr>
              <p:cNvSpPr/>
              <p:nvPr/>
            </p:nvSpPr>
            <p:spPr>
              <a:xfrm>
                <a:off x="2561880" y="1474377"/>
                <a:ext cx="573568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F4471A5-CD60-ABEC-0242-8B0AEDFE4F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880" y="1474377"/>
                <a:ext cx="5735682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4E490D17-C8C5-8E32-1551-C5EBCA76BD09}"/>
              </a:ext>
            </a:extLst>
          </p:cNvPr>
          <p:cNvGrpSpPr/>
          <p:nvPr/>
        </p:nvGrpSpPr>
        <p:grpSpPr>
          <a:xfrm>
            <a:off x="490183" y="3733219"/>
            <a:ext cx="11211634" cy="2504537"/>
            <a:chOff x="185253" y="3743610"/>
            <a:chExt cx="11211634" cy="250453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310D19B-82B3-5470-8359-5953625AC315}"/>
                </a:ext>
              </a:extLst>
            </p:cNvPr>
            <p:cNvPicPr/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9318" r="-883"/>
            <a:stretch/>
          </p:blipFill>
          <p:spPr bwMode="auto">
            <a:xfrm>
              <a:off x="591512" y="3743610"/>
              <a:ext cx="10805375" cy="2061153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A321693-AA94-D823-328A-ACFD995B6BA8}"/>
                    </a:ext>
                  </a:extLst>
                </p:cNvPr>
                <p:cNvSpPr/>
                <p:nvPr/>
              </p:nvSpPr>
              <p:spPr>
                <a:xfrm>
                  <a:off x="3174943" y="5724927"/>
                  <a:ext cx="49386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Clr>
                      <a:schemeClr val="accent6"/>
                    </a:buClr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EA321693-AA94-D823-328A-ACFD995B6B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4943" y="5724927"/>
                  <a:ext cx="493860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C5F808A3-7787-D51F-AE02-D31F796CCA7A}"/>
                    </a:ext>
                  </a:extLst>
                </p:cNvPr>
                <p:cNvSpPr/>
                <p:nvPr/>
              </p:nvSpPr>
              <p:spPr>
                <a:xfrm>
                  <a:off x="185253" y="5648391"/>
                  <a:ext cx="812517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Clr>
                      <a:schemeClr val="accent6"/>
                    </a:buClr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C5F808A3-7787-D51F-AE02-D31F796CCA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253" y="5648391"/>
                  <a:ext cx="812517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425F0A97-4E5D-E6FA-2600-B49CDC3BB1D2}"/>
                    </a:ext>
                  </a:extLst>
                </p:cNvPr>
                <p:cNvSpPr/>
                <p:nvPr/>
              </p:nvSpPr>
              <p:spPr>
                <a:xfrm>
                  <a:off x="3922517" y="5693165"/>
                  <a:ext cx="812517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Clr>
                      <a:schemeClr val="accent6"/>
                    </a:buClr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−∞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425F0A97-4E5D-E6FA-2600-B49CDC3BB1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2517" y="5693165"/>
                  <a:ext cx="812517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5627A50B-5FD9-C6F0-E037-0D531B024A2D}"/>
                    </a:ext>
                  </a:extLst>
                </p:cNvPr>
                <p:cNvSpPr/>
                <p:nvPr/>
              </p:nvSpPr>
              <p:spPr>
                <a:xfrm>
                  <a:off x="5747269" y="5724927"/>
                  <a:ext cx="49386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Clr>
                      <a:schemeClr val="accent6"/>
                    </a:buClr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5627A50B-5FD9-C6F0-E037-0D531B024A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7269" y="5724927"/>
                  <a:ext cx="493860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A061CD8-AEB3-2CCB-C9DA-08D36478BC30}"/>
                    </a:ext>
                  </a:extLst>
                </p:cNvPr>
                <p:cNvSpPr/>
                <p:nvPr/>
              </p:nvSpPr>
              <p:spPr>
                <a:xfrm>
                  <a:off x="9337904" y="5713358"/>
                  <a:ext cx="49386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Clr>
                      <a:schemeClr val="accent6"/>
                    </a:buClr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A061CD8-AEB3-2CCB-C9DA-08D36478BC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7904" y="5713358"/>
                  <a:ext cx="493860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563CD26-0A38-5D79-9B98-70EF19C264EA}"/>
                    </a:ext>
                  </a:extLst>
                </p:cNvPr>
                <p:cNvSpPr/>
                <p:nvPr/>
              </p:nvSpPr>
              <p:spPr>
                <a:xfrm>
                  <a:off x="10238023" y="5695786"/>
                  <a:ext cx="493860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buClr>
                      <a:schemeClr val="accent6"/>
                    </a:buClr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563CD26-0A38-5D79-9B98-70EF19C264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8023" y="5695786"/>
                  <a:ext cx="493860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2626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  <p:bldP spid="13" grpId="0" animBg="1"/>
      <p:bldP spid="3" grpId="0"/>
      <p:bldP spid="4" grpId="0"/>
      <p:bldP spid="18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98285"/>
                <a:ext cx="11998124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(c) To find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e>
                    </m:d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98285"/>
                <a:ext cx="11998124" cy="480131"/>
              </a:xfrm>
              <a:prstGeom prst="rect">
                <a:avLst/>
              </a:prstGeom>
              <a:blipFill>
                <a:blip r:embed="rId2"/>
                <a:stretch>
                  <a:fillRect l="-1016" t="-21519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526581" y="1528859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103435" y="1322583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435" y="1322583"/>
                <a:ext cx="1911100" cy="898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6A467C-9002-36C4-F69A-DAE91B1AF449}"/>
                  </a:ext>
                </a:extLst>
              </p:cNvPr>
              <p:cNvSpPr/>
              <p:nvPr/>
            </p:nvSpPr>
            <p:spPr>
              <a:xfrm>
                <a:off x="387634" y="2405972"/>
                <a:ext cx="319491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6A467C-9002-36C4-F69A-DAE91B1AF4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34" y="2405972"/>
                <a:ext cx="3194914" cy="523220"/>
              </a:xfrm>
              <a:prstGeom prst="rect">
                <a:avLst/>
              </a:prstGeom>
              <a:blipFill>
                <a:blip r:embed="rId4"/>
                <a:stretch>
                  <a:fillRect l="-400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01AEB78-8052-DC96-DDCC-F5EF08D3AFCD}"/>
                  </a:ext>
                </a:extLst>
              </p:cNvPr>
              <p:cNvSpPr/>
              <p:nvPr/>
            </p:nvSpPr>
            <p:spPr>
              <a:xfrm>
                <a:off x="3481928" y="4988442"/>
                <a:ext cx="30633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01AEB78-8052-DC96-DDCC-F5EF08D3AF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928" y="4988442"/>
                <a:ext cx="306332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053F6D4-B928-46EF-1868-7FC11EE2D685}"/>
                  </a:ext>
                </a:extLst>
              </p:cNvPr>
              <p:cNvSpPr/>
              <p:nvPr/>
            </p:nvSpPr>
            <p:spPr>
              <a:xfrm>
                <a:off x="3481928" y="5830281"/>
                <a:ext cx="28665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053F6D4-B928-46EF-1868-7FC11EE2D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928" y="5830281"/>
                <a:ext cx="286659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C795C27-598B-DB96-B6DD-F819AF0B108E}"/>
                  </a:ext>
                </a:extLst>
              </p:cNvPr>
              <p:cNvSpPr/>
              <p:nvPr/>
            </p:nvSpPr>
            <p:spPr>
              <a:xfrm>
                <a:off x="10603693" y="1772033"/>
                <a:ext cx="1479783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C795C27-598B-DB96-B6DD-F819AF0B10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3693" y="1772033"/>
                <a:ext cx="1479783" cy="52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E8EDBB-8FDC-A7D9-8CBC-DB4F6C4027C2}"/>
                  </a:ext>
                </a:extLst>
              </p:cNvPr>
              <p:cNvSpPr/>
              <p:nvPr/>
            </p:nvSpPr>
            <p:spPr>
              <a:xfrm>
                <a:off x="10603693" y="2651444"/>
                <a:ext cx="1479783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3E8EDBB-8FDC-A7D9-8CBC-DB4F6C4027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3693" y="2651444"/>
                <a:ext cx="1479783" cy="522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28C38CC-142D-C332-1F55-2D2D89EE4A86}"/>
                  </a:ext>
                </a:extLst>
              </p:cNvPr>
              <p:cNvSpPr/>
              <p:nvPr/>
            </p:nvSpPr>
            <p:spPr>
              <a:xfrm>
                <a:off x="3403500" y="2137340"/>
                <a:ext cx="5385000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28C38CC-142D-C332-1F55-2D2D89EE4A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500" y="2137340"/>
                <a:ext cx="5385000" cy="1060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773E03-319F-9A60-7C31-A6C487CAE381}"/>
                  </a:ext>
                </a:extLst>
              </p:cNvPr>
              <p:cNvSpPr/>
              <p:nvPr/>
            </p:nvSpPr>
            <p:spPr>
              <a:xfrm>
                <a:off x="3481928" y="3609340"/>
                <a:ext cx="5025863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773E03-319F-9A60-7C31-A6C487CAE3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928" y="3609340"/>
                <a:ext cx="5025863" cy="10604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82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/>
      <p:bldP spid="14" grpId="0"/>
      <p:bldP spid="15" grpId="0"/>
      <p:bldP spid="5" grpId="0"/>
      <p:bldP spid="6" grpId="0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4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8091116" y="970488"/>
                <a:ext cx="4033275" cy="568144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𝟒𝟗𝟖𝟕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116" y="970488"/>
                <a:ext cx="4033275" cy="5681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2273775"/>
                <a:ext cx="51844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𝟒𝟗𝟖𝟕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73775"/>
                <a:ext cx="518447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DE66178-27A0-D4B5-3B10-B672E44CA2FA}"/>
                  </a:ext>
                </a:extLst>
              </p:cNvPr>
              <p:cNvSpPr/>
              <p:nvPr/>
            </p:nvSpPr>
            <p:spPr>
              <a:xfrm>
                <a:off x="67609" y="803489"/>
                <a:ext cx="31764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DE66178-27A0-D4B5-3B10-B672E44CA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9" y="803489"/>
                <a:ext cx="317644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8D30B04-12FC-0109-EDAC-2C54E673C160}"/>
                  </a:ext>
                </a:extLst>
              </p:cNvPr>
              <p:cNvSpPr/>
              <p:nvPr/>
            </p:nvSpPr>
            <p:spPr>
              <a:xfrm>
                <a:off x="3096090" y="803489"/>
                <a:ext cx="28665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8D30B04-12FC-0109-EDAC-2C54E673C1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090" y="803489"/>
                <a:ext cx="286659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98E80D0-3C34-6843-C75B-13456E090E08}"/>
                  </a:ext>
                </a:extLst>
              </p:cNvPr>
              <p:cNvSpPr/>
              <p:nvPr/>
            </p:nvSpPr>
            <p:spPr>
              <a:xfrm>
                <a:off x="2728622" y="1538632"/>
                <a:ext cx="29863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98E80D0-3C34-6843-C75B-13456E090E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622" y="1538632"/>
                <a:ext cx="298637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44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234683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For a random variable having the normal distribution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=18.2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=1.25</m:t>
                    </m:r>
                  </m:oMath>
                </a14:m>
                <a:r>
                  <a:rPr lang="en-US" dirty="0"/>
                  <a:t>, find the probabilities that it will take on a value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16.5</m:t>
                    </m:r>
                  </m:oMath>
                </a14:m>
                <a:r>
                  <a:rPr lang="en-US" dirty="0"/>
                  <a:t>			       (b)  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16.5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18.8</m:t>
                    </m:r>
                  </m:oMath>
                </a14:m>
                <a:r>
                  <a:rPr lang="en-US" dirty="0"/>
                  <a:t>  </a:t>
                </a: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𝟑𝟔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𝟒𝟏𝟑𝟏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𝟒𝟖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𝟏𝟖𝟒𝟒</m:t>
                          </m:r>
                          <m:r>
                            <a:rPr lang="en-IN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2346836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8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33035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3229961"/>
                <a:ext cx="10290991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follows a normal distribution. 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229961"/>
                <a:ext cx="10290991" cy="665631"/>
              </a:xfrm>
              <a:prstGeom prst="rect">
                <a:avLst/>
              </a:prstGeom>
              <a:blipFill>
                <a:blip r:embed="rId3"/>
                <a:stretch>
                  <a:fillRect l="-1244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0868E93-8329-7274-2B51-4B20E562D1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6" y="3853573"/>
                <a:ext cx="10290991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=18.2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=1.25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0868E93-8329-7274-2B51-4B20E562D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3853573"/>
                <a:ext cx="10290991" cy="665631"/>
              </a:xfrm>
              <a:prstGeom prst="rect">
                <a:avLst/>
              </a:prstGeom>
              <a:blipFill>
                <a:blip r:embed="rId4"/>
                <a:stretch>
                  <a:fillRect l="-1244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1BDFB66-72D2-2C52-ED14-99BEE69C98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6" y="4662685"/>
                <a:ext cx="8900395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Find the probability of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takes the value less than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1BDFB66-72D2-2C52-ED14-99BEE69C9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4662685"/>
                <a:ext cx="8900395" cy="480131"/>
              </a:xfrm>
              <a:prstGeom prst="rect">
                <a:avLst/>
              </a:prstGeom>
              <a:blipFill>
                <a:blip r:embed="rId5"/>
                <a:stretch>
                  <a:fillRect l="-1438" t="-21519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2E15F26-8C77-B538-92D8-46B8BBC6E2A7}"/>
              </a:ext>
            </a:extLst>
          </p:cNvPr>
          <p:cNvSpPr/>
          <p:nvPr/>
        </p:nvSpPr>
        <p:spPr>
          <a:xfrm>
            <a:off x="2067816" y="5579589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3F3B9B4-6EF1-507E-019B-A4D8AF0A7109}"/>
                  </a:ext>
                </a:extLst>
              </p:cNvPr>
              <p:cNvSpPr/>
              <p:nvPr/>
            </p:nvSpPr>
            <p:spPr>
              <a:xfrm>
                <a:off x="2647281" y="5370967"/>
                <a:ext cx="2107165" cy="8989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3F3B9B4-6EF1-507E-019B-A4D8AF0A71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281" y="5370967"/>
                <a:ext cx="2107165" cy="898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003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" grpId="0" uiExpand="1" build="p"/>
      <p:bldP spid="5" grpId="0" build="p"/>
      <p:bldP spid="3" grpId="0"/>
      <p:bldP spid="7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8 (Continue)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33328" y="2288588"/>
                <a:ext cx="1760561" cy="60346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328" y="2288588"/>
                <a:ext cx="1760561" cy="6034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333328" y="3167999"/>
                <a:ext cx="1760561" cy="60346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328" y="3167999"/>
                <a:ext cx="1760561" cy="6034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B549D932-04B7-9459-3415-C4ABAA3DB9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931" y="826938"/>
                <a:ext cx="8900395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Find the probability of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takes the value less than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B549D932-04B7-9459-3415-C4ABAA3DB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31" y="826938"/>
                <a:ext cx="8900395" cy="480131"/>
              </a:xfrm>
              <a:prstGeom prst="rect">
                <a:avLst/>
              </a:prstGeom>
              <a:blipFill>
                <a:blip r:embed="rId6"/>
                <a:stretch>
                  <a:fillRect l="-1370" t="-21795" b="-371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FD58CD1-F253-92B1-3D21-6443D6BE14DB}"/>
              </a:ext>
            </a:extLst>
          </p:cNvPr>
          <p:cNvSpPr/>
          <p:nvPr/>
        </p:nvSpPr>
        <p:spPr>
          <a:xfrm>
            <a:off x="519571" y="1714171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A5B35EA-B877-A958-9832-4D1F90FFF45B}"/>
                  </a:ext>
                </a:extLst>
              </p:cNvPr>
              <p:cNvSpPr/>
              <p:nvPr/>
            </p:nvSpPr>
            <p:spPr>
              <a:xfrm>
                <a:off x="1099036" y="1505549"/>
                <a:ext cx="2107165" cy="8989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A5B35EA-B877-A958-9832-4D1F90FFF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036" y="1505549"/>
                <a:ext cx="2107165" cy="8989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1AFB01B-A912-CFF6-2851-A0AF78E1C165}"/>
                  </a:ext>
                </a:extLst>
              </p:cNvPr>
              <p:cNvSpPr/>
              <p:nvPr/>
            </p:nvSpPr>
            <p:spPr>
              <a:xfrm>
                <a:off x="8671819" y="4041546"/>
                <a:ext cx="3422070" cy="66563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sz="28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1AFB01B-A912-CFF6-2851-A0AF78E1C1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819" y="4041546"/>
                <a:ext cx="3422070" cy="665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7E8492B-337C-71E1-AF27-57E77325373A}"/>
                  </a:ext>
                </a:extLst>
              </p:cNvPr>
              <p:cNvSpPr/>
              <p:nvPr/>
            </p:nvSpPr>
            <p:spPr>
              <a:xfrm>
                <a:off x="519570" y="2613071"/>
                <a:ext cx="304451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6.5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7E8492B-337C-71E1-AF27-57E773253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70" y="2613071"/>
                <a:ext cx="3044511" cy="523220"/>
              </a:xfrm>
              <a:prstGeom prst="rect">
                <a:avLst/>
              </a:prstGeom>
              <a:blipFill>
                <a:blip r:embed="rId10"/>
                <a:stretch>
                  <a:fillRect l="-4000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608B141-F171-B814-0333-1CEEF6DFBCD8}"/>
                  </a:ext>
                </a:extLst>
              </p:cNvPr>
              <p:cNvSpPr/>
              <p:nvPr/>
            </p:nvSpPr>
            <p:spPr>
              <a:xfrm>
                <a:off x="3149657" y="2344439"/>
                <a:ext cx="4209999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16.5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608B141-F171-B814-0333-1CEEF6DFBC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657" y="2344439"/>
                <a:ext cx="4209999" cy="10604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5E3F73-5B08-903E-CC2F-8FB3A6B860B6}"/>
                  </a:ext>
                </a:extLst>
              </p:cNvPr>
              <p:cNvSpPr/>
              <p:nvPr/>
            </p:nvSpPr>
            <p:spPr>
              <a:xfrm>
                <a:off x="902763" y="5343799"/>
                <a:ext cx="498168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6.5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−1.36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5E3F73-5B08-903E-CC2F-8FB3A6B860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63" y="5343799"/>
                <a:ext cx="4981684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A11E320-C0D3-94B9-02D5-F273C2AA75BA}"/>
                  </a:ext>
                </a:extLst>
              </p:cNvPr>
              <p:cNvSpPr/>
              <p:nvPr/>
            </p:nvSpPr>
            <p:spPr>
              <a:xfrm>
                <a:off x="3149657" y="3844119"/>
                <a:ext cx="4684488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16.5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18.2 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1.25 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A11E320-C0D3-94B9-02D5-F273C2AA7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657" y="3844119"/>
                <a:ext cx="4684488" cy="10604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64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4" grpId="0"/>
      <p:bldP spid="8" grpId="0"/>
      <p:bldP spid="9" grpId="0"/>
      <p:bldP spid="3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8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7438544"/>
                  </p:ext>
                </p:extLst>
              </p:nvPr>
            </p:nvGraphicFramePr>
            <p:xfrm>
              <a:off x="413909" y="3852684"/>
              <a:ext cx="10946295" cy="26139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462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966139"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7803">
                    <a:tc>
                      <a:txBody>
                        <a:bodyPr/>
                        <a:lstStyle/>
                        <a:p>
                          <a:r>
                            <a:rPr lang="en-US" sz="2600" kern="1200" dirty="0">
                              <a:solidFill>
                                <a:schemeClr val="dk1"/>
                              </a:solidFill>
                              <a:effectLst/>
                              <a:ea typeface="+mn-ea"/>
                              <a:cs typeface="+mn-cs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60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−1.36</m:t>
                              </m:r>
                            </m:oMath>
                          </a14:m>
                          <a:r>
                            <a:rPr lang="en-US" sz="26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a:rPr lang="en-IN" sz="2600" b="0" i="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lang="en-US" sz="26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sz="26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</a:t>
                          </a:r>
                          <a:r>
                            <a:rPr lang="en-US" sz="26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600" b="1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−∞</m:t>
                              </m:r>
                            </m:oMath>
                          </a14:m>
                          <a:r>
                            <a:rPr lang="en-US" sz="26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        </a:t>
                          </a:r>
                          <a14:m>
                            <m:oMath xmlns:m="http://schemas.openxmlformats.org/officeDocument/2006/math">
                              <m:r>
                                <a:rPr lang="en-IN" sz="2600" b="1" i="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lang="en-US" sz="26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sz="26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        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6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−1.36</m:t>
                              </m:r>
                            </m:oMath>
                          </a14:m>
                          <a:r>
                            <a:rPr lang="en-US" sz="26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a:rPr lang="en-IN" sz="2600" b="0" i="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lang="en-US" sz="26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sz="26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en-IN" sz="2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7438544"/>
                  </p:ext>
                </p:extLst>
              </p:nvPr>
            </p:nvGraphicFramePr>
            <p:xfrm>
              <a:off x="413909" y="3852684"/>
              <a:ext cx="10946295" cy="26139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4629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966139"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78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47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2" name="Picture 21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57" y="3852684"/>
            <a:ext cx="10959547" cy="2059526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13910" y="1416807"/>
                <a:ext cx="884177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&lt;1.36</m:t>
                          </m:r>
                        </m:e>
                      </m:d>
                      <m: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−1.36&lt;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10" y="1416807"/>
                <a:ext cx="88417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13909" y="2681160"/>
                <a:ext cx="6487866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&lt;1.36</m:t>
                          </m:r>
                        </m:e>
                      </m:d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=0.5−0.4131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0869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09" y="2681160"/>
                <a:ext cx="6487866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8738755" y="862391"/>
                <a:ext cx="3388496" cy="646469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𝟒𝟏𝟑𝟏</m:t>
                      </m:r>
                    </m:oMath>
                  </m:oMathPara>
                </a14:m>
                <a:endParaRPr lang="en-IN" sz="24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755" y="862391"/>
                <a:ext cx="3388496" cy="6464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A7C4A4-02CA-DF07-0C7F-D331B15E1593}"/>
                  </a:ext>
                </a:extLst>
              </p:cNvPr>
              <p:cNvSpPr/>
              <p:nvPr/>
            </p:nvSpPr>
            <p:spPr>
              <a:xfrm>
                <a:off x="413909" y="2095081"/>
                <a:ext cx="85326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&lt;1.36</m:t>
                          </m:r>
                        </m:e>
                      </m:d>
                      <m: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8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1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𝟑𝟔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A7C4A4-02CA-DF07-0C7F-D331B15E15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09" y="2095081"/>
                <a:ext cx="853266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BD91CF6-AE9A-85F2-E1E2-E8D463DDEB47}"/>
                  </a:ext>
                </a:extLst>
              </p:cNvPr>
              <p:cNvSpPr/>
              <p:nvPr/>
            </p:nvSpPr>
            <p:spPr>
              <a:xfrm>
                <a:off x="465864" y="738533"/>
                <a:ext cx="498168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6.5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−1.36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BD91CF6-AE9A-85F2-E1E2-E8D463DDEB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64" y="738533"/>
                <a:ext cx="498168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52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  <p:bldP spid="4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2756-8B06-EF38-35AC-24714C111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720A-2E7A-C601-5F40-B4430D572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8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CC3BEE2-DC5A-2359-46E1-A4C72AB0F51C}"/>
                  </a:ext>
                </a:extLst>
              </p:cNvPr>
              <p:cNvSpPr/>
              <p:nvPr/>
            </p:nvSpPr>
            <p:spPr>
              <a:xfrm>
                <a:off x="51886" y="745588"/>
                <a:ext cx="1205822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(b) Find the probability of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takes the value between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CC3BEE2-DC5A-2359-46E1-A4C72AB0F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6" y="745588"/>
                <a:ext cx="12058226" cy="523220"/>
              </a:xfrm>
              <a:prstGeom prst="rect">
                <a:avLst/>
              </a:prstGeom>
              <a:blipFill>
                <a:blip r:embed="rId2"/>
                <a:stretch>
                  <a:fillRect l="-1062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1D303316-3951-88A1-1918-B912AF8BB16A}"/>
              </a:ext>
            </a:extLst>
          </p:cNvPr>
          <p:cNvSpPr/>
          <p:nvPr/>
        </p:nvSpPr>
        <p:spPr>
          <a:xfrm>
            <a:off x="518176" y="1593359"/>
            <a:ext cx="70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r>
              <a:rPr lang="en-US" sz="2800" i="1" dirty="0">
                <a:solidFill>
                  <a:srgbClr val="002060"/>
                </a:solidFill>
                <a:latin typeface="Cambria Math" panose="02040503050406030204" pitchFamily="18" charset="0"/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0608091-3A5F-9508-1ABA-13A3D45C36AD}"/>
                  </a:ext>
                </a:extLst>
              </p:cNvPr>
              <p:cNvSpPr/>
              <p:nvPr/>
            </p:nvSpPr>
            <p:spPr>
              <a:xfrm>
                <a:off x="1056079" y="1383170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0608091-3A5F-9508-1ABA-13A3D45C3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79" y="1383170"/>
                <a:ext cx="1911100" cy="898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E388504-9D57-816F-9B38-8E8457B3E38D}"/>
                  </a:ext>
                </a:extLst>
              </p:cNvPr>
              <p:cNvSpPr/>
              <p:nvPr/>
            </p:nvSpPr>
            <p:spPr>
              <a:xfrm>
                <a:off x="10214196" y="2509887"/>
                <a:ext cx="1790198" cy="59042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E388504-9D57-816F-9B38-8E8457B3E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4196" y="2509887"/>
                <a:ext cx="1790198" cy="5904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C4E9BF-F2BF-0078-7A3D-0D4559D70E89}"/>
                  </a:ext>
                </a:extLst>
              </p:cNvPr>
              <p:cNvSpPr/>
              <p:nvPr/>
            </p:nvSpPr>
            <p:spPr>
              <a:xfrm>
                <a:off x="10255827" y="3389298"/>
                <a:ext cx="1748566" cy="59042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C4E9BF-F2BF-0078-7A3D-0D4559D70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5827" y="3389298"/>
                <a:ext cx="1748566" cy="5904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74D726-8D67-DDD9-BF46-635F7A2AE894}"/>
                  </a:ext>
                </a:extLst>
              </p:cNvPr>
              <p:cNvSpPr/>
              <p:nvPr/>
            </p:nvSpPr>
            <p:spPr>
              <a:xfrm>
                <a:off x="7990609" y="1499804"/>
                <a:ext cx="4013784" cy="66563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IN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  <m:r>
                        <a:rPr lang="en-US" sz="28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74D726-8D67-DDD9-BF46-635F7A2AE8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609" y="1499804"/>
                <a:ext cx="4013784" cy="665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A57D08D-8EEB-71B2-7613-028C639CEAE3}"/>
                  </a:ext>
                </a:extLst>
              </p:cNvPr>
              <p:cNvSpPr/>
              <p:nvPr/>
            </p:nvSpPr>
            <p:spPr>
              <a:xfrm>
                <a:off x="514264" y="2748153"/>
                <a:ext cx="43902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16.5≤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8.8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A57D08D-8EEB-71B2-7613-028C639CEA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64" y="2748153"/>
                <a:ext cx="4390245" cy="523220"/>
              </a:xfrm>
              <a:prstGeom prst="rect">
                <a:avLst/>
              </a:prstGeom>
              <a:blipFill>
                <a:blip r:embed="rId7"/>
                <a:stretch>
                  <a:fillRect l="-2774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D1CD9DB-216B-7446-E6C1-A3FE86445EB6}"/>
                  </a:ext>
                </a:extLst>
              </p:cNvPr>
              <p:cNvSpPr/>
              <p:nvPr/>
            </p:nvSpPr>
            <p:spPr>
              <a:xfrm>
                <a:off x="886921" y="3672244"/>
                <a:ext cx="7425807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18.2 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1.25 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18.2 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1.25 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D1CD9DB-216B-7446-E6C1-A3FE86445E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21" y="3672244"/>
                <a:ext cx="7425807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E89D64-2A3C-B4D1-DC1E-8C10B7DCC192}"/>
                  </a:ext>
                </a:extLst>
              </p:cNvPr>
              <p:cNvSpPr/>
              <p:nvPr/>
            </p:nvSpPr>
            <p:spPr>
              <a:xfrm>
                <a:off x="870195" y="5133598"/>
                <a:ext cx="394871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−1.36≤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0.48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E89D64-2A3C-B4D1-DC1E-8C10B7DCC1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95" y="5133598"/>
                <a:ext cx="394871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02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10" grpId="0"/>
      <p:bldP spid="11" grpId="0"/>
      <p:bldP spid="12" grpId="0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88D24-1DCA-76AC-1D06-91853971F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6C77-4857-4358-A3F4-928751C8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8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D0655B4-DBC7-2E3C-378C-845AFE08EB88}"/>
                  </a:ext>
                </a:extLst>
              </p:cNvPr>
              <p:cNvSpPr/>
              <p:nvPr/>
            </p:nvSpPr>
            <p:spPr>
              <a:xfrm>
                <a:off x="150927" y="850462"/>
                <a:ext cx="78604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16.5≤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8.8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−1.36≤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0.48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D0655B4-DBC7-2E3C-378C-845AFE08EB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27" y="850462"/>
                <a:ext cx="786046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B5F77B-788B-99E9-C661-B2FBB092B288}"/>
                  </a:ext>
                </a:extLst>
              </p:cNvPr>
              <p:cNvSpPr/>
              <p:nvPr/>
            </p:nvSpPr>
            <p:spPr>
              <a:xfrm>
                <a:off x="3217460" y="1574559"/>
                <a:ext cx="660195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−1.36&lt;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(0&lt;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&lt;0.48)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B5F77B-788B-99E9-C661-B2FBB092B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460" y="1574559"/>
                <a:ext cx="660195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9ED5814-0492-E554-4AF9-8592389EAE83}"/>
                  </a:ext>
                </a:extLst>
              </p:cNvPr>
              <p:cNvSpPr/>
              <p:nvPr/>
            </p:nvSpPr>
            <p:spPr>
              <a:xfrm>
                <a:off x="3217460" y="2222473"/>
                <a:ext cx="6965631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&lt;1.36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&lt;0.48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9ED5814-0492-E554-4AF9-8592389EAE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460" y="2222473"/>
                <a:ext cx="6965631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D4D83C-3E3D-D1A8-98F9-114682E231F3}"/>
                  </a:ext>
                </a:extLst>
              </p:cNvPr>
              <p:cNvSpPr/>
              <p:nvPr/>
            </p:nvSpPr>
            <p:spPr>
              <a:xfrm>
                <a:off x="3217460" y="2983562"/>
                <a:ext cx="4108131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=0.4131+0.184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D4D83C-3E3D-D1A8-98F9-114682E231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460" y="2983562"/>
                <a:ext cx="4108131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0DB4CB4-EBAF-4293-B569-EDAA7E3E72E6}"/>
                  </a:ext>
                </a:extLst>
              </p:cNvPr>
              <p:cNvSpPr/>
              <p:nvPr/>
            </p:nvSpPr>
            <p:spPr>
              <a:xfrm>
                <a:off x="6216969" y="2983562"/>
                <a:ext cx="219966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59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0DB4CB4-EBAF-4293-B569-EDAA7E3E72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969" y="2983562"/>
                <a:ext cx="219966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2CBE1A03-7288-673D-3D37-A2563B30FCA6}"/>
              </a:ext>
            </a:extLst>
          </p:cNvPr>
          <p:cNvGrpSpPr/>
          <p:nvPr/>
        </p:nvGrpSpPr>
        <p:grpSpPr>
          <a:xfrm>
            <a:off x="415392" y="3859925"/>
            <a:ext cx="10509161" cy="2625546"/>
            <a:chOff x="415392" y="3859925"/>
            <a:chExt cx="10509161" cy="262554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6BFD937-6289-73E3-F3BC-193C5BD9E5FC}"/>
                </a:ext>
              </a:extLst>
            </p:cNvPr>
            <p:cNvPicPr/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98" t="44712" r="29910" b="35591"/>
            <a:stretch/>
          </p:blipFill>
          <p:spPr bwMode="auto">
            <a:xfrm>
              <a:off x="415392" y="3859925"/>
              <a:ext cx="10509161" cy="2194598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0B54E7E3-4685-5039-9F02-DF628BD9217D}"/>
                    </a:ext>
                  </a:extLst>
                </p:cNvPr>
                <p:cNvSpPr/>
                <p:nvPr/>
              </p:nvSpPr>
              <p:spPr>
                <a:xfrm>
                  <a:off x="857336" y="5830287"/>
                  <a:ext cx="1288031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−1.36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0B54E7E3-4685-5039-9F02-DF628BD921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336" y="5830287"/>
                  <a:ext cx="1288031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D4C39ED-0284-47B2-1EFC-396090CAEB2C}"/>
                    </a:ext>
                  </a:extLst>
                </p:cNvPr>
                <p:cNvSpPr/>
                <p:nvPr/>
              </p:nvSpPr>
              <p:spPr>
                <a:xfrm>
                  <a:off x="1929103" y="5839138"/>
                  <a:ext cx="398461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D4C39ED-0284-47B2-1EFC-396090CAEB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9103" y="5839138"/>
                  <a:ext cx="398461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51DE6A6A-1C28-DE50-E4F0-E57BDAD4EB2C}"/>
                    </a:ext>
                  </a:extLst>
                </p:cNvPr>
                <p:cNvSpPr/>
                <p:nvPr/>
              </p:nvSpPr>
              <p:spPr>
                <a:xfrm>
                  <a:off x="2587310" y="5839137"/>
                  <a:ext cx="862472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0.48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51DE6A6A-1C28-DE50-E4F0-E57BDAD4EB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7310" y="5839137"/>
                  <a:ext cx="862472" cy="6463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7F08F22-289E-E14E-C532-DCFBB90E65FB}"/>
                    </a:ext>
                  </a:extLst>
                </p:cNvPr>
                <p:cNvSpPr/>
                <p:nvPr/>
              </p:nvSpPr>
              <p:spPr>
                <a:xfrm>
                  <a:off x="4371182" y="5830286"/>
                  <a:ext cx="1288031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−1.36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7F08F22-289E-E14E-C532-DCFBB90E65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1182" y="5830286"/>
                  <a:ext cx="1288031" cy="6463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D3165B3-B032-69F6-A5C6-19D874A215E5}"/>
                    </a:ext>
                  </a:extLst>
                </p:cNvPr>
                <p:cNvSpPr/>
                <p:nvPr/>
              </p:nvSpPr>
              <p:spPr>
                <a:xfrm>
                  <a:off x="5442949" y="5839137"/>
                  <a:ext cx="398461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D3165B3-B032-69F6-A5C6-19D874A215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2949" y="5839137"/>
                  <a:ext cx="398461" cy="6463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61419044-6ABD-3A79-79DE-72D3B0268C78}"/>
                    </a:ext>
                  </a:extLst>
                </p:cNvPr>
                <p:cNvSpPr/>
                <p:nvPr/>
              </p:nvSpPr>
              <p:spPr>
                <a:xfrm>
                  <a:off x="8946483" y="5839140"/>
                  <a:ext cx="398461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61419044-6ABD-3A79-79DE-72D3B0268C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6483" y="5839140"/>
                  <a:ext cx="398461" cy="6463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211576E4-64ED-E488-2A28-540CD09B400F}"/>
                    </a:ext>
                  </a:extLst>
                </p:cNvPr>
                <p:cNvSpPr/>
                <p:nvPr/>
              </p:nvSpPr>
              <p:spPr>
                <a:xfrm>
                  <a:off x="9604690" y="5839139"/>
                  <a:ext cx="862472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0.48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211576E4-64ED-E488-2A28-540CD09B40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4690" y="5839139"/>
                  <a:ext cx="862472" cy="6463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892269B-627B-3821-A65E-509D6CDD018C}"/>
                  </a:ext>
                </a:extLst>
              </p:cNvPr>
              <p:cNvSpPr/>
              <p:nvPr/>
            </p:nvSpPr>
            <p:spPr>
              <a:xfrm>
                <a:off x="9455728" y="850462"/>
                <a:ext cx="2585345" cy="8464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𝟑𝟔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𝟒𝟏𝟑𝟏</m:t>
                      </m:r>
                    </m:oMath>
                  </m:oMathPara>
                </a14:m>
                <a:endParaRPr lang="en-IN" sz="24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892269B-627B-3821-A65E-509D6CDD01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28" y="850462"/>
                <a:ext cx="2585345" cy="84644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8DC1182-207B-DD80-3E7A-0B2B34BD1875}"/>
                  </a:ext>
                </a:extLst>
              </p:cNvPr>
              <p:cNvSpPr/>
              <p:nvPr/>
            </p:nvSpPr>
            <p:spPr>
              <a:xfrm>
                <a:off x="9455727" y="1857855"/>
                <a:ext cx="2585345" cy="8464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𝟒𝟖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𝟏𝟖𝟒𝟒</m:t>
                      </m:r>
                    </m:oMath>
                  </m:oMathPara>
                </a14:m>
                <a:endParaRPr lang="en-IN" sz="2400" b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8DC1182-207B-DD80-3E7A-0B2B34BD18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27" y="1857855"/>
                <a:ext cx="2585345" cy="8464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688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build="allAtOnce"/>
      <p:bldP spid="14" grpId="0" build="allAtOnce"/>
      <p:bldP spid="15" grpId="0" build="allAtOnce"/>
      <p:bldP spid="26" grpId="0" animBg="1"/>
      <p:bldP spid="27" grpId="0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787191"/>
                <a:ext cx="11929643" cy="382936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compressive strength of the sample of cement can be modelled by normal distribution with mean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6000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standard deviation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(a)   What is the probability that a sample strength is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6250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(b)   What is probability if sample strength is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5800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5900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(c)   What strength is exceeded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of the samples?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IN" sz="2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&lt;2.5</m:t>
                          </m:r>
                        </m:e>
                      </m:d>
                      <m: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=0.4938, </m:t>
                      </m:r>
                      <m:r>
                        <a:rPr lang="en-IN" sz="2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&lt;1</m:t>
                          </m:r>
                        </m:e>
                      </m:d>
                      <m: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=0.3413, </m:t>
                      </m:r>
                      <m:r>
                        <a:rPr lang="en-IN" sz="2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&lt;2</m:t>
                          </m:r>
                        </m:e>
                      </m:d>
                      <m:r>
                        <a:rPr lang="en-IN" sz="2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0.4772, </m:t>
                      </m:r>
                    </m:oMath>
                  </m:oMathPara>
                </a14:m>
                <a:endParaRPr lang="en-IN" sz="24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&lt;1.65</m:t>
                          </m:r>
                        </m:e>
                      </m:d>
                      <m: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=0.4505</m:t>
                      </m:r>
                      <m:r>
                        <a:rPr lang="en-IN" sz="24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787191"/>
                <a:ext cx="11929643" cy="3829369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472851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625597" y="4728515"/>
                <a:ext cx="10309358" cy="6226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compressive strength of the sample of cement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kg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sSup>
                              <m:sSup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p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728515"/>
                <a:ext cx="10309358" cy="622606"/>
              </a:xfrm>
              <a:prstGeom prst="rect">
                <a:avLst/>
              </a:prstGeom>
              <a:blipFill>
                <a:blip r:embed="rId3"/>
                <a:stretch>
                  <a:fillRect l="-1242" b="-225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5874341"/>
                <a:ext cx="7289803" cy="664093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=6000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874341"/>
                <a:ext cx="7289803" cy="664093"/>
              </a:xfrm>
              <a:prstGeom prst="rect">
                <a:avLst/>
              </a:prstGeom>
              <a:blipFill>
                <a:blip r:embed="rId4"/>
                <a:stretch>
                  <a:fillRect l="-1756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59E6AFA-17D1-DE81-30C5-7136FA6378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5251735"/>
                <a:ext cx="7528794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follows a normal distribution. 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59E6AFA-17D1-DE81-30C5-7136FA637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251735"/>
                <a:ext cx="7528794" cy="665631"/>
              </a:xfrm>
              <a:prstGeom prst="rect">
                <a:avLst/>
              </a:prstGeom>
              <a:blipFill>
                <a:blip r:embed="rId5"/>
                <a:stretch>
                  <a:fillRect l="-1700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13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0" grpId="0" animBg="1"/>
      <p:bldP spid="9" grpId="0" build="p"/>
      <p:bldP spid="7" grpId="0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0ED6-BD5C-624F-7683-F5D5E4E3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74D2-7053-2B8C-7519-0DC0C0D6A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⇝ Meaning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AEB2888-28D3-B8D8-4BDD-62B862FB2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711201"/>
            <a:ext cx="11929643" cy="1454249"/>
          </a:xfrm>
        </p:spPr>
        <p:txBody>
          <a:bodyPr/>
          <a:lstStyle/>
          <a:p>
            <a:pPr lvl="0"/>
            <a:r>
              <a:rPr lang="en-US" dirty="0"/>
              <a:t>Compressive strength means how much pushing force a material can handle before it breaks.</a:t>
            </a:r>
            <a:endParaRPr lang="en-IN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D59A0E74-FEBF-9B3E-DA98-AD4EB354E8DB}"/>
              </a:ext>
            </a:extLst>
          </p:cNvPr>
          <p:cNvSpPr txBox="1">
            <a:spLocks/>
          </p:cNvSpPr>
          <p:nvPr/>
        </p:nvSpPr>
        <p:spPr>
          <a:xfrm>
            <a:off x="131175" y="2033494"/>
            <a:ext cx="11929643" cy="2749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14375" indent="-352425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Imagine:</a:t>
            </a:r>
          </a:p>
          <a:p>
            <a:pPr lvl="1"/>
            <a:r>
              <a:rPr lang="en-US" dirty="0"/>
              <a:t>You press a chalk piece between your fingers → it breaks easily</a:t>
            </a:r>
          </a:p>
          <a:p>
            <a:pPr lvl="1"/>
            <a:r>
              <a:rPr lang="en-US" dirty="0"/>
              <a:t>You press a stone → it doesn’t break</a:t>
            </a:r>
          </a:p>
          <a:p>
            <a:pPr lvl="2"/>
            <a:r>
              <a:rPr lang="en-US" dirty="0"/>
              <a:t>The stone has higher compressive strength.</a:t>
            </a:r>
            <a:endParaRPr lang="en-IN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11D620B-1A8E-609A-5D49-B86054EA6FA2}"/>
              </a:ext>
            </a:extLst>
          </p:cNvPr>
          <p:cNvSpPr txBox="1">
            <a:spLocks/>
          </p:cNvSpPr>
          <p:nvPr/>
        </p:nvSpPr>
        <p:spPr>
          <a:xfrm>
            <a:off x="131177" y="4650987"/>
            <a:ext cx="11929642" cy="1943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14375" indent="-352425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cement (or concrete):</a:t>
            </a:r>
          </a:p>
          <a:p>
            <a:pPr lvl="1"/>
            <a:r>
              <a:rPr lang="en-US" dirty="0"/>
              <a:t>Compressive strength tells us how strong the cement is when loads press down on it, like in buildings, bridges, or pillars.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542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98285"/>
                <a:ext cx="11998124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Find the probability that a sample strength is less than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𝟔𝟐𝟓𝟎</m:t>
                    </m:r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98285"/>
                <a:ext cx="11998124" cy="480131"/>
              </a:xfrm>
              <a:prstGeom prst="rect">
                <a:avLst/>
              </a:prstGeom>
              <a:blipFill>
                <a:blip r:embed="rId2"/>
                <a:stretch>
                  <a:fillRect l="-1016" t="-21519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40352" y="1610525"/>
            <a:ext cx="73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088646" y="1385934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646" y="1385934"/>
                <a:ext cx="1911100" cy="898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8178821" y="2596164"/>
                <a:ext cx="3888682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𝟔𝟐𝟓𝟎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21" y="2596164"/>
                <a:ext cx="3888682" cy="6210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734688" y="3427567"/>
                <a:ext cx="2332815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𝟔𝟎𝟎𝟎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688" y="3427567"/>
                <a:ext cx="2332815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734689" y="4306978"/>
                <a:ext cx="2332815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689" y="4306978"/>
                <a:ext cx="2332815" cy="52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7B1F27A-2890-2A25-5CD1-12EE9A9DDCAC}"/>
                  </a:ext>
                </a:extLst>
              </p:cNvPr>
              <p:cNvSpPr/>
              <p:nvPr/>
            </p:nvSpPr>
            <p:spPr>
              <a:xfrm>
                <a:off x="540352" y="2777457"/>
                <a:ext cx="43902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6250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7B1F27A-2890-2A25-5CD1-12EE9A9DDC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52" y="2777457"/>
                <a:ext cx="4390245" cy="523220"/>
              </a:xfrm>
              <a:prstGeom prst="rect">
                <a:avLst/>
              </a:prstGeom>
              <a:blipFill>
                <a:blip r:embed="rId7"/>
                <a:stretch>
                  <a:fillRect l="-2917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DC711CA-DB7F-C977-AE55-0DCAD2BB3116}"/>
                  </a:ext>
                </a:extLst>
              </p:cNvPr>
              <p:cNvSpPr/>
              <p:nvPr/>
            </p:nvSpPr>
            <p:spPr>
              <a:xfrm>
                <a:off x="909216" y="3730651"/>
                <a:ext cx="7425807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6250−6000 </m:t>
                              </m:r>
                            </m:num>
                            <m:den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100 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DC711CA-DB7F-C977-AE55-0DCAD2BB3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16" y="3730651"/>
                <a:ext cx="7425807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035CD8F-83AB-3869-F41D-73D01191EBFC}"/>
                  </a:ext>
                </a:extLst>
              </p:cNvPr>
              <p:cNvSpPr/>
              <p:nvPr/>
            </p:nvSpPr>
            <p:spPr>
              <a:xfrm>
                <a:off x="909216" y="5189210"/>
                <a:ext cx="330750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035CD8F-83AB-3869-F41D-73D01191EB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16" y="5189210"/>
                <a:ext cx="330750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25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  <p:bldP spid="3" grpId="0"/>
      <p:bldP spid="4" grpId="0"/>
      <p:bldP spid="12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71871" y="771748"/>
                <a:ext cx="60882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6250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&lt;2.5)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71" y="771748"/>
                <a:ext cx="608821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628271" y="2155463"/>
                <a:ext cx="524983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=0.5+0.4938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271" y="2155463"/>
                <a:ext cx="52498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628271" y="1460779"/>
                <a:ext cx="747091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(0&lt;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&lt;2.5)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271" y="1460779"/>
                <a:ext cx="747091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399180" y="2738001"/>
                <a:ext cx="2626343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∞&lt;</m:t>
                          </m:r>
                          <m:r>
                            <a:rPr lang="en-US" sz="2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US" sz="26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IN" sz="2600" b="1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9180" y="2738001"/>
                <a:ext cx="2626343" cy="9829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399182" y="1577349"/>
                <a:ext cx="2626342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𝟒𝟗𝟑𝟖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9182" y="1577349"/>
                <a:ext cx="2626342" cy="9829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384F5D0-5291-2289-D477-D7D2F75D4D28}"/>
                  </a:ext>
                </a:extLst>
              </p:cNvPr>
              <p:cNvSpPr/>
              <p:nvPr/>
            </p:nvSpPr>
            <p:spPr>
              <a:xfrm>
                <a:off x="166477" y="2819232"/>
                <a:ext cx="524983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6250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9938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384F5D0-5291-2289-D477-D7D2F75D4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77" y="2819232"/>
                <a:ext cx="5249838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CDFA8782-75F0-ECCB-30E0-78AB958648E8}"/>
              </a:ext>
            </a:extLst>
          </p:cNvPr>
          <p:cNvGrpSpPr/>
          <p:nvPr/>
        </p:nvGrpSpPr>
        <p:grpSpPr>
          <a:xfrm>
            <a:off x="570123" y="3797593"/>
            <a:ext cx="11051753" cy="2729320"/>
            <a:chOff x="-72737" y="3118608"/>
            <a:chExt cx="11051753" cy="2729320"/>
          </a:xfrm>
        </p:grpSpPr>
        <p:pic>
          <p:nvPicPr>
            <p:cNvPr id="9" name="Picture 8"/>
            <p:cNvPicPr/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9318" r="-883"/>
            <a:stretch/>
          </p:blipFill>
          <p:spPr bwMode="auto">
            <a:xfrm>
              <a:off x="166626" y="3118608"/>
              <a:ext cx="10812390" cy="234563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85CD7787-F465-B17A-718D-23926FD12A92}"/>
                    </a:ext>
                  </a:extLst>
                </p:cNvPr>
                <p:cNvSpPr/>
                <p:nvPr/>
              </p:nvSpPr>
              <p:spPr>
                <a:xfrm>
                  <a:off x="1836274" y="5386263"/>
                  <a:ext cx="36659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85CD7787-F465-B17A-718D-23926FD12A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274" y="5386263"/>
                  <a:ext cx="366598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722D823A-1C85-1D05-ADEE-8886903CF0B0}"/>
                    </a:ext>
                  </a:extLst>
                </p:cNvPr>
                <p:cNvSpPr/>
                <p:nvPr/>
              </p:nvSpPr>
              <p:spPr>
                <a:xfrm>
                  <a:off x="-72737" y="5381536"/>
                  <a:ext cx="723353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722D823A-1C85-1D05-ADEE-8886903CF0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737" y="5381536"/>
                  <a:ext cx="723353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23596B2-614C-3839-C631-D0CD38B38710}"/>
                    </a:ext>
                  </a:extLst>
                </p:cNvPr>
                <p:cNvSpPr/>
                <p:nvPr/>
              </p:nvSpPr>
              <p:spPr>
                <a:xfrm>
                  <a:off x="2665178" y="5381536"/>
                  <a:ext cx="723352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2.5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23596B2-614C-3839-C631-D0CD38B387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178" y="5381536"/>
                  <a:ext cx="723352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54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BCC9D9E-AE3A-F328-E653-8DCA553A1116}"/>
                    </a:ext>
                  </a:extLst>
                </p:cNvPr>
                <p:cNvSpPr/>
                <p:nvPr/>
              </p:nvSpPr>
              <p:spPr>
                <a:xfrm>
                  <a:off x="5370842" y="5381536"/>
                  <a:ext cx="36659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BCC9D9E-AE3A-F328-E653-8DCA553A11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0842" y="5381536"/>
                  <a:ext cx="366598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327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2441542-E1A9-4A8D-D72A-D0F6ABB24C6B}"/>
                    </a:ext>
                  </a:extLst>
                </p:cNvPr>
                <p:cNvSpPr/>
                <p:nvPr/>
              </p:nvSpPr>
              <p:spPr>
                <a:xfrm>
                  <a:off x="3590986" y="5381536"/>
                  <a:ext cx="723353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2441542-E1A9-4A8D-D72A-D0F6ABB24C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0986" y="5381536"/>
                  <a:ext cx="723353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D8C41EE-29E6-9D55-BB90-B9871F65E69E}"/>
                    </a:ext>
                  </a:extLst>
                </p:cNvPr>
                <p:cNvSpPr/>
                <p:nvPr/>
              </p:nvSpPr>
              <p:spPr>
                <a:xfrm>
                  <a:off x="8930407" y="5381536"/>
                  <a:ext cx="36659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D8C41EE-29E6-9D55-BB90-B9871F65E6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0407" y="5381536"/>
                  <a:ext cx="366598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327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AA4DB0DE-3ACF-CC40-1A08-A96B5DB077B0}"/>
                    </a:ext>
                  </a:extLst>
                </p:cNvPr>
                <p:cNvSpPr/>
                <p:nvPr/>
              </p:nvSpPr>
              <p:spPr>
                <a:xfrm>
                  <a:off x="9759311" y="5376809"/>
                  <a:ext cx="723352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2.5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AA4DB0DE-3ACF-CC40-1A08-A96B5DB077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9311" y="5376809"/>
                  <a:ext cx="723352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168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4540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98285"/>
                <a:ext cx="11998124" cy="52322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(b) Find the probability that a sample strength is between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𝟓𝟖𝟎𝟎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𝟓𝟗𝟎𝟎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98285"/>
                <a:ext cx="11998124" cy="523220"/>
              </a:xfrm>
              <a:prstGeom prst="rect">
                <a:avLst/>
              </a:prstGeom>
              <a:blipFill>
                <a:blip r:embed="rId2"/>
                <a:stretch>
                  <a:fillRect l="-1016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2A0CA81-3F61-B890-07BD-0C67D68EC60F}"/>
                  </a:ext>
                </a:extLst>
              </p:cNvPr>
              <p:cNvSpPr/>
              <p:nvPr/>
            </p:nvSpPr>
            <p:spPr>
              <a:xfrm>
                <a:off x="7904641" y="1862267"/>
                <a:ext cx="4162862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𝟓𝟖𝟎𝟎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𝟓𝟗𝟎𝟎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2A0CA81-3F61-B890-07BD-0C67D68EC6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641" y="1862267"/>
                <a:ext cx="4162862" cy="621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67A767E-BDE0-B59B-4BF5-A9DBD681AC98}"/>
                  </a:ext>
                </a:extLst>
              </p:cNvPr>
              <p:cNvSpPr/>
              <p:nvPr/>
            </p:nvSpPr>
            <p:spPr>
              <a:xfrm>
                <a:off x="9734688" y="2756953"/>
                <a:ext cx="2332815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𝟔𝟎𝟎𝟎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67A767E-BDE0-B59B-4BF5-A9DBD681AC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688" y="2756953"/>
                <a:ext cx="2332815" cy="52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413EA4-CFFD-5BD7-0EB2-C97E25E7E7B5}"/>
                  </a:ext>
                </a:extLst>
              </p:cNvPr>
              <p:cNvSpPr/>
              <p:nvPr/>
            </p:nvSpPr>
            <p:spPr>
              <a:xfrm>
                <a:off x="9734689" y="3573081"/>
                <a:ext cx="2332815" cy="52200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413EA4-CFFD-5BD7-0EB2-C97E25E7E7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689" y="3573081"/>
                <a:ext cx="2332815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529CD7E-F050-416E-006C-D39370CC4CE3}"/>
              </a:ext>
            </a:extLst>
          </p:cNvPr>
          <p:cNvSpPr/>
          <p:nvPr/>
        </p:nvSpPr>
        <p:spPr>
          <a:xfrm>
            <a:off x="540352" y="1610525"/>
            <a:ext cx="73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1BAE02-94D2-8284-2FFC-64D625A83939}"/>
                  </a:ext>
                </a:extLst>
              </p:cNvPr>
              <p:cNvSpPr/>
              <p:nvPr/>
            </p:nvSpPr>
            <p:spPr>
              <a:xfrm>
                <a:off x="1057473" y="1385934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1BAE02-94D2-8284-2FFC-64D625A839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473" y="1385934"/>
                <a:ext cx="1911100" cy="898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35F6231-651A-F1B1-7825-E1B674111EA6}"/>
                  </a:ext>
                </a:extLst>
              </p:cNvPr>
              <p:cNvSpPr/>
              <p:nvPr/>
            </p:nvSpPr>
            <p:spPr>
              <a:xfrm>
                <a:off x="540352" y="2602608"/>
                <a:ext cx="43902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5800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5900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35F6231-651A-F1B1-7825-E1B674111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52" y="2602608"/>
                <a:ext cx="4390245" cy="523220"/>
              </a:xfrm>
              <a:prstGeom prst="rect">
                <a:avLst/>
              </a:prstGeom>
              <a:blipFill>
                <a:blip r:embed="rId7"/>
                <a:stretch>
                  <a:fillRect l="-2917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0BCC224-DDAE-C02D-3AAB-383570E249C5}"/>
                  </a:ext>
                </a:extLst>
              </p:cNvPr>
              <p:cNvSpPr/>
              <p:nvPr/>
            </p:nvSpPr>
            <p:spPr>
              <a:xfrm>
                <a:off x="909216" y="3366485"/>
                <a:ext cx="7486638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5800−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5800−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0BCC224-DDAE-C02D-3AAB-383570E24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16" y="3366485"/>
                <a:ext cx="7486638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7A872B5-78A9-55DF-EAF5-D1D75D1394BF}"/>
                  </a:ext>
                </a:extLst>
              </p:cNvPr>
              <p:cNvSpPr/>
              <p:nvPr/>
            </p:nvSpPr>
            <p:spPr>
              <a:xfrm>
                <a:off x="909216" y="4635844"/>
                <a:ext cx="7486638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5800−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6000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5800−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6000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7A872B5-78A9-55DF-EAF5-D1D75D139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16" y="4635844"/>
                <a:ext cx="7486638" cy="1060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DCF7306-2368-0E12-CAB4-418B4DB12E01}"/>
                  </a:ext>
                </a:extLst>
              </p:cNvPr>
              <p:cNvSpPr/>
              <p:nvPr/>
            </p:nvSpPr>
            <p:spPr>
              <a:xfrm>
                <a:off x="909216" y="5948728"/>
                <a:ext cx="42342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DCF7306-2368-0E12-CAB4-418B4DB12E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16" y="5948728"/>
                <a:ext cx="423428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A61178-AB12-C6A9-3613-307132F8F55F}"/>
                  </a:ext>
                </a:extLst>
              </p:cNvPr>
              <p:cNvSpPr/>
              <p:nvPr/>
            </p:nvSpPr>
            <p:spPr>
              <a:xfrm>
                <a:off x="3951300" y="5948728"/>
                <a:ext cx="42342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A61178-AB12-C6A9-3613-307132F8F5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300" y="5948728"/>
                <a:ext cx="423428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896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5" grpId="0"/>
      <p:bldP spid="16" grpId="0"/>
      <p:bldP spid="17" grpId="0"/>
      <p:bldP spid="18" grpId="0"/>
      <p:bldP spid="19" grpId="0"/>
      <p:bldP spid="3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872941" y="2148781"/>
                <a:ext cx="4595650" cy="6587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800" b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800" b="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477</m:t>
                    </m:r>
                    <m:r>
                      <a:rPr lang="en-IN" sz="2800" b="0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800" b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800" b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800" b="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3413</m:t>
                    </m:r>
                  </m:oMath>
                </a14:m>
                <a:r>
                  <a:rPr lang="en-IN" sz="2800" b="0" i="1" dirty="0">
                    <a:solidFill>
                      <a:schemeClr val="tx2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941" y="2148781"/>
                <a:ext cx="4595650" cy="6587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55238" y="780440"/>
                <a:ext cx="60882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5800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5900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38" y="780440"/>
                <a:ext cx="608821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883637" y="1514572"/>
                <a:ext cx="54058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637" y="1514572"/>
                <a:ext cx="540583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E576764-249C-1F9F-C319-B8C21F7544CD}"/>
                  </a:ext>
                </a:extLst>
              </p:cNvPr>
              <p:cNvSpPr/>
              <p:nvPr/>
            </p:nvSpPr>
            <p:spPr>
              <a:xfrm>
                <a:off x="166626" y="2874543"/>
                <a:ext cx="7891046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5800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5900</m:t>
                          </m:r>
                        </m:e>
                      </m:d>
                      <m:r>
                        <a:rPr lang="en-IN" sz="2800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59</m:t>
                      </m:r>
                    </m:oMath>
                  </m:oMathPara>
                </a14:m>
                <a:endParaRPr lang="en-US" sz="2800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E576764-249C-1F9F-C319-B8C21F7544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26" y="2874543"/>
                <a:ext cx="7891046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548D53C-A3DA-08C0-C568-CB16CE2287C9}"/>
              </a:ext>
            </a:extLst>
          </p:cNvPr>
          <p:cNvGrpSpPr/>
          <p:nvPr/>
        </p:nvGrpSpPr>
        <p:grpSpPr>
          <a:xfrm>
            <a:off x="452202" y="3983457"/>
            <a:ext cx="10906539" cy="2388043"/>
            <a:chOff x="555806" y="3734075"/>
            <a:chExt cx="10906539" cy="2388043"/>
          </a:xfrm>
        </p:grpSpPr>
        <p:pic>
          <p:nvPicPr>
            <p:cNvPr id="7" name="Picture 6"/>
            <p:cNvPicPr/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806" y="3734075"/>
              <a:ext cx="10906539" cy="1915540"/>
            </a:xfrm>
            <a:prstGeom prst="rect">
              <a:avLst/>
            </a:prstGeom>
            <a:noFill/>
            <a:ln>
              <a:noFill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7D23E8FB-5561-668D-09D1-B5AC6F994907}"/>
                    </a:ext>
                  </a:extLst>
                </p:cNvPr>
                <p:cNvSpPr/>
                <p:nvPr/>
              </p:nvSpPr>
              <p:spPr>
                <a:xfrm>
                  <a:off x="2219361" y="5655034"/>
                  <a:ext cx="36659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7D23E8FB-5561-668D-09D1-B5AC6F9949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9361" y="5655034"/>
                  <a:ext cx="366598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3333" r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A72E063-9AFF-212E-713D-9C14E26334BC}"/>
                    </a:ext>
                  </a:extLst>
                </p:cNvPr>
                <p:cNvSpPr/>
                <p:nvPr/>
              </p:nvSpPr>
              <p:spPr>
                <a:xfrm>
                  <a:off x="2585959" y="5660453"/>
                  <a:ext cx="36659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A72E063-9AFF-212E-713D-9C14E26334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5959" y="5660453"/>
                  <a:ext cx="366598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3333" r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0907BAD-BECE-8C5D-B089-968CFDEF20CA}"/>
                    </a:ext>
                  </a:extLst>
                </p:cNvPr>
                <p:cNvSpPr/>
                <p:nvPr/>
              </p:nvSpPr>
              <p:spPr>
                <a:xfrm>
                  <a:off x="3467695" y="5660453"/>
                  <a:ext cx="36659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0907BAD-BECE-8C5D-B089-968CFDEF20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695" y="5660453"/>
                  <a:ext cx="366598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8570BEF-5B0A-D3C5-F054-EA764D33CD62}"/>
                    </a:ext>
                  </a:extLst>
                </p:cNvPr>
                <p:cNvSpPr/>
                <p:nvPr/>
              </p:nvSpPr>
              <p:spPr>
                <a:xfrm>
                  <a:off x="5852716" y="5620314"/>
                  <a:ext cx="36659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8570BEF-5B0A-D3C5-F054-EA764D33CD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716" y="5620314"/>
                  <a:ext cx="366598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3333" r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D035F6D0-128B-4CB3-3CDF-848C8C1DBEEB}"/>
                    </a:ext>
                  </a:extLst>
                </p:cNvPr>
                <p:cNvSpPr/>
                <p:nvPr/>
              </p:nvSpPr>
              <p:spPr>
                <a:xfrm>
                  <a:off x="7101050" y="5620314"/>
                  <a:ext cx="36659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D035F6D0-128B-4CB3-3CDF-848C8C1DBE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1050" y="5620314"/>
                  <a:ext cx="366598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47C33C6-4C06-5234-B014-E7CB16BC023D}"/>
                    </a:ext>
                  </a:extLst>
                </p:cNvPr>
                <p:cNvSpPr/>
                <p:nvPr/>
              </p:nvSpPr>
              <p:spPr>
                <a:xfrm>
                  <a:off x="9486071" y="5620315"/>
                  <a:ext cx="36659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47C33C6-4C06-5234-B014-E7CB16BC02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071" y="5620315"/>
                  <a:ext cx="366598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3333" r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00DB89B8-FAE0-B065-9A95-A078E05DA403}"/>
                    </a:ext>
                  </a:extLst>
                </p:cNvPr>
                <p:cNvSpPr/>
                <p:nvPr/>
              </p:nvSpPr>
              <p:spPr>
                <a:xfrm>
                  <a:off x="9915297" y="5624926"/>
                  <a:ext cx="366598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00DB89B8-FAE0-B065-9A95-A078E05DA4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5297" y="5624926"/>
                  <a:ext cx="366598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25037B3-6266-3FA1-14F4-7450AF27F50B}"/>
                  </a:ext>
                </a:extLst>
              </p:cNvPr>
              <p:cNvSpPr/>
              <p:nvPr/>
            </p:nvSpPr>
            <p:spPr>
              <a:xfrm>
                <a:off x="9592837" y="2074770"/>
                <a:ext cx="2452256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b="1" i="1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600" b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𝟒𝟕𝟕𝟐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25037B3-6266-3FA1-14F4-7450AF27F5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7" y="2074770"/>
                <a:ext cx="2452256" cy="98299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227ED05-BA06-0306-D0BE-169EBE16FF47}"/>
                  </a:ext>
                </a:extLst>
              </p:cNvPr>
              <p:cNvSpPr/>
              <p:nvPr/>
            </p:nvSpPr>
            <p:spPr>
              <a:xfrm>
                <a:off x="9592838" y="914118"/>
                <a:ext cx="2452255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𝟑𝟒𝟏𝟑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227ED05-BA06-0306-D0BE-169EBE16FF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8" y="914118"/>
                <a:ext cx="2452255" cy="98299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469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0" grpId="0"/>
      <p:bldP spid="3" grpId="0" uiExpand="1" build="p"/>
      <p:bldP spid="20" grpId="0" animBg="1"/>
      <p:bldP spid="21" grpId="0" animBg="1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57342"/>
                <a:ext cx="7765365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(c) Find the sample strength is exceeded by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57342"/>
                <a:ext cx="7765365" cy="480131"/>
              </a:xfrm>
              <a:prstGeom prst="rect">
                <a:avLst/>
              </a:prstGeom>
              <a:blipFill>
                <a:blip r:embed="rId2"/>
                <a:stretch>
                  <a:fillRect l="-1570" t="-20253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5D39DF4E-2530-9E62-C99E-A071273273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8" y="1237473"/>
                <a:ext cx="11929643" cy="209800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Here, we have to find 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the strength value 𝐱 such that 𝟗𝟓% of the cement samples are stronger than 𝐱.</a:t>
                </a:r>
              </a:p>
              <a:p>
                <a:pPr lvl="1" algn="l"/>
                <a:r>
                  <a:rPr lang="en-US" dirty="0">
                    <a:solidFill>
                      <a:schemeClr val="tx1"/>
                    </a:solidFill>
                  </a:rPr>
                  <a:t>So, mathematically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strength</m:t>
                        </m:r>
                        <m:r>
                          <a:rPr lang="en-I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I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5D39DF4E-2530-9E62-C99E-A07127327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8" y="1237473"/>
                <a:ext cx="11929643" cy="2098009"/>
              </a:xfrm>
              <a:prstGeom prst="rect">
                <a:avLst/>
              </a:prstGeom>
              <a:blipFill>
                <a:blip r:embed="rId3"/>
                <a:stretch>
                  <a:fillRect l="-971" b="-8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4D430E44-97BF-3AB5-3332-61EAE7688F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17284" y="3241964"/>
                <a:ext cx="4829189" cy="7206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4D430E44-97BF-3AB5-3332-61EAE7688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284" y="3241964"/>
                <a:ext cx="4829189" cy="7206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68BB3186-F3B6-A884-BC98-CA662F09ED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17284" y="3861754"/>
                <a:ext cx="4829189" cy="15932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f>
                            <m:f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68BB3186-F3B6-A884-BC98-CA662F09E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284" y="3861754"/>
                <a:ext cx="4829189" cy="15932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BE5B5F1C-4E33-7D59-3914-9D01C4D4FF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17280" y="5538154"/>
                <a:ext cx="4600590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BE5B5F1C-4E33-7D59-3914-9D01C4D4F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280" y="5538154"/>
                <a:ext cx="4600590" cy="9302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5B82FD9-B1B7-599C-21DA-144D244062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10306" y="5251665"/>
                <a:ext cx="3138939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 i="0" dirty="0" smtClean="0">
                          <a:solidFill>
                            <a:srgbClr val="002060"/>
                          </a:solidFill>
                        </a:rPr>
                        <m:t>; </m:t>
                      </m:r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where</m:t>
                      </m:r>
                      <m:r>
                        <m:rPr>
                          <m:nor/>
                        </m:rPr>
                        <a:rPr lang="en-IN" b="0" i="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5B82FD9-B1B7-599C-21DA-144D24406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306" y="5251665"/>
                <a:ext cx="3138939" cy="12166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25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  <p:bldP spid="3" grpId="0" build="allAtOnce"/>
      <p:bldP spid="4" grpId="0" build="allAtOnce"/>
      <p:bldP spid="5" grpId="0" build="allAtOnce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6CB04-D9CA-A456-DE27-8F3021E69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496FD5-9478-1A09-2D9C-B086F34E9103}"/>
              </a:ext>
            </a:extLst>
          </p:cNvPr>
          <p:cNvCxnSpPr>
            <a:cxnSpLocks/>
          </p:cNvCxnSpPr>
          <p:nvPr/>
        </p:nvCxnSpPr>
        <p:spPr>
          <a:xfrm flipV="1">
            <a:off x="10507765" y="4318963"/>
            <a:ext cx="0" cy="54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30AA73E-8C07-E9AD-9ABB-53A5C385DBAC}"/>
              </a:ext>
            </a:extLst>
          </p:cNvPr>
          <p:cNvSpPr/>
          <p:nvPr/>
        </p:nvSpPr>
        <p:spPr>
          <a:xfrm>
            <a:off x="10528546" y="4331895"/>
            <a:ext cx="598111" cy="544284"/>
          </a:xfrm>
          <a:custGeom>
            <a:avLst/>
            <a:gdLst>
              <a:gd name="csX0" fmla="*/ 0 w 598111"/>
              <a:gd name="csY0" fmla="*/ 0 h 544284"/>
              <a:gd name="csX1" fmla="*/ 26638 w 598111"/>
              <a:gd name="csY1" fmla="*/ 40530 h 544284"/>
              <a:gd name="csX2" fmla="*/ 471279 w 598111"/>
              <a:gd name="csY2" fmla="*/ 373776 h 544284"/>
              <a:gd name="csX3" fmla="*/ 598106 w 598111"/>
              <a:gd name="csY3" fmla="*/ 389021 h 544284"/>
              <a:gd name="csX4" fmla="*/ 598111 w 598111"/>
              <a:gd name="csY4" fmla="*/ 389021 h 544284"/>
              <a:gd name="csX5" fmla="*/ 598111 w 598111"/>
              <a:gd name="csY5" fmla="*/ 544284 h 544284"/>
              <a:gd name="csX6" fmla="*/ 0 w 598111"/>
              <a:gd name="csY6" fmla="*/ 544284 h 5442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98111" h="544284">
                <a:moveTo>
                  <a:pt x="0" y="0"/>
                </a:moveTo>
                <a:lnTo>
                  <a:pt x="26638" y="40530"/>
                </a:lnTo>
                <a:cubicBezTo>
                  <a:pt x="152184" y="215630"/>
                  <a:pt x="294498" y="333468"/>
                  <a:pt x="471279" y="373776"/>
                </a:cubicBezTo>
                <a:lnTo>
                  <a:pt x="598106" y="389021"/>
                </a:lnTo>
                <a:lnTo>
                  <a:pt x="598111" y="389021"/>
                </a:lnTo>
                <a:lnTo>
                  <a:pt x="598111" y="544284"/>
                </a:lnTo>
                <a:lnTo>
                  <a:pt x="0" y="544284"/>
                </a:lnTo>
                <a:close/>
              </a:path>
            </a:pathLst>
          </a:custGeom>
          <a:pattFill prst="trellis">
            <a:fgClr>
              <a:srgbClr val="009788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4BD3848-DBA7-19AF-471C-5A8B8A8E6BF3}"/>
              </a:ext>
            </a:extLst>
          </p:cNvPr>
          <p:cNvSpPr/>
          <p:nvPr/>
        </p:nvSpPr>
        <p:spPr>
          <a:xfrm>
            <a:off x="1299327" y="1823620"/>
            <a:ext cx="3449780" cy="3038881"/>
          </a:xfrm>
          <a:custGeom>
            <a:avLst/>
            <a:gdLst>
              <a:gd name="csX0" fmla="*/ 1433678 w 3460359"/>
              <a:gd name="csY0" fmla="*/ 1 h 3038881"/>
              <a:gd name="csX1" fmla="*/ 2677185 w 3460359"/>
              <a:gd name="csY1" fmla="*/ 2159551 h 3038881"/>
              <a:gd name="csX2" fmla="*/ 3333524 w 3460359"/>
              <a:gd name="csY2" fmla="*/ 2865441 h 3038881"/>
              <a:gd name="csX3" fmla="*/ 3460351 w 3460359"/>
              <a:gd name="csY3" fmla="*/ 2880686 h 3038881"/>
              <a:gd name="csX4" fmla="*/ 3460359 w 3460359"/>
              <a:gd name="csY4" fmla="*/ 2880686 h 3038881"/>
              <a:gd name="csX5" fmla="*/ 3460359 w 3460359"/>
              <a:gd name="csY5" fmla="*/ 2880687 h 3038881"/>
              <a:gd name="csX6" fmla="*/ 3460359 w 3460359"/>
              <a:gd name="csY6" fmla="*/ 3038881 h 3038881"/>
              <a:gd name="csX7" fmla="*/ 0 w 3460359"/>
              <a:gd name="csY7" fmla="*/ 3038881 h 3038881"/>
              <a:gd name="csX8" fmla="*/ 0 w 3460359"/>
              <a:gd name="csY8" fmla="*/ 2541983 h 3038881"/>
              <a:gd name="csX9" fmla="*/ 8118 w 3460359"/>
              <a:gd name="csY9" fmla="*/ 2531631 h 3038881"/>
              <a:gd name="csX10" fmla="*/ 221987 w 3460359"/>
              <a:gd name="csY10" fmla="*/ 2155212 h 3038881"/>
              <a:gd name="csX11" fmla="*/ 1433678 w 3460359"/>
              <a:gd name="csY11" fmla="*/ 1 h 3038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60359" h="3038881">
                <a:moveTo>
                  <a:pt x="1433678" y="1"/>
                </a:moveTo>
                <a:cubicBezTo>
                  <a:pt x="1909553" y="725"/>
                  <a:pt x="2472754" y="1727062"/>
                  <a:pt x="2677185" y="2159551"/>
                </a:cubicBezTo>
                <a:cubicBezTo>
                  <a:pt x="2856061" y="2537979"/>
                  <a:pt x="3050674" y="2800947"/>
                  <a:pt x="3333524" y="2865441"/>
                </a:cubicBezTo>
                <a:lnTo>
                  <a:pt x="3460351" y="2880686"/>
                </a:lnTo>
                <a:lnTo>
                  <a:pt x="3460359" y="2880686"/>
                </a:lnTo>
                <a:lnTo>
                  <a:pt x="3460359" y="2880687"/>
                </a:lnTo>
                <a:lnTo>
                  <a:pt x="3460359" y="3038881"/>
                </a:lnTo>
                <a:lnTo>
                  <a:pt x="0" y="3038881"/>
                </a:lnTo>
                <a:lnTo>
                  <a:pt x="0" y="2541983"/>
                </a:lnTo>
                <a:lnTo>
                  <a:pt x="8118" y="2531631"/>
                </a:lnTo>
                <a:cubicBezTo>
                  <a:pt x="83672" y="2425583"/>
                  <a:pt x="153702" y="2298512"/>
                  <a:pt x="221987" y="2155212"/>
                </a:cubicBezTo>
                <a:cubicBezTo>
                  <a:pt x="430095" y="1718489"/>
                  <a:pt x="957803" y="-722"/>
                  <a:pt x="1433678" y="1"/>
                </a:cubicBezTo>
                <a:close/>
              </a:path>
            </a:pathLst>
          </a:custGeom>
          <a:pattFill prst="trellis">
            <a:fgClr>
              <a:srgbClr val="009788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2EB6D-ACE5-5D44-33BB-93664473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– </a:t>
            </a:r>
            <a:r>
              <a:rPr lang="en-GB" dirty="0">
                <a:solidFill>
                  <a:srgbClr val="FF0000"/>
                </a:solidFill>
              </a:rPr>
              <a:t>For Understanding Only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A3B94F91-C350-88B5-D5C6-75EF90449A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799899"/>
                <a:ext cx="4600590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A3B94F91-C350-88B5-D5C6-75EF90449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799899"/>
                <a:ext cx="4600590" cy="9302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FFFF900-9297-661F-620A-E77A155B9D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9906" y="513410"/>
                <a:ext cx="3138939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 i="0" dirty="0" smtClean="0"/>
                        <m:t>; </m:t>
                      </m:r>
                      <m:r>
                        <m:rPr>
                          <m:nor/>
                        </m:rPr>
                        <a:rPr lang="en-IN" dirty="0" smtClean="0"/>
                        <m:t>where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FFFF900-9297-661F-620A-E77A155B9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906" y="513410"/>
                <a:ext cx="3138939" cy="12166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170594-4EEF-4C08-3087-A97382B1E259}"/>
              </a:ext>
            </a:extLst>
          </p:cNvPr>
          <p:cNvCxnSpPr>
            <a:cxnSpLocks/>
          </p:cNvCxnSpPr>
          <p:nvPr/>
        </p:nvCxnSpPr>
        <p:spPr>
          <a:xfrm flipV="1">
            <a:off x="1299325" y="4384371"/>
            <a:ext cx="0" cy="4918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F4D19EB-05BC-0612-2531-5F1A8A9F2918}"/>
              </a:ext>
            </a:extLst>
          </p:cNvPr>
          <p:cNvGrpSpPr/>
          <p:nvPr/>
        </p:nvGrpSpPr>
        <p:grpSpPr>
          <a:xfrm>
            <a:off x="730828" y="1837304"/>
            <a:ext cx="4018278" cy="3038882"/>
            <a:chOff x="730828" y="1837304"/>
            <a:chExt cx="4018278" cy="303888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58561D0-1691-DECF-109C-EA61F15CFE56}"/>
                </a:ext>
              </a:extLst>
            </p:cNvPr>
            <p:cNvCxnSpPr>
              <a:cxnSpLocks/>
            </p:cNvCxnSpPr>
            <p:nvPr/>
          </p:nvCxnSpPr>
          <p:spPr>
            <a:xfrm>
              <a:off x="2710352" y="1843156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45FD9A8-4E89-1A80-AEC4-88A8FEAC7513}"/>
                </a:ext>
              </a:extLst>
            </p:cNvPr>
            <p:cNvSpPr/>
            <p:nvPr/>
          </p:nvSpPr>
          <p:spPr>
            <a:xfrm>
              <a:off x="730828" y="18373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52B244-5F8F-1FEB-53EE-7B499A9A7842}"/>
                </a:ext>
              </a:extLst>
            </p:cNvPr>
            <p:cNvCxnSpPr>
              <a:cxnSpLocks/>
            </p:cNvCxnSpPr>
            <p:nvPr/>
          </p:nvCxnSpPr>
          <p:spPr>
            <a:xfrm>
              <a:off x="730828" y="48761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A5B87EF-20A1-59FC-7B05-E73E5F35EB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0672" y="4864627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A5B87EF-20A1-59FC-7B05-E73E5F35E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672" y="4864627"/>
                <a:ext cx="657306" cy="4801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7C9508C-2907-DC12-3655-F286CE5C6DCF}"/>
              </a:ext>
            </a:extLst>
          </p:cNvPr>
          <p:cNvGrpSpPr/>
          <p:nvPr/>
        </p:nvGrpSpPr>
        <p:grpSpPr>
          <a:xfrm>
            <a:off x="7108382" y="1837304"/>
            <a:ext cx="4018278" cy="3038882"/>
            <a:chOff x="7108382" y="1837304"/>
            <a:chExt cx="4018278" cy="3038882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A2CFDC-B2C9-4BCA-7787-F082313F330A}"/>
                </a:ext>
              </a:extLst>
            </p:cNvPr>
            <p:cNvCxnSpPr>
              <a:cxnSpLocks/>
            </p:cNvCxnSpPr>
            <p:nvPr/>
          </p:nvCxnSpPr>
          <p:spPr>
            <a:xfrm>
              <a:off x="9087906" y="1843156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93244E-7976-E825-48DA-150DD95EEA78}"/>
                </a:ext>
              </a:extLst>
            </p:cNvPr>
            <p:cNvSpPr/>
            <p:nvPr/>
          </p:nvSpPr>
          <p:spPr>
            <a:xfrm>
              <a:off x="7108382" y="18373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9FDD9C6-CF55-9E25-A84C-4D2024E6D894}"/>
                </a:ext>
              </a:extLst>
            </p:cNvPr>
            <p:cNvCxnSpPr>
              <a:cxnSpLocks/>
            </p:cNvCxnSpPr>
            <p:nvPr/>
          </p:nvCxnSpPr>
          <p:spPr>
            <a:xfrm>
              <a:off x="7108382" y="48761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60C81B7E-68D9-D3DC-91DB-7F28F29ABC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9893" y="4910021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60C81B7E-68D9-D3DC-91DB-7F28F29AB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893" y="4910021"/>
                <a:ext cx="657306" cy="4801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2346F2AA-4D87-0695-B8F2-99CC864056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5742997"/>
                <a:ext cx="6637211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b="0" dirty="0"/>
                  <a:t>For which 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r>
                  <a:rPr lang="en-US" dirty="0"/>
                  <a:t> is true? : </a:t>
                </a: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2346F2AA-4D87-0695-B8F2-99CC86405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5742997"/>
                <a:ext cx="6637211" cy="711200"/>
              </a:xfrm>
              <a:prstGeom prst="rect">
                <a:avLst/>
              </a:prstGeom>
              <a:blipFill>
                <a:blip r:embed="rId6"/>
                <a:stretch>
                  <a:fillRect l="-1837" b="-17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01DEE1B6-E67D-C2F3-F179-B4F4ABB7B8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04488" y="2717800"/>
                <a:ext cx="1425033" cy="711194"/>
              </a:xfrm>
              <a:prstGeom prst="wedgeRectCallout">
                <a:avLst>
                  <a:gd name="adj1" fmla="val -82643"/>
                  <a:gd name="adj2" fmla="val 11364"/>
                </a:avLst>
              </a:prstGeom>
              <a:ln w="38100">
                <a:solidFill>
                  <a:srgbClr val="C76765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sz="2400" b="1" dirty="0"/>
                  <a:t>Curve </a:t>
                </a:r>
                <a14:m>
                  <m:oMath xmlns:m="http://schemas.openxmlformats.org/officeDocument/2006/math"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0" name="Content Placeholder 4">
                <a:extLst>
                  <a:ext uri="{FF2B5EF4-FFF2-40B4-BE49-F238E27FC236}">
                    <a16:creationId xmlns:a16="http://schemas.microsoft.com/office/drawing/2014/main" id="{01DEE1B6-E67D-C2F3-F179-B4F4ABB7B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488" y="2717800"/>
                <a:ext cx="1425033" cy="711194"/>
              </a:xfrm>
              <a:prstGeom prst="wedgeRectCallout">
                <a:avLst>
                  <a:gd name="adj1" fmla="val -82643"/>
                  <a:gd name="adj2" fmla="val 11364"/>
                </a:avLst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C7676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973C170-093A-3DF1-BD74-34A83A7B36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7175" y="4956020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Content Placeholder 2">
                <a:extLst>
                  <a:ext uri="{FF2B5EF4-FFF2-40B4-BE49-F238E27FC236}">
                    <a16:creationId xmlns:a16="http://schemas.microsoft.com/office/drawing/2014/main" id="{B973C170-093A-3DF1-BD74-34A83A7B3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175" y="4956020"/>
                <a:ext cx="657306" cy="4801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4365764F-5800-477E-FB3A-17875CFA7B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0453" y="4956019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IN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4365764F-5800-477E-FB3A-17875CFA7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0453" y="4956019"/>
                <a:ext cx="657306" cy="4801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3714A490-71CA-5A61-AF88-1209498E1B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94726" y="4924887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3714A490-71CA-5A61-AF88-1209498E1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26" y="4924887"/>
                <a:ext cx="657306" cy="4801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94D51FF3-C004-18C5-DE8E-692D0D5EC3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98004" y="4924886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IN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94D51FF3-C004-18C5-DE8E-692D0D5EC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004" y="4924886"/>
                <a:ext cx="657306" cy="4801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D2EDDBF6-C168-C034-B64F-87AAF9BB15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3491" y="5784561"/>
                <a:ext cx="1412119" cy="711200"/>
              </a:xfrm>
              <a:prstGeom prst="rect">
                <a:avLst/>
              </a:prstGeom>
              <a:ln w="38100">
                <a:solidFill>
                  <a:srgbClr val="C76765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400" b="1">
                    <a:solidFill>
                      <a:srgbClr val="002060"/>
                    </a:solidFill>
                  </a:defRPr>
                </a:lvl1pPr>
                <a:lvl2pPr marL="714375" indent="-352425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IN" dirty="0"/>
                  <a:t>Curve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D2EDDBF6-C168-C034-B64F-87AAF9BB1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491" y="5784561"/>
                <a:ext cx="1412119" cy="711200"/>
              </a:xfrm>
              <a:prstGeom prst="rect">
                <a:avLst/>
              </a:prstGeom>
              <a:blipFill>
                <a:blip r:embed="rId12"/>
                <a:stretch>
                  <a:fillRect l="-5042"/>
                </a:stretch>
              </a:blipFill>
              <a:ln w="38100">
                <a:solidFill>
                  <a:srgbClr val="C7676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228206EF-11FA-ED82-D8E6-87B45A41AB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28546" y="2770561"/>
                <a:ext cx="1425033" cy="711194"/>
              </a:xfrm>
              <a:prstGeom prst="wedgeRectCallout">
                <a:avLst>
                  <a:gd name="adj1" fmla="val -82643"/>
                  <a:gd name="adj2" fmla="val 11364"/>
                </a:avLst>
              </a:prstGeom>
              <a:ln w="38100">
                <a:solidFill>
                  <a:srgbClr val="C76765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sz="2400" b="1" dirty="0"/>
                  <a:t>Curve </a:t>
                </a:r>
                <a14:m>
                  <m:oMath xmlns:m="http://schemas.openxmlformats.org/officeDocument/2006/math"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8" name="Content Placeholder 4">
                <a:extLst>
                  <a:ext uri="{FF2B5EF4-FFF2-40B4-BE49-F238E27FC236}">
                    <a16:creationId xmlns:a16="http://schemas.microsoft.com/office/drawing/2014/main" id="{228206EF-11FA-ED82-D8E6-87B45A41A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546" y="2770561"/>
                <a:ext cx="1425033" cy="711194"/>
              </a:xfrm>
              <a:prstGeom prst="wedgeRectCallout">
                <a:avLst>
                  <a:gd name="adj1" fmla="val -82643"/>
                  <a:gd name="adj2" fmla="val 11364"/>
                </a:avLst>
              </a:prstGeom>
              <a:blipFill>
                <a:blip r:embed="rId13"/>
                <a:stretch>
                  <a:fillRect/>
                </a:stretch>
              </a:blipFill>
              <a:ln w="38100">
                <a:solidFill>
                  <a:srgbClr val="C7676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68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4" grpId="0" animBg="1"/>
      <p:bldP spid="12" grpId="0" build="allAtOnce"/>
      <p:bldP spid="20" grpId="0" build="allAtOnce"/>
      <p:bldP spid="29" grpId="0" build="allAtOnce"/>
      <p:bldP spid="30" grpId="0" build="allAtOnce" animBg="1"/>
      <p:bldP spid="31" grpId="0" build="allAtOnce"/>
      <p:bldP spid="32" grpId="0" build="allAtOnce"/>
      <p:bldP spid="33" grpId="0" build="allAtOnce"/>
      <p:bldP spid="34" grpId="0" build="allAtOnce"/>
      <p:bldP spid="37" grpId="0" build="allAtOnce" animBg="1"/>
      <p:bldP spid="38" grpId="0" build="allAtOnce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C9F9-9950-882A-EFBC-84566615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028C-E421-98D3-D180-ECF5DE389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EF9D331-4DA3-194E-91A8-B9552B2468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799899"/>
                <a:ext cx="4600590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EF9D331-4DA3-194E-91A8-B9552B246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799899"/>
                <a:ext cx="4600590" cy="9302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94C446-E7AE-3FFF-D56D-60E2CB8FBC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9906" y="513410"/>
                <a:ext cx="3138939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 i="0" dirty="0" smtClean="0"/>
                        <m:t>; </m:t>
                      </m:r>
                      <m:r>
                        <m:rPr>
                          <m:nor/>
                        </m:rPr>
                        <a:rPr lang="en-IN" dirty="0" smtClean="0"/>
                        <m:t>where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94C446-E7AE-3FFF-D56D-60E2CB8FB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906" y="513410"/>
                <a:ext cx="3138939" cy="12166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50557050-6A7E-903D-0459-4E6E6DCAF215}"/>
              </a:ext>
            </a:extLst>
          </p:cNvPr>
          <p:cNvGrpSpPr/>
          <p:nvPr/>
        </p:nvGrpSpPr>
        <p:grpSpPr>
          <a:xfrm>
            <a:off x="249382" y="3804317"/>
            <a:ext cx="11857936" cy="2647165"/>
            <a:chOff x="200891" y="3039357"/>
            <a:chExt cx="13520481" cy="3609265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554EB20-C2E9-72AF-83F8-A2277F4D08CC}"/>
                </a:ext>
              </a:extLst>
            </p:cNvPr>
            <p:cNvSpPr/>
            <p:nvPr/>
          </p:nvSpPr>
          <p:spPr>
            <a:xfrm>
              <a:off x="5364455" y="3084224"/>
              <a:ext cx="1371560" cy="3035068"/>
            </a:xfrm>
            <a:custGeom>
              <a:avLst/>
              <a:gdLst>
                <a:gd name="csX0" fmla="*/ 1371560 w 1371560"/>
                <a:gd name="csY0" fmla="*/ 0 h 3035068"/>
                <a:gd name="csX1" fmla="*/ 1371560 w 1371560"/>
                <a:gd name="csY1" fmla="*/ 3035068 h 3035068"/>
                <a:gd name="csX2" fmla="*/ 0 w 1371560"/>
                <a:gd name="csY2" fmla="*/ 3035068 h 3035068"/>
                <a:gd name="csX3" fmla="*/ 0 w 1371560"/>
                <a:gd name="csY3" fmla="*/ 2498713 h 3035068"/>
                <a:gd name="csX4" fmla="*/ 54810 w 1371560"/>
                <a:gd name="csY4" fmla="*/ 2414940 h 3035068"/>
                <a:gd name="csX5" fmla="*/ 194826 w 1371560"/>
                <a:gd name="csY5" fmla="*/ 2151399 h 3035068"/>
                <a:gd name="csX6" fmla="*/ 1361764 w 1371560"/>
                <a:gd name="csY6" fmla="*/ 1068 h 3035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71560" h="3035068">
                  <a:moveTo>
                    <a:pt x="1371560" y="0"/>
                  </a:moveTo>
                  <a:lnTo>
                    <a:pt x="1371560" y="3035068"/>
                  </a:lnTo>
                  <a:lnTo>
                    <a:pt x="0" y="3035068"/>
                  </a:lnTo>
                  <a:lnTo>
                    <a:pt x="0" y="2498713"/>
                  </a:lnTo>
                  <a:lnTo>
                    <a:pt x="54810" y="2414940"/>
                  </a:lnTo>
                  <a:cubicBezTo>
                    <a:pt x="103004" y="2335253"/>
                    <a:pt x="149303" y="2246932"/>
                    <a:pt x="194826" y="2151399"/>
                  </a:cubicBezTo>
                  <a:cubicBezTo>
                    <a:pt x="396431" y="1728324"/>
                    <a:pt x="897973" y="101663"/>
                    <a:pt x="1361764" y="1068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B7296F5-F52C-DE57-BB8E-B4C8C94D5C30}"/>
                </a:ext>
              </a:extLst>
            </p:cNvPr>
            <p:cNvSpPr/>
            <p:nvPr/>
          </p:nvSpPr>
          <p:spPr>
            <a:xfrm>
              <a:off x="11328958" y="3075539"/>
              <a:ext cx="2009125" cy="3030069"/>
            </a:xfrm>
            <a:custGeom>
              <a:avLst/>
              <a:gdLst>
                <a:gd name="csX0" fmla="*/ 0 w 2009125"/>
                <a:gd name="csY0" fmla="*/ 0 h 3030069"/>
                <a:gd name="csX1" fmla="*/ 27300 w 2009125"/>
                <a:gd name="csY1" fmla="*/ 3062 h 3030069"/>
                <a:gd name="csX2" fmla="*/ 1225951 w 2009125"/>
                <a:gd name="csY2" fmla="*/ 2157581 h 3030069"/>
                <a:gd name="csX3" fmla="*/ 1882290 w 2009125"/>
                <a:gd name="csY3" fmla="*/ 2863471 h 3030069"/>
                <a:gd name="csX4" fmla="*/ 2009117 w 2009125"/>
                <a:gd name="csY4" fmla="*/ 2878716 h 3030069"/>
                <a:gd name="csX5" fmla="*/ 2009125 w 2009125"/>
                <a:gd name="csY5" fmla="*/ 2878716 h 3030069"/>
                <a:gd name="csX6" fmla="*/ 2009125 w 2009125"/>
                <a:gd name="csY6" fmla="*/ 2878717 h 3030069"/>
                <a:gd name="csX7" fmla="*/ 2009125 w 2009125"/>
                <a:gd name="csY7" fmla="*/ 3030069 h 3030069"/>
                <a:gd name="csX8" fmla="*/ 0 w 2009125"/>
                <a:gd name="csY8" fmla="*/ 3030069 h 30300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09125" h="3030069">
                  <a:moveTo>
                    <a:pt x="0" y="0"/>
                  </a:moveTo>
                  <a:lnTo>
                    <a:pt x="27300" y="3062"/>
                  </a:lnTo>
                  <a:cubicBezTo>
                    <a:pt x="493169" y="105388"/>
                    <a:pt x="1027908" y="1738608"/>
                    <a:pt x="1225951" y="2157581"/>
                  </a:cubicBezTo>
                  <a:cubicBezTo>
                    <a:pt x="1404827" y="2536009"/>
                    <a:pt x="1599440" y="2798977"/>
                    <a:pt x="1882290" y="2863471"/>
                  </a:cubicBezTo>
                  <a:lnTo>
                    <a:pt x="2009117" y="2878716"/>
                  </a:lnTo>
                  <a:lnTo>
                    <a:pt x="2009125" y="2878716"/>
                  </a:lnTo>
                  <a:lnTo>
                    <a:pt x="2009125" y="2878717"/>
                  </a:lnTo>
                  <a:lnTo>
                    <a:pt x="2009125" y="3030069"/>
                  </a:lnTo>
                  <a:lnTo>
                    <a:pt x="0" y="3030069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74EC52-F7D0-D129-1EBE-C0ACD9C76079}"/>
                </a:ext>
              </a:extLst>
            </p:cNvPr>
            <p:cNvSpPr/>
            <p:nvPr/>
          </p:nvSpPr>
          <p:spPr>
            <a:xfrm>
              <a:off x="769390" y="3039357"/>
              <a:ext cx="3449780" cy="3038881"/>
            </a:xfrm>
            <a:custGeom>
              <a:avLst/>
              <a:gdLst>
                <a:gd name="csX0" fmla="*/ 1433678 w 3460359"/>
                <a:gd name="csY0" fmla="*/ 1 h 3038881"/>
                <a:gd name="csX1" fmla="*/ 2677185 w 3460359"/>
                <a:gd name="csY1" fmla="*/ 2159551 h 3038881"/>
                <a:gd name="csX2" fmla="*/ 3333524 w 3460359"/>
                <a:gd name="csY2" fmla="*/ 2865441 h 3038881"/>
                <a:gd name="csX3" fmla="*/ 3460351 w 3460359"/>
                <a:gd name="csY3" fmla="*/ 2880686 h 3038881"/>
                <a:gd name="csX4" fmla="*/ 3460359 w 3460359"/>
                <a:gd name="csY4" fmla="*/ 2880686 h 3038881"/>
                <a:gd name="csX5" fmla="*/ 3460359 w 3460359"/>
                <a:gd name="csY5" fmla="*/ 2880687 h 3038881"/>
                <a:gd name="csX6" fmla="*/ 3460359 w 3460359"/>
                <a:gd name="csY6" fmla="*/ 3038881 h 3038881"/>
                <a:gd name="csX7" fmla="*/ 0 w 3460359"/>
                <a:gd name="csY7" fmla="*/ 3038881 h 3038881"/>
                <a:gd name="csX8" fmla="*/ 0 w 3460359"/>
                <a:gd name="csY8" fmla="*/ 2541983 h 3038881"/>
                <a:gd name="csX9" fmla="*/ 8118 w 3460359"/>
                <a:gd name="csY9" fmla="*/ 2531631 h 3038881"/>
                <a:gd name="csX10" fmla="*/ 221987 w 3460359"/>
                <a:gd name="csY10" fmla="*/ 2155212 h 3038881"/>
                <a:gd name="csX11" fmla="*/ 1433678 w 3460359"/>
                <a:gd name="csY11" fmla="*/ 1 h 3038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460359" h="3038881">
                  <a:moveTo>
                    <a:pt x="1433678" y="1"/>
                  </a:moveTo>
                  <a:cubicBezTo>
                    <a:pt x="1909553" y="725"/>
                    <a:pt x="2472754" y="1727062"/>
                    <a:pt x="2677185" y="2159551"/>
                  </a:cubicBezTo>
                  <a:cubicBezTo>
                    <a:pt x="2856061" y="2537979"/>
                    <a:pt x="3050674" y="2800947"/>
                    <a:pt x="3333524" y="2865441"/>
                  </a:cubicBezTo>
                  <a:lnTo>
                    <a:pt x="3460351" y="2880686"/>
                  </a:lnTo>
                  <a:lnTo>
                    <a:pt x="3460359" y="2880686"/>
                  </a:lnTo>
                  <a:lnTo>
                    <a:pt x="3460359" y="2880687"/>
                  </a:lnTo>
                  <a:lnTo>
                    <a:pt x="3460359" y="3038881"/>
                  </a:lnTo>
                  <a:lnTo>
                    <a:pt x="0" y="3038881"/>
                  </a:lnTo>
                  <a:lnTo>
                    <a:pt x="0" y="2541983"/>
                  </a:lnTo>
                  <a:lnTo>
                    <a:pt x="8118" y="2531631"/>
                  </a:lnTo>
                  <a:cubicBezTo>
                    <a:pt x="83672" y="2425583"/>
                    <a:pt x="153702" y="2298512"/>
                    <a:pt x="221987" y="2155212"/>
                  </a:cubicBezTo>
                  <a:cubicBezTo>
                    <a:pt x="430095" y="1718489"/>
                    <a:pt x="957803" y="-722"/>
                    <a:pt x="1433678" y="1"/>
                  </a:cubicBez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C128312-6F25-BBE5-D7E5-CB6501598881}"/>
                </a:ext>
              </a:extLst>
            </p:cNvPr>
            <p:cNvCxnSpPr>
              <a:cxnSpLocks/>
            </p:cNvCxnSpPr>
            <p:nvPr/>
          </p:nvCxnSpPr>
          <p:spPr>
            <a:xfrm>
              <a:off x="2180415" y="3058893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52F5A85-BB39-F60B-84EB-E23A80A413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388" y="5600108"/>
              <a:ext cx="0" cy="4918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C5B040F-17F2-D25B-26CB-3D3B342B660A}"/>
                </a:ext>
              </a:extLst>
            </p:cNvPr>
            <p:cNvSpPr/>
            <p:nvPr/>
          </p:nvSpPr>
          <p:spPr>
            <a:xfrm>
              <a:off x="200891" y="3053041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7DCF0CF-BA88-7ADB-C76A-8654DF0AEBA6}"/>
                </a:ext>
              </a:extLst>
            </p:cNvPr>
            <p:cNvCxnSpPr>
              <a:cxnSpLocks/>
            </p:cNvCxnSpPr>
            <p:nvPr/>
          </p:nvCxnSpPr>
          <p:spPr>
            <a:xfrm>
              <a:off x="200891" y="6091923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ontent Placeholder 2">
                  <a:extLst>
                    <a:ext uri="{FF2B5EF4-FFF2-40B4-BE49-F238E27FC236}">
                      <a16:creationId xmlns:a16="http://schemas.microsoft.com/office/drawing/2014/main" id="{AF255103-9E06-256A-5DE1-F05F4E20BD3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0735" y="6080364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Content Placeholder 2">
                  <a:extLst>
                    <a:ext uri="{FF2B5EF4-FFF2-40B4-BE49-F238E27FC236}">
                      <a16:creationId xmlns:a16="http://schemas.microsoft.com/office/drawing/2014/main" id="{AF255103-9E06-256A-5DE1-F05F4E20B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735" y="6080364"/>
                  <a:ext cx="657306" cy="480131"/>
                </a:xfrm>
                <a:prstGeom prst="rect">
                  <a:avLst/>
                </a:prstGeom>
                <a:blipFill>
                  <a:blip r:embed="rId4"/>
                  <a:stretch>
                    <a:fillRect b="-206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6A2087D4-4784-329E-7BCD-A3675D9E3F5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67394" y="6117168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6A2087D4-4784-329E-7BCD-A3675D9E3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7394" y="6117168"/>
                  <a:ext cx="657306" cy="480131"/>
                </a:xfrm>
                <a:prstGeom prst="rect">
                  <a:avLst/>
                </a:prstGeom>
                <a:blipFill>
                  <a:blip r:embed="rId5"/>
                  <a:stretch>
                    <a:fillRect b="-17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EB396AD1-DD6E-21E7-6208-5BB512A0077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46111" y="6099048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EB396AD1-DD6E-21E7-6208-5BB512A00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111" y="6099048"/>
                  <a:ext cx="657306" cy="4801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ontent Placeholder 2">
                  <a:extLst>
                    <a:ext uri="{FF2B5EF4-FFF2-40B4-BE49-F238E27FC236}">
                      <a16:creationId xmlns:a16="http://schemas.microsoft.com/office/drawing/2014/main" id="{203F5371-01B3-2FB7-E86A-CE9E367C77C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122069" y="4335342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" name="Content Placeholder 2">
                  <a:extLst>
                    <a:ext uri="{FF2B5EF4-FFF2-40B4-BE49-F238E27FC236}">
                      <a16:creationId xmlns:a16="http://schemas.microsoft.com/office/drawing/2014/main" id="{203F5371-01B3-2FB7-E86A-CE9E367C7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2069" y="4335342"/>
                  <a:ext cx="657306" cy="4801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50046A0-ACD8-78F5-B5F9-C626C3DC1B09}"/>
                </a:ext>
              </a:extLst>
            </p:cNvPr>
            <p:cNvCxnSpPr>
              <a:cxnSpLocks/>
            </p:cNvCxnSpPr>
            <p:nvPr/>
          </p:nvCxnSpPr>
          <p:spPr>
            <a:xfrm>
              <a:off x="6767190" y="3072578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8F1134-E3D6-7AA6-E116-DC9ADDA574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6163" y="5613793"/>
              <a:ext cx="0" cy="4918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36722AF-9BCC-26BC-EB1B-143DF28BD5FD}"/>
                </a:ext>
              </a:extLst>
            </p:cNvPr>
            <p:cNvSpPr/>
            <p:nvPr/>
          </p:nvSpPr>
          <p:spPr>
            <a:xfrm>
              <a:off x="4787666" y="3066726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C7C0B1-7A53-7CB1-C752-237F31B7EEAF}"/>
                </a:ext>
              </a:extLst>
            </p:cNvPr>
            <p:cNvCxnSpPr>
              <a:cxnSpLocks/>
            </p:cNvCxnSpPr>
            <p:nvPr/>
          </p:nvCxnSpPr>
          <p:spPr>
            <a:xfrm>
              <a:off x="4787666" y="6105608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ontent Placeholder 2">
                  <a:extLst>
                    <a:ext uri="{FF2B5EF4-FFF2-40B4-BE49-F238E27FC236}">
                      <a16:creationId xmlns:a16="http://schemas.microsoft.com/office/drawing/2014/main" id="{E52E82A7-1165-6962-1ACA-F2221B0200E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027510" y="6094049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1" name="Content Placeholder 2">
                  <a:extLst>
                    <a:ext uri="{FF2B5EF4-FFF2-40B4-BE49-F238E27FC236}">
                      <a16:creationId xmlns:a16="http://schemas.microsoft.com/office/drawing/2014/main" id="{E52E82A7-1165-6962-1ACA-F2221B020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7510" y="6094049"/>
                  <a:ext cx="657306" cy="480131"/>
                </a:xfrm>
                <a:prstGeom prst="rect">
                  <a:avLst/>
                </a:prstGeom>
                <a:blipFill>
                  <a:blip r:embed="rId8"/>
                  <a:stretch>
                    <a:fillRect b="-2280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ontent Placeholder 2">
                  <a:extLst>
                    <a:ext uri="{FF2B5EF4-FFF2-40B4-BE49-F238E27FC236}">
                      <a16:creationId xmlns:a16="http://schemas.microsoft.com/office/drawing/2014/main" id="{67CEC8F8-2987-1EA7-8A16-77503BE3560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468152" y="612310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Content Placeholder 2">
                  <a:extLst>
                    <a:ext uri="{FF2B5EF4-FFF2-40B4-BE49-F238E27FC236}">
                      <a16:creationId xmlns:a16="http://schemas.microsoft.com/office/drawing/2014/main" id="{67CEC8F8-2987-1EA7-8A16-77503BE356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8152" y="6123106"/>
                  <a:ext cx="657306" cy="480131"/>
                </a:xfrm>
                <a:prstGeom prst="rect">
                  <a:avLst/>
                </a:prstGeom>
                <a:blipFill>
                  <a:blip r:embed="rId9"/>
                  <a:stretch>
                    <a:fillRect b="-17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1D0C90-DF10-BD25-1AFD-C939E53B5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299343" y="3086263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2FAA021-5575-EE5B-5DB1-C6D4C2FA66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8316" y="5627478"/>
              <a:ext cx="0" cy="4918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989630B-4943-DAED-A044-436900CB517F}"/>
                </a:ext>
              </a:extLst>
            </p:cNvPr>
            <p:cNvSpPr/>
            <p:nvPr/>
          </p:nvSpPr>
          <p:spPr>
            <a:xfrm>
              <a:off x="9319819" y="3080411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ED8FD9-0BE4-DB3F-9A4E-08E3E4999B8E}"/>
                </a:ext>
              </a:extLst>
            </p:cNvPr>
            <p:cNvCxnSpPr>
              <a:cxnSpLocks/>
            </p:cNvCxnSpPr>
            <p:nvPr/>
          </p:nvCxnSpPr>
          <p:spPr>
            <a:xfrm>
              <a:off x="9319819" y="6119293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C38DD2E8-28A2-3559-1AEB-5C74F63FD76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559663" y="6107734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C38DD2E8-28A2-3559-1AEB-5C74F63FD7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9663" y="6107734"/>
                  <a:ext cx="657306" cy="480131"/>
                </a:xfrm>
                <a:prstGeom prst="rect">
                  <a:avLst/>
                </a:prstGeom>
                <a:blipFill>
                  <a:blip r:embed="rId10"/>
                  <a:stretch>
                    <a:fillRect b="-206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7ADEE5C8-6725-1B05-9930-168807C0D74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000305" y="6168491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Content Placeholder 2">
                  <a:extLst>
                    <a:ext uri="{FF2B5EF4-FFF2-40B4-BE49-F238E27FC236}">
                      <a16:creationId xmlns:a16="http://schemas.microsoft.com/office/drawing/2014/main" id="{7ADEE5C8-6725-1B05-9930-168807C0D7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0305" y="6168491"/>
                  <a:ext cx="657306" cy="480131"/>
                </a:xfrm>
                <a:prstGeom prst="rect">
                  <a:avLst/>
                </a:prstGeom>
                <a:blipFill>
                  <a:blip r:embed="rId11"/>
                  <a:stretch>
                    <a:fillRect b="-175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ontent Placeholder 2">
                  <a:extLst>
                    <a:ext uri="{FF2B5EF4-FFF2-40B4-BE49-F238E27FC236}">
                      <a16:creationId xmlns:a16="http://schemas.microsoft.com/office/drawing/2014/main" id="{5B246BA9-BFE7-D3FE-EFDD-2E73DE8A9ED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477285" y="6117168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7" name="Content Placeholder 2">
                  <a:extLst>
                    <a:ext uri="{FF2B5EF4-FFF2-40B4-BE49-F238E27FC236}">
                      <a16:creationId xmlns:a16="http://schemas.microsoft.com/office/drawing/2014/main" id="{5B246BA9-BFE7-D3FE-EFDD-2E73DE8A9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7285" y="6117168"/>
                  <a:ext cx="657306" cy="4801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ontent Placeholder 2">
                  <a:extLst>
                    <a:ext uri="{FF2B5EF4-FFF2-40B4-BE49-F238E27FC236}">
                      <a16:creationId xmlns:a16="http://schemas.microsoft.com/office/drawing/2014/main" id="{D8F5C753-340A-ECFE-CEAB-ADF746A73D4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064066" y="6094048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" name="Content Placeholder 2">
                  <a:extLst>
                    <a:ext uri="{FF2B5EF4-FFF2-40B4-BE49-F238E27FC236}">
                      <a16:creationId xmlns:a16="http://schemas.microsoft.com/office/drawing/2014/main" id="{D8F5C753-340A-ECFE-CEAB-ADF746A73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64066" y="6094048"/>
                  <a:ext cx="657306" cy="4801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1E1C55B2-9977-AFB4-7C8D-7913CC3316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1855214"/>
                <a:ext cx="6772293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1E1C55B2-9977-AFB4-7C8D-7913CC331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1855214"/>
                <a:ext cx="6772293" cy="93020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6ED3ACA2-FFBB-CD41-3801-3C8B02660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79" y="2839802"/>
                <a:ext cx="6772293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6ED3ACA2-FFBB-CD41-3801-3C8B02660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79" y="2839802"/>
                <a:ext cx="6772293" cy="93020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496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7B52B-861E-BEFF-9A5F-FABABE1E9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4E12-5523-4F5D-D280-5C24377F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F9EFB9E-87C5-BC0D-2D87-BBE4338434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799899"/>
                <a:ext cx="4600590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F9EFB9E-87C5-BC0D-2D87-BBE433843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799899"/>
                <a:ext cx="4600590" cy="9302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D5D1075-E289-50C7-DE70-C0F244426D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9906" y="513410"/>
                <a:ext cx="3138939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 i="0" dirty="0" smtClean="0"/>
                        <m:t>; </m:t>
                      </m:r>
                      <m:r>
                        <m:rPr>
                          <m:nor/>
                        </m:rPr>
                        <a:rPr lang="en-IN" dirty="0" smtClean="0"/>
                        <m:t>where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D5D1075-E289-50C7-DE70-C0F244426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906" y="513410"/>
                <a:ext cx="3138939" cy="12166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EE3949F7-C114-6EB4-CFFF-FEF90EB2F1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1855214"/>
                <a:ext cx="6772293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Content Placeholder 4">
                <a:extLst>
                  <a:ext uri="{FF2B5EF4-FFF2-40B4-BE49-F238E27FC236}">
                    <a16:creationId xmlns:a16="http://schemas.microsoft.com/office/drawing/2014/main" id="{EE3949F7-C114-6EB4-CFFF-FEF90EB2F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1855214"/>
                <a:ext cx="6772293" cy="9302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2E618345-8973-8ABE-312D-A408ADFC8A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2839802"/>
                <a:ext cx="6159230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Content Placeholder 4">
                <a:extLst>
                  <a:ext uri="{FF2B5EF4-FFF2-40B4-BE49-F238E27FC236}">
                    <a16:creationId xmlns:a16="http://schemas.microsoft.com/office/drawing/2014/main" id="{2E618345-8973-8ABE-312D-A408ADFC8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2839802"/>
                <a:ext cx="6159230" cy="9302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093C829C-2173-6A20-305C-9F0B8F7237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79" y="3858702"/>
                <a:ext cx="5979121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=0.95−0.5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093C829C-2173-6A20-305C-9F0B8F723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79" y="3858702"/>
                <a:ext cx="5979121" cy="9302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A5EE21DE-A175-C498-BE02-0A87B0A97B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4877602"/>
                <a:ext cx="5203266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A5EE21DE-A175-C498-BE02-0A87B0A97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4877602"/>
                <a:ext cx="5203266" cy="9302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CAF13CD3-FAC7-C40A-B3A4-B06F08446F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79" y="5717370"/>
                <a:ext cx="5857894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b="0" dirty="0"/>
                  <a:t>Given that,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&lt;1.65</m:t>
                        </m:r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=0.4505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CAF13CD3-FAC7-C40A-B3A4-B06F08446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79" y="5717370"/>
                <a:ext cx="5857894" cy="930202"/>
              </a:xfrm>
              <a:prstGeom prst="rect">
                <a:avLst/>
              </a:prstGeom>
              <a:blipFill>
                <a:blip r:embed="rId8"/>
                <a:stretch>
                  <a:fillRect l="-2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DE3254BF-BBB4-F27E-5535-17C895DAC8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97243" y="5717370"/>
                <a:ext cx="1206230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DE3254BF-BBB4-F27E-5535-17C895DAC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7243" y="5717370"/>
                <a:ext cx="1206230" cy="711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097F32-8740-1997-2719-5FB08C1CD1CE}"/>
              </a:ext>
            </a:extLst>
          </p:cNvPr>
          <p:cNvCxnSpPr>
            <a:cxnSpLocks/>
          </p:cNvCxnSpPr>
          <p:nvPr/>
        </p:nvCxnSpPr>
        <p:spPr>
          <a:xfrm flipV="1">
            <a:off x="3925594" y="5288619"/>
            <a:ext cx="140365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C952372E-058C-1653-27BE-54C8DA84CC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20146" y="4877602"/>
                <a:ext cx="701829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C952372E-058C-1653-27BE-54C8DA84C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46" y="4877602"/>
                <a:ext cx="701829" cy="93020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66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  <p:bldP spid="16" grpId="0"/>
      <p:bldP spid="20" grpId="0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EED20-BA58-5FDC-4C98-5C7F6CA1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47A9-CAD7-A831-12B2-87B624AE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0C940651-AF73-2520-2B09-A0E584C08B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661" y="711201"/>
                <a:ext cx="4454237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0C940651-AF73-2520-2B09-A0E584C08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61" y="711201"/>
                <a:ext cx="4454237" cy="9302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24885764-4E28-8539-6878-A0B3CA4B06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661" y="1550969"/>
                <a:ext cx="5857894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b="0" dirty="0"/>
                  <a:t>Given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&lt;1.65</m:t>
                        </m:r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=0.4505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24885764-4E28-8539-6878-A0B3CA4B0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61" y="1550969"/>
                <a:ext cx="5857894" cy="930202"/>
              </a:xfrm>
              <a:prstGeom prst="rect">
                <a:avLst/>
              </a:prstGeom>
              <a:blipFill>
                <a:blip r:embed="rId3"/>
                <a:stretch>
                  <a:fillRect l="-21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9348A829-6364-EF9C-A78B-7C1D1AECD5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14114" y="1550969"/>
                <a:ext cx="1403657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9348A829-6364-EF9C-A78B-7C1D1AECD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114" y="1550969"/>
                <a:ext cx="1403657" cy="711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7343979-978D-0AC6-E18C-A529A90B0F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0427" y="2390737"/>
                <a:ext cx="4457700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−1.65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7343979-978D-0AC6-E18C-A529A90B0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427" y="2390737"/>
                <a:ext cx="4457700" cy="9302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0AAD947-605E-8BB1-A2A6-89D7E6DB6300}"/>
              </a:ext>
            </a:extLst>
          </p:cNvPr>
          <p:cNvCxnSpPr>
            <a:cxnSpLocks/>
          </p:cNvCxnSpPr>
          <p:nvPr/>
        </p:nvCxnSpPr>
        <p:spPr>
          <a:xfrm flipV="1">
            <a:off x="3989226" y="1122218"/>
            <a:ext cx="140365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7DE5A5A6-841C-24E2-7BEC-D65EFC40B5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83778" y="711201"/>
                <a:ext cx="701829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7DE5A5A6-841C-24E2-7BEC-D65EFC40B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778" y="711201"/>
                <a:ext cx="701829" cy="9302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9976C0-869E-1714-7DA2-7CABB54EC54D}"/>
              </a:ext>
            </a:extLst>
          </p:cNvPr>
          <p:cNvCxnSpPr>
            <a:cxnSpLocks/>
          </p:cNvCxnSpPr>
          <p:nvPr/>
        </p:nvCxnSpPr>
        <p:spPr>
          <a:xfrm flipV="1">
            <a:off x="5803769" y="2801754"/>
            <a:ext cx="140365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BDBE631F-77F6-D831-0020-FB31C01FC3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98321" y="2390737"/>
                <a:ext cx="701829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BDBE631F-77F6-D831-0020-FB31C01FC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321" y="2390737"/>
                <a:ext cx="701829" cy="9302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11C0A43C-AE8F-3A4B-E3CE-827AB5B3EF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661" y="3140071"/>
                <a:ext cx="5857894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dirty="0"/>
                  <a:t>Comparing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12" name="Content Placeholder 4">
                <a:extLst>
                  <a:ext uri="{FF2B5EF4-FFF2-40B4-BE49-F238E27FC236}">
                    <a16:creationId xmlns:a16="http://schemas.microsoft.com/office/drawing/2014/main" id="{11C0A43C-AE8F-3A4B-E3CE-827AB5B3E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61" y="3140071"/>
                <a:ext cx="5857894" cy="930202"/>
              </a:xfrm>
              <a:prstGeom prst="rect">
                <a:avLst/>
              </a:prstGeom>
              <a:blipFill>
                <a:blip r:embed="rId8"/>
                <a:stretch>
                  <a:fillRect l="-21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1129C040-6B5B-2096-6147-26D214866A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5629" y="3943488"/>
                <a:ext cx="2023648" cy="8675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=−1.65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1129C040-6B5B-2096-6147-26D214866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629" y="3943488"/>
                <a:ext cx="2023648" cy="86750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837A040B-E85C-0FAF-CF03-76D1F73C48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928" y="4729173"/>
                <a:ext cx="2901680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 i="0" smtClean="0"/>
                        <m:t>Now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837A040B-E85C-0FAF-CF03-76D1F73C4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28" y="4729173"/>
                <a:ext cx="2901680" cy="121669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71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 build="allAtOnce"/>
      <p:bldP spid="12" grpId="0" build="allAtOnce"/>
      <p:bldP spid="14" grpId="0" build="allAtOnce"/>
      <p:bldP spid="18" grpId="0" build="allAtOnce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AF768-020C-D678-8E0A-3B799256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B5BC-16EF-EDDC-CDC1-233F39AC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9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0E349FB-3CEE-7B98-BE8D-74DC5E154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583" y="620239"/>
                <a:ext cx="2901680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mtClean="0">
                          <a:solidFill>
                            <a:srgbClr val="002060"/>
                          </a:solidFill>
                        </a:rPr>
                        <m:t>Now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E0E349FB-3CEE-7B98-BE8D-74DC5E154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3" y="620239"/>
                <a:ext cx="2901680" cy="12166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E9251B1-58C2-C13D-7FD6-F4C696DA3B8A}"/>
                  </a:ext>
                </a:extLst>
              </p:cNvPr>
              <p:cNvSpPr/>
              <p:nvPr/>
            </p:nvSpPr>
            <p:spPr>
              <a:xfrm>
                <a:off x="9756600" y="907370"/>
                <a:ext cx="2332815" cy="672047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𝟔𝟎𝟎𝟎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E9251B1-58C2-C13D-7FD6-F4C696DA3B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600" y="907370"/>
                <a:ext cx="2332815" cy="6720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31012B-A44F-34A2-B9F3-46D3B6D69E93}"/>
                  </a:ext>
                </a:extLst>
              </p:cNvPr>
              <p:cNvSpPr/>
              <p:nvPr/>
            </p:nvSpPr>
            <p:spPr>
              <a:xfrm>
                <a:off x="9756601" y="1723499"/>
                <a:ext cx="2332816" cy="6720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31012B-A44F-34A2-B9F3-46D3B6D69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601" y="1723499"/>
                <a:ext cx="2332816" cy="6720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A7F99194-1487-7885-3CCE-14D4056C26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9001" y="1803078"/>
                <a:ext cx="3586190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−6000</m:t>
                          </m:r>
                        </m:num>
                        <m:den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=−1.65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A7F99194-1487-7885-3CCE-14D4056C2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01" y="1803078"/>
                <a:ext cx="3586190" cy="12166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531647A-C2B0-BE11-FDF5-EDF3F43BCE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9001" y="3227405"/>
                <a:ext cx="5394208" cy="878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1.65</m:t>
                              </m:r>
                            </m:e>
                          </m:d>
                          <m:r>
                            <a:rPr lang="en-US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×100</m:t>
                          </m:r>
                        </m:e>
                      </m:d>
                      <m:r>
                        <a:rPr lang="en-US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+6000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531647A-C2B0-BE11-FDF5-EDF3F43BC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01" y="3227405"/>
                <a:ext cx="5394208" cy="8785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2A4274-9B82-F1B3-5404-AA4C58DD6C3D}"/>
                  </a:ext>
                </a:extLst>
              </p:cNvPr>
              <p:cNvSpPr/>
              <p:nvPr/>
            </p:nvSpPr>
            <p:spPr>
              <a:xfrm>
                <a:off x="9756600" y="2539627"/>
                <a:ext cx="2332816" cy="6720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2A4274-9B82-F1B3-5404-AA4C58DD6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600" y="2539627"/>
                <a:ext cx="2332816" cy="6720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A8DFC4D1-52FB-17AF-E3A2-E7345BD300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9001" y="4039184"/>
                <a:ext cx="3731663" cy="12634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5835 </m:t>
                      </m:r>
                      <m:f>
                        <m:fPr>
                          <m:type m:val="skw"/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kg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sSup>
                            <m:sSupPr>
                              <m:ctrlPr>
                                <a:rPr lang="en-IN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en-IN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A8DFC4D1-52FB-17AF-E3A2-E7345BD30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01" y="4039184"/>
                <a:ext cx="3731663" cy="12634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0384FCC-AF90-B0FA-74FA-13CC2701F0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583" y="4911749"/>
                <a:ext cx="11244290" cy="17104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Therefore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strength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b="0" i="0" smtClean="0">
                          <a:solidFill>
                            <a:schemeClr val="tx1"/>
                          </a:solidFill>
                        </a:rPr>
                        <m:t>value</m:t>
                      </m:r>
                      <m:r>
                        <m:rPr>
                          <m:nor/>
                        </m:rPr>
                        <a:rPr lang="en-IN" sz="2400" b="0" i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exceeded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by</m:t>
                      </m:r>
                      <m:r>
                        <a:rPr 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cement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samples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is</m:t>
                      </m:r>
                      <m:r>
                        <a:rPr 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5835</m:t>
                      </m:r>
                      <m:f>
                        <m:fPr>
                          <m:ctrlP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kg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cm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Only</m:t>
                      </m:r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5%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samples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have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strength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less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than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this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value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1"/>
                          </a:solidFill>
                        </a:rPr>
                        <m:t>.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E0384FCC-AF90-B0FA-74FA-13CC2701F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3" y="4911749"/>
                <a:ext cx="11244290" cy="1710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84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  <p:bldP spid="17" grpId="0" build="allAtOnce"/>
      <p:bldP spid="23" grpId="0" uiExpand="1" build="allAtOnce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17529" y="800840"/>
                <a:ext cx="11929643" cy="323002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dry battery cell tested &amp; found that average life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/>
                  <a:t> hours &amp; standard deviation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hours. Assuming data to be normally distributed what percentage of battery cells are expected to have life ,</a:t>
                </a:r>
                <a:endParaRPr lang="en-IN" dirty="0"/>
              </a:p>
              <a:p>
                <a:pPr marL="514350" indent="-514350">
                  <a:lnSpc>
                    <a:spcPct val="130000"/>
                  </a:lnSpc>
                  <a:buAutoNum type="alphaLcParenBoth"/>
                </a:pPr>
                <a:r>
                  <a:rPr lang="en-US" dirty="0"/>
                  <a:t>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hrs.?             (b)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hrs.?         (c)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en-US" dirty="0"/>
                  <a:t> hrs.? 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IN" sz="24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IN" sz="24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e>
                          </m:d>
                          <m: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=0.3413, </m:t>
                          </m:r>
                          <m:r>
                            <a:rPr lang="en-US" sz="24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&lt;2</m:t>
                              </m:r>
                            </m:e>
                          </m:d>
                          <m: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=0.477</m:t>
                          </m:r>
                          <m:r>
                            <a:rPr lang="en-US" sz="24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&lt;0.67</m:t>
                              </m:r>
                            </m:e>
                          </m:d>
                          <m: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=0.2486</m:t>
                          </m:r>
                          <m:r>
                            <a:rPr lang="en-IN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29" y="800840"/>
                <a:ext cx="11929643" cy="3230028"/>
              </a:xfrm>
              <a:prstGeom prst="rect">
                <a:avLst/>
              </a:prstGeom>
              <a:blipFill>
                <a:blip r:embed="rId2"/>
                <a:stretch>
                  <a:fillRect l="-1226" r="-10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17529" y="4252050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611949" y="4286012"/>
                <a:ext cx="1030935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life of a randomly selected dry battery cell in hours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49" y="4286012"/>
                <a:ext cx="10309358" cy="523220"/>
              </a:xfrm>
              <a:prstGeom prst="rect">
                <a:avLst/>
              </a:prstGeom>
              <a:blipFill>
                <a:blip r:embed="rId3"/>
                <a:stretch>
                  <a:fillRect l="-1182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11949" y="5723735"/>
                <a:ext cx="5520437" cy="66684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49" y="5723735"/>
                <a:ext cx="5520437" cy="666849"/>
              </a:xfrm>
              <a:prstGeom prst="rect">
                <a:avLst/>
              </a:prstGeom>
              <a:blipFill>
                <a:blip r:embed="rId4"/>
                <a:stretch>
                  <a:fillRect l="-220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4FCC1F2-2DD0-C56F-1D5B-7DC6A7FC0393}"/>
                  </a:ext>
                </a:extLst>
              </p:cNvPr>
              <p:cNvSpPr/>
              <p:nvPr/>
            </p:nvSpPr>
            <p:spPr>
              <a:xfrm>
                <a:off x="1611949" y="4942228"/>
                <a:ext cx="10309358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follows a normal distribution.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4FCC1F2-2DD0-C56F-1D5B-7DC6A7FC0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49" y="4942228"/>
                <a:ext cx="10309358" cy="665631"/>
              </a:xfrm>
              <a:prstGeom prst="rect">
                <a:avLst/>
              </a:prstGeom>
              <a:blipFill>
                <a:blip r:embed="rId5"/>
                <a:stretch>
                  <a:fillRect l="-118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54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938" y="841124"/>
                <a:ext cx="11998124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(a) Find the percentage of cells with life more than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hours</a:t>
                </a:r>
                <a:endParaRPr lang="en-IN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841124"/>
                <a:ext cx="11998124" cy="480131"/>
              </a:xfrm>
              <a:prstGeom prst="rect">
                <a:avLst/>
              </a:prstGeom>
              <a:blipFill>
                <a:blip r:embed="rId2"/>
                <a:stretch>
                  <a:fillRect l="-1067" t="-21519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249468" y="3168889"/>
                <a:ext cx="1692322" cy="62107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468" y="3168889"/>
                <a:ext cx="1692322" cy="621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10249469" y="4048301"/>
                <a:ext cx="1692322" cy="62107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469" y="4048301"/>
                <a:ext cx="1692322" cy="62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8909CAC-ECCF-95FC-F4A0-42265FEF1468}"/>
                  </a:ext>
                </a:extLst>
              </p:cNvPr>
              <p:cNvSpPr/>
              <p:nvPr/>
            </p:nvSpPr>
            <p:spPr>
              <a:xfrm>
                <a:off x="9393382" y="2188628"/>
                <a:ext cx="2548408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8909CAC-ECCF-95FC-F4A0-42265FEF14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3382" y="2188628"/>
                <a:ext cx="2548408" cy="6210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10D47A3-686E-DEAD-0D81-35D55C7A9B4B}"/>
              </a:ext>
            </a:extLst>
          </p:cNvPr>
          <p:cNvSpPr/>
          <p:nvPr/>
        </p:nvSpPr>
        <p:spPr>
          <a:xfrm>
            <a:off x="609606" y="1667109"/>
            <a:ext cx="73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C207746-A2E8-5A1A-0449-DFEF9B1680A9}"/>
                  </a:ext>
                </a:extLst>
              </p:cNvPr>
              <p:cNvSpPr/>
              <p:nvPr/>
            </p:nvSpPr>
            <p:spPr>
              <a:xfrm>
                <a:off x="1126727" y="1442518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C207746-A2E8-5A1A-0449-DFEF9B1680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727" y="1442518"/>
                <a:ext cx="1911100" cy="898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026FD04-F43D-07C5-D5A0-84D39A886BE6}"/>
                  </a:ext>
                </a:extLst>
              </p:cNvPr>
              <p:cNvSpPr/>
              <p:nvPr/>
            </p:nvSpPr>
            <p:spPr>
              <a:xfrm>
                <a:off x="609606" y="2599937"/>
                <a:ext cx="32454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&gt;15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026FD04-F43D-07C5-D5A0-84D39A886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6" y="2599937"/>
                <a:ext cx="3245421" cy="523220"/>
              </a:xfrm>
              <a:prstGeom prst="rect">
                <a:avLst/>
              </a:prstGeom>
              <a:blipFill>
                <a:blip r:embed="rId7"/>
                <a:stretch>
                  <a:fillRect l="-3759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7C7A94F-C0AE-FE54-D14A-07F02890DA3D}"/>
                  </a:ext>
                </a:extLst>
              </p:cNvPr>
              <p:cNvSpPr/>
              <p:nvPr/>
            </p:nvSpPr>
            <p:spPr>
              <a:xfrm>
                <a:off x="3037827" y="2341418"/>
                <a:ext cx="3739002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7C7A94F-C0AE-FE54-D14A-07F02890DA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827" y="2341418"/>
                <a:ext cx="3739002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CD54C56-6CA3-1AB2-2B24-8322CBF60432}"/>
                  </a:ext>
                </a:extLst>
              </p:cNvPr>
              <p:cNvSpPr/>
              <p:nvPr/>
            </p:nvSpPr>
            <p:spPr>
              <a:xfrm>
                <a:off x="3037827" y="3833945"/>
                <a:ext cx="3739002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CD54C56-6CA3-1AB2-2B24-8322CBF604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827" y="3833945"/>
                <a:ext cx="3739002" cy="1060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D8F06C6-6C99-688D-EF9B-17E842A8737D}"/>
                  </a:ext>
                </a:extLst>
              </p:cNvPr>
              <p:cNvSpPr/>
              <p:nvPr/>
            </p:nvSpPr>
            <p:spPr>
              <a:xfrm>
                <a:off x="3037827" y="5415482"/>
                <a:ext cx="373900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D8F06C6-6C99-688D-EF9B-17E842A87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827" y="5415482"/>
                <a:ext cx="373900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01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2" grpId="0"/>
      <p:bldP spid="13" grpId="0"/>
      <p:bldP spid="14" grpId="0"/>
      <p:bldP spid="15" grpId="0"/>
      <p:bldP spid="16" grpId="0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12E82-8F7D-8008-F809-E9A38952E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ADAA-0A64-DD63-C8F5-87FAD3F26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89618F-FB2F-BB34-506C-52E6A7ED56BF}"/>
                  </a:ext>
                </a:extLst>
              </p:cNvPr>
              <p:cNvSpPr/>
              <p:nvPr/>
            </p:nvSpPr>
            <p:spPr>
              <a:xfrm>
                <a:off x="2298209" y="2162168"/>
                <a:ext cx="439011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3413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89618F-FB2F-BB34-506C-52E6A7ED56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209" y="2162168"/>
                <a:ext cx="4390117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7488D-81A4-A808-91ED-D6D61FC5231C}"/>
                  </a:ext>
                </a:extLst>
              </p:cNvPr>
              <p:cNvSpPr/>
              <p:nvPr/>
            </p:nvSpPr>
            <p:spPr>
              <a:xfrm>
                <a:off x="644608" y="808240"/>
                <a:ext cx="60882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&gt;15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&gt;1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7488D-81A4-A808-91ED-D6D61FC523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08" y="808240"/>
                <a:ext cx="608821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EC27E0C-14CC-D7EB-B710-15A3B76348A4}"/>
                  </a:ext>
                </a:extLst>
              </p:cNvPr>
              <p:cNvSpPr/>
              <p:nvPr/>
            </p:nvSpPr>
            <p:spPr>
              <a:xfrm>
                <a:off x="2298209" y="1552990"/>
                <a:ext cx="670664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EC27E0C-14CC-D7EB-B710-15A3B76348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209" y="1552990"/>
                <a:ext cx="67066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9F3E32-0AB8-F96F-F3D5-E6CC0B50B570}"/>
                  </a:ext>
                </a:extLst>
              </p:cNvPr>
              <p:cNvSpPr/>
              <p:nvPr/>
            </p:nvSpPr>
            <p:spPr>
              <a:xfrm>
                <a:off x="243738" y="2921647"/>
                <a:ext cx="439011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&gt;15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1587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79F3E32-0AB8-F96F-F3D5-E6CC0B50B5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38" y="2921647"/>
                <a:ext cx="4390117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09F97EA-E25B-703E-AFB6-FE8161914CB5}"/>
              </a:ext>
            </a:extLst>
          </p:cNvPr>
          <p:cNvGrpSpPr/>
          <p:nvPr/>
        </p:nvGrpSpPr>
        <p:grpSpPr>
          <a:xfrm>
            <a:off x="243738" y="4393466"/>
            <a:ext cx="11392013" cy="2203335"/>
            <a:chOff x="488744" y="3956799"/>
            <a:chExt cx="11392013" cy="220333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D8F2418-F9F8-60BC-1AD9-0654B67C7D6A}"/>
                </a:ext>
              </a:extLst>
            </p:cNvPr>
            <p:cNvPicPr/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463"/>
            <a:stretch/>
          </p:blipFill>
          <p:spPr bwMode="auto">
            <a:xfrm flipH="1">
              <a:off x="488744" y="3956800"/>
              <a:ext cx="3425782" cy="1788239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C953120-8573-119D-9576-E15FE62B62B7}"/>
                </a:ext>
              </a:extLst>
            </p:cNvPr>
            <p:cNvPicPr/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507" r="36326"/>
            <a:stretch/>
          </p:blipFill>
          <p:spPr bwMode="auto">
            <a:xfrm flipH="1">
              <a:off x="4381899" y="3956799"/>
              <a:ext cx="3381516" cy="1788239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5120665-23EA-3934-8FD1-FD5EE7BBF3F2}"/>
                </a:ext>
              </a:extLst>
            </p:cNvPr>
            <p:cNvPicPr/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226"/>
            <a:stretch/>
          </p:blipFill>
          <p:spPr bwMode="auto">
            <a:xfrm flipH="1">
              <a:off x="8449349" y="3956800"/>
              <a:ext cx="3431408" cy="1788238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1DAAB074-14AB-7E70-51EA-FE1E6AA298E2}"/>
                    </a:ext>
                  </a:extLst>
                </p:cNvPr>
                <p:cNvSpPr/>
                <p:nvPr/>
              </p:nvSpPr>
              <p:spPr>
                <a:xfrm>
                  <a:off x="2676150" y="5667690"/>
                  <a:ext cx="441146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0" i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1DAAB074-14AB-7E70-51EA-FE1E6AA298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6150" y="5667690"/>
                  <a:ext cx="441146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1032CBA9-C477-9351-E7D9-5E04B510107B}"/>
                    </a:ext>
                  </a:extLst>
                </p:cNvPr>
                <p:cNvSpPr/>
                <p:nvPr/>
              </p:nvSpPr>
              <p:spPr>
                <a:xfrm>
                  <a:off x="1888194" y="5667691"/>
                  <a:ext cx="445956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1032CBA9-C477-9351-E7D9-5E04B51010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8194" y="5667691"/>
                  <a:ext cx="445956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40D655A9-DBD0-67DE-0D7E-C3A6739C1D43}"/>
                    </a:ext>
                  </a:extLst>
                </p:cNvPr>
                <p:cNvSpPr/>
                <p:nvPr/>
              </p:nvSpPr>
              <p:spPr>
                <a:xfrm>
                  <a:off x="3423294" y="5667690"/>
                  <a:ext cx="545342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40D655A9-DBD0-67DE-0D7E-C3A6739C1D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294" y="5667690"/>
                  <a:ext cx="545342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C4AD1835-9156-2906-C137-BC957AC4BFFA}"/>
                    </a:ext>
                  </a:extLst>
                </p:cNvPr>
                <p:cNvSpPr/>
                <p:nvPr/>
              </p:nvSpPr>
              <p:spPr>
                <a:xfrm>
                  <a:off x="5854058" y="5667691"/>
                  <a:ext cx="445956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C4AD1835-9156-2906-C137-BC957AC4BF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4058" y="5667691"/>
                  <a:ext cx="445956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3F5AD89-3963-E62E-BFC2-639DC0ED438B}"/>
                    </a:ext>
                  </a:extLst>
                </p:cNvPr>
                <p:cNvSpPr/>
                <p:nvPr/>
              </p:nvSpPr>
              <p:spPr>
                <a:xfrm>
                  <a:off x="7490744" y="5667690"/>
                  <a:ext cx="545342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3F5AD89-3963-E62E-BFC2-639DC0ED4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0744" y="5667690"/>
                  <a:ext cx="545342" cy="4924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680F4FE-7CE5-3C50-5E3E-402BED290B0F}"/>
                    </a:ext>
                  </a:extLst>
                </p:cNvPr>
                <p:cNvSpPr/>
                <p:nvPr/>
              </p:nvSpPr>
              <p:spPr>
                <a:xfrm>
                  <a:off x="10818086" y="5645232"/>
                  <a:ext cx="441146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0" i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680F4FE-7CE5-3C50-5E3E-402BED290B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8086" y="5645232"/>
                  <a:ext cx="441146" cy="4924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B4A335E5-3398-707E-567E-FC8EE7DDFC16}"/>
                    </a:ext>
                  </a:extLst>
                </p:cNvPr>
                <p:cNvSpPr/>
                <p:nvPr/>
              </p:nvSpPr>
              <p:spPr>
                <a:xfrm>
                  <a:off x="9967784" y="5645233"/>
                  <a:ext cx="445956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B4A335E5-3398-707E-567E-FC8EE7DDFC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7784" y="5645233"/>
                  <a:ext cx="445956" cy="49244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849F272-59FC-5F97-40F5-A624D7DE941F}"/>
                    </a:ext>
                  </a:extLst>
                </p:cNvPr>
                <p:cNvSpPr/>
                <p:nvPr/>
              </p:nvSpPr>
              <p:spPr>
                <a:xfrm>
                  <a:off x="3772843" y="4638109"/>
                  <a:ext cx="505267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849F272-59FC-5F97-40F5-A624D7DE94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2843" y="4638109"/>
                  <a:ext cx="505267" cy="49244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0BB8BBE-9054-F784-4150-E4BB90F4A90E}"/>
                    </a:ext>
                  </a:extLst>
                </p:cNvPr>
                <p:cNvSpPr/>
                <p:nvPr/>
              </p:nvSpPr>
              <p:spPr>
                <a:xfrm>
                  <a:off x="8043051" y="4638108"/>
                  <a:ext cx="505267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0BB8BBE-9054-F784-4150-E4BB90F4A9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3051" y="4638108"/>
                  <a:ext cx="505267" cy="492443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6CDE9DC-F2DA-88E2-FD4E-9F340F17188C}"/>
                  </a:ext>
                </a:extLst>
              </p:cNvPr>
              <p:cNvSpPr/>
              <p:nvPr/>
            </p:nvSpPr>
            <p:spPr>
              <a:xfrm>
                <a:off x="9592837" y="2812527"/>
                <a:ext cx="2452256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600" b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𝟑𝟒𝟏𝟑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6CDE9DC-F2DA-88E2-FD4E-9F340F1718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7" y="2812527"/>
                <a:ext cx="2452256" cy="98299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D152C01-62C9-4CB1-606F-EB000EBFFAB8}"/>
                  </a:ext>
                </a:extLst>
              </p:cNvPr>
              <p:cNvSpPr/>
              <p:nvPr/>
            </p:nvSpPr>
            <p:spPr>
              <a:xfrm>
                <a:off x="9592838" y="1651875"/>
                <a:ext cx="2452255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2600" b="1" i="1" smtClean="0"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D152C01-62C9-4CB1-606F-EB000EBFFA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8" y="1651875"/>
                <a:ext cx="2452255" cy="98299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EA4BB0E-219C-35EF-702B-0AB47E82C95E}"/>
                  </a:ext>
                </a:extLst>
              </p:cNvPr>
              <p:cNvSpPr/>
              <p:nvPr/>
            </p:nvSpPr>
            <p:spPr>
              <a:xfrm>
                <a:off x="243738" y="3654802"/>
                <a:ext cx="439011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&gt;15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87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EA4BB0E-219C-35EF-702B-0AB47E82C9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38" y="3654802"/>
                <a:ext cx="4390117" cy="73866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93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4" grpId="0"/>
      <p:bldP spid="23" grpId="0" animBg="1"/>
      <p:bldP spid="24" grpId="0" animBg="1"/>
      <p:bldP spid="25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98285"/>
                <a:ext cx="11998124" cy="52322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(b) Find the percentage of cells with life less than </a:t>
                </a:r>
                <a14:m>
                  <m:oMath xmlns:m="http://schemas.openxmlformats.org/officeDocument/2006/math">
                    <m:r>
                      <a:rPr lang="en-IN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hours</a:t>
                </a:r>
                <a:endParaRPr lang="en-IN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98285"/>
                <a:ext cx="11998124" cy="523220"/>
              </a:xfrm>
              <a:prstGeom prst="rect">
                <a:avLst/>
              </a:prstGeom>
              <a:blipFill>
                <a:blip r:embed="rId2"/>
                <a:stretch>
                  <a:fillRect l="-1016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5C85981-2F7D-49F7-3D1B-1EC19B372010}"/>
                  </a:ext>
                </a:extLst>
              </p:cNvPr>
              <p:cNvSpPr/>
              <p:nvPr/>
            </p:nvSpPr>
            <p:spPr>
              <a:xfrm>
                <a:off x="10249468" y="3168889"/>
                <a:ext cx="1692322" cy="62107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5C85981-2F7D-49F7-3D1B-1EC19B372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468" y="3168889"/>
                <a:ext cx="1692322" cy="621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331E81F-AD93-D4FE-8321-1AA7F43C85E7}"/>
                  </a:ext>
                </a:extLst>
              </p:cNvPr>
              <p:cNvSpPr/>
              <p:nvPr/>
            </p:nvSpPr>
            <p:spPr>
              <a:xfrm>
                <a:off x="10249469" y="4048301"/>
                <a:ext cx="1692322" cy="62107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331E81F-AD93-D4FE-8321-1AA7F43C85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469" y="4048301"/>
                <a:ext cx="1692322" cy="62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1BD4F62-F1C4-1FC7-B86D-7C275C3F6D04}"/>
                  </a:ext>
                </a:extLst>
              </p:cNvPr>
              <p:cNvSpPr/>
              <p:nvPr/>
            </p:nvSpPr>
            <p:spPr>
              <a:xfrm>
                <a:off x="9694718" y="2188628"/>
                <a:ext cx="2247072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1BD4F62-F1C4-1FC7-B86D-7C275C3F6D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718" y="2188628"/>
                <a:ext cx="2247072" cy="6210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8E6DDF41-D1C4-95CC-77D5-25575BC3CA48}"/>
              </a:ext>
            </a:extLst>
          </p:cNvPr>
          <p:cNvSpPr/>
          <p:nvPr/>
        </p:nvSpPr>
        <p:spPr>
          <a:xfrm>
            <a:off x="609606" y="1667109"/>
            <a:ext cx="73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0625DCD-718E-8902-52B2-EA0E26DE76C3}"/>
                  </a:ext>
                </a:extLst>
              </p:cNvPr>
              <p:cNvSpPr/>
              <p:nvPr/>
            </p:nvSpPr>
            <p:spPr>
              <a:xfrm>
                <a:off x="1126727" y="1442518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0625DCD-718E-8902-52B2-EA0E26DE76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727" y="1442518"/>
                <a:ext cx="1911100" cy="898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8964DCA-26B5-0FAE-4CA8-80E2E44A0FFC}"/>
                  </a:ext>
                </a:extLst>
              </p:cNvPr>
              <p:cNvSpPr/>
              <p:nvPr/>
            </p:nvSpPr>
            <p:spPr>
              <a:xfrm>
                <a:off x="609606" y="2757682"/>
                <a:ext cx="32454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&lt;6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8964DCA-26B5-0FAE-4CA8-80E2E44A0F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6" y="2757682"/>
                <a:ext cx="3245421" cy="523220"/>
              </a:xfrm>
              <a:prstGeom prst="rect">
                <a:avLst/>
              </a:prstGeom>
              <a:blipFill>
                <a:blip r:embed="rId6"/>
                <a:stretch>
                  <a:fillRect l="-3759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D12DEF7-7360-BA51-2E8E-8E673AEC292F}"/>
                  </a:ext>
                </a:extLst>
              </p:cNvPr>
              <p:cNvSpPr/>
              <p:nvPr/>
            </p:nvSpPr>
            <p:spPr>
              <a:xfrm>
                <a:off x="2830871" y="2499163"/>
                <a:ext cx="3739002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D12DEF7-7360-BA51-2E8E-8E673AEC29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871" y="2499163"/>
                <a:ext cx="3739002" cy="10604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A62166F-7723-BDC9-3396-5D771711AE77}"/>
                  </a:ext>
                </a:extLst>
              </p:cNvPr>
              <p:cNvSpPr/>
              <p:nvPr/>
            </p:nvSpPr>
            <p:spPr>
              <a:xfrm>
                <a:off x="2820480" y="4032260"/>
                <a:ext cx="3739002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A62166F-7723-BDC9-3396-5D771711AE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480" y="4032260"/>
                <a:ext cx="3739002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70D2BA5-D73E-6440-3DE1-B4B598997244}"/>
                  </a:ext>
                </a:extLst>
              </p:cNvPr>
              <p:cNvSpPr/>
              <p:nvPr/>
            </p:nvSpPr>
            <p:spPr>
              <a:xfrm>
                <a:off x="1074772" y="5612129"/>
                <a:ext cx="543275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70D2BA5-D73E-6440-3DE1-B4B598997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772" y="5612129"/>
                <a:ext cx="543275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69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96928" y="1888541"/>
                <a:ext cx="2903184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0.5−0.4772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928" y="1888541"/>
                <a:ext cx="2903184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996928" y="1365321"/>
                <a:ext cx="67210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−∞&lt;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(−2&lt;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928" y="1365321"/>
                <a:ext cx="672104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1585A2-4B66-46D3-56C7-C65AC06B6031}"/>
                  </a:ext>
                </a:extLst>
              </p:cNvPr>
              <p:cNvSpPr/>
              <p:nvPr/>
            </p:nvSpPr>
            <p:spPr>
              <a:xfrm>
                <a:off x="228035" y="796139"/>
                <a:ext cx="543275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51585A2-4B66-46D3-56C7-C65AC06B60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35" y="796139"/>
                <a:ext cx="543275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6AF926D-76E1-5C80-7898-49E55C541B87}"/>
                  </a:ext>
                </a:extLst>
              </p:cNvPr>
              <p:cNvSpPr/>
              <p:nvPr/>
            </p:nvSpPr>
            <p:spPr>
              <a:xfrm>
                <a:off x="1996928" y="2513519"/>
                <a:ext cx="234647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0228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6AF926D-76E1-5C80-7898-49E55C541B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928" y="2513519"/>
                <a:ext cx="2346472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7084D2EE-233D-CCE3-75E7-DDF10249038B}"/>
              </a:ext>
            </a:extLst>
          </p:cNvPr>
          <p:cNvGrpSpPr/>
          <p:nvPr/>
        </p:nvGrpSpPr>
        <p:grpSpPr>
          <a:xfrm>
            <a:off x="259559" y="3900143"/>
            <a:ext cx="11252947" cy="2613711"/>
            <a:chOff x="124477" y="3796234"/>
            <a:chExt cx="11252947" cy="2613711"/>
          </a:xfrm>
        </p:grpSpPr>
        <p:pic>
          <p:nvPicPr>
            <p:cNvPr id="7" name="Picture 6"/>
            <p:cNvPicPr/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772" y="3796234"/>
              <a:ext cx="10971652" cy="2233018"/>
            </a:xfrm>
            <a:prstGeom prst="rect">
              <a:avLst/>
            </a:prstGeom>
            <a:noFill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28C9D9D-46C2-65CB-18CC-A09B91E3BFD0}"/>
                    </a:ext>
                  </a:extLst>
                </p:cNvPr>
                <p:cNvSpPr/>
                <p:nvPr/>
              </p:nvSpPr>
              <p:spPr>
                <a:xfrm>
                  <a:off x="2152342" y="5917502"/>
                  <a:ext cx="445956" cy="49244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28C9D9D-46C2-65CB-18CC-A09B91E3BF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2342" y="5917502"/>
                  <a:ext cx="445956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CF7626C-5B0E-4C69-F737-C2CDE13BDE84}"/>
                    </a:ext>
                  </a:extLst>
                </p:cNvPr>
                <p:cNvSpPr/>
                <p:nvPr/>
              </p:nvSpPr>
              <p:spPr>
                <a:xfrm>
                  <a:off x="124477" y="5917501"/>
                  <a:ext cx="788999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6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CF7626C-5B0E-4C69-F737-C2CDE13BDE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477" y="5917501"/>
                  <a:ext cx="788999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9DDFC7AB-0C80-A578-9E80-8ABA99023FB5}"/>
                    </a:ext>
                  </a:extLst>
                </p:cNvPr>
                <p:cNvSpPr/>
                <p:nvPr/>
              </p:nvSpPr>
              <p:spPr>
                <a:xfrm>
                  <a:off x="1035981" y="5917500"/>
                  <a:ext cx="704039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9DDFC7AB-0C80-A578-9E80-8ABA99023F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981" y="5917500"/>
                  <a:ext cx="704039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77DC8FF6-C7E9-44D2-2E4A-7B71A5F281B5}"/>
                    </a:ext>
                  </a:extLst>
                </p:cNvPr>
                <p:cNvSpPr/>
                <p:nvPr/>
              </p:nvSpPr>
              <p:spPr>
                <a:xfrm>
                  <a:off x="5730168" y="5917500"/>
                  <a:ext cx="445956" cy="49244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77DC8FF6-C7E9-44D2-2E4A-7B71A5F281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0168" y="5917500"/>
                  <a:ext cx="445956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EFAFAD0-AB56-C8D4-EE05-70693050A5B1}"/>
                    </a:ext>
                  </a:extLst>
                </p:cNvPr>
                <p:cNvSpPr/>
                <p:nvPr/>
              </p:nvSpPr>
              <p:spPr>
                <a:xfrm>
                  <a:off x="3837164" y="5917500"/>
                  <a:ext cx="788999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6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EFAFAD0-AB56-C8D4-EE05-70693050A5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7164" y="5917500"/>
                  <a:ext cx="788999" cy="4924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5DD46FA-ED14-3278-342E-FA1A7FF59CFE}"/>
                    </a:ext>
                  </a:extLst>
                </p:cNvPr>
                <p:cNvSpPr/>
                <p:nvPr/>
              </p:nvSpPr>
              <p:spPr>
                <a:xfrm>
                  <a:off x="9332855" y="5917500"/>
                  <a:ext cx="445956" cy="49244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5DD46FA-ED14-3278-342E-FA1A7FF59C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2855" y="5917500"/>
                  <a:ext cx="445956" cy="4924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14FEBB0-A026-05ED-832A-F70D2410E317}"/>
                    </a:ext>
                  </a:extLst>
                </p:cNvPr>
                <p:cNvSpPr/>
                <p:nvPr/>
              </p:nvSpPr>
              <p:spPr>
                <a:xfrm>
                  <a:off x="8216494" y="5917498"/>
                  <a:ext cx="704039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en-IN" sz="2600" dirty="0"/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14FEBB0-A026-05ED-832A-F70D2410E3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6494" y="5917498"/>
                  <a:ext cx="704039" cy="49244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8E0B00F-6E45-2A85-8A11-79ED7217D38F}"/>
                  </a:ext>
                </a:extLst>
              </p:cNvPr>
              <p:cNvSpPr/>
              <p:nvPr/>
            </p:nvSpPr>
            <p:spPr>
              <a:xfrm>
                <a:off x="133039" y="3137647"/>
                <a:ext cx="4916944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&lt;6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2.28%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8E0B00F-6E45-2A85-8A11-79ED7217D3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39" y="3137647"/>
                <a:ext cx="4916944" cy="7386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F2EE7EE-6A37-8DBF-FE00-85BD8BC1C658}"/>
                  </a:ext>
                </a:extLst>
              </p:cNvPr>
              <p:cNvSpPr/>
              <p:nvPr/>
            </p:nvSpPr>
            <p:spPr>
              <a:xfrm>
                <a:off x="9592837" y="2812527"/>
                <a:ext cx="2452256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b="1" i="1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600" b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1"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600" b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IN" sz="26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6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600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𝟒𝟕𝟕𝟐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F2EE7EE-6A37-8DBF-FE00-85BD8BC1C6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7" y="2812527"/>
                <a:ext cx="2452256" cy="98299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9CACAAD-8C22-1ACB-4F66-C30487165864}"/>
                  </a:ext>
                </a:extLst>
              </p:cNvPr>
              <p:cNvSpPr/>
              <p:nvPr/>
            </p:nvSpPr>
            <p:spPr>
              <a:xfrm>
                <a:off x="9592838" y="1651875"/>
                <a:ext cx="2452255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9CACAAD-8C22-1ACB-4F66-C30487165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838" y="1651875"/>
                <a:ext cx="2452255" cy="98299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60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5" grpId="0"/>
      <p:bldP spid="33" grpId="0"/>
      <p:bldP spid="34" grpId="0" animBg="1"/>
      <p:bldP spid="35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80" y="743693"/>
                <a:ext cx="11998124" cy="52322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(c) Find the Percentage of cells with life between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𝟏𝟒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hours</a:t>
                </a:r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" y="743693"/>
                <a:ext cx="11998124" cy="523220"/>
              </a:xfrm>
              <a:prstGeom prst="rect">
                <a:avLst/>
              </a:prstGeom>
              <a:blipFill>
                <a:blip r:embed="rId2"/>
                <a:stretch>
                  <a:fillRect l="-1016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12C1370-E453-48A4-C8E0-AA718C3CFCD5}"/>
                  </a:ext>
                </a:extLst>
              </p:cNvPr>
              <p:cNvSpPr/>
              <p:nvPr/>
            </p:nvSpPr>
            <p:spPr>
              <a:xfrm>
                <a:off x="10375181" y="2549588"/>
                <a:ext cx="1692322" cy="62107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I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12C1370-E453-48A4-C8E0-AA718C3CFC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5181" y="2549588"/>
                <a:ext cx="1692322" cy="621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FC2ADEF-5305-D30A-12DA-02E5A121F169}"/>
                  </a:ext>
                </a:extLst>
              </p:cNvPr>
              <p:cNvSpPr/>
              <p:nvPr/>
            </p:nvSpPr>
            <p:spPr>
              <a:xfrm>
                <a:off x="10375182" y="3429000"/>
                <a:ext cx="1692322" cy="62107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FC2ADEF-5305-D30A-12DA-02E5A121F1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5182" y="3429000"/>
                <a:ext cx="1692322" cy="62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C47E7B-98B9-506B-2A15-9391B39A3243}"/>
                  </a:ext>
                </a:extLst>
              </p:cNvPr>
              <p:cNvSpPr/>
              <p:nvPr/>
            </p:nvSpPr>
            <p:spPr>
              <a:xfrm>
                <a:off x="8729386" y="1569327"/>
                <a:ext cx="3338117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𝟏𝟒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C47E7B-98B9-506B-2A15-9391B39A32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386" y="1569327"/>
                <a:ext cx="3338117" cy="6210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497F0E9-C60B-415C-0715-881F154D2598}"/>
              </a:ext>
            </a:extLst>
          </p:cNvPr>
          <p:cNvSpPr/>
          <p:nvPr/>
        </p:nvSpPr>
        <p:spPr>
          <a:xfrm>
            <a:off x="609606" y="1667109"/>
            <a:ext cx="73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2723CB3-9EBB-B630-57C4-60743AFEC186}"/>
                  </a:ext>
                </a:extLst>
              </p:cNvPr>
              <p:cNvSpPr/>
              <p:nvPr/>
            </p:nvSpPr>
            <p:spPr>
              <a:xfrm>
                <a:off x="1126727" y="1442518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2723CB3-9EBB-B630-57C4-60743AFEC1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727" y="1442518"/>
                <a:ext cx="1911100" cy="898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6398F6C-9BA9-E6FF-4952-A0386460F8DF}"/>
                  </a:ext>
                </a:extLst>
              </p:cNvPr>
              <p:cNvSpPr/>
              <p:nvPr/>
            </p:nvSpPr>
            <p:spPr>
              <a:xfrm>
                <a:off x="609606" y="2812496"/>
                <a:ext cx="352597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10&lt;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&lt;14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6398F6C-9BA9-E6FF-4952-A0386460F8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6" y="2812496"/>
                <a:ext cx="3525976" cy="523220"/>
              </a:xfrm>
              <a:prstGeom prst="rect">
                <a:avLst/>
              </a:prstGeom>
              <a:blipFill>
                <a:blip r:embed="rId7"/>
                <a:stretch>
                  <a:fillRect l="-346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164164-7C23-0900-3AD8-6847386F7F6C}"/>
                  </a:ext>
                </a:extLst>
              </p:cNvPr>
              <p:cNvSpPr/>
              <p:nvPr/>
            </p:nvSpPr>
            <p:spPr>
              <a:xfrm>
                <a:off x="3877533" y="2549588"/>
                <a:ext cx="5235294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164164-7C23-0900-3AD8-6847386F7F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533" y="2549588"/>
                <a:ext cx="5235294" cy="1060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6BF9DFB-0595-6D9E-A519-C9EF5D9925EE}"/>
                  </a:ext>
                </a:extLst>
              </p:cNvPr>
              <p:cNvSpPr/>
              <p:nvPr/>
            </p:nvSpPr>
            <p:spPr>
              <a:xfrm>
                <a:off x="3877533" y="4065411"/>
                <a:ext cx="5235294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6BF9DFB-0595-6D9E-A519-C9EF5D9925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533" y="4065411"/>
                <a:ext cx="5235294" cy="1060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E2EA000-90AA-4F7C-69F8-0C4787C8E988}"/>
                  </a:ext>
                </a:extLst>
              </p:cNvPr>
              <p:cNvSpPr/>
              <p:nvPr/>
            </p:nvSpPr>
            <p:spPr>
              <a:xfrm>
                <a:off x="1064381" y="5581234"/>
                <a:ext cx="776549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&lt;14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−0.67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.67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E2EA000-90AA-4F7C-69F8-0C4787C8E9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381" y="5581234"/>
                <a:ext cx="776549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76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10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64067" y="1402930"/>
                <a:ext cx="666182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67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67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67" y="1402930"/>
                <a:ext cx="666182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064067" y="2760110"/>
                <a:ext cx="334019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0.2486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2486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67" y="2760110"/>
                <a:ext cx="334019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13B5D65-94F3-7989-1A63-D467673A8954}"/>
                  </a:ext>
                </a:extLst>
              </p:cNvPr>
              <p:cNvSpPr/>
              <p:nvPr/>
            </p:nvSpPr>
            <p:spPr>
              <a:xfrm>
                <a:off x="263443" y="761394"/>
                <a:ext cx="776549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&lt;14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−0.67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.67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13B5D65-94F3-7989-1A63-D467673A89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43" y="761394"/>
                <a:ext cx="776549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2C7450-3F32-129B-4655-F75D7713341B}"/>
                  </a:ext>
                </a:extLst>
              </p:cNvPr>
              <p:cNvSpPr/>
              <p:nvPr/>
            </p:nvSpPr>
            <p:spPr>
              <a:xfrm>
                <a:off x="3064067" y="3246276"/>
                <a:ext cx="277456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4972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2C7450-3F32-129B-4655-F75D771334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67" y="3246276"/>
                <a:ext cx="277456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8E91DFF-6429-81D3-4E44-8DDF92649A81}"/>
                  </a:ext>
                </a:extLst>
              </p:cNvPr>
              <p:cNvSpPr/>
              <p:nvPr/>
            </p:nvSpPr>
            <p:spPr>
              <a:xfrm>
                <a:off x="3064067" y="2081520"/>
                <a:ext cx="647478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67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67</m:t>
                        </m:r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8E91DFF-6429-81D3-4E44-8DDF92649A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67" y="2081520"/>
                <a:ext cx="647478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85557DCA-8F67-B29F-67EA-DD0A8BF88643}"/>
              </a:ext>
            </a:extLst>
          </p:cNvPr>
          <p:cNvGrpSpPr/>
          <p:nvPr/>
        </p:nvGrpSpPr>
        <p:grpSpPr>
          <a:xfrm>
            <a:off x="789708" y="4649953"/>
            <a:ext cx="9430948" cy="1937426"/>
            <a:chOff x="789708" y="4649953"/>
            <a:chExt cx="9430948" cy="1937426"/>
          </a:xfrm>
        </p:grpSpPr>
        <p:pic>
          <p:nvPicPr>
            <p:cNvPr id="5" name="Picture 4"/>
            <p:cNvPicPr/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9" r="1272"/>
            <a:stretch/>
          </p:blipFill>
          <p:spPr bwMode="auto">
            <a:xfrm>
              <a:off x="789708" y="4649953"/>
              <a:ext cx="9430948" cy="164395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AF86935A-5F15-0D0F-CB7E-1F0EE21A32AD}"/>
                    </a:ext>
                  </a:extLst>
                </p:cNvPr>
                <p:cNvSpPr/>
                <p:nvPr/>
              </p:nvSpPr>
              <p:spPr>
                <a:xfrm>
                  <a:off x="2110778" y="6156492"/>
                  <a:ext cx="445956" cy="43088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200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AF86935A-5F15-0D0F-CB7E-1F0EE21A32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0778" y="6156492"/>
                  <a:ext cx="445956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C0C513A-3B88-42B3-AC7E-A4D1D75134B9}"/>
                    </a:ext>
                  </a:extLst>
                </p:cNvPr>
                <p:cNvSpPr/>
                <p:nvPr/>
              </p:nvSpPr>
              <p:spPr>
                <a:xfrm>
                  <a:off x="1246694" y="6156491"/>
                  <a:ext cx="979755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−0.67</m:t>
                        </m:r>
                      </m:oMath>
                    </m:oMathPara>
                  </a14:m>
                  <a:endParaRPr lang="en-IN" sz="2200" dirty="0"/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C0C513A-3B88-42B3-AC7E-A4D1D75134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6694" y="6156491"/>
                  <a:ext cx="979755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AC4C9D0D-48CE-CE49-AE7F-246325C28C61}"/>
                    </a:ext>
                  </a:extLst>
                </p:cNvPr>
                <p:cNvSpPr/>
                <p:nvPr/>
              </p:nvSpPr>
              <p:spPr>
                <a:xfrm>
                  <a:off x="2705652" y="6156490"/>
                  <a:ext cx="769762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0.67</m:t>
                        </m:r>
                      </m:oMath>
                    </m:oMathPara>
                  </a14:m>
                  <a:endParaRPr lang="en-IN" sz="2200" dirty="0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AC4C9D0D-48CE-CE49-AE7F-246325C28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5652" y="6156490"/>
                  <a:ext cx="769762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5A42B36-8A1A-9226-F703-530B7A1D9158}"/>
                    </a:ext>
                  </a:extLst>
                </p:cNvPr>
                <p:cNvSpPr/>
                <p:nvPr/>
              </p:nvSpPr>
              <p:spPr>
                <a:xfrm>
                  <a:off x="5261612" y="6156490"/>
                  <a:ext cx="445956" cy="43088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200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5A42B36-8A1A-9226-F703-530B7A1D91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612" y="6156490"/>
                  <a:ext cx="445956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7A359F8-E3B7-D4A2-3AA9-3D614A575E7E}"/>
                    </a:ext>
                  </a:extLst>
                </p:cNvPr>
                <p:cNvSpPr/>
                <p:nvPr/>
              </p:nvSpPr>
              <p:spPr>
                <a:xfrm>
                  <a:off x="4397528" y="6156489"/>
                  <a:ext cx="979755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−0.67</m:t>
                        </m:r>
                      </m:oMath>
                    </m:oMathPara>
                  </a14:m>
                  <a:endParaRPr lang="en-IN" sz="2200" dirty="0"/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7A359F8-E3B7-D4A2-3AA9-3D614A575E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7528" y="6156489"/>
                  <a:ext cx="979755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C87E57A-0D9F-0595-36BF-626E4C13013B}"/>
                    </a:ext>
                  </a:extLst>
                </p:cNvPr>
                <p:cNvSpPr/>
                <p:nvPr/>
              </p:nvSpPr>
              <p:spPr>
                <a:xfrm>
                  <a:off x="8392522" y="6156489"/>
                  <a:ext cx="445956" cy="43088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200" dirty="0"/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C87E57A-0D9F-0595-36BF-626E4C1301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2522" y="6156489"/>
                  <a:ext cx="445956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FB2D9AF-7BDA-D02B-2A88-D6F806A4F3AA}"/>
                    </a:ext>
                  </a:extLst>
                </p:cNvPr>
                <p:cNvSpPr/>
                <p:nvPr/>
              </p:nvSpPr>
              <p:spPr>
                <a:xfrm>
                  <a:off x="8987396" y="6156487"/>
                  <a:ext cx="769762" cy="4308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0.67</m:t>
                        </m:r>
                      </m:oMath>
                    </m:oMathPara>
                  </a14:m>
                  <a:endParaRPr lang="en-IN" sz="2200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FB2D9AF-7BDA-D02B-2A88-D6F806A4F3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7396" y="6156487"/>
                  <a:ext cx="769762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835215-91A7-AB71-3647-CE80689E3210}"/>
                  </a:ext>
                </a:extLst>
              </p:cNvPr>
              <p:cNvSpPr/>
              <p:nvPr/>
            </p:nvSpPr>
            <p:spPr>
              <a:xfrm>
                <a:off x="159534" y="3913965"/>
                <a:ext cx="517763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&lt;14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=49.72%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835215-91A7-AB71-3647-CE80689E3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34" y="3913965"/>
                <a:ext cx="5177632" cy="73866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9460405-8010-3151-EC3C-5276A2D1D43B}"/>
                  </a:ext>
                </a:extLst>
              </p:cNvPr>
              <p:cNvSpPr/>
              <p:nvPr/>
            </p:nvSpPr>
            <p:spPr>
              <a:xfrm>
                <a:off x="9377916" y="959746"/>
                <a:ext cx="2667177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𝟔𝟕</m:t>
                          </m:r>
                        </m:e>
                      </m:d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𝟐𝟒𝟔𝟖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9460405-8010-3151-EC3C-5276A2D1D4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916" y="959746"/>
                <a:ext cx="2667177" cy="98299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060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23" grpId="0"/>
      <p:bldP spid="24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3D0A2-836E-4A33-578A-60340E0A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38D4030-F5E7-9596-9297-3B7B7CE6C5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43323"/>
                <a:ext cx="11929643" cy="281427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Assuming that the diameters of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1000</a:t>
                </a:r>
                <a:r>
                  <a:rPr lang="en-US" dirty="0"/>
                  <a:t> brass plugs taken consecutively from a machine form a normal distribution with mean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0.7515</a:t>
                </a:r>
                <a:r>
                  <a:rPr lang="en-US" dirty="0"/>
                  <a:t> cm and standard deviation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0.002</a:t>
                </a:r>
                <a:r>
                  <a:rPr lang="en-US" dirty="0"/>
                  <a:t> cm. Find the number of plugs likely to be rejected if the approved diameter is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0.752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±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0.004 </a:t>
                </a:r>
                <a:r>
                  <a:rPr lang="en-US" dirty="0"/>
                  <a:t>cm. 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−∞&lt;</m:t>
                              </m:r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IN" sz="24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&lt;1.75</m:t>
                              </m:r>
                            </m:e>
                          </m:d>
                          <m: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=0.4599, </m:t>
                          </m:r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−∞&lt;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IN" sz="2400" b="0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2.25</m:t>
                              </m:r>
                            </m:e>
                          </m:d>
                          <m:r>
                            <a:rPr lang="en-US" sz="24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=0.4878</m:t>
                          </m:r>
                          <m:r>
                            <a:rPr lang="en-IN" sz="24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38D4030-F5E7-9596-9297-3B7B7CE6C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43323"/>
                <a:ext cx="11929643" cy="2814278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9261554-F976-0D6F-C193-ABA1E37E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 ⇝ Example 15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B5FC18B-66B8-9717-3F70-17DCDC305A52}"/>
              </a:ext>
            </a:extLst>
          </p:cNvPr>
          <p:cNvGrpSpPr/>
          <p:nvPr/>
        </p:nvGrpSpPr>
        <p:grpSpPr>
          <a:xfrm>
            <a:off x="5024435" y="3796258"/>
            <a:ext cx="2143125" cy="2681892"/>
            <a:chOff x="5024435" y="3796258"/>
            <a:chExt cx="2143125" cy="268189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BFA86DB-BFA5-3D2A-5C23-A044143A5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4435" y="3796258"/>
              <a:ext cx="2143125" cy="214312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6CDC955-58A1-9FB8-7717-DA75A049EA0C}"/>
                </a:ext>
              </a:extLst>
            </p:cNvPr>
            <p:cNvSpPr txBox="1"/>
            <p:nvPr/>
          </p:nvSpPr>
          <p:spPr>
            <a:xfrm>
              <a:off x="5472543" y="6078040"/>
              <a:ext cx="14581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Brass Plugs</a:t>
              </a:r>
              <a:endParaRPr lang="en-IN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2133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Method ⇝ Example 15 ⇝ </a:t>
            </a:r>
            <a:r>
              <a:rPr lang="en-US" dirty="0"/>
              <a:t>Meaning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7E2137BF-BA8E-89FF-5DF6-B5C6DE7571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2009" y="711202"/>
                <a:ext cx="11907982" cy="55233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 machine produces brass plugs continuously, and the diameter of each plug is measured. </a:t>
                </a:r>
              </a:p>
              <a:p>
                <a:r>
                  <a:rPr lang="en-US" dirty="0"/>
                  <a:t>Due to small manufacturing variations, the diameters follow a normal distribution with a mean of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0.7515 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dirty="0"/>
                  <a:t> and a standard deviation of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0.002 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According to quality standards, only plugs with diameters between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0.748 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0.756 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dirty="0"/>
                  <a:t> (i.e.,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0.752 ± 0.004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dirty="0"/>
                  <a:t>) are accepted. </a:t>
                </a:r>
              </a:p>
              <a:p>
                <a:r>
                  <a:rPr lang="en-US" dirty="0"/>
                  <a:t>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lang="en-US" dirty="0"/>
                  <a:t> plugs produced, we estimate how many will be rejected by using probabilities from the standard normal distribution.</a:t>
                </a: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7E2137BF-BA8E-89FF-5DF6-B5C6DE757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9" y="711202"/>
                <a:ext cx="11907982" cy="5523344"/>
              </a:xfrm>
              <a:prstGeom prst="rect">
                <a:avLst/>
              </a:prstGeom>
              <a:blipFill>
                <a:blip r:embed="rId2"/>
                <a:stretch>
                  <a:fillRect l="-921" r="-10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817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D4C2F-4DF8-95D2-5E3A-3A4E1FFD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7BF44-A1D2-3D0A-2E51-285DA7C2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Method ⇝ Example 15 ⇝ </a:t>
            </a:r>
            <a:r>
              <a:rPr lang="en-US" dirty="0"/>
              <a:t>Meaning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36C88E5F-D2FF-9D65-CBF8-7050D57321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2009" y="711202"/>
                <a:ext cx="11589327" cy="57831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Approved diameter: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0.752±0.004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That means:</a:t>
                </a:r>
              </a:p>
              <a:p>
                <a:pPr lvl="1"/>
                <a:r>
                  <a:rPr lang="en-US" dirty="0"/>
                  <a:t>Lower limit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0.752−0.004=0.748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Upper limit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 0.752+0.004=0.756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plug is accepted if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0.748≤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≤0.756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plug is rejected if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&lt;0.748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&gt;0.756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36C88E5F-D2FF-9D65-CBF8-7050D5732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9" y="711202"/>
                <a:ext cx="11589327" cy="5783116"/>
              </a:xfrm>
              <a:prstGeom prst="rect">
                <a:avLst/>
              </a:prstGeom>
              <a:blipFill>
                <a:blip r:embed="rId2"/>
                <a:stretch>
                  <a:fillRect l="-947" b="-30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3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927C4-D396-6DC0-FAF9-D7DC136D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A3A0CF9-74B1-DFEC-76AD-BEEDAA0812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43323"/>
                <a:ext cx="11929643" cy="281427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Assuming that the diameters of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1000</a:t>
                </a:r>
                <a:r>
                  <a:rPr lang="en-US" dirty="0"/>
                  <a:t> brass plugs taken consecutively from a machine form a normal distribution with mean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0.7515</a:t>
                </a:r>
                <a:r>
                  <a:rPr lang="en-US" dirty="0"/>
                  <a:t> cm and standard deviation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0.002</a:t>
                </a:r>
                <a:r>
                  <a:rPr lang="en-US" dirty="0"/>
                  <a:t> cm. Find the number of plugs likely to be rejected if the approved diameter is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0.752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±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0.004 </a:t>
                </a:r>
                <a:r>
                  <a:rPr lang="en-US" dirty="0"/>
                  <a:t>cm. 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𝟕𝟓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𝟒𝟓𝟗𝟗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400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sz="2400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400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𝟐𝟓</m:t>
                              </m:r>
                            </m:e>
                          </m:d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𝟒𝟖𝟕𝟖</m:t>
                          </m:r>
                          <m:r>
                            <a:rPr lang="en-IN" sz="2400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A3A0CF9-74B1-DFEC-76AD-BEEDAA081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43323"/>
                <a:ext cx="11929643" cy="2814278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22134D0-B1A4-FF25-E29E-E88E2D7A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 ⇝ Example 15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552C2D-E36D-CF1A-2E1A-7E5DE2850C19}"/>
              </a:ext>
            </a:extLst>
          </p:cNvPr>
          <p:cNvSpPr/>
          <p:nvPr/>
        </p:nvSpPr>
        <p:spPr>
          <a:xfrm>
            <a:off x="131177" y="3796258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BB12C42-1B20-03AD-2358-F8D4D617E2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11949" y="5740568"/>
                <a:ext cx="7331799" cy="6656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Given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=0.7515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cm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=0.002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cm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BB12C42-1B20-03AD-2358-F8D4D617E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49" y="5740568"/>
                <a:ext cx="7331799" cy="665631"/>
              </a:xfrm>
              <a:prstGeom prst="rect">
                <a:avLst/>
              </a:prstGeom>
              <a:blipFill>
                <a:blip r:embed="rId3"/>
                <a:stretch>
                  <a:fillRect l="-1663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B1D8F6A-BEBB-7CE8-67D2-F3081DE265ED}"/>
                  </a:ext>
                </a:extLst>
              </p:cNvPr>
              <p:cNvSpPr/>
              <p:nvPr/>
            </p:nvSpPr>
            <p:spPr>
              <a:xfrm>
                <a:off x="1611949" y="3789723"/>
                <a:ext cx="1030935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diameter (in cm) of a randomly selected brass plug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B1D8F6A-BEBB-7CE8-67D2-F3081DE265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49" y="3789723"/>
                <a:ext cx="10309358" cy="523220"/>
              </a:xfrm>
              <a:prstGeom prst="rect">
                <a:avLst/>
              </a:prstGeom>
              <a:blipFill>
                <a:blip r:embed="rId4"/>
                <a:stretch>
                  <a:fillRect l="-1182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673FD47-A0D9-87CB-16C2-61059012CD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25597" y="5052417"/>
                <a:ext cx="5291544" cy="66684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50000"/>
                  </a:lnSpc>
                  <a:buNone/>
                  <a:tabLst>
                    <a:tab pos="447675" algn="l"/>
                  </a:tabLst>
                </a:pPr>
                <a:r>
                  <a:rPr lang="en-US" dirty="0">
                    <a:solidFill>
                      <a:srgbClr val="002060"/>
                    </a:solidFill>
                  </a:rPr>
                  <a:t>Number of brass plugs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673FD47-A0D9-87CB-16C2-61059012C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052417"/>
                <a:ext cx="5291544" cy="666849"/>
              </a:xfrm>
              <a:prstGeom prst="rect">
                <a:avLst/>
              </a:prstGeom>
              <a:blipFill>
                <a:blip r:embed="rId5"/>
                <a:stretch>
                  <a:fillRect l="-2419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7D18796-484A-C068-DB98-CAED253D98F2}"/>
                  </a:ext>
                </a:extLst>
              </p:cNvPr>
              <p:cNvSpPr/>
              <p:nvPr/>
            </p:nvSpPr>
            <p:spPr>
              <a:xfrm>
                <a:off x="1611949" y="4365484"/>
                <a:ext cx="10309358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From the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follows a normal distribution.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7D18796-484A-C068-DB98-CAED253D98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49" y="4365484"/>
                <a:ext cx="10309358" cy="665631"/>
              </a:xfrm>
              <a:prstGeom prst="rect">
                <a:avLst/>
              </a:prstGeom>
              <a:blipFill>
                <a:blip r:embed="rId6"/>
                <a:stretch>
                  <a:fillRect l="-118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51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build="p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15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4396" y="801536"/>
                <a:ext cx="11861644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Find the probability of plugs with approved diameter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𝐗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𝟕𝟓𝟐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𝟎𝟎𝟒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cm. 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A0C88CCD-ABF6-487A-A003-269BE830E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96" y="801536"/>
                <a:ext cx="11861644" cy="480131"/>
              </a:xfrm>
              <a:prstGeom prst="rect">
                <a:avLst/>
              </a:prstGeom>
              <a:blipFill>
                <a:blip r:embed="rId2"/>
                <a:stretch>
                  <a:fillRect l="-1080" t="-22785" b="-35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B631553-3DD1-420A-4239-7331CD5F3537}"/>
                  </a:ext>
                </a:extLst>
              </p:cNvPr>
              <p:cNvSpPr/>
              <p:nvPr/>
            </p:nvSpPr>
            <p:spPr>
              <a:xfrm>
                <a:off x="9881755" y="2549588"/>
                <a:ext cx="2185748" cy="62107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smtClean="0"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𝟕𝟓𝟏𝟓</m:t>
                      </m:r>
                    </m:oMath>
                  </m:oMathPara>
                </a14:m>
                <a:endParaRPr lang="en-IN" sz="28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B631553-3DD1-420A-4239-7331CD5F35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755" y="2549588"/>
                <a:ext cx="2185748" cy="6210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EB56D83-23D9-BF0A-1589-718F2E0E5FF1}"/>
                  </a:ext>
                </a:extLst>
              </p:cNvPr>
              <p:cNvSpPr/>
              <p:nvPr/>
            </p:nvSpPr>
            <p:spPr>
              <a:xfrm>
                <a:off x="9881755" y="3429000"/>
                <a:ext cx="2185749" cy="62107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smtClean="0"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𝟎𝟎𝟐</m:t>
                      </m:r>
                    </m:oMath>
                  </m:oMathPara>
                </a14:m>
                <a:endParaRPr lang="en-IN" sz="28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EB56D83-23D9-BF0A-1589-718F2E0E5F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755" y="3429000"/>
                <a:ext cx="2185749" cy="62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886275D-192A-3D82-4A67-33144D0E2C4E}"/>
                  </a:ext>
                </a:extLst>
              </p:cNvPr>
              <p:cNvSpPr/>
              <p:nvPr/>
            </p:nvSpPr>
            <p:spPr>
              <a:xfrm>
                <a:off x="7574974" y="1569327"/>
                <a:ext cx="4492530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𝟕𝟒𝟖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𝟕𝟓𝟔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886275D-192A-3D82-4A67-33144D0E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974" y="1569327"/>
                <a:ext cx="4492530" cy="6210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4797D6F7-9503-F9D8-187B-A16431BA70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32058" y="1261850"/>
                <a:ext cx="6570513" cy="14508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Lower limit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0.752−0.004=0.748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Upper limit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0.752+0.004=0.756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4797D6F7-9503-F9D8-187B-A16431BA7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2058" y="1261850"/>
                <a:ext cx="6570513" cy="1450837"/>
              </a:xfrm>
              <a:prstGeom prst="rect">
                <a:avLst/>
              </a:prstGeom>
              <a:blipFill>
                <a:blip r:embed="rId6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CAEAFB19-F1DA-A531-DF76-6B152DB730F2}"/>
              </a:ext>
            </a:extLst>
          </p:cNvPr>
          <p:cNvSpPr/>
          <p:nvPr/>
        </p:nvSpPr>
        <p:spPr>
          <a:xfrm>
            <a:off x="484914" y="3038477"/>
            <a:ext cx="737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20FDA3E-F2EB-0B1A-D40F-712F8E6D304F}"/>
                  </a:ext>
                </a:extLst>
              </p:cNvPr>
              <p:cNvSpPr/>
              <p:nvPr/>
            </p:nvSpPr>
            <p:spPr>
              <a:xfrm>
                <a:off x="1002035" y="2824277"/>
                <a:ext cx="1911100" cy="898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20FDA3E-F2EB-0B1A-D40F-712F8E6D30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35" y="2824277"/>
                <a:ext cx="1911100" cy="8989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168ABF2-3883-14C7-F126-8386DFF61E20}"/>
                  </a:ext>
                </a:extLst>
              </p:cNvPr>
              <p:cNvSpPr/>
              <p:nvPr/>
            </p:nvSpPr>
            <p:spPr>
              <a:xfrm>
                <a:off x="484914" y="4050070"/>
                <a:ext cx="45027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0.748&lt;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&lt;0.756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168ABF2-3883-14C7-F126-8386DFF61E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14" y="4050070"/>
                <a:ext cx="4502721" cy="523220"/>
              </a:xfrm>
              <a:prstGeom prst="rect">
                <a:avLst/>
              </a:prstGeom>
              <a:blipFill>
                <a:blip r:embed="rId8"/>
                <a:stretch>
                  <a:fillRect l="-2846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7CB3277-8C47-4618-46DC-AE77C29A0D38}"/>
                  </a:ext>
                </a:extLst>
              </p:cNvPr>
              <p:cNvSpPr/>
              <p:nvPr/>
            </p:nvSpPr>
            <p:spPr>
              <a:xfrm>
                <a:off x="860705" y="5044368"/>
                <a:ext cx="6807785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0.748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0.756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7CB3277-8C47-4618-46DC-AE77C29A0D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05" y="5044368"/>
                <a:ext cx="6807785" cy="1060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773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7" grpId="0"/>
      <p:bldP spid="18" grpId="0"/>
      <p:bldP spid="19" grpId="0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4F74C-9292-6336-B13D-2E30D420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D2B9-E61E-B02A-E630-D679F249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15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07D2408-090E-EB06-C907-552701DD2DF4}"/>
                  </a:ext>
                </a:extLst>
              </p:cNvPr>
              <p:cNvSpPr/>
              <p:nvPr/>
            </p:nvSpPr>
            <p:spPr>
              <a:xfrm>
                <a:off x="9881755" y="2549588"/>
                <a:ext cx="2185748" cy="621071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smtClean="0"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𝟕𝟓𝟏𝟓</m:t>
                      </m:r>
                    </m:oMath>
                  </m:oMathPara>
                </a14:m>
                <a:endParaRPr lang="en-IN" sz="28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07D2408-090E-EB06-C907-552701DD2D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755" y="2549588"/>
                <a:ext cx="2185748" cy="6210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A29D1DE-8628-8ECE-6C28-E2D734127D1E}"/>
                  </a:ext>
                </a:extLst>
              </p:cNvPr>
              <p:cNvSpPr/>
              <p:nvPr/>
            </p:nvSpPr>
            <p:spPr>
              <a:xfrm>
                <a:off x="9881755" y="3429000"/>
                <a:ext cx="2185749" cy="621070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smtClean="0"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𝟎𝟎𝟐</m:t>
                      </m:r>
                    </m:oMath>
                  </m:oMathPara>
                </a14:m>
                <a:endParaRPr lang="en-IN" sz="28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A29D1DE-8628-8ECE-6C28-E2D734127D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755" y="3429000"/>
                <a:ext cx="2185749" cy="6210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FB9F7C2-7125-3B97-5CED-4B87548951CF}"/>
                  </a:ext>
                </a:extLst>
              </p:cNvPr>
              <p:cNvSpPr/>
              <p:nvPr/>
            </p:nvSpPr>
            <p:spPr>
              <a:xfrm>
                <a:off x="7574974" y="1569327"/>
                <a:ext cx="4492530" cy="621071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𝟕𝟒𝟖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𝟕𝟓𝟔</m:t>
                          </m:r>
                        </m:e>
                      </m:d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FB9F7C2-7125-3B97-5CED-4B87548951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4974" y="1569327"/>
                <a:ext cx="4492530" cy="6210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3FDAB91-2204-D736-8067-4B0DA5D40697}"/>
                  </a:ext>
                </a:extLst>
              </p:cNvPr>
              <p:cNvSpPr/>
              <p:nvPr/>
            </p:nvSpPr>
            <p:spPr>
              <a:xfrm>
                <a:off x="124496" y="828888"/>
                <a:ext cx="45027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0.748&lt;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&lt;0.756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3FDAB91-2204-D736-8067-4B0DA5D406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96" y="828888"/>
                <a:ext cx="4502721" cy="523220"/>
              </a:xfrm>
              <a:prstGeom prst="rect">
                <a:avLst/>
              </a:prstGeom>
              <a:blipFill>
                <a:blip r:embed="rId5"/>
                <a:stretch>
                  <a:fillRect l="-2706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81D18D1-5008-C0E3-4843-1A22F72D33F8}"/>
                  </a:ext>
                </a:extLst>
              </p:cNvPr>
              <p:cNvSpPr/>
              <p:nvPr/>
            </p:nvSpPr>
            <p:spPr>
              <a:xfrm>
                <a:off x="500287" y="1823186"/>
                <a:ext cx="6807785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0.748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0.756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81D18D1-5008-C0E3-4843-1A22F72D33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87" y="1823186"/>
                <a:ext cx="6807785" cy="10604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22CC4C2-871E-E7C4-3A59-B299ED25A09C}"/>
                  </a:ext>
                </a:extLst>
              </p:cNvPr>
              <p:cNvSpPr/>
              <p:nvPr/>
            </p:nvSpPr>
            <p:spPr>
              <a:xfrm>
                <a:off x="500287" y="3354747"/>
                <a:ext cx="7479931" cy="1060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0.748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0.7515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0.002</m:t>
                              </m:r>
                            </m:den>
                          </m:f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0.756</m:t>
                              </m:r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0.7515</m:t>
                              </m:r>
                            </m:num>
                            <m:den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0.002</m:t>
                              </m:r>
                            </m:den>
                          </m:f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22CC4C2-871E-E7C4-3A59-B299ED25A0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87" y="3354747"/>
                <a:ext cx="7479931" cy="10604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4B15EA-8A71-5FA2-DF82-CA956C27A280}"/>
                  </a:ext>
                </a:extLst>
              </p:cNvPr>
              <p:cNvSpPr/>
              <p:nvPr/>
            </p:nvSpPr>
            <p:spPr>
              <a:xfrm>
                <a:off x="500287" y="4886308"/>
                <a:ext cx="747993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−1.75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.25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4B15EA-8A71-5FA2-DF82-CA956C27A2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87" y="4886308"/>
                <a:ext cx="747993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D793E9-17C6-6B0B-FA67-6B0E9410DF63}"/>
                  </a:ext>
                </a:extLst>
              </p:cNvPr>
              <p:cNvSpPr/>
              <p:nvPr/>
            </p:nvSpPr>
            <p:spPr>
              <a:xfrm>
                <a:off x="124496" y="5880606"/>
                <a:ext cx="89154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0.748&lt;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&lt;0.756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−1.75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.25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D793E9-17C6-6B0B-FA67-6B0E9410DF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96" y="5880606"/>
                <a:ext cx="891540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07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15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853777" y="1377303"/>
                <a:ext cx="69527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777" y="1377303"/>
                <a:ext cx="695276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853777" y="2003411"/>
                <a:ext cx="63812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777" y="2003411"/>
                <a:ext cx="638126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A93E0A3-CE06-5665-6A7F-60D1E8AB45B5}"/>
                  </a:ext>
                </a:extLst>
              </p:cNvPr>
              <p:cNvSpPr/>
              <p:nvPr/>
            </p:nvSpPr>
            <p:spPr>
              <a:xfrm>
                <a:off x="96938" y="751195"/>
                <a:ext cx="89154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0.748&lt;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&lt;0.756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−1.75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.25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A93E0A3-CE06-5665-6A7F-60D1E8AB45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751195"/>
                <a:ext cx="89154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14746DE-D123-98FE-3C03-6A21BC72C84E}"/>
                  </a:ext>
                </a:extLst>
              </p:cNvPr>
              <p:cNvSpPr/>
              <p:nvPr/>
            </p:nvSpPr>
            <p:spPr>
              <a:xfrm>
                <a:off x="3853777" y="2689131"/>
                <a:ext cx="361728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4599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4878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14746DE-D123-98FE-3C03-6A21BC72C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777" y="2689131"/>
                <a:ext cx="361728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EC8EDA5-A90D-1A70-B07F-F763ED8C8184}"/>
                  </a:ext>
                </a:extLst>
              </p:cNvPr>
              <p:cNvSpPr/>
              <p:nvPr/>
            </p:nvSpPr>
            <p:spPr>
              <a:xfrm>
                <a:off x="96938" y="3395686"/>
                <a:ext cx="63812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0.748&lt;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&lt;0.756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9477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EC8EDA5-A90D-1A70-B07F-F763ED8C81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3395686"/>
                <a:ext cx="638126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2DE8F14-21B0-8B55-205B-35B807AECAA1}"/>
                  </a:ext>
                </a:extLst>
              </p:cNvPr>
              <p:cNvSpPr/>
              <p:nvPr/>
            </p:nvSpPr>
            <p:spPr>
              <a:xfrm>
                <a:off x="9314121" y="2685840"/>
                <a:ext cx="2745543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𝟕𝟓</m:t>
                          </m:r>
                        </m:e>
                      </m:d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𝟒𝟓𝟗𝟗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2DE8F14-21B0-8B55-205B-35B807AECA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4121" y="2685840"/>
                <a:ext cx="2745543" cy="9829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A5DBB688-6781-E62D-1753-0609E62C9E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220" y="4424392"/>
            <a:ext cx="9311949" cy="21126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E90C733-AD87-5B24-1BD8-9D0F7DF47BE6}"/>
                  </a:ext>
                </a:extLst>
              </p:cNvPr>
              <p:cNvSpPr/>
              <p:nvPr/>
            </p:nvSpPr>
            <p:spPr>
              <a:xfrm>
                <a:off x="9314121" y="3939041"/>
                <a:ext cx="2745543" cy="982995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US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𝐙</m:t>
                          </m:r>
                          <m:r>
                            <a:rPr lang="en-IN" sz="2600" b="1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6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e>
                      </m:d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600" b="1" i="0" smtClean="0">
                          <a:latin typeface="Cambria Math" panose="02040503050406030204" pitchFamily="18" charset="0"/>
                        </a:rPr>
                        <m:t>𝟒𝟖𝟕𝟖</m:t>
                      </m:r>
                    </m:oMath>
                  </m:oMathPara>
                </a14:m>
                <a:endParaRPr lang="en-IN" sz="2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E90C733-AD87-5B24-1BD8-9D0F7DF47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4121" y="3939041"/>
                <a:ext cx="2745543" cy="9829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41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23" grpId="0"/>
      <p:bldP spid="24" grpId="0" animBg="1"/>
      <p:bldP spid="26" grpId="0" animBg="1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63397-776A-003E-7078-5DC2AF0CF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075E-F5E8-759E-F081-B003D491F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15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52B504E-82D4-36B3-E9E2-A87C6C1F74FA}"/>
                  </a:ext>
                </a:extLst>
              </p:cNvPr>
              <p:cNvSpPr/>
              <p:nvPr/>
            </p:nvSpPr>
            <p:spPr>
              <a:xfrm>
                <a:off x="76156" y="797959"/>
                <a:ext cx="63812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0.748&lt;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&lt;0.756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9477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52B504E-82D4-36B3-E9E2-A87C6C1F74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6" y="797959"/>
                <a:ext cx="638126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11173CB-353B-27EA-C9F9-213864B30732}"/>
                  </a:ext>
                </a:extLst>
              </p:cNvPr>
              <p:cNvSpPr/>
              <p:nvPr/>
            </p:nvSpPr>
            <p:spPr>
              <a:xfrm>
                <a:off x="346342" y="1321179"/>
                <a:ext cx="11759068" cy="11611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If you pick one brass plug at random from the machine, the chance that it will be selected is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0.9477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(about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94.77%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).</a:t>
                </a:r>
                <a:endParaRPr lang="en-IN" sz="28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11173CB-353B-27EA-C9F9-213864B307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42" y="1321179"/>
                <a:ext cx="11759068" cy="1161152"/>
              </a:xfrm>
              <a:prstGeom prst="rect">
                <a:avLst/>
              </a:prstGeom>
              <a:blipFill>
                <a:blip r:embed="rId3"/>
                <a:stretch>
                  <a:fillRect l="-1089" r="-1037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97C9DCF-5F4C-84F4-B324-599710CAE24C}"/>
                  </a:ext>
                </a:extLst>
              </p:cNvPr>
              <p:cNvSpPr/>
              <p:nvPr/>
            </p:nvSpPr>
            <p:spPr>
              <a:xfrm>
                <a:off x="76156" y="2743941"/>
                <a:ext cx="63812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rejected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sele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cted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97C9DCF-5F4C-84F4-B324-599710CAE2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6" y="2743941"/>
                <a:ext cx="638126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B108FD7-EECD-7CED-CF38-E447F52451CE}"/>
                  </a:ext>
                </a:extLst>
              </p:cNvPr>
              <p:cNvSpPr/>
              <p:nvPr/>
            </p:nvSpPr>
            <p:spPr>
              <a:xfrm>
                <a:off x="76156" y="3528771"/>
                <a:ext cx="63812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rejected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9477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B108FD7-EECD-7CED-CF38-E447F52451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6" y="3528771"/>
                <a:ext cx="638126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037D5D5-5078-C580-7C87-523893C5224A}"/>
                  </a:ext>
                </a:extLst>
              </p:cNvPr>
              <p:cNvSpPr/>
              <p:nvPr/>
            </p:nvSpPr>
            <p:spPr>
              <a:xfrm>
                <a:off x="76156" y="4313601"/>
                <a:ext cx="41321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rejected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0.0523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037D5D5-5078-C580-7C87-523893C522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6" y="4313601"/>
                <a:ext cx="413216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AE4C85E-48E5-6D17-7D70-88F147174938}"/>
                  </a:ext>
                </a:extLst>
              </p:cNvPr>
              <p:cNvSpPr/>
              <p:nvPr/>
            </p:nvSpPr>
            <p:spPr>
              <a:xfrm>
                <a:off x="346342" y="4956245"/>
                <a:ext cx="11759068" cy="11611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ea typeface="Cambria Math" panose="02040503050406030204" pitchFamily="18" charset="0"/>
                  </a:rPr>
                  <a:t>If you pick one brass plug at random from the machine, the chance that it will be rejected is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0.0523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(about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5.23%</m:t>
                    </m:r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).</a:t>
                </a:r>
                <a:endParaRPr lang="en-IN" sz="28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AE4C85E-48E5-6D17-7D70-88F1471749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42" y="4956245"/>
                <a:ext cx="11759068" cy="1161152"/>
              </a:xfrm>
              <a:prstGeom prst="rect">
                <a:avLst/>
              </a:prstGeom>
              <a:blipFill>
                <a:blip r:embed="rId7"/>
                <a:stretch>
                  <a:fillRect l="-1089" r="-1037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91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3" grpId="0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15 (Continue)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2412" y="770364"/>
            <a:ext cx="6238779" cy="664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  <a:ea typeface="Cambria Math" panose="02040503050406030204" pitchFamily="18" charset="0"/>
              </a:rPr>
              <a:t>Number of Plugs Rejected (Out of 1000) </a:t>
            </a:r>
            <a:endParaRPr lang="en-IN" sz="28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090F483-D6DD-B904-9F91-D58E0527C8A5}"/>
                  </a:ext>
                </a:extLst>
              </p:cNvPr>
              <p:cNvSpPr/>
              <p:nvPr/>
            </p:nvSpPr>
            <p:spPr>
              <a:xfrm>
                <a:off x="1034857" y="1474713"/>
                <a:ext cx="3952779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0.0523</m:t>
                      </m:r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090F483-D6DD-B904-9F91-D58E0527C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857" y="1474713"/>
                <a:ext cx="3952779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B8279C-6C25-6562-D5B3-EC5444FE69C2}"/>
                  </a:ext>
                </a:extLst>
              </p:cNvPr>
              <p:cNvSpPr/>
              <p:nvPr/>
            </p:nvSpPr>
            <p:spPr>
              <a:xfrm>
                <a:off x="1034857" y="2313288"/>
                <a:ext cx="2830562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52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B8279C-6C25-6562-D5B3-EC5444FE69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857" y="2313288"/>
                <a:ext cx="283056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79D4530-DA6A-9D99-275A-AF1B4365090D}"/>
              </a:ext>
            </a:extLst>
          </p:cNvPr>
          <p:cNvSpPr/>
          <p:nvPr/>
        </p:nvSpPr>
        <p:spPr>
          <a:xfrm>
            <a:off x="172412" y="3050138"/>
            <a:ext cx="8994488" cy="665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Since we cannot reject a fraction of a plug,</a:t>
            </a:r>
            <a:endParaRPr lang="en-IN" sz="2800" i="1" dirty="0">
              <a:solidFill>
                <a:schemeClr val="tx1"/>
              </a:solidFill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9DD5C1B-112B-0466-7904-F6A898D34876}"/>
                  </a:ext>
                </a:extLst>
              </p:cNvPr>
              <p:cNvSpPr/>
              <p:nvPr/>
            </p:nvSpPr>
            <p:spPr>
              <a:xfrm>
                <a:off x="490392" y="3815680"/>
                <a:ext cx="8165235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Number of plugs likely to be rejected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≈52</m:t>
                    </m:r>
                  </m:oMath>
                </a14:m>
                <a:endParaRPr lang="en-US" sz="2800" dirty="0">
                  <a:solidFill>
                    <a:srgbClr val="002060"/>
                  </a:solidFill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9DD5C1B-112B-0466-7904-F6A898D348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92" y="3815680"/>
                <a:ext cx="8165235" cy="665631"/>
              </a:xfrm>
              <a:prstGeom prst="rect">
                <a:avLst/>
              </a:prstGeom>
              <a:blipFill>
                <a:blip r:embed="rId4"/>
                <a:stretch>
                  <a:fillRect l="-1493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564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249D3-9883-3A50-8944-D25AEF88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A6AE4C0-7B0C-C1CA-8023-1B4007C4E5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43323"/>
                <a:ext cx="11929643" cy="241602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In an examination, minimum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en-US" dirty="0"/>
                  <a:t> marks for passing and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75</a:t>
                </a:r>
                <a:r>
                  <a:rPr lang="en-US" dirty="0"/>
                  <a:t> marks for distinction are required. In this examination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45%</a:t>
                </a:r>
                <a:r>
                  <a:rPr lang="en-US" dirty="0"/>
                  <a:t> students passed and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9%</a:t>
                </a:r>
                <a:r>
                  <a:rPr lang="en-US" dirty="0"/>
                  <a:t> obtained distinction. Find average marks and standard deviation of this distribution of marks.</a:t>
                </a:r>
                <a:endParaRPr lang="en-IN" dirty="0"/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𝟏𝟐𝟓</m:t>
                              </m:r>
                            </m:e>
                          </m:d>
                          <m:r>
                            <a:rPr lang="en-US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𝟎𝟓</m:t>
                          </m:r>
                          <m:r>
                            <a:rPr lang="en-US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  <m:r>
                                <a:rPr lang="en-IN" b="1" i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𝟑𝟒</m:t>
                              </m:r>
                            </m:e>
                          </m:d>
                          <m:r>
                            <a:rPr lang="en-US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𝟒𝟎𝟗𝟗</m:t>
                          </m:r>
                          <m:r>
                            <a:rPr lang="en-IN" b="1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A6AE4C0-7B0C-C1CA-8023-1B4007C4E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43323"/>
                <a:ext cx="11929643" cy="2416024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70BA1B9-AFA0-A709-2730-3E53BF533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 ⇝ Example 17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18ECF-3096-D20E-9432-63C0079FFBA6}"/>
              </a:ext>
            </a:extLst>
          </p:cNvPr>
          <p:cNvSpPr/>
          <p:nvPr/>
        </p:nvSpPr>
        <p:spPr>
          <a:xfrm>
            <a:off x="131177" y="3429000"/>
            <a:ext cx="1514204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858118A-912A-2A22-5D41-4257D37A1534}"/>
                  </a:ext>
                </a:extLst>
              </p:cNvPr>
              <p:cNvSpPr/>
              <p:nvPr/>
            </p:nvSpPr>
            <p:spPr>
              <a:xfrm>
                <a:off x="1645381" y="3429000"/>
                <a:ext cx="578411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marks obtained by a student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858118A-912A-2A22-5D41-4257D37A15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381" y="3429000"/>
                <a:ext cx="5784119" cy="523220"/>
              </a:xfrm>
              <a:prstGeom prst="rect">
                <a:avLst/>
              </a:prstGeom>
              <a:blipFill>
                <a:blip r:embed="rId3"/>
                <a:stretch>
                  <a:fillRect l="-2213" t="-11765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D2D27C5-FD12-32D3-18B8-FC2A73890767}"/>
                  </a:ext>
                </a:extLst>
              </p:cNvPr>
              <p:cNvSpPr/>
              <p:nvPr/>
            </p:nvSpPr>
            <p:spPr>
              <a:xfrm>
                <a:off x="1645381" y="4121873"/>
                <a:ext cx="10415439" cy="11611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follows normal distribution with mean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standard deviation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D2D27C5-FD12-32D3-18B8-FC2A73890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381" y="4121873"/>
                <a:ext cx="10415439" cy="1161152"/>
              </a:xfrm>
              <a:prstGeom prst="rect">
                <a:avLst/>
              </a:prstGeom>
              <a:blipFill>
                <a:blip r:embed="rId4"/>
                <a:stretch>
                  <a:fillRect l="-1230" r="-1171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144E0F-DD3B-8DA5-DD97-3C5870C2EF20}"/>
                  </a:ext>
                </a:extLst>
              </p:cNvPr>
              <p:cNvSpPr/>
              <p:nvPr/>
            </p:nvSpPr>
            <p:spPr>
              <a:xfrm>
                <a:off x="10693717" y="4826583"/>
                <a:ext cx="1367103" cy="767573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𝛍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144E0F-DD3B-8DA5-DD97-3C5870C2EF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3717" y="4826583"/>
                <a:ext cx="1367103" cy="767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22DA9C-133A-E327-FF78-BB69845A5233}"/>
                  </a:ext>
                </a:extLst>
              </p:cNvPr>
              <p:cNvSpPr/>
              <p:nvPr/>
            </p:nvSpPr>
            <p:spPr>
              <a:xfrm>
                <a:off x="10693716" y="5761764"/>
                <a:ext cx="1367103" cy="767573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𝛔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F22DA9C-133A-E327-FF78-BB69845A52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3716" y="5761764"/>
                <a:ext cx="1367103" cy="7675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94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6938" y="785953"/>
                <a:ext cx="11998123" cy="5155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75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Given, </a:t>
                </a:r>
                <a14:m>
                  <m:oMath xmlns:m="http://schemas.openxmlformats.org/officeDocument/2006/math">
                    <m:r>
                      <a:rPr lang="en-US" sz="275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45</m:t>
                    </m:r>
                    <m:r>
                      <a:rPr lang="en-US" sz="2750" b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75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students passed in the exam</a:t>
                </a:r>
                <a:r>
                  <a:rPr lang="en-US" sz="275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US" sz="275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for which minimum </a:t>
                </a:r>
                <a14:m>
                  <m:oMath xmlns:m="http://schemas.openxmlformats.org/officeDocument/2006/math">
                    <m:r>
                      <a:rPr lang="en-US" sz="275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sz="275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marks are required.</a:t>
                </a:r>
                <a:endParaRPr lang="en-IN" sz="275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785953"/>
                <a:ext cx="11998123" cy="515526"/>
              </a:xfrm>
              <a:prstGeom prst="rect">
                <a:avLst/>
              </a:prstGeom>
              <a:blipFill>
                <a:blip r:embed="rId2"/>
                <a:stretch>
                  <a:fillRect l="-1016" t="-11905" b="-32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990161" y="2289479"/>
                <a:ext cx="1951630" cy="1108814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𝛍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161" y="2289479"/>
                <a:ext cx="1951630" cy="11088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74920" y="4879699"/>
                <a:ext cx="39970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0" y="4879699"/>
                <a:ext cx="399708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74920" y="3214868"/>
                <a:ext cx="5264454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IN" sz="2800" b="1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0" y="3214868"/>
                <a:ext cx="5264454" cy="10604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2090327-1D1F-A6B6-F7FE-AEBF1FE71A74}"/>
                  </a:ext>
                </a:extLst>
              </p:cNvPr>
              <p:cNvSpPr/>
              <p:nvPr/>
            </p:nvSpPr>
            <p:spPr>
              <a:xfrm>
                <a:off x="96938" y="1273811"/>
                <a:ext cx="4329589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That is</a:t>
                </a:r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45%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2090327-1D1F-A6B6-F7FE-AEBF1FE71A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1273811"/>
                <a:ext cx="4329589" cy="664221"/>
              </a:xfrm>
              <a:prstGeom prst="rect">
                <a:avLst/>
              </a:prstGeom>
              <a:blipFill>
                <a:blip r:embed="rId6"/>
                <a:stretch>
                  <a:fillRect l="-295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55A3782-9857-C65A-BBBE-F27ED674E9E9}"/>
                  </a:ext>
                </a:extLst>
              </p:cNvPr>
              <p:cNvSpPr/>
              <p:nvPr/>
            </p:nvSpPr>
            <p:spPr>
              <a:xfrm>
                <a:off x="574920" y="2027720"/>
                <a:ext cx="4329589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55A3782-9857-C65A-BBBE-F27ED674E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0" y="2027720"/>
                <a:ext cx="4329589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69B09F28-32BF-05D8-997C-FE6CCCAF64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3751" y="4358478"/>
                <a:ext cx="3263630" cy="14708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; </m:t>
                      </m:r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where</m:t>
                      </m:r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69B09F28-32BF-05D8-997C-FE6CCCAF6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751" y="4358478"/>
                <a:ext cx="3263630" cy="14708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25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9" grpId="0"/>
      <p:bldP spid="11" grpId="0"/>
      <p:bldP spid="10" grpId="0"/>
      <p:bldP spid="12" grpId="0"/>
      <p:bldP spid="15" grpId="0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BA56-6BC9-E5EF-CDC3-DD91DBA0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70ED-510C-5A85-6CCB-5A6088976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⇝ </a:t>
            </a:r>
            <a:r>
              <a:rPr lang="en-GB" dirty="0">
                <a:solidFill>
                  <a:srgbClr val="FF0000"/>
                </a:solidFill>
              </a:rPr>
              <a:t>For Understanding Only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B002B8F-1A47-AC1B-1195-C17590C75AEA}"/>
                  </a:ext>
                </a:extLst>
              </p:cNvPr>
              <p:cNvSpPr/>
              <p:nvPr/>
            </p:nvSpPr>
            <p:spPr>
              <a:xfrm>
                <a:off x="128111" y="1014281"/>
                <a:ext cx="39970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B002B8F-1A47-AC1B-1195-C17590C75A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1" y="1014281"/>
                <a:ext cx="399708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5B713DBC-2751-1EBF-F7F6-CD484C00B2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6942" y="493060"/>
                <a:ext cx="3263630" cy="14708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; </m:t>
                      </m:r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where</m:t>
                      </m:r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5B713DBC-2751-1EBF-F7F6-CD484C00B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942" y="493060"/>
                <a:ext cx="3263630" cy="147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74068066-EDD8-5B35-3341-40EABA4479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5742997"/>
                <a:ext cx="6637211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b="0" dirty="0"/>
                  <a:t>For which 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=0.45</m:t>
                    </m:r>
                  </m:oMath>
                </a14:m>
                <a:r>
                  <a:rPr lang="en-US" dirty="0"/>
                  <a:t> is true? : </a:t>
                </a:r>
              </a:p>
            </p:txBody>
          </p:sp>
        </mc:Choice>
        <mc:Fallback xmlns="">
          <p:sp>
            <p:nvSpPr>
              <p:cNvPr id="27" name="Content Placeholder 4">
                <a:extLst>
                  <a:ext uri="{FF2B5EF4-FFF2-40B4-BE49-F238E27FC236}">
                    <a16:creationId xmlns:a16="http://schemas.microsoft.com/office/drawing/2014/main" id="{74068066-EDD8-5B35-3341-40EABA447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5742997"/>
                <a:ext cx="6637211" cy="711200"/>
              </a:xfrm>
              <a:prstGeom prst="rect">
                <a:avLst/>
              </a:prstGeom>
              <a:blipFill>
                <a:blip r:embed="rId6"/>
                <a:stretch>
                  <a:fillRect l="-1837" b="-17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E4DD115-F256-62CB-593C-667761448AA5}"/>
              </a:ext>
            </a:extLst>
          </p:cNvPr>
          <p:cNvSpPr/>
          <p:nvPr/>
        </p:nvSpPr>
        <p:spPr>
          <a:xfrm>
            <a:off x="2101700" y="1824578"/>
            <a:ext cx="2632858" cy="3038881"/>
          </a:xfrm>
          <a:custGeom>
            <a:avLst/>
            <a:gdLst>
              <a:gd name="csX0" fmla="*/ 620725 w 2632858"/>
              <a:gd name="csY0" fmla="*/ 1 h 3038881"/>
              <a:gd name="csX1" fmla="*/ 1864232 w 2632858"/>
              <a:gd name="csY1" fmla="*/ 2159551 h 3038881"/>
              <a:gd name="csX2" fmla="*/ 2520571 w 2632858"/>
              <a:gd name="csY2" fmla="*/ 2865441 h 3038881"/>
              <a:gd name="csX3" fmla="*/ 2632858 w 2632858"/>
              <a:gd name="csY3" fmla="*/ 2878938 h 3038881"/>
              <a:gd name="csX4" fmla="*/ 2632858 w 2632858"/>
              <a:gd name="csY4" fmla="*/ 3038881 h 3038881"/>
              <a:gd name="csX5" fmla="*/ 0 w 2632858"/>
              <a:gd name="csY5" fmla="*/ 3038881 h 3038881"/>
              <a:gd name="csX6" fmla="*/ 0 w 2632858"/>
              <a:gd name="csY6" fmla="*/ 730277 h 3038881"/>
              <a:gd name="csX7" fmla="*/ 83086 w 2632858"/>
              <a:gd name="csY7" fmla="*/ 566454 h 3038881"/>
              <a:gd name="csX8" fmla="*/ 620725 w 2632858"/>
              <a:gd name="csY8" fmla="*/ 1 h 3038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32858" h="3038881">
                <a:moveTo>
                  <a:pt x="620725" y="1"/>
                </a:moveTo>
                <a:cubicBezTo>
                  <a:pt x="1096600" y="725"/>
                  <a:pt x="1659801" y="1727062"/>
                  <a:pt x="1864232" y="2159551"/>
                </a:cubicBezTo>
                <a:cubicBezTo>
                  <a:pt x="2043108" y="2537979"/>
                  <a:pt x="2237721" y="2800947"/>
                  <a:pt x="2520571" y="2865441"/>
                </a:cubicBezTo>
                <a:lnTo>
                  <a:pt x="2632858" y="2878938"/>
                </a:lnTo>
                <a:lnTo>
                  <a:pt x="2632858" y="3038881"/>
                </a:lnTo>
                <a:lnTo>
                  <a:pt x="0" y="3038881"/>
                </a:lnTo>
                <a:lnTo>
                  <a:pt x="0" y="730277"/>
                </a:lnTo>
                <a:lnTo>
                  <a:pt x="83086" y="566454"/>
                </a:lnTo>
                <a:cubicBezTo>
                  <a:pt x="256530" y="241325"/>
                  <a:pt x="442272" y="-270"/>
                  <a:pt x="620725" y="1"/>
                </a:cubicBezTo>
                <a:close/>
              </a:path>
            </a:pathLst>
          </a:custGeom>
          <a:pattFill prst="trellis">
            <a:fgClr>
              <a:srgbClr val="009788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5A9F4BE-19F2-0BF0-D530-A2F65EF19CBE}"/>
              </a:ext>
            </a:extLst>
          </p:cNvPr>
          <p:cNvCxnSpPr>
            <a:cxnSpLocks/>
          </p:cNvCxnSpPr>
          <p:nvPr/>
        </p:nvCxnSpPr>
        <p:spPr>
          <a:xfrm flipV="1">
            <a:off x="2087665" y="2570928"/>
            <a:ext cx="0" cy="23040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27B21799-010C-C878-1AC6-DFEAF4739B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87607" y="4875018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27B21799-010C-C878-1AC6-DFEAF4739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607" y="4875018"/>
                <a:ext cx="657306" cy="4801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79224B7D-9DF6-7EAA-38C6-F928ADF5B19E}"/>
              </a:ext>
            </a:extLst>
          </p:cNvPr>
          <p:cNvGrpSpPr/>
          <p:nvPr/>
        </p:nvGrpSpPr>
        <p:grpSpPr>
          <a:xfrm>
            <a:off x="720437" y="1837304"/>
            <a:ext cx="4798693" cy="3554157"/>
            <a:chOff x="720437" y="1837304"/>
            <a:chExt cx="4798693" cy="355415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9050916-EF8E-02CA-B45E-CBE33CF1762C}"/>
                </a:ext>
              </a:extLst>
            </p:cNvPr>
            <p:cNvCxnSpPr>
              <a:cxnSpLocks/>
            </p:cNvCxnSpPr>
            <p:nvPr/>
          </p:nvCxnSpPr>
          <p:spPr>
            <a:xfrm>
              <a:off x="2699961" y="1843156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AA1C560-8049-24C0-8FE0-D5D437AF4CCC}"/>
                </a:ext>
              </a:extLst>
            </p:cNvPr>
            <p:cNvSpPr/>
            <p:nvPr/>
          </p:nvSpPr>
          <p:spPr>
            <a:xfrm>
              <a:off x="720437" y="18373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14E6786-950A-0C38-33B2-8EFB545289CF}"/>
                </a:ext>
              </a:extLst>
            </p:cNvPr>
            <p:cNvCxnSpPr>
              <a:cxnSpLocks/>
            </p:cNvCxnSpPr>
            <p:nvPr/>
          </p:nvCxnSpPr>
          <p:spPr>
            <a:xfrm>
              <a:off x="720437" y="48761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ontent Placeholder 4">
                  <a:extLst>
                    <a:ext uri="{FF2B5EF4-FFF2-40B4-BE49-F238E27FC236}">
                      <a16:creationId xmlns:a16="http://schemas.microsoft.com/office/drawing/2014/main" id="{D10138DE-3E6E-4A69-EE14-CFE1CCB3217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094097" y="2717800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ln w="38100">
                  <a:solidFill>
                    <a:srgbClr val="C76765"/>
                  </a:solidFill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l">
                    <a:buNone/>
                  </a:pPr>
                  <a:r>
                    <a:rPr lang="en-IN" sz="2400" b="1" dirty="0"/>
                    <a:t>Curve </a:t>
                  </a:r>
                  <a14:m>
                    <m:oMath xmlns:m="http://schemas.openxmlformats.org/officeDocument/2006/math"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8" name="Content Placeholder 4">
                  <a:extLst>
                    <a:ext uri="{FF2B5EF4-FFF2-40B4-BE49-F238E27FC236}">
                      <a16:creationId xmlns:a16="http://schemas.microsoft.com/office/drawing/2014/main" id="{D10138DE-3E6E-4A69-EE14-CFE1CCB32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4097" y="2717800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solidFill>
                    <a:srgbClr val="C76765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6895426A-478F-756F-5727-903BA31C28E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80141" y="491133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Content Placeholder 2">
                  <a:extLst>
                    <a:ext uri="{FF2B5EF4-FFF2-40B4-BE49-F238E27FC236}">
                      <a16:creationId xmlns:a16="http://schemas.microsoft.com/office/drawing/2014/main" id="{6895426A-478F-756F-5727-903BA31C28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0141" y="4911330"/>
                  <a:ext cx="657306" cy="4801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8DEA5ED3-D75E-CA7E-65D7-35739A871B6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10062" y="4882358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Content Placeholder 2">
                  <a:extLst>
                    <a:ext uri="{FF2B5EF4-FFF2-40B4-BE49-F238E27FC236}">
                      <a16:creationId xmlns:a16="http://schemas.microsoft.com/office/drawing/2014/main" id="{8DEA5ED3-D75E-CA7E-65D7-35739A871B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0062" y="4882358"/>
                  <a:ext cx="657306" cy="4801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F5CEB7C6-D07E-7ADC-BB9F-5B20DF9C96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3491" y="5784561"/>
                <a:ext cx="1412119" cy="711200"/>
              </a:xfrm>
              <a:prstGeom prst="rect">
                <a:avLst/>
              </a:prstGeom>
              <a:ln w="38100">
                <a:solidFill>
                  <a:srgbClr val="C76765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400" b="1">
                    <a:solidFill>
                      <a:srgbClr val="002060"/>
                    </a:solidFill>
                  </a:defRPr>
                </a:lvl1pPr>
                <a:lvl2pPr marL="714375" indent="-352425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IN" dirty="0"/>
                  <a:t>Curve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F5CEB7C6-D07E-7ADC-BB9F-5B20DF9C9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491" y="5784561"/>
                <a:ext cx="1412119" cy="711200"/>
              </a:xfrm>
              <a:prstGeom prst="rect">
                <a:avLst/>
              </a:prstGeom>
              <a:blipFill>
                <a:blip r:embed="rId11"/>
                <a:stretch>
                  <a:fillRect l="-5042"/>
                </a:stretch>
              </a:blipFill>
              <a:ln w="38100">
                <a:solidFill>
                  <a:srgbClr val="C7676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424C45D-B2B1-D5D8-240D-0FFE6745B4EF}"/>
              </a:ext>
            </a:extLst>
          </p:cNvPr>
          <p:cNvSpPr/>
          <p:nvPr/>
        </p:nvSpPr>
        <p:spPr>
          <a:xfrm>
            <a:off x="9729109" y="2560537"/>
            <a:ext cx="1397547" cy="2302922"/>
          </a:xfrm>
          <a:custGeom>
            <a:avLst/>
            <a:gdLst>
              <a:gd name="csX0" fmla="*/ 0 w 1397547"/>
              <a:gd name="csY0" fmla="*/ 0 h 2302922"/>
              <a:gd name="csX1" fmla="*/ 8245 w 1397547"/>
              <a:gd name="csY1" fmla="*/ 15746 h 2302922"/>
              <a:gd name="csX2" fmla="*/ 614378 w 1397547"/>
              <a:gd name="csY2" fmla="*/ 1436317 h 2302922"/>
              <a:gd name="csX3" fmla="*/ 1270717 w 1397547"/>
              <a:gd name="csY3" fmla="*/ 2142207 h 2302922"/>
              <a:gd name="csX4" fmla="*/ 1397544 w 1397547"/>
              <a:gd name="csY4" fmla="*/ 2157452 h 2302922"/>
              <a:gd name="csX5" fmla="*/ 1397547 w 1397547"/>
              <a:gd name="csY5" fmla="*/ 2157452 h 2302922"/>
              <a:gd name="csX6" fmla="*/ 1397547 w 1397547"/>
              <a:gd name="csY6" fmla="*/ 2302922 h 2302922"/>
              <a:gd name="csX7" fmla="*/ 0 w 1397547"/>
              <a:gd name="csY7" fmla="*/ 2302922 h 2302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397547" h="2302922">
                <a:moveTo>
                  <a:pt x="0" y="0"/>
                </a:moveTo>
                <a:lnTo>
                  <a:pt x="8245" y="15746"/>
                </a:lnTo>
                <a:cubicBezTo>
                  <a:pt x="270876" y="540385"/>
                  <a:pt x="499386" y="1193042"/>
                  <a:pt x="614378" y="1436317"/>
                </a:cubicBezTo>
                <a:cubicBezTo>
                  <a:pt x="793254" y="1814745"/>
                  <a:pt x="987867" y="2077713"/>
                  <a:pt x="1270717" y="2142207"/>
                </a:cubicBezTo>
                <a:lnTo>
                  <a:pt x="1397544" y="2157452"/>
                </a:lnTo>
                <a:lnTo>
                  <a:pt x="1397547" y="2157452"/>
                </a:lnTo>
                <a:lnTo>
                  <a:pt x="1397547" y="2302922"/>
                </a:lnTo>
                <a:lnTo>
                  <a:pt x="0" y="2302922"/>
                </a:lnTo>
                <a:close/>
              </a:path>
            </a:pathLst>
          </a:custGeom>
          <a:pattFill prst="trellis">
            <a:fgClr>
              <a:srgbClr val="009788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719816-97CA-378A-9162-F156361D6073}"/>
              </a:ext>
            </a:extLst>
          </p:cNvPr>
          <p:cNvCxnSpPr>
            <a:cxnSpLocks/>
          </p:cNvCxnSpPr>
          <p:nvPr/>
        </p:nvCxnSpPr>
        <p:spPr>
          <a:xfrm flipV="1">
            <a:off x="9707665" y="2524991"/>
            <a:ext cx="0" cy="23511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D614F50A-2ACF-3A84-2871-A0D5D62D32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52032" y="4888913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D614F50A-2ACF-3A84-2871-A0D5D62D3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032" y="4888913"/>
                <a:ext cx="657306" cy="4801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3EA7EB7F-E8B9-9D8B-9D96-98D7BF59A1BA}"/>
              </a:ext>
            </a:extLst>
          </p:cNvPr>
          <p:cNvGrpSpPr/>
          <p:nvPr/>
        </p:nvGrpSpPr>
        <p:grpSpPr>
          <a:xfrm>
            <a:off x="7108382" y="1837304"/>
            <a:ext cx="4845197" cy="3567713"/>
            <a:chOff x="7108382" y="1837304"/>
            <a:chExt cx="4845197" cy="356771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91F8028-C96A-C446-01F4-2D996458E298}"/>
                </a:ext>
              </a:extLst>
            </p:cNvPr>
            <p:cNvCxnSpPr>
              <a:cxnSpLocks/>
            </p:cNvCxnSpPr>
            <p:nvPr/>
          </p:nvCxnSpPr>
          <p:spPr>
            <a:xfrm>
              <a:off x="9087906" y="1843156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8ABF1AD-A06F-C34D-5054-8D89C3A66E1A}"/>
                </a:ext>
              </a:extLst>
            </p:cNvPr>
            <p:cNvSpPr/>
            <p:nvPr/>
          </p:nvSpPr>
          <p:spPr>
            <a:xfrm>
              <a:off x="7108382" y="18373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4C4DEF-587C-3C6F-1525-904DA63CD7BA}"/>
                </a:ext>
              </a:extLst>
            </p:cNvPr>
            <p:cNvCxnSpPr>
              <a:cxnSpLocks/>
            </p:cNvCxnSpPr>
            <p:nvPr/>
          </p:nvCxnSpPr>
          <p:spPr>
            <a:xfrm>
              <a:off x="7108382" y="48761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BD4158F5-82CB-2181-A8CB-ACFE424149C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759253" y="492488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BD4158F5-82CB-2181-A8CB-ACFE424149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9253" y="4924886"/>
                  <a:ext cx="657306" cy="4801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8A80753B-AFCB-4E58-9125-BDBEDC1738B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798005" y="4885408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8A80753B-AFCB-4E58-9125-BDBEDC173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8005" y="4885408"/>
                  <a:ext cx="657306" cy="4801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4">
                  <a:extLst>
                    <a:ext uri="{FF2B5EF4-FFF2-40B4-BE49-F238E27FC236}">
                      <a16:creationId xmlns:a16="http://schemas.microsoft.com/office/drawing/2014/main" id="{412AA80C-6061-1785-C07A-331B7F6639D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528546" y="2770561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ln w="38100">
                  <a:solidFill>
                    <a:srgbClr val="C76765"/>
                  </a:solidFill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l">
                    <a:buNone/>
                  </a:pPr>
                  <a:r>
                    <a:rPr lang="en-IN" sz="2400" b="1" dirty="0"/>
                    <a:t>Curve </a:t>
                  </a:r>
                  <a14:m>
                    <m:oMath xmlns:m="http://schemas.openxmlformats.org/officeDocument/2006/math"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34" name="Content Placeholder 4">
                  <a:extLst>
                    <a:ext uri="{FF2B5EF4-FFF2-40B4-BE49-F238E27FC236}">
                      <a16:creationId xmlns:a16="http://schemas.microsoft.com/office/drawing/2014/main" id="{412AA80C-6061-1785-C07A-331B7F663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8546" y="2770561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blipFill>
                  <a:blip r:embed="rId15"/>
                  <a:stretch>
                    <a:fillRect/>
                  </a:stretch>
                </a:blipFill>
                <a:ln w="38100">
                  <a:solidFill>
                    <a:srgbClr val="C76765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0490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allAtOnce"/>
      <p:bldP spid="41" grpId="0" animBg="1"/>
      <p:bldP spid="22" grpId="0"/>
      <p:bldP spid="33" grpId="0" build="allAtOnce" animBg="1"/>
      <p:bldP spid="44" grpId="0" animBg="1"/>
      <p:bldP spid="26" grpId="0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3F356-1A51-5452-6EFB-095D6CB5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8C3F-7483-0ED5-809B-F9D677443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CB06AE4-1DAF-6CA8-7FAF-E4FC359E663D}"/>
                  </a:ext>
                </a:extLst>
              </p:cNvPr>
              <p:cNvSpPr/>
              <p:nvPr/>
            </p:nvSpPr>
            <p:spPr>
              <a:xfrm>
                <a:off x="128111" y="1014281"/>
                <a:ext cx="39970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CB06AE4-1DAF-6CA8-7FAF-E4FC359E66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1" y="1014281"/>
                <a:ext cx="399708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8B8E492D-27F2-EF6A-8175-3155D0883E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6942" y="493060"/>
                <a:ext cx="3263630" cy="14708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; </m:t>
                      </m:r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where</m:t>
                      </m:r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8B8E492D-27F2-EF6A-8175-3155D0883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942" y="493060"/>
                <a:ext cx="3263630" cy="1470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4AC27ABB-D5EB-5F73-C196-D2F81FD4289C}"/>
              </a:ext>
            </a:extLst>
          </p:cNvPr>
          <p:cNvGrpSpPr/>
          <p:nvPr/>
        </p:nvGrpSpPr>
        <p:grpSpPr>
          <a:xfrm>
            <a:off x="654626" y="3891660"/>
            <a:ext cx="10659323" cy="2550704"/>
            <a:chOff x="250382" y="3047782"/>
            <a:chExt cx="13563772" cy="3572972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5F03419-FCDF-8E83-8481-75D0BE8A5DEE}"/>
                </a:ext>
              </a:extLst>
            </p:cNvPr>
            <p:cNvSpPr/>
            <p:nvPr/>
          </p:nvSpPr>
          <p:spPr>
            <a:xfrm>
              <a:off x="6867942" y="3095916"/>
              <a:ext cx="2009137" cy="3013994"/>
            </a:xfrm>
            <a:custGeom>
              <a:avLst/>
              <a:gdLst>
                <a:gd name="csX0" fmla="*/ 0 w 2009137"/>
                <a:gd name="csY0" fmla="*/ 0 h 3013994"/>
                <a:gd name="csX1" fmla="*/ 40066 w 2009137"/>
                <a:gd name="csY1" fmla="*/ 4494 h 3013994"/>
                <a:gd name="csX2" fmla="*/ 1238717 w 2009137"/>
                <a:gd name="csY2" fmla="*/ 2159013 h 3013994"/>
                <a:gd name="csX3" fmla="*/ 1895056 w 2009137"/>
                <a:gd name="csY3" fmla="*/ 2864903 h 3013994"/>
                <a:gd name="csX4" fmla="*/ 2009137 w 2009137"/>
                <a:gd name="csY4" fmla="*/ 2878616 h 3013994"/>
                <a:gd name="csX5" fmla="*/ 2009137 w 2009137"/>
                <a:gd name="csY5" fmla="*/ 3013994 h 3013994"/>
                <a:gd name="csX6" fmla="*/ 0 w 2009137"/>
                <a:gd name="csY6" fmla="*/ 3013994 h 3013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009137" h="3013994">
                  <a:moveTo>
                    <a:pt x="0" y="0"/>
                  </a:moveTo>
                  <a:lnTo>
                    <a:pt x="40066" y="4494"/>
                  </a:lnTo>
                  <a:cubicBezTo>
                    <a:pt x="505935" y="106820"/>
                    <a:pt x="1040675" y="1740040"/>
                    <a:pt x="1238717" y="2159013"/>
                  </a:cubicBezTo>
                  <a:cubicBezTo>
                    <a:pt x="1417593" y="2537441"/>
                    <a:pt x="1612206" y="2800409"/>
                    <a:pt x="1895056" y="2864903"/>
                  </a:cubicBezTo>
                  <a:lnTo>
                    <a:pt x="2009137" y="2878616"/>
                  </a:lnTo>
                  <a:lnTo>
                    <a:pt x="2009137" y="3013994"/>
                  </a:lnTo>
                  <a:lnTo>
                    <a:pt x="0" y="3013994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E7D202A-3AFF-DD88-FACF-7843B0B44BFD}"/>
                </a:ext>
              </a:extLst>
            </p:cNvPr>
            <p:cNvSpPr/>
            <p:nvPr/>
          </p:nvSpPr>
          <p:spPr>
            <a:xfrm>
              <a:off x="11439862" y="3047782"/>
              <a:ext cx="626647" cy="3038880"/>
            </a:xfrm>
            <a:custGeom>
              <a:avLst/>
              <a:gdLst>
                <a:gd name="csX0" fmla="*/ 18962 w 626647"/>
                <a:gd name="csY0" fmla="*/ 0 h 3038880"/>
                <a:gd name="csX1" fmla="*/ 567637 w 626647"/>
                <a:gd name="csY1" fmla="*/ 569578 h 3038880"/>
                <a:gd name="csX2" fmla="*/ 626647 w 626647"/>
                <a:gd name="csY2" fmla="*/ 682278 h 3038880"/>
                <a:gd name="csX3" fmla="*/ 626647 w 626647"/>
                <a:gd name="csY3" fmla="*/ 3038880 h 3038880"/>
                <a:gd name="csX4" fmla="*/ 0 w 626647"/>
                <a:gd name="csY4" fmla="*/ 3038880 h 3038880"/>
                <a:gd name="csX5" fmla="*/ 0 w 626647"/>
                <a:gd name="csY5" fmla="*/ 2068 h 30388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26647" h="3038880">
                  <a:moveTo>
                    <a:pt x="18962" y="0"/>
                  </a:moveTo>
                  <a:cubicBezTo>
                    <a:pt x="197415" y="272"/>
                    <a:pt x="388149" y="243208"/>
                    <a:pt x="567637" y="569578"/>
                  </a:cubicBezTo>
                  <a:lnTo>
                    <a:pt x="626647" y="682278"/>
                  </a:lnTo>
                  <a:lnTo>
                    <a:pt x="626647" y="3038880"/>
                  </a:lnTo>
                  <a:lnTo>
                    <a:pt x="0" y="3038880"/>
                  </a:lnTo>
                  <a:lnTo>
                    <a:pt x="0" y="2068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EBB14DE-543E-7F13-ACC0-64E9A6FF9AD7}"/>
                </a:ext>
              </a:extLst>
            </p:cNvPr>
            <p:cNvSpPr/>
            <p:nvPr/>
          </p:nvSpPr>
          <p:spPr>
            <a:xfrm>
              <a:off x="2871109" y="3776274"/>
              <a:ext cx="1397547" cy="2302922"/>
            </a:xfrm>
            <a:custGeom>
              <a:avLst/>
              <a:gdLst>
                <a:gd name="csX0" fmla="*/ 0 w 1397547"/>
                <a:gd name="csY0" fmla="*/ 0 h 2302922"/>
                <a:gd name="csX1" fmla="*/ 8245 w 1397547"/>
                <a:gd name="csY1" fmla="*/ 15746 h 2302922"/>
                <a:gd name="csX2" fmla="*/ 614378 w 1397547"/>
                <a:gd name="csY2" fmla="*/ 1436317 h 2302922"/>
                <a:gd name="csX3" fmla="*/ 1270717 w 1397547"/>
                <a:gd name="csY3" fmla="*/ 2142207 h 2302922"/>
                <a:gd name="csX4" fmla="*/ 1397544 w 1397547"/>
                <a:gd name="csY4" fmla="*/ 2157452 h 2302922"/>
                <a:gd name="csX5" fmla="*/ 1397547 w 1397547"/>
                <a:gd name="csY5" fmla="*/ 2157452 h 2302922"/>
                <a:gd name="csX6" fmla="*/ 1397547 w 1397547"/>
                <a:gd name="csY6" fmla="*/ 2302922 h 2302922"/>
                <a:gd name="csX7" fmla="*/ 0 w 1397547"/>
                <a:gd name="csY7" fmla="*/ 2302922 h 23029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397547" h="2302922">
                  <a:moveTo>
                    <a:pt x="0" y="0"/>
                  </a:moveTo>
                  <a:lnTo>
                    <a:pt x="8245" y="15746"/>
                  </a:lnTo>
                  <a:cubicBezTo>
                    <a:pt x="270876" y="540385"/>
                    <a:pt x="499386" y="1193042"/>
                    <a:pt x="614378" y="1436317"/>
                  </a:cubicBezTo>
                  <a:cubicBezTo>
                    <a:pt x="793254" y="1814745"/>
                    <a:pt x="987867" y="2077713"/>
                    <a:pt x="1270717" y="2142207"/>
                  </a:cubicBezTo>
                  <a:lnTo>
                    <a:pt x="1397544" y="2157452"/>
                  </a:lnTo>
                  <a:lnTo>
                    <a:pt x="1397547" y="2157452"/>
                  </a:lnTo>
                  <a:lnTo>
                    <a:pt x="1397547" y="2302922"/>
                  </a:lnTo>
                  <a:lnTo>
                    <a:pt x="0" y="2302922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FDE08D1-1B7C-B734-447D-4268047DAB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9665" y="3740728"/>
              <a:ext cx="0" cy="23511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05F21B8-BBF6-EBEC-5EDE-324B2BA5CFD2}"/>
                </a:ext>
              </a:extLst>
            </p:cNvPr>
            <p:cNvCxnSpPr>
              <a:cxnSpLocks/>
            </p:cNvCxnSpPr>
            <p:nvPr/>
          </p:nvCxnSpPr>
          <p:spPr>
            <a:xfrm>
              <a:off x="2229906" y="3058893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BD5E48D-F931-4A67-530B-DB2346D5E34F}"/>
                </a:ext>
              </a:extLst>
            </p:cNvPr>
            <p:cNvSpPr/>
            <p:nvPr/>
          </p:nvSpPr>
          <p:spPr>
            <a:xfrm>
              <a:off x="250382" y="3053041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F57F06-BFB7-AE58-A43A-CDB6DF098CD8}"/>
                </a:ext>
              </a:extLst>
            </p:cNvPr>
            <p:cNvCxnSpPr>
              <a:cxnSpLocks/>
            </p:cNvCxnSpPr>
            <p:nvPr/>
          </p:nvCxnSpPr>
          <p:spPr>
            <a:xfrm>
              <a:off x="250382" y="6091923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5FE25645-5D75-6A11-7646-FB527ABE1B3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93004" y="6077981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Content Placeholder 2">
                  <a:extLst>
                    <a:ext uri="{FF2B5EF4-FFF2-40B4-BE49-F238E27FC236}">
                      <a16:creationId xmlns:a16="http://schemas.microsoft.com/office/drawing/2014/main" id="{5FE25645-5D75-6A11-7646-FB527ABE1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3004" y="6077981"/>
                  <a:ext cx="657306" cy="480131"/>
                </a:xfrm>
                <a:prstGeom prst="rect">
                  <a:avLst/>
                </a:prstGeom>
                <a:blipFill>
                  <a:blip r:embed="rId5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9A3980A1-701C-DD92-416B-D391B27C25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904338" y="610465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9A3980A1-701C-DD92-416B-D391B27C25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4338" y="6104650"/>
                  <a:ext cx="657306" cy="480131"/>
                </a:xfrm>
                <a:prstGeom prst="rect">
                  <a:avLst/>
                </a:prstGeom>
                <a:blipFill>
                  <a:blip r:embed="rId6"/>
                  <a:stretch>
                    <a:fillRect b="-350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9F376356-B154-4368-5AB9-F33D6E06532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40004" y="6140623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9F376356-B154-4368-5AB9-F33D6E0653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0004" y="6140623"/>
                  <a:ext cx="657306" cy="4801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C5D68A5-F740-C361-4B72-BCE68F66C2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8087" y="3740728"/>
              <a:ext cx="0" cy="23511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D1BF0D2-140C-DD47-15A9-5F4D5F999028}"/>
                </a:ext>
              </a:extLst>
            </p:cNvPr>
            <p:cNvCxnSpPr>
              <a:cxnSpLocks/>
            </p:cNvCxnSpPr>
            <p:nvPr/>
          </p:nvCxnSpPr>
          <p:spPr>
            <a:xfrm>
              <a:off x="6838328" y="3058893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3675BA9-5B3F-A118-68B9-D71AA81C4EEB}"/>
                </a:ext>
              </a:extLst>
            </p:cNvPr>
            <p:cNvSpPr/>
            <p:nvPr/>
          </p:nvSpPr>
          <p:spPr>
            <a:xfrm>
              <a:off x="4858804" y="3053041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D8D4B9D-7F5B-B025-5A3B-E6CDC72DA4FC}"/>
                </a:ext>
              </a:extLst>
            </p:cNvPr>
            <p:cNvCxnSpPr>
              <a:cxnSpLocks/>
            </p:cNvCxnSpPr>
            <p:nvPr/>
          </p:nvCxnSpPr>
          <p:spPr>
            <a:xfrm>
              <a:off x="4858804" y="6091923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ontent Placeholder 2">
                  <a:extLst>
                    <a:ext uri="{FF2B5EF4-FFF2-40B4-BE49-F238E27FC236}">
                      <a16:creationId xmlns:a16="http://schemas.microsoft.com/office/drawing/2014/main" id="{D00C07E5-C9FB-80E1-C2A7-5978E895626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02454" y="610465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Content Placeholder 2">
                  <a:extLst>
                    <a:ext uri="{FF2B5EF4-FFF2-40B4-BE49-F238E27FC236}">
                      <a16:creationId xmlns:a16="http://schemas.microsoft.com/office/drawing/2014/main" id="{D00C07E5-C9FB-80E1-C2A7-5978E89562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2454" y="6104650"/>
                  <a:ext cx="657306" cy="480131"/>
                </a:xfrm>
                <a:prstGeom prst="rect">
                  <a:avLst/>
                </a:prstGeom>
                <a:blipFill>
                  <a:blip r:embed="rId8"/>
                  <a:stretch>
                    <a:fillRect b="-2280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ontent Placeholder 2">
                  <a:extLst>
                    <a:ext uri="{FF2B5EF4-FFF2-40B4-BE49-F238E27FC236}">
                      <a16:creationId xmlns:a16="http://schemas.microsoft.com/office/drawing/2014/main" id="{1A3F85A0-9296-A672-5BE7-ED94F158CE0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512760" y="612896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" name="Content Placeholder 2">
                  <a:extLst>
                    <a:ext uri="{FF2B5EF4-FFF2-40B4-BE49-F238E27FC236}">
                      <a16:creationId xmlns:a16="http://schemas.microsoft.com/office/drawing/2014/main" id="{1A3F85A0-9296-A672-5BE7-ED94F158C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2760" y="6128967"/>
                  <a:ext cx="657306" cy="480131"/>
                </a:xfrm>
                <a:prstGeom prst="rect">
                  <a:avLst/>
                </a:prstGeom>
                <a:blipFill>
                  <a:blip r:embed="rId9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ontent Placeholder 2">
                  <a:extLst>
                    <a:ext uri="{FF2B5EF4-FFF2-40B4-BE49-F238E27FC236}">
                      <a16:creationId xmlns:a16="http://schemas.microsoft.com/office/drawing/2014/main" id="{F3EC7A32-D935-33D1-3179-F7AE3CDA394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548426" y="6140623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Content Placeholder 2">
                  <a:extLst>
                    <a:ext uri="{FF2B5EF4-FFF2-40B4-BE49-F238E27FC236}">
                      <a16:creationId xmlns:a16="http://schemas.microsoft.com/office/drawing/2014/main" id="{F3EC7A32-D935-33D1-3179-F7AE3CDA3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8426" y="6140623"/>
                  <a:ext cx="657306" cy="4801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FA3AA95-CD81-E311-20EF-28C525A5D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66509" y="3740728"/>
              <a:ext cx="0" cy="23511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CB0C59E-6372-A1E3-6C8B-7C024F8B2F3F}"/>
                </a:ext>
              </a:extLst>
            </p:cNvPr>
            <p:cNvCxnSpPr>
              <a:cxnSpLocks/>
            </p:cNvCxnSpPr>
            <p:nvPr/>
          </p:nvCxnSpPr>
          <p:spPr>
            <a:xfrm>
              <a:off x="11446750" y="3058893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8499F4-B49A-7DBF-ECDB-FF53C3C46551}"/>
                </a:ext>
              </a:extLst>
            </p:cNvPr>
            <p:cNvSpPr/>
            <p:nvPr/>
          </p:nvSpPr>
          <p:spPr>
            <a:xfrm>
              <a:off x="9467226" y="3053041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49717F-5E64-A474-71C9-9807406D0667}"/>
                </a:ext>
              </a:extLst>
            </p:cNvPr>
            <p:cNvCxnSpPr>
              <a:cxnSpLocks/>
            </p:cNvCxnSpPr>
            <p:nvPr/>
          </p:nvCxnSpPr>
          <p:spPr>
            <a:xfrm>
              <a:off x="9467226" y="6091923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95F5F7ED-2254-F573-9B21-163EE426E6D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810876" y="610465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95F5F7ED-2254-F573-9B21-163EE426E6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10876" y="6104650"/>
                  <a:ext cx="657306" cy="480131"/>
                </a:xfrm>
                <a:prstGeom prst="rect">
                  <a:avLst/>
                </a:prstGeom>
                <a:blipFill>
                  <a:blip r:embed="rId11"/>
                  <a:stretch>
                    <a:fillRect b="-2280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F7C247A1-449D-A89E-3044-5606F07A692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153570" y="610465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Content Placeholder 2">
                  <a:extLst>
                    <a:ext uri="{FF2B5EF4-FFF2-40B4-BE49-F238E27FC236}">
                      <a16:creationId xmlns:a16="http://schemas.microsoft.com/office/drawing/2014/main" id="{F7C247A1-449D-A89E-3044-5606F07A69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3570" y="6104650"/>
                  <a:ext cx="657306" cy="480131"/>
                </a:xfrm>
                <a:prstGeom prst="rect">
                  <a:avLst/>
                </a:prstGeom>
                <a:blipFill>
                  <a:blip r:embed="rId12"/>
                  <a:stretch>
                    <a:fillRect b="-350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2199704B-147F-AB72-5507-3581C637E46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156848" y="6140623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Content Placeholder 2">
                  <a:extLst>
                    <a:ext uri="{FF2B5EF4-FFF2-40B4-BE49-F238E27FC236}">
                      <a16:creationId xmlns:a16="http://schemas.microsoft.com/office/drawing/2014/main" id="{2199704B-147F-AB72-5507-3581C637E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56848" y="6140623"/>
                  <a:ext cx="657306" cy="4801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ontent Placeholder 2">
                  <a:extLst>
                    <a:ext uri="{FF2B5EF4-FFF2-40B4-BE49-F238E27FC236}">
                      <a16:creationId xmlns:a16="http://schemas.microsoft.com/office/drawing/2014/main" id="{DB0E0A6F-702C-6869-17A4-B088FBCAF57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275544" y="448176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" name="Content Placeholder 2">
                  <a:extLst>
                    <a:ext uri="{FF2B5EF4-FFF2-40B4-BE49-F238E27FC236}">
                      <a16:creationId xmlns:a16="http://schemas.microsoft.com/office/drawing/2014/main" id="{DB0E0A6F-702C-6869-17A4-B088FBCAF5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5544" y="4481767"/>
                  <a:ext cx="657306" cy="4801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EF82DAA6-C851-1A34-A1E1-33DA26ABC40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992238" y="448176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Content Placeholder 2">
                  <a:extLst>
                    <a:ext uri="{FF2B5EF4-FFF2-40B4-BE49-F238E27FC236}">
                      <a16:creationId xmlns:a16="http://schemas.microsoft.com/office/drawing/2014/main" id="{EF82DAA6-C851-1A34-A1E1-33DA26ABC4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2238" y="4481766"/>
                  <a:ext cx="657306" cy="4801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E9FF40C-7D09-01B5-FDFE-9DB010AE5DD7}"/>
                  </a:ext>
                </a:extLst>
              </p:cNvPr>
              <p:cNvSpPr/>
              <p:nvPr/>
            </p:nvSpPr>
            <p:spPr>
              <a:xfrm>
                <a:off x="128111" y="1904947"/>
                <a:ext cx="6916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E9FF40C-7D09-01B5-FDFE-9DB010AE5D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1" y="1904947"/>
                <a:ext cx="6916925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5FE393E-03F9-57B5-D934-598CAD61EC32}"/>
                  </a:ext>
                </a:extLst>
              </p:cNvPr>
              <p:cNvSpPr/>
              <p:nvPr/>
            </p:nvSpPr>
            <p:spPr>
              <a:xfrm>
                <a:off x="128110" y="2638979"/>
                <a:ext cx="6916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5FE393E-03F9-57B5-D934-598CAD61EC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0" y="2638979"/>
                <a:ext cx="6916925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FB0610D-CCE7-DECD-1F8C-49CA1261003E}"/>
                  </a:ext>
                </a:extLst>
              </p:cNvPr>
              <p:cNvSpPr/>
              <p:nvPr/>
            </p:nvSpPr>
            <p:spPr>
              <a:xfrm>
                <a:off x="128109" y="3299402"/>
                <a:ext cx="6916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0.5−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FB0610D-CCE7-DECD-1F8C-49CA126100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09" y="3299402"/>
                <a:ext cx="6916925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97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allAtOnce"/>
      <p:bldP spid="52" grpId="0" build="allAtOnce"/>
      <p:bldP spid="53" grpId="0" build="allAtOnce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247E-3B5E-91CC-A795-DC2B58BD8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A09A-6EEA-8F1A-2DE9-00C0E1339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0466FF2-863B-A4E0-0222-73ABE12E0908}"/>
                  </a:ext>
                </a:extLst>
              </p:cNvPr>
              <p:cNvSpPr/>
              <p:nvPr/>
            </p:nvSpPr>
            <p:spPr>
              <a:xfrm>
                <a:off x="128111" y="1014281"/>
                <a:ext cx="39970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0466FF2-863B-A4E0-0222-73ABE12E09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1" y="1014281"/>
                <a:ext cx="399708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09E7B226-52C9-6613-FB4C-FAEDBEB01F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96942" y="493060"/>
                <a:ext cx="3263630" cy="14708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; </m:t>
                      </m:r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where</m:t>
                      </m:r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09E7B226-52C9-6613-FB4C-FAEDBEB01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942" y="493060"/>
                <a:ext cx="3263630" cy="147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2677524-79AF-327B-0138-C2480F2D3B7F}"/>
                  </a:ext>
                </a:extLst>
              </p:cNvPr>
              <p:cNvSpPr/>
              <p:nvPr/>
            </p:nvSpPr>
            <p:spPr>
              <a:xfrm>
                <a:off x="128111" y="1904947"/>
                <a:ext cx="6916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2677524-79AF-327B-0138-C2480F2D3B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1" y="1904947"/>
                <a:ext cx="69169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215BF9A-F9EE-C87A-2B3A-FE0D40F22D51}"/>
                  </a:ext>
                </a:extLst>
              </p:cNvPr>
              <p:cNvSpPr/>
              <p:nvPr/>
            </p:nvSpPr>
            <p:spPr>
              <a:xfrm>
                <a:off x="128110" y="2638979"/>
                <a:ext cx="6916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215BF9A-F9EE-C87A-2B3A-FE0D40F22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0" y="2638979"/>
                <a:ext cx="691692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FB4F4D0-4475-C7BE-236A-B05C18070B66}"/>
                  </a:ext>
                </a:extLst>
              </p:cNvPr>
              <p:cNvSpPr/>
              <p:nvPr/>
            </p:nvSpPr>
            <p:spPr>
              <a:xfrm>
                <a:off x="128110" y="3373011"/>
                <a:ext cx="691692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0.5−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FB4F4D0-4475-C7BE-236A-B05C18070B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0" y="3373011"/>
                <a:ext cx="691692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23DF45-6364-E7BE-BBDE-5B52BFC76D56}"/>
                  </a:ext>
                </a:extLst>
              </p:cNvPr>
              <p:cNvSpPr/>
              <p:nvPr/>
            </p:nvSpPr>
            <p:spPr>
              <a:xfrm>
                <a:off x="128110" y="4107043"/>
                <a:ext cx="51920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0.05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E23DF45-6364-E7BE-BBDE-5B52BFC76D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0" y="4107043"/>
                <a:ext cx="519203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A2C86A-F92D-554C-6237-986962BE38AA}"/>
              </a:ext>
            </a:extLst>
          </p:cNvPr>
          <p:cNvCxnSpPr>
            <a:cxnSpLocks/>
          </p:cNvCxnSpPr>
          <p:nvPr/>
        </p:nvCxnSpPr>
        <p:spPr>
          <a:xfrm flipV="1">
            <a:off x="4121424" y="4407900"/>
            <a:ext cx="116004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5B8BDB2B-447D-CF10-0264-485F7D78E9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20146" y="4000309"/>
                <a:ext cx="701829" cy="702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5B8BDB2B-447D-CF10-0264-485F7D78E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146" y="4000309"/>
                <a:ext cx="701829" cy="70269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7395C2-B319-8B62-B6D7-9196FEF6EC35}"/>
                  </a:ext>
                </a:extLst>
              </p:cNvPr>
              <p:cNvSpPr/>
              <p:nvPr/>
            </p:nvSpPr>
            <p:spPr>
              <a:xfrm>
                <a:off x="128110" y="4841075"/>
                <a:ext cx="780015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</a:rPr>
                  <a:t>Also, given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0.125</m:t>
                        </m:r>
                      </m:e>
                    </m:d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A7395C2-B319-8B62-B6D7-9196FEF6E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0" y="4841075"/>
                <a:ext cx="7800154" cy="523220"/>
              </a:xfrm>
              <a:prstGeom prst="rect">
                <a:avLst/>
              </a:prstGeom>
              <a:blipFill>
                <a:blip r:embed="rId9"/>
                <a:stretch>
                  <a:fillRect l="-156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00CF6D44-48B3-E5D9-E5A2-62300880EF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22446" y="4703000"/>
                <a:ext cx="701829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00CF6D44-48B3-E5D9-E5A2-62300880E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446" y="4703000"/>
                <a:ext cx="701829" cy="711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400FDB-6556-0C72-0D68-C0D31BB94AEF}"/>
              </a:ext>
            </a:extLst>
          </p:cNvPr>
          <p:cNvCxnSpPr>
            <a:cxnSpLocks/>
          </p:cNvCxnSpPr>
          <p:nvPr/>
        </p:nvCxnSpPr>
        <p:spPr>
          <a:xfrm flipV="1">
            <a:off x="6362399" y="5111019"/>
            <a:ext cx="116004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C6E96BD9-D8D6-496D-8600-4E2B17332D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110" y="5502370"/>
                <a:ext cx="5857894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dirty="0"/>
                  <a:t>Comparing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28" name="Content Placeholder 4">
                <a:extLst>
                  <a:ext uri="{FF2B5EF4-FFF2-40B4-BE49-F238E27FC236}">
                    <a16:creationId xmlns:a16="http://schemas.microsoft.com/office/drawing/2014/main" id="{C6E96BD9-D8D6-496D-8600-4E2B17332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10" y="5502370"/>
                <a:ext cx="5857894" cy="930202"/>
              </a:xfrm>
              <a:prstGeom prst="rect">
                <a:avLst/>
              </a:prstGeom>
              <a:blipFill>
                <a:blip r:embed="rId11"/>
                <a:stretch>
                  <a:fillRect l="-2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B335D7BA-7AF4-5DAA-861B-6FBAD0DBF3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7412" y="5497437"/>
                <a:ext cx="2023648" cy="8675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=0.125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B335D7BA-7AF4-5DAA-861B-6FBAD0DBF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412" y="5497437"/>
                <a:ext cx="2023648" cy="8675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62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20" grpId="0"/>
      <p:bldP spid="22" grpId="0"/>
      <p:bldP spid="28" grpId="0"/>
      <p:bldP spid="29" grpId="0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416BE-B35D-BB6A-F67B-D3EFB6C6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7AD9-8BE5-0AB0-A5FC-EA1479F48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5C708EE9-8BC1-A2F9-E44B-FA52F68CC2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583" y="548950"/>
                <a:ext cx="3035472" cy="1478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mtClean="0">
                          <a:solidFill>
                            <a:srgbClr val="002060"/>
                          </a:solidFill>
                        </a:rPr>
                        <m:t>Now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5C708EE9-8BC1-A2F9-E44B-FA52F68CC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3" y="548950"/>
                <a:ext cx="3035472" cy="14787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325AF6EE-3821-6335-F9AA-82C39DA129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9001" y="2027675"/>
                <a:ext cx="3586190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40−</m:t>
                          </m:r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0.125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325AF6EE-3821-6335-F9AA-82C39DA12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01" y="2027675"/>
                <a:ext cx="3586190" cy="12166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A57C271-3B10-8199-C59D-D7710AD270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9001" y="3730379"/>
                <a:ext cx="5394208" cy="878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0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.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12</m:t>
                          </m:r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5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σ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μ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=</m:t>
                      </m:r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40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A57C271-3B10-8199-C59D-D7710AD27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01" y="3730379"/>
                <a:ext cx="5394208" cy="8785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1631F9-65FB-0F49-F421-82249F5038CE}"/>
                  </a:ext>
                </a:extLst>
              </p:cNvPr>
              <p:cNvSpPr/>
              <p:nvPr/>
            </p:nvSpPr>
            <p:spPr>
              <a:xfrm>
                <a:off x="9756601" y="911720"/>
                <a:ext cx="2332816" cy="672046"/>
              </a:xfrm>
              <a:prstGeom prst="rect">
                <a:avLst/>
              </a:prstGeom>
              <a:solidFill>
                <a:srgbClr val="0097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𝟏𝟐𝟓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1631F9-65FB-0F49-F421-82249F5038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601" y="911720"/>
                <a:ext cx="2332816" cy="6720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03170534-A599-3710-BD56-86D16A1851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2536" y="3740770"/>
                <a:ext cx="701829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03170534-A599-3710-BD56-86D16A185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536" y="3740770"/>
                <a:ext cx="701829" cy="711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647D8B-D756-877C-AA4A-84A7526C9373}"/>
              </a:ext>
            </a:extLst>
          </p:cNvPr>
          <p:cNvCxnSpPr>
            <a:cxnSpLocks/>
          </p:cNvCxnSpPr>
          <p:nvPr/>
        </p:nvCxnSpPr>
        <p:spPr>
          <a:xfrm flipV="1">
            <a:off x="3972489" y="4148789"/>
            <a:ext cx="116004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78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6938" y="801168"/>
                <a:ext cx="1199812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Also,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sz="2800" b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students obtained distinction</a:t>
                </a:r>
                <a:r>
                  <a:rPr 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for which minimum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marks are required.</a:t>
                </a:r>
                <a:endParaRPr lang="en-IN" sz="28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801168"/>
                <a:ext cx="11998123" cy="523220"/>
              </a:xfrm>
              <a:prstGeom prst="rect">
                <a:avLst/>
              </a:prstGeom>
              <a:blipFill>
                <a:blip r:embed="rId2"/>
                <a:stretch>
                  <a:fillRect l="-1067" t="-1279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/>
              <p:nvPr/>
            </p:nvSpPr>
            <p:spPr>
              <a:xfrm>
                <a:off x="9990161" y="2289479"/>
                <a:ext cx="1951630" cy="1108814"/>
              </a:xfrm>
              <a:prstGeom prst="rect">
                <a:avLst/>
              </a:prstGeom>
              <a:solidFill>
                <a:srgbClr val="FF4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28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𝛍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  <m:r>
                            <a:rPr lang="en-US" sz="28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7EE289-6E44-4A39-B81B-C1FDBA7BF4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161" y="2289479"/>
                <a:ext cx="1951630" cy="11088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74920" y="5240103"/>
                <a:ext cx="33841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=0.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09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0" y="5240103"/>
                <a:ext cx="338413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74920" y="3519151"/>
                <a:ext cx="5089214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0" y="3519151"/>
                <a:ext cx="5089214" cy="10604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A0ADD5-FDF7-F02A-D78C-3F08D54C3871}"/>
                  </a:ext>
                </a:extLst>
              </p:cNvPr>
              <p:cNvSpPr/>
              <p:nvPr/>
            </p:nvSpPr>
            <p:spPr>
              <a:xfrm>
                <a:off x="96938" y="1391340"/>
                <a:ext cx="4766007" cy="664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That is</a:t>
                </a:r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75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9%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A0ADD5-FDF7-F02A-D78C-3F08D54C38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" y="1391340"/>
                <a:ext cx="4766007" cy="664221"/>
              </a:xfrm>
              <a:prstGeom prst="rect">
                <a:avLst/>
              </a:prstGeom>
              <a:blipFill>
                <a:blip r:embed="rId6"/>
                <a:stretch>
                  <a:fillRect l="-2685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52DD6EF-519B-9181-4CAC-E73E1AF77A8A}"/>
                  </a:ext>
                </a:extLst>
              </p:cNvPr>
              <p:cNvSpPr/>
              <p:nvPr/>
            </p:nvSpPr>
            <p:spPr>
              <a:xfrm>
                <a:off x="574920" y="2289479"/>
                <a:ext cx="476600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52DD6EF-519B-9181-4CAC-E73E1AF77A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20" y="2289479"/>
                <a:ext cx="4766007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DC483869-E6E1-A994-38DE-30230A6C21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3751" y="4731249"/>
                <a:ext cx="3263630" cy="14708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; </m:t>
                      </m:r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where</m:t>
                      </m:r>
                      <m:r>
                        <m:rPr>
                          <m:nor/>
                        </m:rPr>
                        <a:rPr lang="en-IN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f>
                        <m:f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75</m:t>
                          </m:r>
                          <m: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4">
                <a:extLst>
                  <a:ext uri="{FF2B5EF4-FFF2-40B4-BE49-F238E27FC236}">
                    <a16:creationId xmlns:a16="http://schemas.microsoft.com/office/drawing/2014/main" id="{DC483869-E6E1-A994-38DE-30230A6C2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751" y="4731249"/>
                <a:ext cx="3263630" cy="14708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266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9" grpId="0"/>
      <p:bldP spid="10" grpId="0"/>
      <p:bldP spid="11" grpId="0"/>
      <p:bldP spid="12" grpId="0"/>
      <p:bldP spid="13" grpId="0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15C6-201B-FD3D-E289-EDB96F1C8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174746-4FD6-6351-9F31-5C642367E389}"/>
              </a:ext>
            </a:extLst>
          </p:cNvPr>
          <p:cNvCxnSpPr>
            <a:cxnSpLocks/>
          </p:cNvCxnSpPr>
          <p:nvPr/>
        </p:nvCxnSpPr>
        <p:spPr>
          <a:xfrm flipV="1">
            <a:off x="10507765" y="4311112"/>
            <a:ext cx="0" cy="54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A7D14DB-741E-8506-97B4-61EE6D6C9799}"/>
              </a:ext>
            </a:extLst>
          </p:cNvPr>
          <p:cNvSpPr/>
          <p:nvPr/>
        </p:nvSpPr>
        <p:spPr>
          <a:xfrm>
            <a:off x="10528546" y="4331895"/>
            <a:ext cx="598111" cy="544284"/>
          </a:xfrm>
          <a:custGeom>
            <a:avLst/>
            <a:gdLst>
              <a:gd name="csX0" fmla="*/ 0 w 598111"/>
              <a:gd name="csY0" fmla="*/ 0 h 544284"/>
              <a:gd name="csX1" fmla="*/ 26638 w 598111"/>
              <a:gd name="csY1" fmla="*/ 40530 h 544284"/>
              <a:gd name="csX2" fmla="*/ 471279 w 598111"/>
              <a:gd name="csY2" fmla="*/ 373776 h 544284"/>
              <a:gd name="csX3" fmla="*/ 598106 w 598111"/>
              <a:gd name="csY3" fmla="*/ 389021 h 544284"/>
              <a:gd name="csX4" fmla="*/ 598111 w 598111"/>
              <a:gd name="csY4" fmla="*/ 389021 h 544284"/>
              <a:gd name="csX5" fmla="*/ 598111 w 598111"/>
              <a:gd name="csY5" fmla="*/ 544284 h 544284"/>
              <a:gd name="csX6" fmla="*/ 0 w 598111"/>
              <a:gd name="csY6" fmla="*/ 544284 h 5442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98111" h="544284">
                <a:moveTo>
                  <a:pt x="0" y="0"/>
                </a:moveTo>
                <a:lnTo>
                  <a:pt x="26638" y="40530"/>
                </a:lnTo>
                <a:cubicBezTo>
                  <a:pt x="152184" y="215630"/>
                  <a:pt x="294498" y="333468"/>
                  <a:pt x="471279" y="373776"/>
                </a:cubicBezTo>
                <a:lnTo>
                  <a:pt x="598106" y="389021"/>
                </a:lnTo>
                <a:lnTo>
                  <a:pt x="598111" y="389021"/>
                </a:lnTo>
                <a:lnTo>
                  <a:pt x="598111" y="544284"/>
                </a:lnTo>
                <a:lnTo>
                  <a:pt x="0" y="544284"/>
                </a:lnTo>
                <a:close/>
              </a:path>
            </a:pathLst>
          </a:custGeom>
          <a:pattFill prst="trellis">
            <a:fgClr>
              <a:srgbClr val="009788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B8735F8-CB87-E420-9105-0FEF6ED23148}"/>
              </a:ext>
            </a:extLst>
          </p:cNvPr>
          <p:cNvSpPr/>
          <p:nvPr/>
        </p:nvSpPr>
        <p:spPr>
          <a:xfrm>
            <a:off x="1299327" y="1823620"/>
            <a:ext cx="3449780" cy="3038881"/>
          </a:xfrm>
          <a:custGeom>
            <a:avLst/>
            <a:gdLst>
              <a:gd name="csX0" fmla="*/ 1433678 w 3460359"/>
              <a:gd name="csY0" fmla="*/ 1 h 3038881"/>
              <a:gd name="csX1" fmla="*/ 2677185 w 3460359"/>
              <a:gd name="csY1" fmla="*/ 2159551 h 3038881"/>
              <a:gd name="csX2" fmla="*/ 3333524 w 3460359"/>
              <a:gd name="csY2" fmla="*/ 2865441 h 3038881"/>
              <a:gd name="csX3" fmla="*/ 3460351 w 3460359"/>
              <a:gd name="csY3" fmla="*/ 2880686 h 3038881"/>
              <a:gd name="csX4" fmla="*/ 3460359 w 3460359"/>
              <a:gd name="csY4" fmla="*/ 2880686 h 3038881"/>
              <a:gd name="csX5" fmla="*/ 3460359 w 3460359"/>
              <a:gd name="csY5" fmla="*/ 2880687 h 3038881"/>
              <a:gd name="csX6" fmla="*/ 3460359 w 3460359"/>
              <a:gd name="csY6" fmla="*/ 3038881 h 3038881"/>
              <a:gd name="csX7" fmla="*/ 0 w 3460359"/>
              <a:gd name="csY7" fmla="*/ 3038881 h 3038881"/>
              <a:gd name="csX8" fmla="*/ 0 w 3460359"/>
              <a:gd name="csY8" fmla="*/ 2541983 h 3038881"/>
              <a:gd name="csX9" fmla="*/ 8118 w 3460359"/>
              <a:gd name="csY9" fmla="*/ 2531631 h 3038881"/>
              <a:gd name="csX10" fmla="*/ 221987 w 3460359"/>
              <a:gd name="csY10" fmla="*/ 2155212 h 3038881"/>
              <a:gd name="csX11" fmla="*/ 1433678 w 3460359"/>
              <a:gd name="csY11" fmla="*/ 1 h 3038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60359" h="3038881">
                <a:moveTo>
                  <a:pt x="1433678" y="1"/>
                </a:moveTo>
                <a:cubicBezTo>
                  <a:pt x="1909553" y="725"/>
                  <a:pt x="2472754" y="1727062"/>
                  <a:pt x="2677185" y="2159551"/>
                </a:cubicBezTo>
                <a:cubicBezTo>
                  <a:pt x="2856061" y="2537979"/>
                  <a:pt x="3050674" y="2800947"/>
                  <a:pt x="3333524" y="2865441"/>
                </a:cubicBezTo>
                <a:lnTo>
                  <a:pt x="3460351" y="2880686"/>
                </a:lnTo>
                <a:lnTo>
                  <a:pt x="3460359" y="2880686"/>
                </a:lnTo>
                <a:lnTo>
                  <a:pt x="3460359" y="2880687"/>
                </a:lnTo>
                <a:lnTo>
                  <a:pt x="3460359" y="3038881"/>
                </a:lnTo>
                <a:lnTo>
                  <a:pt x="0" y="3038881"/>
                </a:lnTo>
                <a:lnTo>
                  <a:pt x="0" y="2541983"/>
                </a:lnTo>
                <a:lnTo>
                  <a:pt x="8118" y="2531631"/>
                </a:lnTo>
                <a:cubicBezTo>
                  <a:pt x="83672" y="2425583"/>
                  <a:pt x="153702" y="2298512"/>
                  <a:pt x="221987" y="2155212"/>
                </a:cubicBezTo>
                <a:cubicBezTo>
                  <a:pt x="430095" y="1718489"/>
                  <a:pt x="957803" y="-722"/>
                  <a:pt x="1433678" y="1"/>
                </a:cubicBezTo>
                <a:close/>
              </a:path>
            </a:pathLst>
          </a:custGeom>
          <a:pattFill prst="trellis">
            <a:fgClr>
              <a:srgbClr val="009788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4E56D5-139C-FE67-9CEC-D7CEFFAD5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⇝ </a:t>
            </a:r>
            <a:r>
              <a:rPr lang="en-GB" dirty="0">
                <a:solidFill>
                  <a:srgbClr val="FF0000"/>
                </a:solidFill>
              </a:rPr>
              <a:t>For Understanding Only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DEB3D16-47D7-A97B-23E1-1EC7356912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1" y="925114"/>
                <a:ext cx="3449780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DEB3D16-47D7-A97B-23E1-1EC735691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1" y="925114"/>
                <a:ext cx="3449780" cy="765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27CC596-83EC-9B62-3AA2-F8718967F6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5211" y="513411"/>
                <a:ext cx="3348280" cy="12965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 i="0" dirty="0" smtClean="0"/>
                        <m:t>; </m:t>
                      </m:r>
                      <m:r>
                        <m:rPr>
                          <m:nor/>
                        </m:rPr>
                        <a:rPr lang="en-IN" dirty="0" smtClean="0"/>
                        <m:t>where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27CC596-83EC-9B62-3AA2-F8718967F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211" y="513411"/>
                <a:ext cx="3348280" cy="12965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E4D476-6380-79F0-B98E-53C2AF67840F}"/>
              </a:ext>
            </a:extLst>
          </p:cNvPr>
          <p:cNvCxnSpPr>
            <a:cxnSpLocks/>
          </p:cNvCxnSpPr>
          <p:nvPr/>
        </p:nvCxnSpPr>
        <p:spPr>
          <a:xfrm flipV="1">
            <a:off x="1299325" y="4384371"/>
            <a:ext cx="0" cy="4918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6447075-FE9D-AD3B-6B97-94D7CF8A7F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0672" y="4864627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46447075-FE9D-AD3B-6B97-94D7CF8A7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672" y="4864627"/>
                <a:ext cx="657306" cy="4801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0C1659D5-0A74-3B46-027D-0839D89B34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9893" y="4910021"/>
                <a:ext cx="657306" cy="4801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0C1659D5-0A74-3B46-027D-0839D89B3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893" y="4910021"/>
                <a:ext cx="657306" cy="4801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B70BCF57-91CD-D70C-9303-3C060029FD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5742997"/>
                <a:ext cx="6637211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b="0" dirty="0"/>
                  <a:t>For which curve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=0.09</m:t>
                    </m:r>
                  </m:oMath>
                </a14:m>
                <a:r>
                  <a:rPr lang="en-US" dirty="0"/>
                  <a:t> is true? : </a:t>
                </a:r>
              </a:p>
            </p:txBody>
          </p:sp>
        </mc:Choice>
        <mc:Fallback xmlns="">
          <p:sp>
            <p:nvSpPr>
              <p:cNvPr id="29" name="Content Placeholder 4">
                <a:extLst>
                  <a:ext uri="{FF2B5EF4-FFF2-40B4-BE49-F238E27FC236}">
                    <a16:creationId xmlns:a16="http://schemas.microsoft.com/office/drawing/2014/main" id="{B70BCF57-91CD-D70C-9303-3C060029F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5742997"/>
                <a:ext cx="6637211" cy="711200"/>
              </a:xfrm>
              <a:prstGeom prst="rect">
                <a:avLst/>
              </a:prstGeom>
              <a:blipFill>
                <a:blip r:embed="rId6"/>
                <a:stretch>
                  <a:fillRect l="-1837" b="-170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3815F55F-5CEA-BF8E-595A-8D88F8CCDB44}"/>
              </a:ext>
            </a:extLst>
          </p:cNvPr>
          <p:cNvGrpSpPr/>
          <p:nvPr/>
        </p:nvGrpSpPr>
        <p:grpSpPr>
          <a:xfrm>
            <a:off x="730828" y="1837304"/>
            <a:ext cx="4798693" cy="3598847"/>
            <a:chOff x="730828" y="1837304"/>
            <a:chExt cx="4798693" cy="359884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E68DF20-9375-C7D1-BE25-21663631D86E}"/>
                </a:ext>
              </a:extLst>
            </p:cNvPr>
            <p:cNvCxnSpPr>
              <a:cxnSpLocks/>
            </p:cNvCxnSpPr>
            <p:nvPr/>
          </p:nvCxnSpPr>
          <p:spPr>
            <a:xfrm>
              <a:off x="2710352" y="1843156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34F45E2-E9B8-3580-45F2-996060686B59}"/>
                </a:ext>
              </a:extLst>
            </p:cNvPr>
            <p:cNvSpPr/>
            <p:nvPr/>
          </p:nvSpPr>
          <p:spPr>
            <a:xfrm>
              <a:off x="730828" y="18373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E903669-B4D3-5720-7FA9-5CAFF7C864D9}"/>
                </a:ext>
              </a:extLst>
            </p:cNvPr>
            <p:cNvCxnSpPr>
              <a:cxnSpLocks/>
            </p:cNvCxnSpPr>
            <p:nvPr/>
          </p:nvCxnSpPr>
          <p:spPr>
            <a:xfrm>
              <a:off x="730828" y="48761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ontent Placeholder 4">
                  <a:extLst>
                    <a:ext uri="{FF2B5EF4-FFF2-40B4-BE49-F238E27FC236}">
                      <a16:creationId xmlns:a16="http://schemas.microsoft.com/office/drawing/2014/main" id="{281485D3-7C76-348E-B461-39DAC49B511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104488" y="2717800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ln w="38100">
                  <a:solidFill>
                    <a:srgbClr val="C76765"/>
                  </a:solidFill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l">
                    <a:buNone/>
                  </a:pPr>
                  <a:r>
                    <a:rPr lang="en-IN" sz="2400" b="1" dirty="0"/>
                    <a:t>Curve </a:t>
                  </a:r>
                  <a14:m>
                    <m:oMath xmlns:m="http://schemas.openxmlformats.org/officeDocument/2006/math"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30" name="Content Placeholder 4">
                  <a:extLst>
                    <a:ext uri="{FF2B5EF4-FFF2-40B4-BE49-F238E27FC236}">
                      <a16:creationId xmlns:a16="http://schemas.microsoft.com/office/drawing/2014/main" id="{281485D3-7C76-348E-B461-39DAC49B51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4488" y="2717800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solidFill>
                    <a:srgbClr val="C76765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82133266-4B78-FEF7-9C86-9D686EA1DA8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417175" y="4956020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Content Placeholder 2">
                  <a:extLst>
                    <a:ext uri="{FF2B5EF4-FFF2-40B4-BE49-F238E27FC236}">
                      <a16:creationId xmlns:a16="http://schemas.microsoft.com/office/drawing/2014/main" id="{82133266-4B78-FEF7-9C86-9D686EA1D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175" y="4956020"/>
                  <a:ext cx="657306" cy="4801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E29D9507-1BEE-796D-74AA-E1024A14E42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20453" y="4911294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" name="Content Placeholder 2">
                  <a:extLst>
                    <a:ext uri="{FF2B5EF4-FFF2-40B4-BE49-F238E27FC236}">
                      <a16:creationId xmlns:a16="http://schemas.microsoft.com/office/drawing/2014/main" id="{E29D9507-1BEE-796D-74AA-E1024A14E4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0453" y="4911294"/>
                  <a:ext cx="657306" cy="4801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6C359FA7-8F5C-EEC7-96E0-50DD98A73F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3491" y="5784561"/>
                <a:ext cx="1412119" cy="711200"/>
              </a:xfrm>
              <a:prstGeom prst="rect">
                <a:avLst/>
              </a:prstGeom>
              <a:ln w="38100">
                <a:solidFill>
                  <a:srgbClr val="C76765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400" b="1">
                    <a:solidFill>
                      <a:srgbClr val="002060"/>
                    </a:solidFill>
                  </a:defRPr>
                </a:lvl1pPr>
                <a:lvl2pPr marL="714375" indent="-352425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IN" dirty="0"/>
                  <a:t>Curve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7" name="Content Placeholder 4">
                <a:extLst>
                  <a:ext uri="{FF2B5EF4-FFF2-40B4-BE49-F238E27FC236}">
                    <a16:creationId xmlns:a16="http://schemas.microsoft.com/office/drawing/2014/main" id="{6C359FA7-8F5C-EEC7-96E0-50DD98A73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491" y="5784561"/>
                <a:ext cx="1412119" cy="711200"/>
              </a:xfrm>
              <a:prstGeom prst="rect">
                <a:avLst/>
              </a:prstGeom>
              <a:blipFill>
                <a:blip r:embed="rId12"/>
                <a:stretch>
                  <a:fillRect l="-5042"/>
                </a:stretch>
              </a:blipFill>
              <a:ln w="38100">
                <a:solidFill>
                  <a:srgbClr val="C7676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68E197DC-710D-58CA-474D-ECA02D9B2A78}"/>
              </a:ext>
            </a:extLst>
          </p:cNvPr>
          <p:cNvGrpSpPr/>
          <p:nvPr/>
        </p:nvGrpSpPr>
        <p:grpSpPr>
          <a:xfrm>
            <a:off x="7108382" y="1837304"/>
            <a:ext cx="4845197" cy="3567714"/>
            <a:chOff x="7108382" y="1837304"/>
            <a:chExt cx="4845197" cy="356771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D955DD5-BCDF-455B-071A-434A1FF69945}"/>
                </a:ext>
              </a:extLst>
            </p:cNvPr>
            <p:cNvCxnSpPr>
              <a:cxnSpLocks/>
            </p:cNvCxnSpPr>
            <p:nvPr/>
          </p:nvCxnSpPr>
          <p:spPr>
            <a:xfrm>
              <a:off x="9087906" y="1843156"/>
              <a:ext cx="29615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FE3CF7C-12F6-72CC-9BE9-4CC07271FCA4}"/>
                </a:ext>
              </a:extLst>
            </p:cNvPr>
            <p:cNvSpPr/>
            <p:nvPr/>
          </p:nvSpPr>
          <p:spPr>
            <a:xfrm>
              <a:off x="7108382" y="18373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13FDED9-F9F8-B011-0460-1B36FD0165A1}"/>
                </a:ext>
              </a:extLst>
            </p:cNvPr>
            <p:cNvCxnSpPr>
              <a:cxnSpLocks/>
            </p:cNvCxnSpPr>
            <p:nvPr/>
          </p:nvCxnSpPr>
          <p:spPr>
            <a:xfrm>
              <a:off x="7108382" y="48761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C6AAF0F0-D56B-4178-5377-8BF8B52D2E7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794726" y="492488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C6AAF0F0-D56B-4178-5377-8BF8B52D2E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4726" y="4924887"/>
                  <a:ext cx="657306" cy="4801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E8B7C455-9F96-C7FE-E7E5-2910CF38F62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798004" y="492488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E8B7C455-9F96-C7FE-E7E5-2910CF38F6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8004" y="4924886"/>
                  <a:ext cx="657306" cy="4801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ontent Placeholder 4">
                  <a:extLst>
                    <a:ext uri="{FF2B5EF4-FFF2-40B4-BE49-F238E27FC236}">
                      <a16:creationId xmlns:a16="http://schemas.microsoft.com/office/drawing/2014/main" id="{9BB00F3B-594E-D561-410C-74253EB45B1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528546" y="2770561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ln w="38100">
                  <a:solidFill>
                    <a:srgbClr val="C76765"/>
                  </a:solidFill>
                </a:ln>
              </p:spPr>
              <p:txBody>
                <a:bodyPr vert="horz" lIns="91440" tIns="45720" rIns="91440" bIns="45720" rtlCol="0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14375" indent="-352425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150000"/>
                    </a:lnSpc>
                    <a:spcBef>
                      <a:spcPts val="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2800" kern="1200">
                      <a:solidFill>
                        <a:srgbClr val="002060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l">
                    <a:buNone/>
                  </a:pPr>
                  <a:r>
                    <a:rPr lang="en-IN" sz="2400" b="1" dirty="0"/>
                    <a:t>Curve </a:t>
                  </a:r>
                  <a14:m>
                    <m:oMath xmlns:m="http://schemas.openxmlformats.org/officeDocument/2006/math"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38" name="Content Placeholder 4">
                  <a:extLst>
                    <a:ext uri="{FF2B5EF4-FFF2-40B4-BE49-F238E27FC236}">
                      <a16:creationId xmlns:a16="http://schemas.microsoft.com/office/drawing/2014/main" id="{9BB00F3B-594E-D561-410C-74253EB45B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8546" y="2770561"/>
                  <a:ext cx="1425033" cy="711194"/>
                </a:xfrm>
                <a:prstGeom prst="wedgeRectCallout">
                  <a:avLst>
                    <a:gd name="adj1" fmla="val -82643"/>
                    <a:gd name="adj2" fmla="val 11364"/>
                  </a:avLst>
                </a:prstGeom>
                <a:blipFill>
                  <a:blip r:embed="rId15"/>
                  <a:stretch>
                    <a:fillRect/>
                  </a:stretch>
                </a:blipFill>
                <a:ln w="38100">
                  <a:solidFill>
                    <a:srgbClr val="C76765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3937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4" grpId="0" animBg="1"/>
      <p:bldP spid="12" grpId="0"/>
      <p:bldP spid="20" grpId="0"/>
      <p:bldP spid="29" grpId="0"/>
      <p:bldP spid="37" grpId="0" animBg="1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E6F3E-374A-80EF-453A-BB5491E1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4D42-A592-ECDD-25DD-B9FF56B9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DF4D9C3-F76E-A1C9-C69F-B58503B1B5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1" y="925114"/>
                <a:ext cx="3449780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DF4D9C3-F76E-A1C9-C69F-B58503B1B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1" y="925114"/>
                <a:ext cx="3449780" cy="765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282D6FA-03C7-46A1-99FA-0021266180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5211" y="513411"/>
                <a:ext cx="3348280" cy="12965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 i="0" dirty="0" smtClean="0"/>
                        <m:t>; </m:t>
                      </m:r>
                      <m:r>
                        <m:rPr>
                          <m:nor/>
                        </m:rPr>
                        <a:rPr lang="en-IN" dirty="0" smtClean="0"/>
                        <m:t>where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282D6FA-03C7-46A1-99FA-002126618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211" y="513411"/>
                <a:ext cx="3348280" cy="12965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3C041AD6-27AD-F024-CE11-C536D0DB5AB6}"/>
              </a:ext>
            </a:extLst>
          </p:cNvPr>
          <p:cNvGrpSpPr/>
          <p:nvPr/>
        </p:nvGrpSpPr>
        <p:grpSpPr>
          <a:xfrm>
            <a:off x="259772" y="3590270"/>
            <a:ext cx="11841290" cy="2915589"/>
            <a:chOff x="116881" y="2894004"/>
            <a:chExt cx="13579700" cy="3567714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DC2AD05-0DE2-4249-69C3-683CD4588A87}"/>
                </a:ext>
              </a:extLst>
            </p:cNvPr>
            <p:cNvSpPr/>
            <p:nvPr/>
          </p:nvSpPr>
          <p:spPr>
            <a:xfrm>
              <a:off x="11358793" y="2904042"/>
              <a:ext cx="1390244" cy="2994610"/>
            </a:xfrm>
            <a:custGeom>
              <a:avLst/>
              <a:gdLst>
                <a:gd name="csX0" fmla="*/ 0 w 1390244"/>
                <a:gd name="csY0" fmla="*/ 0 h 2994610"/>
                <a:gd name="csX1" fmla="*/ 21639 w 1390244"/>
                <a:gd name="csY1" fmla="*/ 2427 h 2994610"/>
                <a:gd name="csX2" fmla="*/ 1220290 w 1390244"/>
                <a:gd name="csY2" fmla="*/ 2156946 h 2994610"/>
                <a:gd name="csX3" fmla="*/ 1358531 w 1390244"/>
                <a:gd name="csY3" fmla="*/ 2417821 h 2994610"/>
                <a:gd name="csX4" fmla="*/ 1390244 w 1390244"/>
                <a:gd name="csY4" fmla="*/ 2466075 h 2994610"/>
                <a:gd name="csX5" fmla="*/ 1390244 w 1390244"/>
                <a:gd name="csY5" fmla="*/ 2994610 h 2994610"/>
                <a:gd name="csX6" fmla="*/ 0 w 1390244"/>
                <a:gd name="csY6" fmla="*/ 2994610 h 2994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90244" h="2994610">
                  <a:moveTo>
                    <a:pt x="0" y="0"/>
                  </a:moveTo>
                  <a:lnTo>
                    <a:pt x="21639" y="2427"/>
                  </a:lnTo>
                  <a:cubicBezTo>
                    <a:pt x="487508" y="104753"/>
                    <a:pt x="1022247" y="1737973"/>
                    <a:pt x="1220290" y="2156946"/>
                  </a:cubicBezTo>
                  <a:cubicBezTo>
                    <a:pt x="1265009" y="2251553"/>
                    <a:pt x="1310712" y="2338944"/>
                    <a:pt x="1358531" y="2417821"/>
                  </a:cubicBezTo>
                  <a:lnTo>
                    <a:pt x="1390244" y="2466075"/>
                  </a:lnTo>
                  <a:lnTo>
                    <a:pt x="1390244" y="2994610"/>
                  </a:lnTo>
                  <a:lnTo>
                    <a:pt x="0" y="2994610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50F45EB-0A6B-FA52-8372-090CFDD79A22}"/>
                </a:ext>
              </a:extLst>
            </p:cNvPr>
            <p:cNvSpPr/>
            <p:nvPr/>
          </p:nvSpPr>
          <p:spPr>
            <a:xfrm>
              <a:off x="6748263" y="2904063"/>
              <a:ext cx="2003277" cy="3036255"/>
            </a:xfrm>
            <a:custGeom>
              <a:avLst/>
              <a:gdLst>
                <a:gd name="csX0" fmla="*/ 0 w 2003275"/>
                <a:gd name="csY0" fmla="*/ 0 h 3036255"/>
                <a:gd name="csX1" fmla="*/ 21456 w 2003275"/>
                <a:gd name="csY1" fmla="*/ 2406 h 3036255"/>
                <a:gd name="csX2" fmla="*/ 1220107 w 2003275"/>
                <a:gd name="csY2" fmla="*/ 2156925 h 3036255"/>
                <a:gd name="csX3" fmla="*/ 1876446 w 2003275"/>
                <a:gd name="csY3" fmla="*/ 2862815 h 3036255"/>
                <a:gd name="csX4" fmla="*/ 2003273 w 2003275"/>
                <a:gd name="csY4" fmla="*/ 2878060 h 3036255"/>
                <a:gd name="csX5" fmla="*/ 2003275 w 2003275"/>
                <a:gd name="csY5" fmla="*/ 2878060 h 3036255"/>
                <a:gd name="csX6" fmla="*/ 2003275 w 2003275"/>
                <a:gd name="csY6" fmla="*/ 3036255 h 3036255"/>
                <a:gd name="csX7" fmla="*/ 0 w 2003275"/>
                <a:gd name="csY7" fmla="*/ 3036255 h 3036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03275" h="3036255">
                  <a:moveTo>
                    <a:pt x="0" y="0"/>
                  </a:moveTo>
                  <a:lnTo>
                    <a:pt x="21456" y="2406"/>
                  </a:lnTo>
                  <a:cubicBezTo>
                    <a:pt x="487325" y="104732"/>
                    <a:pt x="1022065" y="1737952"/>
                    <a:pt x="1220107" y="2156925"/>
                  </a:cubicBezTo>
                  <a:cubicBezTo>
                    <a:pt x="1398983" y="2535353"/>
                    <a:pt x="1593596" y="2798321"/>
                    <a:pt x="1876446" y="2862815"/>
                  </a:cubicBezTo>
                  <a:lnTo>
                    <a:pt x="2003273" y="2878060"/>
                  </a:lnTo>
                  <a:lnTo>
                    <a:pt x="2003275" y="2878060"/>
                  </a:lnTo>
                  <a:lnTo>
                    <a:pt x="2003275" y="3036255"/>
                  </a:lnTo>
                  <a:lnTo>
                    <a:pt x="0" y="3036255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7BFB1D8-0213-216E-86B4-CE130EE6D6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6264" y="5388595"/>
              <a:ext cx="0" cy="5100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1FA1A4B-10D9-48E3-FFD4-8E4AAFEF7539}"/>
                </a:ext>
              </a:extLst>
            </p:cNvPr>
            <p:cNvSpPr/>
            <p:nvPr/>
          </p:nvSpPr>
          <p:spPr>
            <a:xfrm>
              <a:off x="3537045" y="5388595"/>
              <a:ext cx="598111" cy="544284"/>
            </a:xfrm>
            <a:custGeom>
              <a:avLst/>
              <a:gdLst>
                <a:gd name="csX0" fmla="*/ 0 w 598111"/>
                <a:gd name="csY0" fmla="*/ 0 h 544284"/>
                <a:gd name="csX1" fmla="*/ 26638 w 598111"/>
                <a:gd name="csY1" fmla="*/ 40530 h 544284"/>
                <a:gd name="csX2" fmla="*/ 471279 w 598111"/>
                <a:gd name="csY2" fmla="*/ 373776 h 544284"/>
                <a:gd name="csX3" fmla="*/ 598106 w 598111"/>
                <a:gd name="csY3" fmla="*/ 389021 h 544284"/>
                <a:gd name="csX4" fmla="*/ 598111 w 598111"/>
                <a:gd name="csY4" fmla="*/ 389021 h 544284"/>
                <a:gd name="csX5" fmla="*/ 598111 w 598111"/>
                <a:gd name="csY5" fmla="*/ 544284 h 544284"/>
                <a:gd name="csX6" fmla="*/ 0 w 598111"/>
                <a:gd name="csY6" fmla="*/ 544284 h 544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98111" h="544284">
                  <a:moveTo>
                    <a:pt x="0" y="0"/>
                  </a:moveTo>
                  <a:lnTo>
                    <a:pt x="26638" y="40530"/>
                  </a:lnTo>
                  <a:cubicBezTo>
                    <a:pt x="152184" y="215630"/>
                    <a:pt x="294498" y="333468"/>
                    <a:pt x="471279" y="373776"/>
                  </a:cubicBezTo>
                  <a:lnTo>
                    <a:pt x="598106" y="389021"/>
                  </a:lnTo>
                  <a:lnTo>
                    <a:pt x="598111" y="389021"/>
                  </a:lnTo>
                  <a:lnTo>
                    <a:pt x="598111" y="544284"/>
                  </a:lnTo>
                  <a:lnTo>
                    <a:pt x="0" y="544284"/>
                  </a:lnTo>
                  <a:close/>
                </a:path>
              </a:pathLst>
            </a:custGeom>
            <a:pattFill prst="trellis">
              <a:fgClr>
                <a:srgbClr val="009788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ontent Placeholder 2">
                  <a:extLst>
                    <a:ext uri="{FF2B5EF4-FFF2-40B4-BE49-F238E27FC236}">
                      <a16:creationId xmlns:a16="http://schemas.microsoft.com/office/drawing/2014/main" id="{C66018EE-B89E-1B45-8BCD-593EADD076C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08392" y="5966721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" name="Content Placeholder 2">
                  <a:extLst>
                    <a:ext uri="{FF2B5EF4-FFF2-40B4-BE49-F238E27FC236}">
                      <a16:creationId xmlns:a16="http://schemas.microsoft.com/office/drawing/2014/main" id="{C66018EE-B89E-1B45-8BCD-593EADD07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8392" y="5966721"/>
                  <a:ext cx="657306" cy="480131"/>
                </a:xfrm>
                <a:prstGeom prst="rect">
                  <a:avLst/>
                </a:prstGeom>
                <a:blipFill>
                  <a:blip r:embed="rId4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A54F86-702D-71BD-D79C-E2332B430AE6}"/>
                </a:ext>
              </a:extLst>
            </p:cNvPr>
            <p:cNvCxnSpPr>
              <a:cxnSpLocks/>
            </p:cNvCxnSpPr>
            <p:nvPr/>
          </p:nvCxnSpPr>
          <p:spPr>
            <a:xfrm>
              <a:off x="2096405" y="2899856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06CE31-FDAC-0B2A-4649-3B7D272D18C4}"/>
                </a:ext>
              </a:extLst>
            </p:cNvPr>
            <p:cNvSpPr/>
            <p:nvPr/>
          </p:nvSpPr>
          <p:spPr>
            <a:xfrm>
              <a:off x="116881" y="28940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E1312B4-82D2-FEEA-4DBB-5BA033494F41}"/>
                </a:ext>
              </a:extLst>
            </p:cNvPr>
            <p:cNvCxnSpPr>
              <a:cxnSpLocks/>
            </p:cNvCxnSpPr>
            <p:nvPr/>
          </p:nvCxnSpPr>
          <p:spPr>
            <a:xfrm>
              <a:off x="116881" y="59328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DCC7C3D0-68E9-88D6-CE9A-384AD641EDC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03225" y="598158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Content Placeholder 2">
                  <a:extLst>
                    <a:ext uri="{FF2B5EF4-FFF2-40B4-BE49-F238E27FC236}">
                      <a16:creationId xmlns:a16="http://schemas.microsoft.com/office/drawing/2014/main" id="{DCC7C3D0-68E9-88D6-CE9A-384AD641E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3225" y="5981587"/>
                  <a:ext cx="657306" cy="4801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CBFB5BC1-FCF6-ADA3-7FFA-1EC29A95A8C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06503" y="598158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Content Placeholder 2">
                  <a:extLst>
                    <a:ext uri="{FF2B5EF4-FFF2-40B4-BE49-F238E27FC236}">
                      <a16:creationId xmlns:a16="http://schemas.microsoft.com/office/drawing/2014/main" id="{CBFB5BC1-FCF6-ADA3-7FFA-1EC29A95A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6503" y="5981586"/>
                  <a:ext cx="657306" cy="4801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DD1E46B-6389-50BC-0BFD-FB2AD9AEAE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2650" y="5388595"/>
              <a:ext cx="0" cy="5100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07C04A8F-6729-0DF2-9862-A77E1EBAC76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824778" y="5966721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Content Placeholder 2">
                  <a:extLst>
                    <a:ext uri="{FF2B5EF4-FFF2-40B4-BE49-F238E27FC236}">
                      <a16:creationId xmlns:a16="http://schemas.microsoft.com/office/drawing/2014/main" id="{07C04A8F-6729-0DF2-9862-A77E1EBAC7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778" y="5966721"/>
                  <a:ext cx="657306" cy="480131"/>
                </a:xfrm>
                <a:prstGeom prst="rect">
                  <a:avLst/>
                </a:prstGeom>
                <a:blipFill>
                  <a:blip r:embed="rId7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4A40F96-B3E6-0A82-DB7E-681A8CC9A635}"/>
                </a:ext>
              </a:extLst>
            </p:cNvPr>
            <p:cNvCxnSpPr>
              <a:cxnSpLocks/>
            </p:cNvCxnSpPr>
            <p:nvPr/>
          </p:nvCxnSpPr>
          <p:spPr>
            <a:xfrm>
              <a:off x="6712791" y="2899856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D796FA-D9DE-12AF-5666-B0A21523F666}"/>
                </a:ext>
              </a:extLst>
            </p:cNvPr>
            <p:cNvSpPr/>
            <p:nvPr/>
          </p:nvSpPr>
          <p:spPr>
            <a:xfrm>
              <a:off x="4733267" y="28940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DDF2133-543B-4149-E3E6-698A1254A6B2}"/>
                </a:ext>
              </a:extLst>
            </p:cNvPr>
            <p:cNvCxnSpPr>
              <a:cxnSpLocks/>
            </p:cNvCxnSpPr>
            <p:nvPr/>
          </p:nvCxnSpPr>
          <p:spPr>
            <a:xfrm>
              <a:off x="4733267" y="59328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8B506577-C977-2B71-55D3-04A672C2763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419611" y="598158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Content Placeholder 2">
                  <a:extLst>
                    <a:ext uri="{FF2B5EF4-FFF2-40B4-BE49-F238E27FC236}">
                      <a16:creationId xmlns:a16="http://schemas.microsoft.com/office/drawing/2014/main" id="{8B506577-C977-2B71-55D3-04A672C276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9611" y="5981587"/>
                  <a:ext cx="657306" cy="4801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81F3931E-EAE0-36EE-8165-386D5A64B36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422889" y="598158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Content Placeholder 2">
                  <a:extLst>
                    <a:ext uri="{FF2B5EF4-FFF2-40B4-BE49-F238E27FC236}">
                      <a16:creationId xmlns:a16="http://schemas.microsoft.com/office/drawing/2014/main" id="{81F3931E-EAE0-36EE-8165-386D5A64B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2889" y="5981586"/>
                  <a:ext cx="657306" cy="4801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4ABD43-B441-DEAF-1018-0B7369837A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49036" y="5388595"/>
              <a:ext cx="0" cy="5100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9952F016-EE58-BF9F-B085-AE85B029DA0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441164" y="5966721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Content Placeholder 2">
                  <a:extLst>
                    <a:ext uri="{FF2B5EF4-FFF2-40B4-BE49-F238E27FC236}">
                      <a16:creationId xmlns:a16="http://schemas.microsoft.com/office/drawing/2014/main" id="{9952F016-EE58-BF9F-B085-AE85B029DA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41164" y="5966721"/>
                  <a:ext cx="657306" cy="480131"/>
                </a:xfrm>
                <a:prstGeom prst="rect">
                  <a:avLst/>
                </a:prstGeom>
                <a:blipFill>
                  <a:blip r:embed="rId10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52ED715-5CFD-8F36-FDE4-0BDCF728B1B1}"/>
                </a:ext>
              </a:extLst>
            </p:cNvPr>
            <p:cNvCxnSpPr>
              <a:cxnSpLocks/>
            </p:cNvCxnSpPr>
            <p:nvPr/>
          </p:nvCxnSpPr>
          <p:spPr>
            <a:xfrm>
              <a:off x="11329177" y="2899856"/>
              <a:ext cx="0" cy="303303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E44E1A9-2BE7-003E-07EB-89425041E736}"/>
                </a:ext>
              </a:extLst>
            </p:cNvPr>
            <p:cNvSpPr/>
            <p:nvPr/>
          </p:nvSpPr>
          <p:spPr>
            <a:xfrm>
              <a:off x="9349653" y="2894004"/>
              <a:ext cx="4018278" cy="2880687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3035607-33CD-EC1C-B928-B367F7C065C5}"/>
                </a:ext>
              </a:extLst>
            </p:cNvPr>
            <p:cNvCxnSpPr>
              <a:cxnSpLocks/>
            </p:cNvCxnSpPr>
            <p:nvPr/>
          </p:nvCxnSpPr>
          <p:spPr>
            <a:xfrm>
              <a:off x="9349653" y="5932886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0D67AC7E-34B0-6831-2D5A-3F52CE41A09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035997" y="5981587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Content Placeholder 2">
                  <a:extLst>
                    <a:ext uri="{FF2B5EF4-FFF2-40B4-BE49-F238E27FC236}">
                      <a16:creationId xmlns:a16="http://schemas.microsoft.com/office/drawing/2014/main" id="{0D67AC7E-34B0-6831-2D5A-3F52CE41A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5997" y="5981587"/>
                  <a:ext cx="657306" cy="4801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ontent Placeholder 2">
                  <a:extLst>
                    <a:ext uri="{FF2B5EF4-FFF2-40B4-BE49-F238E27FC236}">
                      <a16:creationId xmlns:a16="http://schemas.microsoft.com/office/drawing/2014/main" id="{147B9377-C40A-FE42-2651-7177EE5DF70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039275" y="598158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en-IN" b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2" name="Content Placeholder 2">
                  <a:extLst>
                    <a:ext uri="{FF2B5EF4-FFF2-40B4-BE49-F238E27FC236}">
                      <a16:creationId xmlns:a16="http://schemas.microsoft.com/office/drawing/2014/main" id="{147B9377-C40A-FE42-2651-7177EE5DF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39275" y="5981586"/>
                  <a:ext cx="657306" cy="4801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ontent Placeholder 2">
                  <a:extLst>
                    <a:ext uri="{FF2B5EF4-FFF2-40B4-BE49-F238E27FC236}">
                      <a16:creationId xmlns:a16="http://schemas.microsoft.com/office/drawing/2014/main" id="{669AAB96-26C4-463D-0B82-48B0D03AD3B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135156" y="4304526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Content Placeholder 2">
                  <a:extLst>
                    <a:ext uri="{FF2B5EF4-FFF2-40B4-BE49-F238E27FC236}">
                      <a16:creationId xmlns:a16="http://schemas.microsoft.com/office/drawing/2014/main" id="{669AAB96-26C4-463D-0B82-48B0D03AD3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5156" y="4304526"/>
                  <a:ext cx="657306" cy="4801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ontent Placeholder 2">
                  <a:extLst>
                    <a:ext uri="{FF2B5EF4-FFF2-40B4-BE49-F238E27FC236}">
                      <a16:creationId xmlns:a16="http://schemas.microsoft.com/office/drawing/2014/main" id="{F8330E43-1691-33A4-7E70-4A4367A2160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751540" y="4304525"/>
                  <a:ext cx="657306" cy="480131"/>
                </a:xfrm>
                <a:prstGeom prst="rect">
                  <a:avLst/>
                </a:prstGeom>
              </p:spPr>
              <p:txBody>
                <a:bodyPr vert="horz" wrap="square" lIns="91440" tIns="45720" rIns="91440" bIns="45720" rtlCol="0">
                  <a:sp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IN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1" name="Content Placeholder 2">
                  <a:extLst>
                    <a:ext uri="{FF2B5EF4-FFF2-40B4-BE49-F238E27FC236}">
                      <a16:creationId xmlns:a16="http://schemas.microsoft.com/office/drawing/2014/main" id="{F8330E43-1691-33A4-7E70-4A4367A216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1540" y="4304525"/>
                  <a:ext cx="657306" cy="4801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ontent Placeholder 4">
                <a:extLst>
                  <a:ext uri="{FF2B5EF4-FFF2-40B4-BE49-F238E27FC236}">
                    <a16:creationId xmlns:a16="http://schemas.microsoft.com/office/drawing/2014/main" id="{A5CD8C38-4591-E170-3BF5-22C52E7E5C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1896107"/>
                <a:ext cx="6896983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Content Placeholder 4">
                <a:extLst>
                  <a:ext uri="{FF2B5EF4-FFF2-40B4-BE49-F238E27FC236}">
                    <a16:creationId xmlns:a16="http://schemas.microsoft.com/office/drawing/2014/main" id="{A5CD8C38-4591-E170-3BF5-22C52E7E5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1896107"/>
                <a:ext cx="6896983" cy="765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ontent Placeholder 4">
                <a:extLst>
                  <a:ext uri="{FF2B5EF4-FFF2-40B4-BE49-F238E27FC236}">
                    <a16:creationId xmlns:a16="http://schemas.microsoft.com/office/drawing/2014/main" id="{DB50E33F-F9CB-9A76-3E33-F2144B7B8E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2747833"/>
                <a:ext cx="6896983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∴0.5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Content Placeholder 4">
                <a:extLst>
                  <a:ext uri="{FF2B5EF4-FFF2-40B4-BE49-F238E27FC236}">
                    <a16:creationId xmlns:a16="http://schemas.microsoft.com/office/drawing/2014/main" id="{DB50E33F-F9CB-9A76-3E33-F2144B7B8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2747833"/>
                <a:ext cx="6896983" cy="765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00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E6DBE-AEBE-ABE8-58B6-515A27B31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047F-C1BD-2AF2-6DF2-CB826932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3CA51B44-A391-0D8E-4512-9C05D0C1EC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1" y="925114"/>
                <a:ext cx="3449780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3CA51B44-A391-0D8E-4512-9C05D0C1E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1" y="925114"/>
                <a:ext cx="3449780" cy="765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9B822AB-1047-C26E-4998-9D569635F4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5211" y="513411"/>
                <a:ext cx="3348280" cy="12965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 i="0" dirty="0" smtClean="0"/>
                        <m:t>; </m:t>
                      </m:r>
                      <m:r>
                        <m:rPr>
                          <m:nor/>
                        </m:rPr>
                        <a:rPr lang="en-IN" dirty="0" smtClean="0"/>
                        <m:t>where</m:t>
                      </m:r>
                      <m:r>
                        <m:rPr>
                          <m:nor/>
                        </m:rPr>
                        <a:rPr lang="en-IN" b="0" i="0" dirty="0" smtClean="0"/>
                        <m:t>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𝟕𝟓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9B822AB-1047-C26E-4998-9D569635F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5211" y="513411"/>
                <a:ext cx="3348280" cy="12965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FAF23F2-F301-4ED3-374E-C3272D3F9C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1896107"/>
                <a:ext cx="6896983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BFAF23F2-F301-4ED3-374E-C3272D3F9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1896107"/>
                <a:ext cx="6896983" cy="765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DA7930EF-3BA3-81DE-7C09-F27EEEA946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2747833"/>
                <a:ext cx="6896983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∴0.5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=0.09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DA7930EF-3BA3-81DE-7C09-F27EEEA94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2747833"/>
                <a:ext cx="6896983" cy="765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E4E36CBB-3F63-1483-A1D8-FB78D0620A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3599559"/>
                <a:ext cx="6896983" cy="765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lang="en-IN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=0.41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E4E36CBB-3F63-1483-A1D8-FB78D0620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3599559"/>
                <a:ext cx="6896983" cy="765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7E0CAF-3900-0ACC-E0F8-1B8DE217BF32}"/>
              </a:ext>
            </a:extLst>
          </p:cNvPr>
          <p:cNvCxnSpPr>
            <a:cxnSpLocks/>
          </p:cNvCxnSpPr>
          <p:nvPr/>
        </p:nvCxnSpPr>
        <p:spPr>
          <a:xfrm flipV="1">
            <a:off x="3955170" y="4029381"/>
            <a:ext cx="116004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EB4DCB0-4794-2125-1807-E6FD8DF634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53892" y="3621790"/>
                <a:ext cx="701829" cy="702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CEB4DCB0-4794-2125-1807-E6FD8DF63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892" y="3621790"/>
                <a:ext cx="701829" cy="7026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08D76E2-A354-AFFB-95C1-9BE21B3FA968}"/>
                  </a:ext>
                </a:extLst>
              </p:cNvPr>
              <p:cNvSpPr/>
              <p:nvPr/>
            </p:nvSpPr>
            <p:spPr>
              <a:xfrm>
                <a:off x="116880" y="4533325"/>
                <a:ext cx="648134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</a:rPr>
                  <a:t>Given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𝟑𝟒</m:t>
                        </m:r>
                      </m:e>
                    </m:d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0.4099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08D76E2-A354-AFFB-95C1-9BE21B3FA9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4533325"/>
                <a:ext cx="6481347" cy="523220"/>
              </a:xfrm>
              <a:prstGeom prst="rect">
                <a:avLst/>
              </a:prstGeom>
              <a:blipFill>
                <a:blip r:embed="rId8"/>
                <a:stretch>
                  <a:fillRect l="-1881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7878E07-77D9-DC63-97C6-85A81BECC831}"/>
                  </a:ext>
                </a:extLst>
              </p:cNvPr>
              <p:cNvSpPr/>
              <p:nvPr/>
            </p:nvSpPr>
            <p:spPr>
              <a:xfrm>
                <a:off x="5802882" y="4533325"/>
                <a:ext cx="155734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0.41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7878E07-77D9-DC63-97C6-85A81BECC8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882" y="4533325"/>
                <a:ext cx="155734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1635CE3-D02C-02DF-5F53-ACFC67254328}"/>
              </a:ext>
            </a:extLst>
          </p:cNvPr>
          <p:cNvCxnSpPr>
            <a:cxnSpLocks/>
          </p:cNvCxnSpPr>
          <p:nvPr/>
        </p:nvCxnSpPr>
        <p:spPr>
          <a:xfrm flipV="1">
            <a:off x="7027416" y="4814268"/>
            <a:ext cx="116004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C69AE193-B867-1F8C-A256-EA45C90725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6138" y="4406677"/>
                <a:ext cx="701829" cy="702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C69AE193-B867-1F8C-A256-EA45C9072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6138" y="4406677"/>
                <a:ext cx="701829" cy="70269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94C2A6BF-B00D-5BF2-DF10-0C7867DDC5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880" y="5166958"/>
                <a:ext cx="5857894" cy="9302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dirty="0"/>
                  <a:t>Comparing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94C2A6BF-B00D-5BF2-DF10-0C7867DDC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0" y="5166958"/>
                <a:ext cx="5857894" cy="930202"/>
              </a:xfrm>
              <a:prstGeom prst="rect">
                <a:avLst/>
              </a:prstGeom>
              <a:blipFill>
                <a:blip r:embed="rId11"/>
                <a:stretch>
                  <a:fillRect l="-2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8154966D-78FD-2667-411E-8B4A9B2F11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3369" y="5773821"/>
                <a:ext cx="2023648" cy="8675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=1.34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8154966D-78FD-2667-411E-8B4A9B2F1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369" y="5773821"/>
                <a:ext cx="2023648" cy="8675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03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  <p:bldP spid="17" grpId="0" build="allAtOnce"/>
      <p:bldP spid="18" grpId="0" build="allAtOnce"/>
      <p:bldP spid="21" grpId="0" build="allAtOnce"/>
      <p:bldP spid="23" grpId="0" build="allAtOnce"/>
      <p:bldP spid="25" grpId="0" build="allAtOnce"/>
      <p:bldP spid="26" grpId="0" build="allAtOnce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150558B6-5CD6-121F-60FF-DEA17D3BB9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5677" y="5853881"/>
                <a:ext cx="2493488" cy="7922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1.2</m:t>
                          </m:r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Content Placeholder 4">
                <a:extLst>
                  <a:ext uri="{FF2B5EF4-FFF2-40B4-BE49-F238E27FC236}">
                    <a16:creationId xmlns:a16="http://schemas.microsoft.com/office/drawing/2014/main" id="{150558B6-5CD6-121F-60FF-DEA17D3BB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677" y="5853881"/>
                <a:ext cx="2493488" cy="79229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 ⇝ Example 17 (Continue)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02BBC4-C3DE-2198-913E-FD85BF5DA619}"/>
              </a:ext>
            </a:extLst>
          </p:cNvPr>
          <p:cNvGrpSpPr/>
          <p:nvPr/>
        </p:nvGrpSpPr>
        <p:grpSpPr>
          <a:xfrm>
            <a:off x="107329" y="795256"/>
            <a:ext cx="2900904" cy="910506"/>
            <a:chOff x="96938" y="2208419"/>
            <a:chExt cx="2900904" cy="910506"/>
          </a:xfrm>
        </p:grpSpPr>
        <p:sp>
          <p:nvSpPr>
            <p:cNvPr id="5" name="Rectangle 4"/>
            <p:cNvSpPr/>
            <p:nvPr/>
          </p:nvSpPr>
          <p:spPr>
            <a:xfrm>
              <a:off x="96938" y="2439116"/>
              <a:ext cx="105645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800" dirty="0">
                  <a:solidFill>
                    <a:srgbClr val="002060"/>
                  </a:solidFill>
                  <a:ea typeface="Times New Roman" panose="02020603050405020304" pitchFamily="18" charset="0"/>
                  <a:cs typeface="Shruti"/>
                </a:rPr>
                <a:t>Now,</a:t>
              </a:r>
              <a:endParaRPr lang="en-IN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916375" y="2208419"/>
                  <a:ext cx="2081467" cy="9105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  <m:t>z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  <m:t>2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/>
                          </a:rPr>
                          <m:t>=</m:t>
                        </m:r>
                        <m:f>
                          <m:f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</m:ctrlPr>
                          </m:fPr>
                          <m:nu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  <m:t>75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  <m:t>μ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/>
                              </a:rPr>
                              <m:t>σ</m:t>
                            </m:r>
                          </m:den>
                        </m:f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375" y="2208419"/>
                  <a:ext cx="2081467" cy="91050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2CF1651D-ABBC-B654-26C5-0323A7A639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8722" y="1659328"/>
                <a:ext cx="3586190" cy="12166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1.34=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latin typeface="Cambria Math" panose="02040503050406030204" pitchFamily="18" charset="0"/>
                            </a:rPr>
                            <m:t>75−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2CF1651D-ABBC-B654-26C5-0323A7A63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22" y="1659328"/>
                <a:ext cx="3586190" cy="12166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C4AA87B6-4B1E-453C-ACEA-44405ADAA3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825" y="3015047"/>
                <a:ext cx="3586190" cy="878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1.34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σ</m:t>
                      </m:r>
                      <m:r>
                        <a:rPr lang="en-US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μ</m:t>
                      </m:r>
                      <m:r>
                        <a:rPr lang="en-US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75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C4AA87B6-4B1E-453C-ACEA-44405ADAA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25" y="3015047"/>
                <a:ext cx="3586190" cy="8785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D5A160E7-8A2B-530D-C7C7-6F90A88AEF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41075" y="3015047"/>
                <a:ext cx="701829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D5A160E7-8A2B-530D-C7C7-6F90A88AE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075" y="3015047"/>
                <a:ext cx="701829" cy="711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080E71-5EDE-0DC4-DFDE-C36C45D689F2}"/>
              </a:ext>
            </a:extLst>
          </p:cNvPr>
          <p:cNvCxnSpPr>
            <a:cxnSpLocks/>
          </p:cNvCxnSpPr>
          <p:nvPr/>
        </p:nvCxnSpPr>
        <p:spPr>
          <a:xfrm flipV="1">
            <a:off x="3460246" y="3410636"/>
            <a:ext cx="1160047" cy="0"/>
          </a:xfrm>
          <a:prstGeom prst="straightConnector1">
            <a:avLst/>
          </a:prstGeom>
          <a:ln w="53975">
            <a:solidFill>
              <a:srgbClr val="FF0000"/>
            </a:solidFill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98582A2-0F49-9BCD-9F0C-0B745986D0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329" y="3688588"/>
                <a:ext cx="4682880" cy="704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dirty="0"/>
                  <a:t>Solving equations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C98582A2-0F49-9BCD-9F0C-0B745986D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29" y="3688588"/>
                <a:ext cx="4682880" cy="704736"/>
              </a:xfrm>
              <a:prstGeom prst="rect">
                <a:avLst/>
              </a:prstGeom>
              <a:blipFill>
                <a:blip r:embed="rId6"/>
                <a:stretch>
                  <a:fillRect l="-2734" b="-18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F9A0B42B-207F-A626-5046-FCBF65C6B4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4103" y="5010037"/>
                <a:ext cx="3586190" cy="878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1.34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σ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μ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=</m:t>
                      </m:r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75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F9A0B42B-207F-A626-5046-FCBF65C6B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103" y="5010037"/>
                <a:ext cx="3586190" cy="8785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8675D2D5-6265-4FFF-99FA-C13CE5D721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7729" y="4374793"/>
                <a:ext cx="3586190" cy="8785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/>
                            </a:rPr>
                            <m:t>0.125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σ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μ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=</m:t>
                      </m:r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40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8675D2D5-6265-4FFF-99FA-C13CE5D72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29" y="4374793"/>
                <a:ext cx="3586190" cy="8785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B6C098-2E67-FE92-149E-76E86104084F}"/>
              </a:ext>
            </a:extLst>
          </p:cNvPr>
          <p:cNvCxnSpPr/>
          <p:nvPr/>
        </p:nvCxnSpPr>
        <p:spPr>
          <a:xfrm>
            <a:off x="1034103" y="5954730"/>
            <a:ext cx="2923505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275CB321-9163-C2DD-DC3A-D06BDC25BA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4815" y="5363540"/>
                <a:ext cx="484852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−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275CB321-9163-C2DD-DC3A-D06BDC25B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15" y="5363540"/>
                <a:ext cx="484852" cy="711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74AA2971-8723-E6BD-8BE5-CDF8C78F58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2702" y="5363540"/>
                <a:ext cx="484852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−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74AA2971-8723-E6BD-8BE5-CDF8C78F5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702" y="5363540"/>
                <a:ext cx="484852" cy="711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FA6C6D4A-16A4-4987-3126-7CF7E2807B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20155" y="5363540"/>
                <a:ext cx="484852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/>
                        </a:rPr>
                        <m:t>−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Content Placeholder 4">
                <a:extLst>
                  <a:ext uri="{FF2B5EF4-FFF2-40B4-BE49-F238E27FC236}">
                    <a16:creationId xmlns:a16="http://schemas.microsoft.com/office/drawing/2014/main" id="{FA6C6D4A-16A4-4987-3126-7CF7E2807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155" y="5363540"/>
                <a:ext cx="484852" cy="711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BB9B77C2-8809-E4B7-E87A-6313D43620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807" y="5865204"/>
                <a:ext cx="2493488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28</m:t>
                      </m:r>
                      <m:r>
                        <a:rPr lang="en-US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IN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81</m:t>
                      </m:r>
                    </m:oMath>
                  </m:oMathPara>
                </a14:m>
                <a:endParaRPr lang="en-IN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Content Placeholder 4">
                <a:extLst>
                  <a:ext uri="{FF2B5EF4-FFF2-40B4-BE49-F238E27FC236}">
                    <a16:creationId xmlns:a16="http://schemas.microsoft.com/office/drawing/2014/main" id="{BB9B77C2-8809-E4B7-E87A-6313D4362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807" y="5865204"/>
                <a:ext cx="2493488" cy="711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9C82B3F1-9A5D-E5DB-9CE5-EE98ED749B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4442" y="3619452"/>
                <a:ext cx="4682880" cy="704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dirty="0"/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28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lang="en-US" dirty="0"/>
                  <a:t> in equation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Content Placeholder 4">
                <a:extLst>
                  <a:ext uri="{FF2B5EF4-FFF2-40B4-BE49-F238E27FC236}">
                    <a16:creationId xmlns:a16="http://schemas.microsoft.com/office/drawing/2014/main" id="{9C82B3F1-9A5D-E5DB-9CE5-EE98ED749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442" y="3619452"/>
                <a:ext cx="4682880" cy="704736"/>
              </a:xfrm>
              <a:prstGeom prst="rect">
                <a:avLst/>
              </a:prstGeom>
              <a:blipFill>
                <a:blip r:embed="rId14"/>
                <a:stretch>
                  <a:fillRect l="-2604" b="-19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FDA76A19-DE26-D4EE-3258-9F25E181C8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1793" y="4374793"/>
                <a:ext cx="4682880" cy="704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d>
                        <m:d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28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81</m:t>
                          </m:r>
                        </m:e>
                      </m:d>
                      <m: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Content Placeholder 4">
                <a:extLst>
                  <a:ext uri="{FF2B5EF4-FFF2-40B4-BE49-F238E27FC236}">
                    <a16:creationId xmlns:a16="http://schemas.microsoft.com/office/drawing/2014/main" id="{FDA76A19-DE26-D4EE-3258-9F25E181C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793" y="4374793"/>
                <a:ext cx="4682880" cy="70473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3419F984-75C6-078E-5610-764FAA9BB9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9773" y="5027829"/>
                <a:ext cx="4682880" cy="704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40−3.6013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Content Placeholder 4">
                <a:extLst>
                  <a:ext uri="{FF2B5EF4-FFF2-40B4-BE49-F238E27FC236}">
                    <a16:creationId xmlns:a16="http://schemas.microsoft.com/office/drawing/2014/main" id="{3419F984-75C6-078E-5610-764FAA9BB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773" y="5027829"/>
                <a:ext cx="4682880" cy="70473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ACDCD10B-3C4E-8F36-792D-261CF759C9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9773" y="5732565"/>
                <a:ext cx="3138314" cy="704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714375" indent="-352425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r>
                        <m:rPr>
                          <m:sty m:val="p"/>
                        </m:rP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US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36.40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Content Placeholder 4">
                <a:extLst>
                  <a:ext uri="{FF2B5EF4-FFF2-40B4-BE49-F238E27FC236}">
                    <a16:creationId xmlns:a16="http://schemas.microsoft.com/office/drawing/2014/main" id="{ACDCD10B-3C4E-8F36-792D-261CF759C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773" y="5732565"/>
                <a:ext cx="3138314" cy="70473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2D48A6F9-929C-E648-C281-58CE329E827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27931" y="925405"/>
            <a:ext cx="4706520" cy="16521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A3D101F-ECA8-4033-560A-1581E70EC617}"/>
              </a:ext>
            </a:extLst>
          </p:cNvPr>
          <p:cNvCxnSpPr>
            <a:cxnSpLocks/>
          </p:cNvCxnSpPr>
          <p:nvPr/>
        </p:nvCxnSpPr>
        <p:spPr>
          <a:xfrm>
            <a:off x="6347476" y="3893639"/>
            <a:ext cx="0" cy="2644805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60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/>
      <p:bldP spid="8" grpId="0" build="allAtOnce"/>
      <p:bldP spid="9" grpId="0" build="allAtOnce"/>
      <p:bldP spid="10" grpId="0" build="allAtOnce"/>
      <p:bldP spid="14" grpId="0" build="allAtOnce"/>
      <p:bldP spid="15" grpId="0" build="allAtOnce"/>
      <p:bldP spid="16" grpId="0" build="allAtOnce"/>
      <p:bldP spid="18" grpId="0" build="allAtOnce"/>
      <p:bldP spid="19" grpId="0" build="allAtOnce"/>
      <p:bldP spid="20" grpId="0" build="allAtOnce"/>
      <p:bldP spid="22" grpId="0" build="allAtOnce"/>
      <p:bldP spid="23" grpId="0" build="allAtOnce"/>
      <p:bldP spid="24" grpId="0" build="allAtOnce"/>
      <p:bldP spid="25" grpId="0" build="allAtOnce"/>
      <p:bldP spid="26" grpId="0" build="allAtOnce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3F05-CAA5-6A0C-C903-CF0E1261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2EDA4CD-85F0-998A-FE47-DB1D234407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Humanities &amp; Science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04AFF-846D-A737-45F3-A6F7E396FF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Probability &amp; Statistics (P&amp;S)</a:t>
            </a:r>
          </a:p>
          <a:p>
            <a:r>
              <a:rPr lang="en-IN" dirty="0"/>
              <a:t>DU # 2301HS402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37C3FD-7D8E-22CF-AB5A-193C44B205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IN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Mr. </a:t>
            </a:r>
            <a:r>
              <a:rPr lang="en-IN" dirty="0" err="1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Dhvanik</a:t>
            </a:r>
            <a:r>
              <a:rPr lang="en-IN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 H. Zala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8543A-1FD3-BE86-D16D-55307A1718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dhvanik.zala@darshan.ac.in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C461BE-B4C2-DAC0-3AED-5F17D5F256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82385 88865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DB0AA7CB-23AE-C261-4585-13A5EAB2FA2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3" r="6193"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solidFill>
            <a:prstClr val="white"/>
          </a:solidFill>
          <a:ln>
            <a:solidFill>
              <a:prstClr val="white">
                <a:lumMod val="65000"/>
              </a:prstClr>
            </a:solidFill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B3B806E-CF0E-5FB6-9B61-1703F1BD0333}"/>
              </a:ext>
            </a:extLst>
          </p:cNvPr>
          <p:cNvGrpSpPr/>
          <p:nvPr/>
        </p:nvGrpSpPr>
        <p:grpSpPr>
          <a:xfrm>
            <a:off x="946" y="1462475"/>
            <a:ext cx="8044476" cy="3103418"/>
            <a:chOff x="-12804" y="1537545"/>
            <a:chExt cx="8044476" cy="3103418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74EEF030-254C-103D-FE1D-86E40239375D}"/>
                </a:ext>
              </a:extLst>
            </p:cNvPr>
            <p:cNvSpPr txBox="1">
              <a:spLocks/>
            </p:cNvSpPr>
            <p:nvPr/>
          </p:nvSpPr>
          <p:spPr>
            <a:xfrm>
              <a:off x="-12804" y="2160999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  <p:sp>
          <p:nvSpPr>
            <p:cNvPr id="10" name="Hexagon 9">
              <a:extLst>
                <a:ext uri="{FF2B5EF4-FFF2-40B4-BE49-F238E27FC236}">
                  <a16:creationId xmlns:a16="http://schemas.microsoft.com/office/drawing/2014/main" id="{F5284C96-DCB5-61EC-6791-FEC820B04609}"/>
                </a:ext>
              </a:extLst>
            </p:cNvPr>
            <p:cNvSpPr/>
            <p:nvPr/>
          </p:nvSpPr>
          <p:spPr>
            <a:xfrm rot="5400000">
              <a:off x="2457725" y="1742096"/>
              <a:ext cx="3103418" cy="2694316"/>
            </a:xfrm>
            <a:prstGeom prst="hexagon">
              <a:avLst/>
            </a:prstGeom>
            <a:noFill/>
            <a:ln w="571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sz="4400" b="1" dirty="0">
                  <a:solidFill>
                    <a:srgbClr val="B14440"/>
                  </a:solidFill>
                </a:rPr>
                <a:t>THANK YOU</a:t>
              </a: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B4860473-828E-566C-1308-2BBB9724291D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5437112" y="2160998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9884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0CB386-78CA-4575-9F5B-1025EB3E0C65}">
  <we:reference id="wa200005566" version="1.0.0.0" store="en-US" storeType="OMEX"/>
  <we:alternateReferences>
    <we:reference id="wa200005566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31109</TotalTime>
  <Words>15038</Words>
  <Application>Microsoft Office PowerPoint</Application>
  <PresentationFormat>Widescreen</PresentationFormat>
  <Paragraphs>2141</Paragraphs>
  <Slides>233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233</vt:i4>
      </vt:variant>
    </vt:vector>
  </HeadingPairs>
  <TitlesOfParts>
    <vt:vector size="244" baseType="lpstr">
      <vt:lpstr>Wingdings 2</vt:lpstr>
      <vt:lpstr>Calibri</vt:lpstr>
      <vt:lpstr>Wingdings</vt:lpstr>
      <vt:lpstr>Roboto Condensed Light</vt:lpstr>
      <vt:lpstr>Times New Roman</vt:lpstr>
      <vt:lpstr>Cambria Math</vt:lpstr>
      <vt:lpstr>Wingdings 3</vt:lpstr>
      <vt:lpstr>Cambria</vt:lpstr>
      <vt:lpstr>Roboto Condensed</vt:lpstr>
      <vt:lpstr>Arial</vt:lpstr>
      <vt:lpstr>Office Theme</vt:lpstr>
      <vt:lpstr>Unit – 3 Probability Distribution</vt:lpstr>
      <vt:lpstr>PowerPoint Presentation</vt:lpstr>
      <vt:lpstr>PowerPoint Presentation</vt:lpstr>
      <vt:lpstr>Introduction</vt:lpstr>
      <vt:lpstr>What is a Probability Distribution?</vt:lpstr>
      <vt:lpstr>PMF vs PDF</vt:lpstr>
      <vt:lpstr>Discrete Probability Distributions (PMF)</vt:lpstr>
      <vt:lpstr>Continuous Probability Distributions (PDF)</vt:lpstr>
      <vt:lpstr>Why do we need different distributions?</vt:lpstr>
      <vt:lpstr>Why do we need different distributions?</vt:lpstr>
      <vt:lpstr>Method 1 Binomial Distribution</vt:lpstr>
      <vt:lpstr>Bernoulli’s Trial</vt:lpstr>
      <vt:lpstr>Bernoulli’s Trial</vt:lpstr>
      <vt:lpstr>Bernoulli’s Trial</vt:lpstr>
      <vt:lpstr>Bernoulli Random Variable</vt:lpstr>
      <vt:lpstr>Binomial Distribution </vt:lpstr>
      <vt:lpstr>Binomial Distribution </vt:lpstr>
      <vt:lpstr>Binomial Distribution : How to define X, n, p and q </vt:lpstr>
      <vt:lpstr>Conditions for a Binomial Experiment – Remember !</vt:lpstr>
      <vt:lpstr>Binomial Distribution </vt:lpstr>
      <vt:lpstr>Binomial Distribution </vt:lpstr>
      <vt:lpstr>Properties of Binomial Distribution </vt:lpstr>
      <vt:lpstr>Properties of Binomial Distribution </vt:lpstr>
      <vt:lpstr>Method 1 ⇝ Example 1</vt:lpstr>
      <vt:lpstr>Method 1 ⇝ Example 1 (Continue)</vt:lpstr>
      <vt:lpstr>Method 1 ⇝ Example 2</vt:lpstr>
      <vt:lpstr>Method 1 ⇝ Example 2 (Continue)</vt:lpstr>
      <vt:lpstr>Method 1 ⇝ Example 5</vt:lpstr>
      <vt:lpstr>Method 1 ⇝ Example 5 (Continue)</vt:lpstr>
      <vt:lpstr>Method 1 ⇝ Example 11</vt:lpstr>
      <vt:lpstr>Method 1 ⇝ Example 11 (Continue)</vt:lpstr>
      <vt:lpstr>Method 1 ⇝ Example 11 (Continue)</vt:lpstr>
      <vt:lpstr>Method 1 ⇝ Example 14</vt:lpstr>
      <vt:lpstr>Method 1 ⇝ Example 14 (Continue)</vt:lpstr>
      <vt:lpstr>Method 1 ⇝ Example 14 (Continue)</vt:lpstr>
      <vt:lpstr>Method 1 ⇝ Example 14 (Continue)</vt:lpstr>
      <vt:lpstr>Method 1 ⇝ Example 21 </vt:lpstr>
      <vt:lpstr>Method 1 ⇝ Example 21 (Continue)</vt:lpstr>
      <vt:lpstr>Method 1 ⇝ Example 21 (Continue)</vt:lpstr>
      <vt:lpstr>Method 1 ⇝ Example 21 (Continue)</vt:lpstr>
      <vt:lpstr>Method 1 ⇝ Example 21 (Continue)</vt:lpstr>
      <vt:lpstr>Method 1 ⇝ Example 21 (Continue)</vt:lpstr>
      <vt:lpstr>Method 1 ⇝ Example 21 (Continue)</vt:lpstr>
      <vt:lpstr>Method 1 ⇝ Example 21 (Continue)</vt:lpstr>
      <vt:lpstr>Method 1 ⇝ Example 23</vt:lpstr>
      <vt:lpstr>Method 1 ⇝ Example 23 (Continue)</vt:lpstr>
      <vt:lpstr>Method 1 ⇝ Example 23 (Continue)</vt:lpstr>
      <vt:lpstr>Method 1 ⇝ Example 23 (Continue)</vt:lpstr>
      <vt:lpstr>Method 2 Poisson Distribution</vt:lpstr>
      <vt:lpstr>Introduction</vt:lpstr>
      <vt:lpstr>Introduction</vt:lpstr>
      <vt:lpstr>Introduction</vt:lpstr>
      <vt:lpstr>Poisson Distribution </vt:lpstr>
      <vt:lpstr>Poisson Parameter λ</vt:lpstr>
      <vt:lpstr>Poisson Parameter λ</vt:lpstr>
      <vt:lpstr>Poisson Parameter λ</vt:lpstr>
      <vt:lpstr>Poisson Parameter λ</vt:lpstr>
      <vt:lpstr>Poisson Parameter λ</vt:lpstr>
      <vt:lpstr>Why Poisson Distribution Exist?</vt:lpstr>
      <vt:lpstr>Interpretation of λ</vt:lpstr>
      <vt:lpstr>Interpretation of λ - Zoom In: divide time into tiny pieces</vt:lpstr>
      <vt:lpstr>Interpretation of λ - Zoom In: divide time into tiny pieces</vt:lpstr>
      <vt:lpstr>Interpretation of λ - Zoom In: divide time into tiny pieces</vt:lpstr>
      <vt:lpstr>Meaning of “trial” in Poisson</vt:lpstr>
      <vt:lpstr>Meaning of “trial” in Poisson</vt:lpstr>
      <vt:lpstr>Assumptions Behind Poisson Distribution</vt:lpstr>
      <vt:lpstr>Properties of Poisson Distribution </vt:lpstr>
      <vt:lpstr>Properties of Poisson Distribution </vt:lpstr>
      <vt:lpstr>Method 2 ⇝ Example 1</vt:lpstr>
      <vt:lpstr>Method 2 ⇝ Example 3</vt:lpstr>
      <vt:lpstr>Method 2 ⇝ Example 3 (Continue)</vt:lpstr>
      <vt:lpstr>Method 2 ⇝ Example 7</vt:lpstr>
      <vt:lpstr>Method 2 ⇝ Example 7 (Continue)</vt:lpstr>
      <vt:lpstr>Method 2 ⇝ Example 9</vt:lpstr>
      <vt:lpstr>Method 2 ⇝ Example 9 (Continue)</vt:lpstr>
      <vt:lpstr>Method 2 ⇝ Example 9 (Continue)</vt:lpstr>
      <vt:lpstr>Method 2 ⇝ Example 17</vt:lpstr>
      <vt:lpstr>Method 2 ⇝ Example 17 (Continue)</vt:lpstr>
      <vt:lpstr>Method 2 ⇝ Example 17 (Continue)</vt:lpstr>
      <vt:lpstr>Method 2 ⇝ Example 20</vt:lpstr>
      <vt:lpstr>Method 2 ⇝ Example 20 (Continue)</vt:lpstr>
      <vt:lpstr>Method 2 ⇝ Example 20 (Continue)</vt:lpstr>
      <vt:lpstr>Method 2 ⇝ Example 20 (Continue)</vt:lpstr>
      <vt:lpstr>Method 3 Exponential Distribution</vt:lpstr>
      <vt:lpstr>What is the Exponential Distribution?</vt:lpstr>
      <vt:lpstr>How long will I have to wait from now until the next event occurs?</vt:lpstr>
      <vt:lpstr>How long will I have to wait from now until the next event occurs?</vt:lpstr>
      <vt:lpstr>How long will I have to wait from now until the next event occurs?</vt:lpstr>
      <vt:lpstr>How long will I have to wait from now until the next event occurs?</vt:lpstr>
      <vt:lpstr>How long will I have to wait from now until the next event occurs?</vt:lpstr>
      <vt:lpstr>Why is this waiting time Random?</vt:lpstr>
      <vt:lpstr>What exactly is random here?</vt:lpstr>
      <vt:lpstr>Summary</vt:lpstr>
      <vt:lpstr>Example : 2 - Waiting for Internet to Reconnect</vt:lpstr>
      <vt:lpstr>Example : 2 - Waiting for Internet to Reconnect</vt:lpstr>
      <vt:lpstr>Example : 2 - Waiting for Internet to Reconnect</vt:lpstr>
      <vt:lpstr>Example : 2 - Waiting for Internet to Reconnect</vt:lpstr>
      <vt:lpstr>Example : 2 - Waiting at a Traffic Signal</vt:lpstr>
      <vt:lpstr>Example : 2 - Waiting for Internet to Reconnect</vt:lpstr>
      <vt:lpstr>Exponential Distribution </vt:lpstr>
      <vt:lpstr>Exponential Distribution</vt:lpstr>
      <vt:lpstr>Exponential Distribution</vt:lpstr>
      <vt:lpstr>Exponential Distribution </vt:lpstr>
      <vt:lpstr>Exponential Distribution </vt:lpstr>
      <vt:lpstr>Exponential Distribution </vt:lpstr>
      <vt:lpstr>Exponential Distribution </vt:lpstr>
      <vt:lpstr>Exponential Distribution </vt:lpstr>
      <vt:lpstr>How do we find probabilities?</vt:lpstr>
      <vt:lpstr>How do we find probabilities?</vt:lpstr>
      <vt:lpstr>How do we find probabilities?</vt:lpstr>
      <vt:lpstr>The Memoryless Property – The Heart of Exponential distribution</vt:lpstr>
      <vt:lpstr>The Memoryless Property – The Heart of Exponential distribution</vt:lpstr>
      <vt:lpstr>Example - Customer Arrival</vt:lpstr>
      <vt:lpstr>Example - Customer Arrival</vt:lpstr>
      <vt:lpstr>Method 3 ⇝ Example 1</vt:lpstr>
      <vt:lpstr>Method 3 ⇝ Example 2</vt:lpstr>
      <vt:lpstr>Method 3 ⇝ Example 2 (Continue)</vt:lpstr>
      <vt:lpstr>Method 3 ⇝ Example 2 (Continue)</vt:lpstr>
      <vt:lpstr>Method 3 ⇝ Example 9</vt:lpstr>
      <vt:lpstr>Method 3 ⇝ Example 9</vt:lpstr>
      <vt:lpstr>Method 3 ⇝ Example 9 (Continue)</vt:lpstr>
      <vt:lpstr>Method 3 ⇝ Example 10</vt:lpstr>
      <vt:lpstr>Method 3 ⇝ Example 10</vt:lpstr>
      <vt:lpstr>Method 3 ⇝ Example 10 (Continue)</vt:lpstr>
      <vt:lpstr>Method 3 ⇝ Example 10 (Continue)</vt:lpstr>
      <vt:lpstr>Method 3 ⇝ Example 13</vt:lpstr>
      <vt:lpstr>Method 3 ⇝ Example 13</vt:lpstr>
      <vt:lpstr>Method 3 ⇝ Example 13</vt:lpstr>
      <vt:lpstr>Method 3 ⇝ Example 13 (Continue)</vt:lpstr>
      <vt:lpstr>Method 3 ⇝ Example 13 (Continue)</vt:lpstr>
      <vt:lpstr>Method 3 ⇝ Example 13 (Continue)</vt:lpstr>
      <vt:lpstr>Method 3 ⇝ Example 13 (Continue)</vt:lpstr>
      <vt:lpstr>Method 3 ⇝ Example 13 (Continue) – Another Method</vt:lpstr>
      <vt:lpstr>Method 3 ⇝ Example 13 (Continue) – Another Method</vt:lpstr>
      <vt:lpstr>Method 3 ⇝ Example 18</vt:lpstr>
      <vt:lpstr>Method 3 ⇝ Example 18</vt:lpstr>
      <vt:lpstr>Method 3 ⇝ Example 18</vt:lpstr>
      <vt:lpstr>Method 3 ⇝ Example 18 (Continue)</vt:lpstr>
      <vt:lpstr>Method 3 ⇝ Example 18 (Continue)</vt:lpstr>
      <vt:lpstr>Method 4 Normal Distribution</vt:lpstr>
      <vt:lpstr>Introduction</vt:lpstr>
      <vt:lpstr>Introduction</vt:lpstr>
      <vt:lpstr>Introduction</vt:lpstr>
      <vt:lpstr>Bell shape Curve</vt:lpstr>
      <vt:lpstr>Why does the bell shape appear everywhere?</vt:lpstr>
      <vt:lpstr>Why does the bell shape appear everywhere?</vt:lpstr>
      <vt:lpstr>The Central Limit Theorem</vt:lpstr>
      <vt:lpstr>Why Binomial Distribution becomes Normal?</vt:lpstr>
      <vt:lpstr>Why Binomial Distribution becomes Normal?</vt:lpstr>
      <vt:lpstr>Why Poisson becomes Normal?</vt:lpstr>
      <vt:lpstr>Why Poisson becomes Normal?</vt:lpstr>
      <vt:lpstr>Why Poisson becomes Normal?</vt:lpstr>
      <vt:lpstr>Why sum of Exponentials becomes Normal?</vt:lpstr>
      <vt:lpstr>Why sum of Exponentials becomes Normal?</vt:lpstr>
      <vt:lpstr>Galton Board</vt:lpstr>
      <vt:lpstr>Normal Distribution </vt:lpstr>
      <vt:lpstr>Normal Distribution </vt:lpstr>
      <vt:lpstr>What problem do we face with a Normal random variable?</vt:lpstr>
      <vt:lpstr>What problem do we face with a Normal random variable?</vt:lpstr>
      <vt:lpstr>What problem do we face with a Normal random variable?</vt:lpstr>
      <vt:lpstr>What does “standardizing” actually mean?</vt:lpstr>
      <vt:lpstr>What does “standardizing” actually mean?</vt:lpstr>
      <vt:lpstr>Standard Normal Variable</vt:lpstr>
      <vt:lpstr>Standard Normal Variable</vt:lpstr>
      <vt:lpstr>Normal to Standard Normal</vt:lpstr>
      <vt:lpstr>Methods for Finding the Probability (area) from Z-Table  </vt:lpstr>
      <vt:lpstr>Methods for Finding the Probability (area) from Z-Table  </vt:lpstr>
      <vt:lpstr>Important Cases</vt:lpstr>
      <vt:lpstr>Method 4 ⇝ Z – Table </vt:lpstr>
      <vt:lpstr>Important Cases</vt:lpstr>
      <vt:lpstr>Important Cases : Remark</vt:lpstr>
      <vt:lpstr>Important Cases</vt:lpstr>
      <vt:lpstr>Important Cases : Remark</vt:lpstr>
      <vt:lpstr>Important Cases : Remark</vt:lpstr>
      <vt:lpstr>Important Cases</vt:lpstr>
      <vt:lpstr>Important Cases : Remark</vt:lpstr>
      <vt:lpstr>Important Cases : Remark</vt:lpstr>
      <vt:lpstr>Important Cases</vt:lpstr>
      <vt:lpstr>Important Cases : Remark</vt:lpstr>
      <vt:lpstr>Important Cases : Remark</vt:lpstr>
      <vt:lpstr>Important Cases</vt:lpstr>
      <vt:lpstr>Method 4 ⇝ Example 4 </vt:lpstr>
      <vt:lpstr>Method 4 ⇝ Example 4 (Continue) </vt:lpstr>
      <vt:lpstr>Method 4 ⇝ Example 4 (Continue) </vt:lpstr>
      <vt:lpstr>Method 4 ⇝ Example 4 (Continue) </vt:lpstr>
      <vt:lpstr>Method 4 ⇝ Example 4 (Continue) </vt:lpstr>
      <vt:lpstr>Method 4 ⇝ Example 4 (Continue)</vt:lpstr>
      <vt:lpstr>Method 4 ⇝ Example 4 (Continue)</vt:lpstr>
      <vt:lpstr>Method 4 ⇝ Example 8</vt:lpstr>
      <vt:lpstr>Method 4 ⇝ Example 8 (Continue) </vt:lpstr>
      <vt:lpstr>Method 4 ⇝ Example 8 (Continue)</vt:lpstr>
      <vt:lpstr>Method 4 ⇝ Example 8 (Continue)</vt:lpstr>
      <vt:lpstr>Method 4 ⇝ Example 8 (Continue)</vt:lpstr>
      <vt:lpstr>Method 4 ⇝ Example 9</vt:lpstr>
      <vt:lpstr>Method 4 ⇝ Example 9 ⇝ Meaning</vt:lpstr>
      <vt:lpstr>Method 4 ⇝ Example 9 (Continue)</vt:lpstr>
      <vt:lpstr>Method 4 ⇝ Example 9 (Continue)</vt:lpstr>
      <vt:lpstr>Method 4 ⇝ Example 9 (Continue)</vt:lpstr>
      <vt:lpstr>Method 4 ⇝ Example 9 (Continue)</vt:lpstr>
      <vt:lpstr>Method 4 ⇝ Example 9 (Continue)</vt:lpstr>
      <vt:lpstr>Method 4 ⇝ Example 9 – For Understanding Only</vt:lpstr>
      <vt:lpstr>Method 4 ⇝ Example 9 (Continue)</vt:lpstr>
      <vt:lpstr>Method 4 ⇝ Example 9 (Continue)</vt:lpstr>
      <vt:lpstr>Method 4 ⇝ Example 9 (Continue)</vt:lpstr>
      <vt:lpstr>Method 4 ⇝ Example 9 (Continue)</vt:lpstr>
      <vt:lpstr>Method 4 ⇝ Example 10</vt:lpstr>
      <vt:lpstr>Method 4 ⇝ Example 10 (Continue)</vt:lpstr>
      <vt:lpstr>Method 4 ⇝ Example 10 (Continue)</vt:lpstr>
      <vt:lpstr>Method 4 ⇝ Example 10 (Continue)</vt:lpstr>
      <vt:lpstr>Method 4 ⇝ Example 10 (Continue)</vt:lpstr>
      <vt:lpstr>Method 4 ⇝ Example 10 (Continue)</vt:lpstr>
      <vt:lpstr>Method 4 ⇝ Example 10 (Continue)</vt:lpstr>
      <vt:lpstr>Method  ⇝ Example 15</vt:lpstr>
      <vt:lpstr>Method ⇝ Example 15 ⇝ Meaning</vt:lpstr>
      <vt:lpstr>Method ⇝ Example 15 ⇝ Meaning</vt:lpstr>
      <vt:lpstr>Method  ⇝ Example 15</vt:lpstr>
      <vt:lpstr>Method 4 ⇝ Example 15 (Continue)</vt:lpstr>
      <vt:lpstr>Method 4 ⇝ Example 15 (Continue)</vt:lpstr>
      <vt:lpstr>Method 4 ⇝ Example 15 (Continue)</vt:lpstr>
      <vt:lpstr>Method 4 ⇝ Example 15 (Continue)</vt:lpstr>
      <vt:lpstr>Method 4 ⇝ Example 15 (Continue)</vt:lpstr>
      <vt:lpstr>Method  ⇝ Example 17</vt:lpstr>
      <vt:lpstr>Method 4 ⇝ Example 17 (Continue)</vt:lpstr>
      <vt:lpstr>Method 4 ⇝ Example 17 ⇝ For Understanding Only</vt:lpstr>
      <vt:lpstr>Method 4 ⇝ Example 17 (Continue)</vt:lpstr>
      <vt:lpstr>Method 4 ⇝ Example 17 (Continue)</vt:lpstr>
      <vt:lpstr>Method 4 ⇝ Example 17 (Continue)</vt:lpstr>
      <vt:lpstr>Method 4 ⇝ Example 17 (Continue)</vt:lpstr>
      <vt:lpstr>Method 4 ⇝ Example 17 ⇝ For Understanding Only</vt:lpstr>
      <vt:lpstr>Method 4 ⇝ Example 17 (Continue)</vt:lpstr>
      <vt:lpstr>Method 4 ⇝ Example 17 (Continue)</vt:lpstr>
      <vt:lpstr>Method 4 ⇝ Example 17 (Continue)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dhvanik.zala6596@gmail.com</cp:lastModifiedBy>
  <cp:revision>1978</cp:revision>
  <dcterms:created xsi:type="dcterms:W3CDTF">2020-05-01T05:09:15Z</dcterms:created>
  <dcterms:modified xsi:type="dcterms:W3CDTF">2026-02-12T07:20:32Z</dcterms:modified>
</cp:coreProperties>
</file>