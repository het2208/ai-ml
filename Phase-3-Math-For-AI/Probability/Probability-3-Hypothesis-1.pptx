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1"/>
  </p:notesMasterIdLst>
  <p:handoutMasterIdLst>
    <p:handoutMasterId r:id="rId202"/>
  </p:handoutMasterIdLst>
  <p:sldIdLst>
    <p:sldId id="256" r:id="rId2"/>
    <p:sldId id="927" r:id="rId3"/>
    <p:sldId id="265" r:id="rId4"/>
    <p:sldId id="1251" r:id="rId5"/>
    <p:sldId id="1173" r:id="rId6"/>
    <p:sldId id="1352" r:id="rId7"/>
    <p:sldId id="1414" r:id="rId8"/>
    <p:sldId id="1353" r:id="rId9"/>
    <p:sldId id="1354" r:id="rId10"/>
    <p:sldId id="1355" r:id="rId11"/>
    <p:sldId id="1356" r:id="rId12"/>
    <p:sldId id="1357" r:id="rId13"/>
    <p:sldId id="1361" r:id="rId14"/>
    <p:sldId id="1358" r:id="rId15"/>
    <p:sldId id="1359" r:id="rId16"/>
    <p:sldId id="1189" r:id="rId17"/>
    <p:sldId id="1174" r:id="rId18"/>
    <p:sldId id="1188" r:id="rId19"/>
    <p:sldId id="1437" r:id="rId20"/>
    <p:sldId id="1176" r:id="rId21"/>
    <p:sldId id="1177" r:id="rId22"/>
    <p:sldId id="1192" r:id="rId23"/>
    <p:sldId id="1193" r:id="rId24"/>
    <p:sldId id="1178" r:id="rId25"/>
    <p:sldId id="1179" r:id="rId26"/>
    <p:sldId id="1413" r:id="rId27"/>
    <p:sldId id="1180" r:id="rId28"/>
    <p:sldId id="1181" r:id="rId29"/>
    <p:sldId id="1360" r:id="rId30"/>
    <p:sldId id="1370" r:id="rId31"/>
    <p:sldId id="1372" r:id="rId32"/>
    <p:sldId id="1373" r:id="rId33"/>
    <p:sldId id="1374" r:id="rId34"/>
    <p:sldId id="1375" r:id="rId35"/>
    <p:sldId id="1438" r:id="rId36"/>
    <p:sldId id="1376" r:id="rId37"/>
    <p:sldId id="1377" r:id="rId38"/>
    <p:sldId id="1368" r:id="rId39"/>
    <p:sldId id="1434" r:id="rId40"/>
    <p:sldId id="1439" r:id="rId41"/>
    <p:sldId id="1378" r:id="rId42"/>
    <p:sldId id="1379" r:id="rId43"/>
    <p:sldId id="1380" r:id="rId44"/>
    <p:sldId id="1435" r:id="rId45"/>
    <p:sldId id="1381" r:id="rId46"/>
    <p:sldId id="1382" r:id="rId47"/>
    <p:sldId id="1387" r:id="rId48"/>
    <p:sldId id="1385" r:id="rId49"/>
    <p:sldId id="1388" r:id="rId50"/>
    <p:sldId id="1386" r:id="rId51"/>
    <p:sldId id="1389" r:id="rId52"/>
    <p:sldId id="1383" r:id="rId53"/>
    <p:sldId id="1384" r:id="rId54"/>
    <p:sldId id="1442" r:id="rId55"/>
    <p:sldId id="1390" r:id="rId56"/>
    <p:sldId id="1443" r:id="rId57"/>
    <p:sldId id="1401" r:id="rId58"/>
    <p:sldId id="1448" r:id="rId59"/>
    <p:sldId id="1454" r:id="rId60"/>
    <p:sldId id="1452" r:id="rId61"/>
    <p:sldId id="1402" r:id="rId62"/>
    <p:sldId id="1403" r:id="rId63"/>
    <p:sldId id="1421" r:id="rId64"/>
    <p:sldId id="1418" r:id="rId65"/>
    <p:sldId id="1419" r:id="rId66"/>
    <p:sldId id="1420" r:id="rId67"/>
    <p:sldId id="1444" r:id="rId68"/>
    <p:sldId id="1391" r:id="rId69"/>
    <p:sldId id="1394" r:id="rId70"/>
    <p:sldId id="1392" r:id="rId71"/>
    <p:sldId id="1395" r:id="rId72"/>
    <p:sldId id="1396" r:id="rId73"/>
    <p:sldId id="1449" r:id="rId74"/>
    <p:sldId id="1441" r:id="rId75"/>
    <p:sldId id="1451" r:id="rId76"/>
    <p:sldId id="1445" r:id="rId77"/>
    <p:sldId id="1397" r:id="rId78"/>
    <p:sldId id="1398" r:id="rId79"/>
    <p:sldId id="1432" r:id="rId80"/>
    <p:sldId id="1446" r:id="rId81"/>
    <p:sldId id="1455" r:id="rId82"/>
    <p:sldId id="1195" r:id="rId83"/>
    <p:sldId id="1456" r:id="rId84"/>
    <p:sldId id="1196" r:id="rId85"/>
    <p:sldId id="1194" r:id="rId86"/>
    <p:sldId id="1197" r:id="rId87"/>
    <p:sldId id="1447" r:id="rId88"/>
    <p:sldId id="1204" r:id="rId89"/>
    <p:sldId id="1457" r:id="rId90"/>
    <p:sldId id="1408" r:id="rId91"/>
    <p:sldId id="1458" r:id="rId92"/>
    <p:sldId id="1409" r:id="rId93"/>
    <p:sldId id="1410" r:id="rId94"/>
    <p:sldId id="1423" r:id="rId95"/>
    <p:sldId id="1431" r:id="rId96"/>
    <p:sldId id="1205" r:id="rId97"/>
    <p:sldId id="1207" r:id="rId98"/>
    <p:sldId id="1208" r:id="rId99"/>
    <p:sldId id="1209" r:id="rId100"/>
    <p:sldId id="1425" r:id="rId101"/>
    <p:sldId id="1426" r:id="rId102"/>
    <p:sldId id="1427" r:id="rId103"/>
    <p:sldId id="1428" r:id="rId104"/>
    <p:sldId id="1429" r:id="rId105"/>
    <p:sldId id="1424" r:id="rId106"/>
    <p:sldId id="1210" r:id="rId107"/>
    <p:sldId id="1430" r:id="rId108"/>
    <p:sldId id="1211" r:id="rId109"/>
    <p:sldId id="1479" r:id="rId110"/>
    <p:sldId id="1481" r:id="rId111"/>
    <p:sldId id="1212" r:id="rId112"/>
    <p:sldId id="1459" r:id="rId113"/>
    <p:sldId id="1460" r:id="rId114"/>
    <p:sldId id="1519" r:id="rId115"/>
    <p:sldId id="1461" r:id="rId116"/>
    <p:sldId id="1462" r:id="rId117"/>
    <p:sldId id="1463" r:id="rId118"/>
    <p:sldId id="1214" r:id="rId119"/>
    <p:sldId id="1215" r:id="rId120"/>
    <p:sldId id="1216" r:id="rId121"/>
    <p:sldId id="1464" r:id="rId122"/>
    <p:sldId id="1465" r:id="rId123"/>
    <p:sldId id="1221" r:id="rId124"/>
    <p:sldId id="1217" r:id="rId125"/>
    <p:sldId id="1467" r:id="rId126"/>
    <p:sldId id="1468" r:id="rId127"/>
    <p:sldId id="1480" r:id="rId128"/>
    <p:sldId id="1466" r:id="rId129"/>
    <p:sldId id="1222" r:id="rId130"/>
    <p:sldId id="1218" r:id="rId131"/>
    <p:sldId id="1470" r:id="rId132"/>
    <p:sldId id="1471" r:id="rId133"/>
    <p:sldId id="1472" r:id="rId134"/>
    <p:sldId id="1469" r:id="rId135"/>
    <p:sldId id="1223" r:id="rId136"/>
    <p:sldId id="1473" r:id="rId137"/>
    <p:sldId id="1474" r:id="rId138"/>
    <p:sldId id="1478" r:id="rId139"/>
    <p:sldId id="1219" r:id="rId140"/>
    <p:sldId id="1224" r:id="rId141"/>
    <p:sldId id="1220" r:id="rId142"/>
    <p:sldId id="1476" r:id="rId143"/>
    <p:sldId id="1477" r:id="rId144"/>
    <p:sldId id="1475" r:id="rId145"/>
    <p:sldId id="1225" r:id="rId146"/>
    <p:sldId id="1226" r:id="rId147"/>
    <p:sldId id="1227" r:id="rId148"/>
    <p:sldId id="1483" r:id="rId149"/>
    <p:sldId id="1516" r:id="rId150"/>
    <p:sldId id="1484" r:id="rId151"/>
    <p:sldId id="1511" r:id="rId152"/>
    <p:sldId id="1228" r:id="rId153"/>
    <p:sldId id="1229" r:id="rId154"/>
    <p:sldId id="1485" r:id="rId155"/>
    <p:sldId id="1230" r:id="rId156"/>
    <p:sldId id="1513" r:id="rId157"/>
    <p:sldId id="1514" r:id="rId158"/>
    <p:sldId id="1512" r:id="rId159"/>
    <p:sldId id="1232" r:id="rId160"/>
    <p:sldId id="1233" r:id="rId161"/>
    <p:sldId id="1517" r:id="rId162"/>
    <p:sldId id="1515" r:id="rId163"/>
    <p:sldId id="1486" r:id="rId164"/>
    <p:sldId id="1487" r:id="rId165"/>
    <p:sldId id="1490" r:id="rId166"/>
    <p:sldId id="1488" r:id="rId167"/>
    <p:sldId id="1235" r:id="rId168"/>
    <p:sldId id="1231" r:id="rId169"/>
    <p:sldId id="1237" r:id="rId170"/>
    <p:sldId id="1238" r:id="rId171"/>
    <p:sldId id="1492" r:id="rId172"/>
    <p:sldId id="1493" r:id="rId173"/>
    <p:sldId id="1494" r:id="rId174"/>
    <p:sldId id="1495" r:id="rId175"/>
    <p:sldId id="1491" r:id="rId176"/>
    <p:sldId id="1239" r:id="rId177"/>
    <p:sldId id="1240" r:id="rId178"/>
    <p:sldId id="1241" r:id="rId179"/>
    <p:sldId id="1497" r:id="rId180"/>
    <p:sldId id="1498" r:id="rId181"/>
    <p:sldId id="1499" r:id="rId182"/>
    <p:sldId id="1496" r:id="rId183"/>
    <p:sldId id="1242" r:id="rId184"/>
    <p:sldId id="1243" r:id="rId185"/>
    <p:sldId id="1244" r:id="rId186"/>
    <p:sldId id="1503" r:id="rId187"/>
    <p:sldId id="1504" r:id="rId188"/>
    <p:sldId id="1502" r:id="rId189"/>
    <p:sldId id="1246" r:id="rId190"/>
    <p:sldId id="1247" r:id="rId191"/>
    <p:sldId id="1248" r:id="rId192"/>
    <p:sldId id="1506" r:id="rId193"/>
    <p:sldId id="1507" r:id="rId194"/>
    <p:sldId id="1508" r:id="rId195"/>
    <p:sldId id="1510" r:id="rId196"/>
    <p:sldId id="1505" r:id="rId197"/>
    <p:sldId id="1249" r:id="rId198"/>
    <p:sldId id="1250" r:id="rId199"/>
    <p:sldId id="1252" r:id="rId200"/>
  </p:sldIdLst>
  <p:sldSz cx="12192000" cy="6858000"/>
  <p:notesSz cx="6858000" cy="9144000"/>
  <p:embeddedFontLst>
    <p:embeddedFont>
      <p:font typeface="Calibri" panose="020F0502020204030204" pitchFamily="34" charset="0"/>
      <p:regular r:id="rId203"/>
      <p:bold r:id="rId204"/>
      <p:italic r:id="rId205"/>
      <p:boldItalic r:id="rId206"/>
    </p:embeddedFont>
    <p:embeddedFont>
      <p:font typeface="Cambria Math" panose="02040503050406030204" pitchFamily="18" charset="0"/>
      <p:regular r:id="rId207"/>
    </p:embeddedFont>
    <p:embeddedFont>
      <p:font typeface="Roboto Condensed" panose="02000000000000000000" pitchFamily="2" charset="0"/>
      <p:regular r:id="rId208"/>
      <p:bold r:id="rId209"/>
      <p:italic r:id="rId210"/>
      <p:boldItalic r:id="rId211"/>
    </p:embeddedFont>
    <p:embeddedFont>
      <p:font typeface="Roboto Condensed Light" panose="02000000000000000000" pitchFamily="2" charset="0"/>
      <p:regular r:id="rId212"/>
      <p:italic r:id="rId213"/>
    </p:embeddedFont>
    <p:embeddedFont>
      <p:font typeface="Wingdings 3" panose="05040102010807070707" pitchFamily="18" charset="2"/>
      <p:regular r:id="rId2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Mbjbpzktz3wKYueVRj3WdQ==" hashData="G9Gew/p8ksqN9wGB0FSTkvbwdxLgIO0nxz32UgV4Omxgv9YwdiRUCqnhuXjERrq4fRZP6A03xOhE0LrHHW8APA=="/>
  <p:extLst>
    <p:ext uri="{521415D9-36F7-43E2-AB2F-B90AF26B5E84}">
      <p14:sectionLst xmlns:p14="http://schemas.microsoft.com/office/powerpoint/2010/main">
        <p14:section name="Unit - 4.2" id="{149CEACB-C8BA-46A4-99F2-0F84E9EF7ACC}">
          <p14:sldIdLst>
            <p14:sldId id="256"/>
            <p14:sldId id="927"/>
            <p14:sldId id="265"/>
            <p14:sldId id="1251"/>
          </p14:sldIdLst>
        </p14:section>
        <p14:section name="Hypothesis Testing - I" id="{5A2F1511-B325-4979-860D-4DA2966576F0}">
          <p14:sldIdLst>
            <p14:sldId id="1173"/>
            <p14:sldId id="1352"/>
            <p14:sldId id="1414"/>
            <p14:sldId id="1353"/>
            <p14:sldId id="1354"/>
            <p14:sldId id="1355"/>
            <p14:sldId id="1356"/>
            <p14:sldId id="1357"/>
            <p14:sldId id="1361"/>
            <p14:sldId id="1358"/>
            <p14:sldId id="1359"/>
            <p14:sldId id="1189"/>
            <p14:sldId id="1174"/>
            <p14:sldId id="1188"/>
            <p14:sldId id="1437"/>
            <p14:sldId id="1176"/>
            <p14:sldId id="1177"/>
            <p14:sldId id="1192"/>
            <p14:sldId id="1193"/>
            <p14:sldId id="1178"/>
            <p14:sldId id="1179"/>
            <p14:sldId id="1413"/>
            <p14:sldId id="1180"/>
            <p14:sldId id="1181"/>
            <p14:sldId id="1360"/>
            <p14:sldId id="1370"/>
            <p14:sldId id="1372"/>
            <p14:sldId id="1373"/>
            <p14:sldId id="1374"/>
            <p14:sldId id="1375"/>
            <p14:sldId id="1438"/>
            <p14:sldId id="1376"/>
            <p14:sldId id="1377"/>
            <p14:sldId id="1368"/>
            <p14:sldId id="1434"/>
            <p14:sldId id="1439"/>
            <p14:sldId id="1378"/>
            <p14:sldId id="1379"/>
            <p14:sldId id="1380"/>
            <p14:sldId id="1435"/>
            <p14:sldId id="1381"/>
            <p14:sldId id="1382"/>
            <p14:sldId id="1387"/>
            <p14:sldId id="1385"/>
            <p14:sldId id="1388"/>
            <p14:sldId id="1386"/>
            <p14:sldId id="1389"/>
            <p14:sldId id="1383"/>
            <p14:sldId id="1384"/>
            <p14:sldId id="1442"/>
            <p14:sldId id="1390"/>
            <p14:sldId id="1443"/>
            <p14:sldId id="1401"/>
            <p14:sldId id="1448"/>
            <p14:sldId id="1454"/>
            <p14:sldId id="1452"/>
            <p14:sldId id="1402"/>
            <p14:sldId id="1403"/>
            <p14:sldId id="1421"/>
            <p14:sldId id="1418"/>
            <p14:sldId id="1419"/>
            <p14:sldId id="1420"/>
            <p14:sldId id="1444"/>
            <p14:sldId id="1391"/>
            <p14:sldId id="1394"/>
            <p14:sldId id="1392"/>
            <p14:sldId id="1395"/>
            <p14:sldId id="1396"/>
            <p14:sldId id="1449"/>
            <p14:sldId id="1441"/>
            <p14:sldId id="1451"/>
            <p14:sldId id="1445"/>
            <p14:sldId id="1397"/>
            <p14:sldId id="1398"/>
            <p14:sldId id="1432"/>
            <p14:sldId id="1446"/>
            <p14:sldId id="1455"/>
            <p14:sldId id="1195"/>
            <p14:sldId id="1456"/>
            <p14:sldId id="1196"/>
            <p14:sldId id="1194"/>
            <p14:sldId id="1197"/>
            <p14:sldId id="1447"/>
            <p14:sldId id="1204"/>
            <p14:sldId id="1457"/>
            <p14:sldId id="1408"/>
            <p14:sldId id="1458"/>
            <p14:sldId id="1409"/>
            <p14:sldId id="1410"/>
            <p14:sldId id="1423"/>
            <p14:sldId id="1431"/>
            <p14:sldId id="1205"/>
            <p14:sldId id="1207"/>
          </p14:sldIdLst>
        </p14:section>
        <p14:section name="Method - 5" id="{786C9980-35FA-4AC9-A596-209FE3ACE93A}">
          <p14:sldIdLst>
            <p14:sldId id="1208"/>
            <p14:sldId id="1209"/>
            <p14:sldId id="1425"/>
            <p14:sldId id="1426"/>
            <p14:sldId id="1427"/>
            <p14:sldId id="1428"/>
            <p14:sldId id="1429"/>
            <p14:sldId id="1424"/>
            <p14:sldId id="1210"/>
            <p14:sldId id="1430"/>
            <p14:sldId id="1211"/>
            <p14:sldId id="1479"/>
            <p14:sldId id="1481"/>
            <p14:sldId id="1212"/>
            <p14:sldId id="1459"/>
            <p14:sldId id="1460"/>
            <p14:sldId id="1519"/>
            <p14:sldId id="1461"/>
            <p14:sldId id="1462"/>
            <p14:sldId id="1463"/>
            <p14:sldId id="1214"/>
            <p14:sldId id="1215"/>
            <p14:sldId id="1216"/>
            <p14:sldId id="1464"/>
            <p14:sldId id="1465"/>
            <p14:sldId id="1221"/>
            <p14:sldId id="1217"/>
            <p14:sldId id="1467"/>
            <p14:sldId id="1468"/>
            <p14:sldId id="1480"/>
            <p14:sldId id="1466"/>
            <p14:sldId id="1222"/>
            <p14:sldId id="1218"/>
            <p14:sldId id="1470"/>
            <p14:sldId id="1471"/>
            <p14:sldId id="1472"/>
            <p14:sldId id="1469"/>
            <p14:sldId id="1223"/>
            <p14:sldId id="1473"/>
            <p14:sldId id="1474"/>
            <p14:sldId id="1478"/>
            <p14:sldId id="1219"/>
            <p14:sldId id="1224"/>
            <p14:sldId id="1220"/>
            <p14:sldId id="1476"/>
            <p14:sldId id="1477"/>
            <p14:sldId id="1475"/>
            <p14:sldId id="1225"/>
          </p14:sldIdLst>
        </p14:section>
        <p14:section name="Method - 6" id="{19C9488E-8E73-4EA3-AA68-14DF2C872F10}">
          <p14:sldIdLst>
            <p14:sldId id="1226"/>
            <p14:sldId id="1227"/>
            <p14:sldId id="1483"/>
            <p14:sldId id="1516"/>
            <p14:sldId id="1484"/>
            <p14:sldId id="1511"/>
            <p14:sldId id="1228"/>
            <p14:sldId id="1229"/>
            <p14:sldId id="1485"/>
            <p14:sldId id="1230"/>
            <p14:sldId id="1513"/>
            <p14:sldId id="1514"/>
            <p14:sldId id="1512"/>
            <p14:sldId id="1232"/>
            <p14:sldId id="1233"/>
            <p14:sldId id="1517"/>
            <p14:sldId id="1515"/>
            <p14:sldId id="1486"/>
            <p14:sldId id="1487"/>
            <p14:sldId id="1490"/>
            <p14:sldId id="1488"/>
            <p14:sldId id="1235"/>
            <p14:sldId id="1231"/>
            <p14:sldId id="1237"/>
            <p14:sldId id="1238"/>
            <p14:sldId id="1492"/>
            <p14:sldId id="1493"/>
            <p14:sldId id="1494"/>
            <p14:sldId id="1495"/>
            <p14:sldId id="1491"/>
            <p14:sldId id="1239"/>
            <p14:sldId id="1240"/>
            <p14:sldId id="1241"/>
            <p14:sldId id="1497"/>
            <p14:sldId id="1498"/>
            <p14:sldId id="1499"/>
            <p14:sldId id="1496"/>
            <p14:sldId id="1242"/>
            <p14:sldId id="1243"/>
            <p14:sldId id="1244"/>
            <p14:sldId id="1503"/>
            <p14:sldId id="1504"/>
            <p14:sldId id="1502"/>
            <p14:sldId id="1246"/>
            <p14:sldId id="1247"/>
            <p14:sldId id="1248"/>
            <p14:sldId id="1506"/>
            <p14:sldId id="1507"/>
            <p14:sldId id="1508"/>
            <p14:sldId id="1510"/>
            <p14:sldId id="1505"/>
            <p14:sldId id="1249"/>
            <p14:sldId id="1250"/>
            <p14:sldId id="125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sujain39@gmail.com" initials="v" lastIdx="1" clrIdx="0">
    <p:extLst>
      <p:ext uri="{19B8F6BF-5375-455C-9EA6-DF929625EA0E}">
        <p15:presenceInfo xmlns:p15="http://schemas.microsoft.com/office/powerpoint/2012/main" userId="4e3c4d1726c659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B73"/>
    <a:srgbClr val="CBB4DC"/>
    <a:srgbClr val="FFFFFF"/>
    <a:srgbClr val="002060"/>
    <a:srgbClr val="B84742"/>
    <a:srgbClr val="7F45AA"/>
    <a:srgbClr val="7030A0"/>
    <a:srgbClr val="B71B1C"/>
    <a:srgbClr val="C00000"/>
    <a:srgbClr val="FF98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70" autoAdjust="0"/>
    <p:restoredTop sz="93861" autoAdjust="0"/>
  </p:normalViewPr>
  <p:slideViewPr>
    <p:cSldViewPr snapToGrid="0">
      <p:cViewPr>
        <p:scale>
          <a:sx n="33" d="100"/>
          <a:sy n="33" d="100"/>
        </p:scale>
        <p:origin x="1926" y="732"/>
      </p:cViewPr>
      <p:guideLst/>
    </p:cSldViewPr>
  </p:slideViewPr>
  <p:outlineViewPr>
    <p:cViewPr>
      <p:scale>
        <a:sx n="33" d="100"/>
        <a:sy n="33" d="100"/>
      </p:scale>
      <p:origin x="0" y="-22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6"/>
    </p:cViewPr>
  </p:sorterViewPr>
  <p:notesViewPr>
    <p:cSldViewPr snapToGrid="0">
      <p:cViewPr varScale="1">
        <p:scale>
          <a:sx n="47" d="100"/>
          <a:sy n="47" d="100"/>
        </p:scale>
        <p:origin x="2040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font" Target="fonts/font3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presProps" Target="pres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font" Target="fonts/font4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viewProps" Target="viewProps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font" Target="fonts/font5.fntdata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theme" Target="theme/theme1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font" Target="fonts/font6.fntdata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tableStyles" Target="tableStyles.xml"/><Relationship Id="rId3" Type="http://schemas.openxmlformats.org/officeDocument/2006/relationships/slide" Target="slides/slide2.xml"/><Relationship Id="rId214" Type="http://schemas.openxmlformats.org/officeDocument/2006/relationships/font" Target="fonts/font12.fntdata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font" Target="fonts/font7.fntdata"/><Relationship Id="rId190" Type="http://schemas.openxmlformats.org/officeDocument/2006/relationships/slide" Target="slides/slide189.xml"/><Relationship Id="rId204" Type="http://schemas.openxmlformats.org/officeDocument/2006/relationships/font" Target="fonts/font2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font" Target="fonts/font8.fntdata"/><Relationship Id="rId215" Type="http://schemas.openxmlformats.org/officeDocument/2006/relationships/commentAuthors" Target="commentAuthor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font" Target="fonts/font9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notesMaster" Target="notesMasters/notesMaster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font" Target="fonts/font10.fntdata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handoutMaster" Target="handoutMasters/handoutMaster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font" Target="fonts/font1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font" Target="fonts/font1.fntdata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691E0-E0E7-464F-892B-71ACC2518A4D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3689D-5810-4E66-9D5F-1657D824C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960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3-16T07:14:29.7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1103 8931 0</inkml:trace>
  <inkml:trace contextRef="#ctx0" brushRef="#br0" timeOffset="141.09">1103 8931 0</inkml:trace>
  <inkml:trace contextRef="#ctx0" brushRef="#br0" timeOffset="230.97">1103 8931 0</inkml:trace>
  <inkml:trace contextRef="#ctx0" brushRef="#br0" timeOffset="269.45">1103 8931 0</inkml:trace>
  <inkml:trace contextRef="#ctx0" brushRef="#br0" timeOffset="667.47">933 10175 0</inkml:trace>
  <inkml:trace contextRef="#ctx0" brushRef="#br0" timeOffset="781.27">3251 2402 0</inkml:trace>
  <inkml:trace contextRef="#ctx0" brushRef="#br0" timeOffset="1995.55">7576 2007 0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6-03-16T07:14:34.1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16340 1611 0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287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57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99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F064F-1C87-49DB-DA30-2B074423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3F877-80E1-96E0-B2DD-9044A5F8A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0C394A-D28F-1CCA-2C07-0835AE5D2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A37F0-B815-4D96-FDFE-715B0512E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244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C0C3B-9BD3-6AED-26CE-37DFF583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5CB93F-60C7-043A-E890-0E66B5226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AF738-DBB0-A6AC-DDB5-753DCBDA0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8DF33-E570-A6E6-67C0-E7DD984E2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39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822ED-6C4C-F577-89FC-99ACE2777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48E894-8579-06D3-FE59-E7D707BE6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30B27-C5E4-DD71-54ED-A016B5FF5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8895C-2FB3-BB69-C644-5B4E2C9B0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98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microsoft.com/office/2007/relationships/hdphoto" Target="../media/hdphoto2.wdp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0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openxmlformats.org/officeDocument/2006/relationships/image" Target="../media/image13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BDCCD67D-FD1C-45DA-9071-29F9F47A3494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b="0" kern="1200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4.2 – Inferential Statistics – I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D474F9F-F71B-B615-CC15-5215668C5BF8}"/>
              </a:ext>
            </a:extLst>
          </p:cNvPr>
          <p:cNvSpPr txBox="1">
            <a:spLocks/>
          </p:cNvSpPr>
          <p:nvPr userDrawn="1"/>
        </p:nvSpPr>
        <p:spPr>
          <a:xfrm>
            <a:off x="115545" y="6607643"/>
            <a:ext cx="278005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Mr.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Dhvanik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H. Zala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57250" indent="-400050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4.2 – Inferential Statistics – I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07E5B41-931D-A96E-993E-428E8006EA0F}"/>
              </a:ext>
            </a:extLst>
          </p:cNvPr>
          <p:cNvSpPr txBox="1">
            <a:spLocks/>
          </p:cNvSpPr>
          <p:nvPr userDrawn="1"/>
        </p:nvSpPr>
        <p:spPr>
          <a:xfrm>
            <a:off x="115545" y="6607643"/>
            <a:ext cx="278005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Mr.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Dhvanik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H. Zala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800">
                <a:solidFill>
                  <a:srgbClr val="002060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800">
                <a:solidFill>
                  <a:srgbClr val="002060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2800">
                <a:solidFill>
                  <a:srgbClr val="002060"/>
                </a:solidFill>
              </a:defRPr>
            </a:lvl3pPr>
            <a:lvl4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4pPr>
            <a:lvl5pPr algn="just">
              <a:buClr>
                <a:schemeClr val="accent6"/>
              </a:buClr>
              <a:defRPr sz="28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4.2 – Inferential Statistics – I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3569C0D-E51E-894B-8CAE-4D05F79856BF}"/>
              </a:ext>
            </a:extLst>
          </p:cNvPr>
          <p:cNvSpPr txBox="1">
            <a:spLocks/>
          </p:cNvSpPr>
          <p:nvPr userDrawn="1"/>
        </p:nvSpPr>
        <p:spPr>
          <a:xfrm>
            <a:off x="115545" y="6607643"/>
            <a:ext cx="278005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Mr.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Dhvanik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H. Zala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buFont typeface="Arial" panose="020B0604020202020204" pitchFamily="34" charset="0"/>
            </a:pPr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DF949A34-812B-4860-89D9-F866C155599E}"/>
              </a:ext>
            </a:extLst>
          </p:cNvPr>
          <p:cNvSpPr txBox="1">
            <a:spLocks/>
          </p:cNvSpPr>
          <p:nvPr userDrawn="1"/>
        </p:nvSpPr>
        <p:spPr>
          <a:xfrm>
            <a:off x="3357601" y="6604000"/>
            <a:ext cx="547679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#2301HS402 (Probability &amp; Statistics)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  Unit 4.2 – Inferential Statistics – I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76729E7-79B7-2F28-8487-40B3215FED71}"/>
              </a:ext>
            </a:extLst>
          </p:cNvPr>
          <p:cNvSpPr txBox="1">
            <a:spLocks/>
          </p:cNvSpPr>
          <p:nvPr userDrawn="1"/>
        </p:nvSpPr>
        <p:spPr>
          <a:xfrm>
            <a:off x="115545" y="6607643"/>
            <a:ext cx="2780056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Mr. </a:t>
            </a:r>
            <a:r>
              <a:rPr lang="en-US" sz="1200" b="0" kern="12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Dhvanik</a:t>
            </a:r>
            <a:r>
              <a:rPr lang="en-US" sz="1200" b="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rPr>
              <a:t> H. Zala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A14D7C-1655-2072-6EA0-1AA041E6196B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1FDCBF-FD40-1E34-7E5D-BE1FED3FC1D5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E077C81-D2DA-95BE-89AD-F6684723B6F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7BCE0F6-3C45-A10C-EE53-AB80D24B4BB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426A7B9-D429-6F48-8539-5C9A02E06A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8D2A690-4886-7CF4-ECD2-92F0EBF8FC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F5C5199-CB1C-50DF-94F5-AC4D562C84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4A0863F-2272-63BF-743E-FD21E5BCE2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12" name="Picture 11" descr="User icon Royalty Free Vector Image - VectorStock">
            <a:extLst>
              <a:ext uri="{FF2B5EF4-FFF2-40B4-BE49-F238E27FC236}">
                <a16:creationId xmlns:a16="http://schemas.microsoft.com/office/drawing/2014/main" id="{3321661E-7C71-EE79-54FC-C92BEEB68D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9">
            <a:extLst>
              <a:ext uri="{FF2B5EF4-FFF2-40B4-BE49-F238E27FC236}">
                <a16:creationId xmlns:a16="http://schemas.microsoft.com/office/drawing/2014/main" id="{557A052E-399A-F06D-6F02-3FEAF2C0CE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10"/>
          <a:srcRect t="402" b="402"/>
          <a:stretch/>
        </p:blipFill>
        <p:spPr>
          <a:xfrm>
            <a:off x="9244036" y="1942278"/>
            <a:ext cx="2494310" cy="225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094" y="1609868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7" r:id="rId2"/>
    <p:sldLayoutId id="2147483688" r:id="rId3"/>
    <p:sldLayoutId id="2147483671" r:id="rId4"/>
    <p:sldLayoutId id="2147483689" r:id="rId5"/>
    <p:sldLayoutId id="2147483673" r:id="rId6"/>
    <p:sldLayoutId id="2147483691" r:id="rId7"/>
    <p:sldLayoutId id="2147483674" r:id="rId8"/>
    <p:sldLayoutId id="2147483676" r:id="rId9"/>
    <p:sldLayoutId id="2147483677" r:id="rId10"/>
    <p:sldLayoutId id="2147483678" r:id="rId11"/>
    <p:sldLayoutId id="2147483679" r:id="rId12"/>
    <p:sldLayoutId id="2147483681" r:id="rId13"/>
    <p:sldLayoutId id="2147483683" r:id="rId14"/>
    <p:sldLayoutId id="2147483682" r:id="rId15"/>
    <p:sldLayoutId id="2147483684" r:id="rId16"/>
    <p:sldLayoutId id="2147483685" r:id="rId17"/>
    <p:sldLayoutId id="214748368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21.png"/><Relationship Id="rId4" Type="http://schemas.openxmlformats.org/officeDocument/2006/relationships/image" Target="../media/image239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8.png"/><Relationship Id="rId13" Type="http://schemas.openxmlformats.org/officeDocument/2006/relationships/image" Target="../media/image685.png"/><Relationship Id="rId3" Type="http://schemas.openxmlformats.org/officeDocument/2006/relationships/image" Target="../media/image671.png"/><Relationship Id="rId7" Type="http://schemas.openxmlformats.org/officeDocument/2006/relationships/image" Target="../media/image675.png"/><Relationship Id="rId12" Type="http://schemas.openxmlformats.org/officeDocument/2006/relationships/image" Target="../media/image684.png"/><Relationship Id="rId2" Type="http://schemas.openxmlformats.org/officeDocument/2006/relationships/image" Target="../media/image6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4.png"/><Relationship Id="rId11" Type="http://schemas.openxmlformats.org/officeDocument/2006/relationships/image" Target="../media/image683.png"/><Relationship Id="rId5" Type="http://schemas.openxmlformats.org/officeDocument/2006/relationships/image" Target="../media/image673.png"/><Relationship Id="rId10" Type="http://schemas.openxmlformats.org/officeDocument/2006/relationships/image" Target="../media/image682.png"/><Relationship Id="rId4" Type="http://schemas.openxmlformats.org/officeDocument/2006/relationships/image" Target="../media/image672.png"/><Relationship Id="rId9" Type="http://schemas.openxmlformats.org/officeDocument/2006/relationships/image" Target="../media/image68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2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6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00.png"/><Relationship Id="rId4" Type="http://schemas.openxmlformats.org/officeDocument/2006/relationships/image" Target="../media/image791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020.png"/><Relationship Id="rId3" Type="http://schemas.openxmlformats.org/officeDocument/2006/relationships/image" Target="../media/image3140.png"/><Relationship Id="rId7" Type="http://schemas.openxmlformats.org/officeDocument/2006/relationships/image" Target="../media/image4390.png"/><Relationship Id="rId12" Type="http://schemas.openxmlformats.org/officeDocument/2006/relationships/image" Target="../media/image47.png"/><Relationship Id="rId2" Type="http://schemas.openxmlformats.org/officeDocument/2006/relationships/image" Target="../media/image30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0.png"/><Relationship Id="rId11" Type="http://schemas.openxmlformats.org/officeDocument/2006/relationships/image" Target="../media/image4860.png"/><Relationship Id="rId5" Type="http://schemas.openxmlformats.org/officeDocument/2006/relationships/image" Target="../media/image3500.png"/><Relationship Id="rId4" Type="http://schemas.openxmlformats.org/officeDocument/2006/relationships/image" Target="../media/image3150.png"/><Relationship Id="rId14" Type="http://schemas.openxmlformats.org/officeDocument/2006/relationships/image" Target="../media/image690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1.png"/><Relationship Id="rId3" Type="http://schemas.openxmlformats.org/officeDocument/2006/relationships/image" Target="../media/image5310.png"/><Relationship Id="rId2" Type="http://schemas.openxmlformats.org/officeDocument/2006/relationships/image" Target="../media/image52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0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0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6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7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6.png"/><Relationship Id="rId7" Type="http://schemas.openxmlformats.org/officeDocument/2006/relationships/image" Target="../media/image72.png"/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0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1.png"/><Relationship Id="rId3" Type="http://schemas.openxmlformats.org/officeDocument/2006/relationships/image" Target="../media/image737.png"/><Relationship Id="rId7" Type="http://schemas.openxmlformats.org/officeDocument/2006/relationships/image" Target="../media/image810.pn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0.png"/><Relationship Id="rId5" Type="http://schemas.openxmlformats.org/officeDocument/2006/relationships/image" Target="../media/image820.png"/><Relationship Id="rId10" Type="http://schemas.openxmlformats.org/officeDocument/2006/relationships/image" Target="../media/image851.png"/><Relationship Id="rId4" Type="http://schemas.openxmlformats.org/officeDocument/2006/relationships/image" Target="../media/image811.png"/><Relationship Id="rId9" Type="http://schemas.openxmlformats.org/officeDocument/2006/relationships/image" Target="../media/image821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860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image" Target="../media/image850.png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870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1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2" Type="http://schemas.openxmlformats.org/officeDocument/2006/relationships/image" Target="../media/image10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5.png"/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3" Type="http://schemas.openxmlformats.org/officeDocument/2006/relationships/image" Target="../media/image840.png"/><Relationship Id="rId7" Type="http://schemas.openxmlformats.org/officeDocument/2006/relationships/image" Target="../media/image116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" Type="http://schemas.openxmlformats.org/officeDocument/2006/relationships/image" Target="../media/image1120.png"/><Relationship Id="rId16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11" Type="http://schemas.openxmlformats.org/officeDocument/2006/relationships/image" Target="../media/image118.png"/><Relationship Id="rId5" Type="http://schemas.openxmlformats.org/officeDocument/2006/relationships/image" Target="../media/image114.png"/><Relationship Id="rId15" Type="http://schemas.openxmlformats.org/officeDocument/2006/relationships/image" Target="../media/image122.png"/><Relationship Id="rId10" Type="http://schemas.openxmlformats.org/officeDocument/2006/relationships/image" Target="../media/image117.png"/><Relationship Id="rId4" Type="http://schemas.openxmlformats.org/officeDocument/2006/relationships/image" Target="../media/image1130.png"/><Relationship Id="rId9" Type="http://schemas.openxmlformats.org/officeDocument/2006/relationships/image" Target="../media/image868.png"/><Relationship Id="rId14" Type="http://schemas.openxmlformats.org/officeDocument/2006/relationships/image" Target="../media/image121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0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0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0.png"/><Relationship Id="rId3" Type="http://schemas.openxmlformats.org/officeDocument/2006/relationships/image" Target="../media/image1210.png"/><Relationship Id="rId7" Type="http://schemas.openxmlformats.org/officeDocument/2006/relationships/image" Target="../media/image1250.png"/><Relationship Id="rId2" Type="http://schemas.openxmlformats.org/officeDocument/2006/relationships/image" Target="../media/image1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0.png"/><Relationship Id="rId5" Type="http://schemas.openxmlformats.org/officeDocument/2006/relationships/image" Target="../media/image1230.png"/><Relationship Id="rId4" Type="http://schemas.openxmlformats.org/officeDocument/2006/relationships/image" Target="../media/image1220.png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5.png"/><Relationship Id="rId13" Type="http://schemas.openxmlformats.org/officeDocument/2006/relationships/image" Target="../media/image134.png"/><Relationship Id="rId3" Type="http://schemas.openxmlformats.org/officeDocument/2006/relationships/image" Target="../media/image840.png"/><Relationship Id="rId7" Type="http://schemas.openxmlformats.org/officeDocument/2006/relationships/image" Target="../media/image131.png"/><Relationship Id="rId12" Type="http://schemas.openxmlformats.org/officeDocument/2006/relationships/image" Target="../media/image133.png"/><Relationship Id="rId17" Type="http://schemas.openxmlformats.org/officeDocument/2006/relationships/image" Target="../media/image138.png"/><Relationship Id="rId2" Type="http://schemas.openxmlformats.org/officeDocument/2006/relationships/image" Target="../media/image1270.png"/><Relationship Id="rId16" Type="http://schemas.openxmlformats.org/officeDocument/2006/relationships/image" Target="../media/image1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11" Type="http://schemas.openxmlformats.org/officeDocument/2006/relationships/image" Target="../media/image132.png"/><Relationship Id="rId5" Type="http://schemas.openxmlformats.org/officeDocument/2006/relationships/image" Target="../media/image129.png"/><Relationship Id="rId15" Type="http://schemas.openxmlformats.org/officeDocument/2006/relationships/image" Target="../media/image136.png"/><Relationship Id="rId10" Type="http://schemas.openxmlformats.org/officeDocument/2006/relationships/image" Target="../media/image886.png"/><Relationship Id="rId4" Type="http://schemas.openxmlformats.org/officeDocument/2006/relationships/image" Target="../media/image128.png"/><Relationship Id="rId9" Type="http://schemas.openxmlformats.org/officeDocument/2006/relationships/image" Target="../media/image885.png"/><Relationship Id="rId14" Type="http://schemas.openxmlformats.org/officeDocument/2006/relationships/image" Target="../media/image135.pn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0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0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0.png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380.png"/><Relationship Id="rId7" Type="http://schemas.openxmlformats.org/officeDocument/2006/relationships/image" Target="../media/image142.png"/><Relationship Id="rId2" Type="http://schemas.openxmlformats.org/officeDocument/2006/relationships/image" Target="../media/image13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0.png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5.png"/><Relationship Id="rId13" Type="http://schemas.openxmlformats.org/officeDocument/2006/relationships/image" Target="../media/image151.png"/><Relationship Id="rId3" Type="http://schemas.openxmlformats.org/officeDocument/2006/relationships/image" Target="../media/image840.png"/><Relationship Id="rId7" Type="http://schemas.openxmlformats.org/officeDocument/2006/relationships/image" Target="../media/image148.png"/><Relationship Id="rId12" Type="http://schemas.openxmlformats.org/officeDocument/2006/relationships/image" Target="../media/image150.png"/><Relationship Id="rId17" Type="http://schemas.openxmlformats.org/officeDocument/2006/relationships/image" Target="../media/image8000.png"/><Relationship Id="rId2" Type="http://schemas.openxmlformats.org/officeDocument/2006/relationships/image" Target="../media/image144.png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7.png"/><Relationship Id="rId11" Type="http://schemas.openxmlformats.org/officeDocument/2006/relationships/image" Target="../media/image149.png"/><Relationship Id="rId5" Type="http://schemas.openxmlformats.org/officeDocument/2006/relationships/image" Target="../media/image146.png"/><Relationship Id="rId15" Type="http://schemas.openxmlformats.org/officeDocument/2006/relationships/image" Target="../media/image7980.png"/><Relationship Id="rId10" Type="http://schemas.openxmlformats.org/officeDocument/2006/relationships/image" Target="../media/image903.png"/><Relationship Id="rId4" Type="http://schemas.openxmlformats.org/officeDocument/2006/relationships/image" Target="../media/image145.png"/><Relationship Id="rId9" Type="http://schemas.openxmlformats.org/officeDocument/2006/relationships/image" Target="../media/image902.png"/><Relationship Id="rId14" Type="http://schemas.openxmlformats.org/officeDocument/2006/relationships/image" Target="../media/image152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540.png"/><Relationship Id="rId7" Type="http://schemas.openxmlformats.org/officeDocument/2006/relationships/image" Target="../media/image158.png"/><Relationship Id="rId2" Type="http://schemas.openxmlformats.org/officeDocument/2006/relationships/image" Target="../media/image90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0.png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5.png"/><Relationship Id="rId13" Type="http://schemas.openxmlformats.org/officeDocument/2006/relationships/image" Target="../media/image889.png"/><Relationship Id="rId3" Type="http://schemas.openxmlformats.org/officeDocument/2006/relationships/image" Target="../media/image840.png"/><Relationship Id="rId7" Type="http://schemas.openxmlformats.org/officeDocument/2006/relationships/image" Target="../media/image166.png"/><Relationship Id="rId12" Type="http://schemas.openxmlformats.org/officeDocument/2006/relationships/image" Target="../media/image169.png"/><Relationship Id="rId17" Type="http://schemas.openxmlformats.org/officeDocument/2006/relationships/image" Target="../media/image172.png"/><Relationship Id="rId2" Type="http://schemas.openxmlformats.org/officeDocument/2006/relationships/image" Target="../media/image1620.png"/><Relationship Id="rId16" Type="http://schemas.openxmlformats.org/officeDocument/2006/relationships/image" Target="../media/image1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0.png"/><Relationship Id="rId11" Type="http://schemas.openxmlformats.org/officeDocument/2006/relationships/image" Target="../media/image168.png"/><Relationship Id="rId5" Type="http://schemas.openxmlformats.org/officeDocument/2006/relationships/image" Target="../media/image1640.png"/><Relationship Id="rId15" Type="http://schemas.openxmlformats.org/officeDocument/2006/relationships/image" Target="../media/image163.png"/><Relationship Id="rId10" Type="http://schemas.openxmlformats.org/officeDocument/2006/relationships/image" Target="../media/image167.png"/><Relationship Id="rId4" Type="http://schemas.openxmlformats.org/officeDocument/2006/relationships/image" Target="../media/image1630.png"/><Relationship Id="rId9" Type="http://schemas.openxmlformats.org/officeDocument/2006/relationships/image" Target="../media/image9160.png"/><Relationship Id="rId14" Type="http://schemas.openxmlformats.org/officeDocument/2006/relationships/image" Target="../media/image170.png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1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2" Type="http://schemas.openxmlformats.org/officeDocument/2006/relationships/image" Target="../media/image17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5.png"/><Relationship Id="rId13" Type="http://schemas.openxmlformats.org/officeDocument/2006/relationships/image" Target="../media/image189.png"/><Relationship Id="rId3" Type="http://schemas.openxmlformats.org/officeDocument/2006/relationships/image" Target="../media/image840.png"/><Relationship Id="rId7" Type="http://schemas.openxmlformats.org/officeDocument/2006/relationships/image" Target="../media/image186.png"/><Relationship Id="rId12" Type="http://schemas.openxmlformats.org/officeDocument/2006/relationships/image" Target="../media/image188.png"/><Relationship Id="rId17" Type="http://schemas.openxmlformats.org/officeDocument/2006/relationships/image" Target="../media/image193.png"/><Relationship Id="rId2" Type="http://schemas.openxmlformats.org/officeDocument/2006/relationships/image" Target="../media/image182.png"/><Relationship Id="rId16" Type="http://schemas.openxmlformats.org/officeDocument/2006/relationships/image" Target="../media/image1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5.png"/><Relationship Id="rId11" Type="http://schemas.openxmlformats.org/officeDocument/2006/relationships/image" Target="../media/image187.png"/><Relationship Id="rId5" Type="http://schemas.openxmlformats.org/officeDocument/2006/relationships/image" Target="../media/image184.png"/><Relationship Id="rId15" Type="http://schemas.openxmlformats.org/officeDocument/2006/relationships/image" Target="../media/image191.png"/><Relationship Id="rId10" Type="http://schemas.openxmlformats.org/officeDocument/2006/relationships/image" Target="../media/image931.png"/><Relationship Id="rId4" Type="http://schemas.openxmlformats.org/officeDocument/2006/relationships/image" Target="../media/image183.png"/><Relationship Id="rId9" Type="http://schemas.openxmlformats.org/officeDocument/2006/relationships/image" Target="../media/image9300.png"/><Relationship Id="rId14" Type="http://schemas.openxmlformats.org/officeDocument/2006/relationships/image" Target="../media/image160.png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3" Type="http://schemas.openxmlformats.org/officeDocument/2006/relationships/image" Target="../media/image195.png"/><Relationship Id="rId7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6.png"/><Relationship Id="rId4" Type="http://schemas.openxmlformats.org/officeDocument/2006/relationships/image" Target="../media/image2430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0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0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1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1.png"/><Relationship Id="rId3" Type="http://schemas.openxmlformats.org/officeDocument/2006/relationships/image" Target="../media/image1970.png"/><Relationship Id="rId7" Type="http://schemas.openxmlformats.org/officeDocument/2006/relationships/image" Target="../media/image2010.png"/><Relationship Id="rId2" Type="http://schemas.openxmlformats.org/officeDocument/2006/relationships/image" Target="../media/image19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5" Type="http://schemas.openxmlformats.org/officeDocument/2006/relationships/image" Target="../media/image203.png"/><Relationship Id="rId10" Type="http://schemas.openxmlformats.org/officeDocument/2006/relationships/image" Target="../media/image206.png"/><Relationship Id="rId4" Type="http://schemas.openxmlformats.org/officeDocument/2006/relationships/image" Target="../media/image1981.png"/><Relationship Id="rId9" Type="http://schemas.openxmlformats.org/officeDocument/2006/relationships/image" Target="../media/image205.png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3" Type="http://schemas.openxmlformats.org/officeDocument/2006/relationships/image" Target="../media/image208.png"/><Relationship Id="rId7" Type="http://schemas.openxmlformats.org/officeDocument/2006/relationships/image" Target="../media/image212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1.png"/><Relationship Id="rId5" Type="http://schemas.openxmlformats.org/officeDocument/2006/relationships/image" Target="../media/image210.png"/><Relationship Id="rId10" Type="http://schemas.openxmlformats.org/officeDocument/2006/relationships/image" Target="../media/image215.png"/><Relationship Id="rId4" Type="http://schemas.openxmlformats.org/officeDocument/2006/relationships/image" Target="../media/image209.png"/><Relationship Id="rId9" Type="http://schemas.openxmlformats.org/officeDocument/2006/relationships/image" Target="../media/image214.png"/></Relationships>
</file>

<file path=ppt/slides/_rels/slide1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217.png"/><Relationship Id="rId7" Type="http://schemas.openxmlformats.org/officeDocument/2006/relationships/image" Target="../media/image221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4" Type="http://schemas.openxmlformats.org/officeDocument/2006/relationships/image" Target="../media/image218.png"/><Relationship Id="rId9" Type="http://schemas.openxmlformats.org/officeDocument/2006/relationships/image" Target="../media/image223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1.png"/><Relationship Id="rId2" Type="http://schemas.openxmlformats.org/officeDocument/2006/relationships/image" Target="../media/image22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21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image" Target="../media/image2231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1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0.png"/><Relationship Id="rId3" Type="http://schemas.openxmlformats.org/officeDocument/2006/relationships/image" Target="../media/image969.png"/><Relationship Id="rId7" Type="http://schemas.openxmlformats.org/officeDocument/2006/relationships/image" Target="../media/image2050.png"/><Relationship Id="rId2" Type="http://schemas.openxmlformats.org/officeDocument/2006/relationships/image" Target="../media/image19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0.png"/><Relationship Id="rId5" Type="http://schemas.openxmlformats.org/officeDocument/2006/relationships/image" Target="../media/image2030.png"/><Relationship Id="rId4" Type="http://schemas.openxmlformats.org/officeDocument/2006/relationships/image" Target="../media/image2020.png"/></Relationships>
</file>

<file path=ppt/slides/_rels/slide1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1.png"/><Relationship Id="rId13" Type="http://schemas.openxmlformats.org/officeDocument/2006/relationships/image" Target="../media/image986.png"/><Relationship Id="rId3" Type="http://schemas.openxmlformats.org/officeDocument/2006/relationships/image" Target="../media/image2070.png"/><Relationship Id="rId7" Type="http://schemas.openxmlformats.org/officeDocument/2006/relationships/image" Target="../media/image980.png"/><Relationship Id="rId12" Type="http://schemas.openxmlformats.org/officeDocument/2006/relationships/image" Target="../media/image985.png"/><Relationship Id="rId2" Type="http://schemas.openxmlformats.org/officeDocument/2006/relationships/image" Target="../media/image975.png"/><Relationship Id="rId16" Type="http://schemas.openxmlformats.org/officeDocument/2006/relationships/image" Target="../media/image9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90.png"/><Relationship Id="rId11" Type="http://schemas.openxmlformats.org/officeDocument/2006/relationships/image" Target="../media/image984.png"/><Relationship Id="rId5" Type="http://schemas.openxmlformats.org/officeDocument/2006/relationships/image" Target="../media/image978.png"/><Relationship Id="rId15" Type="http://schemas.openxmlformats.org/officeDocument/2006/relationships/image" Target="../media/image2100.png"/><Relationship Id="rId10" Type="http://schemas.openxmlformats.org/officeDocument/2006/relationships/image" Target="../media/image983.png"/><Relationship Id="rId4" Type="http://schemas.openxmlformats.org/officeDocument/2006/relationships/image" Target="../media/image2080.png"/><Relationship Id="rId9" Type="http://schemas.openxmlformats.org/officeDocument/2006/relationships/image" Target="../media/image982.png"/><Relationship Id="rId14" Type="http://schemas.openxmlformats.org/officeDocument/2006/relationships/image" Target="../media/image987.png"/></Relationships>
</file>

<file path=ppt/slides/_rels/slide169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01.png"/><Relationship Id="rId3" Type="http://schemas.openxmlformats.org/officeDocument/2006/relationships/image" Target="../media/image229.png"/><Relationship Id="rId7" Type="http://schemas.openxmlformats.org/officeDocument/2006/relationships/image" Target="../media/image233.png"/><Relationship Id="rId2" Type="http://schemas.openxmlformats.org/officeDocument/2006/relationships/image" Target="../media/image2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2.png"/><Relationship Id="rId5" Type="http://schemas.openxmlformats.org/officeDocument/2006/relationships/image" Target="../media/image231.png"/><Relationship Id="rId19" Type="http://schemas.openxmlformats.org/officeDocument/2006/relationships/image" Target="../media/image102.png"/><Relationship Id="rId4" Type="http://schemas.openxmlformats.org/officeDocument/2006/relationships/image" Target="../media/image230.png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0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0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0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60.png"/><Relationship Id="rId3" Type="http://schemas.openxmlformats.org/officeDocument/2006/relationships/image" Target="../media/image2210.png"/><Relationship Id="rId7" Type="http://schemas.openxmlformats.org/officeDocument/2006/relationships/image" Target="../media/image2250.png"/><Relationship Id="rId2" Type="http://schemas.openxmlformats.org/officeDocument/2006/relationships/image" Target="../media/image2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40.png"/><Relationship Id="rId5" Type="http://schemas.openxmlformats.org/officeDocument/2006/relationships/image" Target="../media/image2230.png"/><Relationship Id="rId10" Type="http://schemas.openxmlformats.org/officeDocument/2006/relationships/image" Target="../media/image2280.png"/><Relationship Id="rId4" Type="http://schemas.openxmlformats.org/officeDocument/2006/relationships/image" Target="../media/image2220.png"/><Relationship Id="rId9" Type="http://schemas.openxmlformats.org/officeDocument/2006/relationships/image" Target="../media/image2270.png"/></Relationships>
</file>

<file path=ppt/slides/_rels/slide1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0.png"/><Relationship Id="rId13" Type="http://schemas.openxmlformats.org/officeDocument/2006/relationships/image" Target="../media/image2340.png"/><Relationship Id="rId3" Type="http://schemas.openxmlformats.org/officeDocument/2006/relationships/image" Target="../media/image976.png"/><Relationship Id="rId7" Type="http://schemas.openxmlformats.org/officeDocument/2006/relationships/image" Target="../media/image2290.png"/><Relationship Id="rId12" Type="http://schemas.openxmlformats.org/officeDocument/2006/relationships/image" Target="../media/image2330.png"/><Relationship Id="rId17" Type="http://schemas.openxmlformats.org/officeDocument/2006/relationships/image" Target="../media/image1010.png"/><Relationship Id="rId2" Type="http://schemas.openxmlformats.org/officeDocument/2006/relationships/image" Target="../media/image975.png"/><Relationship Id="rId16" Type="http://schemas.openxmlformats.org/officeDocument/2006/relationships/image" Target="../media/image10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9.png"/><Relationship Id="rId11" Type="http://schemas.openxmlformats.org/officeDocument/2006/relationships/image" Target="../media/image2320.png"/><Relationship Id="rId5" Type="http://schemas.openxmlformats.org/officeDocument/2006/relationships/image" Target="../media/image978.png"/><Relationship Id="rId15" Type="http://schemas.openxmlformats.org/officeDocument/2006/relationships/image" Target="../media/image2360.png"/><Relationship Id="rId10" Type="http://schemas.openxmlformats.org/officeDocument/2006/relationships/image" Target="../media/image2310.png"/><Relationship Id="rId4" Type="http://schemas.openxmlformats.org/officeDocument/2006/relationships/image" Target="../media/image977.png"/><Relationship Id="rId9" Type="http://schemas.openxmlformats.org/officeDocument/2006/relationships/image" Target="../media/image981.png"/><Relationship Id="rId14" Type="http://schemas.openxmlformats.org/officeDocument/2006/relationships/image" Target="../media/image2350.png"/></Relationships>
</file>

<file path=ppt/slides/_rels/slide177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01.png"/><Relationship Id="rId3" Type="http://schemas.openxmlformats.org/officeDocument/2006/relationships/image" Target="../media/image238.png"/><Relationship Id="rId7" Type="http://schemas.openxmlformats.org/officeDocument/2006/relationships/image" Target="../media/image243.png"/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2.png"/><Relationship Id="rId5" Type="http://schemas.openxmlformats.org/officeDocument/2006/relationships/image" Target="../media/image241.png"/><Relationship Id="rId19" Type="http://schemas.openxmlformats.org/officeDocument/2006/relationships/image" Target="../media/image102.png"/><Relationship Id="rId4" Type="http://schemas.openxmlformats.org/officeDocument/2006/relationships/image" Target="../media/image239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13" Type="http://schemas.openxmlformats.org/officeDocument/2006/relationships/image" Target="../media/image258.png"/><Relationship Id="rId3" Type="http://schemas.openxmlformats.org/officeDocument/2006/relationships/image" Target="../media/image248.png"/><Relationship Id="rId7" Type="http://schemas.openxmlformats.org/officeDocument/2006/relationships/image" Target="../media/image252.png"/><Relationship Id="rId12" Type="http://schemas.openxmlformats.org/officeDocument/2006/relationships/image" Target="../media/image25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1.png"/><Relationship Id="rId11" Type="http://schemas.openxmlformats.org/officeDocument/2006/relationships/image" Target="../media/image256.png"/><Relationship Id="rId5" Type="http://schemas.openxmlformats.org/officeDocument/2006/relationships/image" Target="../media/image250.png"/><Relationship Id="rId15" Type="http://schemas.openxmlformats.org/officeDocument/2006/relationships/image" Target="../media/image260.png"/><Relationship Id="rId10" Type="http://schemas.openxmlformats.org/officeDocument/2006/relationships/image" Target="../media/image255.png"/><Relationship Id="rId4" Type="http://schemas.openxmlformats.org/officeDocument/2006/relationships/image" Target="../media/image249.png"/><Relationship Id="rId9" Type="http://schemas.openxmlformats.org/officeDocument/2006/relationships/image" Target="../media/image254.png"/><Relationship Id="rId14" Type="http://schemas.openxmlformats.org/officeDocument/2006/relationships/image" Target="../media/image259.png"/></Relationships>
</file>

<file path=ppt/slides/_rels/slide1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50.png"/><Relationship Id="rId3" Type="http://schemas.openxmlformats.org/officeDocument/2006/relationships/image" Target="../media/image5670.png"/><Relationship Id="rId7" Type="http://schemas.openxmlformats.org/officeDocument/2006/relationships/image" Target="../media/image1025.png"/><Relationship Id="rId2" Type="http://schemas.openxmlformats.org/officeDocument/2006/relationships/image" Target="../media/image9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2.png"/><Relationship Id="rId5" Type="http://schemas.openxmlformats.org/officeDocument/2006/relationships/image" Target="../media/image978.png"/><Relationship Id="rId10" Type="http://schemas.openxmlformats.org/officeDocument/2006/relationships/image" Target="../media/image263.png"/><Relationship Id="rId4" Type="http://schemas.openxmlformats.org/officeDocument/2006/relationships/image" Target="../media/image261.png"/><Relationship Id="rId9" Type="http://schemas.openxmlformats.org/officeDocument/2006/relationships/image" Target="../media/image1026.png"/></Relationships>
</file>

<file path=ppt/slides/_rels/slide18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01.png"/><Relationship Id="rId3" Type="http://schemas.openxmlformats.org/officeDocument/2006/relationships/image" Target="../media/image265.png"/><Relationship Id="rId7" Type="http://schemas.openxmlformats.org/officeDocument/2006/relationships/image" Target="../media/image269.png"/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8.png"/><Relationship Id="rId5" Type="http://schemas.openxmlformats.org/officeDocument/2006/relationships/image" Target="../media/image267.png"/><Relationship Id="rId19" Type="http://schemas.openxmlformats.org/officeDocument/2006/relationships/image" Target="../media/image102.png"/><Relationship Id="rId4" Type="http://schemas.openxmlformats.org/officeDocument/2006/relationships/image" Target="../media/image266.png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1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png"/><Relationship Id="rId3" Type="http://schemas.openxmlformats.org/officeDocument/2006/relationships/image" Target="../media/image273.png"/><Relationship Id="rId7" Type="http://schemas.openxmlformats.org/officeDocument/2006/relationships/image" Target="../media/image277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6.png"/><Relationship Id="rId5" Type="http://schemas.openxmlformats.org/officeDocument/2006/relationships/image" Target="../media/image275.png"/><Relationship Id="rId4" Type="http://schemas.openxmlformats.org/officeDocument/2006/relationships/image" Target="../media/image274.png"/></Relationships>
</file>

<file path=ppt/slides/_rels/slide1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1.png"/><Relationship Id="rId13" Type="http://schemas.openxmlformats.org/officeDocument/2006/relationships/image" Target="../media/image1041.png"/><Relationship Id="rId3" Type="http://schemas.openxmlformats.org/officeDocument/2006/relationships/image" Target="../media/image976.png"/><Relationship Id="rId7" Type="http://schemas.openxmlformats.org/officeDocument/2006/relationships/image" Target="../media/image282.png"/><Relationship Id="rId12" Type="http://schemas.openxmlformats.org/officeDocument/2006/relationships/image" Target="../media/image10060.png"/><Relationship Id="rId2" Type="http://schemas.openxmlformats.org/officeDocument/2006/relationships/image" Target="../media/image975.png"/><Relationship Id="rId16" Type="http://schemas.openxmlformats.org/officeDocument/2006/relationships/image" Target="../media/image10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1.png"/><Relationship Id="rId11" Type="http://schemas.openxmlformats.org/officeDocument/2006/relationships/image" Target="../media/image1040.png"/><Relationship Id="rId5" Type="http://schemas.openxmlformats.org/officeDocument/2006/relationships/image" Target="../media/image279.png"/><Relationship Id="rId15" Type="http://schemas.openxmlformats.org/officeDocument/2006/relationships/image" Target="../media/image1043.png"/><Relationship Id="rId10" Type="http://schemas.openxmlformats.org/officeDocument/2006/relationships/image" Target="../media/image1039.png"/><Relationship Id="rId4" Type="http://schemas.openxmlformats.org/officeDocument/2006/relationships/image" Target="../media/image977.png"/><Relationship Id="rId9" Type="http://schemas.openxmlformats.org/officeDocument/2006/relationships/image" Target="../media/image982.png"/><Relationship Id="rId14" Type="http://schemas.openxmlformats.org/officeDocument/2006/relationships/image" Target="../media/image1042.png"/></Relationships>
</file>

<file path=ppt/slides/_rels/slide1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png"/><Relationship Id="rId3" Type="http://schemas.openxmlformats.org/officeDocument/2006/relationships/image" Target="../media/image284.png"/><Relationship Id="rId7" Type="http://schemas.openxmlformats.org/officeDocument/2006/relationships/image" Target="../media/image288.png"/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7.png"/><Relationship Id="rId5" Type="http://schemas.openxmlformats.org/officeDocument/2006/relationships/image" Target="../media/image286.png"/><Relationship Id="rId4" Type="http://schemas.openxmlformats.org/officeDocument/2006/relationships/image" Target="../media/image285.png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10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3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4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png"/><Relationship Id="rId3" Type="http://schemas.openxmlformats.org/officeDocument/2006/relationships/image" Target="../media/image296.png"/><Relationship Id="rId7" Type="http://schemas.openxmlformats.org/officeDocument/2006/relationships/image" Target="../media/image300.png"/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9.png"/><Relationship Id="rId5" Type="http://schemas.openxmlformats.org/officeDocument/2006/relationships/image" Target="../media/image298.png"/><Relationship Id="rId4" Type="http://schemas.openxmlformats.org/officeDocument/2006/relationships/image" Target="../media/image297.png"/></Relationships>
</file>

<file path=ppt/slides/_rels/slide1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1.png"/><Relationship Id="rId13" Type="http://schemas.openxmlformats.org/officeDocument/2006/relationships/image" Target="../media/image1058.png"/><Relationship Id="rId18" Type="http://schemas.openxmlformats.org/officeDocument/2006/relationships/image" Target="../media/image307.png"/><Relationship Id="rId3" Type="http://schemas.openxmlformats.org/officeDocument/2006/relationships/image" Target="../media/image976.png"/><Relationship Id="rId7" Type="http://schemas.openxmlformats.org/officeDocument/2006/relationships/image" Target="../media/image9050.png"/><Relationship Id="rId12" Type="http://schemas.openxmlformats.org/officeDocument/2006/relationships/image" Target="../media/image1057.png"/><Relationship Id="rId17" Type="http://schemas.openxmlformats.org/officeDocument/2006/relationships/image" Target="../media/image306.png"/><Relationship Id="rId2" Type="http://schemas.openxmlformats.org/officeDocument/2006/relationships/image" Target="../media/image975.png"/><Relationship Id="rId16" Type="http://schemas.openxmlformats.org/officeDocument/2006/relationships/image" Target="../media/image10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3.png"/><Relationship Id="rId11" Type="http://schemas.openxmlformats.org/officeDocument/2006/relationships/image" Target="../media/image305.png"/><Relationship Id="rId5" Type="http://schemas.openxmlformats.org/officeDocument/2006/relationships/image" Target="../media/image978.png"/><Relationship Id="rId15" Type="http://schemas.openxmlformats.org/officeDocument/2006/relationships/image" Target="../media/image1060.png"/><Relationship Id="rId10" Type="http://schemas.openxmlformats.org/officeDocument/2006/relationships/image" Target="../media/image304.png"/><Relationship Id="rId4" Type="http://schemas.openxmlformats.org/officeDocument/2006/relationships/image" Target="../media/image302.png"/><Relationship Id="rId9" Type="http://schemas.openxmlformats.org/officeDocument/2006/relationships/image" Target="../media/image982.png"/><Relationship Id="rId14" Type="http://schemas.openxmlformats.org/officeDocument/2006/relationships/image" Target="../media/image1059.png"/></Relationships>
</file>

<file path=ppt/slides/_rels/slide1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309.png"/><Relationship Id="rId7" Type="http://schemas.openxmlformats.org/officeDocument/2006/relationships/image" Target="../media/image314.png"/><Relationship Id="rId2" Type="http://schemas.openxmlformats.org/officeDocument/2006/relationships/image" Target="../media/image3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5" Type="http://schemas.openxmlformats.org/officeDocument/2006/relationships/image" Target="../media/image312.png"/><Relationship Id="rId4" Type="http://schemas.openxmlformats.org/officeDocument/2006/relationships/image" Target="../media/image311.png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6D125B39-4795-4BA6-B9B5-11FFCFC98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8292680" cy="1883483"/>
          </a:xfrm>
        </p:spPr>
        <p:txBody>
          <a:bodyPr/>
          <a:lstStyle/>
          <a:p>
            <a:r>
              <a:rPr lang="en-US" dirty="0"/>
              <a:t>Unit: 4.2</a:t>
            </a:r>
            <a:br>
              <a:rPr lang="en-US" dirty="0"/>
            </a:br>
            <a:r>
              <a:rPr lang="en-IN" dirty="0"/>
              <a:t>Inferential Statistics – I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2C6FA8-76F5-4F55-873C-76674E986E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US" dirty="0"/>
              <a:t>Probability &amp; Statistics</a:t>
            </a:r>
            <a:r>
              <a:rPr lang="en-IN" dirty="0"/>
              <a:t> (P&amp;S)</a:t>
            </a:r>
          </a:p>
          <a:p>
            <a:r>
              <a:rPr lang="en-IN" dirty="0"/>
              <a:t>DU # 2301HS402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7C3F11-DC2E-DDA3-529B-9A9A265012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dhvanik.zala@darshan.ac.in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8B01E8-5DE5-0F8F-DFB6-8D2388299A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8238588865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C07383-B186-CF18-3DF3-34CEC85DB5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Humanities and Science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DF3BCD-A033-E308-3437-C03B179AF9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Mr. </a:t>
            </a:r>
            <a:r>
              <a:rPr lang="en-US" dirty="0" err="1"/>
              <a:t>Dhvanik</a:t>
            </a:r>
            <a:r>
              <a:rPr lang="en-US" dirty="0"/>
              <a:t> H. Zala</a:t>
            </a:r>
            <a:endParaRPr lang="en-IN" dirty="0"/>
          </a:p>
        </p:txBody>
      </p:sp>
      <p:sp>
        <p:nvSpPr>
          <p:cNvPr id="10" name="Title 13">
            <a:extLst>
              <a:ext uri="{FF2B5EF4-FFF2-40B4-BE49-F238E27FC236}">
                <a16:creationId xmlns:a16="http://schemas.microsoft.com/office/drawing/2014/main" id="{F3B88914-E51B-4A33-96D7-EC0CE630740C}"/>
              </a:ext>
            </a:extLst>
          </p:cNvPr>
          <p:cNvSpPr txBox="1">
            <a:spLocks/>
          </p:cNvSpPr>
          <p:nvPr/>
        </p:nvSpPr>
        <p:spPr>
          <a:xfrm>
            <a:off x="559490" y="3353933"/>
            <a:ext cx="801907" cy="46871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2400" b="0" dirty="0">
                <a:latin typeface="+mn-lt"/>
              </a:rPr>
              <a:t>CO4:</a:t>
            </a:r>
            <a:br>
              <a:rPr lang="en-US" sz="2400" dirty="0"/>
            </a:br>
            <a:endParaRPr lang="en-US" sz="2400" b="0" dirty="0">
              <a:latin typeface="+mn-lt"/>
            </a:endParaRPr>
          </a:p>
        </p:txBody>
      </p:sp>
      <p:sp>
        <p:nvSpPr>
          <p:cNvPr id="12" name="Title 13">
            <a:extLst>
              <a:ext uri="{FF2B5EF4-FFF2-40B4-BE49-F238E27FC236}">
                <a16:creationId xmlns:a16="http://schemas.microsoft.com/office/drawing/2014/main" id="{BBA8A0F4-F547-438E-815A-3C41AF4A49EB}"/>
              </a:ext>
            </a:extLst>
          </p:cNvPr>
          <p:cNvSpPr txBox="1">
            <a:spLocks/>
          </p:cNvSpPr>
          <p:nvPr/>
        </p:nvSpPr>
        <p:spPr>
          <a:xfrm>
            <a:off x="1210014" y="3353933"/>
            <a:ext cx="6599536" cy="108972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pPr algn="just"/>
            <a:r>
              <a:rPr lang="en-US" sz="2400" b="0" dirty="0">
                <a:latin typeface="+mn-lt"/>
              </a:rPr>
              <a:t>At the end of this unit, students will be able to </a:t>
            </a:r>
            <a:r>
              <a:rPr lang="en-GB" sz="2400" dirty="0">
                <a:solidFill>
                  <a:srgbClr val="FF0000"/>
                </a:solidFill>
                <a:latin typeface="+mn-lt"/>
              </a:rPr>
              <a:t>execute regression equation and population parameter for large sample.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95F4BC53-8EE2-B2A5-D312-596C7D0695F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3" r="6193"/>
          <a:stretch>
            <a:fillRect/>
          </a:stretch>
        </p:blipFill>
        <p:spPr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prstClr val="white">
                <a:lumMod val="65000"/>
              </a:prstClr>
            </a:solidFill>
          </a:ln>
        </p:spPr>
      </p:pic>
    </p:spTree>
    <p:extLst>
      <p:ext uri="{BB962C8B-B14F-4D97-AF65-F5344CB8AC3E}">
        <p14:creationId xmlns:p14="http://schemas.microsoft.com/office/powerpoint/2010/main" val="1273260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988DA4-0944-4E8D-969E-D57D8844DC17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191446" y="0"/>
            <a:ext cx="0" cy="511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54CD797-DE29-41C7-B2F5-D10F1D62CC82}"/>
              </a:ext>
            </a:extLst>
          </p:cNvPr>
          <p:cNvSpPr/>
          <p:nvPr/>
        </p:nvSpPr>
        <p:spPr>
          <a:xfrm>
            <a:off x="954165" y="511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A37DD2-AB22-447A-B018-EB2E669A682A}"/>
              </a:ext>
            </a:extLst>
          </p:cNvPr>
          <p:cNvSpPr txBox="1"/>
          <p:nvPr/>
        </p:nvSpPr>
        <p:spPr>
          <a:xfrm>
            <a:off x="1527893" y="54868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59A2A3-AF1C-4060-BA07-51DF9E55FE5F}"/>
              </a:ext>
            </a:extLst>
          </p:cNvPr>
          <p:cNvCxnSpPr>
            <a:cxnSpLocks/>
          </p:cNvCxnSpPr>
          <p:nvPr/>
        </p:nvCxnSpPr>
        <p:spPr>
          <a:xfrm>
            <a:off x="1191446" y="986017"/>
            <a:ext cx="0" cy="2484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3DE0D8-BF47-4896-BF8F-200F546123CB}"/>
              </a:ext>
            </a:extLst>
          </p:cNvPr>
          <p:cNvSpPr txBox="1"/>
          <p:nvPr/>
        </p:nvSpPr>
        <p:spPr>
          <a:xfrm>
            <a:off x="1458964" y="560256"/>
            <a:ext cx="9541589" cy="298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Topics of Unit 4.2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u="sng" dirty="0">
                <a:solidFill>
                  <a:srgbClr val="002060"/>
                </a:solidFill>
              </a:rPr>
              <a:t>Hypothesis Testing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Types of Sampling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Parameter and Statistic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Basic Concepts of Tests of Significance</a:t>
            </a:r>
          </a:p>
        </p:txBody>
      </p:sp>
    </p:spTree>
    <p:extLst>
      <p:ext uri="{BB962C8B-B14F-4D97-AF65-F5344CB8AC3E}">
        <p14:creationId xmlns:p14="http://schemas.microsoft.com/office/powerpoint/2010/main" val="4060919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988DA4-0944-4E8D-969E-D57D8844DC17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191446" y="0"/>
            <a:ext cx="0" cy="511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54CD797-DE29-41C7-B2F5-D10F1D62CC82}"/>
              </a:ext>
            </a:extLst>
          </p:cNvPr>
          <p:cNvSpPr/>
          <p:nvPr/>
        </p:nvSpPr>
        <p:spPr>
          <a:xfrm>
            <a:off x="954165" y="511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A37DD2-AB22-447A-B018-EB2E669A682A}"/>
              </a:ext>
            </a:extLst>
          </p:cNvPr>
          <p:cNvSpPr txBox="1"/>
          <p:nvPr/>
        </p:nvSpPr>
        <p:spPr>
          <a:xfrm>
            <a:off x="1527893" y="54868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59A2A3-AF1C-4060-BA07-51DF9E55FE5F}"/>
              </a:ext>
            </a:extLst>
          </p:cNvPr>
          <p:cNvCxnSpPr>
            <a:cxnSpLocks/>
          </p:cNvCxnSpPr>
          <p:nvPr/>
        </p:nvCxnSpPr>
        <p:spPr>
          <a:xfrm>
            <a:off x="1191446" y="986018"/>
            <a:ext cx="0" cy="18288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73DE0D8-BF47-4896-BF8F-200F546123CB}"/>
              </a:ext>
            </a:extLst>
          </p:cNvPr>
          <p:cNvSpPr txBox="1"/>
          <p:nvPr/>
        </p:nvSpPr>
        <p:spPr>
          <a:xfrm>
            <a:off x="1458964" y="560256"/>
            <a:ext cx="6981398" cy="24160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Topics of Unit 4.2 (Continue)</a:t>
            </a:r>
          </a:p>
          <a:p>
            <a:pPr marL="914400" lvl="1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b="1" u="sng" dirty="0">
                <a:solidFill>
                  <a:srgbClr val="002060"/>
                </a:solidFill>
              </a:rPr>
              <a:t>Hypothesis Testing for Large Samples – I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Test for Single Proportion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Test for Difference Between Two Proportion</a:t>
            </a:r>
          </a:p>
        </p:txBody>
      </p:sp>
    </p:spTree>
    <p:extLst>
      <p:ext uri="{BB962C8B-B14F-4D97-AF65-F5344CB8AC3E}">
        <p14:creationId xmlns:p14="http://schemas.microsoft.com/office/powerpoint/2010/main" val="169285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337C8-3C27-48C7-2BA4-4DFB8D564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DEA971FD-4B6C-18FA-E51A-085BAB1EDE3D}"/>
              </a:ext>
            </a:extLst>
          </p:cNvPr>
          <p:cNvSpPr/>
          <p:nvPr/>
        </p:nvSpPr>
        <p:spPr>
          <a:xfrm>
            <a:off x="954165" y="51145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BD8BCC-5998-ECEC-4311-1BB6B36B2368}"/>
              </a:ext>
            </a:extLst>
          </p:cNvPr>
          <p:cNvSpPr txBox="1"/>
          <p:nvPr/>
        </p:nvSpPr>
        <p:spPr>
          <a:xfrm>
            <a:off x="1527893" y="54868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B610AC-E4F7-B7F5-8304-CB85D695ED62}"/>
              </a:ext>
            </a:extLst>
          </p:cNvPr>
          <p:cNvCxnSpPr>
            <a:cxnSpLocks/>
          </p:cNvCxnSpPr>
          <p:nvPr/>
        </p:nvCxnSpPr>
        <p:spPr>
          <a:xfrm>
            <a:off x="1191446" y="986018"/>
            <a:ext cx="0" cy="52433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33A23A4-126F-F5E9-29DD-F46AD167D429}"/>
              </a:ext>
            </a:extLst>
          </p:cNvPr>
          <p:cNvSpPr txBox="1"/>
          <p:nvPr/>
        </p:nvSpPr>
        <p:spPr>
          <a:xfrm>
            <a:off x="1458964" y="560256"/>
            <a:ext cx="6282489" cy="2289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Outline of Unit 4.2</a:t>
            </a:r>
          </a:p>
          <a:p>
            <a:pPr marL="914400" lvl="1" indent="-45720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rgbClr val="002060"/>
                </a:solidFill>
              </a:rPr>
              <a:t>Hypothesis Testing for Large Sample</a:t>
            </a:r>
          </a:p>
          <a:p>
            <a:pPr marL="1371600" lvl="2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Test for Single Proportion</a:t>
            </a:r>
          </a:p>
          <a:p>
            <a:pPr marL="1371600" lvl="2" indent="-457200">
              <a:lnSpc>
                <a:spcPct val="14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Test for difference between Proportion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A00BE1-CA53-80B1-D8C5-EFCDCD966902}"/>
              </a:ext>
            </a:extLst>
          </p:cNvPr>
          <p:cNvCxnSpPr>
            <a:cxnSpLocks/>
          </p:cNvCxnSpPr>
          <p:nvPr/>
        </p:nvCxnSpPr>
        <p:spPr>
          <a:xfrm>
            <a:off x="1191446" y="0"/>
            <a:ext cx="0" cy="511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37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4181-BBBD-8F2C-3463-ACFCDF6D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DB7B-0EBF-6FAE-15E4-18997D58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Hypothesis Testing - 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792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3F457-FD89-D56C-82C9-7E5621D52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Hypothesis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3F32F3-311D-23AE-817B-99788E42E2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Imagine a pharmaceutical company launches a new tablet and claims:</a:t>
                </a:r>
              </a:p>
              <a:p>
                <a:pPr marL="0" indent="0" algn="ctr">
                  <a:buNone/>
                </a:pPr>
                <a:r>
                  <a:rPr lang="en-US" b="1" dirty="0"/>
                  <a:t>	This headache medicine relieves headache within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r>
                  <a:rPr lang="en-US" b="1" dirty="0"/>
                  <a:t> minutes for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𝟖𝟎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b="1" dirty="0"/>
                  <a:t> of patients.</a:t>
                </a:r>
              </a:p>
              <a:p>
                <a:r>
                  <a:rPr lang="en-US" dirty="0"/>
                  <a:t>Now doctors and health authorities must decide:</a:t>
                </a:r>
              </a:p>
              <a:p>
                <a:pPr marL="0" indent="0" algn="ctr">
                  <a:buNone/>
                </a:pPr>
                <a:r>
                  <a:rPr lang="en-US" dirty="0"/>
                  <a:t>Should we trust this claim?</a:t>
                </a:r>
              </a:p>
              <a:p>
                <a:r>
                  <a:rPr lang="en-US" dirty="0"/>
                  <a:t>This single question gives birth to Inferential Statistics.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3F32F3-311D-23AE-817B-99788E42E2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7321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F0BE7-53F7-CF67-59E2-B20986A56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croll: Horizontal 5">
            <a:extLst>
              <a:ext uri="{FF2B5EF4-FFF2-40B4-BE49-F238E27FC236}">
                <a16:creationId xmlns:a16="http://schemas.microsoft.com/office/drawing/2014/main" id="{29338F3F-BFD5-4AA7-244E-B4128073D482}"/>
              </a:ext>
            </a:extLst>
          </p:cNvPr>
          <p:cNvSpPr/>
          <p:nvPr/>
        </p:nvSpPr>
        <p:spPr>
          <a:xfrm>
            <a:off x="1466445" y="1332368"/>
            <a:ext cx="9259110" cy="3842745"/>
          </a:xfrm>
          <a:prstGeom prst="horizontalScroll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u="sng" dirty="0">
                <a:solidFill>
                  <a:schemeClr val="accent6">
                    <a:lumMod val="75000"/>
                  </a:schemeClr>
                </a:solidFill>
              </a:rPr>
              <a:t>Question</a:t>
            </a:r>
          </a:p>
          <a:p>
            <a:pPr algn="ctr"/>
            <a:endParaRPr lang="en-US" sz="2800" b="1" u="sng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We cannot test every patient in the world…So how can we check whether this claim is true?</a:t>
            </a:r>
          </a:p>
          <a:p>
            <a:pPr algn="ctr"/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We move to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Population and Sample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.</a:t>
            </a:r>
            <a:endParaRPr lang="en-IN" sz="2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366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DF332-DDDF-7DB2-8F39-F494B80F6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7486E-0266-8DFC-C1FB-88DB8AC5C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1 - Understanding Population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C74FB-88FD-7C89-D2C6-DFFD9F841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 dirty="0"/>
              <a:t>The medicine will be used by many people — maybe lakhs or millions.</a:t>
            </a:r>
          </a:p>
          <a:p>
            <a:pPr lvl="1"/>
            <a:r>
              <a:rPr lang="en-US" dirty="0"/>
              <a:t>All people who may take this medicine form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Population.</a:t>
            </a:r>
          </a:p>
          <a:p>
            <a:r>
              <a:rPr lang="en-US" dirty="0"/>
              <a:t>So, </a:t>
            </a:r>
          </a:p>
          <a:p>
            <a:pPr marL="0" indent="0" algn="ctr">
              <a:buNone/>
            </a:pPr>
            <a:r>
              <a:rPr lang="en-US" dirty="0"/>
              <a:t>Population = All headache patients who may use the medicine</a:t>
            </a:r>
          </a:p>
          <a:p>
            <a:r>
              <a:rPr lang="en-US" dirty="0"/>
              <a:t>But here comes the problem: </a:t>
            </a:r>
          </a:p>
          <a:p>
            <a:pPr lvl="1"/>
            <a:r>
              <a:rPr lang="en-US" dirty="0"/>
              <a:t>Testing every patient is impossible</a:t>
            </a:r>
          </a:p>
          <a:p>
            <a:pPr lvl="1"/>
            <a:r>
              <a:rPr lang="en-US" dirty="0"/>
              <a:t>Too costly</a:t>
            </a:r>
          </a:p>
          <a:p>
            <a:pPr lvl="1"/>
            <a:r>
              <a:rPr lang="en-US" dirty="0"/>
              <a:t>Too time-consuming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193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268F5-68AB-B595-536B-1EC0033C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A9FFA-7484-59C4-9627-514BD1336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2 - </a:t>
            </a:r>
            <a:r>
              <a:rPr lang="en-US" dirty="0"/>
              <a:t>Taking a Sample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612007-460D-FF14-946E-92F1C188B1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Instead of testing everyone, researchers select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headache patients and give them the medicine.</a:t>
                </a:r>
              </a:p>
              <a:p>
                <a:pPr lvl="1"/>
                <a:r>
                  <a:rPr lang="en-US" dirty="0"/>
                  <a:t>These selected patients are called the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Sample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Important assumption: </a:t>
                </a:r>
              </a:p>
              <a:p>
                <a:pPr lvl="1"/>
                <a:r>
                  <a:rPr lang="en-US" dirty="0"/>
                  <a:t>Sample represents the population.</a:t>
                </a:r>
              </a:p>
              <a:p>
                <a:r>
                  <a:rPr lang="en-US" dirty="0"/>
                  <a:t>Inferential statistics completely depends on this idea.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612007-460D-FF14-946E-92F1C188B1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7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141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0DFDD-3B01-B32D-6400-D470A4407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5669-2143-9672-34EF-9E94188DF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3 - Forming a Hypothesis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EC0FF0-94F3-8758-9C86-E3B57EB5C2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Now we convert the company’s claim into a testable statement. </a:t>
                </a:r>
              </a:p>
              <a:p>
                <a:pPr lvl="1"/>
                <a:r>
                  <a:rPr lang="en-US" dirty="0"/>
                  <a:t>A Hypothesis means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 statistical claim about a population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Company claim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80%</m:t>
                    </m:r>
                  </m:oMath>
                </a14:m>
                <a:r>
                  <a:rPr lang="en-US" dirty="0"/>
                  <a:t> patients get relief</a:t>
                </a:r>
              </a:p>
              <a:p>
                <a:r>
                  <a:rPr lang="en-US" dirty="0"/>
                  <a:t>Meaning </a:t>
                </a:r>
              </a:p>
              <a:p>
                <a:pPr lvl="1"/>
                <a:r>
                  <a:rPr lang="en-US" dirty="0"/>
                  <a:t>Medicine works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80%</m:t>
                    </m:r>
                  </m:oMath>
                </a14:m>
                <a:r>
                  <a:rPr lang="en-US" dirty="0"/>
                  <a:t> of population.</a:t>
                </a:r>
              </a:p>
              <a:p>
                <a:pPr marL="0" indent="0" algn="ctr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	A hypothesis is a testable claim about the population that we examine using sample data.</a:t>
                </a:r>
              </a:p>
              <a:p>
                <a:pPr algn="l"/>
                <a:r>
                  <a:rPr lang="en-US" dirty="0"/>
                  <a:t>Hypothesis always talks about population, never sample.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EC0FF0-94F3-8758-9C86-E3B57EB5C2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5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9893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1059B-9A2C-71ED-FF12-3A75F0F2D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1513A-5AE7-7F64-6893-ABD90BBE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4 - Why do we need hypothesis?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1CA5C-B59C-4FE6-DB7B-B5DEBFE0D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 dirty="0"/>
              <a:t>Because real life decisions cannot rely on belief.</a:t>
            </a:r>
          </a:p>
          <a:p>
            <a:r>
              <a:rPr lang="en-US" dirty="0"/>
              <a:t>Without hypothesis:</a:t>
            </a:r>
          </a:p>
          <a:p>
            <a:pPr lvl="1"/>
            <a:r>
              <a:rPr lang="en-US" dirty="0"/>
              <a:t>Any company can make claims</a:t>
            </a:r>
          </a:p>
          <a:p>
            <a:pPr lvl="1"/>
            <a:r>
              <a:rPr lang="en-US" dirty="0"/>
              <a:t>Any policy can be accepted blindly</a:t>
            </a:r>
          </a:p>
          <a:p>
            <a:pPr lvl="1"/>
            <a:r>
              <a:rPr lang="en-US" dirty="0"/>
              <a:t>Any AI model performance claim may be fake</a:t>
            </a:r>
          </a:p>
          <a:p>
            <a:r>
              <a:rPr lang="en-US" dirty="0"/>
              <a:t>Hypothesis gives scientific decision making.</a:t>
            </a:r>
          </a:p>
          <a:p>
            <a:pPr lvl="1"/>
            <a:r>
              <a:rPr lang="en-US" dirty="0"/>
              <a:t>It converts belief → evidence-based conclusion.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64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3684A-0E77-94E4-98F4-5F9367C11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5E76-9979-D561-F291-E271B9ADB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5 - Performing Experiment (Sample Study)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12B22A-2D6C-0BD5-86E5-B04F2FF28F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Researchers test medicine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patients.</a:t>
                </a:r>
              </a:p>
              <a:p>
                <a:r>
                  <a:rPr lang="en-US" dirty="0"/>
                  <a:t>Result: Only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lang="en-US" dirty="0"/>
                  <a:t> patients got relief within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dirty="0"/>
                  <a:t> minutes.</a:t>
                </a:r>
              </a:p>
              <a:p>
                <a:pPr lvl="1"/>
                <a:r>
                  <a:rPr lang="en-US" dirty="0"/>
                  <a:t>Sample proportion: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=64%</m:t>
                      </m:r>
                    </m:oMath>
                  </m:oMathPara>
                </a14:m>
                <a:endParaRPr lang="en-IN" dirty="0"/>
              </a:p>
              <a:p>
                <a:r>
                  <a:rPr lang="en-US" dirty="0"/>
                  <a:t>Now confusion arises:</a:t>
                </a:r>
              </a:p>
              <a:p>
                <a:pPr lvl="1"/>
                <a:r>
                  <a:rPr lang="en-US" dirty="0"/>
                  <a:t>Claimed effectiveness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=80%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Observed effectiveness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=64%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Is this difference real? or just random variation?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12B22A-2D6C-0BD5-86E5-B04F2FF28F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b="-23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013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58B59-CFE1-386B-D6F4-3C3C3B128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0C60A-FCA0-393C-69A8-3585979C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5 - Performing Experiment (Sample Study)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09F9AF-3A72-585B-C29F-1869A30193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Now confusion arises:</a:t>
                </a:r>
              </a:p>
              <a:p>
                <a:pPr lvl="1"/>
                <a:r>
                  <a:rPr lang="en-US" dirty="0"/>
                  <a:t>Claimed effectiveness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=80%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Observed effectiveness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=64%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Is this difference real? or just random variation?</a:t>
                </a:r>
              </a:p>
              <a:p>
                <a:r>
                  <a:rPr lang="en-US" dirty="0"/>
                  <a:t>To decide whether this difference is real or due to random chance, we perform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Test of Significance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Test of Significance helps us scientifically decide whether the observed difference is meaningful or accidental.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09F9AF-3A72-585B-C29F-1869A30193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3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829FC-039D-DAB6-7C36-67AFD2BA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A3BDC-B71E-BE1B-35A2-1D7E739CF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6 - What is Hypothesis Testing?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C59D4A-A4BB-82E4-8785-97013DF17C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Hypothesis Testing is a statistical method used to decide whether sample evidence supports or rejects a population claim.</a:t>
                </a:r>
              </a:p>
              <a:p>
                <a:r>
                  <a:rPr lang="en-US" dirty="0"/>
                  <a:t>First, we assume the company’s claim is correct (Medicine works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80%</m:t>
                    </m:r>
                  </m:oMath>
                </a14:m>
                <a:r>
                  <a:rPr lang="en-US" dirty="0"/>
                  <a:t> people). </a:t>
                </a:r>
              </a:p>
              <a:p>
                <a:pPr lvl="1"/>
                <a:r>
                  <a:rPr lang="en-US" dirty="0"/>
                  <a:t>Then we check: If this claim is true, is it normal to get only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64%</m:t>
                    </m:r>
                  </m:oMath>
                </a14:m>
                <a:r>
                  <a:rPr lang="en-US" dirty="0"/>
                  <a:t> success in our sample?</a:t>
                </a:r>
              </a:p>
              <a:p>
                <a:r>
                  <a:rPr lang="en-US" dirty="0"/>
                  <a:t>Hypothesis testing checks whether the sample result is reasonable or unusual under the assumed claim.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C59D4A-A4BB-82E4-8785-97013DF17C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1285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33732-BAC4-6491-80CE-2213C8469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E691A-34A3-CE9A-8C16-0E3D030E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7 - What actually is being tested?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9EB50-DA48-1167-E1CF-34BFF6EFD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4697377"/>
          </a:xfrm>
        </p:spPr>
        <p:txBody>
          <a:bodyPr/>
          <a:lstStyle/>
          <a:p>
            <a:r>
              <a:rPr lang="en-US" dirty="0"/>
              <a:t>We are not testing:</a:t>
            </a:r>
          </a:p>
          <a:p>
            <a:pPr lvl="1"/>
            <a:r>
              <a:rPr lang="en-US" dirty="0"/>
              <a:t>the whole population</a:t>
            </a:r>
          </a:p>
          <a:p>
            <a:pPr lvl="1"/>
            <a:r>
              <a:rPr lang="en-US" dirty="0"/>
              <a:t>individual people</a:t>
            </a:r>
          </a:p>
          <a:p>
            <a:pPr lvl="1"/>
            <a:r>
              <a:rPr lang="en-US" dirty="0"/>
              <a:t>the sample itself</a:t>
            </a:r>
          </a:p>
          <a:p>
            <a:r>
              <a:rPr lang="en-US" dirty="0"/>
              <a:t>We are actually testing:</a:t>
            </a:r>
          </a:p>
          <a:p>
            <a:pPr lvl="1"/>
            <a:r>
              <a:rPr lang="en-US" dirty="0"/>
              <a:t>Whether the sample result supports or contradicts the population claim (hypothesis).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04C94-2957-5A3C-F761-F815C7077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C07AD-A7E3-B7E7-75A1-6E1FC9805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What is Hypothesis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BE96CA70-9F28-5066-AA95-396547E800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932791"/>
              </a:xfrm>
            </p:spPr>
            <p:txBody>
              <a:bodyPr/>
              <a:lstStyle/>
              <a:p>
                <a:r>
                  <a:rPr lang="en-US" dirty="0"/>
                  <a:t>A hypothesis is a statement or assumption about a population parameter that can be tested using sample data.</a:t>
                </a:r>
              </a:p>
              <a:p>
                <a:r>
                  <a:rPr lang="en-US" dirty="0"/>
                  <a:t>Example: Suppose an AI company claims:</a:t>
                </a:r>
              </a:p>
              <a:p>
                <a:pPr lvl="1"/>
                <a:r>
                  <a:rPr lang="en-US" dirty="0"/>
                  <a:t>This AI system correctly detects spam emails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accuracy.</a:t>
                </a:r>
              </a:p>
              <a:p>
                <a:pPr lvl="1"/>
                <a:r>
                  <a:rPr lang="en-US" dirty="0"/>
                  <a:t>This statement is a hypothesis, because we can test it by:</a:t>
                </a:r>
              </a:p>
              <a:p>
                <a:pPr lvl="2"/>
                <a:r>
                  <a:rPr lang="en-US" dirty="0"/>
                  <a:t>It is an assumption</a:t>
                </a:r>
              </a:p>
              <a:p>
                <a:pPr lvl="2"/>
                <a:r>
                  <a:rPr lang="en-US" dirty="0"/>
                  <a:t>It can be checked using data</a:t>
                </a:r>
              </a:p>
              <a:p>
                <a:pPr lvl="2"/>
                <a:r>
                  <a:rPr lang="en-US" dirty="0"/>
                  <a:t>It may be true or false</a:t>
                </a:r>
              </a:p>
              <a:p>
                <a:r>
                  <a:rPr lang="en-US" dirty="0"/>
                  <a:t>When AI performance claim is tested using data, it becomes a hypothesis.</a:t>
                </a:r>
                <a:endParaRPr lang="en-IN" dirty="0"/>
              </a:p>
            </p:txBody>
          </p:sp>
        </mc:Choice>
        <mc:Fallback xmlns="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BE96CA70-9F28-5066-AA95-396547E800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932791"/>
              </a:xfrm>
              <a:blipFill>
                <a:blip r:embed="rId3"/>
                <a:stretch>
                  <a:fillRect l="-971" r="-1074" b="-4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215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AD0E4-F2D5-0D2A-5C50-11DBD06BA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0FE99-1326-D6D9-66CC-E391457C0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6A02F-875F-47C5-7808-CFDE00E45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Many problems in engineering required to decide which of two competing claims for statements about parameter is true. 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Statements are known 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Hypothesis</a:t>
            </a:r>
            <a:r>
              <a:rPr lang="en-US" dirty="0"/>
              <a:t>, and 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The decision-making procedure is known 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hypothesis testing</a:t>
            </a:r>
            <a:r>
              <a:rPr lang="en-US" dirty="0"/>
              <a:t>.</a:t>
            </a:r>
          </a:p>
          <a:p>
            <a:pPr lvl="0">
              <a:lnSpc>
                <a:spcPct val="145000"/>
              </a:lnSpc>
            </a:pPr>
            <a:r>
              <a:rPr lang="en-US" dirty="0"/>
              <a:t>This is one of the most useful aspects of statistical inference, because many types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decision-making problem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tests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experiments</a:t>
            </a:r>
            <a:r>
              <a:rPr lang="en-US" dirty="0"/>
              <a:t> in the engineering world can be formulated as hypothesis testing problems.</a:t>
            </a:r>
          </a:p>
        </p:txBody>
      </p:sp>
    </p:spTree>
    <p:extLst>
      <p:ext uri="{BB962C8B-B14F-4D97-AF65-F5344CB8AC3E}">
        <p14:creationId xmlns:p14="http://schemas.microsoft.com/office/powerpoint/2010/main" val="59648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5E231-BB8C-8617-61A5-CF1E19F7D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981DEA-598C-49DD-BB5D-95568640CFB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41" y="762513"/>
            <a:ext cx="7485611" cy="58268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689C4C-6583-2E3B-81E5-449B7DE1C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OR Universe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2A49EE4E-295D-0045-7D85-8D1B8CFE285B}"/>
              </a:ext>
            </a:extLst>
          </p:cNvPr>
          <p:cNvSpPr txBox="1"/>
          <p:nvPr/>
        </p:nvSpPr>
        <p:spPr>
          <a:xfrm>
            <a:off x="7186896" y="4887675"/>
            <a:ext cx="5090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People of Gujarat is POPULATION.</a:t>
            </a:r>
          </a:p>
        </p:txBody>
      </p:sp>
    </p:spTree>
    <p:extLst>
      <p:ext uri="{BB962C8B-B14F-4D97-AF65-F5344CB8AC3E}">
        <p14:creationId xmlns:p14="http://schemas.microsoft.com/office/powerpoint/2010/main" val="265356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D2765-5784-0549-363F-0E5AD1389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66F1-7D83-497F-646E-3638B197C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OR Universe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4B520-4AFD-5FE2-118D-486D86940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3996986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An aggregate(overall) of objects under study is known 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Population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Universe</a:t>
            </a:r>
            <a:r>
              <a:rPr lang="en-US" dirty="0"/>
              <a:t>. 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The complete group of all items or individuals that we want to study is called Population (or Universe).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It is a collection of individual items, their characteristics, or results that can be expressed using numbers.</a:t>
            </a:r>
          </a:p>
          <a:p>
            <a:pPr lvl="2">
              <a:lnSpc>
                <a:spcPct val="145000"/>
              </a:lnSpc>
            </a:pPr>
            <a:r>
              <a:rPr lang="en-US" dirty="0"/>
              <a:t>i.e., gathering information about objects or their qualities in numerical form.</a:t>
            </a:r>
          </a:p>
        </p:txBody>
      </p:sp>
    </p:spTree>
    <p:extLst>
      <p:ext uri="{BB962C8B-B14F-4D97-AF65-F5344CB8AC3E}">
        <p14:creationId xmlns:p14="http://schemas.microsoft.com/office/powerpoint/2010/main" val="360888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A9B1D-7BD9-3A02-ABFB-15E64F367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07B3B-0555-B192-C2A1-BA478D87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OR Universe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C7F62-ED09-444C-908C-5173E324B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689599"/>
          </a:xfrm>
        </p:spPr>
        <p:txBody>
          <a:bodyPr/>
          <a:lstStyle/>
          <a:p>
            <a:pPr>
              <a:lnSpc>
                <a:spcPct val="145000"/>
              </a:lnSpc>
            </a:pPr>
            <a:r>
              <a:rPr lang="en-US" dirty="0"/>
              <a:t>A universe containing a finite number of individuals or members is known as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finite universe</a:t>
            </a:r>
            <a:r>
              <a:rPr lang="en-US" dirty="0"/>
              <a:t>.</a:t>
            </a:r>
          </a:p>
          <a:p>
            <a:pPr lvl="0">
              <a:lnSpc>
                <a:spcPct val="145000"/>
              </a:lnSpc>
            </a:pPr>
            <a:r>
              <a:rPr lang="en-US" b="1" dirty="0">
                <a:solidFill>
                  <a:srgbClr val="1F3B73"/>
                </a:solidFill>
              </a:rPr>
              <a:t>Example: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The universe of the weight of students in a particular class.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All students in a school – if you're studying test scores.</a:t>
            </a:r>
          </a:p>
          <a:p>
            <a:pPr lvl="0">
              <a:lnSpc>
                <a:spcPct val="145000"/>
              </a:lnSpc>
            </a:pPr>
            <a:r>
              <a:rPr lang="en-US" dirty="0"/>
              <a:t>A universe with infinite number of members is known as an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infinite universe</a:t>
            </a:r>
            <a:r>
              <a:rPr lang="en-US" dirty="0"/>
              <a:t>.</a:t>
            </a:r>
          </a:p>
          <a:p>
            <a:pPr lvl="0">
              <a:lnSpc>
                <a:spcPct val="145000"/>
              </a:lnSpc>
            </a:pPr>
            <a:r>
              <a:rPr lang="en-US" b="1" dirty="0">
                <a:solidFill>
                  <a:srgbClr val="1F3B73"/>
                </a:solidFill>
              </a:rPr>
              <a:t>Example: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The universe of stars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Set of points in real line</a:t>
            </a:r>
          </a:p>
        </p:txBody>
      </p:sp>
    </p:spTree>
    <p:extLst>
      <p:ext uri="{BB962C8B-B14F-4D97-AF65-F5344CB8AC3E}">
        <p14:creationId xmlns:p14="http://schemas.microsoft.com/office/powerpoint/2010/main" val="223234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BF005-1098-580F-7BD4-CD59D9BE7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BD829-5FC5-F403-4819-C4BBC968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Hypothetical Universe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46A3B-CC88-DE02-6628-638192360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845242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hypothetical universe</a:t>
            </a:r>
            <a:r>
              <a:rPr lang="en-US" dirty="0"/>
              <a:t> is the collection of all possible outcomes or situations under consideration for a study or experiment.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Hypothetical universe means all possible ways in which an event can occur.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A9C7CE-8E63-7D17-60ED-B4D105701C03}"/>
              </a:ext>
            </a:extLst>
          </p:cNvPr>
          <p:cNvSpPr/>
          <p:nvPr/>
        </p:nvSpPr>
        <p:spPr>
          <a:xfrm>
            <a:off x="7641807" y="2938100"/>
            <a:ext cx="2320290" cy="60579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Outcome 1</a:t>
            </a:r>
            <a:endParaRPr lang="en-IN" sz="28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DC28E4-079A-6808-AFDF-3EB324311E2B}"/>
              </a:ext>
            </a:extLst>
          </p:cNvPr>
          <p:cNvSpPr/>
          <p:nvPr/>
        </p:nvSpPr>
        <p:spPr>
          <a:xfrm>
            <a:off x="8194257" y="4364636"/>
            <a:ext cx="2320290" cy="60579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Outcome 2</a:t>
            </a:r>
            <a:endParaRPr lang="en-IN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7C796D-B4DE-B982-8B9F-9EDF13DA8CA7}"/>
              </a:ext>
            </a:extLst>
          </p:cNvPr>
          <p:cNvSpPr/>
          <p:nvPr/>
        </p:nvSpPr>
        <p:spPr>
          <a:xfrm>
            <a:off x="4881462" y="5848168"/>
            <a:ext cx="2320290" cy="60579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Outcome 3</a:t>
            </a:r>
            <a:endParaRPr lang="en-IN" sz="28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BD7C68-CD4F-3DD0-EBAD-9C3DD6F3C2DB}"/>
              </a:ext>
            </a:extLst>
          </p:cNvPr>
          <p:cNvSpPr/>
          <p:nvPr/>
        </p:nvSpPr>
        <p:spPr>
          <a:xfrm>
            <a:off x="1591527" y="4364636"/>
            <a:ext cx="2320290" cy="60579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Outcome 4</a:t>
            </a:r>
            <a:endParaRPr lang="en-IN" sz="28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39B07F-0353-23B1-EE80-F7CFCE8D8001}"/>
              </a:ext>
            </a:extLst>
          </p:cNvPr>
          <p:cNvSpPr/>
          <p:nvPr/>
        </p:nvSpPr>
        <p:spPr>
          <a:xfrm>
            <a:off x="1865847" y="2873417"/>
            <a:ext cx="2320290" cy="60579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Outcome 5</a:t>
            </a:r>
            <a:endParaRPr lang="en-IN" sz="28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A78B8E-E43E-8B3B-7C33-52A6FCB7C07F}"/>
              </a:ext>
            </a:extLst>
          </p:cNvPr>
          <p:cNvGrpSpPr/>
          <p:nvPr/>
        </p:nvGrpSpPr>
        <p:grpSpPr>
          <a:xfrm>
            <a:off x="4048663" y="3323473"/>
            <a:ext cx="4020177" cy="2456115"/>
            <a:chOff x="4282126" y="3273266"/>
            <a:chExt cx="4020177" cy="2456115"/>
          </a:xfrm>
          <a:solidFill>
            <a:schemeClr val="accent6">
              <a:lumMod val="75000"/>
            </a:schemeClr>
          </a:solidFill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472E8AE-DEAE-A28C-FF8F-7D05CD0EBA43}"/>
                </a:ext>
              </a:extLst>
            </p:cNvPr>
            <p:cNvSpPr/>
            <p:nvPr/>
          </p:nvSpPr>
          <p:spPr>
            <a:xfrm>
              <a:off x="4869180" y="3587201"/>
              <a:ext cx="2811780" cy="1670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Hypothetical Universe</a:t>
              </a:r>
              <a:endParaRPr lang="en-IN" sz="2800" dirty="0"/>
            </a:p>
          </p:txBody>
        </p:sp>
        <p:sp>
          <p:nvSpPr>
            <p:cNvPr id="11" name="Arrow: Up 10">
              <a:extLst>
                <a:ext uri="{FF2B5EF4-FFF2-40B4-BE49-F238E27FC236}">
                  <a16:creationId xmlns:a16="http://schemas.microsoft.com/office/drawing/2014/main" id="{A4E65F1F-A333-7A92-8F64-5AF55B821B7C}"/>
                </a:ext>
              </a:extLst>
            </p:cNvPr>
            <p:cNvSpPr/>
            <p:nvPr/>
          </p:nvSpPr>
          <p:spPr>
            <a:xfrm rot="2628304">
              <a:off x="7202984" y="3273266"/>
              <a:ext cx="588645" cy="713825"/>
            </a:xfrm>
            <a:prstGeom prst="up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Arrow: Up 11">
              <a:extLst>
                <a:ext uri="{FF2B5EF4-FFF2-40B4-BE49-F238E27FC236}">
                  <a16:creationId xmlns:a16="http://schemas.microsoft.com/office/drawing/2014/main" id="{C51C442F-4A03-F498-695D-739815F5770E}"/>
                </a:ext>
              </a:extLst>
            </p:cNvPr>
            <p:cNvSpPr/>
            <p:nvPr/>
          </p:nvSpPr>
          <p:spPr>
            <a:xfrm rot="5400000">
              <a:off x="7651068" y="4208976"/>
              <a:ext cx="588645" cy="713825"/>
            </a:xfrm>
            <a:prstGeom prst="up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Arrow: Up 12">
              <a:extLst>
                <a:ext uri="{FF2B5EF4-FFF2-40B4-BE49-F238E27FC236}">
                  <a16:creationId xmlns:a16="http://schemas.microsoft.com/office/drawing/2014/main" id="{A324C15E-A4B5-5926-6CC3-BFC3F70774EE}"/>
                </a:ext>
              </a:extLst>
            </p:cNvPr>
            <p:cNvSpPr/>
            <p:nvPr/>
          </p:nvSpPr>
          <p:spPr>
            <a:xfrm rot="10800000">
              <a:off x="5980747" y="5015556"/>
              <a:ext cx="588645" cy="713825"/>
            </a:xfrm>
            <a:prstGeom prst="up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Arrow: Up 13">
              <a:extLst>
                <a:ext uri="{FF2B5EF4-FFF2-40B4-BE49-F238E27FC236}">
                  <a16:creationId xmlns:a16="http://schemas.microsoft.com/office/drawing/2014/main" id="{30570DCF-E427-F07E-3F07-CD0383E918CE}"/>
                </a:ext>
              </a:extLst>
            </p:cNvPr>
            <p:cNvSpPr/>
            <p:nvPr/>
          </p:nvSpPr>
          <p:spPr>
            <a:xfrm rot="16200000">
              <a:off x="4344716" y="4249625"/>
              <a:ext cx="588645" cy="713825"/>
            </a:xfrm>
            <a:prstGeom prst="up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Arrow: Up 14">
              <a:extLst>
                <a:ext uri="{FF2B5EF4-FFF2-40B4-BE49-F238E27FC236}">
                  <a16:creationId xmlns:a16="http://schemas.microsoft.com/office/drawing/2014/main" id="{EB731B2E-D57E-1843-A689-D51850EECBBD}"/>
                </a:ext>
              </a:extLst>
            </p:cNvPr>
            <p:cNvSpPr/>
            <p:nvPr/>
          </p:nvSpPr>
          <p:spPr>
            <a:xfrm rot="18567456">
              <a:off x="4737024" y="3266102"/>
              <a:ext cx="588645" cy="833658"/>
            </a:xfrm>
            <a:prstGeom prst="up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69115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1D261-9A1D-A423-A6C1-0AF96F0D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0E86C-C9A6-E22D-D623-557AC158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Hypothetical Universe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B6EF8-DF24-33B5-25D7-D07DFC470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700237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b="1" dirty="0">
                <a:solidFill>
                  <a:srgbClr val="1F3B73"/>
                </a:solidFill>
              </a:rPr>
              <a:t>Example: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Event: </a:t>
            </a:r>
            <a:r>
              <a:rPr lang="en-IN" dirty="0"/>
              <a:t>Rolling a six-sided die.</a:t>
            </a:r>
            <a:endParaRPr lang="en-US" dirty="0"/>
          </a:p>
          <a:p>
            <a:pPr lvl="0">
              <a:lnSpc>
                <a:spcPct val="145000"/>
              </a:lnSpc>
            </a:pP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6E1E6C9-5F99-AC62-9C17-E3F7B1148D01}"/>
              </a:ext>
            </a:extLst>
          </p:cNvPr>
          <p:cNvSpPr/>
          <p:nvPr/>
        </p:nvSpPr>
        <p:spPr>
          <a:xfrm>
            <a:off x="7942912" y="2663190"/>
            <a:ext cx="646183" cy="60579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</a:t>
            </a:r>
            <a:endParaRPr lang="en-IN" sz="28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D41032-D942-6CDF-E704-CAA8CF1DF2DA}"/>
              </a:ext>
            </a:extLst>
          </p:cNvPr>
          <p:cNvSpPr/>
          <p:nvPr/>
        </p:nvSpPr>
        <p:spPr>
          <a:xfrm>
            <a:off x="8427721" y="4154409"/>
            <a:ext cx="613410" cy="60579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  <a:endParaRPr lang="en-IN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437423-DB2E-ECA1-1E0B-F7EF08596137}"/>
              </a:ext>
            </a:extLst>
          </p:cNvPr>
          <p:cNvSpPr/>
          <p:nvPr/>
        </p:nvSpPr>
        <p:spPr>
          <a:xfrm>
            <a:off x="5969316" y="5684174"/>
            <a:ext cx="611505" cy="60579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  <a:endParaRPr lang="en-IN" sz="28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73E0CC-AA8E-65EA-85AC-B68FDE864596}"/>
              </a:ext>
            </a:extLst>
          </p:cNvPr>
          <p:cNvSpPr/>
          <p:nvPr/>
        </p:nvSpPr>
        <p:spPr>
          <a:xfrm>
            <a:off x="3569968" y="4154409"/>
            <a:ext cx="586740" cy="60579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5</a:t>
            </a:r>
            <a:endParaRPr lang="en-IN" sz="28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6FE89C-A3D5-504B-05AB-AA93C5F4D2CF}"/>
              </a:ext>
            </a:extLst>
          </p:cNvPr>
          <p:cNvSpPr/>
          <p:nvPr/>
        </p:nvSpPr>
        <p:spPr>
          <a:xfrm>
            <a:off x="3830954" y="2663190"/>
            <a:ext cx="588645" cy="60579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6</a:t>
            </a:r>
            <a:endParaRPr lang="en-IN" sz="28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C58B880-DE1C-8AA8-03BE-2D0C69AE8AE7}"/>
              </a:ext>
            </a:extLst>
          </p:cNvPr>
          <p:cNvSpPr/>
          <p:nvPr/>
        </p:nvSpPr>
        <p:spPr>
          <a:xfrm>
            <a:off x="5883889" y="2066453"/>
            <a:ext cx="588646" cy="60579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  <a:endParaRPr lang="en-IN" sz="28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B1DDDE4-2B03-7734-2F8C-FE625254AFB3}"/>
              </a:ext>
            </a:extLst>
          </p:cNvPr>
          <p:cNvGrpSpPr/>
          <p:nvPr/>
        </p:nvGrpSpPr>
        <p:grpSpPr>
          <a:xfrm>
            <a:off x="4282126" y="2770857"/>
            <a:ext cx="4020177" cy="2798504"/>
            <a:chOff x="4282126" y="2770857"/>
            <a:chExt cx="4020177" cy="279850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E1688ED-31B2-A139-28CC-D04A952D90DB}"/>
                </a:ext>
              </a:extLst>
            </p:cNvPr>
            <p:cNvGrpSpPr/>
            <p:nvPr/>
          </p:nvGrpSpPr>
          <p:grpSpPr>
            <a:xfrm>
              <a:off x="4282126" y="3113246"/>
              <a:ext cx="4020177" cy="2456115"/>
              <a:chOff x="4282126" y="3273266"/>
              <a:chExt cx="4020177" cy="2456115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D0EA146-CF9D-71DE-2262-96970D08DA3D}"/>
                  </a:ext>
                </a:extLst>
              </p:cNvPr>
              <p:cNvSpPr/>
              <p:nvPr/>
            </p:nvSpPr>
            <p:spPr>
              <a:xfrm>
                <a:off x="4869180" y="3587201"/>
                <a:ext cx="2811780" cy="167059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/>
                  <a:t>Hypothetical Universe</a:t>
                </a:r>
                <a:endParaRPr lang="en-IN" sz="2800" dirty="0"/>
              </a:p>
            </p:txBody>
          </p:sp>
          <p:sp>
            <p:nvSpPr>
              <p:cNvPr id="11" name="Arrow: Up 10">
                <a:extLst>
                  <a:ext uri="{FF2B5EF4-FFF2-40B4-BE49-F238E27FC236}">
                    <a16:creationId xmlns:a16="http://schemas.microsoft.com/office/drawing/2014/main" id="{1F293522-DE28-0575-DD78-1F6D2708E37D}"/>
                  </a:ext>
                </a:extLst>
              </p:cNvPr>
              <p:cNvSpPr/>
              <p:nvPr/>
            </p:nvSpPr>
            <p:spPr>
              <a:xfrm rot="2628304">
                <a:off x="7202984" y="3273266"/>
                <a:ext cx="588645" cy="713825"/>
              </a:xfrm>
              <a:prstGeom prst="up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2" name="Arrow: Up 11">
                <a:extLst>
                  <a:ext uri="{FF2B5EF4-FFF2-40B4-BE49-F238E27FC236}">
                    <a16:creationId xmlns:a16="http://schemas.microsoft.com/office/drawing/2014/main" id="{9C84DA30-9AB3-F2A1-2249-9F6153FA8482}"/>
                  </a:ext>
                </a:extLst>
              </p:cNvPr>
              <p:cNvSpPr/>
              <p:nvPr/>
            </p:nvSpPr>
            <p:spPr>
              <a:xfrm rot="5400000">
                <a:off x="7651068" y="4208976"/>
                <a:ext cx="588645" cy="713825"/>
              </a:xfrm>
              <a:prstGeom prst="up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" name="Arrow: Up 12">
                <a:extLst>
                  <a:ext uri="{FF2B5EF4-FFF2-40B4-BE49-F238E27FC236}">
                    <a16:creationId xmlns:a16="http://schemas.microsoft.com/office/drawing/2014/main" id="{CF758652-E2FC-C15C-8C4D-31E1E343B462}"/>
                  </a:ext>
                </a:extLst>
              </p:cNvPr>
              <p:cNvSpPr/>
              <p:nvPr/>
            </p:nvSpPr>
            <p:spPr>
              <a:xfrm rot="10800000">
                <a:off x="5980747" y="5015556"/>
                <a:ext cx="588645" cy="713825"/>
              </a:xfrm>
              <a:prstGeom prst="up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" name="Arrow: Up 13">
                <a:extLst>
                  <a:ext uri="{FF2B5EF4-FFF2-40B4-BE49-F238E27FC236}">
                    <a16:creationId xmlns:a16="http://schemas.microsoft.com/office/drawing/2014/main" id="{8729750F-AE3F-DF2E-2D14-88D41A4FCFDB}"/>
                  </a:ext>
                </a:extLst>
              </p:cNvPr>
              <p:cNvSpPr/>
              <p:nvPr/>
            </p:nvSpPr>
            <p:spPr>
              <a:xfrm rot="16200000">
                <a:off x="4344716" y="4249625"/>
                <a:ext cx="588645" cy="713825"/>
              </a:xfrm>
              <a:prstGeom prst="up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" name="Arrow: Up 14">
                <a:extLst>
                  <a:ext uri="{FF2B5EF4-FFF2-40B4-BE49-F238E27FC236}">
                    <a16:creationId xmlns:a16="http://schemas.microsoft.com/office/drawing/2014/main" id="{9CD066D2-DB8E-2213-48DD-93A9F1E5B231}"/>
                  </a:ext>
                </a:extLst>
              </p:cNvPr>
              <p:cNvSpPr/>
              <p:nvPr/>
            </p:nvSpPr>
            <p:spPr>
              <a:xfrm rot="18567456">
                <a:off x="4737024" y="3266102"/>
                <a:ext cx="588645" cy="833658"/>
              </a:xfrm>
              <a:prstGeom prst="upArrow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9" name="Arrow: Up 18">
              <a:extLst>
                <a:ext uri="{FF2B5EF4-FFF2-40B4-BE49-F238E27FC236}">
                  <a16:creationId xmlns:a16="http://schemas.microsoft.com/office/drawing/2014/main" id="{3DC64F3D-98C4-9ACC-FB1E-2F32F2DEA948}"/>
                </a:ext>
              </a:extLst>
            </p:cNvPr>
            <p:cNvSpPr/>
            <p:nvPr/>
          </p:nvSpPr>
          <p:spPr>
            <a:xfrm>
              <a:off x="5886933" y="2770857"/>
              <a:ext cx="588645" cy="833658"/>
            </a:xfrm>
            <a:prstGeom prst="upArrow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08275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9" grpId="0" animBg="1"/>
      <p:bldP spid="10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E36C8-ACA7-5311-C9BA-7DA37DD81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D7DE2B-E6F9-4575-811A-652A6455AD5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61" y="762513"/>
            <a:ext cx="7485611" cy="58268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3690C8-802B-4B41-0816-CFD8CD1F9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586BCC21-0D6E-471F-A2D8-67BA4C1C6321}"/>
              </a:ext>
            </a:extLst>
          </p:cNvPr>
          <p:cNvSpPr txBox="1"/>
          <p:nvPr/>
        </p:nvSpPr>
        <p:spPr>
          <a:xfrm>
            <a:off x="7301346" y="5948633"/>
            <a:ext cx="51904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People of Gujarat is POPULATION.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D55A1E09-F9AD-65F1-72D4-1FAC7675D40B}"/>
              </a:ext>
            </a:extLst>
          </p:cNvPr>
          <p:cNvSpPr txBox="1"/>
          <p:nvPr/>
        </p:nvSpPr>
        <p:spPr>
          <a:xfrm>
            <a:off x="7834572" y="1355817"/>
            <a:ext cx="4261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People of Rajkot is SAMPLE.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89C206-F349-3723-DEEF-73D7EDCC0A59}"/>
              </a:ext>
            </a:extLst>
          </p:cNvPr>
          <p:cNvSpPr txBox="1"/>
          <p:nvPr/>
        </p:nvSpPr>
        <p:spPr>
          <a:xfrm>
            <a:off x="8627831" y="4210841"/>
            <a:ext cx="2537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Sample size “ n ”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0E2A21-F753-3D6D-03CF-797350731E71}"/>
                  </a:ext>
                </a:extLst>
              </p:cNvPr>
              <p:cNvSpPr txBox="1"/>
              <p:nvPr/>
            </p:nvSpPr>
            <p:spPr>
              <a:xfrm>
                <a:off x="8662120" y="4759363"/>
                <a:ext cx="34335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Large sample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≥30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B0E2A21-F753-3D6D-03CF-797350731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120" y="4759363"/>
                <a:ext cx="3433591" cy="523220"/>
              </a:xfrm>
              <a:prstGeom prst="rect">
                <a:avLst/>
              </a:prstGeom>
              <a:blipFill>
                <a:blip r:embed="rId3"/>
                <a:stretch>
                  <a:fillRect l="-3730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CB427C-1CC7-DDF9-4DD3-AB913D595915}"/>
                  </a:ext>
                </a:extLst>
              </p:cNvPr>
              <p:cNvSpPr txBox="1"/>
              <p:nvPr/>
            </p:nvSpPr>
            <p:spPr>
              <a:xfrm>
                <a:off x="8662120" y="5307885"/>
                <a:ext cx="343359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002060"/>
                    </a:solidFill>
                  </a:rPr>
                  <a:t>Small sample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</m:t>
                    </m:r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CB427C-1CC7-DDF9-4DD3-AB913D595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120" y="5307885"/>
                <a:ext cx="3433591" cy="523220"/>
              </a:xfrm>
              <a:prstGeom prst="rect">
                <a:avLst/>
              </a:prstGeom>
              <a:blipFill>
                <a:blip r:embed="rId4"/>
                <a:stretch>
                  <a:fillRect l="-3730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46424E9C-C3FF-4633-9DB5-F4C1906C20F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alphaModFix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317" t="43490" r="40128" b="30507"/>
          <a:stretch/>
        </p:blipFill>
        <p:spPr>
          <a:xfrm>
            <a:off x="2263358" y="3327075"/>
            <a:ext cx="2146717" cy="152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2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81481E-6 L 0.52591 -0.1592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289" y="-796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" grpId="0" uiExpand="1" build="p"/>
      <p:bldP spid="284" grpId="0" uiExpand="1" build="p"/>
      <p:bldP spid="3" grpId="0"/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4D4A2-3194-10AC-A007-6639F2DCC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A680-5B99-AFF7-4B73-84659B19A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B4B336-00A1-B9D8-E595-9195FACFD7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700237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A finite subset of a universe or population is known as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sample</a:t>
                </a:r>
                <a:r>
                  <a:rPr lang="en-US" dirty="0"/>
                  <a:t>.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A sample is the small portion of the universe.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The number of individuals in a sample is known as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sample size</a:t>
                </a:r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Sample size is denoted by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“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” </a:t>
                </a:r>
                <a:r>
                  <a:rPr lang="en-US" dirty="0"/>
                  <a:t>and population size is denoted by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“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𝐍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”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.</a:t>
                </a:r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If a sample size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𝟑𝟎</m:t>
                    </m:r>
                  </m:oMath>
                </a14:m>
                <a:r>
                  <a:rPr lang="en-US" dirty="0"/>
                  <a:t>, then it is known as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Large sample</a:t>
                </a:r>
                <a:r>
                  <a:rPr lang="en-US" dirty="0"/>
                  <a:t>, otherwise it is known as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Small sample</a:t>
                </a:r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The process of selecting a sample from a universe is known as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sampling</a:t>
                </a:r>
                <a:r>
                  <a:rPr lang="en-US" dirty="0"/>
                  <a:t>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The theory of sampling is a study of relationship between a population and samples drawn from the population.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B4B336-00A1-B9D8-E595-9195FACFD7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700237"/>
              </a:xfrm>
              <a:blipFill>
                <a:blip r:embed="rId2"/>
                <a:stretch>
                  <a:fillRect l="-971" r="-1074" b="-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3420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D18EE-BCDD-A78E-01BE-6D5DFFE7C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6A598-1151-1A9B-F5C4-DF0850F7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64D82-49BA-716E-B290-D429E1EBE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700237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The fundamental object of sampling is to get as much information as possible of the whole universe by examining only a part of it.</a:t>
            </a:r>
          </a:p>
          <a:p>
            <a:pPr lvl="0">
              <a:lnSpc>
                <a:spcPct val="145000"/>
              </a:lnSpc>
            </a:pPr>
            <a:r>
              <a:rPr lang="en-US" dirty="0"/>
              <a:t>Sampling is a quite often used in our day-to-day life. </a:t>
            </a:r>
          </a:p>
          <a:p>
            <a:pPr lvl="0">
              <a:lnSpc>
                <a:spcPct val="145000"/>
              </a:lnSpc>
            </a:pPr>
            <a:r>
              <a:rPr lang="en-US" b="1" dirty="0">
                <a:solidFill>
                  <a:srgbClr val="1F3B73"/>
                </a:solidFill>
              </a:rPr>
              <a:t>Example: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In a </a:t>
            </a:r>
            <a:r>
              <a:rPr lang="en-US" b="1" dirty="0"/>
              <a:t>shop</a:t>
            </a:r>
            <a:r>
              <a:rPr lang="en-US" dirty="0"/>
              <a:t> we assess the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quality of sugar</a:t>
            </a:r>
            <a:r>
              <a:rPr lang="en-US" dirty="0"/>
              <a:t>,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rice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any commodity</a:t>
            </a:r>
            <a:r>
              <a:rPr lang="en-US" dirty="0"/>
              <a:t> by taking only a handful of it from the bag and then decide whether to purchase it or not.</a:t>
            </a:r>
          </a:p>
          <a:p>
            <a:pPr lvl="0">
              <a:lnSpc>
                <a:spcPct val="145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3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Scroll: Horizontal 5">
                <a:extLst>
                  <a:ext uri="{FF2B5EF4-FFF2-40B4-BE49-F238E27FC236}">
                    <a16:creationId xmlns:a16="http://schemas.microsoft.com/office/drawing/2014/main" id="{65857686-D974-8951-8C27-A0193A235E03}"/>
                  </a:ext>
                </a:extLst>
              </p:cNvPr>
              <p:cNvSpPr/>
              <p:nvPr/>
            </p:nvSpPr>
            <p:spPr>
              <a:xfrm>
                <a:off x="1396325" y="1230389"/>
                <a:ext cx="9399351" cy="4397223"/>
              </a:xfrm>
              <a:prstGeom prst="horizontalScroll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u="sng" dirty="0">
                    <a:solidFill>
                      <a:schemeClr val="accent6">
                        <a:lumMod val="75000"/>
                      </a:schemeClr>
                    </a:solidFill>
                  </a:rPr>
                  <a:t>Question</a:t>
                </a:r>
              </a:p>
              <a:p>
                <a:pPr algn="ctr"/>
                <a:endParaRPr lang="en-US" sz="2800" b="1" u="sng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The company talks about all patients, but we only observed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 patients.</a:t>
                </a:r>
              </a:p>
              <a:p>
                <a:pPr lvl="1" algn="ctr"/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How do we relate sample result to whole population?</a:t>
                </a:r>
              </a:p>
              <a:p>
                <a:pPr lvl="1" algn="ctr"/>
                <a:endParaRPr lang="en-US" sz="2800" dirty="0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We need </a:t>
                </a:r>
                <a:r>
                  <a:rPr lang="en-US" sz="2800" b="1" dirty="0">
                    <a:solidFill>
                      <a:schemeClr val="tx2">
                        <a:lumMod val="50000"/>
                      </a:schemeClr>
                    </a:solidFill>
                  </a:rPr>
                  <a:t>Parameter and Statistic</a:t>
                </a:r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.</a:t>
                </a:r>
                <a:endParaRPr lang="en-IN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Scroll: Horizontal 5">
                <a:extLst>
                  <a:ext uri="{FF2B5EF4-FFF2-40B4-BE49-F238E27FC236}">
                    <a16:creationId xmlns:a16="http://schemas.microsoft.com/office/drawing/2014/main" id="{65857686-D974-8951-8C27-A0193A235E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325" y="1230389"/>
                <a:ext cx="9399351" cy="4397223"/>
              </a:xfrm>
              <a:prstGeom prst="horizontalScroll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692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7727D-9A97-6EEB-0787-7D5FA41E7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4FD61-4C61-5B60-7BE2-2D34DCC9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and Statistics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D9A91-BE05-1DFC-04AC-A8B92EE6E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2010346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The statistical constants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population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/>
              <a:t>are known 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parameter</a:t>
            </a:r>
            <a:r>
              <a:rPr lang="en-US" dirty="0"/>
              <a:t>.</a:t>
            </a:r>
          </a:p>
          <a:p>
            <a:pPr lvl="0">
              <a:lnSpc>
                <a:spcPct val="145000"/>
              </a:lnSpc>
            </a:pPr>
            <a:r>
              <a:rPr lang="en-US" dirty="0"/>
              <a:t>The statistical constants of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sample</a:t>
            </a:r>
            <a:r>
              <a:rPr lang="en-US" dirty="0"/>
              <a:t> are known as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statistic</a:t>
            </a:r>
            <a:r>
              <a:rPr lang="en-US" dirty="0"/>
              <a:t>.</a:t>
            </a:r>
          </a:p>
          <a:p>
            <a:pPr>
              <a:lnSpc>
                <a:spcPct val="145000"/>
              </a:lnSpc>
            </a:pPr>
            <a:r>
              <a:rPr lang="en-US" dirty="0"/>
              <a:t>Notations for statistical constants are as below:</a:t>
            </a:r>
          </a:p>
          <a:p>
            <a:pPr lvl="0">
              <a:lnSpc>
                <a:spcPct val="145000"/>
              </a:lnSpc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B29181-1876-476C-AD14-0C6ED9818346}"/>
              </a:ext>
            </a:extLst>
          </p:cNvPr>
          <p:cNvGraphicFramePr>
            <a:graphicFrameLocks noGrp="1"/>
          </p:cNvGraphicFramePr>
          <p:nvPr/>
        </p:nvGraphicFramePr>
        <p:xfrm>
          <a:off x="1445538" y="2856656"/>
          <a:ext cx="9071610" cy="57023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263265">
                  <a:extLst>
                    <a:ext uri="{9D8B030D-6E8A-4147-A177-3AD203B41FA5}">
                      <a16:colId xmlns:a16="http://schemas.microsoft.com/office/drawing/2014/main" val="246390441"/>
                    </a:ext>
                  </a:extLst>
                </a:gridCol>
                <a:gridCol w="2784475">
                  <a:extLst>
                    <a:ext uri="{9D8B030D-6E8A-4147-A177-3AD203B41FA5}">
                      <a16:colId xmlns:a16="http://schemas.microsoft.com/office/drawing/2014/main" val="320133032"/>
                    </a:ext>
                  </a:extLst>
                </a:gridCol>
                <a:gridCol w="3023870">
                  <a:extLst>
                    <a:ext uri="{9D8B030D-6E8A-4147-A177-3AD203B41FA5}">
                      <a16:colId xmlns:a16="http://schemas.microsoft.com/office/drawing/2014/main" val="3632990791"/>
                    </a:ext>
                  </a:extLst>
                </a:gridCol>
              </a:tblGrid>
              <a:tr h="57023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Statistical 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For 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For Population</a:t>
                      </a:r>
                      <a:endParaRPr lang="en-US" sz="2800" b="1" i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11941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08B95D-EE74-434F-999F-97A6A866F174}"/>
              </a:ext>
            </a:extLst>
          </p:cNvPr>
          <p:cNvGraphicFramePr>
            <a:graphicFrameLocks noGrp="1"/>
          </p:cNvGraphicFramePr>
          <p:nvPr/>
        </p:nvGraphicFramePr>
        <p:xfrm>
          <a:off x="1445538" y="3429000"/>
          <a:ext cx="9071610" cy="29576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264218">
                  <a:extLst>
                    <a:ext uri="{9D8B030D-6E8A-4147-A177-3AD203B41FA5}">
                      <a16:colId xmlns:a16="http://schemas.microsoft.com/office/drawing/2014/main" val="3609682916"/>
                    </a:ext>
                  </a:extLst>
                </a:gridCol>
                <a:gridCol w="2783522">
                  <a:extLst>
                    <a:ext uri="{9D8B030D-6E8A-4147-A177-3AD203B41FA5}">
                      <a16:colId xmlns:a16="http://schemas.microsoft.com/office/drawing/2014/main" val="2858619736"/>
                    </a:ext>
                  </a:extLst>
                </a:gridCol>
                <a:gridCol w="3023870">
                  <a:extLst>
                    <a:ext uri="{9D8B030D-6E8A-4147-A177-3AD203B41FA5}">
                      <a16:colId xmlns:a16="http://schemas.microsoft.com/office/drawing/2014/main" val="3458152345"/>
                    </a:ext>
                  </a:extLst>
                </a:gridCol>
              </a:tblGrid>
              <a:tr h="487892"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500" b="0" i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500" b="0" i="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425406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algn="ctr"/>
                      <a:endParaRPr lang="en-IN" sz="25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558140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algn="ctr"/>
                      <a:endParaRPr lang="en-IN" sz="25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004363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algn="ctr"/>
                      <a:endParaRPr lang="en-IN" sz="25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584499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algn="ctr"/>
                      <a:r>
                        <a:rPr lang="en-IN" sz="2500" b="1" dirty="0">
                          <a:solidFill>
                            <a:srgbClr val="002060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728756"/>
                  </a:ext>
                </a:extLst>
              </a:tr>
              <a:tr h="487892">
                <a:tc>
                  <a:txBody>
                    <a:bodyPr/>
                    <a:lstStyle/>
                    <a:p>
                      <a:pPr algn="ctr"/>
                      <a:endParaRPr lang="en-IN" sz="25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500" i="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91293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218163-8D8E-47DE-A2C9-0DE491D41D44}"/>
                  </a:ext>
                </a:extLst>
              </p:cNvPr>
              <p:cNvSpPr txBox="1"/>
              <p:nvPr/>
            </p:nvSpPr>
            <p:spPr>
              <a:xfrm>
                <a:off x="5828943" y="3403988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IN" sz="25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218163-8D8E-47DE-A2C9-0DE491D41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943" y="3403988"/>
                <a:ext cx="548640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F112CA-2EC8-4DA8-9516-48333F849570}"/>
                  </a:ext>
                </a:extLst>
              </p:cNvPr>
              <p:cNvSpPr txBox="1"/>
              <p:nvPr/>
            </p:nvSpPr>
            <p:spPr>
              <a:xfrm>
                <a:off x="8733115" y="3426886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IN" sz="25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F112CA-2EC8-4DA8-9516-48333F849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115" y="3426886"/>
                <a:ext cx="548640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13A8E8-4B7C-406C-8B0D-D9D3E8220109}"/>
                  </a:ext>
                </a:extLst>
              </p:cNvPr>
              <p:cNvSpPr txBox="1"/>
              <p:nvPr/>
            </p:nvSpPr>
            <p:spPr>
              <a:xfrm>
                <a:off x="5851803" y="3917030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A13A8E8-4B7C-406C-8B0D-D9D3E8220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1803" y="3917030"/>
                <a:ext cx="548640" cy="477054"/>
              </a:xfrm>
              <a:prstGeom prst="rect">
                <a:avLst/>
              </a:prstGeom>
              <a:blipFill>
                <a:blip r:embed="rId4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884327-DAAC-4529-ADA0-780750C9008D}"/>
                  </a:ext>
                </a:extLst>
              </p:cNvPr>
              <p:cNvSpPr txBox="1"/>
              <p:nvPr/>
            </p:nvSpPr>
            <p:spPr>
              <a:xfrm>
                <a:off x="8711207" y="3974180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IN" sz="25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884327-DAAC-4529-ADA0-780750C90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1207" y="3974180"/>
                <a:ext cx="548640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4A566D-7AB1-4BF1-8BB3-A6EBE65245BD}"/>
                  </a:ext>
                </a:extLst>
              </p:cNvPr>
              <p:cNvSpPr txBox="1"/>
              <p:nvPr/>
            </p:nvSpPr>
            <p:spPr>
              <a:xfrm>
                <a:off x="5828943" y="4426222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IN" sz="2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IN" sz="25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acc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4A566D-7AB1-4BF1-8BB3-A6EBE6524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943" y="4426222"/>
                <a:ext cx="548640" cy="477054"/>
              </a:xfrm>
              <a:prstGeom prst="rect">
                <a:avLst/>
              </a:prstGeom>
              <a:blipFill>
                <a:blip r:embed="rId6"/>
                <a:stretch>
                  <a:fillRect r="-1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5404D4-BFD8-4A42-A0E6-C2430D84CADF}"/>
                  </a:ext>
                </a:extLst>
              </p:cNvPr>
              <p:cNvSpPr txBox="1"/>
              <p:nvPr/>
            </p:nvSpPr>
            <p:spPr>
              <a:xfrm>
                <a:off x="8711207" y="4414830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</m:oMath>
                  </m:oMathPara>
                </a14:m>
                <a:endParaRPr lang="en-IN" sz="25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5404D4-BFD8-4A42-A0E6-C2430D84C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1207" y="4414830"/>
                <a:ext cx="548640" cy="477054"/>
              </a:xfrm>
              <a:prstGeom prst="rect">
                <a:avLst/>
              </a:prstGeom>
              <a:blipFill>
                <a:blip r:embed="rId7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594B13-DBC9-4552-9737-9AC415A94FDA}"/>
                  </a:ext>
                </a:extLst>
              </p:cNvPr>
              <p:cNvSpPr txBox="1"/>
              <p:nvPr/>
            </p:nvSpPr>
            <p:spPr>
              <a:xfrm>
                <a:off x="5828943" y="4891392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594B13-DBC9-4552-9737-9AC415A94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943" y="4891392"/>
                <a:ext cx="548640" cy="4770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80C260C-C52B-4687-97DB-6AA55E8027C7}"/>
                  </a:ext>
                </a:extLst>
              </p:cNvPr>
              <p:cNvSpPr txBox="1"/>
              <p:nvPr/>
            </p:nvSpPr>
            <p:spPr>
              <a:xfrm>
                <a:off x="8689299" y="4914355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80C260C-C52B-4687-97DB-6AA55E802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9299" y="4914355"/>
                <a:ext cx="548640" cy="4770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94E2A3-29EC-4D46-9E15-A51D9F61B6B9}"/>
                  </a:ext>
                </a:extLst>
              </p:cNvPr>
              <p:cNvSpPr txBox="1"/>
              <p:nvPr/>
            </p:nvSpPr>
            <p:spPr>
              <a:xfrm>
                <a:off x="5908953" y="5400479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5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a:rPr lang="en-IN" sz="25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294E2A3-29EC-4D46-9E15-A51D9F61B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953" y="5400479"/>
                <a:ext cx="548640" cy="4770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ED484B-2493-4AB0-BDE1-CD5C07DB6EA8}"/>
                  </a:ext>
                </a:extLst>
              </p:cNvPr>
              <p:cNvSpPr txBox="1"/>
              <p:nvPr/>
            </p:nvSpPr>
            <p:spPr>
              <a:xfrm>
                <a:off x="8746449" y="5413880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IN" sz="25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IN" sz="2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ED484B-2493-4AB0-BDE1-CD5C07DB6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6449" y="5413880"/>
                <a:ext cx="548640" cy="4770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0D3144-3155-4B4A-9703-358261630839}"/>
                  </a:ext>
                </a:extLst>
              </p:cNvPr>
              <p:cNvSpPr txBox="1"/>
              <p:nvPr/>
            </p:nvSpPr>
            <p:spPr>
              <a:xfrm>
                <a:off x="5828943" y="5899939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B0D3144-3155-4B4A-9703-358261630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8943" y="5899939"/>
                <a:ext cx="548640" cy="4770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8E57A9-FB62-45DC-86AF-FA9B9E9BDF8E}"/>
                  </a:ext>
                </a:extLst>
              </p:cNvPr>
              <p:cNvSpPr txBox="1"/>
              <p:nvPr/>
            </p:nvSpPr>
            <p:spPr>
              <a:xfrm>
                <a:off x="8689299" y="5862780"/>
                <a:ext cx="54864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5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ρ</m:t>
                      </m:r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8E57A9-FB62-45DC-86AF-FA9B9E9BD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9299" y="5862780"/>
                <a:ext cx="548640" cy="477054"/>
              </a:xfrm>
              <a:prstGeom prst="rect">
                <a:avLst/>
              </a:prstGeom>
              <a:blipFill>
                <a:blip r:embed="rId13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21477BA-20C9-46EE-A5F6-92735D3DE070}"/>
              </a:ext>
            </a:extLst>
          </p:cNvPr>
          <p:cNvSpPr txBox="1"/>
          <p:nvPr/>
        </p:nvSpPr>
        <p:spPr>
          <a:xfrm>
            <a:off x="1584603" y="3451406"/>
            <a:ext cx="300894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dirty="0">
                <a:solidFill>
                  <a:srgbClr val="002060"/>
                </a:solidFill>
              </a:rPr>
              <a:t>No. of elements (Size)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504195-AF1C-42FD-B464-9DD4CDAD46E0}"/>
              </a:ext>
            </a:extLst>
          </p:cNvPr>
          <p:cNvSpPr txBox="1"/>
          <p:nvPr/>
        </p:nvSpPr>
        <p:spPr>
          <a:xfrm>
            <a:off x="2205634" y="3953711"/>
            <a:ext cx="161163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solidFill>
                  <a:srgbClr val="002060"/>
                </a:solidFill>
              </a:rPr>
              <a:t>Proportion</a:t>
            </a:r>
            <a:endParaRPr lang="en-IN" sz="25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AECAF6-04DE-4FA1-B96E-0D015D73F3DE}"/>
              </a:ext>
            </a:extLst>
          </p:cNvPr>
          <p:cNvSpPr txBox="1"/>
          <p:nvPr/>
        </p:nvSpPr>
        <p:spPr>
          <a:xfrm>
            <a:off x="2551391" y="4474094"/>
            <a:ext cx="10744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solidFill>
                  <a:srgbClr val="002060"/>
                </a:solidFill>
              </a:rPr>
              <a:t>Mean</a:t>
            </a:r>
            <a:endParaRPr lang="en-IN" sz="25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3DCC9A-5375-49BC-8F9A-A2EDA4B80B57}"/>
              </a:ext>
            </a:extLst>
          </p:cNvPr>
          <p:cNvSpPr txBox="1"/>
          <p:nvPr/>
        </p:nvSpPr>
        <p:spPr>
          <a:xfrm>
            <a:off x="1779866" y="4931638"/>
            <a:ext cx="257175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500" dirty="0">
                <a:solidFill>
                  <a:srgbClr val="002060"/>
                </a:solidFill>
              </a:rPr>
              <a:t>Standard Deviation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BA7B50-0AC4-4A95-A9E4-3589C11CF3D1}"/>
              </a:ext>
            </a:extLst>
          </p:cNvPr>
          <p:cNvSpPr txBox="1"/>
          <p:nvPr/>
        </p:nvSpPr>
        <p:spPr>
          <a:xfrm>
            <a:off x="2457094" y="5413880"/>
            <a:ext cx="136017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solidFill>
                  <a:srgbClr val="002060"/>
                </a:solidFill>
              </a:rPr>
              <a:t>Variance</a:t>
            </a:r>
            <a:endParaRPr lang="en-IN" sz="25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E17B51-6ED0-4E88-940F-C069F3137EC1}"/>
              </a:ext>
            </a:extLst>
          </p:cNvPr>
          <p:cNvSpPr txBox="1"/>
          <p:nvPr/>
        </p:nvSpPr>
        <p:spPr>
          <a:xfrm>
            <a:off x="1591269" y="5920995"/>
            <a:ext cx="311753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solidFill>
                  <a:srgbClr val="002060"/>
                </a:solidFill>
              </a:rPr>
              <a:t>Correlation Coefficient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167055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25814-1C4A-856A-E6C3-B3765EE6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A5FCF-237A-6624-8213-98A9E0FE2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and Statistics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97C073-C073-C29A-B577-B7B9D76BA4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3821889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Proportion means part of the total or fraction of members having a certain property.</a:t>
                </a:r>
              </a:p>
              <a:p>
                <a:pPr lvl="0">
                  <a:lnSpc>
                    <a:spcPct val="145000"/>
                  </a:lnSpc>
                </a:pPr>
                <a:r>
                  <a:rPr lang="en-US" dirty="0"/>
                  <a:t>It tells how much percentage of the population/sample satisfies a condition.</a:t>
                </a:r>
              </a:p>
              <a:p>
                <a:pPr marL="0" lvl="0" indent="0" algn="ctr">
                  <a:lnSpc>
                    <a:spcPct val="14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i="0" dirty="0" smtClean="0">
                          <a:latin typeface="Cambria Math" panose="02040503050406030204" pitchFamily="18" charset="0"/>
                        </a:rPr>
                        <m:t>Proportion</m:t>
                      </m:r>
                      <m:r>
                        <m:rPr>
                          <m:nor/>
                        </m:rPr>
                        <a:rPr lang="en-IN" b="1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b="1" i="0" dirty="0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1" i="0" dirty="0"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US" b="1" i="0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1" i="0" dirty="0">
                              <a:latin typeface="Cambria Math" panose="02040503050406030204" pitchFamily="18" charset="0"/>
                            </a:rPr>
                            <m:t>having</m:t>
                          </m:r>
                          <m:r>
                            <m:rPr>
                              <m:nor/>
                            </m:rPr>
                            <a:rPr lang="en-US" b="1" i="0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b="1" i="0" dirty="0">
                              <a:latin typeface="Cambria Math" panose="02040503050406030204" pitchFamily="18" charset="0"/>
                            </a:rPr>
                            <m:t>property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1" i="0" dirty="0"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IN" b="1" i="0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b="1" i="0" dirty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b="1" i="0" dirty="0" err="1">
                              <a:latin typeface="Cambria Math" panose="02040503050406030204" pitchFamily="18" charset="0"/>
                            </a:rPr>
                            <m:t>umber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97C073-C073-C29A-B577-B7B9D76BA4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3821889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471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A6C58-A745-3068-8F47-04810F9AC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0512-F992-D3AD-10D2-B2220BDE3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Hypothesis Testing as a Courtroom Trial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F6CF9-C476-37B6-9753-547DFE50A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11200"/>
            <a:ext cx="11928475" cy="5743575"/>
          </a:xfrm>
        </p:spPr>
        <p:txBody>
          <a:bodyPr/>
          <a:lstStyle/>
          <a:p>
            <a:r>
              <a:rPr lang="en-US" dirty="0"/>
              <a:t>Imagine we are in a court of law. </a:t>
            </a:r>
          </a:p>
          <a:p>
            <a:pPr lvl="1"/>
            <a:r>
              <a:rPr lang="en-US" dirty="0"/>
              <a:t>Judge → Statistician / Doctor</a:t>
            </a:r>
          </a:p>
          <a:p>
            <a:pPr lvl="1"/>
            <a:r>
              <a:rPr lang="en-US" dirty="0"/>
              <a:t>Pharmaceutical Company → Accused Claim / Hypothesis </a:t>
            </a:r>
          </a:p>
          <a:p>
            <a:pPr lvl="1"/>
            <a:r>
              <a:rPr lang="en-US" dirty="0"/>
              <a:t>Patients → Population</a:t>
            </a:r>
          </a:p>
          <a:p>
            <a:pPr lvl="1"/>
            <a:r>
              <a:rPr lang="en-US" dirty="0"/>
              <a:t>Sample Data → Evidence</a:t>
            </a:r>
          </a:p>
          <a:p>
            <a:pPr lvl="1"/>
            <a:r>
              <a:rPr lang="en-IN" dirty="0"/>
              <a:t>Final Judgment </a:t>
            </a:r>
            <a:r>
              <a:rPr lang="en-US" dirty="0"/>
              <a:t>→ </a:t>
            </a:r>
            <a:r>
              <a:rPr lang="en-IN" dirty="0"/>
              <a:t>Statistical Decision</a:t>
            </a:r>
          </a:p>
        </p:txBody>
      </p:sp>
    </p:spTree>
    <p:extLst>
      <p:ext uri="{BB962C8B-B14F-4D97-AF65-F5344CB8AC3E}">
        <p14:creationId xmlns:p14="http://schemas.microsoft.com/office/powerpoint/2010/main" val="2566693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B5352-D4A3-9205-A0CF-BE2D248D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318E9-B810-810F-C7F2-EEDEA2C03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Step 1: The Company Makes a Claim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9BE599-081E-A76F-AFDB-4E33042E08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r>
                  <a:rPr lang="en-US" dirty="0"/>
                  <a:t>Company says:</a:t>
                </a:r>
              </a:p>
              <a:p>
                <a:pPr marL="0" indent="0" algn="ctr">
                  <a:buNone/>
                </a:pPr>
                <a:r>
                  <a:rPr lang="en-US" dirty="0"/>
                  <a:t>Our medicine works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80%</m:t>
                    </m:r>
                  </m:oMath>
                </a14:m>
                <a:r>
                  <a:rPr lang="en-US" dirty="0"/>
                  <a:t> of patients.</a:t>
                </a:r>
              </a:p>
              <a:p>
                <a:r>
                  <a:rPr lang="en-US" dirty="0"/>
                  <a:t>In court language: The accused claims innocence.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9BE599-081E-A76F-AFDB-4E33042E08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09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97BE2-0D1B-6D26-40E3-A51232D49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893C-3E18-EE18-571A-A6B29A864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Step 2: Court Rule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481F83-F279-CC19-9A4E-F6B4867533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r>
                  <a:rPr lang="en-US" dirty="0"/>
                  <a:t>In any court:</a:t>
                </a:r>
              </a:p>
              <a:p>
                <a:pPr marL="0" indent="0" algn="ctr">
                  <a:buNone/>
                </a:pPr>
                <a:r>
                  <a:rPr lang="en-US" dirty="0"/>
                  <a:t>A person is assumed innocent until proven guilty.</a:t>
                </a:r>
              </a:p>
              <a:p>
                <a:r>
                  <a:rPr lang="en-US" dirty="0"/>
                  <a:t>Similarly in statistics:</a:t>
                </a:r>
              </a:p>
              <a:p>
                <a:pPr marL="0" indent="0" algn="ctr">
                  <a:buNone/>
                </a:pPr>
                <a:r>
                  <a:rPr lang="en-US" dirty="0"/>
                  <a:t>A claim is assumed true until evidence proves otherwise.</a:t>
                </a:r>
              </a:p>
              <a:p>
                <a:r>
                  <a:rPr lang="en-US" dirty="0"/>
                  <a:t>This assumption becomes Null Hypothesis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).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endParaRPr lang="en-IN" dirty="0"/>
              </a:p>
              <a:p>
                <a:pPr lvl="1"/>
                <a:r>
                  <a:rPr lang="en-US" dirty="0"/>
                  <a:t>Meaning: </a:t>
                </a:r>
              </a:p>
              <a:p>
                <a:pPr lvl="2"/>
                <a:r>
                  <a:rPr lang="en-US" dirty="0"/>
                  <a:t>Medicine really works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80%</m:t>
                    </m:r>
                  </m:oMath>
                </a14:m>
                <a:r>
                  <a:rPr lang="en-US" dirty="0"/>
                  <a:t> patients</a:t>
                </a:r>
              </a:p>
              <a:p>
                <a:pPr lvl="2"/>
                <a:r>
                  <a:rPr lang="en-US" dirty="0"/>
                  <a:t>Company is “innocent”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481F83-F279-CC19-9A4E-F6B4867533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964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930FB-EC8B-AEC1-769D-E6D115846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B1A0A-B5D2-C525-37F5-CE6EDA9D1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Step 3: Prosecutor Raises Doubt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899D54-CCBD-93DC-7AA6-EF8CC1B1DC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1"/>
                <a:ext cx="11928475" cy="5747966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en-US" dirty="0"/>
                  <a:t>Doctors test medicine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patients.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Result: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=64%</m:t>
                      </m:r>
                    </m:oMath>
                  </m:oMathPara>
                </a14:m>
                <a:endParaRPr lang="en-IN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Now prosecutor says: Wait… The success rate does not look equal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80%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This doubt forms: Alternative Hypothesis (H₁)</a:t>
                </a:r>
              </a:p>
              <a:p>
                <a:pPr lvl="1"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 :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≠0.8</m:t>
                    </m:r>
                  </m:oMath>
                </a14:m>
                <a:endParaRPr lang="en-IN" dirty="0"/>
              </a:p>
              <a:p>
                <a:pPr lvl="1">
                  <a:lnSpc>
                    <a:spcPct val="130000"/>
                  </a:lnSpc>
                </a:pPr>
                <a:r>
                  <a:rPr lang="en-US" dirty="0"/>
                  <a:t>Meaning:</a:t>
                </a:r>
              </a:p>
              <a:p>
                <a:pPr lvl="2">
                  <a:lnSpc>
                    <a:spcPct val="130000"/>
                  </a:lnSpc>
                </a:pPr>
                <a:r>
                  <a:rPr lang="en-US" dirty="0"/>
                  <a:t>The true success rate may be different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80%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>
                  <a:lnSpc>
                    <a:spcPct val="130000"/>
                  </a:lnSpc>
                </a:pPr>
                <a:r>
                  <a:rPr lang="en-US" dirty="0"/>
                  <a:t>The company’s claim may not be correct.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899D54-CCBD-93DC-7AA6-EF8CC1B1DC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1"/>
                <a:ext cx="11928475" cy="5747966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634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E16D8-E45D-F2AD-D6F8-F2DFBEB76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25D2F-8A70-80F3-61F2-A15187701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Step 4: Judge’s Question (Core of Hypothesis Testing)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C93CA1-F5AF-BD63-ADA2-006F6184EF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1"/>
                <a:ext cx="11928475" cy="5747966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</a:pPr>
                <a:r>
                  <a:rPr lang="en-US" dirty="0"/>
                  <a:t>Judge asks:</a:t>
                </a:r>
              </a:p>
              <a:p>
                <a:pPr marL="0" indent="0" algn="ctr">
                  <a:lnSpc>
                    <a:spcPct val="130000"/>
                  </a:lnSpc>
                  <a:buNone/>
                </a:pPr>
                <a:r>
                  <a:rPr lang="en-US" dirty="0"/>
                  <a:t>	If the company is truly innocent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 = 0.8</m:t>
                        </m:r>
                      </m:e>
                    </m:d>
                  </m:oMath>
                </a14:m>
                <a:r>
                  <a:rPr lang="en-US" dirty="0"/>
                  <a:t>, could this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64%</m:t>
                    </m:r>
                  </m:oMath>
                </a14:m>
                <a:r>
                  <a:rPr lang="en-US" dirty="0"/>
                  <a:t> result simply be due to random chance?</a:t>
                </a:r>
              </a:p>
              <a:p>
                <a:pPr lvl="1" algn="l">
                  <a:lnSpc>
                    <a:spcPct val="130000"/>
                  </a:lnSpc>
                </a:pPr>
                <a:r>
                  <a:rPr lang="en-US" dirty="0"/>
                  <a:t>This is exactly what hypothesis testing tries to answer.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C93CA1-F5AF-BD63-ADA2-006F6184E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1"/>
                <a:ext cx="11928475" cy="5747966"/>
              </a:xfrm>
              <a:blipFill>
                <a:blip r:embed="rId2"/>
                <a:stretch>
                  <a:fillRect l="-971" r="-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055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2BEEE-DB49-2E7E-C9EB-D3F64E57B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E839F-0EB4-742C-CD14-AA93972B0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Step 5: Final Decision Rule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85200-447C-42D1-B772-6E97FF240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11201"/>
            <a:ext cx="11928475" cy="572851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Case 1: Evidence is Weak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Difference may happen due to randomness. 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Court Decision:</a:t>
            </a:r>
          </a:p>
          <a:p>
            <a:pPr marL="457200" lvl="1" indent="0" algn="ctr">
              <a:lnSpc>
                <a:spcPct val="130000"/>
              </a:lnSpc>
              <a:buNone/>
            </a:pPr>
            <a:r>
              <a:rPr lang="en-US" dirty="0"/>
              <a:t>Not enough proof</a:t>
            </a:r>
          </a:p>
          <a:p>
            <a:pPr lvl="1">
              <a:lnSpc>
                <a:spcPct val="130000"/>
              </a:lnSpc>
            </a:pPr>
            <a:r>
              <a:rPr lang="en-US" b="1" dirty="0"/>
              <a:t>Do not Reject H₀</a:t>
            </a:r>
            <a:r>
              <a:rPr lang="en-US" dirty="0"/>
              <a:t>.</a:t>
            </a:r>
          </a:p>
          <a:p>
            <a:pPr lvl="2">
              <a:lnSpc>
                <a:spcPct val="130000"/>
              </a:lnSpc>
            </a:pPr>
            <a:r>
              <a:rPr lang="en-US" dirty="0"/>
              <a:t>Meaning:</a:t>
            </a:r>
          </a:p>
          <a:p>
            <a:pPr lvl="3">
              <a:lnSpc>
                <a:spcPct val="130000"/>
              </a:lnSpc>
            </a:pPr>
            <a:r>
              <a:rPr lang="en-US" dirty="0"/>
              <a:t>Claim continues</a:t>
            </a:r>
          </a:p>
          <a:p>
            <a:pPr lvl="3">
              <a:lnSpc>
                <a:spcPct val="130000"/>
              </a:lnSpc>
            </a:pPr>
            <a:r>
              <a:rPr lang="en-US" dirty="0"/>
              <a:t>Company treated as innocent</a:t>
            </a:r>
          </a:p>
          <a:p>
            <a:pPr marL="457200" lvl="1" indent="0">
              <a:lnSpc>
                <a:spcPct val="13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663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3D6DD-3E5B-0620-E5E6-57E851A92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A7E01-5157-1BEB-5993-550FCFC00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Step 5: Final Decision Rule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7CEC8-9473-27EC-2987-C43E1003E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11201"/>
            <a:ext cx="11928475" cy="572851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Case 2: Evidence is Strong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Difference too large to ignore.</a:t>
            </a:r>
          </a:p>
          <a:p>
            <a:pPr lvl="1">
              <a:lnSpc>
                <a:spcPct val="130000"/>
              </a:lnSpc>
            </a:pPr>
            <a:r>
              <a:rPr lang="en-US" dirty="0"/>
              <a:t>Court Decision:</a:t>
            </a:r>
          </a:p>
          <a:p>
            <a:pPr marL="457200" lvl="1" indent="0" algn="ctr">
              <a:lnSpc>
                <a:spcPct val="130000"/>
              </a:lnSpc>
              <a:buNone/>
            </a:pPr>
            <a:r>
              <a:rPr lang="en-US" dirty="0"/>
              <a:t>Claim unlikely true.</a:t>
            </a:r>
          </a:p>
          <a:p>
            <a:pPr lvl="1" algn="l">
              <a:lnSpc>
                <a:spcPct val="130000"/>
              </a:lnSpc>
            </a:pPr>
            <a:r>
              <a:rPr lang="en-US" dirty="0"/>
              <a:t>	so, </a:t>
            </a:r>
            <a:r>
              <a:rPr lang="en-US" b="1" dirty="0"/>
              <a:t>reject H₀.</a:t>
            </a:r>
          </a:p>
          <a:p>
            <a:pPr lvl="1" algn="l">
              <a:lnSpc>
                <a:spcPct val="130000"/>
              </a:lnSpc>
            </a:pPr>
            <a:r>
              <a:rPr lang="en-IN" dirty="0"/>
              <a:t>Meaning: Company claim doubtful</a:t>
            </a:r>
          </a:p>
          <a:p>
            <a:pPr algn="l">
              <a:lnSpc>
                <a:spcPct val="130000"/>
              </a:lnSpc>
            </a:pPr>
            <a:endParaRPr lang="en-IN" dirty="0"/>
          </a:p>
          <a:p>
            <a:pPr algn="l">
              <a:lnSpc>
                <a:spcPct val="130000"/>
              </a:lnSpc>
            </a:pPr>
            <a:r>
              <a:rPr lang="en-US" dirty="0"/>
              <a:t>We never prove a claim true — we only check whether evidence is strong enough to reject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623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0A1CF-5356-F8E3-E517-0C685643D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7A14-068F-D33D-0BEC-A2A9D9859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Why don’t we prove alternative hypothesis directly?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DBCB2D-389A-E7EA-AAC0-EFC68AAF8B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1"/>
                <a:ext cx="11928475" cy="5728510"/>
              </a:xfrm>
            </p:spPr>
            <p:txBody>
              <a:bodyPr/>
              <a:lstStyle/>
              <a:p>
                <a:pPr>
                  <a:lnSpc>
                    <a:spcPct val="140000"/>
                  </a:lnSpc>
                </a:pPr>
                <a:r>
                  <a:rPr lang="en-US" b="1" dirty="0"/>
                  <a:t>It is mathematically easier to test an assumed situation than prove an unknown one.</a:t>
                </a:r>
              </a:p>
              <a:p>
                <a:pPr>
                  <a:lnSpc>
                    <a:spcPct val="140000"/>
                  </a:lnSpc>
                </a:pPr>
                <a:r>
                  <a:rPr lang="en-US" dirty="0"/>
                  <a:t>Think carefully:</a:t>
                </a:r>
              </a:p>
              <a:p>
                <a:pPr lvl="1">
                  <a:lnSpc>
                    <a:spcPct val="140000"/>
                  </a:lnSpc>
                </a:pPr>
                <a:r>
                  <a:rPr lang="en-US" dirty="0"/>
                  <a:t>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​, population value is known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80%</m:t>
                        </m:r>
                      </m:e>
                    </m:d>
                  </m:oMath>
                </a14:m>
                <a:endParaRPr lang="en-US" dirty="0"/>
              </a:p>
              <a:p>
                <a:pPr lvl="1">
                  <a:lnSpc>
                    <a:spcPct val="140000"/>
                  </a:lnSpc>
                </a:pPr>
                <a:r>
                  <a:rPr lang="en-US" dirty="0"/>
                  <a:t>So, probability calculations are possible.</a:t>
                </a:r>
              </a:p>
              <a:p>
                <a:pPr>
                  <a:lnSpc>
                    <a:spcPct val="140000"/>
                  </a:lnSpc>
                </a:pPr>
                <a:r>
                  <a:rPr lang="en-US" dirty="0"/>
                  <a:t>But under 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:</a:t>
                </a:r>
              </a:p>
              <a:p>
                <a:pPr lvl="1">
                  <a:lnSpc>
                    <a:spcPct val="140000"/>
                  </a:lnSpc>
                </a:pPr>
                <a:r>
                  <a:rPr lang="en-US" dirty="0"/>
                  <a:t>Many possibilities exist: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70%, 60%, 50%, 30%</m:t>
                    </m:r>
                  </m:oMath>
                </a14:m>
                <a:r>
                  <a:rPr lang="en-US" dirty="0"/>
                  <a:t> or anything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≠80%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40000"/>
                  </a:lnSpc>
                </a:pPr>
                <a:r>
                  <a:rPr lang="en-US" dirty="0"/>
                  <a:t>Infinite possibilities!</a:t>
                </a:r>
              </a:p>
              <a:p>
                <a:pPr>
                  <a:lnSpc>
                    <a:spcPct val="140000"/>
                  </a:lnSpc>
                </a:pPr>
                <a:r>
                  <a:rPr lang="en-US" dirty="0"/>
                  <a:t>So, we cannot test all alternatives directly.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DBCB2D-389A-E7EA-AAC0-EFC68AAF8B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1"/>
                <a:ext cx="11928475" cy="5728510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435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70EF2-997B-2E4B-3D51-CCAE20565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C2BBE-C22D-4A68-98AF-7D69782B4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Why don’t we prove alternative hypothesis directly?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99979-A352-DA7A-9B72-719AA7D1AB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1"/>
                <a:ext cx="11928475" cy="5728510"/>
              </a:xfrm>
            </p:spPr>
            <p:txBody>
              <a:bodyPr/>
              <a:lstStyle/>
              <a:p>
                <a:pPr>
                  <a:lnSpc>
                    <a:spcPct val="135000"/>
                  </a:lnSpc>
                </a:pPr>
                <a:r>
                  <a:rPr lang="en-US" dirty="0"/>
                  <a:t>Null hypothesis gives a precise numerical statement.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Court never says: “Person is proven innocent.”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Court says: “Not enough evidence to declare guilty.”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dirty="0"/>
                  <a:t>Similarly, statistics says: 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Do not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​(not 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true”).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b="1" dirty="0"/>
                  <a:t>Hypothesis testing is an attempt to disprove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𝐇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₀</m:t>
                    </m:r>
                  </m:oMath>
                </a14:m>
                <a:r>
                  <a:rPr lang="en-US" b="1" dirty="0"/>
                  <a:t>, not prove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𝐇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₁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>
                  <a:lnSpc>
                    <a:spcPct val="135000"/>
                  </a:lnSpc>
                </a:pPr>
                <a:r>
                  <a:rPr lang="en-US" dirty="0"/>
                  <a:t>Because: </a:t>
                </a:r>
              </a:p>
              <a:p>
                <a:pPr lvl="2">
                  <a:lnSpc>
                    <a:spcPct val="135000"/>
                  </a:lnSpc>
                </a:pPr>
                <a:r>
                  <a:rPr lang="en-US" dirty="0"/>
                  <a:t>Disproving one precise claim is possible</a:t>
                </a:r>
              </a:p>
              <a:p>
                <a:pPr lvl="2">
                  <a:lnSpc>
                    <a:spcPct val="135000"/>
                  </a:lnSpc>
                </a:pPr>
                <a:r>
                  <a:rPr lang="en-US" dirty="0"/>
                  <a:t>Proving all alternative possibilities is impossible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B99979-A352-DA7A-9B72-719AA7D1AB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1"/>
                <a:ext cx="11928475" cy="5728510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66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C3C7B-7589-52EC-EBC1-8C51BE5E7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3492C-DB86-EED6-15BE-0F8DF67C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Mapping Table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54FEE7-7F48-DBD4-DD69-3A543ECE9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034572"/>
              </p:ext>
            </p:extLst>
          </p:nvPr>
        </p:nvGraphicFramePr>
        <p:xfrm>
          <a:off x="1638840" y="846124"/>
          <a:ext cx="8914320" cy="5496311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457160">
                  <a:extLst>
                    <a:ext uri="{9D8B030D-6E8A-4147-A177-3AD203B41FA5}">
                      <a16:colId xmlns:a16="http://schemas.microsoft.com/office/drawing/2014/main" val="2486245821"/>
                    </a:ext>
                  </a:extLst>
                </a:gridCol>
                <a:gridCol w="4457160">
                  <a:extLst>
                    <a:ext uri="{9D8B030D-6E8A-4147-A177-3AD203B41FA5}">
                      <a16:colId xmlns:a16="http://schemas.microsoft.com/office/drawing/2014/main" val="3164843734"/>
                    </a:ext>
                  </a:extLst>
                </a:gridCol>
              </a:tblGrid>
              <a:tr h="863057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Court Trial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solidFill>
                            <a:schemeClr val="bg1"/>
                          </a:solidFill>
                        </a:rPr>
                        <a:t>Hypothesis Testing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906212"/>
                  </a:ext>
                </a:extLst>
              </a:tr>
              <a:tr h="772209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Accused innocent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Null hypothesis is true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6587563"/>
                  </a:ext>
                </a:extLst>
              </a:tr>
              <a:tr h="772209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Lawyer suspicion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Alternative hypothesis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5837114"/>
                  </a:ext>
                </a:extLst>
              </a:tr>
              <a:tr h="772209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Evidence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Sample data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526429"/>
                  </a:ext>
                </a:extLst>
              </a:tr>
              <a:tr h="772209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Judge decision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Statistical test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089642"/>
                  </a:ext>
                </a:extLst>
              </a:tr>
              <a:tr h="772209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Guilty verdict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Reject H₀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310404"/>
                  </a:ext>
                </a:extLst>
              </a:tr>
              <a:tr h="772209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Not guilty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002060"/>
                          </a:solidFill>
                        </a:rPr>
                        <a:t>Do not reject H₀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3328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1650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B4E24-286D-1A94-593F-0A635961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C50FCCFB-E0C6-7BAA-9EDB-885078761976}"/>
              </a:ext>
            </a:extLst>
          </p:cNvPr>
          <p:cNvSpPr/>
          <p:nvPr/>
        </p:nvSpPr>
        <p:spPr>
          <a:xfrm>
            <a:off x="1396325" y="1230389"/>
            <a:ext cx="9399351" cy="4397223"/>
          </a:xfrm>
          <a:prstGeom prst="horizontalScroll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u="sng" dirty="0">
                <a:solidFill>
                  <a:schemeClr val="accent6">
                    <a:lumMod val="75000"/>
                  </a:schemeClr>
                </a:solidFill>
              </a:rPr>
              <a:t>Question</a:t>
            </a:r>
          </a:p>
          <a:p>
            <a:pPr algn="ctr"/>
            <a:endParaRPr lang="en-US" sz="2800" b="1" u="sng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Before testing the claim, what assumption should we start with?</a:t>
            </a:r>
          </a:p>
          <a:p>
            <a:pPr algn="ctr"/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Null Hypothesis</a:t>
            </a:r>
            <a:endParaRPr lang="en-IN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12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6D054-9659-953E-5AFC-0E43BC7C4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556FA-885C-F456-15D7-921A9162D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Null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FD50A-08DE-4B2C-CCCB-3FBC9F537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1"/>
            <a:ext cx="11929641" cy="5845241"/>
          </a:xfrm>
        </p:spPr>
        <p:txBody>
          <a:bodyPr/>
          <a:lstStyle/>
          <a:p>
            <a:r>
              <a:rPr lang="en-US" dirty="0"/>
              <a:t>Null Hypothesis is a statistical statement about a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population parameter</a:t>
            </a:r>
            <a:r>
              <a:rPr lang="en-US" dirty="0"/>
              <a:t> which is assumed to be true unless sufficient sample evidence suggests otherwise.</a:t>
            </a:r>
          </a:p>
          <a:p>
            <a:pPr lvl="1"/>
            <a:r>
              <a:rPr lang="en-US" dirty="0"/>
              <a:t>Null Hypothesis is the statement that assumes there is no change, no difference, or that the claimed situation is true.</a:t>
            </a:r>
          </a:p>
          <a:p>
            <a:r>
              <a:rPr lang="en-US" dirty="0"/>
              <a:t>Null Hypothesis means:</a:t>
            </a:r>
          </a:p>
          <a:p>
            <a:pPr lvl="1"/>
            <a:r>
              <a:rPr lang="en-US" dirty="0"/>
              <a:t>Nothing unusual is happening</a:t>
            </a:r>
          </a:p>
          <a:p>
            <a:pPr lvl="1"/>
            <a:r>
              <a:rPr lang="en-US" dirty="0"/>
              <a:t>Everything is normal</a:t>
            </a:r>
          </a:p>
          <a:p>
            <a:pPr lvl="1"/>
            <a:r>
              <a:rPr lang="en-US" dirty="0"/>
              <a:t>The original claim continues to hold</a:t>
            </a:r>
          </a:p>
          <a:p>
            <a:r>
              <a:rPr lang="en-US" dirty="0"/>
              <a:t>It represents the status quo (default belief).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308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79E73-E5C3-CFE0-0C3A-E3D5D1B87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Null Hypothesis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5D6E99-EDF2-8E73-1D2E-AAA9F0EDA7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It is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IN" dirty="0"/>
                  <a:t>. </a:t>
                </a:r>
              </a:p>
              <a:p>
                <a:r>
                  <a:rPr lang="en-IN" dirty="0"/>
                  <a:t>General Mathematical Forms depending on parameter:</a:t>
                </a:r>
              </a:p>
              <a:p>
                <a:pPr lvl="1"/>
                <a:r>
                  <a:rPr lang="en-IN" dirty="0"/>
                  <a:t>Mean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</a:rPr>
                      <m:t>μ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i="0" dirty="0" smtClean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,  </a:t>
                </a:r>
                <a:r>
                  <a:rPr lang="el-GR" dirty="0"/>
                  <a:t>​</a:t>
                </a:r>
                <a:r>
                  <a:rPr lang="en-IN" dirty="0"/>
                  <a:t> Proportion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, ​  Variance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i="0" dirty="0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IN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i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IN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IN" dirty="0"/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Research Question : </a:t>
                </a:r>
              </a:p>
              <a:p>
                <a:pPr lvl="2"/>
                <a:r>
                  <a:rPr lang="en-US" dirty="0"/>
                  <a:t>Does excessive mobile phone usage reduce students’ sleep duration?</a:t>
                </a:r>
              </a:p>
              <a:p>
                <a:pPr lvl="1"/>
                <a:r>
                  <a:rPr lang="en-US" dirty="0"/>
                  <a:t>Null Hypothesis (H₀): </a:t>
                </a:r>
              </a:p>
              <a:p>
                <a:pPr lvl="2"/>
                <a:r>
                  <a:rPr lang="en-US" dirty="0"/>
                  <a:t>Excessive mobile phone usage does </a:t>
                </a:r>
                <a:r>
                  <a:rPr lang="en-US" b="1" dirty="0"/>
                  <a:t>not reduce </a:t>
                </a:r>
                <a:r>
                  <a:rPr lang="en-US" dirty="0"/>
                  <a:t>students’ sleep duration.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5D6E99-EDF2-8E73-1D2E-AAA9F0EDA7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127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C714F-0705-9053-8739-1CCD4BEAD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9173-383F-9AFA-6AF9-3E74116AD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Null Hypothesis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60E00E-4778-804A-C266-BC5AA698BD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66167"/>
                <a:ext cx="11929641" cy="5702726"/>
              </a:xfrm>
            </p:spPr>
            <p:txBody>
              <a:bodyPr/>
              <a:lstStyle/>
              <a:p>
                <a:r>
                  <a:rPr lang="en-US" dirty="0"/>
                  <a:t>Note that,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is always in equality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Because</a:t>
                </a:r>
              </a:p>
              <a:p>
                <a:pPr lvl="1"/>
                <a:r>
                  <a:rPr lang="en-US" dirty="0"/>
                  <a:t>To calculate probability, population parameter must be known exactly.</a:t>
                </a:r>
              </a:p>
              <a:p>
                <a:pPr lvl="1"/>
                <a:r>
                  <a:rPr lang="en-US" dirty="0"/>
                  <a:t>Example: If we write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≠0.8</m:t>
                    </m:r>
                  </m:oMath>
                </a14:m>
                <a:r>
                  <a:rPr lang="en-IN" dirty="0"/>
                  <a:t> </a:t>
                </a:r>
              </a:p>
              <a:p>
                <a:pPr lvl="2"/>
                <a:r>
                  <a:rPr lang="en-US" dirty="0"/>
                  <a:t>there is no fixed reference point.	</a:t>
                </a:r>
                <a:endParaRPr lang="en-IN" dirty="0"/>
              </a:p>
              <a:p>
                <a:r>
                  <a:rPr lang="en-US" dirty="0"/>
                  <a:t>Equality gives:</a:t>
                </a:r>
              </a:p>
              <a:p>
                <a:pPr lvl="1"/>
                <a:r>
                  <a:rPr lang="en-US" dirty="0"/>
                  <a:t>Clear comparison</a:t>
                </a:r>
              </a:p>
              <a:p>
                <a:pPr lvl="1"/>
                <a:r>
                  <a:rPr lang="en-US" dirty="0"/>
                  <a:t>Sampling distribution formation </a:t>
                </a:r>
              </a:p>
              <a:p>
                <a:pPr lvl="1"/>
                <a:r>
                  <a:rPr lang="en-US" dirty="0"/>
                  <a:t>Probability calculation possible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60E00E-4778-804A-C266-BC5AA698BD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66167"/>
                <a:ext cx="11929641" cy="5702726"/>
              </a:xfrm>
              <a:blipFill>
                <a:blip r:embed="rId2"/>
                <a:stretch>
                  <a:fillRect l="-971" b="-44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710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F3A1-A4B6-082C-5948-45D82AF4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91F9-9E83-4384-9272-7F401CC4D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Null Hypothesis?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28B4D-B74F-EF8E-05E8-45F1C9994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 dirty="0"/>
              <a:t>Because it represents:</a:t>
            </a:r>
          </a:p>
          <a:p>
            <a:pPr lvl="1"/>
            <a:r>
              <a:rPr lang="en-US" dirty="0"/>
              <a:t>No new effect</a:t>
            </a:r>
          </a:p>
          <a:p>
            <a:pPr lvl="1"/>
            <a:r>
              <a:rPr lang="en-US" dirty="0"/>
              <a:t>No improvement </a:t>
            </a:r>
          </a:p>
          <a:p>
            <a:pPr lvl="1"/>
            <a:r>
              <a:rPr lang="en-US" dirty="0"/>
              <a:t>No difference from claimed value</a:t>
            </a:r>
          </a:p>
          <a:p>
            <a:pPr lvl="1"/>
            <a:r>
              <a:rPr lang="en-US" dirty="0"/>
              <a:t>So “Null” = Zero change / Status quo.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8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66319-147C-D4ED-68E7-C0573F750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4AD0DCD0-F42D-3009-053C-83576D0FA21F}"/>
              </a:ext>
            </a:extLst>
          </p:cNvPr>
          <p:cNvSpPr/>
          <p:nvPr/>
        </p:nvSpPr>
        <p:spPr>
          <a:xfrm>
            <a:off x="1396325" y="1230389"/>
            <a:ext cx="9399351" cy="4397223"/>
          </a:xfrm>
          <a:prstGeom prst="horizontalScroll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u="sng" dirty="0">
                <a:solidFill>
                  <a:schemeClr val="accent6">
                    <a:lumMod val="75000"/>
                  </a:schemeClr>
                </a:solidFill>
              </a:rPr>
              <a:t>Question</a:t>
            </a:r>
          </a:p>
          <a:p>
            <a:pPr algn="ctr"/>
            <a:endParaRPr lang="en-US" sz="2800" b="1" u="sng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In statistics, we do not assume only one possibility.</a:t>
            </a: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Along with the claim, we also consider its opposite.</a:t>
            </a:r>
          </a:p>
          <a:p>
            <a:pPr algn="ctr"/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That opposite statement is the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Alternative Hypothesis.</a:t>
            </a:r>
          </a:p>
        </p:txBody>
      </p:sp>
    </p:spTree>
    <p:extLst>
      <p:ext uri="{BB962C8B-B14F-4D97-AF65-F5344CB8AC3E}">
        <p14:creationId xmlns:p14="http://schemas.microsoft.com/office/powerpoint/2010/main" val="162018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3AF2B-7587-794A-270A-453AD3C95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5CDE9-4540-A4B8-7AB7-95FE102D6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Hypothesis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BF1687-2EB0-1F26-BA04-6CA12096B7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884151"/>
              </a:xfrm>
            </p:spPr>
            <p:txBody>
              <a:bodyPr/>
              <a:lstStyle/>
              <a:p>
                <a:r>
                  <a:rPr lang="en-US" dirty="0"/>
                  <a:t>Alternative Hypothesis is a statistical statement that contradicts the null hypothesis and represents the claim we want to test or support using sample evidence.</a:t>
                </a:r>
              </a:p>
              <a:p>
                <a:pPr lvl="1"/>
                <a:r>
                  <a:rPr lang="en-US" dirty="0"/>
                  <a:t>In other words</a:t>
                </a:r>
              </a:p>
              <a:p>
                <a:pPr lvl="2"/>
                <a:r>
                  <a:rPr lang="en-US" dirty="0"/>
                  <a:t>Alternative hypothesis represents the possibility that the population parameter is different from what is stated in the null hypothesis.</a:t>
                </a:r>
              </a:p>
              <a:p>
                <a:r>
                  <a:rPr lang="en-US" dirty="0"/>
                  <a:t>It is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IN" dirty="0"/>
                  <a:t>.</a:t>
                </a:r>
              </a:p>
              <a:p>
                <a:r>
                  <a:rPr lang="en-US" dirty="0"/>
                  <a:t>Note that, Alternate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either in the form of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less than</a:t>
                </a:r>
                <a:r>
                  <a:rPr lang="en-US" dirty="0"/>
                  <a:t> OR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greater than</a:t>
                </a:r>
                <a:r>
                  <a:rPr lang="en-US" dirty="0"/>
                  <a:t> OR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not equal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BF1687-2EB0-1F26-BA04-6CA12096B7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884151"/>
              </a:xfrm>
              <a:blipFill>
                <a:blip r:embed="rId2"/>
                <a:stretch>
                  <a:fillRect l="-971" r="-1074" b="-12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67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20D28-A4F7-F77C-FC92-77FA8A191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3CD3A-DD09-EF02-6485-2BB15592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Types of Alternative Hypothesis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7C7715-1387-6ED8-308C-AACEED1537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Two - Tailed Alternative Hypothesis</a:t>
                </a:r>
              </a:p>
              <a:p>
                <a:pPr lvl="1"/>
                <a:r>
                  <a:rPr lang="en-IN" dirty="0"/>
                  <a:t>Mathematical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dirty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dirty="0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IN" dirty="0" smtClean="0">
                        <a:latin typeface="Cambria Math" panose="02040503050406030204" pitchFamily="18" charset="0"/>
                      </a:rPr>
                      <m:t>𝛉</m:t>
                    </m:r>
                    <m:r>
                      <a:rPr lang="en-IN" dirty="0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dirty="0" smtClean="0">
                            <a:latin typeface="Cambria Math" panose="02040503050406030204" pitchFamily="18" charset="0"/>
                          </a:rPr>
                          <m:t>𝛉</m:t>
                        </m:r>
                      </m:e>
                      <m:sub>
                        <m:r>
                          <a:rPr lang="en-IN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l-GR" dirty="0"/>
                  <a:t>	​</a:t>
                </a:r>
                <a:endParaRPr lang="en-IN" dirty="0"/>
              </a:p>
              <a:p>
                <a:pPr lvl="1"/>
                <a:r>
                  <a:rPr lang="en-US" dirty="0"/>
                  <a:t>Meaning : </a:t>
                </a:r>
              </a:p>
              <a:p>
                <a:pPr lvl="2"/>
                <a:r>
                  <a:rPr lang="en-US" dirty="0"/>
                  <a:t>The population parameter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different</a:t>
                </a:r>
                <a:r>
                  <a:rPr lang="en-US" dirty="0"/>
                  <a:t> from the specified value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dirty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It checks for deviation in </a:t>
                </a:r>
                <a:r>
                  <a:rPr lang="en-US" b="1" dirty="0"/>
                  <a:t>both directions</a:t>
                </a:r>
                <a:r>
                  <a:rPr lang="en-US" dirty="0"/>
                  <a:t>:</a:t>
                </a:r>
              </a:p>
              <a:p>
                <a:pPr lvl="2"/>
                <a:r>
                  <a:rPr lang="en-US" dirty="0"/>
                  <a:t>greater than, </a:t>
                </a:r>
              </a:p>
              <a:p>
                <a:pPr lvl="2"/>
                <a:r>
                  <a:rPr lang="en-US" dirty="0"/>
                  <a:t>or less than the hypothesized value.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7C7715-1387-6ED8-308C-AACEED1537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82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16982-A61F-F1FA-AD98-1E46ADB32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F6E49-3C22-9568-1F13-3B067DD29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Types of Alternative Hypothesis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25097-F474-94BE-F8A0-62B843DE0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11201"/>
            <a:ext cx="11928475" cy="5524230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Two - Tailed Alternative Hypothesis</a:t>
            </a:r>
          </a:p>
          <a:p>
            <a:pPr lvl="1"/>
            <a:r>
              <a:rPr lang="en-US" b="1" dirty="0"/>
              <a:t>Research Question</a:t>
            </a:r>
          </a:p>
          <a:p>
            <a:pPr lvl="2"/>
            <a:r>
              <a:rPr lang="en-US" dirty="0"/>
              <a:t>Does a new teaching method change students’ academic performance?</a:t>
            </a:r>
          </a:p>
          <a:p>
            <a:pPr lvl="1"/>
            <a:r>
              <a:rPr lang="en-US" b="1" dirty="0"/>
              <a:t>Null Hypothesis (H₀)</a:t>
            </a:r>
          </a:p>
          <a:p>
            <a:pPr lvl="2"/>
            <a:r>
              <a:rPr lang="en-US" dirty="0"/>
              <a:t>The new teaching method does </a:t>
            </a:r>
            <a:r>
              <a:rPr lang="en-US" b="1" dirty="0"/>
              <a:t>not affect </a:t>
            </a:r>
            <a:r>
              <a:rPr lang="en-US" dirty="0"/>
              <a:t>students’ academic performance.</a:t>
            </a:r>
          </a:p>
          <a:p>
            <a:pPr lvl="1"/>
            <a:r>
              <a:rPr lang="en-US" b="1" dirty="0"/>
              <a:t>Alternative Hypothesis (H₁)</a:t>
            </a:r>
          </a:p>
          <a:p>
            <a:pPr lvl="2"/>
            <a:r>
              <a:rPr lang="en-US" dirty="0"/>
              <a:t>The new teaching method </a:t>
            </a:r>
            <a:r>
              <a:rPr lang="en-US" b="1" dirty="0"/>
              <a:t>affects</a:t>
            </a:r>
            <a:r>
              <a:rPr lang="en-US" dirty="0"/>
              <a:t> students’ academic performance.</a:t>
            </a:r>
          </a:p>
          <a:p>
            <a:pPr lvl="2"/>
            <a:r>
              <a:rPr lang="en-US" dirty="0"/>
              <a:t>Meaning: Performance may increase or decrease.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0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84C1F-5F1C-03F5-DACD-5894CE2CB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38C1-C6EC-0BA7-BC05-81E6A1911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Types of Alternative Hypothesis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EEF928-7EB6-1434-FF20-47C2E2F2AB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1"/>
                <a:ext cx="11928475" cy="3530060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Right - Tailed Alternative Hypothesis</a:t>
                </a:r>
              </a:p>
              <a:p>
                <a:pPr lvl="1"/>
                <a:r>
                  <a:rPr lang="en-IN" dirty="0"/>
                  <a:t>Mathematical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dirty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dirty="0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IN" dirty="0" smtClean="0">
                        <a:latin typeface="Cambria Math" panose="02040503050406030204" pitchFamily="18" charset="0"/>
                      </a:rPr>
                      <m:t>𝛉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dirty="0" smtClean="0">
                            <a:latin typeface="Cambria Math" panose="02040503050406030204" pitchFamily="18" charset="0"/>
                          </a:rPr>
                          <m:t>𝛉</m:t>
                        </m:r>
                      </m:e>
                      <m:sub>
                        <m:r>
                          <a:rPr lang="en-IN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l-GR" dirty="0"/>
                  <a:t>	​</a:t>
                </a:r>
                <a:endParaRPr lang="en-IN" dirty="0"/>
              </a:p>
              <a:p>
                <a:pPr lvl="1"/>
                <a:r>
                  <a:rPr lang="en-US" dirty="0"/>
                  <a:t>Meaning : </a:t>
                </a:r>
              </a:p>
              <a:p>
                <a:pPr lvl="2"/>
                <a:r>
                  <a:rPr lang="en-US" dirty="0"/>
                  <a:t>The population parameter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greater than</a:t>
                </a:r>
                <a:r>
                  <a:rPr lang="en-US" dirty="0"/>
                  <a:t> the specified value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dirty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 test investigates whether the parameter shows a significant </a:t>
                </a:r>
                <a:r>
                  <a:rPr lang="en-US" b="1" dirty="0"/>
                  <a:t>increase</a:t>
                </a:r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EEF928-7EB6-1434-FF20-47C2E2F2AB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1"/>
                <a:ext cx="11928475" cy="3530060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114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7FD2A-663D-DA7E-9253-D75CD56F0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BCC07-D7D2-209D-D9A3-EB79A7597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Types of Alternative Hypothesis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32778-47DD-6A04-50C6-E13A0741A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11200"/>
            <a:ext cx="11928475" cy="5747965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Right - Tailed Alternative Hypothesis</a:t>
            </a:r>
          </a:p>
          <a:p>
            <a:pPr lvl="1"/>
            <a:r>
              <a:rPr lang="en-IN" b="1" dirty="0"/>
              <a:t>Research Question</a:t>
            </a:r>
          </a:p>
          <a:p>
            <a:pPr lvl="2"/>
            <a:r>
              <a:rPr lang="en-IN" dirty="0"/>
              <a:t>Does regular coding practice improve programming skills?</a:t>
            </a:r>
          </a:p>
          <a:p>
            <a:pPr lvl="1"/>
            <a:r>
              <a:rPr lang="en-IN" b="1" dirty="0"/>
              <a:t>Null Hypothesis (H₀)</a:t>
            </a:r>
          </a:p>
          <a:p>
            <a:pPr lvl="2"/>
            <a:r>
              <a:rPr lang="en-IN" dirty="0"/>
              <a:t>Regular coding practice does</a:t>
            </a:r>
            <a:r>
              <a:rPr lang="en-IN" b="1" dirty="0"/>
              <a:t> not improve</a:t>
            </a:r>
            <a:r>
              <a:rPr lang="en-IN" dirty="0"/>
              <a:t> programming skills.</a:t>
            </a:r>
          </a:p>
          <a:p>
            <a:pPr lvl="1"/>
            <a:r>
              <a:rPr lang="en-IN" b="1" dirty="0"/>
              <a:t>Alternative Hypothesis (H₁)</a:t>
            </a:r>
          </a:p>
          <a:p>
            <a:pPr lvl="2"/>
            <a:r>
              <a:rPr lang="en-IN" dirty="0"/>
              <a:t>Regular coding practice </a:t>
            </a:r>
            <a:r>
              <a:rPr lang="en-IN" b="1" dirty="0"/>
              <a:t>improves</a:t>
            </a:r>
            <a:r>
              <a:rPr lang="en-IN" dirty="0"/>
              <a:t> programming skills. </a:t>
            </a:r>
          </a:p>
          <a:p>
            <a:pPr lvl="2"/>
            <a:r>
              <a:rPr lang="en-IN" dirty="0"/>
              <a:t>Meaning: We are checking only increase/improvement.</a:t>
            </a:r>
          </a:p>
        </p:txBody>
      </p:sp>
    </p:spTree>
    <p:extLst>
      <p:ext uri="{BB962C8B-B14F-4D97-AF65-F5344CB8AC3E}">
        <p14:creationId xmlns:p14="http://schemas.microsoft.com/office/powerpoint/2010/main" val="342645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49A3E-C337-B991-D31A-5602524DF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CAE6-EE67-A60C-ED0A-2609475EB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Types of Alternative Hypothesis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B40A88-FBB8-4F93-B7D3-F3B5D2E36A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816059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Left - Tailed Alternative Hypothesis</a:t>
                </a:r>
              </a:p>
              <a:p>
                <a:pPr lvl="1"/>
                <a:r>
                  <a:rPr lang="en-IN" dirty="0"/>
                  <a:t>Mathematical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dirty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dirty="0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IN" dirty="0" smtClean="0">
                        <a:latin typeface="Cambria Math" panose="02040503050406030204" pitchFamily="18" charset="0"/>
                      </a:rPr>
                      <m:t>𝛉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dirty="0" smtClean="0">
                            <a:latin typeface="Cambria Math" panose="02040503050406030204" pitchFamily="18" charset="0"/>
                          </a:rPr>
                          <m:t>𝛉</m:t>
                        </m:r>
                      </m:e>
                      <m:sub>
                        <m:r>
                          <a:rPr lang="en-IN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l-GR" dirty="0"/>
                  <a:t>	​</a:t>
                </a:r>
                <a:endParaRPr lang="en-IN" dirty="0"/>
              </a:p>
              <a:p>
                <a:pPr lvl="1"/>
                <a:r>
                  <a:rPr lang="en-US" dirty="0"/>
                  <a:t>Meaning : </a:t>
                </a:r>
              </a:p>
              <a:p>
                <a:pPr lvl="2"/>
                <a:r>
                  <a:rPr lang="en-US" dirty="0"/>
                  <a:t>The population parameter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less than</a:t>
                </a:r>
                <a:r>
                  <a:rPr lang="en-US" dirty="0"/>
                  <a:t> the specified value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dirty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 test investigates whether the parameter shows a significant </a:t>
                </a:r>
                <a:r>
                  <a:rPr lang="en-US" b="1" dirty="0"/>
                  <a:t>decrease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B40A88-FBB8-4F93-B7D3-F3B5D2E36A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816059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839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D4A34-F288-8CD4-26B5-06E3CE255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544C7-4604-8D3F-095E-DC7863C2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Types of Alternative Hypothesis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8579A-B7FE-4CAB-8A9A-C473266E4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63" y="711200"/>
            <a:ext cx="11928475" cy="5816059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Left - Tailed Alternative Hypothesis</a:t>
            </a:r>
          </a:p>
          <a:p>
            <a:pPr lvl="1"/>
            <a:r>
              <a:rPr lang="en-IN" b="1" dirty="0"/>
              <a:t>Research Question</a:t>
            </a:r>
          </a:p>
          <a:p>
            <a:pPr lvl="2"/>
            <a:r>
              <a:rPr lang="en-IN" dirty="0"/>
              <a:t>Does prolonged screen time reduce students’ concentration level?</a:t>
            </a:r>
          </a:p>
          <a:p>
            <a:pPr lvl="1"/>
            <a:r>
              <a:rPr lang="en-IN" b="1" dirty="0"/>
              <a:t>Null Hypothesis (H₀)</a:t>
            </a:r>
          </a:p>
          <a:p>
            <a:pPr lvl="2"/>
            <a:r>
              <a:rPr lang="en-IN" dirty="0"/>
              <a:t>Prolonged screen time does not reduce concentration level.</a:t>
            </a:r>
          </a:p>
          <a:p>
            <a:pPr lvl="1"/>
            <a:r>
              <a:rPr lang="en-IN" b="1" dirty="0"/>
              <a:t>Alternative Hypothesis (H₁)</a:t>
            </a:r>
          </a:p>
          <a:p>
            <a:pPr lvl="2"/>
            <a:r>
              <a:rPr lang="en-IN" dirty="0"/>
              <a:t>Prolonged screen time reduces concentration level.</a:t>
            </a:r>
          </a:p>
          <a:p>
            <a:pPr lvl="2"/>
            <a:r>
              <a:rPr lang="en-IN" dirty="0"/>
              <a:t>Meaning: We are checking only decrease.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26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D2971-BD89-0BA8-DEA8-6B8D08D09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normal distribution appears in hypothesis testing?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FCE52-FE51-816D-058E-DBA409B5E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 dirty="0"/>
              <a:t>In hypothesis testing, we do not test the population directly.</a:t>
            </a:r>
          </a:p>
          <a:p>
            <a:pPr lvl="1"/>
            <a:r>
              <a:rPr lang="en-US" dirty="0"/>
              <a:t>Instead, we test sample statistics like sample mean or proportion.</a:t>
            </a:r>
          </a:p>
          <a:p>
            <a:r>
              <a:rPr lang="en-US" dirty="0"/>
              <a:t>According to the Central Limit Theorem, when the sample size is sufficiently large:</a:t>
            </a:r>
          </a:p>
          <a:p>
            <a:pPr marL="0" indent="0" algn="ctr">
              <a:buNone/>
            </a:pPr>
            <a:r>
              <a:rPr lang="en-US" b="1" dirty="0"/>
              <a:t>Distribution of sample mean becomes approximately Normal even if the original population is not normal.</a:t>
            </a:r>
            <a:endParaRPr lang="en-IN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7291F6-1E85-F147-E90F-D2839FF2E06B}"/>
                  </a:ext>
                </a:extLst>
              </p14:cNvPr>
              <p14:cNvContentPartPr/>
              <p14:nvPr/>
            </p14:nvContentPartPr>
            <p14:xfrm>
              <a:off x="335880" y="722520"/>
              <a:ext cx="2391840" cy="2940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7291F6-1E85-F147-E90F-D2839FF2E0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6520" y="713160"/>
                <a:ext cx="2410560" cy="295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29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34B36-D505-9A9E-ADA5-6766BB878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4AAE-7340-CDF2-CEC2-86320DE37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normal distribution appears in hypothesis testing?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4B5708-0768-AD61-02A3-8F9EFADA89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Why not other distributions?</a:t>
                </a:r>
              </a:p>
              <a:p>
                <a:pPr lvl="1"/>
                <a:r>
                  <a:rPr lang="en-US" dirty="0"/>
                  <a:t>Because normal distribution has properties ideal for testing:</a:t>
                </a:r>
              </a:p>
              <a:p>
                <a:pPr lvl="2"/>
                <a:r>
                  <a:rPr lang="en-US" dirty="0"/>
                  <a:t>Symmetric around mean</a:t>
                </a:r>
              </a:p>
              <a:p>
                <a:pPr lvl="2"/>
                <a:r>
                  <a:rPr lang="en-US" dirty="0"/>
                  <a:t>Predictable probability areas</a:t>
                </a:r>
              </a:p>
              <a:p>
                <a:pPr lvl="2"/>
                <a:r>
                  <a:rPr lang="en-US" dirty="0"/>
                  <a:t>Easy standardization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dirty="0"/>
                  <a:t>-score</a:t>
                </a:r>
              </a:p>
              <a:p>
                <a:pPr lvl="2"/>
                <a:r>
                  <a:rPr lang="en-US" dirty="0"/>
                  <a:t>Works even when population distribution is unknown</a:t>
                </a:r>
              </a:p>
              <a:p>
                <a:r>
                  <a:rPr lang="en-US" dirty="0"/>
                  <a:t>Other distributions do not provide this universal behavior.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4B5708-0768-AD61-02A3-8F9EFADA89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2646E2F-A0E3-5B96-D32F-17EB6EFC10CE}"/>
                  </a:ext>
                </a:extLst>
              </p14:cNvPr>
              <p14:cNvContentPartPr/>
              <p14:nvPr/>
            </p14:nvContentPartPr>
            <p14:xfrm>
              <a:off x="5882400" y="57996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2646E2F-A0E3-5B96-D32F-17EB6EFC10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73040" y="57060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9966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9D804-A284-D83A-8390-C5091E332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851B5917-9025-77EA-5A41-0FECC2D1E742}"/>
              </a:ext>
            </a:extLst>
          </p:cNvPr>
          <p:cNvSpPr/>
          <p:nvPr/>
        </p:nvSpPr>
        <p:spPr>
          <a:xfrm>
            <a:off x="1396325" y="1230389"/>
            <a:ext cx="9399351" cy="4397223"/>
          </a:xfrm>
          <a:prstGeom prst="horizontalScroll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u="sng" dirty="0">
                <a:solidFill>
                  <a:schemeClr val="accent6">
                    <a:lumMod val="75000"/>
                  </a:schemeClr>
                </a:solidFill>
              </a:rPr>
              <a:t>Question</a:t>
            </a:r>
          </a:p>
          <a:p>
            <a:pPr algn="ctr"/>
            <a:endParaRPr lang="en-US" sz="2800" b="1" u="sng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When we make decisions using only sample data, is there a chance of making mistakes? — Yes</a:t>
            </a:r>
          </a:p>
          <a:p>
            <a:pPr algn="ctr"/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 This leads to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Errors due to Sampling.</a:t>
            </a:r>
            <a:endParaRPr lang="en-IN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20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8C7E-BB07-E0E5-1409-51D9BA4A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Errors in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F55299-1E17-893E-0A47-44B95EC686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When we study a population using only a sample, the result obtained from the sample will almost never be exactly equal to the true population value.</a:t>
                </a:r>
              </a:p>
              <a:p>
                <a:r>
                  <a:rPr lang="en-US" dirty="0"/>
                  <a:t>The difference that arises due to observing only a part instead of the whole population is called </a:t>
                </a:r>
                <a:r>
                  <a:rPr lang="en-US" b="1" dirty="0"/>
                  <a:t>Sampling Error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𝐒𝐚𝐦𝐩𝐥𝐢𝐧𝐠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𝐄𝐫𝐫𝐨𝐫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𝐒𝐚𝐦𝐩𝐥𝐞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𝐕𝐚𝐥𝐮𝐞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𝐏𝐨𝐩𝐮𝐥𝐚𝐭𝐢𝐨𝐧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𝐕𝐚𝐥𝐮𝐞</m:t>
                      </m:r>
                    </m:oMath>
                  </m:oMathPara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F55299-1E17-893E-0A47-44B95EC686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24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9877F-14B3-E9DF-75E4-1F1978E8D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94A03040-C798-E30E-76AD-BB1F980A7BCD}"/>
              </a:ext>
            </a:extLst>
          </p:cNvPr>
          <p:cNvSpPr/>
          <p:nvPr/>
        </p:nvSpPr>
        <p:spPr>
          <a:xfrm>
            <a:off x="1396325" y="1230389"/>
            <a:ext cx="9399351" cy="4397223"/>
          </a:xfrm>
          <a:prstGeom prst="horizontalScroll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u="sng" dirty="0">
                <a:solidFill>
                  <a:schemeClr val="accent6">
                    <a:lumMod val="75000"/>
                  </a:schemeClr>
                </a:solidFill>
              </a:rPr>
              <a:t>Question</a:t>
            </a:r>
          </a:p>
          <a:p>
            <a:pPr algn="ctr"/>
            <a:endParaRPr lang="en-US" sz="2800" b="1" u="sng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Because of Sampling Error, the result of one sample may be slightly different from another sample.</a:t>
            </a: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How much variation can occur in sample results?</a:t>
            </a:r>
          </a:p>
          <a:p>
            <a:pPr algn="ctr"/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This variation is measured using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Standard Error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.</a:t>
            </a:r>
            <a:endParaRPr lang="en-IN" sz="2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60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3786A-F567-0EC9-D019-69CF7C408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032A1-2C01-C58E-8ECE-B264D899C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Error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2D5D9-CE03-D13D-3698-C3A155EAF0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dirty="0"/>
                  <a:t>When we take different samples from the same population, the sample statistic changes slightly each time.</a:t>
                </a:r>
              </a:p>
              <a:p>
                <a:pPr lvl="1"/>
                <a:r>
                  <a:rPr lang="en-US" dirty="0"/>
                  <a:t>The variation of these sample statistics forms the sampling distribution.</a:t>
                </a:r>
              </a:p>
              <a:p>
                <a:pPr lvl="1"/>
                <a:r>
                  <a:rPr lang="en-US" dirty="0"/>
                  <a:t>The standard deviation of this sampling distribution is called </a:t>
                </a:r>
                <a:r>
                  <a:rPr lang="en-US" b="1" dirty="0"/>
                  <a:t>Standard Error</a:t>
                </a:r>
                <a:r>
                  <a:rPr lang="en-US" dirty="0"/>
                  <a:t>.</a:t>
                </a:r>
              </a:p>
              <a:p>
                <a:pPr algn="ctr"/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Standard Error is the standard deviation of the sampling distribution of a statistic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Standard Error measures how much a sample statistic varies from sample to sample.</a:t>
                </a:r>
              </a:p>
              <a:p>
                <a:pPr lvl="1"/>
                <a:r>
                  <a:rPr lang="en-US" dirty="0"/>
                  <a:t>Standard Error of sample statistic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 is denoted by 𝐒𝐄(𝐭) and read as “standard error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dirty="0"/>
                  <a:t>”.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D2D5D9-CE03-D13D-3698-C3A155EAF0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 b="-27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317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6A40C-4767-5E02-023B-66D848B2A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1C8B-19DC-0828-7434-618FD601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Error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31A295-AA86-3D6E-AC7E-1E722BBB7C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b="1" dirty="0">
                    <a:solidFill>
                      <a:srgbClr val="1F3B73"/>
                    </a:solidFill>
                  </a:rPr>
                  <a:t>Example:</a:t>
                </a: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Suppose a population of exam scores has population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a:rPr lang="en-US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We take samples of 5 students.	</a:t>
                </a: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Sample 1: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68, 72, 70, 69, 71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 Sample mean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=70</m:t>
                    </m:r>
                  </m:oMath>
                </a14:m>
                <a:endParaRPr lang="en-IN" dirty="0">
                  <a:solidFill>
                    <a:srgbClr val="002060"/>
                  </a:solidFill>
                </a:endParaRP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Sample 2: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65, 74, 69, 72, 70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 Sample mean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=70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Sample 1: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7</m:t>
                    </m:r>
                    <m:r>
                      <a:rPr lang="en-IN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7</m:t>
                    </m:r>
                    <m:r>
                      <a:rPr lang="en-IN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6</m:t>
                    </m:r>
                    <m:r>
                      <a:rPr lang="en-IN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69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 Sample mean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69.6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2"/>
                <a:r>
                  <a:rPr lang="en-US" dirty="0">
                    <a:solidFill>
                      <a:srgbClr val="002060"/>
                    </a:solidFill>
                  </a:rPr>
                  <a:t>Sample 1: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7</m:t>
                    </m:r>
                    <m:r>
                      <a:rPr lang="en-IN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69</m:t>
                    </m:r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 71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  Sample mean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=7</m:t>
                    </m:r>
                    <m:r>
                      <a:rPr lang="en-IN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1.2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So, the sample mean is not exactly the same every time.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31A295-AA86-3D6E-AC7E-1E722BBB7C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814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AEDA3-CE3D-6654-CDF3-0C5ABB11F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95A5-AB0D-CC5F-7A99-204D16907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Error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2C399-FA03-F0DA-3373-7C92919B2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1934721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1F3B73"/>
                </a:solidFill>
              </a:rPr>
              <a:t>Example:</a:t>
            </a:r>
          </a:p>
          <a:p>
            <a:pPr lvl="1"/>
            <a:r>
              <a:rPr lang="en-US" dirty="0"/>
              <a:t>These sample means form the sampling distribution.</a:t>
            </a:r>
          </a:p>
          <a:p>
            <a:pPr lvl="1"/>
            <a:r>
              <a:rPr lang="en-US" dirty="0"/>
              <a:t>Sampling Distribution: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5B7ED3F5-841E-A0C3-C1E7-5804227D0D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4058501"/>
                  </p:ext>
                </p:extLst>
              </p:nvPr>
            </p:nvGraphicFramePr>
            <p:xfrm>
              <a:off x="2034161" y="2722123"/>
              <a:ext cx="8123678" cy="259080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4061839">
                      <a:extLst>
                        <a:ext uri="{9D8B030D-6E8A-4147-A177-3AD203B41FA5}">
                          <a16:colId xmlns:a16="http://schemas.microsoft.com/office/drawing/2014/main" val="1661228722"/>
                        </a:ext>
                      </a:extLst>
                    </a:gridCol>
                    <a:gridCol w="4061839">
                      <a:extLst>
                        <a:ext uri="{9D8B030D-6E8A-4147-A177-3AD203B41FA5}">
                          <a16:colId xmlns:a16="http://schemas.microsoft.com/office/drawing/2014/main" val="158322787"/>
                        </a:ext>
                      </a:extLst>
                    </a:gridCol>
                  </a:tblGrid>
                  <a:tr h="46692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Sample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Sample Mean</a:t>
                          </a:r>
                          <a:endParaRPr lang="en-IN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98261869"/>
                      </a:ext>
                    </a:extLst>
                  </a:tr>
                  <a:tr h="46692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0" kern="120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70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46104549"/>
                      </a:ext>
                    </a:extLst>
                  </a:tr>
                  <a:tr h="46692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0" kern="120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0" kern="120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70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43065144"/>
                      </a:ext>
                    </a:extLst>
                  </a:tr>
                  <a:tr h="46692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0" kern="120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0" kern="120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69.6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21697497"/>
                      </a:ext>
                    </a:extLst>
                  </a:tr>
                  <a:tr h="46692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kern="120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0" i="1" kern="120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71.2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836589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5B7ED3F5-841E-A0C3-C1E7-5804227D0D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24058501"/>
                  </p:ext>
                </p:extLst>
              </p:nvPr>
            </p:nvGraphicFramePr>
            <p:xfrm>
              <a:off x="2034161" y="2722123"/>
              <a:ext cx="8123678" cy="259080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4061839">
                      <a:extLst>
                        <a:ext uri="{9D8B030D-6E8A-4147-A177-3AD203B41FA5}">
                          <a16:colId xmlns:a16="http://schemas.microsoft.com/office/drawing/2014/main" val="1661228722"/>
                        </a:ext>
                      </a:extLst>
                    </a:gridCol>
                    <a:gridCol w="4061839">
                      <a:extLst>
                        <a:ext uri="{9D8B030D-6E8A-4147-A177-3AD203B41FA5}">
                          <a16:colId xmlns:a16="http://schemas.microsoft.com/office/drawing/2014/main" val="15832278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Sample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Sample Mean</a:t>
                          </a:r>
                          <a:endParaRPr lang="en-IN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9826186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" t="-110588" r="-100300" b="-3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150" t="-110588" r="-300" b="-3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610454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" t="-208140" r="-1003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150" t="-208140" r="-30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06514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" t="-311765" r="-100300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150" t="-311765" r="-300" b="-1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169749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" t="-411765" r="-100300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150" t="-411765" r="-300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36589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D3F6400-7078-5B7C-6EF0-83F75F41E9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9" y="5312923"/>
                <a:ext cx="9645118" cy="7774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en-US" dirty="0">
                    <a:solidFill>
                      <a:srgbClr val="002060"/>
                    </a:solidFill>
                  </a:rPr>
                  <a:t>These values vary slightly around the population mean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70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D3F6400-7078-5B7C-6EF0-83F75F41E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9" y="5312923"/>
                <a:ext cx="9645118" cy="777490"/>
              </a:xfrm>
              <a:prstGeom prst="rect">
                <a:avLst/>
              </a:prstGeom>
              <a:blipFill>
                <a:blip r:embed="rId3"/>
                <a:stretch>
                  <a:fillRect b="-78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5AE696-722F-4399-C530-9446F6AA9F1A}"/>
              </a:ext>
            </a:extLst>
          </p:cNvPr>
          <p:cNvSpPr txBox="1">
            <a:spLocks/>
          </p:cNvSpPr>
          <p:nvPr/>
        </p:nvSpPr>
        <p:spPr>
          <a:xfrm>
            <a:off x="131179" y="5873884"/>
            <a:ext cx="11785204" cy="7774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The standard deviation of these sample means is called Standard Error.</a:t>
            </a:r>
          </a:p>
        </p:txBody>
      </p:sp>
    </p:spTree>
    <p:extLst>
      <p:ext uri="{BB962C8B-B14F-4D97-AF65-F5344CB8AC3E}">
        <p14:creationId xmlns:p14="http://schemas.microsoft.com/office/powerpoint/2010/main" val="269265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uiExpand="1" build="p"/>
      <p:bldP spid="5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36268-4298-1A94-5F01-81B0370C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9DC3E-0904-1893-FD5B-63DC437F4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Error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F44D4-C3A8-42B6-21BF-3DA6528C0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8675"/>
            <a:ext cx="11929641" cy="5797855"/>
          </a:xfrm>
        </p:spPr>
        <p:txBody>
          <a:bodyPr/>
          <a:lstStyle/>
          <a:p>
            <a:pPr lvl="0">
              <a:lnSpc>
                <a:spcPct val="135000"/>
              </a:lnSpc>
            </a:pPr>
            <a:r>
              <a:rPr lang="en-US" b="1" dirty="0"/>
              <a:t>Core idea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Standard Error measures how much a sample statistic varies from sample to sample due to random sampling.</a:t>
            </a:r>
          </a:p>
          <a:p>
            <a:pPr lvl="0">
              <a:lnSpc>
                <a:spcPct val="135000"/>
              </a:lnSpc>
            </a:pPr>
            <a:r>
              <a:rPr lang="en-US" b="1" dirty="0"/>
              <a:t>Relation with population parameter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Since the sampling distribution of the statistic is centered at the true population parameter, the sample statistics fluctuate around that true value. </a:t>
            </a:r>
          </a:p>
          <a:p>
            <a:pPr lvl="0">
              <a:lnSpc>
                <a:spcPct val="135000"/>
              </a:lnSpc>
            </a:pPr>
            <a:r>
              <a:rPr lang="en-US" b="1" dirty="0"/>
              <a:t>Final Interpretation</a:t>
            </a:r>
          </a:p>
          <a:p>
            <a:pPr lvl="1">
              <a:lnSpc>
                <a:spcPct val="135000"/>
              </a:lnSpc>
            </a:pPr>
            <a:r>
              <a:rPr lang="en-US" dirty="0"/>
              <a:t>Standard Error measures the variability of a sample statistic from sample to sample and indicates how close it is likely to be to the true population parameter.</a:t>
            </a:r>
          </a:p>
        </p:txBody>
      </p:sp>
    </p:spTree>
    <p:extLst>
      <p:ext uri="{BB962C8B-B14F-4D97-AF65-F5344CB8AC3E}">
        <p14:creationId xmlns:p14="http://schemas.microsoft.com/office/powerpoint/2010/main" val="263632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D6A54-7AB4-14D5-28E1-075D5A965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08FCB-5EED-6CBB-6156-7B2C75E10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Error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4E08D-64B9-22BE-F6C0-92E9F2EAF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8675"/>
            <a:ext cx="11929641" cy="5797855"/>
          </a:xfrm>
        </p:spPr>
        <p:txBody>
          <a:bodyPr/>
          <a:lstStyle/>
          <a:p>
            <a:r>
              <a:rPr lang="en-US" dirty="0"/>
              <a:t>Important Idea</a:t>
            </a:r>
          </a:p>
          <a:p>
            <a:pPr lvl="1"/>
            <a:r>
              <a:rPr lang="en-US" dirty="0"/>
              <a:t>Small SE → sample mean is very close to population mean (more reliable).</a:t>
            </a:r>
          </a:p>
          <a:p>
            <a:pPr lvl="1"/>
            <a:r>
              <a:rPr lang="en-US" dirty="0"/>
              <a:t>Large SE → sample mean may be far from population mean (less reliable).</a:t>
            </a:r>
          </a:p>
          <a:p>
            <a:r>
              <a:rPr lang="en-US" dirty="0"/>
              <a:t>Think like this:</a:t>
            </a:r>
          </a:p>
          <a:p>
            <a:pPr lvl="1"/>
            <a:r>
              <a:rPr lang="en-US" dirty="0"/>
              <a:t>Standard Deviation (SD) → variation among individual data values</a:t>
            </a:r>
          </a:p>
          <a:p>
            <a:pPr lvl="1"/>
            <a:r>
              <a:rPr lang="en-US" dirty="0"/>
              <a:t>Standard Error (SE) → variation of sample statistics</a:t>
            </a:r>
          </a:p>
        </p:txBody>
      </p:sp>
    </p:spTree>
    <p:extLst>
      <p:ext uri="{BB962C8B-B14F-4D97-AF65-F5344CB8AC3E}">
        <p14:creationId xmlns:p14="http://schemas.microsoft.com/office/powerpoint/2010/main" val="260450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54BF1-1EBF-3EA6-EE30-80ABF016F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9ADF6-9CEA-CE3F-E8BA-5C7B49BA4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Error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1F56AF-D307-ED1C-8CE7-9FF1D75896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dirty="0"/>
                  <a:t>If population standard deviation is unknown (which usually happens):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SE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dirty="0"/>
              </a:p>
              <a:p>
                <a:pPr marL="273050" lvl="0" indent="0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Sample standard deviation</a:t>
                </a:r>
              </a:p>
              <a:p>
                <a:pPr marL="0" lv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1F56AF-D307-ED1C-8CE7-9FF1D75896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025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B51B1-2DD3-3FF0-6B99-0F9763E4A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C734FB90-954E-0C07-801D-D3DC20FDECB7}"/>
              </a:ext>
            </a:extLst>
          </p:cNvPr>
          <p:cNvSpPr/>
          <p:nvPr/>
        </p:nvSpPr>
        <p:spPr>
          <a:xfrm>
            <a:off x="1396325" y="1230389"/>
            <a:ext cx="9399351" cy="4397223"/>
          </a:xfrm>
          <a:prstGeom prst="horizontalScroll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u="sng" dirty="0">
                <a:solidFill>
                  <a:schemeClr val="accent6">
                    <a:lumMod val="75000"/>
                  </a:schemeClr>
                </a:solidFill>
              </a:rPr>
              <a:t>Question</a:t>
            </a:r>
          </a:p>
          <a:p>
            <a:pPr algn="ctr"/>
            <a:endParaRPr lang="en-US" sz="2800" b="1" u="sng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Once the normal variation is understood, we need a way to decide whether the observed difference is real or just due to chance.</a:t>
            </a:r>
          </a:p>
          <a:p>
            <a:pPr algn="ctr"/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This leads to the concept of a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Test Statistic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.</a:t>
            </a:r>
            <a:endParaRPr lang="en-IN" sz="2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64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F1CAA-08A5-3E62-816C-D0C676AEE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F426E-8F79-4308-E721-299CBAE47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8675"/>
            <a:ext cx="11929641" cy="5797855"/>
          </a:xfrm>
        </p:spPr>
        <p:txBody>
          <a:bodyPr/>
          <a:lstStyle/>
          <a:p>
            <a:pPr lvl="0">
              <a:lnSpc>
                <a:spcPct val="145000"/>
              </a:lnSpc>
            </a:pPr>
            <a:r>
              <a:rPr lang="en-US" dirty="0"/>
              <a:t>A Test Statistic is a numerical value calculated from sample data which helps us decide whether to accept or reject the Null Hypothesis (H₀) in hypothesis testing.</a:t>
            </a:r>
          </a:p>
          <a:p>
            <a:pPr lvl="0">
              <a:lnSpc>
                <a:spcPct val="145000"/>
              </a:lnSpc>
            </a:pPr>
            <a:r>
              <a:rPr lang="en-US" dirty="0"/>
              <a:t>In simple words: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Test Statistic measures how far our sample result is from what we expect under the null hypothesis.</a:t>
            </a:r>
          </a:p>
          <a:p>
            <a:pPr>
              <a:lnSpc>
                <a:spcPct val="145000"/>
              </a:lnSpc>
            </a:pPr>
            <a:r>
              <a:rPr lang="en-US" dirty="0"/>
              <a:t>The test statistic tells:</a:t>
            </a:r>
          </a:p>
          <a:p>
            <a:pPr lvl="1">
              <a:lnSpc>
                <a:spcPct val="145000"/>
              </a:lnSpc>
            </a:pPr>
            <a:r>
              <a:rPr lang="en-US" dirty="0"/>
              <a:t>How many standard errors away the sample result is from the claimed population value.</a:t>
            </a:r>
          </a:p>
          <a:p>
            <a:pPr>
              <a:lnSpc>
                <a:spcPct val="145000"/>
              </a:lnSpc>
            </a:pPr>
            <a:r>
              <a:rPr lang="en-US" dirty="0"/>
              <a:t>So, it converts the problem into a standard measurable scale.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7B097F-BC22-5A98-A7E3-58A75367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Statistics </a:t>
            </a:r>
          </a:p>
        </p:txBody>
      </p:sp>
    </p:spTree>
    <p:extLst>
      <p:ext uri="{BB962C8B-B14F-4D97-AF65-F5344CB8AC3E}">
        <p14:creationId xmlns:p14="http://schemas.microsoft.com/office/powerpoint/2010/main" val="1583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B6468-C23C-E6DC-3113-63B0CB7DF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50B50E-44DC-870F-3B7F-0AACFA44F8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>
                  <a:lnSpc>
                    <a:spcPct val="145000"/>
                  </a:lnSpc>
                </a:pPr>
                <a:r>
                  <a:rPr lang="en-US" dirty="0"/>
                  <a:t>General Mathematical Form</a:t>
                </a:r>
              </a:p>
              <a:p>
                <a:pPr marL="0" lvl="0" indent="0">
                  <a:lnSpc>
                    <a:spcPct val="14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dirty="0" smtClean="0"/>
                        <m:t>Test</m:t>
                      </m:r>
                      <m:r>
                        <m:rPr>
                          <m:nor/>
                        </m:rPr>
                        <a:rPr lang="en-US" i="0" dirty="0" smtClean="0"/>
                        <m:t> </m:t>
                      </m:r>
                      <m:r>
                        <m:rPr>
                          <m:nor/>
                        </m:rPr>
                        <a:rPr lang="en-US" i="0" dirty="0"/>
                        <m:t>Statistic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i="0" dirty="0"/>
                            <m:t>Sample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Statistic</m:t>
                          </m:r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Hypothesized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Population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Parameter</m:t>
                          </m:r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​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b="0" i="0" dirty="0" smtClean="0"/>
                            <m:t>S</m:t>
                          </m:r>
                          <m:r>
                            <m:rPr>
                              <m:nor/>
                            </m:rPr>
                            <a:rPr lang="en-IN" i="0" dirty="0"/>
                            <m:t>tandard</m:t>
                          </m:r>
                          <m:r>
                            <m:rPr>
                              <m:nor/>
                            </m:rPr>
                            <a:rPr lang="en-IN" i="0" dirty="0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0" dirty="0" smtClean="0"/>
                            <m:t>E</m:t>
                          </m:r>
                          <m:r>
                            <m:rPr>
                              <m:nor/>
                            </m:rPr>
                            <a:rPr lang="en-IN" i="0" dirty="0"/>
                            <m:t>rror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>
                  <a:lnSpc>
                    <a:spcPct val="145000"/>
                  </a:lnSpc>
                </a:pPr>
                <a:r>
                  <a:rPr lang="en-US" dirty="0"/>
                  <a:t>It tells:</a:t>
                </a:r>
              </a:p>
              <a:p>
                <a:pPr lvl="2">
                  <a:lnSpc>
                    <a:spcPct val="145000"/>
                  </a:lnSpc>
                </a:pPr>
                <a:r>
                  <a:rPr lang="en-US" dirty="0"/>
                  <a:t>How many standard errors away the sample result is from assumed truth.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50B50E-44DC-870F-3B7F-0AACFA44F8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0B3CD06-7AAA-C212-F6E9-4CF731E2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Statistics </a:t>
            </a:r>
          </a:p>
        </p:txBody>
      </p:sp>
    </p:spTree>
    <p:extLst>
      <p:ext uri="{BB962C8B-B14F-4D97-AF65-F5344CB8AC3E}">
        <p14:creationId xmlns:p14="http://schemas.microsoft.com/office/powerpoint/2010/main" val="91153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02A61-6EC1-86CD-FFAA-09A7CD9A2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577C13-BEDB-2A88-4C76-B51A257043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dirty="0"/>
                  <a:t>If we take any statistic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</m:oMath>
                </a14:m>
                <a:r>
                  <a:rPr lang="en-US" dirty="0"/>
                  <a:t> — like:</a:t>
                </a:r>
              </a:p>
              <a:p>
                <a:pPr lvl="1"/>
                <a:r>
                  <a:rPr lang="en-US" dirty="0"/>
                  <a:t>Sample 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Sample proportion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	​</a:t>
                </a:r>
              </a:p>
              <a:p>
                <a:pPr lvl="0"/>
                <a:r>
                  <a:rPr lang="en-US" dirty="0"/>
                  <a:t>Then for a </a:t>
                </a:r>
                <a:r>
                  <a:rPr lang="en-US" b="1" dirty="0"/>
                  <a:t>large sample</a:t>
                </a:r>
                <a:r>
                  <a:rPr lang="en-US" dirty="0"/>
                  <a:t>, we can convert it into a standard normal variable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lvl="0"/>
                <a:r>
                  <a:rPr lang="en-US" b="1" dirty="0"/>
                  <a:t>Formula:</a:t>
                </a:r>
              </a:p>
              <a:p>
                <a:pPr lvl="0"/>
                <a:endParaRPr lang="en-US" b="1" dirty="0"/>
              </a:p>
              <a:p>
                <a:pPr lvl="1"/>
                <a:endParaRPr lang="en-IN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</a:t>
                </a:r>
                <a:r>
                  <a:rPr lang="en-IN" dirty="0">
                    <a:ea typeface="Cambria Math" panose="02040503050406030204" pitchFamily="18" charset="0"/>
                  </a:rPr>
                  <a:t>Expected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SE</m:t>
                    </m:r>
                    <m:d>
                      <m:dPr>
                        <m:ctrlPr>
                          <a:rPr lang="en-I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dirty="0">
                        <a:ea typeface="Cambria Math" panose="02040503050406030204" pitchFamily="18" charset="0"/>
                      </a:rPr>
                      <m:t>Standard</m:t>
                    </m:r>
                    <m:r>
                      <m:rPr>
                        <m:nor/>
                      </m:rPr>
                      <a:rPr lang="en-IN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dirty="0">
                        <a:ea typeface="Cambria Math" panose="02040503050406030204" pitchFamily="18" charset="0"/>
                      </a:rPr>
                      <m:t>error</m:t>
                    </m:r>
                    <m:r>
                      <m:rPr>
                        <m:nor/>
                      </m:rPr>
                      <a:rPr lang="en-IN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dirty="0">
                        <a:ea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IN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lang="en-IN" dirty="0"/>
              </a:p>
              <a:p>
                <a:r>
                  <a:rPr lang="en-US" dirty="0"/>
                  <a:t>Note that, formula represents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dirty="0"/>
                  <a:t>-test (for large samples).</a:t>
                </a:r>
                <a:endParaRPr lang="en-IN" dirty="0"/>
              </a:p>
              <a:p>
                <a:pPr marL="0" lv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577C13-BEDB-2A88-4C76-B51A257043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b="-27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B87DFE0-9B5E-7957-6439-6E03E22D2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Statistics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506196-D719-6E7A-744A-1F55C97AC441}"/>
                  </a:ext>
                </a:extLst>
              </p:cNvPr>
              <p:cNvSpPr txBox="1"/>
              <p:nvPr/>
            </p:nvSpPr>
            <p:spPr>
              <a:xfrm>
                <a:off x="4457429" y="3916734"/>
                <a:ext cx="2371387" cy="989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𝐒𝐄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𝐭</m:t>
                          </m:r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sz="28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506196-D719-6E7A-744A-1F55C97AC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429" y="3916734"/>
                <a:ext cx="2371387" cy="989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178F87-D446-8D4F-AE06-35D4A268F44D}"/>
                  </a:ext>
                </a:extLst>
              </p:cNvPr>
              <p:cNvSpPr txBox="1"/>
              <p:nvPr/>
            </p:nvSpPr>
            <p:spPr>
              <a:xfrm>
                <a:off x="6426740" y="4149843"/>
                <a:ext cx="195850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 </m:t>
                      </m:r>
                      <m:r>
                        <a:rPr lang="en-IN" sz="28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𝐍</m:t>
                      </m:r>
                      <m:d>
                        <m:dPr>
                          <m:ctrlPr>
                            <a:rPr lang="en-IN" sz="2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IN" sz="28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8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IN" sz="2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178F87-D446-8D4F-AE06-35D4A268F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6740" y="4149843"/>
                <a:ext cx="195850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84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91E38-8F54-2F94-AEEC-400CB7072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880B98CD-5A20-8316-99E2-3DAAF4422AE2}"/>
              </a:ext>
            </a:extLst>
          </p:cNvPr>
          <p:cNvSpPr/>
          <p:nvPr/>
        </p:nvSpPr>
        <p:spPr>
          <a:xfrm>
            <a:off x="1396325" y="1230389"/>
            <a:ext cx="9399351" cy="4397223"/>
          </a:xfrm>
          <a:prstGeom prst="horizontalScroll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u="sng" dirty="0">
                <a:solidFill>
                  <a:schemeClr val="accent6">
                    <a:lumMod val="75000"/>
                  </a:schemeClr>
                </a:solidFill>
              </a:rPr>
              <a:t>Question</a:t>
            </a:r>
          </a:p>
          <a:p>
            <a:pPr algn="ctr"/>
            <a:endParaRPr lang="en-US" sz="2800" b="1" u="sng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While making decisions using sample data, what kinds of mistakes can occur?</a:t>
            </a:r>
          </a:p>
          <a:p>
            <a:pPr algn="ctr"/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This introduces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Type – I and Type – II Errors</a:t>
            </a:r>
            <a:endParaRPr lang="en-IN" sz="2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0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C389A-8765-5838-770F-927210F63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92015-328A-FF1B-30DD-911F43E14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Type-I and Type-II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11692-1EE0-B3C1-8830-D37A3AA07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 dirty="0"/>
              <a:t>Whenever we perform Hypothesis Testing, we are making a decision under uncertainty.</a:t>
            </a:r>
          </a:p>
          <a:p>
            <a:r>
              <a:rPr lang="en-US" dirty="0"/>
              <a:t>Because decisions are based on sample data, mistakes are possible.</a:t>
            </a:r>
          </a:p>
          <a:p>
            <a:pPr lvl="1"/>
            <a:r>
              <a:rPr lang="en-US" dirty="0"/>
              <a:t>These decision mistakes are called:</a:t>
            </a:r>
          </a:p>
          <a:p>
            <a:pPr lvl="2"/>
            <a:r>
              <a:rPr lang="en-US" dirty="0"/>
              <a:t>Type – I Error</a:t>
            </a:r>
          </a:p>
          <a:p>
            <a:pPr lvl="2"/>
            <a:r>
              <a:rPr lang="en-US" dirty="0"/>
              <a:t>Type – II Error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5608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00BA8-592C-AB94-439C-C7724F686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CF6BF-A018-BE4C-A26B-84E6C9FFA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Type-I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DBC517-073F-139F-C9D6-0537342BB8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r>
                  <a:rPr lang="en-US" dirty="0"/>
                  <a:t>Type-I Error is the mistake of </a:t>
                </a:r>
                <a:r>
                  <a:rPr lang="en-US" b="1" dirty="0"/>
                  <a:t>rejecting a true Null Hypothesis</a:t>
                </a:r>
                <a:r>
                  <a:rPr lang="en-US" dirty="0"/>
                  <a:t>.</a:t>
                </a:r>
              </a:p>
              <a:p>
                <a:pPr marL="0" indent="0" algn="ctr">
                  <a:buNone/>
                </a:pPr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Type – I Error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endChr m:val="|"/>
                        <m:ctrlP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rPr>
                          <m:t>Reject</m:t>
                        </m:r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IN" b="1" i="0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1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b="1" i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m:t>is</m:t>
                    </m:r>
                    <m:r>
                      <m:rPr>
                        <m:nor/>
                      </m:rP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m:t>true</m:t>
                    </m:r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IN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1"/>
                <a:r>
                  <a:rPr lang="en-IN" dirty="0"/>
                  <a:t>It is also called </a:t>
                </a:r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False Positive</a:t>
                </a:r>
                <a:r>
                  <a:rPr lang="en-IN" dirty="0"/>
                  <a:t>.</a:t>
                </a:r>
              </a:p>
              <a:p>
                <a:r>
                  <a:rPr lang="en-US" dirty="0"/>
                  <a:t>The probability of Type – I error is denoted by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𝛂</m:t>
                    </m:r>
                  </m:oMath>
                </a14:m>
                <a:r>
                  <a:rPr lang="en-US" dirty="0"/>
                  <a:t> and it is called the Level of Significance.</a:t>
                </a:r>
              </a:p>
              <a:p>
                <a:r>
                  <a:rPr lang="en-IN" b="1" dirty="0">
                    <a:solidFill>
                      <a:srgbClr val="1F3B73"/>
                    </a:solidFill>
                  </a:rPr>
                  <a:t>Example:</a:t>
                </a:r>
                <a:r>
                  <a:rPr lang="en-IN" dirty="0"/>
                  <a:t> </a:t>
                </a:r>
              </a:p>
              <a:p>
                <a:pPr lvl="1"/>
                <a:r>
                  <a:rPr lang="en-US" dirty="0"/>
                  <a:t>Define Hypotheses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: Person is Innocent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: Person is Guilty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DBC517-073F-139F-C9D6-0537342BB8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 r="-1074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038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1CE91-4E1D-DE1F-BC56-4BEA7FC1B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57B5-0DCC-F282-6AD8-332BDD6F5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Type-I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7D0721-561B-66D2-7A1C-89F51F138A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202"/>
                <a:ext cx="11929641" cy="5864696"/>
              </a:xfrm>
            </p:spPr>
            <p:txBody>
              <a:bodyPr/>
              <a:lstStyle/>
              <a:p>
                <a:pPr algn="l"/>
                <a:r>
                  <a:rPr lang="en-IN" b="1" dirty="0">
                    <a:solidFill>
                      <a:srgbClr val="1F3B73"/>
                    </a:solidFill>
                  </a:rPr>
                  <a:t>Example:</a:t>
                </a:r>
                <a:r>
                  <a:rPr lang="en-IN" dirty="0"/>
                  <a:t> </a:t>
                </a:r>
              </a:p>
              <a:p>
                <a:pPr lvl="1" algn="l"/>
                <a:r>
                  <a:rPr lang="en-US" dirty="0"/>
                  <a:t>Define Hypotheses</a:t>
                </a:r>
              </a:p>
              <a:p>
                <a:pPr lvl="2" algn="l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: Person is Innocent</a:t>
                </a:r>
              </a:p>
              <a:p>
                <a:pPr lvl="2" algn="l"/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: Person is Guilty</a:t>
                </a:r>
              </a:p>
              <a:p>
                <a:r>
                  <a:rPr lang="en-IN" b="1" dirty="0">
                    <a:solidFill>
                      <a:srgbClr val="1F3B73"/>
                    </a:solidFill>
                  </a:rPr>
                  <a:t>Situation</a:t>
                </a:r>
              </a:p>
              <a:p>
                <a:pPr lvl="1"/>
                <a:r>
                  <a:rPr lang="en-IN" dirty="0"/>
                  <a:t>Reality → Person is </a:t>
                </a:r>
                <a:r>
                  <a:rPr lang="en-IN" b="1" dirty="0"/>
                  <a:t>innocent </a:t>
                </a:r>
                <a:r>
                  <a:rPr lang="en-I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 is true)</a:t>
                </a:r>
              </a:p>
              <a:p>
                <a:pPr lvl="1"/>
                <a:r>
                  <a:rPr lang="en-IN" dirty="0"/>
                  <a:t>Judge decision → </a:t>
                </a:r>
                <a:r>
                  <a:rPr lang="en-IN" b="1" dirty="0"/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 (declares guilty)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sepChr m:val="∣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Reject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​ </m:t>
                          </m:r>
                          <m:r>
                            <m:rPr>
                              <m:nor/>
                            </m:rPr>
                            <a:rPr lang="en-IN" b="0" i="0" smtClean="0"/>
                            <m:t>is</m:t>
                          </m:r>
                          <m:r>
                            <m:rPr>
                              <m:nor/>
                            </m:rPr>
                            <a:rPr lang="en-IN" b="0" i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0" smtClean="0"/>
                            <m:t>true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algn="l"/>
                <a:r>
                  <a:rPr lang="en-IN" dirty="0"/>
                  <a:t>So, this is Type – I Error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Innocent person gets jailed</a:t>
                </a:r>
              </a:p>
              <a:p>
                <a:pPr marL="0" indent="0" algn="l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7D0721-561B-66D2-7A1C-89F51F138A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202"/>
                <a:ext cx="11929641" cy="5864696"/>
              </a:xfrm>
              <a:blipFill>
                <a:blip r:embed="rId2"/>
                <a:stretch>
                  <a:fillRect l="-971" b="-15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14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E829B-2DC5-EE72-923D-076B5FDD4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21266-CF82-70CA-FE71-A8D3FF45E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Type-II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DBF14A-6878-151D-E51F-2CA67D0FDE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r>
                  <a:rPr lang="en-US" dirty="0"/>
                  <a:t>A Type-II Error occurs when we accept (or fail to reject) the Null Hypothesis even though it is actually false.</a:t>
                </a:r>
              </a:p>
              <a:p>
                <a:pPr marL="0" indent="0" algn="ctr">
                  <a:buNone/>
                </a:pPr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Type – II Error </a:t>
                </a:r>
                <a14:m>
                  <m:oMath xmlns:m="http://schemas.openxmlformats.org/officeDocument/2006/math">
                    <m:r>
                      <a:rPr lang="en-IN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𝐏</m:t>
                    </m:r>
                    <m:d>
                      <m:dPr>
                        <m:endChr m:val="|"/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rPr>
                          <m:t>Fail</m:t>
                        </m:r>
                        <m:r>
                          <m:rPr>
                            <m:nor/>
                          </m:rPr>
                          <a:rPr lang="en-IN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rPr>
                          <m:t>to</m:t>
                        </m:r>
                        <m:r>
                          <m:rPr>
                            <m:nor/>
                          </m:rPr>
                          <a:rPr lang="en-IN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rPr>
                          <m:t>Reject</m:t>
                        </m:r>
                        <m:r>
                          <a:rPr lang="en-IN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b="1" i="1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𝐇</m:t>
                            </m:r>
                          </m:e>
                          <m:sub>
                            <m:r>
                              <a:rPr lang="en-IN" b="1" i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IN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IN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b="1" i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b="1" i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m:t>is</m:t>
                    </m:r>
                    <m:r>
                      <m:rPr>
                        <m:nor/>
                      </m:rPr>
                      <a:rPr lang="en-IN" b="1" i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IN" b="1" i="0">
                        <a:solidFill>
                          <a:schemeClr val="accent6">
                            <a:lumMod val="75000"/>
                          </a:schemeClr>
                        </a:solidFill>
                      </a:rPr>
                      <m:t>false</m:t>
                    </m:r>
                    <m:r>
                      <a:rPr lang="en-IN" b="1" i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It is also called </a:t>
                </a:r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False Negative</a:t>
                </a:r>
                <a:r>
                  <a:rPr lang="en-IN" dirty="0"/>
                  <a:t>.</a:t>
                </a:r>
              </a:p>
              <a:p>
                <a:r>
                  <a:rPr lang="en-US" dirty="0"/>
                  <a:t>The probability of Type – II error is denoted by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b="1" i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𝛃</m:t>
                    </m:r>
                    <m:r>
                      <a:rPr lang="en-IN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  <a:p>
                <a:r>
                  <a:rPr lang="en-IN" b="1" dirty="0">
                    <a:solidFill>
                      <a:srgbClr val="1F3B73"/>
                    </a:solidFill>
                  </a:rPr>
                  <a:t>Example:</a:t>
                </a:r>
                <a:r>
                  <a:rPr lang="en-IN" dirty="0"/>
                  <a:t> </a:t>
                </a:r>
              </a:p>
              <a:p>
                <a:pPr lvl="1"/>
                <a:r>
                  <a:rPr lang="en-US" dirty="0"/>
                  <a:t>Define Hypotheses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: Person is Innocent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: Person is Guilty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DBF14A-6878-151D-E51F-2CA67D0FDE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 r="-1074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9754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05673-F2E6-4918-1813-724B0D686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000CE-69C3-1A14-9DF8-63AC9DC7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Type-II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11E345-6CEA-CEAF-E864-02DAF54ACD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201"/>
                <a:ext cx="11929641" cy="5825785"/>
              </a:xfrm>
            </p:spPr>
            <p:txBody>
              <a:bodyPr/>
              <a:lstStyle/>
              <a:p>
                <a:pPr algn="l"/>
                <a:r>
                  <a:rPr lang="en-IN" b="1" dirty="0">
                    <a:solidFill>
                      <a:srgbClr val="1F3B73"/>
                    </a:solidFill>
                  </a:rPr>
                  <a:t>Example:</a:t>
                </a:r>
                <a:r>
                  <a:rPr lang="en-IN" dirty="0"/>
                  <a:t> </a:t>
                </a:r>
              </a:p>
              <a:p>
                <a:pPr lvl="1" algn="l"/>
                <a:r>
                  <a:rPr lang="en-US" dirty="0"/>
                  <a:t>Define Hypotheses</a:t>
                </a:r>
              </a:p>
              <a:p>
                <a:pPr lvl="2" algn="l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: Person is Innocent</a:t>
                </a:r>
              </a:p>
              <a:p>
                <a:pPr lvl="2" algn="l"/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: Person is Guilty</a:t>
                </a:r>
              </a:p>
              <a:p>
                <a:r>
                  <a:rPr lang="en-IN" b="1" dirty="0">
                    <a:solidFill>
                      <a:srgbClr val="1F3B73"/>
                    </a:solidFill>
                  </a:rPr>
                  <a:t>Situation</a:t>
                </a:r>
              </a:p>
              <a:p>
                <a:pPr lvl="1"/>
                <a:r>
                  <a:rPr lang="en-IN" dirty="0"/>
                  <a:t>Reality → Person is </a:t>
                </a:r>
                <a:r>
                  <a:rPr lang="en-IN" b="1" dirty="0"/>
                  <a:t>guilty</a:t>
                </a:r>
                <a:endParaRPr lang="en-IN" dirty="0"/>
              </a:p>
              <a:p>
                <a:pPr lvl="1"/>
                <a:r>
                  <a:rPr lang="en-IN" dirty="0"/>
                  <a:t>Judge decision → Do not </a:t>
                </a:r>
                <a:r>
                  <a:rPr lang="en-IN" b="1" dirty="0"/>
                  <a:t>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 (declares innocent)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sepChr m:val="∣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0"/>
                            <m:t>Fail</m:t>
                          </m:r>
                          <m:r>
                            <m:rPr>
                              <m:nor/>
                            </m:rPr>
                            <a:rPr lang="en-US" i="0"/>
                            <m:t> </m:t>
                          </m:r>
                          <m:r>
                            <m:rPr>
                              <m:nor/>
                            </m:rPr>
                            <a:rPr lang="en-US" i="0"/>
                            <m:t>to</m:t>
                          </m:r>
                          <m:r>
                            <m:rPr>
                              <m:nor/>
                            </m:rPr>
                            <a:rPr lang="en-US" i="0"/>
                            <m:t> </m:t>
                          </m:r>
                          <m:r>
                            <m:rPr>
                              <m:nor/>
                            </m:rPr>
                            <a:rPr lang="en-US" i="0"/>
                            <m:t>Reject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​ </m:t>
                          </m:r>
                          <m:r>
                            <m:rPr>
                              <m:nor/>
                            </m:rPr>
                            <a:rPr lang="en-US" i="0"/>
                            <m:t>false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algn="l"/>
                <a:r>
                  <a:rPr lang="en-IN" dirty="0"/>
                  <a:t>So, this is Type – II Error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Guilty person released</a:t>
                </a:r>
              </a:p>
              <a:p>
                <a:pPr marL="0" indent="0" algn="l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11E345-6CEA-CEAF-E864-02DAF54ACD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201"/>
                <a:ext cx="11929641" cy="5825785"/>
              </a:xfrm>
              <a:blipFill>
                <a:blip r:embed="rId2"/>
                <a:stretch>
                  <a:fillRect l="-971" b="-23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943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E6585-D75A-6520-7A08-1D3613CB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Word Trick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A0DA-D526-23EF-0591-2476D11E9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 dirty="0"/>
              <a:t>Focus on the word Positive / Negative.</a:t>
            </a:r>
          </a:p>
          <a:p>
            <a:pPr lvl="1"/>
            <a:r>
              <a:rPr lang="en-US" dirty="0"/>
              <a:t>Positive → Test says something is present</a:t>
            </a:r>
          </a:p>
          <a:p>
            <a:pPr lvl="1"/>
            <a:r>
              <a:rPr lang="en-US" dirty="0"/>
              <a:t>Negative → Test says nothing is present</a:t>
            </a:r>
          </a:p>
          <a:p>
            <a:r>
              <a:rPr lang="en-US" dirty="0"/>
              <a:t>Now add False.</a:t>
            </a:r>
          </a:p>
          <a:p>
            <a:pPr lvl="1"/>
            <a:r>
              <a:rPr lang="en-US" dirty="0"/>
              <a:t>False Positive → Detecting something that is not actually there.</a:t>
            </a:r>
          </a:p>
          <a:p>
            <a:pPr lvl="1"/>
            <a:r>
              <a:rPr lang="en-US" dirty="0"/>
              <a:t>False Negative → Missing something that actually exists.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046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44A9A-6648-857B-91D6-AB35BF3C6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C9B0-6FFB-CC5F-A15D-D107C0D66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36FB582-6615-5B51-E82D-1F2DB2CEDD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9330598"/>
                  </p:ext>
                </p:extLst>
              </p:nvPr>
            </p:nvGraphicFramePr>
            <p:xfrm>
              <a:off x="222655" y="855852"/>
              <a:ext cx="10370766" cy="565195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6922">
                      <a:extLst>
                        <a:ext uri="{9D8B030D-6E8A-4147-A177-3AD203B41FA5}">
                          <a16:colId xmlns:a16="http://schemas.microsoft.com/office/drawing/2014/main" val="1977914056"/>
                        </a:ext>
                      </a:extLst>
                    </a:gridCol>
                    <a:gridCol w="3456922">
                      <a:extLst>
                        <a:ext uri="{9D8B030D-6E8A-4147-A177-3AD203B41FA5}">
                          <a16:colId xmlns:a16="http://schemas.microsoft.com/office/drawing/2014/main" val="2353030410"/>
                        </a:ext>
                      </a:extLst>
                    </a:gridCol>
                    <a:gridCol w="3456922">
                      <a:extLst>
                        <a:ext uri="{9D8B030D-6E8A-4147-A177-3AD203B41FA5}">
                          <a16:colId xmlns:a16="http://schemas.microsoft.com/office/drawing/2014/main" val="391437558"/>
                        </a:ext>
                      </a:extLst>
                    </a:gridCol>
                  </a:tblGrid>
                  <a:tr h="1003965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IN" sz="4800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Type - </a:t>
                          </a:r>
                          <a14:m>
                            <m:oMath xmlns:m="http://schemas.openxmlformats.org/officeDocument/2006/math">
                              <m:r>
                                <a:rPr lang="en-IN" sz="4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𝐈</m:t>
                              </m:r>
                            </m:oMath>
                          </a14:m>
                          <a:r>
                            <a:rPr lang="en-IN" sz="4800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 and Type - </a:t>
                          </a:r>
                          <a14:m>
                            <m:oMath xmlns:m="http://schemas.openxmlformats.org/officeDocument/2006/math">
                              <m:r>
                                <a:rPr lang="en-IN" sz="4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𝐈𝐈</m:t>
                              </m:r>
                            </m:oMath>
                          </a14:m>
                          <a:r>
                            <a:rPr lang="en-IN" sz="4800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 Error </a:t>
                          </a: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0871489"/>
                      </a:ext>
                    </a:extLst>
                  </a:tr>
                  <a:tr h="10039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</a:rPr>
                            <a:t>Null Hypothesis is…</a:t>
                          </a: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</a:rPr>
                            <a:t>True</a:t>
                          </a: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</a:rPr>
                            <a:t>False</a:t>
                          </a: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5388451"/>
                      </a:ext>
                    </a:extLst>
                  </a:tr>
                  <a:tr h="18220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</a:rPr>
                            <a:t>Rejected</a:t>
                          </a: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600" i="0" dirty="0">
                              <a:solidFill>
                                <a:schemeClr val="tx1"/>
                              </a:solidFill>
                            </a:rPr>
                            <a:t>Type -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oMath>
                          </a14:m>
                          <a:r>
                            <a:rPr lang="en-IN" sz="2600" i="0" dirty="0">
                              <a:solidFill>
                                <a:schemeClr val="tx1"/>
                              </a:solidFill>
                            </a:rPr>
                            <a:t> Error</a:t>
                          </a:r>
                        </a:p>
                        <a:p>
                          <a:pPr algn="ctr"/>
                          <a:r>
                            <a:rPr lang="en-IN" sz="2600" i="0" dirty="0">
                              <a:solidFill>
                                <a:schemeClr val="tx1"/>
                              </a:solidFill>
                            </a:rPr>
                            <a:t>False Positive</a:t>
                          </a:r>
                        </a:p>
                        <a:p>
                          <a:pPr algn="ctr"/>
                          <a:r>
                            <a:rPr lang="en-IN" sz="2600" i="0" dirty="0">
                              <a:solidFill>
                                <a:schemeClr val="tx1"/>
                              </a:solidFill>
                            </a:rPr>
                            <a:t>Probability </a:t>
                          </a:r>
                          <a14:m>
                            <m:oMath xmlns:m="http://schemas.openxmlformats.org/officeDocument/2006/math">
                              <m:r>
                                <a:rPr lang="en-IN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IN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oMath>
                          </a14:m>
                          <a:endParaRPr lang="en-IN" sz="26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600" i="0" dirty="0">
                              <a:solidFill>
                                <a:schemeClr val="tx1"/>
                              </a:solidFill>
                            </a:rPr>
                            <a:t>Correct Decision</a:t>
                          </a:r>
                        </a:p>
                        <a:p>
                          <a:pPr algn="ctr"/>
                          <a:r>
                            <a:rPr lang="en-IN" sz="2600" i="0" dirty="0">
                              <a:solidFill>
                                <a:schemeClr val="tx1"/>
                              </a:solidFill>
                            </a:rPr>
                            <a:t>True Positive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600" i="0" dirty="0">
                              <a:solidFill>
                                <a:schemeClr val="tx1"/>
                              </a:solidFill>
                            </a:rPr>
                            <a:t>Probability </a:t>
                          </a:r>
                          <a14:m>
                            <m:oMath xmlns:m="http://schemas.openxmlformats.org/officeDocument/2006/math">
                              <m:r>
                                <a:rPr lang="en-IN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=1−</m:t>
                              </m:r>
                              <m:r>
                                <m:rPr>
                                  <m:sty m:val="p"/>
                                </m:rPr>
                                <a:rPr lang="en-IN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oMath>
                          </a14:m>
                          <a:endParaRPr lang="en-IN" sz="26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1215049"/>
                      </a:ext>
                    </a:extLst>
                  </a:tr>
                  <a:tr h="18220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</a:rPr>
                            <a:t>Not Rejected</a:t>
                          </a: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600" i="0" dirty="0">
                              <a:solidFill>
                                <a:schemeClr val="tx1"/>
                              </a:solidFill>
                            </a:rPr>
                            <a:t>Correct Decision</a:t>
                          </a:r>
                        </a:p>
                        <a:p>
                          <a:pPr algn="ctr"/>
                          <a:r>
                            <a:rPr lang="en-IN" sz="2600" i="0" dirty="0">
                              <a:solidFill>
                                <a:schemeClr val="tx1"/>
                              </a:solidFill>
                            </a:rPr>
                            <a:t>True Negative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600" i="0" dirty="0">
                              <a:solidFill>
                                <a:schemeClr val="tx1"/>
                              </a:solidFill>
                            </a:rPr>
                            <a:t>Probability </a:t>
                          </a:r>
                          <a14:m>
                            <m:oMath xmlns:m="http://schemas.openxmlformats.org/officeDocument/2006/math">
                              <m:r>
                                <a:rPr lang="en-IN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=1−</m:t>
                              </m:r>
                              <m:r>
                                <m:rPr>
                                  <m:sty m:val="p"/>
                                </m:rPr>
                                <a:rPr lang="en-IN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oMath>
                          </a14:m>
                          <a:endParaRPr lang="en-IN" sz="26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600" i="0" dirty="0">
                              <a:solidFill>
                                <a:schemeClr val="tx1"/>
                              </a:solidFill>
                            </a:rPr>
                            <a:t>Type -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II</m:t>
                              </m:r>
                            </m:oMath>
                          </a14:m>
                          <a:r>
                            <a:rPr lang="en-IN" sz="2600" i="0" dirty="0">
                              <a:solidFill>
                                <a:schemeClr val="tx1"/>
                              </a:solidFill>
                            </a:rPr>
                            <a:t> Error</a:t>
                          </a:r>
                        </a:p>
                        <a:p>
                          <a:pPr algn="ctr"/>
                          <a:r>
                            <a:rPr lang="en-IN" sz="2600" i="0" dirty="0">
                              <a:solidFill>
                                <a:schemeClr val="tx1"/>
                              </a:solidFill>
                            </a:rPr>
                            <a:t>False Negative</a:t>
                          </a:r>
                        </a:p>
                        <a:p>
                          <a:pPr algn="ctr"/>
                          <a:r>
                            <a:rPr lang="en-IN" sz="2600" i="0" dirty="0">
                              <a:solidFill>
                                <a:schemeClr val="tx1"/>
                              </a:solidFill>
                            </a:rPr>
                            <a:t>Probability </a:t>
                          </a:r>
                          <a14:m>
                            <m:oMath xmlns:m="http://schemas.openxmlformats.org/officeDocument/2006/math">
                              <m:r>
                                <a:rPr lang="en-IN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IN" sz="26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oMath>
                          </a14:m>
                          <a:endParaRPr lang="en-IN" sz="26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59305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36FB582-6615-5B51-E82D-1F2DB2CEDD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9330598"/>
                  </p:ext>
                </p:extLst>
              </p:nvPr>
            </p:nvGraphicFramePr>
            <p:xfrm>
              <a:off x="222655" y="855852"/>
              <a:ext cx="10370766" cy="565195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456922">
                      <a:extLst>
                        <a:ext uri="{9D8B030D-6E8A-4147-A177-3AD203B41FA5}">
                          <a16:colId xmlns:a16="http://schemas.microsoft.com/office/drawing/2014/main" val="1977914056"/>
                        </a:ext>
                      </a:extLst>
                    </a:gridCol>
                    <a:gridCol w="3456922">
                      <a:extLst>
                        <a:ext uri="{9D8B030D-6E8A-4147-A177-3AD203B41FA5}">
                          <a16:colId xmlns:a16="http://schemas.microsoft.com/office/drawing/2014/main" val="2353030410"/>
                        </a:ext>
                      </a:extLst>
                    </a:gridCol>
                    <a:gridCol w="3456922">
                      <a:extLst>
                        <a:ext uri="{9D8B030D-6E8A-4147-A177-3AD203B41FA5}">
                          <a16:colId xmlns:a16="http://schemas.microsoft.com/office/drawing/2014/main" val="391437558"/>
                        </a:ext>
                      </a:extLst>
                    </a:gridCol>
                  </a:tblGrid>
                  <a:tr h="1003965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9" t="-4848" r="-118" b="-46363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0871489"/>
                      </a:ext>
                    </a:extLst>
                  </a:tr>
                  <a:tr h="10039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</a:rPr>
                            <a:t>Null Hypothesis is…</a:t>
                          </a: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</a:rPr>
                            <a:t>True</a:t>
                          </a: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</a:rPr>
                            <a:t>False</a:t>
                          </a: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5388451"/>
                      </a:ext>
                    </a:extLst>
                  </a:tr>
                  <a:tr h="18220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</a:rPr>
                            <a:t>Rejected</a:t>
                          </a: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13043" r="-100176" b="-1006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53" t="-113043" r="-353" b="-1006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1215049"/>
                      </a:ext>
                    </a:extLst>
                  </a:tr>
                  <a:tr h="18220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</a:rPr>
                            <a:t>Not Rejected</a:t>
                          </a:r>
                        </a:p>
                      </a:txBody>
                      <a:tcPr anchor="ctr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213043" r="-100176" b="-6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53" t="-213043" r="-353" b="-6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59305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4677459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D598C-94CE-47E9-BA01-215ED783C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ECD6-7DF5-DA67-7307-E7FF85C5A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Power of the 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FDAB73-69DB-DFCD-4896-716F6621D3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923063"/>
              </a:xfrm>
            </p:spPr>
            <p:txBody>
              <a:bodyPr/>
              <a:lstStyle/>
              <a:p>
                <a:r>
                  <a:rPr lang="en-US" dirty="0"/>
                  <a:t>Power of a Test is the probability of correctly rejecting a false Null Hypothesis.</a:t>
                </a:r>
              </a:p>
              <a:p>
                <a:r>
                  <a:rPr lang="en-US" dirty="0"/>
                  <a:t>Formula : Power of test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lang="en-IN" b="0" dirty="0"/>
              </a:p>
              <a:p>
                <a:pPr lvl="1"/>
                <a:r>
                  <a:rPr lang="en-US" dirty="0"/>
                  <a:t>Meaning </a:t>
                </a:r>
              </a:p>
              <a:p>
                <a:pPr lvl="2"/>
                <a:r>
                  <a:rPr lang="en-US" dirty="0"/>
                  <a:t>If the null hypothesis is actually false, power tells us the chance that our test will correctly reject it.</a:t>
                </a:r>
              </a:p>
              <a:p>
                <a:pPr lvl="1"/>
                <a:r>
                  <a:rPr lang="en-US" dirty="0"/>
                  <a:t>Example</a:t>
                </a:r>
              </a:p>
              <a:p>
                <a:pPr lvl="2"/>
                <a:r>
                  <a:rPr lang="en-US" dirty="0"/>
                  <a:t>Suppose a new teaching method actually improves students’ marks.</a:t>
                </a:r>
              </a:p>
              <a:p>
                <a:pPr lvl="2"/>
                <a:r>
                  <a:rPr lang="en-US" dirty="0"/>
                  <a:t>If the statistical test detects this improvement, the probability of detecting it is the Power of the Test.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FDAB73-69DB-DFCD-4896-716F6621D3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923063"/>
              </a:xfrm>
              <a:blipFill>
                <a:blip r:embed="rId2"/>
                <a:stretch>
                  <a:fillRect l="-971" r="-1074" b="-6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1483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54F88-82D1-6300-D10B-324A41DC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512B0000-A0EF-57B4-30D2-DCEA3A02BBBF}"/>
              </a:ext>
            </a:extLst>
          </p:cNvPr>
          <p:cNvSpPr/>
          <p:nvPr/>
        </p:nvSpPr>
        <p:spPr>
          <a:xfrm>
            <a:off x="1396325" y="1230389"/>
            <a:ext cx="9399351" cy="4397223"/>
          </a:xfrm>
          <a:prstGeom prst="horizontalScroll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u="sng" dirty="0">
                <a:solidFill>
                  <a:schemeClr val="accent6">
                    <a:lumMod val="75000"/>
                  </a:schemeClr>
                </a:solidFill>
              </a:rPr>
              <a:t>Question</a:t>
            </a:r>
          </a:p>
          <a:p>
            <a:pPr algn="ctr"/>
            <a:endParaRPr lang="en-US" sz="2800" b="1" u="sng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Since mistakes cannot be completely avoided, how much wrong decision risk are we ready to accept?</a:t>
            </a:r>
          </a:p>
          <a:p>
            <a:pPr algn="ctr"/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This introduces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Level of Significance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.</a:t>
            </a:r>
            <a:endParaRPr lang="en-IN" sz="2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05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DC1D6-88F7-9866-9E4B-784A5229F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686A-CCA9-C146-2748-A565A7C24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Level of Significance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F696D6-F345-1DCC-62E5-C85EBFA1DE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201"/>
                <a:ext cx="11929641" cy="5825785"/>
              </a:xfrm>
            </p:spPr>
            <p:txBody>
              <a:bodyPr/>
              <a:lstStyle/>
              <a:p>
                <a:pPr algn="l"/>
                <a:r>
                  <a:rPr lang="en-US" dirty="0"/>
                  <a:t>Imagine you are a drug approval authority.</a:t>
                </a:r>
              </a:p>
              <a:p>
                <a:pPr lvl="1" algn="l"/>
                <a:r>
                  <a:rPr lang="en-US" dirty="0"/>
                  <a:t>If you wrongly reject a good medicine → patients lose treatment.</a:t>
                </a:r>
              </a:p>
              <a:p>
                <a:pPr lvl="1" algn="l"/>
                <a:r>
                  <a:rPr lang="en-US" dirty="0"/>
                  <a:t>If you wrongly approve a bad medicine → patients suffer.</a:t>
                </a:r>
              </a:p>
              <a:p>
                <a:r>
                  <a:rPr lang="en-US" dirty="0"/>
                  <a:t>So, authority decides: We will allow only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chance of wrongly rejecting a true medicine claim.</a:t>
                </a:r>
              </a:p>
              <a:p>
                <a:pPr algn="l"/>
                <a:r>
                  <a:rPr lang="en-US" dirty="0"/>
                  <a:t>This allowed risk is called Level of Significance.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F696D6-F345-1DCC-62E5-C85EBFA1DE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201"/>
                <a:ext cx="11929641" cy="582578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608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F7A6C-DAB1-9C84-3F02-A526BBE75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953A0-D220-557A-8452-47ABA0EC2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Level of Significance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CE2651-A2C6-8707-02F7-6A98165C24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201"/>
                <a:ext cx="11929641" cy="5825785"/>
              </a:xfrm>
            </p:spPr>
            <p:txBody>
              <a:bodyPr/>
              <a:lstStyle/>
              <a:p>
                <a:r>
                  <a:rPr lang="en-US" dirty="0"/>
                  <a:t>Level of Significance tells us how much risk we are willing to take to make a wrong decision while testing a hypothesis.</a:t>
                </a:r>
              </a:p>
              <a:p>
                <a:pPr lvl="1"/>
                <a:r>
                  <a:rPr lang="en-US" dirty="0"/>
                  <a:t>Level of Significance is the maximum probability of committing Type – I error that the researcher is willing to accept while testing a hypothesis.</a:t>
                </a:r>
              </a:p>
              <a:p>
                <a:r>
                  <a:rPr lang="en-US" dirty="0"/>
                  <a:t>It is denoted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𝛂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𝐏</m:t>
                      </m:r>
                      <m:d>
                        <m:dPr>
                          <m:ctrlPr>
                            <a:rPr lang="en-IN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𝐓𝐲𝐩𝐞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𝐈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𝐄𝐫𝐫𝐨𝐫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Common values: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=0.05 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5%</m:t>
                        </m:r>
                      </m:e>
                    </m:d>
                  </m:oMath>
                </a14:m>
                <a:r>
                  <a:rPr lang="en-US" dirty="0"/>
                  <a:t> - </a:t>
                </a:r>
                <a:r>
                  <a:rPr lang="en-US" b="1" dirty="0"/>
                  <a:t>chance of making a Type-I error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b="1" dirty="0"/>
                  <a:t> times out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en-US" b="1" dirty="0"/>
                  <a:t> tests.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=0.01 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1%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CE2651-A2C6-8707-02F7-6A98165C24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201"/>
                <a:ext cx="11929641" cy="582578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26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726D5-64F5-716B-942E-676A2E9A3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746E1-450C-D930-4A94-D409CD145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Level of Significance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F63687-54D0-C1B7-87BF-9B71CB8C28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201"/>
                <a:ext cx="11929641" cy="5825785"/>
              </a:xfrm>
            </p:spPr>
            <p:txBody>
              <a:bodyPr/>
              <a:lstStyle/>
              <a:p>
                <a:r>
                  <a:rPr lang="en-US" dirty="0"/>
                  <a:t>If no level of significance is 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 is taken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5%=0.05</m:t>
                    </m:r>
                  </m:oMath>
                </a14:m>
                <a:endParaRPr lang="en-IN" dirty="0"/>
              </a:p>
              <a:p>
                <a:r>
                  <a:rPr lang="en-US" dirty="0"/>
                  <a:t>We need level of significance, because </a:t>
                </a:r>
              </a:p>
              <a:p>
                <a:pPr lvl="1"/>
                <a:r>
                  <a:rPr lang="en-US" dirty="0"/>
                  <a:t>decisions based on samples are never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% certain.</a:t>
                </a:r>
              </a:p>
              <a:p>
                <a:r>
                  <a:rPr lang="en-US" dirty="0"/>
                  <a:t>We must decide beforehand: How much chance of mistake is acceptable?</a:t>
                </a:r>
              </a:p>
              <a:p>
                <a:r>
                  <a:rPr lang="en-US" dirty="0"/>
                  <a:t>Without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Everyone may reject hypotheses randomly.</a:t>
                </a:r>
              </a:p>
              <a:p>
                <a:pPr lvl="1"/>
                <a:r>
                  <a:rPr lang="en-US" dirty="0"/>
                  <a:t>No scientific standard exists.</a:t>
                </a:r>
              </a:p>
              <a:p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 acts like a decision tolerance limit.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F63687-54D0-C1B7-87BF-9B71CB8C28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201"/>
                <a:ext cx="11929641" cy="582578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713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42F57-9B9F-8F9F-67E3-962F9E04F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Scroll: Horizontal 1">
                <a:extLst>
                  <a:ext uri="{FF2B5EF4-FFF2-40B4-BE49-F238E27FC236}">
                    <a16:creationId xmlns:a16="http://schemas.microsoft.com/office/drawing/2014/main" id="{9D057C5B-2828-AEE4-31C1-78B7B0AD6797}"/>
                  </a:ext>
                </a:extLst>
              </p:cNvPr>
              <p:cNvSpPr/>
              <p:nvPr/>
            </p:nvSpPr>
            <p:spPr>
              <a:xfrm>
                <a:off x="1396325" y="1230389"/>
                <a:ext cx="9399351" cy="4397223"/>
              </a:xfrm>
              <a:prstGeom prst="horizontalScroll">
                <a:avLst/>
              </a:prstGeom>
              <a:solidFill>
                <a:schemeClr val="bg1"/>
              </a:solidFill>
              <a:ln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u="sng" dirty="0">
                    <a:solidFill>
                      <a:schemeClr val="accent6">
                        <a:lumMod val="75000"/>
                      </a:schemeClr>
                    </a:solidFill>
                  </a:rPr>
                  <a:t>Question</a:t>
                </a:r>
              </a:p>
              <a:p>
                <a:pPr algn="ctr"/>
                <a:endParaRPr lang="en-US" sz="2800" b="1" u="sng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We have decided how much risk we can tolerate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).</a:t>
                </a:r>
              </a:p>
              <a:p>
                <a:pPr algn="ctr"/>
                <a:r>
                  <a:rPr lang="en-US" sz="2800" dirty="0">
                    <a:solidFill>
                      <a:schemeClr val="tx2">
                        <a:lumMod val="50000"/>
                      </a:schemeClr>
                    </a:solidFill>
                  </a:rPr>
                  <a:t>But statistics now asks — where exactly is the Safe and danger zone?</a:t>
                </a:r>
              </a:p>
              <a:p>
                <a:pPr algn="ctr"/>
                <a:endParaRPr lang="en-US" sz="2800" dirty="0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pPr algn="ctr"/>
                <a:r>
                  <a:rPr lang="en-IN" sz="2800" b="1" dirty="0">
                    <a:solidFill>
                      <a:schemeClr val="tx2">
                        <a:lumMod val="50000"/>
                      </a:schemeClr>
                    </a:solidFill>
                  </a:rPr>
                  <a:t>Acceptance Region &amp; Critical Region </a:t>
                </a:r>
              </a:p>
            </p:txBody>
          </p:sp>
        </mc:Choice>
        <mc:Fallback xmlns="">
          <p:sp>
            <p:nvSpPr>
              <p:cNvPr id="2" name="Scroll: Horizontal 1">
                <a:extLst>
                  <a:ext uri="{FF2B5EF4-FFF2-40B4-BE49-F238E27FC236}">
                    <a16:creationId xmlns:a16="http://schemas.microsoft.com/office/drawing/2014/main" id="{9D057C5B-2828-AEE4-31C1-78B7B0AD67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325" y="1230389"/>
                <a:ext cx="9399351" cy="4397223"/>
              </a:xfrm>
              <a:prstGeom prst="horizontalScroll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309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28551-7317-C6B6-A98E-E4C4D640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30389-9A47-3834-877B-9E00E1C6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Region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DDD38A-31E4-7A46-6642-572C91A483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dirty="0"/>
                  <a:t>The set of values of a test statistic for which the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​ is rejected is called the critical region (or rejection region).</a:t>
                </a:r>
              </a:p>
              <a:p>
                <a:pPr lvl="1"/>
                <a:r>
                  <a:rPr lang="en-US" dirty="0"/>
                  <a:t>The area where the null hypothesis is rejected is called the critical region.	</a:t>
                </a:r>
              </a:p>
              <a:p>
                <a:r>
                  <a:rPr lang="en-US" dirty="0"/>
                  <a:t>Key Idea</a:t>
                </a:r>
              </a:p>
              <a:p>
                <a:pPr lvl="1"/>
                <a:r>
                  <a:rPr lang="en-US" dirty="0"/>
                  <a:t>It is decided before performing the test.</a:t>
                </a:r>
              </a:p>
              <a:p>
                <a:pPr lvl="1"/>
                <a:r>
                  <a:rPr lang="en-US" dirty="0"/>
                  <a:t>It depends on the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the calculated test statistic falls in this region →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​.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DDD38A-31E4-7A46-6642-572C91A483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41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FD9B8-596D-B2A7-8C0C-A2820DF23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B94BC-070E-EC95-7218-41CB8CCC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Region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9C19F1-767B-387F-5109-631E3E24B6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>
                  <a:lnSpc>
                    <a:spcPct val="130000"/>
                  </a:lnSpc>
                </a:pPr>
                <a:r>
                  <a:rPr lang="en-US" dirty="0"/>
                  <a:t>To understand the critical region, consider the standard normal distribution curve shown in the figure. The curve represents the distribution of the test statistic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dirty="0"/>
                  <a:t>).</a:t>
                </a:r>
              </a:p>
              <a:p>
                <a:pPr lvl="0">
                  <a:lnSpc>
                    <a:spcPct val="130000"/>
                  </a:lnSpc>
                </a:pPr>
                <a:r>
                  <a:rPr lang="en-US" dirty="0"/>
                  <a:t>The center of the curve represents the value assumed under the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lvl="0">
                  <a:lnSpc>
                    <a:spcPct val="130000"/>
                  </a:lnSpc>
                </a:pPr>
                <a:r>
                  <a:rPr lang="en-US" dirty="0"/>
                  <a:t>Here,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=5%(0.05)</m:t>
                    </m:r>
                  </m:oMath>
                </a14:m>
                <a:r>
                  <a:rPr lang="en-US" dirty="0"/>
                  <a:t> (for two tailed test)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9C19F1-767B-387F-5109-631E3E24B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6A6C4E9-31DB-0B9E-422C-C737ECC4CF98}"/>
                  </a:ext>
                </a:extLst>
              </p:cNvPr>
              <p:cNvSpPr txBox="1"/>
              <p:nvPr/>
            </p:nvSpPr>
            <p:spPr>
              <a:xfrm>
                <a:off x="5009622" y="6079331"/>
                <a:ext cx="16695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6A6C4E9-31DB-0B9E-422C-C737ECC4C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622" y="6079331"/>
                <a:ext cx="166956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DF59E61F-8F30-26E7-2A43-6F96BD9AFBA5}"/>
              </a:ext>
            </a:extLst>
          </p:cNvPr>
          <p:cNvSpPr txBox="1"/>
          <p:nvPr/>
        </p:nvSpPr>
        <p:spPr>
          <a:xfrm>
            <a:off x="1102055" y="4588550"/>
            <a:ext cx="27041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Rejection  Region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</a:rPr>
              <a:t>(Critical Region)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472009-C3F7-ED25-B4B1-03A2EFB7E569}"/>
              </a:ext>
            </a:extLst>
          </p:cNvPr>
          <p:cNvSpPr txBox="1"/>
          <p:nvPr/>
        </p:nvSpPr>
        <p:spPr>
          <a:xfrm>
            <a:off x="7818970" y="4588550"/>
            <a:ext cx="27041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Rejection  Region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</a:rPr>
              <a:t>(Critical Region)</a:t>
            </a:r>
            <a:endParaRPr lang="en-IN" sz="2800" dirty="0">
              <a:solidFill>
                <a:srgbClr val="002060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27754B-B0C6-47F5-97FE-BD33DA305945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5797758" y="3572695"/>
            <a:ext cx="29615" cy="2551708"/>
          </a:xfrm>
          <a:prstGeom prst="line">
            <a:avLst/>
          </a:prstGeom>
          <a:ln w="571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364C67C-86C7-4DA3-96BF-487E93171EB2}"/>
              </a:ext>
            </a:extLst>
          </p:cNvPr>
          <p:cNvSpPr/>
          <p:nvPr/>
        </p:nvSpPr>
        <p:spPr>
          <a:xfrm>
            <a:off x="3806159" y="5281738"/>
            <a:ext cx="831444" cy="842664"/>
          </a:xfrm>
          <a:custGeom>
            <a:avLst/>
            <a:gdLst>
              <a:gd name="connsiteX0" fmla="*/ 831444 w 831444"/>
              <a:gd name="connsiteY0" fmla="*/ 0 h 1001614"/>
              <a:gd name="connsiteX1" fmla="*/ 831444 w 831444"/>
              <a:gd name="connsiteY1" fmla="*/ 840902 h 1001614"/>
              <a:gd name="connsiteX2" fmla="*/ 831444 w 831444"/>
              <a:gd name="connsiteY2" fmla="*/ 1001614 h 1001614"/>
              <a:gd name="connsiteX3" fmla="*/ 0 w 831444"/>
              <a:gd name="connsiteY3" fmla="*/ 1001614 h 1001614"/>
              <a:gd name="connsiteX4" fmla="*/ 0 w 831444"/>
              <a:gd name="connsiteY4" fmla="*/ 840245 h 1001614"/>
              <a:gd name="connsiteX5" fmla="*/ 779906 w 831444"/>
              <a:gd name="connsiteY5" fmla="*/ 117944 h 1001614"/>
              <a:gd name="connsiteX6" fmla="*/ 822581 w 831444"/>
              <a:gd name="connsiteY6" fmla="*/ 21762 h 1001614"/>
              <a:gd name="connsiteX7" fmla="*/ 831444 w 831444"/>
              <a:gd name="connsiteY7" fmla="*/ 0 h 1001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1444" h="1001614">
                <a:moveTo>
                  <a:pt x="831444" y="0"/>
                </a:moveTo>
                <a:lnTo>
                  <a:pt x="831444" y="840902"/>
                </a:lnTo>
                <a:lnTo>
                  <a:pt x="831444" y="1001614"/>
                </a:lnTo>
                <a:lnTo>
                  <a:pt x="0" y="1001614"/>
                </a:lnTo>
                <a:lnTo>
                  <a:pt x="0" y="840245"/>
                </a:lnTo>
                <a:cubicBezTo>
                  <a:pt x="347485" y="840652"/>
                  <a:pt x="571799" y="554667"/>
                  <a:pt x="779906" y="117944"/>
                </a:cubicBezTo>
                <a:cubicBezTo>
                  <a:pt x="792913" y="90649"/>
                  <a:pt x="807168" y="58344"/>
                  <a:pt x="822581" y="21762"/>
                </a:cubicBezTo>
                <a:lnTo>
                  <a:pt x="831444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B545E71-81F8-46AC-ACC5-65176ED82061}"/>
              </a:ext>
            </a:extLst>
          </p:cNvPr>
          <p:cNvSpPr/>
          <p:nvPr/>
        </p:nvSpPr>
        <p:spPr>
          <a:xfrm>
            <a:off x="6992994" y="5296507"/>
            <a:ext cx="831445" cy="832046"/>
          </a:xfrm>
          <a:custGeom>
            <a:avLst/>
            <a:gdLst>
              <a:gd name="connsiteX0" fmla="*/ 0 w 831445"/>
              <a:gd name="connsiteY0" fmla="*/ 0 h 988993"/>
              <a:gd name="connsiteX1" fmla="*/ 5846 w 831445"/>
              <a:gd name="connsiteY1" fmla="*/ 14145 h 988993"/>
              <a:gd name="connsiteX2" fmla="*/ 48272 w 831445"/>
              <a:gd name="connsiteY2" fmla="*/ 109662 h 988993"/>
              <a:gd name="connsiteX3" fmla="*/ 704611 w 831445"/>
              <a:gd name="connsiteY3" fmla="*/ 815551 h 988993"/>
              <a:gd name="connsiteX4" fmla="*/ 831445 w 831445"/>
              <a:gd name="connsiteY4" fmla="*/ 830798 h 988993"/>
              <a:gd name="connsiteX5" fmla="*/ 831445 w 831445"/>
              <a:gd name="connsiteY5" fmla="*/ 830798 h 988993"/>
              <a:gd name="connsiteX6" fmla="*/ 831445 w 831445"/>
              <a:gd name="connsiteY6" fmla="*/ 988993 h 988993"/>
              <a:gd name="connsiteX7" fmla="*/ 0 w 831445"/>
              <a:gd name="connsiteY7" fmla="*/ 988993 h 988993"/>
              <a:gd name="connsiteX8" fmla="*/ 0 w 831445"/>
              <a:gd name="connsiteY8" fmla="*/ 830141 h 988993"/>
              <a:gd name="connsiteX9" fmla="*/ 0 w 831445"/>
              <a:gd name="connsiteY9" fmla="*/ 0 h 988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31445" h="988993">
                <a:moveTo>
                  <a:pt x="0" y="0"/>
                </a:moveTo>
                <a:lnTo>
                  <a:pt x="5846" y="14145"/>
                </a:lnTo>
                <a:cubicBezTo>
                  <a:pt x="21317" y="50547"/>
                  <a:pt x="35495" y="82632"/>
                  <a:pt x="48272" y="109662"/>
                </a:cubicBezTo>
                <a:cubicBezTo>
                  <a:pt x="227148" y="488090"/>
                  <a:pt x="421762" y="751058"/>
                  <a:pt x="704611" y="815551"/>
                </a:cubicBezTo>
                <a:lnTo>
                  <a:pt x="831445" y="830798"/>
                </a:lnTo>
                <a:lnTo>
                  <a:pt x="831445" y="830798"/>
                </a:lnTo>
                <a:lnTo>
                  <a:pt x="831445" y="988993"/>
                </a:lnTo>
                <a:lnTo>
                  <a:pt x="0" y="988993"/>
                </a:lnTo>
                <a:lnTo>
                  <a:pt x="0" y="830141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E62BD-4D1C-264D-4E2D-041C62ECBADC}"/>
              </a:ext>
            </a:extLst>
          </p:cNvPr>
          <p:cNvCxnSpPr>
            <a:cxnSpLocks/>
          </p:cNvCxnSpPr>
          <p:nvPr/>
        </p:nvCxnSpPr>
        <p:spPr>
          <a:xfrm>
            <a:off x="3806159" y="5257768"/>
            <a:ext cx="643874" cy="689999"/>
          </a:xfrm>
          <a:prstGeom prst="straightConnector1">
            <a:avLst/>
          </a:prstGeom>
          <a:ln w="57150">
            <a:solidFill>
              <a:srgbClr val="FF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F3FE2B0-25EB-CCB0-CF83-A84552EE9328}"/>
              </a:ext>
            </a:extLst>
          </p:cNvPr>
          <p:cNvCxnSpPr>
            <a:cxnSpLocks/>
          </p:cNvCxnSpPr>
          <p:nvPr/>
        </p:nvCxnSpPr>
        <p:spPr>
          <a:xfrm flipH="1">
            <a:off x="7128756" y="5296507"/>
            <a:ext cx="695683" cy="690650"/>
          </a:xfrm>
          <a:prstGeom prst="straightConnector1">
            <a:avLst/>
          </a:prstGeom>
          <a:ln w="57150">
            <a:solidFill>
              <a:srgbClr val="FF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105623-9DB4-48CD-9C73-767ED8BF135E}"/>
              </a:ext>
            </a:extLst>
          </p:cNvPr>
          <p:cNvCxnSpPr>
            <a:cxnSpLocks/>
          </p:cNvCxnSpPr>
          <p:nvPr/>
        </p:nvCxnSpPr>
        <p:spPr>
          <a:xfrm flipV="1">
            <a:off x="6992994" y="5346700"/>
            <a:ext cx="0" cy="7679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6A67BC4-65D0-4776-A944-F7155BDC98AA}"/>
              </a:ext>
            </a:extLst>
          </p:cNvPr>
          <p:cNvCxnSpPr>
            <a:cxnSpLocks/>
          </p:cNvCxnSpPr>
          <p:nvPr/>
        </p:nvCxnSpPr>
        <p:spPr>
          <a:xfrm flipV="1">
            <a:off x="4624903" y="5346700"/>
            <a:ext cx="0" cy="7679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3AE0089-0551-42A5-802B-CAD6A4BC4541}"/>
              </a:ext>
            </a:extLst>
          </p:cNvPr>
          <p:cNvSpPr/>
          <p:nvPr/>
        </p:nvSpPr>
        <p:spPr>
          <a:xfrm>
            <a:off x="3806161" y="3572694"/>
            <a:ext cx="4018278" cy="2423541"/>
          </a:xfrm>
          <a:custGeom>
            <a:avLst/>
            <a:gdLst>
              <a:gd name="connsiteX0" fmla="*/ 0 w 4387309"/>
              <a:gd name="connsiteY0" fmla="*/ 2386358 h 2416416"/>
              <a:gd name="connsiteX1" fmla="*/ 525780 w 4387309"/>
              <a:gd name="connsiteY1" fmla="*/ 2123468 h 2416416"/>
              <a:gd name="connsiteX2" fmla="*/ 1668780 w 4387309"/>
              <a:gd name="connsiteY2" fmla="*/ 271808 h 2416416"/>
              <a:gd name="connsiteX3" fmla="*/ 2594610 w 4387309"/>
              <a:gd name="connsiteY3" fmla="*/ 191798 h 2416416"/>
              <a:gd name="connsiteX4" fmla="*/ 3669030 w 4387309"/>
              <a:gd name="connsiteY4" fmla="*/ 2009168 h 2416416"/>
              <a:gd name="connsiteX5" fmla="*/ 4023360 w 4387309"/>
              <a:gd name="connsiteY5" fmla="*/ 2386358 h 2416416"/>
              <a:gd name="connsiteX6" fmla="*/ 4377690 w 4387309"/>
              <a:gd name="connsiteY6" fmla="*/ 2386358 h 2416416"/>
              <a:gd name="connsiteX7" fmla="*/ 4251960 w 4387309"/>
              <a:gd name="connsiteY7" fmla="*/ 2397788 h 2416416"/>
              <a:gd name="connsiteX0" fmla="*/ 0 w 4403567"/>
              <a:gd name="connsiteY0" fmla="*/ 2386358 h 2416416"/>
              <a:gd name="connsiteX1" fmla="*/ 525780 w 4403567"/>
              <a:gd name="connsiteY1" fmla="*/ 2123468 h 2416416"/>
              <a:gd name="connsiteX2" fmla="*/ 1668780 w 4403567"/>
              <a:gd name="connsiteY2" fmla="*/ 271808 h 2416416"/>
              <a:gd name="connsiteX3" fmla="*/ 2594610 w 4403567"/>
              <a:gd name="connsiteY3" fmla="*/ 191798 h 2416416"/>
              <a:gd name="connsiteX4" fmla="*/ 3669030 w 4403567"/>
              <a:gd name="connsiteY4" fmla="*/ 2009168 h 2416416"/>
              <a:gd name="connsiteX5" fmla="*/ 4023360 w 4403567"/>
              <a:gd name="connsiteY5" fmla="*/ 2386358 h 2416416"/>
              <a:gd name="connsiteX6" fmla="*/ 4377690 w 4403567"/>
              <a:gd name="connsiteY6" fmla="*/ 2386358 h 2416416"/>
              <a:gd name="connsiteX7" fmla="*/ 4337238 w 4403567"/>
              <a:gd name="connsiteY7" fmla="*/ 2152628 h 2416416"/>
              <a:gd name="connsiteX0" fmla="*/ 0 w 4377690"/>
              <a:gd name="connsiteY0" fmla="*/ 2386358 h 2416416"/>
              <a:gd name="connsiteX1" fmla="*/ 525780 w 4377690"/>
              <a:gd name="connsiteY1" fmla="*/ 2123468 h 2416416"/>
              <a:gd name="connsiteX2" fmla="*/ 1668780 w 4377690"/>
              <a:gd name="connsiteY2" fmla="*/ 271808 h 2416416"/>
              <a:gd name="connsiteX3" fmla="*/ 2594610 w 4377690"/>
              <a:gd name="connsiteY3" fmla="*/ 191798 h 2416416"/>
              <a:gd name="connsiteX4" fmla="*/ 3669030 w 4377690"/>
              <a:gd name="connsiteY4" fmla="*/ 2009168 h 2416416"/>
              <a:gd name="connsiteX5" fmla="*/ 4023360 w 4377690"/>
              <a:gd name="connsiteY5" fmla="*/ 2386358 h 2416416"/>
              <a:gd name="connsiteX6" fmla="*/ 4377690 w 4377690"/>
              <a:gd name="connsiteY6" fmla="*/ 2386358 h 2416416"/>
              <a:gd name="connsiteX0" fmla="*/ 0 w 4393195"/>
              <a:gd name="connsiteY0" fmla="*/ 2386358 h 2554098"/>
              <a:gd name="connsiteX1" fmla="*/ 525780 w 4393195"/>
              <a:gd name="connsiteY1" fmla="*/ 2123468 h 2554098"/>
              <a:gd name="connsiteX2" fmla="*/ 1668780 w 4393195"/>
              <a:gd name="connsiteY2" fmla="*/ 271808 h 2554098"/>
              <a:gd name="connsiteX3" fmla="*/ 2594610 w 4393195"/>
              <a:gd name="connsiteY3" fmla="*/ 191798 h 2554098"/>
              <a:gd name="connsiteX4" fmla="*/ 3669030 w 4393195"/>
              <a:gd name="connsiteY4" fmla="*/ 2009168 h 2554098"/>
              <a:gd name="connsiteX5" fmla="*/ 4023360 w 4393195"/>
              <a:gd name="connsiteY5" fmla="*/ 2386358 h 2554098"/>
              <a:gd name="connsiteX6" fmla="*/ 4393195 w 4393195"/>
              <a:gd name="connsiteY6" fmla="*/ 2554098 h 2554098"/>
              <a:gd name="connsiteX0" fmla="*/ 0 w 4408700"/>
              <a:gd name="connsiteY0" fmla="*/ 2489583 h 2554098"/>
              <a:gd name="connsiteX1" fmla="*/ 541285 w 4408700"/>
              <a:gd name="connsiteY1" fmla="*/ 2123468 h 2554098"/>
              <a:gd name="connsiteX2" fmla="*/ 1684285 w 4408700"/>
              <a:gd name="connsiteY2" fmla="*/ 271808 h 2554098"/>
              <a:gd name="connsiteX3" fmla="*/ 2610115 w 4408700"/>
              <a:gd name="connsiteY3" fmla="*/ 191798 h 2554098"/>
              <a:gd name="connsiteX4" fmla="*/ 3684535 w 4408700"/>
              <a:gd name="connsiteY4" fmla="*/ 2009168 h 2554098"/>
              <a:gd name="connsiteX5" fmla="*/ 4038865 w 4408700"/>
              <a:gd name="connsiteY5" fmla="*/ 2386358 h 2554098"/>
              <a:gd name="connsiteX6" fmla="*/ 4408700 w 4408700"/>
              <a:gd name="connsiteY6" fmla="*/ 2554098 h 2554098"/>
              <a:gd name="connsiteX0" fmla="*/ 0 w 4408700"/>
              <a:gd name="connsiteY0" fmla="*/ 2489583 h 2554098"/>
              <a:gd name="connsiteX1" fmla="*/ 541285 w 4408700"/>
              <a:gd name="connsiteY1" fmla="*/ 2123468 h 2554098"/>
              <a:gd name="connsiteX2" fmla="*/ 1684285 w 4408700"/>
              <a:gd name="connsiteY2" fmla="*/ 271808 h 2554098"/>
              <a:gd name="connsiteX3" fmla="*/ 2610115 w 4408700"/>
              <a:gd name="connsiteY3" fmla="*/ 191798 h 2554098"/>
              <a:gd name="connsiteX4" fmla="*/ 3684535 w 4408700"/>
              <a:gd name="connsiteY4" fmla="*/ 2009168 h 2554098"/>
              <a:gd name="connsiteX5" fmla="*/ 4038865 w 4408700"/>
              <a:gd name="connsiteY5" fmla="*/ 2386358 h 2554098"/>
              <a:gd name="connsiteX6" fmla="*/ 4408700 w 4408700"/>
              <a:gd name="connsiteY6" fmla="*/ 2554098 h 2554098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255937 w 4625772"/>
              <a:gd name="connsiteY5" fmla="*/ 2386358 h 2599260"/>
              <a:gd name="connsiteX6" fmla="*/ 4625772 w 4625772"/>
              <a:gd name="connsiteY6" fmla="*/ 2554098 h 2599260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625772 w 4625772"/>
              <a:gd name="connsiteY5" fmla="*/ 2554098 h 2599260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625772 w 4625772"/>
              <a:gd name="connsiteY5" fmla="*/ 2554098 h 2599260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625772 w 4625772"/>
              <a:gd name="connsiteY5" fmla="*/ 2554098 h 2599260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625772 w 4625772"/>
              <a:gd name="connsiteY5" fmla="*/ 2554098 h 2599260"/>
              <a:gd name="connsiteX0" fmla="*/ 0 w 4625772"/>
              <a:gd name="connsiteY0" fmla="*/ 2596416 h 2596416"/>
              <a:gd name="connsiteX1" fmla="*/ 851388 w 4625772"/>
              <a:gd name="connsiteY1" fmla="*/ 2069012 h 2596416"/>
              <a:gd name="connsiteX2" fmla="*/ 1901357 w 4625772"/>
              <a:gd name="connsiteY2" fmla="*/ 268964 h 2596416"/>
              <a:gd name="connsiteX3" fmla="*/ 2827187 w 4625772"/>
              <a:gd name="connsiteY3" fmla="*/ 188954 h 2596416"/>
              <a:gd name="connsiteX4" fmla="*/ 3901607 w 4625772"/>
              <a:gd name="connsiteY4" fmla="*/ 2006324 h 2596416"/>
              <a:gd name="connsiteX5" fmla="*/ 4625772 w 4625772"/>
              <a:gd name="connsiteY5" fmla="*/ 2551254 h 2596416"/>
              <a:gd name="connsiteX0" fmla="*/ 0 w 4625772"/>
              <a:gd name="connsiteY0" fmla="*/ 2596416 h 2596416"/>
              <a:gd name="connsiteX1" fmla="*/ 851388 w 4625772"/>
              <a:gd name="connsiteY1" fmla="*/ 2069012 h 2596416"/>
              <a:gd name="connsiteX2" fmla="*/ 1901357 w 4625772"/>
              <a:gd name="connsiteY2" fmla="*/ 268964 h 2596416"/>
              <a:gd name="connsiteX3" fmla="*/ 2827187 w 4625772"/>
              <a:gd name="connsiteY3" fmla="*/ 188954 h 2596416"/>
              <a:gd name="connsiteX4" fmla="*/ 3901607 w 4625772"/>
              <a:gd name="connsiteY4" fmla="*/ 2006324 h 2596416"/>
              <a:gd name="connsiteX5" fmla="*/ 4625772 w 4625772"/>
              <a:gd name="connsiteY5" fmla="*/ 2551254 h 2596416"/>
              <a:gd name="connsiteX0" fmla="*/ 0 w 4625772"/>
              <a:gd name="connsiteY0" fmla="*/ 2638974 h 2638974"/>
              <a:gd name="connsiteX1" fmla="*/ 851388 w 4625772"/>
              <a:gd name="connsiteY1" fmla="*/ 2111570 h 2638974"/>
              <a:gd name="connsiteX2" fmla="*/ 1901357 w 4625772"/>
              <a:gd name="connsiteY2" fmla="*/ 311522 h 2638974"/>
              <a:gd name="connsiteX3" fmla="*/ 2396614 w 4625772"/>
              <a:gd name="connsiteY3" fmla="*/ 33500 h 2638974"/>
              <a:gd name="connsiteX4" fmla="*/ 2827187 w 4625772"/>
              <a:gd name="connsiteY4" fmla="*/ 231512 h 2638974"/>
              <a:gd name="connsiteX5" fmla="*/ 3901607 w 4625772"/>
              <a:gd name="connsiteY5" fmla="*/ 2048882 h 2638974"/>
              <a:gd name="connsiteX6" fmla="*/ 4625772 w 4625772"/>
              <a:gd name="connsiteY6" fmla="*/ 2593812 h 2638974"/>
              <a:gd name="connsiteX0" fmla="*/ 0 w 4625772"/>
              <a:gd name="connsiteY0" fmla="*/ 2862217 h 2862217"/>
              <a:gd name="connsiteX1" fmla="*/ 851388 w 4625772"/>
              <a:gd name="connsiteY1" fmla="*/ 2334813 h 2862217"/>
              <a:gd name="connsiteX2" fmla="*/ 1901357 w 4625772"/>
              <a:gd name="connsiteY2" fmla="*/ 534765 h 2862217"/>
              <a:gd name="connsiteX3" fmla="*/ 2415220 w 4625772"/>
              <a:gd name="connsiteY3" fmla="*/ 1262 h 2862217"/>
              <a:gd name="connsiteX4" fmla="*/ 2827187 w 4625772"/>
              <a:gd name="connsiteY4" fmla="*/ 454755 h 2862217"/>
              <a:gd name="connsiteX5" fmla="*/ 3901607 w 4625772"/>
              <a:gd name="connsiteY5" fmla="*/ 2272125 h 2862217"/>
              <a:gd name="connsiteX6" fmla="*/ 4625772 w 4625772"/>
              <a:gd name="connsiteY6" fmla="*/ 2817055 h 2862217"/>
              <a:gd name="connsiteX0" fmla="*/ 0 w 4625772"/>
              <a:gd name="connsiteY0" fmla="*/ 2869891 h 2869891"/>
              <a:gd name="connsiteX1" fmla="*/ 851388 w 4625772"/>
              <a:gd name="connsiteY1" fmla="*/ 2342487 h 2869891"/>
              <a:gd name="connsiteX2" fmla="*/ 1901357 w 4625772"/>
              <a:gd name="connsiteY2" fmla="*/ 542439 h 2869891"/>
              <a:gd name="connsiteX3" fmla="*/ 2350098 w 4625772"/>
              <a:gd name="connsiteY3" fmla="*/ 1194 h 2869891"/>
              <a:gd name="connsiteX4" fmla="*/ 2827187 w 4625772"/>
              <a:gd name="connsiteY4" fmla="*/ 462429 h 2869891"/>
              <a:gd name="connsiteX5" fmla="*/ 3901607 w 4625772"/>
              <a:gd name="connsiteY5" fmla="*/ 2279799 h 2869891"/>
              <a:gd name="connsiteX6" fmla="*/ 4625772 w 4625772"/>
              <a:gd name="connsiteY6" fmla="*/ 2824729 h 2869891"/>
              <a:gd name="connsiteX0" fmla="*/ 0 w 4625772"/>
              <a:gd name="connsiteY0" fmla="*/ 2895513 h 2895513"/>
              <a:gd name="connsiteX1" fmla="*/ 851388 w 4625772"/>
              <a:gd name="connsiteY1" fmla="*/ 2368109 h 2895513"/>
              <a:gd name="connsiteX2" fmla="*/ 1901357 w 4625772"/>
              <a:gd name="connsiteY2" fmla="*/ 568061 h 2895513"/>
              <a:gd name="connsiteX3" fmla="*/ 2299707 w 4625772"/>
              <a:gd name="connsiteY3" fmla="*/ 1010 h 2895513"/>
              <a:gd name="connsiteX4" fmla="*/ 2827187 w 4625772"/>
              <a:gd name="connsiteY4" fmla="*/ 488051 h 2895513"/>
              <a:gd name="connsiteX5" fmla="*/ 3901607 w 4625772"/>
              <a:gd name="connsiteY5" fmla="*/ 2305421 h 2895513"/>
              <a:gd name="connsiteX6" fmla="*/ 4625772 w 4625772"/>
              <a:gd name="connsiteY6" fmla="*/ 2850351 h 2895513"/>
              <a:gd name="connsiteX0" fmla="*/ 0 w 4625772"/>
              <a:gd name="connsiteY0" fmla="*/ 2894503 h 2894503"/>
              <a:gd name="connsiteX1" fmla="*/ 851388 w 4625772"/>
              <a:gd name="connsiteY1" fmla="*/ 2367099 h 2894503"/>
              <a:gd name="connsiteX2" fmla="*/ 1901357 w 4625772"/>
              <a:gd name="connsiteY2" fmla="*/ 567051 h 2894503"/>
              <a:gd name="connsiteX3" fmla="*/ 2299707 w 4625772"/>
              <a:gd name="connsiteY3" fmla="*/ 0 h 2894503"/>
              <a:gd name="connsiteX4" fmla="*/ 2827187 w 4625772"/>
              <a:gd name="connsiteY4" fmla="*/ 487041 h 2894503"/>
              <a:gd name="connsiteX5" fmla="*/ 3901607 w 4625772"/>
              <a:gd name="connsiteY5" fmla="*/ 2304411 h 2894503"/>
              <a:gd name="connsiteX6" fmla="*/ 4625772 w 4625772"/>
              <a:gd name="connsiteY6" fmla="*/ 2849341 h 2894503"/>
              <a:gd name="connsiteX0" fmla="*/ 0 w 4625772"/>
              <a:gd name="connsiteY0" fmla="*/ 2894803 h 2894803"/>
              <a:gd name="connsiteX1" fmla="*/ 851388 w 4625772"/>
              <a:gd name="connsiteY1" fmla="*/ 2367399 h 2894803"/>
              <a:gd name="connsiteX2" fmla="*/ 1901357 w 4625772"/>
              <a:gd name="connsiteY2" fmla="*/ 567351 h 2894803"/>
              <a:gd name="connsiteX3" fmla="*/ 2299707 w 4625772"/>
              <a:gd name="connsiteY3" fmla="*/ 300 h 2894803"/>
              <a:gd name="connsiteX4" fmla="*/ 2827187 w 4625772"/>
              <a:gd name="connsiteY4" fmla="*/ 487341 h 2894803"/>
              <a:gd name="connsiteX5" fmla="*/ 3901607 w 4625772"/>
              <a:gd name="connsiteY5" fmla="*/ 2304711 h 2894803"/>
              <a:gd name="connsiteX6" fmla="*/ 4625772 w 4625772"/>
              <a:gd name="connsiteY6" fmla="*/ 2849641 h 2894803"/>
              <a:gd name="connsiteX0" fmla="*/ 0 w 4625772"/>
              <a:gd name="connsiteY0" fmla="*/ 2894803 h 2894803"/>
              <a:gd name="connsiteX1" fmla="*/ 851388 w 4625772"/>
              <a:gd name="connsiteY1" fmla="*/ 2367399 h 2894803"/>
              <a:gd name="connsiteX2" fmla="*/ 1901357 w 4625772"/>
              <a:gd name="connsiteY2" fmla="*/ 567351 h 2894803"/>
              <a:gd name="connsiteX3" fmla="*/ 2299707 w 4625772"/>
              <a:gd name="connsiteY3" fmla="*/ 300 h 2894803"/>
              <a:gd name="connsiteX4" fmla="*/ 2827187 w 4625772"/>
              <a:gd name="connsiteY4" fmla="*/ 487341 h 2894803"/>
              <a:gd name="connsiteX5" fmla="*/ 3901607 w 4625772"/>
              <a:gd name="connsiteY5" fmla="*/ 2304711 h 2894803"/>
              <a:gd name="connsiteX6" fmla="*/ 4625772 w 4625772"/>
              <a:gd name="connsiteY6" fmla="*/ 2849641 h 2894803"/>
              <a:gd name="connsiteX0" fmla="*/ 0 w 4625772"/>
              <a:gd name="connsiteY0" fmla="*/ 2894594 h 2894594"/>
              <a:gd name="connsiteX1" fmla="*/ 851388 w 4625772"/>
              <a:gd name="connsiteY1" fmla="*/ 2367190 h 2894594"/>
              <a:gd name="connsiteX2" fmla="*/ 1901357 w 4625772"/>
              <a:gd name="connsiteY2" fmla="*/ 567142 h 2894594"/>
              <a:gd name="connsiteX3" fmla="*/ 2299707 w 4625772"/>
              <a:gd name="connsiteY3" fmla="*/ 91 h 2894594"/>
              <a:gd name="connsiteX4" fmla="*/ 2827187 w 4625772"/>
              <a:gd name="connsiteY4" fmla="*/ 487132 h 2894594"/>
              <a:gd name="connsiteX5" fmla="*/ 3901607 w 4625772"/>
              <a:gd name="connsiteY5" fmla="*/ 2304502 h 2894594"/>
              <a:gd name="connsiteX6" fmla="*/ 4625772 w 4625772"/>
              <a:gd name="connsiteY6" fmla="*/ 2849432 h 2894594"/>
              <a:gd name="connsiteX0" fmla="*/ 0 w 4625772"/>
              <a:gd name="connsiteY0" fmla="*/ 2985198 h 2985198"/>
              <a:gd name="connsiteX1" fmla="*/ 851388 w 4625772"/>
              <a:gd name="connsiteY1" fmla="*/ 2457794 h 2985198"/>
              <a:gd name="connsiteX2" fmla="*/ 1901357 w 4625772"/>
              <a:gd name="connsiteY2" fmla="*/ 657746 h 2985198"/>
              <a:gd name="connsiteX3" fmla="*/ 2299707 w 4625772"/>
              <a:gd name="connsiteY3" fmla="*/ 90695 h 2985198"/>
              <a:gd name="connsiteX4" fmla="*/ 3901607 w 4625772"/>
              <a:gd name="connsiteY4" fmla="*/ 2395106 h 2985198"/>
              <a:gd name="connsiteX5" fmla="*/ 4625772 w 4625772"/>
              <a:gd name="connsiteY5" fmla="*/ 2940036 h 2985198"/>
              <a:gd name="connsiteX0" fmla="*/ 0 w 4625772"/>
              <a:gd name="connsiteY0" fmla="*/ 2894503 h 2894503"/>
              <a:gd name="connsiteX1" fmla="*/ 851388 w 4625772"/>
              <a:gd name="connsiteY1" fmla="*/ 2367099 h 2894503"/>
              <a:gd name="connsiteX2" fmla="*/ 2299707 w 4625772"/>
              <a:gd name="connsiteY2" fmla="*/ 0 h 2894503"/>
              <a:gd name="connsiteX3" fmla="*/ 3901607 w 4625772"/>
              <a:gd name="connsiteY3" fmla="*/ 2304411 h 2894503"/>
              <a:gd name="connsiteX4" fmla="*/ 4625772 w 4625772"/>
              <a:gd name="connsiteY4" fmla="*/ 2849341 h 2894503"/>
              <a:gd name="connsiteX0" fmla="*/ 0 w 4625772"/>
              <a:gd name="connsiteY0" fmla="*/ 2920938 h 2920938"/>
              <a:gd name="connsiteX1" fmla="*/ 851388 w 4625772"/>
              <a:gd name="connsiteY1" fmla="*/ 2393534 h 2920938"/>
              <a:gd name="connsiteX2" fmla="*/ 2299707 w 4625772"/>
              <a:gd name="connsiteY2" fmla="*/ 26435 h 2920938"/>
              <a:gd name="connsiteX3" fmla="*/ 3901607 w 4625772"/>
              <a:gd name="connsiteY3" fmla="*/ 2330846 h 2920938"/>
              <a:gd name="connsiteX4" fmla="*/ 4625772 w 4625772"/>
              <a:gd name="connsiteY4" fmla="*/ 2875776 h 2920938"/>
              <a:gd name="connsiteX0" fmla="*/ 0 w 4625772"/>
              <a:gd name="connsiteY0" fmla="*/ 2894510 h 2894510"/>
              <a:gd name="connsiteX1" fmla="*/ 851388 w 4625772"/>
              <a:gd name="connsiteY1" fmla="*/ 2367106 h 2894510"/>
              <a:gd name="connsiteX2" fmla="*/ 2299707 w 4625772"/>
              <a:gd name="connsiteY2" fmla="*/ 7 h 2894510"/>
              <a:gd name="connsiteX3" fmla="*/ 3901607 w 4625772"/>
              <a:gd name="connsiteY3" fmla="*/ 2304418 h 2894510"/>
              <a:gd name="connsiteX4" fmla="*/ 4625772 w 4625772"/>
              <a:gd name="connsiteY4" fmla="*/ 2849348 h 2894510"/>
              <a:gd name="connsiteX0" fmla="*/ 0 w 4625772"/>
              <a:gd name="connsiteY0" fmla="*/ 2894816 h 2894816"/>
              <a:gd name="connsiteX1" fmla="*/ 851388 w 4625772"/>
              <a:gd name="connsiteY1" fmla="*/ 2367412 h 2894816"/>
              <a:gd name="connsiteX2" fmla="*/ 2299707 w 4625772"/>
              <a:gd name="connsiteY2" fmla="*/ 313 h 2894816"/>
              <a:gd name="connsiteX3" fmla="*/ 3631817 w 4625772"/>
              <a:gd name="connsiteY3" fmla="*/ 2204080 h 2894816"/>
              <a:gd name="connsiteX4" fmla="*/ 4625772 w 4625772"/>
              <a:gd name="connsiteY4" fmla="*/ 2849654 h 2894816"/>
              <a:gd name="connsiteX0" fmla="*/ 0 w 4625772"/>
              <a:gd name="connsiteY0" fmla="*/ 2894855 h 2894855"/>
              <a:gd name="connsiteX1" fmla="*/ 851388 w 4625772"/>
              <a:gd name="connsiteY1" fmla="*/ 2367451 h 2894855"/>
              <a:gd name="connsiteX2" fmla="*/ 2299707 w 4625772"/>
              <a:gd name="connsiteY2" fmla="*/ 352 h 2894855"/>
              <a:gd name="connsiteX3" fmla="*/ 3817879 w 4625772"/>
              <a:gd name="connsiteY3" fmla="*/ 2194442 h 2894855"/>
              <a:gd name="connsiteX4" fmla="*/ 4625772 w 4625772"/>
              <a:gd name="connsiteY4" fmla="*/ 2849693 h 2894855"/>
              <a:gd name="connsiteX0" fmla="*/ 0 w 4625772"/>
              <a:gd name="connsiteY0" fmla="*/ 2894842 h 2894842"/>
              <a:gd name="connsiteX1" fmla="*/ 851388 w 4625772"/>
              <a:gd name="connsiteY1" fmla="*/ 2367438 h 2894842"/>
              <a:gd name="connsiteX2" fmla="*/ 2299707 w 4625772"/>
              <a:gd name="connsiteY2" fmla="*/ 339 h 2894842"/>
              <a:gd name="connsiteX3" fmla="*/ 3817879 w 4625772"/>
              <a:gd name="connsiteY3" fmla="*/ 2194429 h 2894842"/>
              <a:gd name="connsiteX4" fmla="*/ 4625772 w 4625772"/>
              <a:gd name="connsiteY4" fmla="*/ 2849680 h 2894842"/>
              <a:gd name="connsiteX0" fmla="*/ 0 w 4625772"/>
              <a:gd name="connsiteY0" fmla="*/ 2894504 h 2894504"/>
              <a:gd name="connsiteX1" fmla="*/ 820378 w 4625772"/>
              <a:gd name="connsiteY1" fmla="*/ 2189683 h 2894504"/>
              <a:gd name="connsiteX2" fmla="*/ 2299707 w 4625772"/>
              <a:gd name="connsiteY2" fmla="*/ 1 h 2894504"/>
              <a:gd name="connsiteX3" fmla="*/ 3817879 w 4625772"/>
              <a:gd name="connsiteY3" fmla="*/ 2194091 h 2894504"/>
              <a:gd name="connsiteX4" fmla="*/ 4625772 w 4625772"/>
              <a:gd name="connsiteY4" fmla="*/ 2849342 h 2894504"/>
              <a:gd name="connsiteX0" fmla="*/ 0 w 4625772"/>
              <a:gd name="connsiteY0" fmla="*/ 2894504 h 2894504"/>
              <a:gd name="connsiteX1" fmla="*/ 820378 w 4625772"/>
              <a:gd name="connsiteY1" fmla="*/ 2189683 h 2894504"/>
              <a:gd name="connsiteX2" fmla="*/ 2299707 w 4625772"/>
              <a:gd name="connsiteY2" fmla="*/ 1 h 2894504"/>
              <a:gd name="connsiteX3" fmla="*/ 3817879 w 4625772"/>
              <a:gd name="connsiteY3" fmla="*/ 2194091 h 2894504"/>
              <a:gd name="connsiteX4" fmla="*/ 4625772 w 4625772"/>
              <a:gd name="connsiteY4" fmla="*/ 2849342 h 2894504"/>
              <a:gd name="connsiteX0" fmla="*/ 0 w 4625772"/>
              <a:gd name="connsiteY0" fmla="*/ 2894504 h 2894504"/>
              <a:gd name="connsiteX1" fmla="*/ 820378 w 4625772"/>
              <a:gd name="connsiteY1" fmla="*/ 2189683 h 2894504"/>
              <a:gd name="connsiteX2" fmla="*/ 2299707 w 4625772"/>
              <a:gd name="connsiteY2" fmla="*/ 1 h 2894504"/>
              <a:gd name="connsiteX3" fmla="*/ 3817879 w 4625772"/>
              <a:gd name="connsiteY3" fmla="*/ 2194091 h 2894504"/>
              <a:gd name="connsiteX4" fmla="*/ 4625772 w 4625772"/>
              <a:gd name="connsiteY4" fmla="*/ 2849342 h 2894504"/>
              <a:gd name="connsiteX0" fmla="*/ 0 w 4625772"/>
              <a:gd name="connsiteY0" fmla="*/ 2894504 h 2894504"/>
              <a:gd name="connsiteX1" fmla="*/ 820378 w 4625772"/>
              <a:gd name="connsiteY1" fmla="*/ 2189683 h 2894504"/>
              <a:gd name="connsiteX2" fmla="*/ 2299707 w 4625772"/>
              <a:gd name="connsiteY2" fmla="*/ 1 h 2894504"/>
              <a:gd name="connsiteX3" fmla="*/ 3817879 w 4625772"/>
              <a:gd name="connsiteY3" fmla="*/ 2194091 h 2894504"/>
              <a:gd name="connsiteX4" fmla="*/ 4625772 w 4625772"/>
              <a:gd name="connsiteY4" fmla="*/ 2849342 h 2894504"/>
              <a:gd name="connsiteX0" fmla="*/ 0 w 4774041"/>
              <a:gd name="connsiteY0" fmla="*/ 2894504 h 2926761"/>
              <a:gd name="connsiteX1" fmla="*/ 820378 w 4774041"/>
              <a:gd name="connsiteY1" fmla="*/ 2189683 h 2926761"/>
              <a:gd name="connsiteX2" fmla="*/ 2299707 w 4774041"/>
              <a:gd name="connsiteY2" fmla="*/ 1 h 2926761"/>
              <a:gd name="connsiteX3" fmla="*/ 3817879 w 4774041"/>
              <a:gd name="connsiteY3" fmla="*/ 2194091 h 2926761"/>
              <a:gd name="connsiteX4" fmla="*/ 4774041 w 4774041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5835" h="2926761">
                <a:moveTo>
                  <a:pt x="0" y="2923536"/>
                </a:moveTo>
                <a:cubicBezTo>
                  <a:pt x="424237" y="2923950"/>
                  <a:pt x="698098" y="2633391"/>
                  <a:pt x="952172" y="2189683"/>
                </a:cubicBezTo>
                <a:cubicBezTo>
                  <a:pt x="1206246" y="1745975"/>
                  <a:pt x="1850515" y="-734"/>
                  <a:pt x="2431501" y="1"/>
                </a:cubicBezTo>
                <a:cubicBezTo>
                  <a:pt x="3012487" y="736"/>
                  <a:pt x="3700088" y="1754685"/>
                  <a:pt x="3949673" y="2194091"/>
                </a:cubicBezTo>
                <a:cubicBezTo>
                  <a:pt x="4199258" y="2633497"/>
                  <a:pt x="4473937" y="2919686"/>
                  <a:pt x="4905835" y="2926761"/>
                </a:cubicBezTo>
              </a:path>
            </a:pathLst>
          </a:cu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A44E6C1-4B16-4EF1-8742-0632BD1D64D1}"/>
              </a:ext>
            </a:extLst>
          </p:cNvPr>
          <p:cNvCxnSpPr>
            <a:cxnSpLocks/>
          </p:cNvCxnSpPr>
          <p:nvPr/>
        </p:nvCxnSpPr>
        <p:spPr>
          <a:xfrm>
            <a:off x="3806161" y="6129325"/>
            <a:ext cx="401827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17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/>
      <p:bldP spid="21" grpId="0"/>
      <p:bldP spid="25" grpId="0"/>
      <p:bldP spid="23" grpId="0" animBg="1"/>
      <p:bldP spid="24" grpId="0" animBg="1"/>
      <p:bldP spid="2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ECDD7-551F-20D7-6739-0776DCF9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B650-69AB-5AA5-DEE8-A026245D6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Level of Significance in Critical Region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18431F-8C57-4B96-0A8B-6C0725DFAF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dirty="0"/>
                  <a:t>The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 determines the size of the critical region.</a:t>
                </a:r>
              </a:p>
              <a:p>
                <a:pPr lvl="1"/>
                <a:r>
                  <a:rPr lang="en-US" dirty="0"/>
                  <a:t>In simple words,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 tells us how much area of the distribution will be used to reject the null hypothesis.</a:t>
                </a:r>
              </a:p>
              <a:p>
                <a:r>
                  <a:rPr lang="en-US" dirty="0"/>
                  <a:t>The total probability of the critical region </a:t>
                </a:r>
                <a14:m>
                  <m:oMath xmlns:m="http://schemas.openxmlformats.org/officeDocument/2006/math"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This area is placed in the tails of the distribution.</a:t>
                </a:r>
              </a:p>
              <a:p>
                <a:pPr lvl="1"/>
                <a:r>
                  <a:rPr lang="en-US" dirty="0"/>
                  <a:t>So,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=5%,</m:t>
                    </m:r>
                  </m:oMath>
                </a14:m>
                <a:r>
                  <a:rPr lang="en-US" dirty="0"/>
                  <a:t> then Total rejection area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=0.05 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5%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18431F-8C57-4B96-0A8B-6C0725DFAF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299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605D0-AFEB-F5E8-EC7A-0EA9B226F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AF266-10FE-4B42-3AD2-76D8198F9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Acceptance Region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BBD9CF-DD0F-28C6-9F91-B1F53C2D92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dirty="0"/>
                  <a:t>The </a:t>
                </a:r>
                <a:r>
                  <a:rPr lang="en-US" b="1" dirty="0"/>
                  <a:t>region</a:t>
                </a:r>
                <a:r>
                  <a:rPr lang="en-US" dirty="0"/>
                  <a:t> under the normal curve which is </a:t>
                </a:r>
                <a:r>
                  <a:rPr lang="en-US" b="1" dirty="0"/>
                  <a:t>not covered by the rejection region</a:t>
                </a:r>
                <a:r>
                  <a:rPr lang="en-US" dirty="0"/>
                  <a:t> is known as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Acceptance Region</a:t>
                </a:r>
                <a:r>
                  <a:rPr lang="en-US" dirty="0"/>
                  <a:t>.</a:t>
                </a:r>
                <a:endParaRPr lang="en-IN" dirty="0"/>
              </a:p>
              <a:p>
                <a:pPr lvl="0"/>
                <a:r>
                  <a:rPr lang="en-US" dirty="0"/>
                  <a:t>If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=5%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0.05</m:t>
                        </m:r>
                      </m:e>
                    </m:d>
                  </m:oMath>
                </a14:m>
                <a:r>
                  <a:rPr lang="en-US" dirty="0"/>
                  <a:t> (for two tailed test)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BBD9CF-DD0F-28C6-9F91-B1F53C2D92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8FD7C9-F72B-1811-C6A0-544D39D5156A}"/>
                  </a:ext>
                </a:extLst>
              </p:cNvPr>
              <p:cNvSpPr txBox="1"/>
              <p:nvPr/>
            </p:nvSpPr>
            <p:spPr>
              <a:xfrm>
                <a:off x="8586927" y="3579677"/>
                <a:ext cx="2797346" cy="2246769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002060"/>
                    </a:solidFill>
                  </a:rPr>
                  <a:t>Note:</a:t>
                </a:r>
              </a:p>
              <a:p>
                <a:pPr algn="ctr"/>
                <a:r>
                  <a:rPr lang="en-US" sz="2800" dirty="0">
                    <a:solidFill>
                      <a:srgbClr val="002060"/>
                    </a:solidFill>
                  </a:rPr>
                  <a:t>If no level of significance is given,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0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taken as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5%=0.05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8FD7C9-F72B-1811-C6A0-544D39D51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927" y="3579677"/>
                <a:ext cx="2797346" cy="2246769"/>
              </a:xfrm>
              <a:prstGeom prst="rect">
                <a:avLst/>
              </a:prstGeom>
              <a:blipFill>
                <a:blip r:embed="rId4"/>
                <a:stretch>
                  <a:fillRect t="-2710" r="-1528" b="-65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7D01059-1C7B-42BC-AC36-CCCC5869C79D}"/>
                  </a:ext>
                </a:extLst>
              </p:cNvPr>
              <p:cNvSpPr txBox="1"/>
              <p:nvPr/>
            </p:nvSpPr>
            <p:spPr>
              <a:xfrm>
                <a:off x="4507422" y="5948442"/>
                <a:ext cx="2087223" cy="654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7D01059-1C7B-42BC-AC36-CCCC5869C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422" y="5948442"/>
                <a:ext cx="2087223" cy="654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5EEEA38-EE0B-4BF3-97EF-1FA76DD16B84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5492720" y="2814740"/>
            <a:ext cx="37024" cy="3190049"/>
          </a:xfrm>
          <a:prstGeom prst="line">
            <a:avLst/>
          </a:prstGeom>
          <a:ln w="571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2B57BE0-0BBC-44C2-935E-9F0D2F2E9B71}"/>
              </a:ext>
            </a:extLst>
          </p:cNvPr>
          <p:cNvSpPr/>
          <p:nvPr/>
        </p:nvSpPr>
        <p:spPr>
          <a:xfrm>
            <a:off x="3002898" y="4951321"/>
            <a:ext cx="1039440" cy="1053467"/>
          </a:xfrm>
          <a:custGeom>
            <a:avLst/>
            <a:gdLst>
              <a:gd name="connsiteX0" fmla="*/ 831444 w 831444"/>
              <a:gd name="connsiteY0" fmla="*/ 0 h 1001614"/>
              <a:gd name="connsiteX1" fmla="*/ 831444 w 831444"/>
              <a:gd name="connsiteY1" fmla="*/ 840902 h 1001614"/>
              <a:gd name="connsiteX2" fmla="*/ 831444 w 831444"/>
              <a:gd name="connsiteY2" fmla="*/ 1001614 h 1001614"/>
              <a:gd name="connsiteX3" fmla="*/ 0 w 831444"/>
              <a:gd name="connsiteY3" fmla="*/ 1001614 h 1001614"/>
              <a:gd name="connsiteX4" fmla="*/ 0 w 831444"/>
              <a:gd name="connsiteY4" fmla="*/ 840245 h 1001614"/>
              <a:gd name="connsiteX5" fmla="*/ 779906 w 831444"/>
              <a:gd name="connsiteY5" fmla="*/ 117944 h 1001614"/>
              <a:gd name="connsiteX6" fmla="*/ 822581 w 831444"/>
              <a:gd name="connsiteY6" fmla="*/ 21762 h 1001614"/>
              <a:gd name="connsiteX7" fmla="*/ 831444 w 831444"/>
              <a:gd name="connsiteY7" fmla="*/ 0 h 1001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1444" h="1001614">
                <a:moveTo>
                  <a:pt x="831444" y="0"/>
                </a:moveTo>
                <a:lnTo>
                  <a:pt x="831444" y="840902"/>
                </a:lnTo>
                <a:lnTo>
                  <a:pt x="831444" y="1001614"/>
                </a:lnTo>
                <a:lnTo>
                  <a:pt x="0" y="1001614"/>
                </a:lnTo>
                <a:lnTo>
                  <a:pt x="0" y="840245"/>
                </a:lnTo>
                <a:cubicBezTo>
                  <a:pt x="347485" y="840652"/>
                  <a:pt x="571799" y="554667"/>
                  <a:pt x="779906" y="117944"/>
                </a:cubicBezTo>
                <a:cubicBezTo>
                  <a:pt x="792913" y="90649"/>
                  <a:pt x="807168" y="58344"/>
                  <a:pt x="822581" y="21762"/>
                </a:cubicBezTo>
                <a:lnTo>
                  <a:pt x="831444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26D00D7-E90A-4C3A-A1A9-E15B8F44478C}"/>
              </a:ext>
            </a:extLst>
          </p:cNvPr>
          <p:cNvSpPr/>
          <p:nvPr/>
        </p:nvSpPr>
        <p:spPr>
          <a:xfrm>
            <a:off x="6986959" y="4969785"/>
            <a:ext cx="1039441" cy="1040193"/>
          </a:xfrm>
          <a:custGeom>
            <a:avLst/>
            <a:gdLst>
              <a:gd name="connsiteX0" fmla="*/ 0 w 831445"/>
              <a:gd name="connsiteY0" fmla="*/ 0 h 988993"/>
              <a:gd name="connsiteX1" fmla="*/ 5846 w 831445"/>
              <a:gd name="connsiteY1" fmla="*/ 14145 h 988993"/>
              <a:gd name="connsiteX2" fmla="*/ 48272 w 831445"/>
              <a:gd name="connsiteY2" fmla="*/ 109662 h 988993"/>
              <a:gd name="connsiteX3" fmla="*/ 704611 w 831445"/>
              <a:gd name="connsiteY3" fmla="*/ 815551 h 988993"/>
              <a:gd name="connsiteX4" fmla="*/ 831445 w 831445"/>
              <a:gd name="connsiteY4" fmla="*/ 830798 h 988993"/>
              <a:gd name="connsiteX5" fmla="*/ 831445 w 831445"/>
              <a:gd name="connsiteY5" fmla="*/ 830798 h 988993"/>
              <a:gd name="connsiteX6" fmla="*/ 831445 w 831445"/>
              <a:gd name="connsiteY6" fmla="*/ 988993 h 988993"/>
              <a:gd name="connsiteX7" fmla="*/ 0 w 831445"/>
              <a:gd name="connsiteY7" fmla="*/ 988993 h 988993"/>
              <a:gd name="connsiteX8" fmla="*/ 0 w 831445"/>
              <a:gd name="connsiteY8" fmla="*/ 830141 h 988993"/>
              <a:gd name="connsiteX9" fmla="*/ 0 w 831445"/>
              <a:gd name="connsiteY9" fmla="*/ 0 h 988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31445" h="988993">
                <a:moveTo>
                  <a:pt x="0" y="0"/>
                </a:moveTo>
                <a:lnTo>
                  <a:pt x="5846" y="14145"/>
                </a:lnTo>
                <a:cubicBezTo>
                  <a:pt x="21317" y="50547"/>
                  <a:pt x="35495" y="82632"/>
                  <a:pt x="48272" y="109662"/>
                </a:cubicBezTo>
                <a:cubicBezTo>
                  <a:pt x="227148" y="488090"/>
                  <a:pt x="421762" y="751058"/>
                  <a:pt x="704611" y="815551"/>
                </a:cubicBezTo>
                <a:lnTo>
                  <a:pt x="831445" y="830798"/>
                </a:lnTo>
                <a:lnTo>
                  <a:pt x="831445" y="830798"/>
                </a:lnTo>
                <a:lnTo>
                  <a:pt x="831445" y="988993"/>
                </a:lnTo>
                <a:lnTo>
                  <a:pt x="0" y="988993"/>
                </a:lnTo>
                <a:lnTo>
                  <a:pt x="0" y="830141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AFD8F67-538A-4F29-84A8-8A8B687E3DE8}"/>
              </a:ext>
            </a:extLst>
          </p:cNvPr>
          <p:cNvCxnSpPr>
            <a:cxnSpLocks/>
          </p:cNvCxnSpPr>
          <p:nvPr/>
        </p:nvCxnSpPr>
        <p:spPr>
          <a:xfrm flipV="1">
            <a:off x="6986959" y="4969785"/>
            <a:ext cx="0" cy="102283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218E77A-9643-419E-A84A-86FCEF581D9C}"/>
              </a:ext>
            </a:extLst>
          </p:cNvPr>
          <p:cNvCxnSpPr>
            <a:cxnSpLocks/>
          </p:cNvCxnSpPr>
          <p:nvPr/>
        </p:nvCxnSpPr>
        <p:spPr>
          <a:xfrm flipV="1">
            <a:off x="4026461" y="5032534"/>
            <a:ext cx="0" cy="9600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07BD617-23E6-4C07-A8C1-8EC2620E9AAC}"/>
              </a:ext>
            </a:extLst>
          </p:cNvPr>
          <p:cNvSpPr/>
          <p:nvPr/>
        </p:nvSpPr>
        <p:spPr>
          <a:xfrm>
            <a:off x="3002901" y="2814739"/>
            <a:ext cx="5023499" cy="3029820"/>
          </a:xfrm>
          <a:custGeom>
            <a:avLst/>
            <a:gdLst>
              <a:gd name="connsiteX0" fmla="*/ 0 w 4387309"/>
              <a:gd name="connsiteY0" fmla="*/ 2386358 h 2416416"/>
              <a:gd name="connsiteX1" fmla="*/ 525780 w 4387309"/>
              <a:gd name="connsiteY1" fmla="*/ 2123468 h 2416416"/>
              <a:gd name="connsiteX2" fmla="*/ 1668780 w 4387309"/>
              <a:gd name="connsiteY2" fmla="*/ 271808 h 2416416"/>
              <a:gd name="connsiteX3" fmla="*/ 2594610 w 4387309"/>
              <a:gd name="connsiteY3" fmla="*/ 191798 h 2416416"/>
              <a:gd name="connsiteX4" fmla="*/ 3669030 w 4387309"/>
              <a:gd name="connsiteY4" fmla="*/ 2009168 h 2416416"/>
              <a:gd name="connsiteX5" fmla="*/ 4023360 w 4387309"/>
              <a:gd name="connsiteY5" fmla="*/ 2386358 h 2416416"/>
              <a:gd name="connsiteX6" fmla="*/ 4377690 w 4387309"/>
              <a:gd name="connsiteY6" fmla="*/ 2386358 h 2416416"/>
              <a:gd name="connsiteX7" fmla="*/ 4251960 w 4387309"/>
              <a:gd name="connsiteY7" fmla="*/ 2397788 h 2416416"/>
              <a:gd name="connsiteX0" fmla="*/ 0 w 4403567"/>
              <a:gd name="connsiteY0" fmla="*/ 2386358 h 2416416"/>
              <a:gd name="connsiteX1" fmla="*/ 525780 w 4403567"/>
              <a:gd name="connsiteY1" fmla="*/ 2123468 h 2416416"/>
              <a:gd name="connsiteX2" fmla="*/ 1668780 w 4403567"/>
              <a:gd name="connsiteY2" fmla="*/ 271808 h 2416416"/>
              <a:gd name="connsiteX3" fmla="*/ 2594610 w 4403567"/>
              <a:gd name="connsiteY3" fmla="*/ 191798 h 2416416"/>
              <a:gd name="connsiteX4" fmla="*/ 3669030 w 4403567"/>
              <a:gd name="connsiteY4" fmla="*/ 2009168 h 2416416"/>
              <a:gd name="connsiteX5" fmla="*/ 4023360 w 4403567"/>
              <a:gd name="connsiteY5" fmla="*/ 2386358 h 2416416"/>
              <a:gd name="connsiteX6" fmla="*/ 4377690 w 4403567"/>
              <a:gd name="connsiteY6" fmla="*/ 2386358 h 2416416"/>
              <a:gd name="connsiteX7" fmla="*/ 4337238 w 4403567"/>
              <a:gd name="connsiteY7" fmla="*/ 2152628 h 2416416"/>
              <a:gd name="connsiteX0" fmla="*/ 0 w 4377690"/>
              <a:gd name="connsiteY0" fmla="*/ 2386358 h 2416416"/>
              <a:gd name="connsiteX1" fmla="*/ 525780 w 4377690"/>
              <a:gd name="connsiteY1" fmla="*/ 2123468 h 2416416"/>
              <a:gd name="connsiteX2" fmla="*/ 1668780 w 4377690"/>
              <a:gd name="connsiteY2" fmla="*/ 271808 h 2416416"/>
              <a:gd name="connsiteX3" fmla="*/ 2594610 w 4377690"/>
              <a:gd name="connsiteY3" fmla="*/ 191798 h 2416416"/>
              <a:gd name="connsiteX4" fmla="*/ 3669030 w 4377690"/>
              <a:gd name="connsiteY4" fmla="*/ 2009168 h 2416416"/>
              <a:gd name="connsiteX5" fmla="*/ 4023360 w 4377690"/>
              <a:gd name="connsiteY5" fmla="*/ 2386358 h 2416416"/>
              <a:gd name="connsiteX6" fmla="*/ 4377690 w 4377690"/>
              <a:gd name="connsiteY6" fmla="*/ 2386358 h 2416416"/>
              <a:gd name="connsiteX0" fmla="*/ 0 w 4393195"/>
              <a:gd name="connsiteY0" fmla="*/ 2386358 h 2554098"/>
              <a:gd name="connsiteX1" fmla="*/ 525780 w 4393195"/>
              <a:gd name="connsiteY1" fmla="*/ 2123468 h 2554098"/>
              <a:gd name="connsiteX2" fmla="*/ 1668780 w 4393195"/>
              <a:gd name="connsiteY2" fmla="*/ 271808 h 2554098"/>
              <a:gd name="connsiteX3" fmla="*/ 2594610 w 4393195"/>
              <a:gd name="connsiteY3" fmla="*/ 191798 h 2554098"/>
              <a:gd name="connsiteX4" fmla="*/ 3669030 w 4393195"/>
              <a:gd name="connsiteY4" fmla="*/ 2009168 h 2554098"/>
              <a:gd name="connsiteX5" fmla="*/ 4023360 w 4393195"/>
              <a:gd name="connsiteY5" fmla="*/ 2386358 h 2554098"/>
              <a:gd name="connsiteX6" fmla="*/ 4393195 w 4393195"/>
              <a:gd name="connsiteY6" fmla="*/ 2554098 h 2554098"/>
              <a:gd name="connsiteX0" fmla="*/ 0 w 4408700"/>
              <a:gd name="connsiteY0" fmla="*/ 2489583 h 2554098"/>
              <a:gd name="connsiteX1" fmla="*/ 541285 w 4408700"/>
              <a:gd name="connsiteY1" fmla="*/ 2123468 h 2554098"/>
              <a:gd name="connsiteX2" fmla="*/ 1684285 w 4408700"/>
              <a:gd name="connsiteY2" fmla="*/ 271808 h 2554098"/>
              <a:gd name="connsiteX3" fmla="*/ 2610115 w 4408700"/>
              <a:gd name="connsiteY3" fmla="*/ 191798 h 2554098"/>
              <a:gd name="connsiteX4" fmla="*/ 3684535 w 4408700"/>
              <a:gd name="connsiteY4" fmla="*/ 2009168 h 2554098"/>
              <a:gd name="connsiteX5" fmla="*/ 4038865 w 4408700"/>
              <a:gd name="connsiteY5" fmla="*/ 2386358 h 2554098"/>
              <a:gd name="connsiteX6" fmla="*/ 4408700 w 4408700"/>
              <a:gd name="connsiteY6" fmla="*/ 2554098 h 2554098"/>
              <a:gd name="connsiteX0" fmla="*/ 0 w 4408700"/>
              <a:gd name="connsiteY0" fmla="*/ 2489583 h 2554098"/>
              <a:gd name="connsiteX1" fmla="*/ 541285 w 4408700"/>
              <a:gd name="connsiteY1" fmla="*/ 2123468 h 2554098"/>
              <a:gd name="connsiteX2" fmla="*/ 1684285 w 4408700"/>
              <a:gd name="connsiteY2" fmla="*/ 271808 h 2554098"/>
              <a:gd name="connsiteX3" fmla="*/ 2610115 w 4408700"/>
              <a:gd name="connsiteY3" fmla="*/ 191798 h 2554098"/>
              <a:gd name="connsiteX4" fmla="*/ 3684535 w 4408700"/>
              <a:gd name="connsiteY4" fmla="*/ 2009168 h 2554098"/>
              <a:gd name="connsiteX5" fmla="*/ 4038865 w 4408700"/>
              <a:gd name="connsiteY5" fmla="*/ 2386358 h 2554098"/>
              <a:gd name="connsiteX6" fmla="*/ 4408700 w 4408700"/>
              <a:gd name="connsiteY6" fmla="*/ 2554098 h 2554098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255937 w 4625772"/>
              <a:gd name="connsiteY5" fmla="*/ 2386358 h 2599260"/>
              <a:gd name="connsiteX6" fmla="*/ 4625772 w 4625772"/>
              <a:gd name="connsiteY6" fmla="*/ 2554098 h 2599260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625772 w 4625772"/>
              <a:gd name="connsiteY5" fmla="*/ 2554098 h 2599260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625772 w 4625772"/>
              <a:gd name="connsiteY5" fmla="*/ 2554098 h 2599260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625772 w 4625772"/>
              <a:gd name="connsiteY5" fmla="*/ 2554098 h 2599260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625772 w 4625772"/>
              <a:gd name="connsiteY5" fmla="*/ 2554098 h 2599260"/>
              <a:gd name="connsiteX0" fmla="*/ 0 w 4625772"/>
              <a:gd name="connsiteY0" fmla="*/ 2596416 h 2596416"/>
              <a:gd name="connsiteX1" fmla="*/ 851388 w 4625772"/>
              <a:gd name="connsiteY1" fmla="*/ 2069012 h 2596416"/>
              <a:gd name="connsiteX2" fmla="*/ 1901357 w 4625772"/>
              <a:gd name="connsiteY2" fmla="*/ 268964 h 2596416"/>
              <a:gd name="connsiteX3" fmla="*/ 2827187 w 4625772"/>
              <a:gd name="connsiteY3" fmla="*/ 188954 h 2596416"/>
              <a:gd name="connsiteX4" fmla="*/ 3901607 w 4625772"/>
              <a:gd name="connsiteY4" fmla="*/ 2006324 h 2596416"/>
              <a:gd name="connsiteX5" fmla="*/ 4625772 w 4625772"/>
              <a:gd name="connsiteY5" fmla="*/ 2551254 h 2596416"/>
              <a:gd name="connsiteX0" fmla="*/ 0 w 4625772"/>
              <a:gd name="connsiteY0" fmla="*/ 2596416 h 2596416"/>
              <a:gd name="connsiteX1" fmla="*/ 851388 w 4625772"/>
              <a:gd name="connsiteY1" fmla="*/ 2069012 h 2596416"/>
              <a:gd name="connsiteX2" fmla="*/ 1901357 w 4625772"/>
              <a:gd name="connsiteY2" fmla="*/ 268964 h 2596416"/>
              <a:gd name="connsiteX3" fmla="*/ 2827187 w 4625772"/>
              <a:gd name="connsiteY3" fmla="*/ 188954 h 2596416"/>
              <a:gd name="connsiteX4" fmla="*/ 3901607 w 4625772"/>
              <a:gd name="connsiteY4" fmla="*/ 2006324 h 2596416"/>
              <a:gd name="connsiteX5" fmla="*/ 4625772 w 4625772"/>
              <a:gd name="connsiteY5" fmla="*/ 2551254 h 2596416"/>
              <a:gd name="connsiteX0" fmla="*/ 0 w 4625772"/>
              <a:gd name="connsiteY0" fmla="*/ 2638974 h 2638974"/>
              <a:gd name="connsiteX1" fmla="*/ 851388 w 4625772"/>
              <a:gd name="connsiteY1" fmla="*/ 2111570 h 2638974"/>
              <a:gd name="connsiteX2" fmla="*/ 1901357 w 4625772"/>
              <a:gd name="connsiteY2" fmla="*/ 311522 h 2638974"/>
              <a:gd name="connsiteX3" fmla="*/ 2396614 w 4625772"/>
              <a:gd name="connsiteY3" fmla="*/ 33500 h 2638974"/>
              <a:gd name="connsiteX4" fmla="*/ 2827187 w 4625772"/>
              <a:gd name="connsiteY4" fmla="*/ 231512 h 2638974"/>
              <a:gd name="connsiteX5" fmla="*/ 3901607 w 4625772"/>
              <a:gd name="connsiteY5" fmla="*/ 2048882 h 2638974"/>
              <a:gd name="connsiteX6" fmla="*/ 4625772 w 4625772"/>
              <a:gd name="connsiteY6" fmla="*/ 2593812 h 2638974"/>
              <a:gd name="connsiteX0" fmla="*/ 0 w 4625772"/>
              <a:gd name="connsiteY0" fmla="*/ 2862217 h 2862217"/>
              <a:gd name="connsiteX1" fmla="*/ 851388 w 4625772"/>
              <a:gd name="connsiteY1" fmla="*/ 2334813 h 2862217"/>
              <a:gd name="connsiteX2" fmla="*/ 1901357 w 4625772"/>
              <a:gd name="connsiteY2" fmla="*/ 534765 h 2862217"/>
              <a:gd name="connsiteX3" fmla="*/ 2415220 w 4625772"/>
              <a:gd name="connsiteY3" fmla="*/ 1262 h 2862217"/>
              <a:gd name="connsiteX4" fmla="*/ 2827187 w 4625772"/>
              <a:gd name="connsiteY4" fmla="*/ 454755 h 2862217"/>
              <a:gd name="connsiteX5" fmla="*/ 3901607 w 4625772"/>
              <a:gd name="connsiteY5" fmla="*/ 2272125 h 2862217"/>
              <a:gd name="connsiteX6" fmla="*/ 4625772 w 4625772"/>
              <a:gd name="connsiteY6" fmla="*/ 2817055 h 2862217"/>
              <a:gd name="connsiteX0" fmla="*/ 0 w 4625772"/>
              <a:gd name="connsiteY0" fmla="*/ 2869891 h 2869891"/>
              <a:gd name="connsiteX1" fmla="*/ 851388 w 4625772"/>
              <a:gd name="connsiteY1" fmla="*/ 2342487 h 2869891"/>
              <a:gd name="connsiteX2" fmla="*/ 1901357 w 4625772"/>
              <a:gd name="connsiteY2" fmla="*/ 542439 h 2869891"/>
              <a:gd name="connsiteX3" fmla="*/ 2350098 w 4625772"/>
              <a:gd name="connsiteY3" fmla="*/ 1194 h 2869891"/>
              <a:gd name="connsiteX4" fmla="*/ 2827187 w 4625772"/>
              <a:gd name="connsiteY4" fmla="*/ 462429 h 2869891"/>
              <a:gd name="connsiteX5" fmla="*/ 3901607 w 4625772"/>
              <a:gd name="connsiteY5" fmla="*/ 2279799 h 2869891"/>
              <a:gd name="connsiteX6" fmla="*/ 4625772 w 4625772"/>
              <a:gd name="connsiteY6" fmla="*/ 2824729 h 2869891"/>
              <a:gd name="connsiteX0" fmla="*/ 0 w 4625772"/>
              <a:gd name="connsiteY0" fmla="*/ 2895513 h 2895513"/>
              <a:gd name="connsiteX1" fmla="*/ 851388 w 4625772"/>
              <a:gd name="connsiteY1" fmla="*/ 2368109 h 2895513"/>
              <a:gd name="connsiteX2" fmla="*/ 1901357 w 4625772"/>
              <a:gd name="connsiteY2" fmla="*/ 568061 h 2895513"/>
              <a:gd name="connsiteX3" fmla="*/ 2299707 w 4625772"/>
              <a:gd name="connsiteY3" fmla="*/ 1010 h 2895513"/>
              <a:gd name="connsiteX4" fmla="*/ 2827187 w 4625772"/>
              <a:gd name="connsiteY4" fmla="*/ 488051 h 2895513"/>
              <a:gd name="connsiteX5" fmla="*/ 3901607 w 4625772"/>
              <a:gd name="connsiteY5" fmla="*/ 2305421 h 2895513"/>
              <a:gd name="connsiteX6" fmla="*/ 4625772 w 4625772"/>
              <a:gd name="connsiteY6" fmla="*/ 2850351 h 2895513"/>
              <a:gd name="connsiteX0" fmla="*/ 0 w 4625772"/>
              <a:gd name="connsiteY0" fmla="*/ 2894503 h 2894503"/>
              <a:gd name="connsiteX1" fmla="*/ 851388 w 4625772"/>
              <a:gd name="connsiteY1" fmla="*/ 2367099 h 2894503"/>
              <a:gd name="connsiteX2" fmla="*/ 1901357 w 4625772"/>
              <a:gd name="connsiteY2" fmla="*/ 567051 h 2894503"/>
              <a:gd name="connsiteX3" fmla="*/ 2299707 w 4625772"/>
              <a:gd name="connsiteY3" fmla="*/ 0 h 2894503"/>
              <a:gd name="connsiteX4" fmla="*/ 2827187 w 4625772"/>
              <a:gd name="connsiteY4" fmla="*/ 487041 h 2894503"/>
              <a:gd name="connsiteX5" fmla="*/ 3901607 w 4625772"/>
              <a:gd name="connsiteY5" fmla="*/ 2304411 h 2894503"/>
              <a:gd name="connsiteX6" fmla="*/ 4625772 w 4625772"/>
              <a:gd name="connsiteY6" fmla="*/ 2849341 h 2894503"/>
              <a:gd name="connsiteX0" fmla="*/ 0 w 4625772"/>
              <a:gd name="connsiteY0" fmla="*/ 2894803 h 2894803"/>
              <a:gd name="connsiteX1" fmla="*/ 851388 w 4625772"/>
              <a:gd name="connsiteY1" fmla="*/ 2367399 h 2894803"/>
              <a:gd name="connsiteX2" fmla="*/ 1901357 w 4625772"/>
              <a:gd name="connsiteY2" fmla="*/ 567351 h 2894803"/>
              <a:gd name="connsiteX3" fmla="*/ 2299707 w 4625772"/>
              <a:gd name="connsiteY3" fmla="*/ 300 h 2894803"/>
              <a:gd name="connsiteX4" fmla="*/ 2827187 w 4625772"/>
              <a:gd name="connsiteY4" fmla="*/ 487341 h 2894803"/>
              <a:gd name="connsiteX5" fmla="*/ 3901607 w 4625772"/>
              <a:gd name="connsiteY5" fmla="*/ 2304711 h 2894803"/>
              <a:gd name="connsiteX6" fmla="*/ 4625772 w 4625772"/>
              <a:gd name="connsiteY6" fmla="*/ 2849641 h 2894803"/>
              <a:gd name="connsiteX0" fmla="*/ 0 w 4625772"/>
              <a:gd name="connsiteY0" fmla="*/ 2894803 h 2894803"/>
              <a:gd name="connsiteX1" fmla="*/ 851388 w 4625772"/>
              <a:gd name="connsiteY1" fmla="*/ 2367399 h 2894803"/>
              <a:gd name="connsiteX2" fmla="*/ 1901357 w 4625772"/>
              <a:gd name="connsiteY2" fmla="*/ 567351 h 2894803"/>
              <a:gd name="connsiteX3" fmla="*/ 2299707 w 4625772"/>
              <a:gd name="connsiteY3" fmla="*/ 300 h 2894803"/>
              <a:gd name="connsiteX4" fmla="*/ 2827187 w 4625772"/>
              <a:gd name="connsiteY4" fmla="*/ 487341 h 2894803"/>
              <a:gd name="connsiteX5" fmla="*/ 3901607 w 4625772"/>
              <a:gd name="connsiteY5" fmla="*/ 2304711 h 2894803"/>
              <a:gd name="connsiteX6" fmla="*/ 4625772 w 4625772"/>
              <a:gd name="connsiteY6" fmla="*/ 2849641 h 2894803"/>
              <a:gd name="connsiteX0" fmla="*/ 0 w 4625772"/>
              <a:gd name="connsiteY0" fmla="*/ 2894594 h 2894594"/>
              <a:gd name="connsiteX1" fmla="*/ 851388 w 4625772"/>
              <a:gd name="connsiteY1" fmla="*/ 2367190 h 2894594"/>
              <a:gd name="connsiteX2" fmla="*/ 1901357 w 4625772"/>
              <a:gd name="connsiteY2" fmla="*/ 567142 h 2894594"/>
              <a:gd name="connsiteX3" fmla="*/ 2299707 w 4625772"/>
              <a:gd name="connsiteY3" fmla="*/ 91 h 2894594"/>
              <a:gd name="connsiteX4" fmla="*/ 2827187 w 4625772"/>
              <a:gd name="connsiteY4" fmla="*/ 487132 h 2894594"/>
              <a:gd name="connsiteX5" fmla="*/ 3901607 w 4625772"/>
              <a:gd name="connsiteY5" fmla="*/ 2304502 h 2894594"/>
              <a:gd name="connsiteX6" fmla="*/ 4625772 w 4625772"/>
              <a:gd name="connsiteY6" fmla="*/ 2849432 h 2894594"/>
              <a:gd name="connsiteX0" fmla="*/ 0 w 4625772"/>
              <a:gd name="connsiteY0" fmla="*/ 2985198 h 2985198"/>
              <a:gd name="connsiteX1" fmla="*/ 851388 w 4625772"/>
              <a:gd name="connsiteY1" fmla="*/ 2457794 h 2985198"/>
              <a:gd name="connsiteX2" fmla="*/ 1901357 w 4625772"/>
              <a:gd name="connsiteY2" fmla="*/ 657746 h 2985198"/>
              <a:gd name="connsiteX3" fmla="*/ 2299707 w 4625772"/>
              <a:gd name="connsiteY3" fmla="*/ 90695 h 2985198"/>
              <a:gd name="connsiteX4" fmla="*/ 3901607 w 4625772"/>
              <a:gd name="connsiteY4" fmla="*/ 2395106 h 2985198"/>
              <a:gd name="connsiteX5" fmla="*/ 4625772 w 4625772"/>
              <a:gd name="connsiteY5" fmla="*/ 2940036 h 2985198"/>
              <a:gd name="connsiteX0" fmla="*/ 0 w 4625772"/>
              <a:gd name="connsiteY0" fmla="*/ 2894503 h 2894503"/>
              <a:gd name="connsiteX1" fmla="*/ 851388 w 4625772"/>
              <a:gd name="connsiteY1" fmla="*/ 2367099 h 2894503"/>
              <a:gd name="connsiteX2" fmla="*/ 2299707 w 4625772"/>
              <a:gd name="connsiteY2" fmla="*/ 0 h 2894503"/>
              <a:gd name="connsiteX3" fmla="*/ 3901607 w 4625772"/>
              <a:gd name="connsiteY3" fmla="*/ 2304411 h 2894503"/>
              <a:gd name="connsiteX4" fmla="*/ 4625772 w 4625772"/>
              <a:gd name="connsiteY4" fmla="*/ 2849341 h 2894503"/>
              <a:gd name="connsiteX0" fmla="*/ 0 w 4625772"/>
              <a:gd name="connsiteY0" fmla="*/ 2920938 h 2920938"/>
              <a:gd name="connsiteX1" fmla="*/ 851388 w 4625772"/>
              <a:gd name="connsiteY1" fmla="*/ 2393534 h 2920938"/>
              <a:gd name="connsiteX2" fmla="*/ 2299707 w 4625772"/>
              <a:gd name="connsiteY2" fmla="*/ 26435 h 2920938"/>
              <a:gd name="connsiteX3" fmla="*/ 3901607 w 4625772"/>
              <a:gd name="connsiteY3" fmla="*/ 2330846 h 2920938"/>
              <a:gd name="connsiteX4" fmla="*/ 4625772 w 4625772"/>
              <a:gd name="connsiteY4" fmla="*/ 2875776 h 2920938"/>
              <a:gd name="connsiteX0" fmla="*/ 0 w 4625772"/>
              <a:gd name="connsiteY0" fmla="*/ 2894510 h 2894510"/>
              <a:gd name="connsiteX1" fmla="*/ 851388 w 4625772"/>
              <a:gd name="connsiteY1" fmla="*/ 2367106 h 2894510"/>
              <a:gd name="connsiteX2" fmla="*/ 2299707 w 4625772"/>
              <a:gd name="connsiteY2" fmla="*/ 7 h 2894510"/>
              <a:gd name="connsiteX3" fmla="*/ 3901607 w 4625772"/>
              <a:gd name="connsiteY3" fmla="*/ 2304418 h 2894510"/>
              <a:gd name="connsiteX4" fmla="*/ 4625772 w 4625772"/>
              <a:gd name="connsiteY4" fmla="*/ 2849348 h 2894510"/>
              <a:gd name="connsiteX0" fmla="*/ 0 w 4625772"/>
              <a:gd name="connsiteY0" fmla="*/ 2894816 h 2894816"/>
              <a:gd name="connsiteX1" fmla="*/ 851388 w 4625772"/>
              <a:gd name="connsiteY1" fmla="*/ 2367412 h 2894816"/>
              <a:gd name="connsiteX2" fmla="*/ 2299707 w 4625772"/>
              <a:gd name="connsiteY2" fmla="*/ 313 h 2894816"/>
              <a:gd name="connsiteX3" fmla="*/ 3631817 w 4625772"/>
              <a:gd name="connsiteY3" fmla="*/ 2204080 h 2894816"/>
              <a:gd name="connsiteX4" fmla="*/ 4625772 w 4625772"/>
              <a:gd name="connsiteY4" fmla="*/ 2849654 h 2894816"/>
              <a:gd name="connsiteX0" fmla="*/ 0 w 4625772"/>
              <a:gd name="connsiteY0" fmla="*/ 2894855 h 2894855"/>
              <a:gd name="connsiteX1" fmla="*/ 851388 w 4625772"/>
              <a:gd name="connsiteY1" fmla="*/ 2367451 h 2894855"/>
              <a:gd name="connsiteX2" fmla="*/ 2299707 w 4625772"/>
              <a:gd name="connsiteY2" fmla="*/ 352 h 2894855"/>
              <a:gd name="connsiteX3" fmla="*/ 3817879 w 4625772"/>
              <a:gd name="connsiteY3" fmla="*/ 2194442 h 2894855"/>
              <a:gd name="connsiteX4" fmla="*/ 4625772 w 4625772"/>
              <a:gd name="connsiteY4" fmla="*/ 2849693 h 2894855"/>
              <a:gd name="connsiteX0" fmla="*/ 0 w 4625772"/>
              <a:gd name="connsiteY0" fmla="*/ 2894842 h 2894842"/>
              <a:gd name="connsiteX1" fmla="*/ 851388 w 4625772"/>
              <a:gd name="connsiteY1" fmla="*/ 2367438 h 2894842"/>
              <a:gd name="connsiteX2" fmla="*/ 2299707 w 4625772"/>
              <a:gd name="connsiteY2" fmla="*/ 339 h 2894842"/>
              <a:gd name="connsiteX3" fmla="*/ 3817879 w 4625772"/>
              <a:gd name="connsiteY3" fmla="*/ 2194429 h 2894842"/>
              <a:gd name="connsiteX4" fmla="*/ 4625772 w 4625772"/>
              <a:gd name="connsiteY4" fmla="*/ 2849680 h 2894842"/>
              <a:gd name="connsiteX0" fmla="*/ 0 w 4625772"/>
              <a:gd name="connsiteY0" fmla="*/ 2894504 h 2894504"/>
              <a:gd name="connsiteX1" fmla="*/ 820378 w 4625772"/>
              <a:gd name="connsiteY1" fmla="*/ 2189683 h 2894504"/>
              <a:gd name="connsiteX2" fmla="*/ 2299707 w 4625772"/>
              <a:gd name="connsiteY2" fmla="*/ 1 h 2894504"/>
              <a:gd name="connsiteX3" fmla="*/ 3817879 w 4625772"/>
              <a:gd name="connsiteY3" fmla="*/ 2194091 h 2894504"/>
              <a:gd name="connsiteX4" fmla="*/ 4625772 w 4625772"/>
              <a:gd name="connsiteY4" fmla="*/ 2849342 h 2894504"/>
              <a:gd name="connsiteX0" fmla="*/ 0 w 4625772"/>
              <a:gd name="connsiteY0" fmla="*/ 2894504 h 2894504"/>
              <a:gd name="connsiteX1" fmla="*/ 820378 w 4625772"/>
              <a:gd name="connsiteY1" fmla="*/ 2189683 h 2894504"/>
              <a:gd name="connsiteX2" fmla="*/ 2299707 w 4625772"/>
              <a:gd name="connsiteY2" fmla="*/ 1 h 2894504"/>
              <a:gd name="connsiteX3" fmla="*/ 3817879 w 4625772"/>
              <a:gd name="connsiteY3" fmla="*/ 2194091 h 2894504"/>
              <a:gd name="connsiteX4" fmla="*/ 4625772 w 4625772"/>
              <a:gd name="connsiteY4" fmla="*/ 2849342 h 2894504"/>
              <a:gd name="connsiteX0" fmla="*/ 0 w 4625772"/>
              <a:gd name="connsiteY0" fmla="*/ 2894504 h 2894504"/>
              <a:gd name="connsiteX1" fmla="*/ 820378 w 4625772"/>
              <a:gd name="connsiteY1" fmla="*/ 2189683 h 2894504"/>
              <a:gd name="connsiteX2" fmla="*/ 2299707 w 4625772"/>
              <a:gd name="connsiteY2" fmla="*/ 1 h 2894504"/>
              <a:gd name="connsiteX3" fmla="*/ 3817879 w 4625772"/>
              <a:gd name="connsiteY3" fmla="*/ 2194091 h 2894504"/>
              <a:gd name="connsiteX4" fmla="*/ 4625772 w 4625772"/>
              <a:gd name="connsiteY4" fmla="*/ 2849342 h 2894504"/>
              <a:gd name="connsiteX0" fmla="*/ 0 w 4625772"/>
              <a:gd name="connsiteY0" fmla="*/ 2894504 h 2894504"/>
              <a:gd name="connsiteX1" fmla="*/ 820378 w 4625772"/>
              <a:gd name="connsiteY1" fmla="*/ 2189683 h 2894504"/>
              <a:gd name="connsiteX2" fmla="*/ 2299707 w 4625772"/>
              <a:gd name="connsiteY2" fmla="*/ 1 h 2894504"/>
              <a:gd name="connsiteX3" fmla="*/ 3817879 w 4625772"/>
              <a:gd name="connsiteY3" fmla="*/ 2194091 h 2894504"/>
              <a:gd name="connsiteX4" fmla="*/ 4625772 w 4625772"/>
              <a:gd name="connsiteY4" fmla="*/ 2849342 h 2894504"/>
              <a:gd name="connsiteX0" fmla="*/ 0 w 4774041"/>
              <a:gd name="connsiteY0" fmla="*/ 2894504 h 2926761"/>
              <a:gd name="connsiteX1" fmla="*/ 820378 w 4774041"/>
              <a:gd name="connsiteY1" fmla="*/ 2189683 h 2926761"/>
              <a:gd name="connsiteX2" fmla="*/ 2299707 w 4774041"/>
              <a:gd name="connsiteY2" fmla="*/ 1 h 2926761"/>
              <a:gd name="connsiteX3" fmla="*/ 3817879 w 4774041"/>
              <a:gd name="connsiteY3" fmla="*/ 2194091 h 2926761"/>
              <a:gd name="connsiteX4" fmla="*/ 4774041 w 4774041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5835" h="2926761">
                <a:moveTo>
                  <a:pt x="0" y="2923536"/>
                </a:moveTo>
                <a:cubicBezTo>
                  <a:pt x="424237" y="2923950"/>
                  <a:pt x="698098" y="2633391"/>
                  <a:pt x="952172" y="2189683"/>
                </a:cubicBezTo>
                <a:cubicBezTo>
                  <a:pt x="1206246" y="1745975"/>
                  <a:pt x="1850515" y="-734"/>
                  <a:pt x="2431501" y="1"/>
                </a:cubicBezTo>
                <a:cubicBezTo>
                  <a:pt x="3012487" y="736"/>
                  <a:pt x="3700088" y="1754685"/>
                  <a:pt x="3949673" y="2194091"/>
                </a:cubicBezTo>
                <a:cubicBezTo>
                  <a:pt x="4199258" y="2633497"/>
                  <a:pt x="4473937" y="2919686"/>
                  <a:pt x="4905835" y="2926761"/>
                </a:cubicBezTo>
              </a:path>
            </a:pathLst>
          </a:cu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B462EEC-78DF-46B4-9E6E-C58B187F73D5}"/>
              </a:ext>
            </a:extLst>
          </p:cNvPr>
          <p:cNvCxnSpPr>
            <a:cxnSpLocks/>
          </p:cNvCxnSpPr>
          <p:nvPr/>
        </p:nvCxnSpPr>
        <p:spPr>
          <a:xfrm>
            <a:off x="3002901" y="6010943"/>
            <a:ext cx="502349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66B98BD-AD35-539A-30B0-D10A4D0D0F65}"/>
              </a:ext>
            </a:extLst>
          </p:cNvPr>
          <p:cNvSpPr txBox="1"/>
          <p:nvPr/>
        </p:nvSpPr>
        <p:spPr>
          <a:xfrm>
            <a:off x="4448305" y="4465340"/>
            <a:ext cx="2038917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Acceptance  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</a:rPr>
              <a:t>Region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37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27" grpId="0"/>
      <p:bldP spid="29" grpId="0" animBg="1"/>
      <p:bldP spid="30" grpId="0" animBg="1"/>
      <p:bldP spid="33" grpId="0" animBg="1"/>
      <p:bldP spid="4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C93AF-7012-70BF-F7B1-15006F97C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FB4EB-CF5C-ACC7-0115-92DB574B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representation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6B9A17-E538-6DEF-D8DC-A762025CCBB8}"/>
              </a:ext>
            </a:extLst>
          </p:cNvPr>
          <p:cNvSpPr txBox="1"/>
          <p:nvPr/>
        </p:nvSpPr>
        <p:spPr>
          <a:xfrm>
            <a:off x="-105494" y="4632247"/>
            <a:ext cx="25838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Rejection  Region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</a:rPr>
              <a:t>(Critical Region)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8009C7-E464-0BCE-5351-3E1DB15D3B3E}"/>
              </a:ext>
            </a:extLst>
          </p:cNvPr>
          <p:cNvSpPr txBox="1"/>
          <p:nvPr/>
        </p:nvSpPr>
        <p:spPr>
          <a:xfrm>
            <a:off x="9529568" y="4546257"/>
            <a:ext cx="2493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Rejection  Region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</a:rPr>
              <a:t>(Critical Region)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17DF50-88B9-26E9-372F-44D640864BC5}"/>
              </a:ext>
            </a:extLst>
          </p:cNvPr>
          <p:cNvSpPr txBox="1"/>
          <p:nvPr/>
        </p:nvSpPr>
        <p:spPr>
          <a:xfrm>
            <a:off x="0" y="716070"/>
            <a:ext cx="2354580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Two tailed test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FD00CB8-58CF-DA1E-A7C7-1E241E555B80}"/>
                  </a:ext>
                </a:extLst>
              </p:cNvPr>
              <p:cNvSpPr txBox="1"/>
              <p:nvPr/>
            </p:nvSpPr>
            <p:spPr>
              <a:xfrm>
                <a:off x="2289694" y="4219321"/>
                <a:ext cx="1735021" cy="722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240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400" b="0" i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400" b="0" i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025</m:t>
                      </m:r>
                    </m:oMath>
                  </m:oMathPara>
                </a14:m>
                <a:endParaRPr lang="en-IN" sz="24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FD00CB8-58CF-DA1E-A7C7-1E241E555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9694" y="4219321"/>
                <a:ext cx="1735021" cy="7224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6CB0595-922F-0C4B-4C42-E3C609874969}"/>
                  </a:ext>
                </a:extLst>
              </p:cNvPr>
              <p:cNvSpPr txBox="1"/>
              <p:nvPr/>
            </p:nvSpPr>
            <p:spPr>
              <a:xfrm>
                <a:off x="8204911" y="4219321"/>
                <a:ext cx="2056231" cy="722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240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400" b="0" i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400" b="0" i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025</m:t>
                      </m:r>
                    </m:oMath>
                  </m:oMathPara>
                </a14:m>
                <a:endParaRPr lang="en-IN" sz="24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6CB0595-922F-0C4B-4C42-E3C609874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4911" y="4219321"/>
                <a:ext cx="2056231" cy="7224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A9CD2F9-05C5-BBF5-DAF8-BCC9A1C9F67B}"/>
                  </a:ext>
                </a:extLst>
              </p:cNvPr>
              <p:cNvSpPr txBox="1"/>
              <p:nvPr/>
            </p:nvSpPr>
            <p:spPr>
              <a:xfrm>
                <a:off x="4830007" y="3350303"/>
                <a:ext cx="1076976" cy="430887"/>
              </a:xfrm>
              <a:prstGeom prst="rect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475</m:t>
                      </m:r>
                    </m:oMath>
                  </m:oMathPara>
                </a14:m>
                <a:endParaRPr lang="en-IN" sz="2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A9CD2F9-05C5-BBF5-DAF8-BCC9A1C9F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007" y="3350303"/>
                <a:ext cx="1076976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F1C647-3A9C-D981-C00D-F1BAD1D0FAA0}"/>
                  </a:ext>
                </a:extLst>
              </p:cNvPr>
              <p:cNvSpPr txBox="1"/>
              <p:nvPr/>
            </p:nvSpPr>
            <p:spPr>
              <a:xfrm>
                <a:off x="6286769" y="3350392"/>
                <a:ext cx="1076976" cy="430887"/>
              </a:xfrm>
              <a:prstGeom prst="rect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475</m:t>
                      </m:r>
                    </m:oMath>
                  </m:oMathPara>
                </a14:m>
                <a:endParaRPr lang="en-IN" sz="2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F1C647-3A9C-D981-C00D-F1BAD1D0F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769" y="3350392"/>
                <a:ext cx="1076976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BE88C00-532B-6202-D304-155E5B9E8C35}"/>
                  </a:ext>
                </a:extLst>
              </p:cNvPr>
              <p:cNvSpPr txBox="1"/>
              <p:nvPr/>
            </p:nvSpPr>
            <p:spPr>
              <a:xfrm>
                <a:off x="3529424" y="5443528"/>
                <a:ext cx="1197652" cy="52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BE88C00-532B-6202-D304-155E5B9E8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424" y="5443528"/>
                <a:ext cx="1197652" cy="52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3E633A5-B5BE-20E9-4D38-3B880931DC6D}"/>
                  </a:ext>
                </a:extLst>
              </p:cNvPr>
              <p:cNvSpPr txBox="1"/>
              <p:nvPr/>
            </p:nvSpPr>
            <p:spPr>
              <a:xfrm>
                <a:off x="7373926" y="5443528"/>
                <a:ext cx="1197652" cy="52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3E633A5-B5BE-20E9-4D38-3B880931D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926" y="5443528"/>
                <a:ext cx="1197652" cy="52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35E949E6-CB34-EBEC-661F-38221B97BCC7}"/>
              </a:ext>
            </a:extLst>
          </p:cNvPr>
          <p:cNvSpPr txBox="1"/>
          <p:nvPr/>
        </p:nvSpPr>
        <p:spPr>
          <a:xfrm>
            <a:off x="3107103" y="5931252"/>
            <a:ext cx="2012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Critical point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A9827F-4A79-AC70-2379-65D2B9826976}"/>
              </a:ext>
            </a:extLst>
          </p:cNvPr>
          <p:cNvSpPr txBox="1"/>
          <p:nvPr/>
        </p:nvSpPr>
        <p:spPr>
          <a:xfrm>
            <a:off x="6907611" y="5931252"/>
            <a:ext cx="2012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Critical point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835DA4D-CAA3-C062-119D-9E7B73FCE9EA}"/>
                  </a:ext>
                </a:extLst>
              </p:cNvPr>
              <p:cNvSpPr txBox="1"/>
              <p:nvPr/>
            </p:nvSpPr>
            <p:spPr>
              <a:xfrm>
                <a:off x="2339619" y="716538"/>
                <a:ext cx="34067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L.O.S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 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05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835DA4D-CAA3-C062-119D-9E7B73FCE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619" y="716538"/>
                <a:ext cx="3406793" cy="523220"/>
              </a:xfrm>
              <a:prstGeom prst="rect">
                <a:avLst/>
              </a:prstGeom>
              <a:blipFill>
                <a:blip r:embed="rId8"/>
                <a:stretch>
                  <a:fillRect l="-894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58BB692-A6FA-7F34-3948-26A703D925F7}"/>
                  </a:ext>
                </a:extLst>
              </p:cNvPr>
              <p:cNvSpPr txBox="1"/>
              <p:nvPr/>
            </p:nvSpPr>
            <p:spPr>
              <a:xfrm>
                <a:off x="101258" y="1277464"/>
                <a:ext cx="3496548" cy="1405193"/>
              </a:xfrm>
              <a:prstGeom prst="rect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5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en-US" sz="25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5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5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sz="25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sz="25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5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5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95</m:t>
                      </m:r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  <a:p>
                <a:pPr algn="ctr"/>
                <a:endParaRPr lang="en-IN" sz="1300" dirty="0">
                  <a:solidFill>
                    <a:srgbClr val="00206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5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IN" sz="25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5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5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</m:num>
                        <m:den>
                          <m:r>
                            <a:rPr lang="en-US" sz="25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5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5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5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5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5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95</m:t>
                          </m:r>
                        </m:num>
                        <m:den>
                          <m:r>
                            <a:rPr lang="en-US" sz="25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5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5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5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5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475</m:t>
                      </m:r>
                    </m:oMath>
                  </m:oMathPara>
                </a14:m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58BB692-A6FA-7F34-3948-26A703D92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58" y="1277464"/>
                <a:ext cx="3496548" cy="140519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929B5856-57F8-5163-6B01-DA34BF3D957B}"/>
              </a:ext>
            </a:extLst>
          </p:cNvPr>
          <p:cNvSpPr txBox="1"/>
          <p:nvPr/>
        </p:nvSpPr>
        <p:spPr>
          <a:xfrm>
            <a:off x="8303033" y="1232308"/>
            <a:ext cx="3406794" cy="1815882"/>
          </a:xfrm>
          <a:prstGeom prst="borderCallout2">
            <a:avLst>
              <a:gd name="adj1" fmla="val 16862"/>
              <a:gd name="adj2" fmla="val -633"/>
              <a:gd name="adj3" fmla="val 18750"/>
              <a:gd name="adj4" fmla="val -16667"/>
              <a:gd name="adj5" fmla="val 164730"/>
              <a:gd name="adj6" fmla="val -25308"/>
            </a:avLst>
          </a:prstGeom>
          <a:noFill/>
          <a:ln w="57150">
            <a:solidFill>
              <a:schemeClr val="accent2"/>
            </a:solidFill>
            <a:tailEnd type="stealth" w="lg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If the value of test statistic belong to this region, then we </a:t>
            </a:r>
            <a:r>
              <a:rPr lang="en-US" sz="2800" b="1" dirty="0">
                <a:solidFill>
                  <a:srgbClr val="FF0000"/>
                </a:solidFill>
              </a:rPr>
              <a:t>accept</a:t>
            </a:r>
            <a:r>
              <a:rPr lang="en-US" sz="2800" dirty="0">
                <a:solidFill>
                  <a:srgbClr val="002060"/>
                </a:solidFill>
              </a:rPr>
              <a:t> null hypothesis.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0FA8796-0817-4790-B5C6-CE0C47789526}"/>
                  </a:ext>
                </a:extLst>
              </p:cNvPr>
              <p:cNvSpPr txBox="1"/>
              <p:nvPr/>
            </p:nvSpPr>
            <p:spPr>
              <a:xfrm>
                <a:off x="5417345" y="5443528"/>
                <a:ext cx="1395780" cy="5220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0FA8796-0817-4790-B5C6-CE0C47789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345" y="5443528"/>
                <a:ext cx="1395780" cy="522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0F94262-0AF3-43EA-982D-CE96B11AE3B2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6068052" y="1407546"/>
            <a:ext cx="47183" cy="4065381"/>
          </a:xfrm>
          <a:prstGeom prst="line">
            <a:avLst/>
          </a:prstGeom>
          <a:ln w="571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1B21C50-0FCA-4095-AFA1-688856065033}"/>
              </a:ext>
            </a:extLst>
          </p:cNvPr>
          <p:cNvSpPr/>
          <p:nvPr/>
        </p:nvSpPr>
        <p:spPr>
          <a:xfrm>
            <a:off x="2895036" y="4130393"/>
            <a:ext cx="1324657" cy="1342532"/>
          </a:xfrm>
          <a:custGeom>
            <a:avLst/>
            <a:gdLst>
              <a:gd name="connsiteX0" fmla="*/ 831444 w 831444"/>
              <a:gd name="connsiteY0" fmla="*/ 0 h 1001614"/>
              <a:gd name="connsiteX1" fmla="*/ 831444 w 831444"/>
              <a:gd name="connsiteY1" fmla="*/ 840902 h 1001614"/>
              <a:gd name="connsiteX2" fmla="*/ 831444 w 831444"/>
              <a:gd name="connsiteY2" fmla="*/ 1001614 h 1001614"/>
              <a:gd name="connsiteX3" fmla="*/ 0 w 831444"/>
              <a:gd name="connsiteY3" fmla="*/ 1001614 h 1001614"/>
              <a:gd name="connsiteX4" fmla="*/ 0 w 831444"/>
              <a:gd name="connsiteY4" fmla="*/ 840245 h 1001614"/>
              <a:gd name="connsiteX5" fmla="*/ 779906 w 831444"/>
              <a:gd name="connsiteY5" fmla="*/ 117944 h 1001614"/>
              <a:gd name="connsiteX6" fmla="*/ 822581 w 831444"/>
              <a:gd name="connsiteY6" fmla="*/ 21762 h 1001614"/>
              <a:gd name="connsiteX7" fmla="*/ 831444 w 831444"/>
              <a:gd name="connsiteY7" fmla="*/ 0 h 1001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1444" h="1001614">
                <a:moveTo>
                  <a:pt x="831444" y="0"/>
                </a:moveTo>
                <a:lnTo>
                  <a:pt x="831444" y="840902"/>
                </a:lnTo>
                <a:lnTo>
                  <a:pt x="831444" y="1001614"/>
                </a:lnTo>
                <a:lnTo>
                  <a:pt x="0" y="1001614"/>
                </a:lnTo>
                <a:lnTo>
                  <a:pt x="0" y="840245"/>
                </a:lnTo>
                <a:cubicBezTo>
                  <a:pt x="347485" y="840652"/>
                  <a:pt x="571799" y="554667"/>
                  <a:pt x="779906" y="117944"/>
                </a:cubicBezTo>
                <a:cubicBezTo>
                  <a:pt x="792913" y="90649"/>
                  <a:pt x="807168" y="58344"/>
                  <a:pt x="822581" y="21762"/>
                </a:cubicBezTo>
                <a:lnTo>
                  <a:pt x="831444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06091D63-472C-4837-9D5D-A356288F355C}"/>
              </a:ext>
            </a:extLst>
          </p:cNvPr>
          <p:cNvSpPr/>
          <p:nvPr/>
        </p:nvSpPr>
        <p:spPr>
          <a:xfrm>
            <a:off x="7972302" y="4153923"/>
            <a:ext cx="1324658" cy="1325616"/>
          </a:xfrm>
          <a:custGeom>
            <a:avLst/>
            <a:gdLst>
              <a:gd name="connsiteX0" fmla="*/ 0 w 831445"/>
              <a:gd name="connsiteY0" fmla="*/ 0 h 988993"/>
              <a:gd name="connsiteX1" fmla="*/ 5846 w 831445"/>
              <a:gd name="connsiteY1" fmla="*/ 14145 h 988993"/>
              <a:gd name="connsiteX2" fmla="*/ 48272 w 831445"/>
              <a:gd name="connsiteY2" fmla="*/ 109662 h 988993"/>
              <a:gd name="connsiteX3" fmla="*/ 704611 w 831445"/>
              <a:gd name="connsiteY3" fmla="*/ 815551 h 988993"/>
              <a:gd name="connsiteX4" fmla="*/ 831445 w 831445"/>
              <a:gd name="connsiteY4" fmla="*/ 830798 h 988993"/>
              <a:gd name="connsiteX5" fmla="*/ 831445 w 831445"/>
              <a:gd name="connsiteY5" fmla="*/ 830798 h 988993"/>
              <a:gd name="connsiteX6" fmla="*/ 831445 w 831445"/>
              <a:gd name="connsiteY6" fmla="*/ 988993 h 988993"/>
              <a:gd name="connsiteX7" fmla="*/ 0 w 831445"/>
              <a:gd name="connsiteY7" fmla="*/ 988993 h 988993"/>
              <a:gd name="connsiteX8" fmla="*/ 0 w 831445"/>
              <a:gd name="connsiteY8" fmla="*/ 830141 h 988993"/>
              <a:gd name="connsiteX9" fmla="*/ 0 w 831445"/>
              <a:gd name="connsiteY9" fmla="*/ 0 h 988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31445" h="988993">
                <a:moveTo>
                  <a:pt x="0" y="0"/>
                </a:moveTo>
                <a:lnTo>
                  <a:pt x="5846" y="14145"/>
                </a:lnTo>
                <a:cubicBezTo>
                  <a:pt x="21317" y="50547"/>
                  <a:pt x="35495" y="82632"/>
                  <a:pt x="48272" y="109662"/>
                </a:cubicBezTo>
                <a:cubicBezTo>
                  <a:pt x="227148" y="488090"/>
                  <a:pt x="421762" y="751058"/>
                  <a:pt x="704611" y="815551"/>
                </a:cubicBezTo>
                <a:lnTo>
                  <a:pt x="831445" y="830798"/>
                </a:lnTo>
                <a:lnTo>
                  <a:pt x="831445" y="830798"/>
                </a:lnTo>
                <a:lnTo>
                  <a:pt x="831445" y="988993"/>
                </a:lnTo>
                <a:lnTo>
                  <a:pt x="0" y="988993"/>
                </a:lnTo>
                <a:lnTo>
                  <a:pt x="0" y="830141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2A9CFBA-931E-4D3A-AFD1-DD718F8ABB8A}"/>
              </a:ext>
            </a:extLst>
          </p:cNvPr>
          <p:cNvCxnSpPr>
            <a:cxnSpLocks/>
          </p:cNvCxnSpPr>
          <p:nvPr/>
        </p:nvCxnSpPr>
        <p:spPr>
          <a:xfrm flipV="1">
            <a:off x="7972302" y="4153923"/>
            <a:ext cx="0" cy="13034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12CB3E1-C9B5-4584-AD39-5E7193A5AB6E}"/>
              </a:ext>
            </a:extLst>
          </p:cNvPr>
          <p:cNvCxnSpPr>
            <a:cxnSpLocks/>
          </p:cNvCxnSpPr>
          <p:nvPr/>
        </p:nvCxnSpPr>
        <p:spPr>
          <a:xfrm flipV="1">
            <a:off x="4219693" y="4130393"/>
            <a:ext cx="0" cy="13270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BF2ED9E-32B2-4B43-956A-099404807076}"/>
              </a:ext>
            </a:extLst>
          </p:cNvPr>
          <p:cNvSpPr/>
          <p:nvPr/>
        </p:nvSpPr>
        <p:spPr>
          <a:xfrm>
            <a:off x="2895039" y="1407544"/>
            <a:ext cx="6401921" cy="3861185"/>
          </a:xfrm>
          <a:custGeom>
            <a:avLst/>
            <a:gdLst>
              <a:gd name="connsiteX0" fmla="*/ 0 w 4387309"/>
              <a:gd name="connsiteY0" fmla="*/ 2386358 h 2416416"/>
              <a:gd name="connsiteX1" fmla="*/ 525780 w 4387309"/>
              <a:gd name="connsiteY1" fmla="*/ 2123468 h 2416416"/>
              <a:gd name="connsiteX2" fmla="*/ 1668780 w 4387309"/>
              <a:gd name="connsiteY2" fmla="*/ 271808 h 2416416"/>
              <a:gd name="connsiteX3" fmla="*/ 2594610 w 4387309"/>
              <a:gd name="connsiteY3" fmla="*/ 191798 h 2416416"/>
              <a:gd name="connsiteX4" fmla="*/ 3669030 w 4387309"/>
              <a:gd name="connsiteY4" fmla="*/ 2009168 h 2416416"/>
              <a:gd name="connsiteX5" fmla="*/ 4023360 w 4387309"/>
              <a:gd name="connsiteY5" fmla="*/ 2386358 h 2416416"/>
              <a:gd name="connsiteX6" fmla="*/ 4377690 w 4387309"/>
              <a:gd name="connsiteY6" fmla="*/ 2386358 h 2416416"/>
              <a:gd name="connsiteX7" fmla="*/ 4251960 w 4387309"/>
              <a:gd name="connsiteY7" fmla="*/ 2397788 h 2416416"/>
              <a:gd name="connsiteX0" fmla="*/ 0 w 4403567"/>
              <a:gd name="connsiteY0" fmla="*/ 2386358 h 2416416"/>
              <a:gd name="connsiteX1" fmla="*/ 525780 w 4403567"/>
              <a:gd name="connsiteY1" fmla="*/ 2123468 h 2416416"/>
              <a:gd name="connsiteX2" fmla="*/ 1668780 w 4403567"/>
              <a:gd name="connsiteY2" fmla="*/ 271808 h 2416416"/>
              <a:gd name="connsiteX3" fmla="*/ 2594610 w 4403567"/>
              <a:gd name="connsiteY3" fmla="*/ 191798 h 2416416"/>
              <a:gd name="connsiteX4" fmla="*/ 3669030 w 4403567"/>
              <a:gd name="connsiteY4" fmla="*/ 2009168 h 2416416"/>
              <a:gd name="connsiteX5" fmla="*/ 4023360 w 4403567"/>
              <a:gd name="connsiteY5" fmla="*/ 2386358 h 2416416"/>
              <a:gd name="connsiteX6" fmla="*/ 4377690 w 4403567"/>
              <a:gd name="connsiteY6" fmla="*/ 2386358 h 2416416"/>
              <a:gd name="connsiteX7" fmla="*/ 4337238 w 4403567"/>
              <a:gd name="connsiteY7" fmla="*/ 2152628 h 2416416"/>
              <a:gd name="connsiteX0" fmla="*/ 0 w 4377690"/>
              <a:gd name="connsiteY0" fmla="*/ 2386358 h 2416416"/>
              <a:gd name="connsiteX1" fmla="*/ 525780 w 4377690"/>
              <a:gd name="connsiteY1" fmla="*/ 2123468 h 2416416"/>
              <a:gd name="connsiteX2" fmla="*/ 1668780 w 4377690"/>
              <a:gd name="connsiteY2" fmla="*/ 271808 h 2416416"/>
              <a:gd name="connsiteX3" fmla="*/ 2594610 w 4377690"/>
              <a:gd name="connsiteY3" fmla="*/ 191798 h 2416416"/>
              <a:gd name="connsiteX4" fmla="*/ 3669030 w 4377690"/>
              <a:gd name="connsiteY4" fmla="*/ 2009168 h 2416416"/>
              <a:gd name="connsiteX5" fmla="*/ 4023360 w 4377690"/>
              <a:gd name="connsiteY5" fmla="*/ 2386358 h 2416416"/>
              <a:gd name="connsiteX6" fmla="*/ 4377690 w 4377690"/>
              <a:gd name="connsiteY6" fmla="*/ 2386358 h 2416416"/>
              <a:gd name="connsiteX0" fmla="*/ 0 w 4393195"/>
              <a:gd name="connsiteY0" fmla="*/ 2386358 h 2554098"/>
              <a:gd name="connsiteX1" fmla="*/ 525780 w 4393195"/>
              <a:gd name="connsiteY1" fmla="*/ 2123468 h 2554098"/>
              <a:gd name="connsiteX2" fmla="*/ 1668780 w 4393195"/>
              <a:gd name="connsiteY2" fmla="*/ 271808 h 2554098"/>
              <a:gd name="connsiteX3" fmla="*/ 2594610 w 4393195"/>
              <a:gd name="connsiteY3" fmla="*/ 191798 h 2554098"/>
              <a:gd name="connsiteX4" fmla="*/ 3669030 w 4393195"/>
              <a:gd name="connsiteY4" fmla="*/ 2009168 h 2554098"/>
              <a:gd name="connsiteX5" fmla="*/ 4023360 w 4393195"/>
              <a:gd name="connsiteY5" fmla="*/ 2386358 h 2554098"/>
              <a:gd name="connsiteX6" fmla="*/ 4393195 w 4393195"/>
              <a:gd name="connsiteY6" fmla="*/ 2554098 h 2554098"/>
              <a:gd name="connsiteX0" fmla="*/ 0 w 4408700"/>
              <a:gd name="connsiteY0" fmla="*/ 2489583 h 2554098"/>
              <a:gd name="connsiteX1" fmla="*/ 541285 w 4408700"/>
              <a:gd name="connsiteY1" fmla="*/ 2123468 h 2554098"/>
              <a:gd name="connsiteX2" fmla="*/ 1684285 w 4408700"/>
              <a:gd name="connsiteY2" fmla="*/ 271808 h 2554098"/>
              <a:gd name="connsiteX3" fmla="*/ 2610115 w 4408700"/>
              <a:gd name="connsiteY3" fmla="*/ 191798 h 2554098"/>
              <a:gd name="connsiteX4" fmla="*/ 3684535 w 4408700"/>
              <a:gd name="connsiteY4" fmla="*/ 2009168 h 2554098"/>
              <a:gd name="connsiteX5" fmla="*/ 4038865 w 4408700"/>
              <a:gd name="connsiteY5" fmla="*/ 2386358 h 2554098"/>
              <a:gd name="connsiteX6" fmla="*/ 4408700 w 4408700"/>
              <a:gd name="connsiteY6" fmla="*/ 2554098 h 2554098"/>
              <a:gd name="connsiteX0" fmla="*/ 0 w 4408700"/>
              <a:gd name="connsiteY0" fmla="*/ 2489583 h 2554098"/>
              <a:gd name="connsiteX1" fmla="*/ 541285 w 4408700"/>
              <a:gd name="connsiteY1" fmla="*/ 2123468 h 2554098"/>
              <a:gd name="connsiteX2" fmla="*/ 1684285 w 4408700"/>
              <a:gd name="connsiteY2" fmla="*/ 271808 h 2554098"/>
              <a:gd name="connsiteX3" fmla="*/ 2610115 w 4408700"/>
              <a:gd name="connsiteY3" fmla="*/ 191798 h 2554098"/>
              <a:gd name="connsiteX4" fmla="*/ 3684535 w 4408700"/>
              <a:gd name="connsiteY4" fmla="*/ 2009168 h 2554098"/>
              <a:gd name="connsiteX5" fmla="*/ 4038865 w 4408700"/>
              <a:gd name="connsiteY5" fmla="*/ 2386358 h 2554098"/>
              <a:gd name="connsiteX6" fmla="*/ 4408700 w 4408700"/>
              <a:gd name="connsiteY6" fmla="*/ 2554098 h 2554098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255937 w 4625772"/>
              <a:gd name="connsiteY5" fmla="*/ 2386358 h 2599260"/>
              <a:gd name="connsiteX6" fmla="*/ 4625772 w 4625772"/>
              <a:gd name="connsiteY6" fmla="*/ 2554098 h 2599260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625772 w 4625772"/>
              <a:gd name="connsiteY5" fmla="*/ 2554098 h 2599260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625772 w 4625772"/>
              <a:gd name="connsiteY5" fmla="*/ 2554098 h 2599260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625772 w 4625772"/>
              <a:gd name="connsiteY5" fmla="*/ 2554098 h 2599260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625772 w 4625772"/>
              <a:gd name="connsiteY5" fmla="*/ 2554098 h 2599260"/>
              <a:gd name="connsiteX0" fmla="*/ 0 w 4625772"/>
              <a:gd name="connsiteY0" fmla="*/ 2596416 h 2596416"/>
              <a:gd name="connsiteX1" fmla="*/ 851388 w 4625772"/>
              <a:gd name="connsiteY1" fmla="*/ 2069012 h 2596416"/>
              <a:gd name="connsiteX2" fmla="*/ 1901357 w 4625772"/>
              <a:gd name="connsiteY2" fmla="*/ 268964 h 2596416"/>
              <a:gd name="connsiteX3" fmla="*/ 2827187 w 4625772"/>
              <a:gd name="connsiteY3" fmla="*/ 188954 h 2596416"/>
              <a:gd name="connsiteX4" fmla="*/ 3901607 w 4625772"/>
              <a:gd name="connsiteY4" fmla="*/ 2006324 h 2596416"/>
              <a:gd name="connsiteX5" fmla="*/ 4625772 w 4625772"/>
              <a:gd name="connsiteY5" fmla="*/ 2551254 h 2596416"/>
              <a:gd name="connsiteX0" fmla="*/ 0 w 4625772"/>
              <a:gd name="connsiteY0" fmla="*/ 2596416 h 2596416"/>
              <a:gd name="connsiteX1" fmla="*/ 851388 w 4625772"/>
              <a:gd name="connsiteY1" fmla="*/ 2069012 h 2596416"/>
              <a:gd name="connsiteX2" fmla="*/ 1901357 w 4625772"/>
              <a:gd name="connsiteY2" fmla="*/ 268964 h 2596416"/>
              <a:gd name="connsiteX3" fmla="*/ 2827187 w 4625772"/>
              <a:gd name="connsiteY3" fmla="*/ 188954 h 2596416"/>
              <a:gd name="connsiteX4" fmla="*/ 3901607 w 4625772"/>
              <a:gd name="connsiteY4" fmla="*/ 2006324 h 2596416"/>
              <a:gd name="connsiteX5" fmla="*/ 4625772 w 4625772"/>
              <a:gd name="connsiteY5" fmla="*/ 2551254 h 2596416"/>
              <a:gd name="connsiteX0" fmla="*/ 0 w 4625772"/>
              <a:gd name="connsiteY0" fmla="*/ 2638974 h 2638974"/>
              <a:gd name="connsiteX1" fmla="*/ 851388 w 4625772"/>
              <a:gd name="connsiteY1" fmla="*/ 2111570 h 2638974"/>
              <a:gd name="connsiteX2" fmla="*/ 1901357 w 4625772"/>
              <a:gd name="connsiteY2" fmla="*/ 311522 h 2638974"/>
              <a:gd name="connsiteX3" fmla="*/ 2396614 w 4625772"/>
              <a:gd name="connsiteY3" fmla="*/ 33500 h 2638974"/>
              <a:gd name="connsiteX4" fmla="*/ 2827187 w 4625772"/>
              <a:gd name="connsiteY4" fmla="*/ 231512 h 2638974"/>
              <a:gd name="connsiteX5" fmla="*/ 3901607 w 4625772"/>
              <a:gd name="connsiteY5" fmla="*/ 2048882 h 2638974"/>
              <a:gd name="connsiteX6" fmla="*/ 4625772 w 4625772"/>
              <a:gd name="connsiteY6" fmla="*/ 2593812 h 2638974"/>
              <a:gd name="connsiteX0" fmla="*/ 0 w 4625772"/>
              <a:gd name="connsiteY0" fmla="*/ 2862217 h 2862217"/>
              <a:gd name="connsiteX1" fmla="*/ 851388 w 4625772"/>
              <a:gd name="connsiteY1" fmla="*/ 2334813 h 2862217"/>
              <a:gd name="connsiteX2" fmla="*/ 1901357 w 4625772"/>
              <a:gd name="connsiteY2" fmla="*/ 534765 h 2862217"/>
              <a:gd name="connsiteX3" fmla="*/ 2415220 w 4625772"/>
              <a:gd name="connsiteY3" fmla="*/ 1262 h 2862217"/>
              <a:gd name="connsiteX4" fmla="*/ 2827187 w 4625772"/>
              <a:gd name="connsiteY4" fmla="*/ 454755 h 2862217"/>
              <a:gd name="connsiteX5" fmla="*/ 3901607 w 4625772"/>
              <a:gd name="connsiteY5" fmla="*/ 2272125 h 2862217"/>
              <a:gd name="connsiteX6" fmla="*/ 4625772 w 4625772"/>
              <a:gd name="connsiteY6" fmla="*/ 2817055 h 2862217"/>
              <a:gd name="connsiteX0" fmla="*/ 0 w 4625772"/>
              <a:gd name="connsiteY0" fmla="*/ 2869891 h 2869891"/>
              <a:gd name="connsiteX1" fmla="*/ 851388 w 4625772"/>
              <a:gd name="connsiteY1" fmla="*/ 2342487 h 2869891"/>
              <a:gd name="connsiteX2" fmla="*/ 1901357 w 4625772"/>
              <a:gd name="connsiteY2" fmla="*/ 542439 h 2869891"/>
              <a:gd name="connsiteX3" fmla="*/ 2350098 w 4625772"/>
              <a:gd name="connsiteY3" fmla="*/ 1194 h 2869891"/>
              <a:gd name="connsiteX4" fmla="*/ 2827187 w 4625772"/>
              <a:gd name="connsiteY4" fmla="*/ 462429 h 2869891"/>
              <a:gd name="connsiteX5" fmla="*/ 3901607 w 4625772"/>
              <a:gd name="connsiteY5" fmla="*/ 2279799 h 2869891"/>
              <a:gd name="connsiteX6" fmla="*/ 4625772 w 4625772"/>
              <a:gd name="connsiteY6" fmla="*/ 2824729 h 2869891"/>
              <a:gd name="connsiteX0" fmla="*/ 0 w 4625772"/>
              <a:gd name="connsiteY0" fmla="*/ 2895513 h 2895513"/>
              <a:gd name="connsiteX1" fmla="*/ 851388 w 4625772"/>
              <a:gd name="connsiteY1" fmla="*/ 2368109 h 2895513"/>
              <a:gd name="connsiteX2" fmla="*/ 1901357 w 4625772"/>
              <a:gd name="connsiteY2" fmla="*/ 568061 h 2895513"/>
              <a:gd name="connsiteX3" fmla="*/ 2299707 w 4625772"/>
              <a:gd name="connsiteY3" fmla="*/ 1010 h 2895513"/>
              <a:gd name="connsiteX4" fmla="*/ 2827187 w 4625772"/>
              <a:gd name="connsiteY4" fmla="*/ 488051 h 2895513"/>
              <a:gd name="connsiteX5" fmla="*/ 3901607 w 4625772"/>
              <a:gd name="connsiteY5" fmla="*/ 2305421 h 2895513"/>
              <a:gd name="connsiteX6" fmla="*/ 4625772 w 4625772"/>
              <a:gd name="connsiteY6" fmla="*/ 2850351 h 2895513"/>
              <a:gd name="connsiteX0" fmla="*/ 0 w 4625772"/>
              <a:gd name="connsiteY0" fmla="*/ 2894503 h 2894503"/>
              <a:gd name="connsiteX1" fmla="*/ 851388 w 4625772"/>
              <a:gd name="connsiteY1" fmla="*/ 2367099 h 2894503"/>
              <a:gd name="connsiteX2" fmla="*/ 1901357 w 4625772"/>
              <a:gd name="connsiteY2" fmla="*/ 567051 h 2894503"/>
              <a:gd name="connsiteX3" fmla="*/ 2299707 w 4625772"/>
              <a:gd name="connsiteY3" fmla="*/ 0 h 2894503"/>
              <a:gd name="connsiteX4" fmla="*/ 2827187 w 4625772"/>
              <a:gd name="connsiteY4" fmla="*/ 487041 h 2894503"/>
              <a:gd name="connsiteX5" fmla="*/ 3901607 w 4625772"/>
              <a:gd name="connsiteY5" fmla="*/ 2304411 h 2894503"/>
              <a:gd name="connsiteX6" fmla="*/ 4625772 w 4625772"/>
              <a:gd name="connsiteY6" fmla="*/ 2849341 h 2894503"/>
              <a:gd name="connsiteX0" fmla="*/ 0 w 4625772"/>
              <a:gd name="connsiteY0" fmla="*/ 2894803 h 2894803"/>
              <a:gd name="connsiteX1" fmla="*/ 851388 w 4625772"/>
              <a:gd name="connsiteY1" fmla="*/ 2367399 h 2894803"/>
              <a:gd name="connsiteX2" fmla="*/ 1901357 w 4625772"/>
              <a:gd name="connsiteY2" fmla="*/ 567351 h 2894803"/>
              <a:gd name="connsiteX3" fmla="*/ 2299707 w 4625772"/>
              <a:gd name="connsiteY3" fmla="*/ 300 h 2894803"/>
              <a:gd name="connsiteX4" fmla="*/ 2827187 w 4625772"/>
              <a:gd name="connsiteY4" fmla="*/ 487341 h 2894803"/>
              <a:gd name="connsiteX5" fmla="*/ 3901607 w 4625772"/>
              <a:gd name="connsiteY5" fmla="*/ 2304711 h 2894803"/>
              <a:gd name="connsiteX6" fmla="*/ 4625772 w 4625772"/>
              <a:gd name="connsiteY6" fmla="*/ 2849641 h 2894803"/>
              <a:gd name="connsiteX0" fmla="*/ 0 w 4625772"/>
              <a:gd name="connsiteY0" fmla="*/ 2894803 h 2894803"/>
              <a:gd name="connsiteX1" fmla="*/ 851388 w 4625772"/>
              <a:gd name="connsiteY1" fmla="*/ 2367399 h 2894803"/>
              <a:gd name="connsiteX2" fmla="*/ 1901357 w 4625772"/>
              <a:gd name="connsiteY2" fmla="*/ 567351 h 2894803"/>
              <a:gd name="connsiteX3" fmla="*/ 2299707 w 4625772"/>
              <a:gd name="connsiteY3" fmla="*/ 300 h 2894803"/>
              <a:gd name="connsiteX4" fmla="*/ 2827187 w 4625772"/>
              <a:gd name="connsiteY4" fmla="*/ 487341 h 2894803"/>
              <a:gd name="connsiteX5" fmla="*/ 3901607 w 4625772"/>
              <a:gd name="connsiteY5" fmla="*/ 2304711 h 2894803"/>
              <a:gd name="connsiteX6" fmla="*/ 4625772 w 4625772"/>
              <a:gd name="connsiteY6" fmla="*/ 2849641 h 2894803"/>
              <a:gd name="connsiteX0" fmla="*/ 0 w 4625772"/>
              <a:gd name="connsiteY0" fmla="*/ 2894594 h 2894594"/>
              <a:gd name="connsiteX1" fmla="*/ 851388 w 4625772"/>
              <a:gd name="connsiteY1" fmla="*/ 2367190 h 2894594"/>
              <a:gd name="connsiteX2" fmla="*/ 1901357 w 4625772"/>
              <a:gd name="connsiteY2" fmla="*/ 567142 h 2894594"/>
              <a:gd name="connsiteX3" fmla="*/ 2299707 w 4625772"/>
              <a:gd name="connsiteY3" fmla="*/ 91 h 2894594"/>
              <a:gd name="connsiteX4" fmla="*/ 2827187 w 4625772"/>
              <a:gd name="connsiteY4" fmla="*/ 487132 h 2894594"/>
              <a:gd name="connsiteX5" fmla="*/ 3901607 w 4625772"/>
              <a:gd name="connsiteY5" fmla="*/ 2304502 h 2894594"/>
              <a:gd name="connsiteX6" fmla="*/ 4625772 w 4625772"/>
              <a:gd name="connsiteY6" fmla="*/ 2849432 h 2894594"/>
              <a:gd name="connsiteX0" fmla="*/ 0 w 4625772"/>
              <a:gd name="connsiteY0" fmla="*/ 2985198 h 2985198"/>
              <a:gd name="connsiteX1" fmla="*/ 851388 w 4625772"/>
              <a:gd name="connsiteY1" fmla="*/ 2457794 h 2985198"/>
              <a:gd name="connsiteX2" fmla="*/ 1901357 w 4625772"/>
              <a:gd name="connsiteY2" fmla="*/ 657746 h 2985198"/>
              <a:gd name="connsiteX3" fmla="*/ 2299707 w 4625772"/>
              <a:gd name="connsiteY3" fmla="*/ 90695 h 2985198"/>
              <a:gd name="connsiteX4" fmla="*/ 3901607 w 4625772"/>
              <a:gd name="connsiteY4" fmla="*/ 2395106 h 2985198"/>
              <a:gd name="connsiteX5" fmla="*/ 4625772 w 4625772"/>
              <a:gd name="connsiteY5" fmla="*/ 2940036 h 2985198"/>
              <a:gd name="connsiteX0" fmla="*/ 0 w 4625772"/>
              <a:gd name="connsiteY0" fmla="*/ 2894503 h 2894503"/>
              <a:gd name="connsiteX1" fmla="*/ 851388 w 4625772"/>
              <a:gd name="connsiteY1" fmla="*/ 2367099 h 2894503"/>
              <a:gd name="connsiteX2" fmla="*/ 2299707 w 4625772"/>
              <a:gd name="connsiteY2" fmla="*/ 0 h 2894503"/>
              <a:gd name="connsiteX3" fmla="*/ 3901607 w 4625772"/>
              <a:gd name="connsiteY3" fmla="*/ 2304411 h 2894503"/>
              <a:gd name="connsiteX4" fmla="*/ 4625772 w 4625772"/>
              <a:gd name="connsiteY4" fmla="*/ 2849341 h 2894503"/>
              <a:gd name="connsiteX0" fmla="*/ 0 w 4625772"/>
              <a:gd name="connsiteY0" fmla="*/ 2920938 h 2920938"/>
              <a:gd name="connsiteX1" fmla="*/ 851388 w 4625772"/>
              <a:gd name="connsiteY1" fmla="*/ 2393534 h 2920938"/>
              <a:gd name="connsiteX2" fmla="*/ 2299707 w 4625772"/>
              <a:gd name="connsiteY2" fmla="*/ 26435 h 2920938"/>
              <a:gd name="connsiteX3" fmla="*/ 3901607 w 4625772"/>
              <a:gd name="connsiteY3" fmla="*/ 2330846 h 2920938"/>
              <a:gd name="connsiteX4" fmla="*/ 4625772 w 4625772"/>
              <a:gd name="connsiteY4" fmla="*/ 2875776 h 2920938"/>
              <a:gd name="connsiteX0" fmla="*/ 0 w 4625772"/>
              <a:gd name="connsiteY0" fmla="*/ 2894510 h 2894510"/>
              <a:gd name="connsiteX1" fmla="*/ 851388 w 4625772"/>
              <a:gd name="connsiteY1" fmla="*/ 2367106 h 2894510"/>
              <a:gd name="connsiteX2" fmla="*/ 2299707 w 4625772"/>
              <a:gd name="connsiteY2" fmla="*/ 7 h 2894510"/>
              <a:gd name="connsiteX3" fmla="*/ 3901607 w 4625772"/>
              <a:gd name="connsiteY3" fmla="*/ 2304418 h 2894510"/>
              <a:gd name="connsiteX4" fmla="*/ 4625772 w 4625772"/>
              <a:gd name="connsiteY4" fmla="*/ 2849348 h 2894510"/>
              <a:gd name="connsiteX0" fmla="*/ 0 w 4625772"/>
              <a:gd name="connsiteY0" fmla="*/ 2894816 h 2894816"/>
              <a:gd name="connsiteX1" fmla="*/ 851388 w 4625772"/>
              <a:gd name="connsiteY1" fmla="*/ 2367412 h 2894816"/>
              <a:gd name="connsiteX2" fmla="*/ 2299707 w 4625772"/>
              <a:gd name="connsiteY2" fmla="*/ 313 h 2894816"/>
              <a:gd name="connsiteX3" fmla="*/ 3631817 w 4625772"/>
              <a:gd name="connsiteY3" fmla="*/ 2204080 h 2894816"/>
              <a:gd name="connsiteX4" fmla="*/ 4625772 w 4625772"/>
              <a:gd name="connsiteY4" fmla="*/ 2849654 h 2894816"/>
              <a:gd name="connsiteX0" fmla="*/ 0 w 4625772"/>
              <a:gd name="connsiteY0" fmla="*/ 2894855 h 2894855"/>
              <a:gd name="connsiteX1" fmla="*/ 851388 w 4625772"/>
              <a:gd name="connsiteY1" fmla="*/ 2367451 h 2894855"/>
              <a:gd name="connsiteX2" fmla="*/ 2299707 w 4625772"/>
              <a:gd name="connsiteY2" fmla="*/ 352 h 2894855"/>
              <a:gd name="connsiteX3" fmla="*/ 3817879 w 4625772"/>
              <a:gd name="connsiteY3" fmla="*/ 2194442 h 2894855"/>
              <a:gd name="connsiteX4" fmla="*/ 4625772 w 4625772"/>
              <a:gd name="connsiteY4" fmla="*/ 2849693 h 2894855"/>
              <a:gd name="connsiteX0" fmla="*/ 0 w 4625772"/>
              <a:gd name="connsiteY0" fmla="*/ 2894842 h 2894842"/>
              <a:gd name="connsiteX1" fmla="*/ 851388 w 4625772"/>
              <a:gd name="connsiteY1" fmla="*/ 2367438 h 2894842"/>
              <a:gd name="connsiteX2" fmla="*/ 2299707 w 4625772"/>
              <a:gd name="connsiteY2" fmla="*/ 339 h 2894842"/>
              <a:gd name="connsiteX3" fmla="*/ 3817879 w 4625772"/>
              <a:gd name="connsiteY3" fmla="*/ 2194429 h 2894842"/>
              <a:gd name="connsiteX4" fmla="*/ 4625772 w 4625772"/>
              <a:gd name="connsiteY4" fmla="*/ 2849680 h 2894842"/>
              <a:gd name="connsiteX0" fmla="*/ 0 w 4625772"/>
              <a:gd name="connsiteY0" fmla="*/ 2894504 h 2894504"/>
              <a:gd name="connsiteX1" fmla="*/ 820378 w 4625772"/>
              <a:gd name="connsiteY1" fmla="*/ 2189683 h 2894504"/>
              <a:gd name="connsiteX2" fmla="*/ 2299707 w 4625772"/>
              <a:gd name="connsiteY2" fmla="*/ 1 h 2894504"/>
              <a:gd name="connsiteX3" fmla="*/ 3817879 w 4625772"/>
              <a:gd name="connsiteY3" fmla="*/ 2194091 h 2894504"/>
              <a:gd name="connsiteX4" fmla="*/ 4625772 w 4625772"/>
              <a:gd name="connsiteY4" fmla="*/ 2849342 h 2894504"/>
              <a:gd name="connsiteX0" fmla="*/ 0 w 4625772"/>
              <a:gd name="connsiteY0" fmla="*/ 2894504 h 2894504"/>
              <a:gd name="connsiteX1" fmla="*/ 820378 w 4625772"/>
              <a:gd name="connsiteY1" fmla="*/ 2189683 h 2894504"/>
              <a:gd name="connsiteX2" fmla="*/ 2299707 w 4625772"/>
              <a:gd name="connsiteY2" fmla="*/ 1 h 2894504"/>
              <a:gd name="connsiteX3" fmla="*/ 3817879 w 4625772"/>
              <a:gd name="connsiteY3" fmla="*/ 2194091 h 2894504"/>
              <a:gd name="connsiteX4" fmla="*/ 4625772 w 4625772"/>
              <a:gd name="connsiteY4" fmla="*/ 2849342 h 2894504"/>
              <a:gd name="connsiteX0" fmla="*/ 0 w 4625772"/>
              <a:gd name="connsiteY0" fmla="*/ 2894504 h 2894504"/>
              <a:gd name="connsiteX1" fmla="*/ 820378 w 4625772"/>
              <a:gd name="connsiteY1" fmla="*/ 2189683 h 2894504"/>
              <a:gd name="connsiteX2" fmla="*/ 2299707 w 4625772"/>
              <a:gd name="connsiteY2" fmla="*/ 1 h 2894504"/>
              <a:gd name="connsiteX3" fmla="*/ 3817879 w 4625772"/>
              <a:gd name="connsiteY3" fmla="*/ 2194091 h 2894504"/>
              <a:gd name="connsiteX4" fmla="*/ 4625772 w 4625772"/>
              <a:gd name="connsiteY4" fmla="*/ 2849342 h 2894504"/>
              <a:gd name="connsiteX0" fmla="*/ 0 w 4625772"/>
              <a:gd name="connsiteY0" fmla="*/ 2894504 h 2894504"/>
              <a:gd name="connsiteX1" fmla="*/ 820378 w 4625772"/>
              <a:gd name="connsiteY1" fmla="*/ 2189683 h 2894504"/>
              <a:gd name="connsiteX2" fmla="*/ 2299707 w 4625772"/>
              <a:gd name="connsiteY2" fmla="*/ 1 h 2894504"/>
              <a:gd name="connsiteX3" fmla="*/ 3817879 w 4625772"/>
              <a:gd name="connsiteY3" fmla="*/ 2194091 h 2894504"/>
              <a:gd name="connsiteX4" fmla="*/ 4625772 w 4625772"/>
              <a:gd name="connsiteY4" fmla="*/ 2849342 h 2894504"/>
              <a:gd name="connsiteX0" fmla="*/ 0 w 4774041"/>
              <a:gd name="connsiteY0" fmla="*/ 2894504 h 2926761"/>
              <a:gd name="connsiteX1" fmla="*/ 820378 w 4774041"/>
              <a:gd name="connsiteY1" fmla="*/ 2189683 h 2926761"/>
              <a:gd name="connsiteX2" fmla="*/ 2299707 w 4774041"/>
              <a:gd name="connsiteY2" fmla="*/ 1 h 2926761"/>
              <a:gd name="connsiteX3" fmla="*/ 3817879 w 4774041"/>
              <a:gd name="connsiteY3" fmla="*/ 2194091 h 2926761"/>
              <a:gd name="connsiteX4" fmla="*/ 4774041 w 4774041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5835" h="2926761">
                <a:moveTo>
                  <a:pt x="0" y="2923536"/>
                </a:moveTo>
                <a:cubicBezTo>
                  <a:pt x="424237" y="2923950"/>
                  <a:pt x="698098" y="2633391"/>
                  <a:pt x="952172" y="2189683"/>
                </a:cubicBezTo>
                <a:cubicBezTo>
                  <a:pt x="1206246" y="1745975"/>
                  <a:pt x="1850515" y="-734"/>
                  <a:pt x="2431501" y="1"/>
                </a:cubicBezTo>
                <a:cubicBezTo>
                  <a:pt x="3012487" y="736"/>
                  <a:pt x="3700088" y="1754685"/>
                  <a:pt x="3949673" y="2194091"/>
                </a:cubicBezTo>
                <a:cubicBezTo>
                  <a:pt x="4199258" y="2633497"/>
                  <a:pt x="4473937" y="2919686"/>
                  <a:pt x="4905835" y="2926761"/>
                </a:cubicBezTo>
              </a:path>
            </a:pathLst>
          </a:cu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3E23127-DAA4-498A-BEB9-EFDFF7E08C94}"/>
              </a:ext>
            </a:extLst>
          </p:cNvPr>
          <p:cNvCxnSpPr>
            <a:cxnSpLocks/>
          </p:cNvCxnSpPr>
          <p:nvPr/>
        </p:nvCxnSpPr>
        <p:spPr>
          <a:xfrm>
            <a:off x="2895039" y="5480768"/>
            <a:ext cx="6401921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E8E4EA6-10F9-059C-6C67-CDC5B56A04E5}"/>
              </a:ext>
            </a:extLst>
          </p:cNvPr>
          <p:cNvSpPr txBox="1"/>
          <p:nvPr/>
        </p:nvSpPr>
        <p:spPr>
          <a:xfrm>
            <a:off x="5120082" y="4095009"/>
            <a:ext cx="1951836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Acceptance  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</a:rPr>
              <a:t>Region</a:t>
            </a:r>
            <a:endParaRPr lang="en-IN" sz="2800" dirty="0">
              <a:solidFill>
                <a:srgbClr val="00206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BEA441-373F-D11D-9027-F08A8AAE6C2B}"/>
              </a:ext>
            </a:extLst>
          </p:cNvPr>
          <p:cNvCxnSpPr>
            <a:cxnSpLocks/>
          </p:cNvCxnSpPr>
          <p:nvPr/>
        </p:nvCxnSpPr>
        <p:spPr>
          <a:xfrm flipH="1" flipV="1">
            <a:off x="8175082" y="5303832"/>
            <a:ext cx="1260000" cy="180000"/>
          </a:xfrm>
          <a:prstGeom prst="straightConnector1">
            <a:avLst/>
          </a:prstGeom>
          <a:ln w="57150">
            <a:solidFill>
              <a:srgbClr val="FF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E8525E1-83F7-B31A-9CE2-8E9055EB0638}"/>
              </a:ext>
            </a:extLst>
          </p:cNvPr>
          <p:cNvCxnSpPr>
            <a:cxnSpLocks/>
          </p:cNvCxnSpPr>
          <p:nvPr/>
        </p:nvCxnSpPr>
        <p:spPr>
          <a:xfrm flipV="1">
            <a:off x="2354580" y="5296641"/>
            <a:ext cx="1217224" cy="207479"/>
          </a:xfrm>
          <a:prstGeom prst="straightConnector1">
            <a:avLst/>
          </a:prstGeom>
          <a:ln w="57150">
            <a:solidFill>
              <a:srgbClr val="FF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6FFA95-6F90-1E4A-00E2-DE0FA31A1AC8}"/>
                  </a:ext>
                </a:extLst>
              </p:cNvPr>
              <p:cNvSpPr txBox="1"/>
              <p:nvPr/>
            </p:nvSpPr>
            <p:spPr>
              <a:xfrm>
                <a:off x="5099600" y="2764873"/>
                <a:ext cx="1992800" cy="430887"/>
              </a:xfrm>
              <a:prstGeom prst="rect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2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2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95</m:t>
                      </m:r>
                    </m:oMath>
                  </m:oMathPara>
                </a14:m>
                <a:endParaRPr lang="en-IN" sz="22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6FFA95-6F90-1E4A-00E2-DE0FA31A1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600" y="2764873"/>
                <a:ext cx="1992800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79E2D58-578D-87E3-057F-4A5CE232A7B4}"/>
                  </a:ext>
                </a:extLst>
              </p:cNvPr>
              <p:cNvSpPr txBox="1"/>
              <p:nvPr/>
            </p:nvSpPr>
            <p:spPr>
              <a:xfrm flipH="1">
                <a:off x="161373" y="2842141"/>
                <a:ext cx="3436432" cy="1296000"/>
              </a:xfrm>
              <a:prstGeom prst="borderCallout2">
                <a:avLst>
                  <a:gd name="adj1" fmla="val 16862"/>
                  <a:gd name="adj2" fmla="val -633"/>
                  <a:gd name="adj3" fmla="val 22954"/>
                  <a:gd name="adj4" fmla="val -6023"/>
                  <a:gd name="adj5" fmla="val 171991"/>
                  <a:gd name="adj6" fmla="val -12277"/>
                </a:avLst>
              </a:prstGeom>
              <a:noFill/>
              <a:ln w="57150">
                <a:solidFill>
                  <a:schemeClr val="accent2"/>
                </a:solidFill>
                <a:tailEnd type="stealth" w="lg" len="med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 dirty="0">
                    <a:solidFill>
                      <a:srgbClr val="002060"/>
                    </a:solidFill>
                  </a:rPr>
                  <a:t>If the value of test statistic belong to yellow region, then we </a:t>
                </a:r>
                <a:r>
                  <a:rPr lang="en-US" sz="2500" b="1" dirty="0">
                    <a:solidFill>
                      <a:srgbClr val="FF0000"/>
                    </a:solidFill>
                  </a:rPr>
                  <a:t>Reject</a:t>
                </a:r>
                <a14:m>
                  <m:oMath xmlns:m="http://schemas.openxmlformats.org/officeDocument/2006/math">
                    <m:r>
                      <a:rPr lang="en-US" sz="25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5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5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5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500" dirty="0">
                    <a:solidFill>
                      <a:srgbClr val="002060"/>
                    </a:solidFill>
                  </a:rPr>
                  <a:t>.</a:t>
                </a:r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79E2D58-578D-87E3-057F-4A5CE232A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61373" y="2842141"/>
                <a:ext cx="3436432" cy="1296000"/>
              </a:xfrm>
              <a:prstGeom prst="borderCallout2">
                <a:avLst>
                  <a:gd name="adj1" fmla="val 16862"/>
                  <a:gd name="adj2" fmla="val -633"/>
                  <a:gd name="adj3" fmla="val 22954"/>
                  <a:gd name="adj4" fmla="val -6023"/>
                  <a:gd name="adj5" fmla="val 171991"/>
                  <a:gd name="adj6" fmla="val -12277"/>
                </a:avLst>
              </a:prstGeom>
              <a:blipFill>
                <a:blip r:embed="rId14"/>
                <a:stretch>
                  <a:fillRect l="-1642" t="-744"/>
                </a:stretch>
              </a:blipFill>
              <a:ln w="57150">
                <a:solidFill>
                  <a:schemeClr val="accent2"/>
                </a:solidFill>
                <a:tailEnd type="stealth" w="lg" len="me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41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34" grpId="0" animBg="1"/>
      <p:bldP spid="36" grpId="0"/>
      <p:bldP spid="37" grpId="0"/>
      <p:bldP spid="39" grpId="0" animBg="1"/>
      <p:bldP spid="40" grpId="0" animBg="1"/>
      <p:bldP spid="41" grpId="0"/>
      <p:bldP spid="42" grpId="0"/>
      <p:bldP spid="43" grpId="0"/>
      <p:bldP spid="44" grpId="0"/>
      <p:bldP spid="46" grpId="0"/>
      <p:bldP spid="53" grpId="0" animBg="1"/>
      <p:bldP spid="54" grpId="0" animBg="1"/>
      <p:bldP spid="48" grpId="0"/>
      <p:bldP spid="55" grpId="0" animBg="1"/>
      <p:bldP spid="56" grpId="0" animBg="1"/>
      <p:bldP spid="59" grpId="0" animBg="1"/>
      <p:bldP spid="21" grpId="0" animBg="1"/>
      <p:bldP spid="38" grpId="0" animBg="1"/>
      <p:bldP spid="63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F29D9-2AB5-7A02-FB32-9317011F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86CE-8085-80C3-B2B2-301CA38E1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representation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DA668-DA88-1CB1-7884-1EC61F32B1E3}"/>
              </a:ext>
            </a:extLst>
          </p:cNvPr>
          <p:cNvSpPr txBox="1"/>
          <p:nvPr/>
        </p:nvSpPr>
        <p:spPr>
          <a:xfrm>
            <a:off x="9711898" y="4589474"/>
            <a:ext cx="266296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solidFill>
                  <a:srgbClr val="002060"/>
                </a:solidFill>
              </a:rPr>
              <a:t>Rejection  Region</a:t>
            </a:r>
          </a:p>
          <a:p>
            <a:pPr algn="ctr"/>
            <a:r>
              <a:rPr lang="en-US" sz="2500" dirty="0">
                <a:solidFill>
                  <a:srgbClr val="002060"/>
                </a:solidFill>
              </a:rPr>
              <a:t>(Critical Region)</a:t>
            </a:r>
            <a:endParaRPr lang="en-IN" sz="2500" dirty="0">
              <a:solidFill>
                <a:srgbClr val="00206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36056A-970C-2E1C-705C-14E7762923AF}"/>
              </a:ext>
            </a:extLst>
          </p:cNvPr>
          <p:cNvSpPr txBox="1"/>
          <p:nvPr/>
        </p:nvSpPr>
        <p:spPr>
          <a:xfrm>
            <a:off x="0" y="716070"/>
            <a:ext cx="2798161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Right tailed test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B686A20-3A37-FD94-A897-1493582F6EF3}"/>
                  </a:ext>
                </a:extLst>
              </p:cNvPr>
              <p:cNvSpPr txBox="1"/>
              <p:nvPr/>
            </p:nvSpPr>
            <p:spPr>
              <a:xfrm>
                <a:off x="7888982" y="4064709"/>
                <a:ext cx="20562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sz="2800" b="0" i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800" b="0" i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800" b="0" i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05</m:t>
                      </m:r>
                    </m:oMath>
                  </m:oMathPara>
                </a14:m>
                <a:endParaRPr lang="en-IN" sz="28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B686A20-3A37-FD94-A897-1493582F6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982" y="4064709"/>
                <a:ext cx="205623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2C93B91-C4CA-01BA-6902-5CB66497CCB7}"/>
                  </a:ext>
                </a:extLst>
              </p:cNvPr>
              <p:cNvSpPr txBox="1"/>
              <p:nvPr/>
            </p:nvSpPr>
            <p:spPr>
              <a:xfrm>
                <a:off x="6819253" y="5504940"/>
                <a:ext cx="11976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2C93B91-C4CA-01BA-6902-5CB66497C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253" y="5504940"/>
                <a:ext cx="119765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60DEEC04-CF15-BB27-0F79-0F0D13F29FA0}"/>
              </a:ext>
            </a:extLst>
          </p:cNvPr>
          <p:cNvSpPr txBox="1"/>
          <p:nvPr/>
        </p:nvSpPr>
        <p:spPr>
          <a:xfrm>
            <a:off x="6411589" y="5953074"/>
            <a:ext cx="2012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Critical point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05F83A2-06F1-0B18-44AA-7663B1BB67E8}"/>
                  </a:ext>
                </a:extLst>
              </p:cNvPr>
              <p:cNvSpPr txBox="1"/>
              <p:nvPr/>
            </p:nvSpPr>
            <p:spPr>
              <a:xfrm>
                <a:off x="2809519" y="716538"/>
                <a:ext cx="34067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800" dirty="0">
                    <a:solidFill>
                      <a:srgbClr val="002060"/>
                    </a:solidFill>
                    <a:ea typeface="Cambria Math" panose="02040503050406030204" pitchFamily="18" charset="0"/>
                  </a:rPr>
                  <a:t>L.O.S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 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sz="28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05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05F83A2-06F1-0B18-44AA-7663B1BB6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9519" y="716538"/>
                <a:ext cx="3406793" cy="523220"/>
              </a:xfrm>
              <a:prstGeom prst="rect">
                <a:avLst/>
              </a:prstGeom>
              <a:blipFill>
                <a:blip r:embed="rId4"/>
                <a:stretch>
                  <a:fillRect l="-894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DADF04F6-8251-2AA0-5F70-CCD699490C2F}"/>
              </a:ext>
            </a:extLst>
          </p:cNvPr>
          <p:cNvSpPr txBox="1"/>
          <p:nvPr/>
        </p:nvSpPr>
        <p:spPr>
          <a:xfrm flipH="1">
            <a:off x="128195" y="2408936"/>
            <a:ext cx="3605778" cy="1815882"/>
          </a:xfrm>
          <a:prstGeom prst="borderCallout2">
            <a:avLst>
              <a:gd name="adj1" fmla="val 16862"/>
              <a:gd name="adj2" fmla="val -633"/>
              <a:gd name="adj3" fmla="val 18750"/>
              <a:gd name="adj4" fmla="val -16667"/>
              <a:gd name="adj5" fmla="val 60614"/>
              <a:gd name="adj6" fmla="val -37507"/>
            </a:avLst>
          </a:prstGeom>
          <a:noFill/>
          <a:ln w="57150">
            <a:solidFill>
              <a:schemeClr val="accent2"/>
            </a:solidFill>
            <a:tailEnd type="stealth" w="lg" len="med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If the value of test statistic belong to this region, then we </a:t>
            </a:r>
            <a:r>
              <a:rPr lang="en-US" sz="2800" b="1" dirty="0">
                <a:solidFill>
                  <a:srgbClr val="FF0000"/>
                </a:solidFill>
              </a:rPr>
              <a:t>accept</a:t>
            </a:r>
            <a:r>
              <a:rPr lang="en-US" sz="2800" dirty="0">
                <a:solidFill>
                  <a:srgbClr val="002060"/>
                </a:solidFill>
              </a:rPr>
              <a:t> null hypothesis.</a:t>
            </a:r>
            <a:endParaRPr lang="en-IN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6131EC-9ADB-4AA0-82F2-F064CF244D80}"/>
                  </a:ext>
                </a:extLst>
              </p:cNvPr>
              <p:cNvSpPr txBox="1"/>
              <p:nvPr/>
            </p:nvSpPr>
            <p:spPr>
              <a:xfrm>
                <a:off x="5444733" y="5487204"/>
                <a:ext cx="1395780" cy="52200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C6131EC-9ADB-4AA0-82F2-F064CF244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4733" y="5487204"/>
                <a:ext cx="1395780" cy="522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826B8B0-D8AD-4EED-A69D-C4E0034BDBF7}"/>
              </a:ext>
            </a:extLst>
          </p:cNvPr>
          <p:cNvCxnSpPr>
            <a:cxnSpLocks/>
          </p:cNvCxnSpPr>
          <p:nvPr/>
        </p:nvCxnSpPr>
        <p:spPr>
          <a:xfrm>
            <a:off x="6096000" y="1595509"/>
            <a:ext cx="46623" cy="3927901"/>
          </a:xfrm>
          <a:prstGeom prst="line">
            <a:avLst/>
          </a:prstGeom>
          <a:ln w="5715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BCB7B268-32BD-48F0-8076-473246C5BA0B}"/>
              </a:ext>
            </a:extLst>
          </p:cNvPr>
          <p:cNvSpPr/>
          <p:nvPr/>
        </p:nvSpPr>
        <p:spPr>
          <a:xfrm>
            <a:off x="7397575" y="3132022"/>
            <a:ext cx="1861447" cy="2391388"/>
          </a:xfrm>
          <a:custGeom>
            <a:avLst/>
            <a:gdLst>
              <a:gd name="connsiteX0" fmla="*/ 0 w 1182384"/>
              <a:gd name="connsiteY0" fmla="*/ 0 h 1846572"/>
              <a:gd name="connsiteX1" fmla="*/ 41394 w 1182384"/>
              <a:gd name="connsiteY1" fmla="*/ 94079 h 1846572"/>
              <a:gd name="connsiteX2" fmla="*/ 399210 w 1182384"/>
              <a:gd name="connsiteY2" fmla="*/ 967242 h 1846572"/>
              <a:gd name="connsiteX3" fmla="*/ 1055549 w 1182384"/>
              <a:gd name="connsiteY3" fmla="*/ 1673132 h 1846572"/>
              <a:gd name="connsiteX4" fmla="*/ 1182376 w 1182384"/>
              <a:gd name="connsiteY4" fmla="*/ 1688377 h 1846572"/>
              <a:gd name="connsiteX5" fmla="*/ 1182384 w 1182384"/>
              <a:gd name="connsiteY5" fmla="*/ 1688377 h 1846572"/>
              <a:gd name="connsiteX6" fmla="*/ 1182384 w 1182384"/>
              <a:gd name="connsiteY6" fmla="*/ 1688378 h 1846572"/>
              <a:gd name="connsiteX7" fmla="*/ 1182384 w 1182384"/>
              <a:gd name="connsiteY7" fmla="*/ 1846572 h 1846572"/>
              <a:gd name="connsiteX8" fmla="*/ 0 w 1182384"/>
              <a:gd name="connsiteY8" fmla="*/ 1846572 h 184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2384" h="1846572">
                <a:moveTo>
                  <a:pt x="0" y="0"/>
                </a:moveTo>
                <a:lnTo>
                  <a:pt x="41394" y="94079"/>
                </a:lnTo>
                <a:cubicBezTo>
                  <a:pt x="195435" y="460928"/>
                  <a:pt x="322548" y="805059"/>
                  <a:pt x="399210" y="967242"/>
                </a:cubicBezTo>
                <a:cubicBezTo>
                  <a:pt x="578086" y="1345670"/>
                  <a:pt x="772699" y="1608638"/>
                  <a:pt x="1055549" y="1673132"/>
                </a:cubicBezTo>
                <a:lnTo>
                  <a:pt x="1182376" y="1688377"/>
                </a:lnTo>
                <a:lnTo>
                  <a:pt x="1182384" y="1688377"/>
                </a:lnTo>
                <a:lnTo>
                  <a:pt x="1182384" y="1688378"/>
                </a:lnTo>
                <a:lnTo>
                  <a:pt x="1182384" y="1846572"/>
                </a:lnTo>
                <a:lnTo>
                  <a:pt x="0" y="1846572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94C51A-4440-2366-BC1F-63DA19E13A16}"/>
              </a:ext>
            </a:extLst>
          </p:cNvPr>
          <p:cNvSpPr txBox="1"/>
          <p:nvPr/>
        </p:nvSpPr>
        <p:spPr>
          <a:xfrm>
            <a:off x="4665824" y="3721619"/>
            <a:ext cx="1951836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Acceptance  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</a:rPr>
              <a:t>Region</a:t>
            </a:r>
            <a:endParaRPr lang="en-IN" sz="2800" dirty="0">
              <a:solidFill>
                <a:srgbClr val="002060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9EF79AD-2D35-4514-ACC1-BF693CA579EF}"/>
              </a:ext>
            </a:extLst>
          </p:cNvPr>
          <p:cNvSpPr/>
          <p:nvPr/>
        </p:nvSpPr>
        <p:spPr>
          <a:xfrm>
            <a:off x="2932978" y="1587930"/>
            <a:ext cx="6326044" cy="3730611"/>
          </a:xfrm>
          <a:custGeom>
            <a:avLst/>
            <a:gdLst>
              <a:gd name="connsiteX0" fmla="*/ 0 w 4387309"/>
              <a:gd name="connsiteY0" fmla="*/ 2386358 h 2416416"/>
              <a:gd name="connsiteX1" fmla="*/ 525780 w 4387309"/>
              <a:gd name="connsiteY1" fmla="*/ 2123468 h 2416416"/>
              <a:gd name="connsiteX2" fmla="*/ 1668780 w 4387309"/>
              <a:gd name="connsiteY2" fmla="*/ 271808 h 2416416"/>
              <a:gd name="connsiteX3" fmla="*/ 2594610 w 4387309"/>
              <a:gd name="connsiteY3" fmla="*/ 191798 h 2416416"/>
              <a:gd name="connsiteX4" fmla="*/ 3669030 w 4387309"/>
              <a:gd name="connsiteY4" fmla="*/ 2009168 h 2416416"/>
              <a:gd name="connsiteX5" fmla="*/ 4023360 w 4387309"/>
              <a:gd name="connsiteY5" fmla="*/ 2386358 h 2416416"/>
              <a:gd name="connsiteX6" fmla="*/ 4377690 w 4387309"/>
              <a:gd name="connsiteY6" fmla="*/ 2386358 h 2416416"/>
              <a:gd name="connsiteX7" fmla="*/ 4251960 w 4387309"/>
              <a:gd name="connsiteY7" fmla="*/ 2397788 h 2416416"/>
              <a:gd name="connsiteX0" fmla="*/ 0 w 4403567"/>
              <a:gd name="connsiteY0" fmla="*/ 2386358 h 2416416"/>
              <a:gd name="connsiteX1" fmla="*/ 525780 w 4403567"/>
              <a:gd name="connsiteY1" fmla="*/ 2123468 h 2416416"/>
              <a:gd name="connsiteX2" fmla="*/ 1668780 w 4403567"/>
              <a:gd name="connsiteY2" fmla="*/ 271808 h 2416416"/>
              <a:gd name="connsiteX3" fmla="*/ 2594610 w 4403567"/>
              <a:gd name="connsiteY3" fmla="*/ 191798 h 2416416"/>
              <a:gd name="connsiteX4" fmla="*/ 3669030 w 4403567"/>
              <a:gd name="connsiteY4" fmla="*/ 2009168 h 2416416"/>
              <a:gd name="connsiteX5" fmla="*/ 4023360 w 4403567"/>
              <a:gd name="connsiteY5" fmla="*/ 2386358 h 2416416"/>
              <a:gd name="connsiteX6" fmla="*/ 4377690 w 4403567"/>
              <a:gd name="connsiteY6" fmla="*/ 2386358 h 2416416"/>
              <a:gd name="connsiteX7" fmla="*/ 4337238 w 4403567"/>
              <a:gd name="connsiteY7" fmla="*/ 2152628 h 2416416"/>
              <a:gd name="connsiteX0" fmla="*/ 0 w 4377690"/>
              <a:gd name="connsiteY0" fmla="*/ 2386358 h 2416416"/>
              <a:gd name="connsiteX1" fmla="*/ 525780 w 4377690"/>
              <a:gd name="connsiteY1" fmla="*/ 2123468 h 2416416"/>
              <a:gd name="connsiteX2" fmla="*/ 1668780 w 4377690"/>
              <a:gd name="connsiteY2" fmla="*/ 271808 h 2416416"/>
              <a:gd name="connsiteX3" fmla="*/ 2594610 w 4377690"/>
              <a:gd name="connsiteY3" fmla="*/ 191798 h 2416416"/>
              <a:gd name="connsiteX4" fmla="*/ 3669030 w 4377690"/>
              <a:gd name="connsiteY4" fmla="*/ 2009168 h 2416416"/>
              <a:gd name="connsiteX5" fmla="*/ 4023360 w 4377690"/>
              <a:gd name="connsiteY5" fmla="*/ 2386358 h 2416416"/>
              <a:gd name="connsiteX6" fmla="*/ 4377690 w 4377690"/>
              <a:gd name="connsiteY6" fmla="*/ 2386358 h 2416416"/>
              <a:gd name="connsiteX0" fmla="*/ 0 w 4393195"/>
              <a:gd name="connsiteY0" fmla="*/ 2386358 h 2554098"/>
              <a:gd name="connsiteX1" fmla="*/ 525780 w 4393195"/>
              <a:gd name="connsiteY1" fmla="*/ 2123468 h 2554098"/>
              <a:gd name="connsiteX2" fmla="*/ 1668780 w 4393195"/>
              <a:gd name="connsiteY2" fmla="*/ 271808 h 2554098"/>
              <a:gd name="connsiteX3" fmla="*/ 2594610 w 4393195"/>
              <a:gd name="connsiteY3" fmla="*/ 191798 h 2554098"/>
              <a:gd name="connsiteX4" fmla="*/ 3669030 w 4393195"/>
              <a:gd name="connsiteY4" fmla="*/ 2009168 h 2554098"/>
              <a:gd name="connsiteX5" fmla="*/ 4023360 w 4393195"/>
              <a:gd name="connsiteY5" fmla="*/ 2386358 h 2554098"/>
              <a:gd name="connsiteX6" fmla="*/ 4393195 w 4393195"/>
              <a:gd name="connsiteY6" fmla="*/ 2554098 h 2554098"/>
              <a:gd name="connsiteX0" fmla="*/ 0 w 4408700"/>
              <a:gd name="connsiteY0" fmla="*/ 2489583 h 2554098"/>
              <a:gd name="connsiteX1" fmla="*/ 541285 w 4408700"/>
              <a:gd name="connsiteY1" fmla="*/ 2123468 h 2554098"/>
              <a:gd name="connsiteX2" fmla="*/ 1684285 w 4408700"/>
              <a:gd name="connsiteY2" fmla="*/ 271808 h 2554098"/>
              <a:gd name="connsiteX3" fmla="*/ 2610115 w 4408700"/>
              <a:gd name="connsiteY3" fmla="*/ 191798 h 2554098"/>
              <a:gd name="connsiteX4" fmla="*/ 3684535 w 4408700"/>
              <a:gd name="connsiteY4" fmla="*/ 2009168 h 2554098"/>
              <a:gd name="connsiteX5" fmla="*/ 4038865 w 4408700"/>
              <a:gd name="connsiteY5" fmla="*/ 2386358 h 2554098"/>
              <a:gd name="connsiteX6" fmla="*/ 4408700 w 4408700"/>
              <a:gd name="connsiteY6" fmla="*/ 2554098 h 2554098"/>
              <a:gd name="connsiteX0" fmla="*/ 0 w 4408700"/>
              <a:gd name="connsiteY0" fmla="*/ 2489583 h 2554098"/>
              <a:gd name="connsiteX1" fmla="*/ 541285 w 4408700"/>
              <a:gd name="connsiteY1" fmla="*/ 2123468 h 2554098"/>
              <a:gd name="connsiteX2" fmla="*/ 1684285 w 4408700"/>
              <a:gd name="connsiteY2" fmla="*/ 271808 h 2554098"/>
              <a:gd name="connsiteX3" fmla="*/ 2610115 w 4408700"/>
              <a:gd name="connsiteY3" fmla="*/ 191798 h 2554098"/>
              <a:gd name="connsiteX4" fmla="*/ 3684535 w 4408700"/>
              <a:gd name="connsiteY4" fmla="*/ 2009168 h 2554098"/>
              <a:gd name="connsiteX5" fmla="*/ 4038865 w 4408700"/>
              <a:gd name="connsiteY5" fmla="*/ 2386358 h 2554098"/>
              <a:gd name="connsiteX6" fmla="*/ 4408700 w 4408700"/>
              <a:gd name="connsiteY6" fmla="*/ 2554098 h 2554098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255937 w 4625772"/>
              <a:gd name="connsiteY5" fmla="*/ 2386358 h 2599260"/>
              <a:gd name="connsiteX6" fmla="*/ 4625772 w 4625772"/>
              <a:gd name="connsiteY6" fmla="*/ 2554098 h 2599260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625772 w 4625772"/>
              <a:gd name="connsiteY5" fmla="*/ 2554098 h 2599260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625772 w 4625772"/>
              <a:gd name="connsiteY5" fmla="*/ 2554098 h 2599260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625772 w 4625772"/>
              <a:gd name="connsiteY5" fmla="*/ 2554098 h 2599260"/>
              <a:gd name="connsiteX0" fmla="*/ 0 w 4625772"/>
              <a:gd name="connsiteY0" fmla="*/ 2599260 h 2599260"/>
              <a:gd name="connsiteX1" fmla="*/ 758357 w 4625772"/>
              <a:gd name="connsiteY1" fmla="*/ 2123468 h 2599260"/>
              <a:gd name="connsiteX2" fmla="*/ 1901357 w 4625772"/>
              <a:gd name="connsiteY2" fmla="*/ 271808 h 2599260"/>
              <a:gd name="connsiteX3" fmla="*/ 2827187 w 4625772"/>
              <a:gd name="connsiteY3" fmla="*/ 191798 h 2599260"/>
              <a:gd name="connsiteX4" fmla="*/ 3901607 w 4625772"/>
              <a:gd name="connsiteY4" fmla="*/ 2009168 h 2599260"/>
              <a:gd name="connsiteX5" fmla="*/ 4625772 w 4625772"/>
              <a:gd name="connsiteY5" fmla="*/ 2554098 h 2599260"/>
              <a:gd name="connsiteX0" fmla="*/ 0 w 4625772"/>
              <a:gd name="connsiteY0" fmla="*/ 2596416 h 2596416"/>
              <a:gd name="connsiteX1" fmla="*/ 851388 w 4625772"/>
              <a:gd name="connsiteY1" fmla="*/ 2069012 h 2596416"/>
              <a:gd name="connsiteX2" fmla="*/ 1901357 w 4625772"/>
              <a:gd name="connsiteY2" fmla="*/ 268964 h 2596416"/>
              <a:gd name="connsiteX3" fmla="*/ 2827187 w 4625772"/>
              <a:gd name="connsiteY3" fmla="*/ 188954 h 2596416"/>
              <a:gd name="connsiteX4" fmla="*/ 3901607 w 4625772"/>
              <a:gd name="connsiteY4" fmla="*/ 2006324 h 2596416"/>
              <a:gd name="connsiteX5" fmla="*/ 4625772 w 4625772"/>
              <a:gd name="connsiteY5" fmla="*/ 2551254 h 2596416"/>
              <a:gd name="connsiteX0" fmla="*/ 0 w 4625772"/>
              <a:gd name="connsiteY0" fmla="*/ 2596416 h 2596416"/>
              <a:gd name="connsiteX1" fmla="*/ 851388 w 4625772"/>
              <a:gd name="connsiteY1" fmla="*/ 2069012 h 2596416"/>
              <a:gd name="connsiteX2" fmla="*/ 1901357 w 4625772"/>
              <a:gd name="connsiteY2" fmla="*/ 268964 h 2596416"/>
              <a:gd name="connsiteX3" fmla="*/ 2827187 w 4625772"/>
              <a:gd name="connsiteY3" fmla="*/ 188954 h 2596416"/>
              <a:gd name="connsiteX4" fmla="*/ 3901607 w 4625772"/>
              <a:gd name="connsiteY4" fmla="*/ 2006324 h 2596416"/>
              <a:gd name="connsiteX5" fmla="*/ 4625772 w 4625772"/>
              <a:gd name="connsiteY5" fmla="*/ 2551254 h 2596416"/>
              <a:gd name="connsiteX0" fmla="*/ 0 w 4625772"/>
              <a:gd name="connsiteY0" fmla="*/ 2638974 h 2638974"/>
              <a:gd name="connsiteX1" fmla="*/ 851388 w 4625772"/>
              <a:gd name="connsiteY1" fmla="*/ 2111570 h 2638974"/>
              <a:gd name="connsiteX2" fmla="*/ 1901357 w 4625772"/>
              <a:gd name="connsiteY2" fmla="*/ 311522 h 2638974"/>
              <a:gd name="connsiteX3" fmla="*/ 2396614 w 4625772"/>
              <a:gd name="connsiteY3" fmla="*/ 33500 h 2638974"/>
              <a:gd name="connsiteX4" fmla="*/ 2827187 w 4625772"/>
              <a:gd name="connsiteY4" fmla="*/ 231512 h 2638974"/>
              <a:gd name="connsiteX5" fmla="*/ 3901607 w 4625772"/>
              <a:gd name="connsiteY5" fmla="*/ 2048882 h 2638974"/>
              <a:gd name="connsiteX6" fmla="*/ 4625772 w 4625772"/>
              <a:gd name="connsiteY6" fmla="*/ 2593812 h 2638974"/>
              <a:gd name="connsiteX0" fmla="*/ 0 w 4625772"/>
              <a:gd name="connsiteY0" fmla="*/ 2862217 h 2862217"/>
              <a:gd name="connsiteX1" fmla="*/ 851388 w 4625772"/>
              <a:gd name="connsiteY1" fmla="*/ 2334813 h 2862217"/>
              <a:gd name="connsiteX2" fmla="*/ 1901357 w 4625772"/>
              <a:gd name="connsiteY2" fmla="*/ 534765 h 2862217"/>
              <a:gd name="connsiteX3" fmla="*/ 2415220 w 4625772"/>
              <a:gd name="connsiteY3" fmla="*/ 1262 h 2862217"/>
              <a:gd name="connsiteX4" fmla="*/ 2827187 w 4625772"/>
              <a:gd name="connsiteY4" fmla="*/ 454755 h 2862217"/>
              <a:gd name="connsiteX5" fmla="*/ 3901607 w 4625772"/>
              <a:gd name="connsiteY5" fmla="*/ 2272125 h 2862217"/>
              <a:gd name="connsiteX6" fmla="*/ 4625772 w 4625772"/>
              <a:gd name="connsiteY6" fmla="*/ 2817055 h 2862217"/>
              <a:gd name="connsiteX0" fmla="*/ 0 w 4625772"/>
              <a:gd name="connsiteY0" fmla="*/ 2869891 h 2869891"/>
              <a:gd name="connsiteX1" fmla="*/ 851388 w 4625772"/>
              <a:gd name="connsiteY1" fmla="*/ 2342487 h 2869891"/>
              <a:gd name="connsiteX2" fmla="*/ 1901357 w 4625772"/>
              <a:gd name="connsiteY2" fmla="*/ 542439 h 2869891"/>
              <a:gd name="connsiteX3" fmla="*/ 2350098 w 4625772"/>
              <a:gd name="connsiteY3" fmla="*/ 1194 h 2869891"/>
              <a:gd name="connsiteX4" fmla="*/ 2827187 w 4625772"/>
              <a:gd name="connsiteY4" fmla="*/ 462429 h 2869891"/>
              <a:gd name="connsiteX5" fmla="*/ 3901607 w 4625772"/>
              <a:gd name="connsiteY5" fmla="*/ 2279799 h 2869891"/>
              <a:gd name="connsiteX6" fmla="*/ 4625772 w 4625772"/>
              <a:gd name="connsiteY6" fmla="*/ 2824729 h 2869891"/>
              <a:gd name="connsiteX0" fmla="*/ 0 w 4625772"/>
              <a:gd name="connsiteY0" fmla="*/ 2895513 h 2895513"/>
              <a:gd name="connsiteX1" fmla="*/ 851388 w 4625772"/>
              <a:gd name="connsiteY1" fmla="*/ 2368109 h 2895513"/>
              <a:gd name="connsiteX2" fmla="*/ 1901357 w 4625772"/>
              <a:gd name="connsiteY2" fmla="*/ 568061 h 2895513"/>
              <a:gd name="connsiteX3" fmla="*/ 2299707 w 4625772"/>
              <a:gd name="connsiteY3" fmla="*/ 1010 h 2895513"/>
              <a:gd name="connsiteX4" fmla="*/ 2827187 w 4625772"/>
              <a:gd name="connsiteY4" fmla="*/ 488051 h 2895513"/>
              <a:gd name="connsiteX5" fmla="*/ 3901607 w 4625772"/>
              <a:gd name="connsiteY5" fmla="*/ 2305421 h 2895513"/>
              <a:gd name="connsiteX6" fmla="*/ 4625772 w 4625772"/>
              <a:gd name="connsiteY6" fmla="*/ 2850351 h 2895513"/>
              <a:gd name="connsiteX0" fmla="*/ 0 w 4625772"/>
              <a:gd name="connsiteY0" fmla="*/ 2894503 h 2894503"/>
              <a:gd name="connsiteX1" fmla="*/ 851388 w 4625772"/>
              <a:gd name="connsiteY1" fmla="*/ 2367099 h 2894503"/>
              <a:gd name="connsiteX2" fmla="*/ 1901357 w 4625772"/>
              <a:gd name="connsiteY2" fmla="*/ 567051 h 2894503"/>
              <a:gd name="connsiteX3" fmla="*/ 2299707 w 4625772"/>
              <a:gd name="connsiteY3" fmla="*/ 0 h 2894503"/>
              <a:gd name="connsiteX4" fmla="*/ 2827187 w 4625772"/>
              <a:gd name="connsiteY4" fmla="*/ 487041 h 2894503"/>
              <a:gd name="connsiteX5" fmla="*/ 3901607 w 4625772"/>
              <a:gd name="connsiteY5" fmla="*/ 2304411 h 2894503"/>
              <a:gd name="connsiteX6" fmla="*/ 4625772 w 4625772"/>
              <a:gd name="connsiteY6" fmla="*/ 2849341 h 2894503"/>
              <a:gd name="connsiteX0" fmla="*/ 0 w 4625772"/>
              <a:gd name="connsiteY0" fmla="*/ 2894803 h 2894803"/>
              <a:gd name="connsiteX1" fmla="*/ 851388 w 4625772"/>
              <a:gd name="connsiteY1" fmla="*/ 2367399 h 2894803"/>
              <a:gd name="connsiteX2" fmla="*/ 1901357 w 4625772"/>
              <a:gd name="connsiteY2" fmla="*/ 567351 h 2894803"/>
              <a:gd name="connsiteX3" fmla="*/ 2299707 w 4625772"/>
              <a:gd name="connsiteY3" fmla="*/ 300 h 2894803"/>
              <a:gd name="connsiteX4" fmla="*/ 2827187 w 4625772"/>
              <a:gd name="connsiteY4" fmla="*/ 487341 h 2894803"/>
              <a:gd name="connsiteX5" fmla="*/ 3901607 w 4625772"/>
              <a:gd name="connsiteY5" fmla="*/ 2304711 h 2894803"/>
              <a:gd name="connsiteX6" fmla="*/ 4625772 w 4625772"/>
              <a:gd name="connsiteY6" fmla="*/ 2849641 h 2894803"/>
              <a:gd name="connsiteX0" fmla="*/ 0 w 4625772"/>
              <a:gd name="connsiteY0" fmla="*/ 2894803 h 2894803"/>
              <a:gd name="connsiteX1" fmla="*/ 851388 w 4625772"/>
              <a:gd name="connsiteY1" fmla="*/ 2367399 h 2894803"/>
              <a:gd name="connsiteX2" fmla="*/ 1901357 w 4625772"/>
              <a:gd name="connsiteY2" fmla="*/ 567351 h 2894803"/>
              <a:gd name="connsiteX3" fmla="*/ 2299707 w 4625772"/>
              <a:gd name="connsiteY3" fmla="*/ 300 h 2894803"/>
              <a:gd name="connsiteX4" fmla="*/ 2827187 w 4625772"/>
              <a:gd name="connsiteY4" fmla="*/ 487341 h 2894803"/>
              <a:gd name="connsiteX5" fmla="*/ 3901607 w 4625772"/>
              <a:gd name="connsiteY5" fmla="*/ 2304711 h 2894803"/>
              <a:gd name="connsiteX6" fmla="*/ 4625772 w 4625772"/>
              <a:gd name="connsiteY6" fmla="*/ 2849641 h 2894803"/>
              <a:gd name="connsiteX0" fmla="*/ 0 w 4625772"/>
              <a:gd name="connsiteY0" fmla="*/ 2894594 h 2894594"/>
              <a:gd name="connsiteX1" fmla="*/ 851388 w 4625772"/>
              <a:gd name="connsiteY1" fmla="*/ 2367190 h 2894594"/>
              <a:gd name="connsiteX2" fmla="*/ 1901357 w 4625772"/>
              <a:gd name="connsiteY2" fmla="*/ 567142 h 2894594"/>
              <a:gd name="connsiteX3" fmla="*/ 2299707 w 4625772"/>
              <a:gd name="connsiteY3" fmla="*/ 91 h 2894594"/>
              <a:gd name="connsiteX4" fmla="*/ 2827187 w 4625772"/>
              <a:gd name="connsiteY4" fmla="*/ 487132 h 2894594"/>
              <a:gd name="connsiteX5" fmla="*/ 3901607 w 4625772"/>
              <a:gd name="connsiteY5" fmla="*/ 2304502 h 2894594"/>
              <a:gd name="connsiteX6" fmla="*/ 4625772 w 4625772"/>
              <a:gd name="connsiteY6" fmla="*/ 2849432 h 2894594"/>
              <a:gd name="connsiteX0" fmla="*/ 0 w 4625772"/>
              <a:gd name="connsiteY0" fmla="*/ 2985198 h 2985198"/>
              <a:gd name="connsiteX1" fmla="*/ 851388 w 4625772"/>
              <a:gd name="connsiteY1" fmla="*/ 2457794 h 2985198"/>
              <a:gd name="connsiteX2" fmla="*/ 1901357 w 4625772"/>
              <a:gd name="connsiteY2" fmla="*/ 657746 h 2985198"/>
              <a:gd name="connsiteX3" fmla="*/ 2299707 w 4625772"/>
              <a:gd name="connsiteY3" fmla="*/ 90695 h 2985198"/>
              <a:gd name="connsiteX4" fmla="*/ 3901607 w 4625772"/>
              <a:gd name="connsiteY4" fmla="*/ 2395106 h 2985198"/>
              <a:gd name="connsiteX5" fmla="*/ 4625772 w 4625772"/>
              <a:gd name="connsiteY5" fmla="*/ 2940036 h 2985198"/>
              <a:gd name="connsiteX0" fmla="*/ 0 w 4625772"/>
              <a:gd name="connsiteY0" fmla="*/ 2894503 h 2894503"/>
              <a:gd name="connsiteX1" fmla="*/ 851388 w 4625772"/>
              <a:gd name="connsiteY1" fmla="*/ 2367099 h 2894503"/>
              <a:gd name="connsiteX2" fmla="*/ 2299707 w 4625772"/>
              <a:gd name="connsiteY2" fmla="*/ 0 h 2894503"/>
              <a:gd name="connsiteX3" fmla="*/ 3901607 w 4625772"/>
              <a:gd name="connsiteY3" fmla="*/ 2304411 h 2894503"/>
              <a:gd name="connsiteX4" fmla="*/ 4625772 w 4625772"/>
              <a:gd name="connsiteY4" fmla="*/ 2849341 h 2894503"/>
              <a:gd name="connsiteX0" fmla="*/ 0 w 4625772"/>
              <a:gd name="connsiteY0" fmla="*/ 2920938 h 2920938"/>
              <a:gd name="connsiteX1" fmla="*/ 851388 w 4625772"/>
              <a:gd name="connsiteY1" fmla="*/ 2393534 h 2920938"/>
              <a:gd name="connsiteX2" fmla="*/ 2299707 w 4625772"/>
              <a:gd name="connsiteY2" fmla="*/ 26435 h 2920938"/>
              <a:gd name="connsiteX3" fmla="*/ 3901607 w 4625772"/>
              <a:gd name="connsiteY3" fmla="*/ 2330846 h 2920938"/>
              <a:gd name="connsiteX4" fmla="*/ 4625772 w 4625772"/>
              <a:gd name="connsiteY4" fmla="*/ 2875776 h 2920938"/>
              <a:gd name="connsiteX0" fmla="*/ 0 w 4625772"/>
              <a:gd name="connsiteY0" fmla="*/ 2894510 h 2894510"/>
              <a:gd name="connsiteX1" fmla="*/ 851388 w 4625772"/>
              <a:gd name="connsiteY1" fmla="*/ 2367106 h 2894510"/>
              <a:gd name="connsiteX2" fmla="*/ 2299707 w 4625772"/>
              <a:gd name="connsiteY2" fmla="*/ 7 h 2894510"/>
              <a:gd name="connsiteX3" fmla="*/ 3901607 w 4625772"/>
              <a:gd name="connsiteY3" fmla="*/ 2304418 h 2894510"/>
              <a:gd name="connsiteX4" fmla="*/ 4625772 w 4625772"/>
              <a:gd name="connsiteY4" fmla="*/ 2849348 h 2894510"/>
              <a:gd name="connsiteX0" fmla="*/ 0 w 4625772"/>
              <a:gd name="connsiteY0" fmla="*/ 2894816 h 2894816"/>
              <a:gd name="connsiteX1" fmla="*/ 851388 w 4625772"/>
              <a:gd name="connsiteY1" fmla="*/ 2367412 h 2894816"/>
              <a:gd name="connsiteX2" fmla="*/ 2299707 w 4625772"/>
              <a:gd name="connsiteY2" fmla="*/ 313 h 2894816"/>
              <a:gd name="connsiteX3" fmla="*/ 3631817 w 4625772"/>
              <a:gd name="connsiteY3" fmla="*/ 2204080 h 2894816"/>
              <a:gd name="connsiteX4" fmla="*/ 4625772 w 4625772"/>
              <a:gd name="connsiteY4" fmla="*/ 2849654 h 2894816"/>
              <a:gd name="connsiteX0" fmla="*/ 0 w 4625772"/>
              <a:gd name="connsiteY0" fmla="*/ 2894855 h 2894855"/>
              <a:gd name="connsiteX1" fmla="*/ 851388 w 4625772"/>
              <a:gd name="connsiteY1" fmla="*/ 2367451 h 2894855"/>
              <a:gd name="connsiteX2" fmla="*/ 2299707 w 4625772"/>
              <a:gd name="connsiteY2" fmla="*/ 352 h 2894855"/>
              <a:gd name="connsiteX3" fmla="*/ 3817879 w 4625772"/>
              <a:gd name="connsiteY3" fmla="*/ 2194442 h 2894855"/>
              <a:gd name="connsiteX4" fmla="*/ 4625772 w 4625772"/>
              <a:gd name="connsiteY4" fmla="*/ 2849693 h 2894855"/>
              <a:gd name="connsiteX0" fmla="*/ 0 w 4625772"/>
              <a:gd name="connsiteY0" fmla="*/ 2894842 h 2894842"/>
              <a:gd name="connsiteX1" fmla="*/ 851388 w 4625772"/>
              <a:gd name="connsiteY1" fmla="*/ 2367438 h 2894842"/>
              <a:gd name="connsiteX2" fmla="*/ 2299707 w 4625772"/>
              <a:gd name="connsiteY2" fmla="*/ 339 h 2894842"/>
              <a:gd name="connsiteX3" fmla="*/ 3817879 w 4625772"/>
              <a:gd name="connsiteY3" fmla="*/ 2194429 h 2894842"/>
              <a:gd name="connsiteX4" fmla="*/ 4625772 w 4625772"/>
              <a:gd name="connsiteY4" fmla="*/ 2849680 h 2894842"/>
              <a:gd name="connsiteX0" fmla="*/ 0 w 4625772"/>
              <a:gd name="connsiteY0" fmla="*/ 2894504 h 2894504"/>
              <a:gd name="connsiteX1" fmla="*/ 820378 w 4625772"/>
              <a:gd name="connsiteY1" fmla="*/ 2189683 h 2894504"/>
              <a:gd name="connsiteX2" fmla="*/ 2299707 w 4625772"/>
              <a:gd name="connsiteY2" fmla="*/ 1 h 2894504"/>
              <a:gd name="connsiteX3" fmla="*/ 3817879 w 4625772"/>
              <a:gd name="connsiteY3" fmla="*/ 2194091 h 2894504"/>
              <a:gd name="connsiteX4" fmla="*/ 4625772 w 4625772"/>
              <a:gd name="connsiteY4" fmla="*/ 2849342 h 2894504"/>
              <a:gd name="connsiteX0" fmla="*/ 0 w 4625772"/>
              <a:gd name="connsiteY0" fmla="*/ 2894504 h 2894504"/>
              <a:gd name="connsiteX1" fmla="*/ 820378 w 4625772"/>
              <a:gd name="connsiteY1" fmla="*/ 2189683 h 2894504"/>
              <a:gd name="connsiteX2" fmla="*/ 2299707 w 4625772"/>
              <a:gd name="connsiteY2" fmla="*/ 1 h 2894504"/>
              <a:gd name="connsiteX3" fmla="*/ 3817879 w 4625772"/>
              <a:gd name="connsiteY3" fmla="*/ 2194091 h 2894504"/>
              <a:gd name="connsiteX4" fmla="*/ 4625772 w 4625772"/>
              <a:gd name="connsiteY4" fmla="*/ 2849342 h 2894504"/>
              <a:gd name="connsiteX0" fmla="*/ 0 w 4625772"/>
              <a:gd name="connsiteY0" fmla="*/ 2894504 h 2894504"/>
              <a:gd name="connsiteX1" fmla="*/ 820378 w 4625772"/>
              <a:gd name="connsiteY1" fmla="*/ 2189683 h 2894504"/>
              <a:gd name="connsiteX2" fmla="*/ 2299707 w 4625772"/>
              <a:gd name="connsiteY2" fmla="*/ 1 h 2894504"/>
              <a:gd name="connsiteX3" fmla="*/ 3817879 w 4625772"/>
              <a:gd name="connsiteY3" fmla="*/ 2194091 h 2894504"/>
              <a:gd name="connsiteX4" fmla="*/ 4625772 w 4625772"/>
              <a:gd name="connsiteY4" fmla="*/ 2849342 h 2894504"/>
              <a:gd name="connsiteX0" fmla="*/ 0 w 4625772"/>
              <a:gd name="connsiteY0" fmla="*/ 2894504 h 2894504"/>
              <a:gd name="connsiteX1" fmla="*/ 820378 w 4625772"/>
              <a:gd name="connsiteY1" fmla="*/ 2189683 h 2894504"/>
              <a:gd name="connsiteX2" fmla="*/ 2299707 w 4625772"/>
              <a:gd name="connsiteY2" fmla="*/ 1 h 2894504"/>
              <a:gd name="connsiteX3" fmla="*/ 3817879 w 4625772"/>
              <a:gd name="connsiteY3" fmla="*/ 2194091 h 2894504"/>
              <a:gd name="connsiteX4" fmla="*/ 4625772 w 4625772"/>
              <a:gd name="connsiteY4" fmla="*/ 2849342 h 2894504"/>
              <a:gd name="connsiteX0" fmla="*/ 0 w 4774041"/>
              <a:gd name="connsiteY0" fmla="*/ 2894504 h 2926761"/>
              <a:gd name="connsiteX1" fmla="*/ 820378 w 4774041"/>
              <a:gd name="connsiteY1" fmla="*/ 2189683 h 2926761"/>
              <a:gd name="connsiteX2" fmla="*/ 2299707 w 4774041"/>
              <a:gd name="connsiteY2" fmla="*/ 1 h 2926761"/>
              <a:gd name="connsiteX3" fmla="*/ 3817879 w 4774041"/>
              <a:gd name="connsiteY3" fmla="*/ 2194091 h 2926761"/>
              <a:gd name="connsiteX4" fmla="*/ 4774041 w 4774041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  <a:gd name="connsiteX0" fmla="*/ 0 w 4905835"/>
              <a:gd name="connsiteY0" fmla="*/ 2923536 h 2926761"/>
              <a:gd name="connsiteX1" fmla="*/ 952172 w 4905835"/>
              <a:gd name="connsiteY1" fmla="*/ 2189683 h 2926761"/>
              <a:gd name="connsiteX2" fmla="*/ 2431501 w 4905835"/>
              <a:gd name="connsiteY2" fmla="*/ 1 h 2926761"/>
              <a:gd name="connsiteX3" fmla="*/ 3949673 w 4905835"/>
              <a:gd name="connsiteY3" fmla="*/ 2194091 h 2926761"/>
              <a:gd name="connsiteX4" fmla="*/ 4905835 w 4905835"/>
              <a:gd name="connsiteY4" fmla="*/ 2926761 h 2926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5835" h="2926761">
                <a:moveTo>
                  <a:pt x="0" y="2923536"/>
                </a:moveTo>
                <a:cubicBezTo>
                  <a:pt x="424237" y="2923950"/>
                  <a:pt x="698098" y="2633391"/>
                  <a:pt x="952172" y="2189683"/>
                </a:cubicBezTo>
                <a:cubicBezTo>
                  <a:pt x="1206246" y="1745975"/>
                  <a:pt x="1850515" y="-734"/>
                  <a:pt x="2431501" y="1"/>
                </a:cubicBezTo>
                <a:cubicBezTo>
                  <a:pt x="3012487" y="736"/>
                  <a:pt x="3700088" y="1754685"/>
                  <a:pt x="3949673" y="2194091"/>
                </a:cubicBezTo>
                <a:cubicBezTo>
                  <a:pt x="4199258" y="2633497"/>
                  <a:pt x="4473937" y="2919686"/>
                  <a:pt x="4905835" y="2926761"/>
                </a:cubicBezTo>
              </a:path>
            </a:pathLst>
          </a:cu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00B9846-7273-48AB-9E1A-24427D3F4E0B}"/>
              </a:ext>
            </a:extLst>
          </p:cNvPr>
          <p:cNvCxnSpPr>
            <a:cxnSpLocks/>
          </p:cNvCxnSpPr>
          <p:nvPr/>
        </p:nvCxnSpPr>
        <p:spPr>
          <a:xfrm>
            <a:off x="2932978" y="5523410"/>
            <a:ext cx="632604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0ED9454-1BC1-4A81-A1BB-E7C05DC57C65}"/>
              </a:ext>
            </a:extLst>
          </p:cNvPr>
          <p:cNvCxnSpPr>
            <a:cxnSpLocks/>
          </p:cNvCxnSpPr>
          <p:nvPr/>
        </p:nvCxnSpPr>
        <p:spPr>
          <a:xfrm flipV="1">
            <a:off x="7397575" y="3132022"/>
            <a:ext cx="0" cy="23913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3D3D082-CB99-F384-8558-C7C1F921D3D3}"/>
              </a:ext>
            </a:extLst>
          </p:cNvPr>
          <p:cNvCxnSpPr>
            <a:cxnSpLocks/>
          </p:cNvCxnSpPr>
          <p:nvPr/>
        </p:nvCxnSpPr>
        <p:spPr>
          <a:xfrm flipH="1">
            <a:off x="7866993" y="5027311"/>
            <a:ext cx="1933803" cy="0"/>
          </a:xfrm>
          <a:prstGeom prst="straightConnector1">
            <a:avLst/>
          </a:prstGeom>
          <a:ln w="57150">
            <a:solidFill>
              <a:srgbClr val="FF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A5756AF-2FF1-B761-E19E-625207692C2E}"/>
                  </a:ext>
                </a:extLst>
              </p:cNvPr>
              <p:cNvSpPr txBox="1"/>
              <p:nvPr/>
            </p:nvSpPr>
            <p:spPr>
              <a:xfrm>
                <a:off x="9259022" y="1978122"/>
                <a:ext cx="2719509" cy="1631216"/>
              </a:xfrm>
              <a:prstGeom prst="borderCallout2">
                <a:avLst>
                  <a:gd name="adj1" fmla="val 16862"/>
                  <a:gd name="adj2" fmla="val -633"/>
                  <a:gd name="adj3" fmla="val 22954"/>
                  <a:gd name="adj4" fmla="val -6023"/>
                  <a:gd name="adj5" fmla="val 156634"/>
                  <a:gd name="adj6" fmla="val -57004"/>
                </a:avLst>
              </a:prstGeom>
              <a:noFill/>
              <a:ln w="57150">
                <a:solidFill>
                  <a:schemeClr val="accent2"/>
                </a:solidFill>
                <a:tailEnd type="stealth" w="lg" len="med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500" dirty="0">
                    <a:solidFill>
                      <a:srgbClr val="002060"/>
                    </a:solidFill>
                  </a:rPr>
                  <a:t>If the value of test statistic belong to yellow region, then we </a:t>
                </a:r>
                <a:r>
                  <a:rPr lang="en-US" sz="2500" b="1" dirty="0">
                    <a:solidFill>
                      <a:srgbClr val="FF0000"/>
                    </a:solidFill>
                  </a:rPr>
                  <a:t>Reject</a:t>
                </a:r>
                <a14:m>
                  <m:oMath xmlns:m="http://schemas.openxmlformats.org/officeDocument/2006/math">
                    <m:r>
                      <a:rPr lang="en-US" sz="25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5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5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5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500" dirty="0">
                    <a:solidFill>
                      <a:srgbClr val="002060"/>
                    </a:solidFill>
                  </a:rPr>
                  <a:t>.</a:t>
                </a:r>
                <a:endParaRPr lang="en-IN" sz="25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A5756AF-2FF1-B761-E19E-625207692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9022" y="1978122"/>
                <a:ext cx="2719509" cy="1631216"/>
              </a:xfrm>
              <a:prstGeom prst="borderCallout2">
                <a:avLst>
                  <a:gd name="adj1" fmla="val 16862"/>
                  <a:gd name="adj2" fmla="val -633"/>
                  <a:gd name="adj3" fmla="val 22954"/>
                  <a:gd name="adj4" fmla="val -6023"/>
                  <a:gd name="adj5" fmla="val 156634"/>
                  <a:gd name="adj6" fmla="val -57004"/>
                </a:avLst>
              </a:prstGeom>
              <a:blipFill>
                <a:blip r:embed="rId8"/>
                <a:stretch>
                  <a:fillRect t="-658" r="-407"/>
                </a:stretch>
              </a:blipFill>
              <a:ln w="57150">
                <a:solidFill>
                  <a:schemeClr val="accent2"/>
                </a:solidFill>
                <a:tailEnd type="stealth" w="lg" len="me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0BF8E9D-4A2A-51F0-DB95-51404D0DCD1F}"/>
                  </a:ext>
                </a:extLst>
              </p:cNvPr>
              <p:cNvSpPr txBox="1"/>
              <p:nvPr/>
            </p:nvSpPr>
            <p:spPr>
              <a:xfrm>
                <a:off x="5295046" y="2878749"/>
                <a:ext cx="1649653" cy="400110"/>
              </a:xfrm>
              <a:prstGeom prst="rect">
                <a:avLst/>
              </a:prstGeom>
              <a:ln>
                <a:solidFill>
                  <a:schemeClr val="accent2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0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IN" sz="20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sz="20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US" sz="20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20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0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95</m:t>
                      </m:r>
                    </m:oMath>
                  </m:oMathPara>
                </a14:m>
                <a:endParaRPr lang="en-IN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0BF8E9D-4A2A-51F0-DB95-51404D0DC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046" y="2878749"/>
                <a:ext cx="1649653" cy="400110"/>
              </a:xfrm>
              <a:prstGeom prst="rect">
                <a:avLst/>
              </a:prstGeom>
              <a:blipFill>
                <a:blip r:embed="rId9"/>
                <a:stretch>
                  <a:fillRect l="-735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81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4" grpId="0" animBg="1"/>
      <p:bldP spid="37" grpId="0"/>
      <p:bldP spid="42" grpId="0"/>
      <p:bldP spid="44" grpId="0"/>
      <p:bldP spid="46" grpId="0"/>
      <p:bldP spid="54" grpId="0" animBg="1"/>
      <p:bldP spid="26" grpId="0"/>
      <p:bldP spid="36" grpId="0" animBg="1"/>
      <p:bldP spid="21" grpId="0" animBg="1"/>
      <p:bldP spid="33" grpId="0" animBg="1"/>
      <p:bldP spid="63" grpId="0" animBg="1"/>
      <p:bldP spid="3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21842-1BB2-AB6E-DE2E-6C6B21585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5F81943A-FDF8-9E4F-263C-1BB836A2D1B7}"/>
              </a:ext>
            </a:extLst>
          </p:cNvPr>
          <p:cNvSpPr/>
          <p:nvPr/>
        </p:nvSpPr>
        <p:spPr>
          <a:xfrm>
            <a:off x="1396325" y="1230389"/>
            <a:ext cx="9399351" cy="4397223"/>
          </a:xfrm>
          <a:prstGeom prst="horizontalScroll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u="sng" dirty="0">
                <a:solidFill>
                  <a:schemeClr val="accent6">
                    <a:lumMod val="75000"/>
                  </a:schemeClr>
                </a:solidFill>
              </a:rPr>
              <a:t>Question</a:t>
            </a:r>
          </a:p>
          <a:p>
            <a:pPr algn="ctr"/>
            <a:endParaRPr lang="en-US" sz="2800" b="1" u="sng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Instead of only accepting or rejecting an assumption, can we estimate a range where the true situation is likely to lie?</a:t>
            </a:r>
          </a:p>
          <a:p>
            <a:pPr algn="ctr"/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This leads to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</a:rPr>
              <a:t>Confidence Interval.</a:t>
            </a:r>
            <a:endParaRPr lang="en-IN" sz="28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3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9A005-B07B-AC45-E1C1-1743FF188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9F4A1F-B9C9-A361-245C-6F667B7AFC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dirty="0"/>
                  <a:t>A Confidence Interval (CI) is a range of values used to estimate an unknown population parameter based on sample data, with a certain level of confidence.</a:t>
                </a:r>
              </a:p>
              <a:p>
                <a:pPr lvl="0"/>
                <a:r>
                  <a:rPr lang="en-US" dirty="0"/>
                  <a:t>Instead of estimating the population value by a single number, we estimate it by giving a range in which the true value is likely to lie.</a:t>
                </a:r>
              </a:p>
              <a:p>
                <a:pPr lvl="0"/>
                <a:r>
                  <a:rPr lang="en-US" dirty="0"/>
                  <a:t>Mathematically,</a:t>
                </a:r>
              </a:p>
              <a:p>
                <a:pPr marL="0" lvl="0" indent="0" algn="ctr">
                  <a:buNone/>
                </a:pP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Confidence Interval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Statistic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(Critical Value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Standard Error)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9F4A1F-B9C9-A361-245C-6F667B7AFC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220495D-E00F-39D5-25EB-71EFB9AC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</a:t>
            </a:r>
          </a:p>
        </p:txBody>
      </p:sp>
    </p:spTree>
    <p:extLst>
      <p:ext uri="{BB962C8B-B14F-4D97-AF65-F5344CB8AC3E}">
        <p14:creationId xmlns:p14="http://schemas.microsoft.com/office/powerpoint/2010/main" val="356468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FCD77-2521-2299-0939-1071FEFCF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10E392-C523-9BA8-7CA4-2E536FE9C3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dirty="0"/>
                  <a:t>Example</a:t>
                </a:r>
              </a:p>
              <a:p>
                <a:pPr lvl="1"/>
                <a:r>
                  <a:rPr lang="en-US" dirty="0"/>
                  <a:t>Suppose you ask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students about exam difficulty and get:</a:t>
                </a:r>
              </a:p>
              <a:p>
                <a:pPr lvl="1"/>
                <a:r>
                  <a:rPr lang="en-US" dirty="0"/>
                  <a:t>Average difficulty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we say the difficulty for all students is exactly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/>
                  <a:t>? No — another group may give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Hence, Confidence Interval is Needed.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10E392-C523-9BA8-7CA4-2E536FE9C3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F12FD6B-A39E-726E-46A3-E91C38769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</a:t>
            </a:r>
          </a:p>
        </p:txBody>
      </p:sp>
    </p:spTree>
    <p:extLst>
      <p:ext uri="{BB962C8B-B14F-4D97-AF65-F5344CB8AC3E}">
        <p14:creationId xmlns:p14="http://schemas.microsoft.com/office/powerpoint/2010/main" val="342833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0AE1F-700E-9B81-ADD7-407E77E8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754E2F-46C0-6C4B-C6BA-AD8E67CF0D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dirty="0"/>
                  <a:t>Instead of giving one fixed value, we give a range like:</a:t>
                </a:r>
              </a:p>
              <a:p>
                <a:pPr lvl="1"/>
                <a:r>
                  <a:rPr lang="en-US" dirty="0"/>
                  <a:t>Actual difficulty is likely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6.5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7.5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This range shows:</a:t>
                </a:r>
              </a:p>
              <a:p>
                <a:pPr lvl="1"/>
                <a:r>
                  <a:rPr lang="en-US" dirty="0"/>
                  <a:t>uncertainty in data</a:t>
                </a:r>
              </a:p>
              <a:p>
                <a:pPr lvl="1"/>
                <a:r>
                  <a:rPr lang="en-US" dirty="0"/>
                  <a:t>reliability of result</a:t>
                </a:r>
              </a:p>
              <a:p>
                <a:pPr lvl="1"/>
                <a:r>
                  <a:rPr lang="en-US" dirty="0"/>
                  <a:t>possible variation</a:t>
                </a:r>
              </a:p>
              <a:p>
                <a:r>
                  <a:rPr lang="en-US" dirty="0"/>
                  <a:t>A confidence interval is needed because sample results vary, so we estimate a reliable range for the true population value instead of a single guess.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754E2F-46C0-6C4B-C6BA-AD8E67CF0D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505CDE7-7C0F-DD47-2052-AECD9960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  </a:t>
            </a:r>
          </a:p>
        </p:txBody>
      </p:sp>
    </p:spTree>
    <p:extLst>
      <p:ext uri="{BB962C8B-B14F-4D97-AF65-F5344CB8AC3E}">
        <p14:creationId xmlns:p14="http://schemas.microsoft.com/office/powerpoint/2010/main" val="3786642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4BE2C-76BC-0D71-DEDA-A7C0D1C5B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A089C-1A33-5AB8-E489-E99C926C9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8675"/>
            <a:ext cx="11929641" cy="5797855"/>
          </a:xfrm>
        </p:spPr>
        <p:txBody>
          <a:bodyPr/>
          <a:lstStyle/>
          <a:p>
            <a:pPr lvl="0"/>
            <a:r>
              <a:rPr lang="en-US" dirty="0"/>
              <a:t>The two endpoints of the confidence interval are called confidence limits.</a:t>
            </a:r>
          </a:p>
          <a:p>
            <a:pPr lvl="1"/>
            <a:r>
              <a:rPr lang="en-US" dirty="0"/>
              <a:t>Lower Confidence Limit (LCL) → smallest value of the interval</a:t>
            </a:r>
          </a:p>
          <a:p>
            <a:pPr lvl="1"/>
            <a:r>
              <a:rPr lang="en-US" dirty="0"/>
              <a:t>Upper Confidence Limit (UCL) → largest value of the interval</a:t>
            </a:r>
          </a:p>
          <a:p>
            <a:r>
              <a:rPr lang="en-US" dirty="0"/>
              <a:t>So, </a:t>
            </a:r>
          </a:p>
          <a:p>
            <a:pPr lvl="1"/>
            <a:r>
              <a:rPr lang="en-US" dirty="0"/>
              <a:t>Confidence Interval: The range in which the true population value is expected to lie.</a:t>
            </a:r>
          </a:p>
          <a:p>
            <a:pPr lvl="1"/>
            <a:r>
              <a:rPr lang="en-US" dirty="0"/>
              <a:t>Confidence Limits: The two boundary values of that range.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FD581-72AD-499A-94DA-89F73CBFD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Limit</a:t>
            </a:r>
          </a:p>
        </p:txBody>
      </p:sp>
    </p:spTree>
    <p:extLst>
      <p:ext uri="{BB962C8B-B14F-4D97-AF65-F5344CB8AC3E}">
        <p14:creationId xmlns:p14="http://schemas.microsoft.com/office/powerpoint/2010/main" val="252477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1CAA5-DB63-1B4E-1BCB-449FD8DA6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1E0300-2383-AECA-AF96-33BCCA5AEF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0"/>
                <a:r>
                  <a:rPr lang="en-US" dirty="0"/>
                  <a:t>When we make conclusions from sample data, two possibilities exist:</a:t>
                </a:r>
              </a:p>
              <a:p>
                <a:pPr lvl="1"/>
                <a:r>
                  <a:rPr lang="en-US" dirty="0"/>
                  <a:t>We may be correct</a:t>
                </a:r>
              </a:p>
              <a:p>
                <a:pPr lvl="1"/>
                <a:r>
                  <a:rPr lang="en-US" dirty="0"/>
                  <a:t>or we may make an error</a:t>
                </a:r>
              </a:p>
              <a:p>
                <a:pPr lvl="0"/>
                <a:r>
                  <a:rPr lang="en-US" dirty="0"/>
                  <a:t>These two together must add up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100%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/>
                <a:r>
                  <a:rPr lang="en-US" dirty="0"/>
                  <a:t>Confidence level tells how confident we are that the true population value lies within the calculated interval.</a:t>
                </a:r>
              </a:p>
              <a:p>
                <a:pPr lvl="0"/>
                <a:r>
                  <a:rPr lang="en-US" dirty="0"/>
                  <a:t>Example: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confidence level means that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studies, about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r>
                  <a:rPr lang="en-US" dirty="0"/>
                  <a:t> times the interval will contain the true population value.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1E0300-2383-AECA-AF96-33BCCA5AEF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 b="-27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0F7C10B-CD8E-EED0-4EFD-8D8B2DD0B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Level vs Level of Significance</a:t>
            </a:r>
          </a:p>
        </p:txBody>
      </p:sp>
    </p:spTree>
    <p:extLst>
      <p:ext uri="{BB962C8B-B14F-4D97-AF65-F5344CB8AC3E}">
        <p14:creationId xmlns:p14="http://schemas.microsoft.com/office/powerpoint/2010/main" val="411460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1E46E-870B-D853-D9AC-7F992B59E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BD4C8B-67F8-487A-2CE9-7771D51277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Confidence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b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Level</m:t>
                      </m:r>
                      <m:r>
                        <m:rPr>
                          <m:nor/>
                        </m:rPr>
                        <a:rPr lang="en-IN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a:rPr lang="en-IN" b="1" i="1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IN" b="1" i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m:t> </m:t>
                      </m:r>
                      <m:r>
                        <a:rPr lang="en-US" b="1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𝛂</m:t>
                      </m:r>
                      <m:r>
                        <a:rPr lang="en-US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lvl="1"/>
                <a:r>
                  <a:rPr lang="en-US" dirty="0"/>
                  <a:t>Confidence Level → chance of being correct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 (Significance Level) → chance of being wrong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BD4C8B-67F8-487A-2CE9-7771D51277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1B43014-0BF4-E18E-3726-939CB2F8F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Level vs Level of Significance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E58ECBFB-44EC-8F89-FDB2-FF86B72959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5927798"/>
                  </p:ext>
                </p:extLst>
              </p:nvPr>
            </p:nvGraphicFramePr>
            <p:xfrm>
              <a:off x="2032000" y="3825325"/>
              <a:ext cx="8128000" cy="230400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661228722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58322787"/>
                        </a:ext>
                      </a:extLst>
                    </a:gridCol>
                  </a:tblGrid>
                  <a:tr h="57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Confidence Level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 of significance</a:t>
                          </a:r>
                          <a:endParaRPr lang="en-IN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98261869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kern="120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99%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800" b="0" kern="120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1%</m:t>
                              </m:r>
                            </m:oMath>
                          </a14:m>
                          <a:r>
                            <a:rPr lang="en-IN" sz="2800" b="0" kern="1200" dirty="0">
                              <a:solidFill>
                                <a:srgbClr val="002060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error chance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46104549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kern="120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95%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800" b="0" kern="120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5%</m:t>
                              </m:r>
                            </m:oMath>
                          </a14:m>
                          <a:r>
                            <a:rPr lang="en-IN" sz="2800" b="0" kern="1200" dirty="0">
                              <a:solidFill>
                                <a:srgbClr val="002060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IN" sz="2800" b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error chance</a:t>
                          </a:r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43065144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kern="120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90%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800" b="0" kern="1200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10%</m:t>
                              </m:r>
                            </m:oMath>
                          </a14:m>
                          <a:r>
                            <a:rPr lang="en-IN" sz="2800" b="0" kern="1200" dirty="0">
                              <a:solidFill>
                                <a:srgbClr val="002060"/>
                              </a:solidFill>
                              <a:latin typeface="+mj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IN" sz="2800" b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error chance</a:t>
                          </a:r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21697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E58ECBFB-44EC-8F89-FDB2-FF86B72959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5927798"/>
                  </p:ext>
                </p:extLst>
              </p:nvPr>
            </p:nvGraphicFramePr>
            <p:xfrm>
              <a:off x="2032000" y="3825325"/>
              <a:ext cx="8128000" cy="230400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661228722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58322787"/>
                        </a:ext>
                      </a:extLst>
                    </a:gridCol>
                  </a:tblGrid>
                  <a:tr h="57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Confidence Level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Level of significance</a:t>
                          </a:r>
                          <a:endParaRPr lang="en-IN" sz="280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98261869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0" t="-109474" r="-100300" b="-2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150" t="-109474" r="-300" b="-218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6104549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0" t="-211702" r="-100300" b="-121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150" t="-211702" r="-300" b="-1212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065144"/>
                      </a:ext>
                    </a:extLst>
                  </a:tr>
                  <a:tr h="57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0" t="-308421" r="-10030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150" t="-308421" r="-300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16974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86849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A6659-7DA8-D1E2-3C56-3DB9395FB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A02E4-A6BD-403A-0E11-025197FBD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7EE896-E983-29D3-CE61-A838B44E32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24948"/>
                <a:ext cx="11929641" cy="5629061"/>
              </a:xfrm>
            </p:spPr>
            <p:txBody>
              <a:bodyPr/>
              <a:lstStyle/>
              <a:p>
                <a:r>
                  <a:rPr lang="en-US" dirty="0"/>
                  <a:t>Note that,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 is rejected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N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𝐙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dirty="0"/>
                  <a:t> without mentioning any level of significance.</a:t>
                </a:r>
              </a:p>
              <a:p>
                <a:pPr lvl="1"/>
                <a:r>
                  <a:rPr lang="en-US" dirty="0"/>
                  <a:t>That means:</a:t>
                </a:r>
              </a:p>
              <a:p>
                <a:pPr lvl="2"/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dirty="0"/>
                  <a:t> - value beyond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±3</m:t>
                    </m:r>
                  </m:oMath>
                </a14:m>
                <a:r>
                  <a:rPr lang="en-US" dirty="0"/>
                  <a:t> is extremely rare.</a:t>
                </a:r>
              </a:p>
              <a:p>
                <a:pPr lvl="2"/>
                <a:r>
                  <a:rPr lang="en-US" dirty="0"/>
                  <a:t>So even without knowing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1371600" lvl="3" indent="0" algn="ctr">
                  <a:buNone/>
                </a:pP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∣ &gt;3⇒</m:t>
                    </m:r>
                  </m:oMath>
                </a14:m>
                <a:r>
                  <a:rPr lang="en-US" dirty="0"/>
                  <a:t> Strong evidence against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7EE896-E983-29D3-CE61-A838B44E32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24948"/>
                <a:ext cx="11929641" cy="5629061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510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A584E-6473-BB75-9B7F-0E19F9CFF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7F690-A634-27EE-034D-90C15FA0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Value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C4DD60-5A86-18B5-760B-25156F93EF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5618864"/>
                <a:ext cx="11929641" cy="711200"/>
              </a:xfrm>
            </p:spPr>
            <p:txBody>
              <a:bodyPr/>
              <a:lstStyle/>
              <a:p>
                <a:pPr lvl="1"/>
                <a:r>
                  <a:rPr lang="en-US" dirty="0"/>
                  <a:t>If calculated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dirty="0"/>
                  <a:t> crosses the critical value →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​.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C4DD60-5A86-18B5-760B-25156F93EF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5618864"/>
                <a:ext cx="11929641" cy="711200"/>
              </a:xfrm>
              <a:blipFill>
                <a:blip r:embed="rId2"/>
                <a:stretch>
                  <a:fillRect b="-181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DA4BEA52-345B-FC64-021D-0C78003FAE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6309229"/>
                  </p:ext>
                </p:extLst>
              </p:nvPr>
            </p:nvGraphicFramePr>
            <p:xfrm>
              <a:off x="336000" y="973398"/>
              <a:ext cx="11520000" cy="45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1661228722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158322787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138697696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702512275"/>
                        </a:ext>
                      </a:extLst>
                    </a:gridCol>
                  </a:tblGrid>
                  <a:tr h="9000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Critical Value 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IN" sz="2800" b="1" i="1" smtClean="0">
                                        <a:solidFill>
                                          <a:schemeClr val="accent6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2800" b="1" i="1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2800" b="1" i="0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𝐙</m:t>
                                        </m:r>
                                      </m:e>
                                      <m:sub>
                                        <m:r>
                                          <a:rPr lang="en-IN" sz="2800" b="1" i="0" smtClean="0">
                                            <a:solidFill>
                                              <a:schemeClr val="accent6">
                                                <a:lumMod val="7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𝛂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IN" sz="2800" b="1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IN" sz="2800" b="1" i="0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</a:rPr>
                            <a:t>Level of Significance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IN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𝛂</m:t>
                                  </m:r>
                                </m:e>
                              </m:d>
                            </m:oMath>
                          </a14:m>
                          <a:endParaRPr lang="en-IN" sz="2800" b="1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IN" sz="28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IN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98261869"/>
                      </a:ext>
                    </a:extLst>
                  </a:tr>
                  <a:tr h="900000">
                    <a:tc vMerge="1">
                      <a:txBody>
                        <a:bodyPr/>
                        <a:lstStyle/>
                        <a:p>
                          <a:pPr algn="ctr"/>
                          <a:endParaRPr lang="en-IN" sz="2800" b="0" i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1" kern="1200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</m:t>
                                </m:r>
                                <m:r>
                                  <a:rPr lang="en-IN" sz="2800" b="1" i="1" kern="1200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IN" sz="2800" b="1" kern="1200" dirty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1" kern="1200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𝟓</m:t>
                                </m:r>
                                <m:r>
                                  <a:rPr lang="en-IN" sz="2800" b="1" i="1" kern="1200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IN" sz="2800" b="1" kern="1200" dirty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800" b="1" i="1" kern="1200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𝟏𝟎</m:t>
                                </m:r>
                                <m:r>
                                  <a:rPr lang="en-IN" sz="2800" b="1" i="1" kern="1200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IN" sz="2800" b="1" kern="1200" dirty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46104549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Two-Tailed Test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IN" sz="2800" b="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IN" sz="2800" b="0" i="1" kern="1200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IN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  <m: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IN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=2.58</m:t>
                                </m:r>
                              </m:oMath>
                            </m:oMathPara>
                          </a14:m>
                          <a:endParaRPr lang="en-IN" sz="2800" b="0" i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IN" sz="2800" b="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IN" sz="2800" b="0" i="1" kern="1200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IN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  <m: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IN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=1.96</m:t>
                                </m:r>
                              </m:oMath>
                            </m:oMathPara>
                          </a14:m>
                          <a:endParaRPr lang="en-IN" sz="2800" b="0" i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IN" sz="2800" b="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IN" sz="2800" b="0" i="1" kern="1200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Z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IN" sz="2800" b="0" i="0" kern="1200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α</m:t>
                                        </m:r>
                                      </m:sub>
                                    </m:sSub>
                                    <m: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IN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=1.645</m:t>
                                </m:r>
                              </m:oMath>
                            </m:oMathPara>
                          </a14:m>
                          <a:endParaRPr lang="en-IN" sz="2800" b="0" i="0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4306514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Right-Tailed Test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800" b="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α</m:t>
                                    </m:r>
                                  </m:sub>
                                </m:sSub>
                                <m:r>
                                  <a:rPr lang="en-IN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=2.33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800" b="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α</m:t>
                                    </m:r>
                                  </m:sub>
                                </m:sSub>
                                <m:r>
                                  <a:rPr lang="en-IN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=1.645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800" b="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α</m:t>
                                    </m:r>
                                  </m:sub>
                                </m:sSub>
                                <m:r>
                                  <a:rPr lang="en-IN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=1.28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21697497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Left-Tailed Test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800" b="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α</m:t>
                                    </m:r>
                                  </m:sub>
                                </m:sSub>
                                <m:r>
                                  <a:rPr lang="en-IN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=−2.33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800" b="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α</m:t>
                                    </m:r>
                                  </m:sub>
                                </m:sSub>
                                <m:r>
                                  <a:rPr lang="en-IN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=−1.645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800" b="0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IN" sz="2800" b="0" i="0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α</m:t>
                                    </m:r>
                                  </m:sub>
                                </m:sSub>
                                <m:r>
                                  <a:rPr lang="en-IN" sz="2800" b="0" i="0" kern="120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=−1.28</m:t>
                                </m:r>
                              </m:oMath>
                            </m:oMathPara>
                          </a14:m>
                          <a:endParaRPr lang="en-IN" sz="2800" b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91505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DA4BEA52-345B-FC64-021D-0C78003FAE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6309229"/>
                  </p:ext>
                </p:extLst>
              </p:nvPr>
            </p:nvGraphicFramePr>
            <p:xfrm>
              <a:off x="336000" y="973398"/>
              <a:ext cx="11520000" cy="450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1661228722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158322787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138697696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702512275"/>
                        </a:ext>
                      </a:extLst>
                    </a:gridCol>
                  </a:tblGrid>
                  <a:tr h="900000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3" t="-338" r="-300423" b="-150676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522" t="-676" r="-282" b="-4013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IN" sz="28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IN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98261869"/>
                      </a:ext>
                    </a:extLst>
                  </a:tr>
                  <a:tr h="900000">
                    <a:tc vMerge="1">
                      <a:txBody>
                        <a:bodyPr/>
                        <a:lstStyle/>
                        <a:p>
                          <a:pPr algn="ctr"/>
                          <a:endParaRPr lang="en-IN" sz="2800" b="0" i="0" kern="1200" dirty="0">
                            <a:solidFill>
                              <a:srgbClr val="002060"/>
                            </a:solidFill>
                            <a:latin typeface="+mj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636" t="-100676" r="-201059" b="-30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211" t="-100676" r="-100634" b="-30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847" t="-100676" r="-847" b="-3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6104549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Two-Tailed Test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636" t="-202041" r="-201059" b="-2034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211" t="-202041" r="-100634" b="-2034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847" t="-202041" r="-847" b="-2034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306514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Right-Tailed Test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636" t="-300000" r="-201059" b="-102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211" t="-300000" r="-100634" b="-102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847" t="-300000" r="-847" b="-102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1697497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i="0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Left-Tailed Test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636" t="-400000" r="-201059" b="-2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211" t="-400000" r="-100634" b="-2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847" t="-400000" r="-847" b="-2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1505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8376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37620-1231-6398-D9FC-3D4DE7438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581EBA-F4BD-A005-FDCC-0612924987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marL="514350" lvl="0" indent="-514350" algn="l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lvl="0" indent="-514350" algn="l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514350" indent="-514350" algn="l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endParaRPr lang="en-US" dirty="0"/>
              </a:p>
              <a:p>
                <a:pPr marL="514350" indent="-514350" algn="l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Apply Test Statistic</a:t>
                </a:r>
                <a:endParaRPr lang="en-IN" dirty="0"/>
              </a:p>
              <a:p>
                <a:pPr marL="514350" indent="-514350" algn="l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Set up Critical Region</a:t>
                </a:r>
              </a:p>
              <a:p>
                <a:pPr marL="514350" indent="-514350" algn="l">
                  <a:lnSpc>
                    <a:spcPct val="200000"/>
                  </a:lnSpc>
                  <a:buFont typeface="+mj-lt"/>
                  <a:buAutoNum type="arabicParenR"/>
                </a:pPr>
                <a:r>
                  <a:rPr lang="en-US" dirty="0"/>
                  <a:t>Conclusion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581EBA-F4BD-A005-FDCC-0612924987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7C03188-612C-5E29-7F4F-E722B24DC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Testing of Statistical Hypothesis  </a:t>
            </a:r>
          </a:p>
        </p:txBody>
      </p:sp>
    </p:spTree>
    <p:extLst>
      <p:ext uri="{BB962C8B-B14F-4D97-AF65-F5344CB8AC3E}">
        <p14:creationId xmlns:p14="http://schemas.microsoft.com/office/powerpoint/2010/main" val="79659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A82C0-9125-641A-E178-55C8DEED3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C95C2-3970-8BC0-DB60-27888F159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Hypothesis Testing for Large Sample - 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539426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55763-A763-107D-D97D-2E84E46FD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466F8-3DA7-9F8C-5499-499AD91A8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Method – 5</a:t>
            </a:r>
            <a:br>
              <a:rPr lang="en-US" dirty="0"/>
            </a:br>
            <a:r>
              <a:rPr lang="en-US" dirty="0"/>
              <a:t>Test for single Proportion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793140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19DB4-1454-13E1-F559-FA48AC234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8EFFD-0DBC-FD76-D173-19E497CD8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8675"/>
            <a:ext cx="11929641" cy="5797855"/>
          </a:xfrm>
        </p:spPr>
        <p:txBody>
          <a:bodyPr/>
          <a:lstStyle/>
          <a:p>
            <a:r>
              <a:rPr lang="en-US" dirty="0"/>
              <a:t>A Test for Single Proportion simply means:</a:t>
            </a:r>
          </a:p>
          <a:p>
            <a:pPr lvl="1"/>
            <a:r>
              <a:rPr lang="en-US" dirty="0"/>
              <a:t>we check whether a claimed percentage is true or not using one sample.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Suppose a medicine company says:</a:t>
            </a:r>
          </a:p>
          <a:p>
            <a:pPr lvl="2"/>
            <a:r>
              <a:rPr lang="en-US" dirty="0"/>
              <a:t>80% patients get relief within 15 minutes.</a:t>
            </a:r>
          </a:p>
          <a:p>
            <a:pPr lvl="1"/>
            <a:r>
              <a:rPr lang="en-US" dirty="0"/>
              <a:t>Now we cannot check all patients in the world.</a:t>
            </a:r>
          </a:p>
          <a:p>
            <a:pPr lvl="1"/>
            <a:r>
              <a:rPr lang="en-US" dirty="0"/>
              <a:t>So, what do we do?</a:t>
            </a:r>
          </a:p>
          <a:p>
            <a:pPr lvl="2"/>
            <a:r>
              <a:rPr lang="en-US" dirty="0"/>
              <a:t>We take one small group (sample) of patients </a:t>
            </a:r>
          </a:p>
          <a:p>
            <a:pPr lvl="2"/>
            <a:r>
              <a:rPr lang="en-US" dirty="0"/>
              <a:t>Observe how many actually get relief</a:t>
            </a:r>
            <a:endParaRPr lang="en-US" b="1" dirty="0"/>
          </a:p>
          <a:p>
            <a:pPr lvl="1"/>
            <a:endParaRPr lang="en-IN" dirty="0"/>
          </a:p>
          <a:p>
            <a:endParaRPr lang="en-IN" dirty="0"/>
          </a:p>
          <a:p>
            <a:pPr marL="0" lvl="0" indent="0">
              <a:buNone/>
            </a:pPr>
            <a:endParaRPr lang="en-IN" dirty="0"/>
          </a:p>
          <a:p>
            <a:pPr lvl="0">
              <a:lnSpc>
                <a:spcPct val="145000"/>
              </a:lnSpc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B67072-AF6A-660A-8CC8-8251ECB50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a Single Proportion</a:t>
            </a:r>
          </a:p>
        </p:txBody>
      </p:sp>
    </p:spTree>
    <p:extLst>
      <p:ext uri="{BB962C8B-B14F-4D97-AF65-F5344CB8AC3E}">
        <p14:creationId xmlns:p14="http://schemas.microsoft.com/office/powerpoint/2010/main" val="135120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33367-5D41-0C04-837D-0F3D91FD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E7A1ED-6F1A-4FC4-2548-F110B84B88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pPr lvl="1"/>
                <a:r>
                  <a:rPr lang="en-US" dirty="0"/>
                  <a:t>So, what do we do?</a:t>
                </a:r>
              </a:p>
              <a:p>
                <a:pPr lvl="2"/>
                <a:r>
                  <a:rPr lang="en-US" dirty="0"/>
                  <a:t>We take one small group (sample) of patients </a:t>
                </a:r>
              </a:p>
              <a:p>
                <a:pPr lvl="2"/>
                <a:r>
                  <a:rPr lang="en-US" dirty="0"/>
                  <a:t>Observe how many actually get relief</a:t>
                </a:r>
              </a:p>
              <a:p>
                <a:pPr lvl="1"/>
                <a:r>
                  <a:rPr lang="en-US" dirty="0"/>
                  <a:t>Then check:</a:t>
                </a:r>
              </a:p>
              <a:p>
                <a:pPr lvl="2"/>
                <a:r>
                  <a:rPr lang="en-US" dirty="0"/>
                  <a:t>Is the real percentage significantly different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or not?</a:t>
                </a:r>
              </a:p>
              <a:p>
                <a:pPr lvl="1"/>
                <a:r>
                  <a:rPr lang="en-US" dirty="0"/>
                  <a:t>This checking process is called Test for Single Proportion.</a:t>
                </a:r>
              </a:p>
              <a:p>
                <a:pPr marL="914400" lvl="2" indent="0" algn="ctr">
                  <a:buNone/>
                </a:pPr>
                <a:r>
                  <a:rPr lang="en-US" b="1" dirty="0"/>
                  <a:t>Test for Single Proportion = Testing a percentage using one sample.</a:t>
                </a:r>
                <a:endParaRPr lang="en-IN" dirty="0"/>
              </a:p>
              <a:p>
                <a:endParaRPr lang="en-IN" dirty="0"/>
              </a:p>
              <a:p>
                <a:pPr marL="0" lvl="0" indent="0">
                  <a:buNone/>
                </a:pPr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E7A1ED-6F1A-4FC4-2548-F110B84B88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927DF17-785A-36C5-D1F7-49D203DF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a Single Proportion</a:t>
            </a:r>
          </a:p>
        </p:txBody>
      </p:sp>
    </p:spTree>
    <p:extLst>
      <p:ext uri="{BB962C8B-B14F-4D97-AF65-F5344CB8AC3E}">
        <p14:creationId xmlns:p14="http://schemas.microsoft.com/office/powerpoint/2010/main" val="2655725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0C73C-929C-B63C-6246-AFD9114AD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D52DF5-2533-46D4-9AD2-6AF025B164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602211"/>
                <a:ext cx="11929641" cy="5934772"/>
              </a:xfrm>
            </p:spPr>
            <p:txBody>
              <a:bodyPr/>
              <a:lstStyle/>
              <a:p>
                <a:r>
                  <a:rPr lang="en-US" dirty="0"/>
                  <a:t>You can use this method when the following conditions are satisfied:</a:t>
                </a:r>
              </a:p>
              <a:p>
                <a:pPr lvl="1"/>
                <a:r>
                  <a:rPr lang="en-US" dirty="0"/>
                  <a:t>The variable has two outcomes (success/failure).</a:t>
                </a:r>
              </a:p>
              <a:p>
                <a:pPr lvl="2"/>
                <a:r>
                  <a:rPr lang="en-US" dirty="0"/>
                  <a:t>This is because proportion is defined as </a:t>
                </a:r>
              </a:p>
              <a:p>
                <a:pPr marL="914400" lvl="2" indent="0" algn="ctr">
                  <a:lnSpc>
                    <a:spcPct val="13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Proportion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  <m:r>
                      <m:rPr>
                        <m:nor/>
                      </m:rPr>
                      <a:rPr lang="en-US" dirty="0"/>
                      <m:t>=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  <m:f>
                      <m:f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Number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IN" i="0" dirty="0" smtClean="0"/>
                          <m:t>of</m:t>
                        </m:r>
                        <m:r>
                          <m:rPr>
                            <m:nor/>
                          </m:rPr>
                          <a:rPr lang="en-IN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i="0" dirty="0" smtClean="0"/>
                          <m:t>Sucsesses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Total</m:t>
                        </m:r>
                        <m:r>
                          <m:rPr>
                            <m:nor/>
                          </m:rPr>
                          <a:rPr lang="en-IN" i="1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observations</m:t>
                        </m:r>
                      </m:den>
                    </m:f>
                    <m:r>
                      <a:rPr lang="en-US" b="1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​</a:t>
                </a:r>
              </a:p>
              <a:p>
                <a:pPr lvl="1"/>
                <a:r>
                  <a:rPr lang="en-US" dirty="0"/>
                  <a:t>A population proportion claim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​ is given.</a:t>
                </a:r>
              </a:p>
              <a:p>
                <a:pPr lvl="1"/>
                <a:r>
                  <a:rPr lang="en-US" dirty="0"/>
                  <a:t>The sample is random and observations are independent.</a:t>
                </a:r>
              </a:p>
              <a:p>
                <a:pPr lvl="1"/>
                <a:r>
                  <a:rPr lang="en-US" dirty="0"/>
                  <a:t>The sample size is large, satisfying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lang="en-IN" dirty="0"/>
              </a:p>
              <a:p>
                <a:pPr lvl="2"/>
                <a:r>
                  <a:rPr lang="en-US" dirty="0"/>
                  <a:t>This condition ensures the binomial distribution is approximately normal, allowing us to use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dirty="0"/>
                  <a:t>-test.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D52DF5-2533-46D4-9AD2-6AF025B164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602211"/>
                <a:ext cx="11929641" cy="5934772"/>
              </a:xfrm>
              <a:blipFill>
                <a:blip r:embed="rId2"/>
                <a:stretch>
                  <a:fillRect l="-971" r="-1074" b="-58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F848477-E243-EB04-E41D-40A94BFC5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to Use Test for Single Proportion (Z-test)</a:t>
            </a:r>
          </a:p>
        </p:txBody>
      </p:sp>
    </p:spTree>
    <p:extLst>
      <p:ext uri="{BB962C8B-B14F-4D97-AF65-F5344CB8AC3E}">
        <p14:creationId xmlns:p14="http://schemas.microsoft.com/office/powerpoint/2010/main" val="3398178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F3679-7457-DFB0-7DC7-C6D3496EC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10D3A2-72BE-8748-A01D-ACF214FDC2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r>
                  <a:rPr lang="en-US" dirty="0"/>
                  <a:t>Suppose a company claims: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80%</m:t>
                    </m:r>
                  </m:oMath>
                </a14:m>
                <a:r>
                  <a:rPr lang="en-US" dirty="0"/>
                  <a:t> customers like their product</a:t>
                </a:r>
              </a:p>
              <a:p>
                <a:pPr lvl="1"/>
                <a:r>
                  <a:rPr lang="en-US" dirty="0"/>
                  <a:t>So, population proportion: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=0.80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want to check: Is this claim true for the population?</a:t>
                </a:r>
              </a:p>
              <a:p>
                <a:r>
                  <a:rPr lang="en-US" dirty="0"/>
                  <a:t>Since population cannot be checked completely, we take </a:t>
                </a:r>
                <a:r>
                  <a:rPr lang="en-US" b="1" dirty="0"/>
                  <a:t>one</a:t>
                </a:r>
                <a:r>
                  <a:rPr lang="en-US" dirty="0"/>
                  <a:t> sample.</a:t>
                </a:r>
              </a:p>
              <a:p>
                <a:pPr lvl="1"/>
                <a:r>
                  <a:rPr lang="en-US" dirty="0"/>
                  <a:t>Consider a sample of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with proportion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taken from population with proportion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IN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10D3A2-72BE-8748-A01D-ACF214FDC2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712C2E9-0359-DF2E-3B11-E0F4B0865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a Single Proportion – Motivation</a:t>
            </a:r>
          </a:p>
        </p:txBody>
      </p:sp>
    </p:spTree>
    <p:extLst>
      <p:ext uri="{BB962C8B-B14F-4D97-AF65-F5344CB8AC3E}">
        <p14:creationId xmlns:p14="http://schemas.microsoft.com/office/powerpoint/2010/main" val="157167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0C795-A0A7-956C-E12B-632CD7AB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B7E5F-D44C-B845-A11E-3DE51B5E2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Test for a Single Proportion –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84715AC-3F3A-FF2E-1C2D-D633D7E79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3863209"/>
                <a:ext cx="11929641" cy="2590800"/>
              </a:xfrm>
            </p:spPr>
            <p:txBody>
              <a:bodyPr/>
              <a:lstStyle/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Claim: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=0.80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Sample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Success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=72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84715AC-3F3A-FF2E-1C2D-D633D7E79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3863209"/>
                <a:ext cx="11929641" cy="2590800"/>
              </a:xfrm>
              <a:blipFill>
                <a:blip r:embed="rId2"/>
                <a:stretch>
                  <a:fillRect l="-971" b="-63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F081006-76B2-57C0-4B32-F336BB1EE1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9604610"/>
                  </p:ext>
                </p:extLst>
              </p:nvPr>
            </p:nvGraphicFramePr>
            <p:xfrm>
              <a:off x="1440774" y="962858"/>
              <a:ext cx="9310452" cy="259080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4655226">
                      <a:extLst>
                        <a:ext uri="{9D8B030D-6E8A-4147-A177-3AD203B41FA5}">
                          <a16:colId xmlns:a16="http://schemas.microsoft.com/office/drawing/2014/main" val="1689328170"/>
                        </a:ext>
                      </a:extLst>
                    </a:gridCol>
                    <a:gridCol w="4655226">
                      <a:extLst>
                        <a:ext uri="{9D8B030D-6E8A-4147-A177-3AD203B41FA5}">
                          <a16:colId xmlns:a16="http://schemas.microsoft.com/office/drawing/2014/main" val="368295072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Symbol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Meaning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42993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2800" b="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oMath>
                            </m:oMathPara>
                          </a14:m>
                          <a:endParaRPr lang="en-IN" sz="28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Claimed population proportion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875326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2800" b="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Q</m:t>
                                </m:r>
                                <m:r>
                                  <a:rPr lang="en-IN" sz="2800" b="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=1−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 b="0" i="0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oMath>
                            </m:oMathPara>
                          </a14:m>
                          <a:endParaRPr lang="en-IN" sz="28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Failure proportion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609235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en-IN" sz="28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Sample size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733946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IN" sz="2800" b="0" i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oMath>
                            </m:oMathPara>
                          </a14:m>
                          <a:endParaRPr lang="en-IN" sz="28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Sample proportion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932931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F081006-76B2-57C0-4B32-F336BB1EE1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9604610"/>
                  </p:ext>
                </p:extLst>
              </p:nvPr>
            </p:nvGraphicFramePr>
            <p:xfrm>
              <a:off x="1440774" y="962858"/>
              <a:ext cx="9310452" cy="259080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4655226">
                      <a:extLst>
                        <a:ext uri="{9D8B030D-6E8A-4147-A177-3AD203B41FA5}">
                          <a16:colId xmlns:a16="http://schemas.microsoft.com/office/drawing/2014/main" val="1689328170"/>
                        </a:ext>
                      </a:extLst>
                    </a:gridCol>
                    <a:gridCol w="4655226">
                      <a:extLst>
                        <a:ext uri="{9D8B030D-6E8A-4147-A177-3AD203B41FA5}">
                          <a16:colId xmlns:a16="http://schemas.microsoft.com/office/drawing/2014/main" val="368295072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Symbol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Meaning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429930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2" t="-110588" r="-100393" b="-33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Claimed population proportion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8753266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2" t="-208140" r="-100393" b="-2313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Failure proportion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6092353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2" t="-311765" r="-100393" b="-1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Sample size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733946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2" t="-411765" r="-100393" b="-3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i="0" dirty="0">
                              <a:solidFill>
                                <a:srgbClr val="002060"/>
                              </a:solidFill>
                            </a:rPr>
                            <a:t>Sample proportion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932931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8517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96E8F-9CE6-59F3-DE51-9471AAC10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3ED6-681C-3841-7139-E4324F1CF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Test for a Single Proportion –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797D52E-56F1-7A05-3903-125A627EE6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2717799"/>
              </a:xfrm>
            </p:spPr>
            <p:txBody>
              <a:bodyPr/>
              <a:lstStyle/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Claim: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=0.80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Sample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Success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=72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797D52E-56F1-7A05-3903-125A627EE6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2717799"/>
              </a:xfrm>
              <a:blipFill>
                <a:blip r:embed="rId2"/>
                <a:stretch>
                  <a:fillRect l="-971" b="-13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7">
                <a:extLst>
                  <a:ext uri="{FF2B5EF4-FFF2-40B4-BE49-F238E27FC236}">
                    <a16:creationId xmlns:a16="http://schemas.microsoft.com/office/drawing/2014/main" id="{757472C3-CA6B-9F19-83B2-D88D28FE47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19474" y="2984231"/>
                <a:ext cx="2869660" cy="155858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i="0" dirty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0" dirty="0" smtClean="0">
                              <a:latin typeface="Cambria Math" panose="02040503050406030204" pitchFamily="18" charset="0"/>
                            </a:rPr>
                            <m:t>72</m:t>
                          </m:r>
                        </m:num>
                        <m:den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IN" i="0" dirty="0" smtClean="0">
                          <a:latin typeface="Cambria Math" panose="02040503050406030204" pitchFamily="18" charset="0"/>
                        </a:rPr>
                        <m:t>=0.72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7">
                <a:extLst>
                  <a:ext uri="{FF2B5EF4-FFF2-40B4-BE49-F238E27FC236}">
                    <a16:creationId xmlns:a16="http://schemas.microsoft.com/office/drawing/2014/main" id="{757472C3-CA6B-9F19-83B2-D88D28FE4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474" y="2984231"/>
                <a:ext cx="2869660" cy="15585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7">
                <a:extLst>
                  <a:ext uri="{FF2B5EF4-FFF2-40B4-BE49-F238E27FC236}">
                    <a16:creationId xmlns:a16="http://schemas.microsoft.com/office/drawing/2014/main" id="{56BF52E5-9869-9E35-0E1A-6F451CCD5D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4298547"/>
                <a:ext cx="11929641" cy="211198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Now question arises: </a:t>
                </a:r>
              </a:p>
              <a:p>
                <a:pPr marL="0" indent="0" algn="ctr">
                  <a:buNone/>
                </a:pPr>
                <a:r>
                  <a:rPr lang="en-US" dirty="0"/>
                  <a:t>Is difference between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0.80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0.72</m:t>
                    </m:r>
                  </m:oMath>
                </a14:m>
                <a:r>
                  <a:rPr lang="en-US" dirty="0"/>
                  <a:t> important or just random?</a:t>
                </a:r>
              </a:p>
              <a:p>
                <a:pPr lvl="1"/>
                <a:r>
                  <a:rPr lang="en-US" dirty="0"/>
                  <a:t>For answering this we need </a:t>
                </a:r>
                <a:r>
                  <a:rPr lang="en-US" b="1" dirty="0"/>
                  <a:t>Standard Error</a:t>
                </a:r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7">
                <a:extLst>
                  <a:ext uri="{FF2B5EF4-FFF2-40B4-BE49-F238E27FC236}">
                    <a16:creationId xmlns:a16="http://schemas.microsoft.com/office/drawing/2014/main" id="{56BF52E5-9869-9E35-0E1A-6F451CCD5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4298547"/>
                <a:ext cx="11929641" cy="2111982"/>
              </a:xfrm>
              <a:prstGeom prst="rect">
                <a:avLst/>
              </a:prstGeom>
              <a:blipFill>
                <a:blip r:embed="rId4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111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6E91E-C412-7E9C-7B9D-1D3920A5E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11C3A8-B80F-C82A-E05C-68ED407721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r>
                  <a:rPr lang="en-US" dirty="0"/>
                  <a:t>Consider a sample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r>
                  <a:rPr lang="en-US" dirty="0"/>
                  <a:t> with proportion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𝐩</m:t>
                    </m:r>
                  </m:oMath>
                </a14:m>
                <a:r>
                  <a:rPr lang="en-US" dirty="0"/>
                  <a:t> taken from population with proportion </a:t>
                </a:r>
                <a14:m>
                  <m:oMath xmlns:m="http://schemas.openxmlformats.org/officeDocument/2006/math"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𝐍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r>
                  <a:rPr lang="en-US" dirty="0"/>
                  <a:t>This test is used </a:t>
                </a:r>
                <a:r>
                  <a:rPr lang="en-US" b="1" dirty="0"/>
                  <a:t>to find the significant difference</a:t>
                </a:r>
                <a:r>
                  <a:rPr lang="en-US" dirty="0"/>
                  <a:t> between </a:t>
                </a:r>
                <a:r>
                  <a:rPr lang="en-US" dirty="0">
                    <a:solidFill>
                      <a:srgbClr val="FF0000"/>
                    </a:solidFill>
                  </a:rPr>
                  <a:t>proportion of sample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𝐩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&amp; proportion of population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𝐏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r>
                  <a:rPr lang="en-US" dirty="0"/>
                  <a:t>In this test,</a:t>
                </a:r>
                <a:endParaRPr lang="en-IN" dirty="0"/>
              </a:p>
              <a:p>
                <a:endParaRPr lang="en-IN" dirty="0"/>
              </a:p>
              <a:p>
                <a:pPr lvl="0"/>
                <a:endParaRPr lang="en-US" b="1" dirty="0"/>
              </a:p>
              <a:p>
                <a:pPr lvl="1"/>
                <a:endParaRPr lang="en-IN" dirty="0"/>
              </a:p>
              <a:p>
                <a:endParaRPr lang="en-IN" dirty="0"/>
              </a:p>
              <a:p>
                <a:pPr marL="0" lvl="0" indent="0">
                  <a:buNone/>
                </a:pPr>
                <a:endParaRPr lang="en-IN" dirty="0"/>
              </a:p>
              <a:p>
                <a:pPr lvl="0">
                  <a:lnSpc>
                    <a:spcPct val="145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11C3A8-B80F-C82A-E05C-68ED407721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F76CA1E-D0DA-FD9A-EA3B-065509AF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a Single Proportion – Standard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70AFBC-4E92-4145-6BE4-325E6A150846}"/>
                  </a:ext>
                </a:extLst>
              </p:cNvPr>
              <p:cNvSpPr txBox="1"/>
              <p:nvPr/>
            </p:nvSpPr>
            <p:spPr>
              <a:xfrm>
                <a:off x="2599683" y="3862901"/>
                <a:ext cx="6992634" cy="2492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800" b="1" i="0"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</m:d>
                      <m:r>
                        <a:rPr lang="en-IN" sz="28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800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800" b="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800" b="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PQ</m:t>
                                      </m:r>
                                      <m:r>
                                        <a:rPr lang="en-IN" sz="28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r>
                                        <a:rPr lang="en-IN" sz="28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  <m:r>
                                        <a:rPr lang="en-IN" sz="28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IN" sz="2800" b="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  <m:r>
                                <a:rPr lang="en-IN" sz="2800" b="0" i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IN" sz="2800" b="0" i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when</m:t>
                              </m:r>
                              <m:r>
                                <a:rPr lang="en-IN" sz="2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known</m:t>
                              </m:r>
                            </m:e>
                            <m:e>
                              <m:r>
                                <a:rPr lang="en-IN" sz="2800" b="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2800" b="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800" b="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pq</m:t>
                                      </m:r>
                                      <m:r>
                                        <a:rPr lang="en-IN" sz="28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r>
                                        <a:rPr lang="en-IN" sz="28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8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  <m:r>
                                        <a:rPr lang="en-IN" sz="2800" b="0" i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den>
                                  </m:f>
                                  <m:r>
                                    <a:rPr lang="en-IN" sz="2800" b="0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rad>
                              <m:r>
                                <a:rPr lang="en-IN" sz="2800" b="0" i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;    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when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unknown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70AFBC-4E92-4145-6BE4-325E6A1508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683" y="3862901"/>
                <a:ext cx="6992634" cy="24928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650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62167-208F-2536-4D9F-F28F3C6AD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D7A96-D35C-7A56-B28C-EEAB8E2BAA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r>
                  <a:rPr lang="en-US" dirty="0"/>
                  <a:t>Now next question naturally comes: </a:t>
                </a:r>
              </a:p>
              <a:p>
                <a:pPr lvl="1"/>
                <a:r>
                  <a:rPr lang="en-US" dirty="0"/>
                  <a:t>Our sample differs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d>
                  </m:oMath>
                </a14:m>
                <a:r>
                  <a:rPr lang="en-US" dirty="0"/>
                  <a:t>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08</m:t>
                    </m:r>
                  </m:oMath>
                </a14:m>
                <a:r>
                  <a:rPr lang="en-US" dirty="0"/>
                  <a:t> — is that large or small?</a:t>
                </a:r>
              </a:p>
              <a:p>
                <a:pPr lvl="1"/>
                <a:r>
                  <a:rPr lang="en-US" dirty="0"/>
                  <a:t>To answer this → we need </a:t>
                </a:r>
                <a:r>
                  <a:rPr lang="en-US" b="1" dirty="0"/>
                  <a:t>Test Statistic</a:t>
                </a:r>
                <a:r>
                  <a:rPr lang="en-US" dirty="0"/>
                  <a:t>.</a:t>
                </a:r>
                <a:endParaRPr lang="en-IN" dirty="0"/>
              </a:p>
              <a:p>
                <a:r>
                  <a:rPr lang="en-IN" b="1" dirty="0">
                    <a:solidFill>
                      <a:schemeClr val="accent6">
                        <a:lumMod val="75000"/>
                      </a:schemeClr>
                    </a:solidFill>
                  </a:rPr>
                  <a:t>Formula for Test Statistic</a:t>
                </a:r>
              </a:p>
              <a:p>
                <a:pPr lvl="1"/>
                <a:r>
                  <a:rPr lang="en-US" dirty="0">
                    <a:ea typeface="Times New Roman" panose="02020603050405020304" pitchFamily="18" charset="0"/>
                    <a:cs typeface="Shruti" panose="020B0502040204020203" pitchFamily="34" charset="0"/>
                  </a:rPr>
                  <a:t>When population proportion </a:t>
                </a:r>
                <a:r>
                  <a:rPr lang="en-US" b="1" dirty="0">
                    <a:solidFill>
                      <a:srgbClr val="FF0000"/>
                    </a:solidFill>
                    <a:ea typeface="Times New Roman" panose="02020603050405020304" pitchFamily="18" charset="0"/>
                    <a:cs typeface="Shruti" panose="020B0502040204020203" pitchFamily="34" charset="0"/>
                  </a:rPr>
                  <a:t>P is known</a:t>
                </a:r>
                <a:endParaRPr lang="en-IN" dirty="0"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𝐩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b="1"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b="1"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b="1"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  <m:r>
                                    <a:rPr lang="en-IN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 marL="457200" lvl="1" indent="0">
                  <a:buNone/>
                </a:pPr>
                <a:r>
                  <a:rPr lang="en-IN" dirty="0"/>
                  <a:t>	where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Q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7D7A96-D35C-7A56-B28C-EEAB8E2BA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b="-39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FE03FF4-4EF5-E23F-52EA-0E7522AED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a Single Proportion – Test Statistic</a:t>
            </a:r>
          </a:p>
        </p:txBody>
      </p:sp>
    </p:spTree>
    <p:extLst>
      <p:ext uri="{BB962C8B-B14F-4D97-AF65-F5344CB8AC3E}">
        <p14:creationId xmlns:p14="http://schemas.microsoft.com/office/powerpoint/2010/main" val="165971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F5EC7-3481-1531-111D-14194893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77F9BA-BD0F-3C39-3906-4ABC5878BD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US" dirty="0"/>
                  <a:t> tells:</a:t>
                </a:r>
              </a:p>
              <a:p>
                <a:pPr lvl="1"/>
                <a:r>
                  <a:rPr lang="en-US" dirty="0"/>
                  <a:t>How many standard errors away the sample result is from the claim.</a:t>
                </a:r>
              </a:p>
              <a:p>
                <a:r>
                  <a:rPr lang="en-US" dirty="0"/>
                  <a:t>Now question:</a:t>
                </a:r>
              </a:p>
              <a:p>
                <a:pPr lvl="1"/>
                <a:r>
                  <a:rPr lang="en-US" dirty="0"/>
                  <a:t>How do we decide whether the difference is significant or just due to chance?</a:t>
                </a:r>
              </a:p>
              <a:p>
                <a:r>
                  <a:rPr lang="en-US" dirty="0"/>
                  <a:t>That leads to Critical Value / Confidence Limit.</a:t>
                </a:r>
              </a:p>
              <a:p>
                <a:pPr lvl="1"/>
                <a:r>
                  <a:rPr lang="en-US" dirty="0"/>
                  <a:t>Because we create a safe region around population claim.</a:t>
                </a:r>
              </a:p>
              <a:p>
                <a:pPr lvl="1"/>
                <a:r>
                  <a:rPr lang="en-US" dirty="0"/>
                  <a:t>This region represents: differences allowed due to chance.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77F9BA-BD0F-3C39-3906-4ABC5878BD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AE6B143-F71D-EBC0-7AE1-A9524C3FF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a Single Proportion – Meaning of Z Statistic</a:t>
            </a:r>
          </a:p>
        </p:txBody>
      </p:sp>
    </p:spTree>
    <p:extLst>
      <p:ext uri="{BB962C8B-B14F-4D97-AF65-F5344CB8AC3E}">
        <p14:creationId xmlns:p14="http://schemas.microsoft.com/office/powerpoint/2010/main" val="87385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6B204-1236-9087-37C2-24CCD24ED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D14ECE-86F0-5F33-3E29-C2DD37924026}"/>
              </a:ext>
            </a:extLst>
          </p:cNvPr>
          <p:cNvSpPr txBox="1">
            <a:spLocks/>
          </p:cNvSpPr>
          <p:nvPr/>
        </p:nvSpPr>
        <p:spPr>
          <a:xfrm>
            <a:off x="131176" y="3760269"/>
            <a:ext cx="11929641" cy="27101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Why Needed?</a:t>
            </a:r>
          </a:p>
          <a:p>
            <a:pPr lvl="1"/>
            <a:r>
              <a:rPr lang="en-US" dirty="0"/>
              <a:t>We construct a confidence interval around the sample proportion to estimate the true population proportion. The interval represents the range of plausible values of the population proportion considering sampling variability.</a:t>
            </a:r>
          </a:p>
          <a:p>
            <a:pPr marL="457200" lvl="1" indent="0">
              <a:buFont typeface="Wingdings 3" panose="05040102010807070707" pitchFamily="18" charset="2"/>
              <a:buNone/>
            </a:pPr>
            <a:endParaRPr lang="en-IN" dirty="0"/>
          </a:p>
          <a:p>
            <a:endParaRPr lang="en-IN" dirty="0"/>
          </a:p>
          <a:p>
            <a:pPr marL="0" indent="0">
              <a:buFont typeface="Wingdings 3" panose="05040102010807070707" pitchFamily="18" charset="2"/>
              <a:buNone/>
            </a:pPr>
            <a:endParaRPr lang="en-IN" dirty="0"/>
          </a:p>
          <a:p>
            <a:pPr>
              <a:lnSpc>
                <a:spcPct val="145000"/>
              </a:lnSpc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F68460B-2D7B-ED6E-54DD-74B189C44C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6" y="723640"/>
                <a:ext cx="11929641" cy="14132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65113" indent="-265113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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1pPr>
                <a:lvl2pPr marL="857250" indent="-40005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 sz="2800" kern="120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For confidence intervals, population proportion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is unknown, so we estimate it using the sample proportion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F68460B-2D7B-ED6E-54DD-74B189C44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6" y="723640"/>
                <a:ext cx="11929641" cy="1413239"/>
              </a:xfrm>
              <a:prstGeom prst="rect">
                <a:avLst/>
              </a:prstGeom>
              <a:blipFill>
                <a:blip r:embed="rId2"/>
                <a:stretch>
                  <a:fillRect l="-971" r="-1074" b="-43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4053D3D-6DF0-27CD-4B9E-8B8FABBA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Limits for Population Proportion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E2A4A4-C9DC-09B2-7FBE-B13CDCE1A566}"/>
                  </a:ext>
                </a:extLst>
              </p:cNvPr>
              <p:cNvSpPr txBox="1"/>
              <p:nvPr/>
            </p:nvSpPr>
            <p:spPr>
              <a:xfrm>
                <a:off x="2131542" y="2321291"/>
                <a:ext cx="27883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sub>
                      </m:sSub>
                      <m:r>
                        <a:rPr lang="en-IN" sz="2800" b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 b="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SE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E2A4A4-C9DC-09B2-7FBE-B13CDCE1A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542" y="2321291"/>
                <a:ext cx="278832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D2343B-A47C-ABAA-C7FA-C65980C2CA0C}"/>
                  </a:ext>
                </a:extLst>
              </p:cNvPr>
              <p:cNvSpPr txBox="1"/>
              <p:nvPr/>
            </p:nvSpPr>
            <p:spPr>
              <a:xfrm>
                <a:off x="345881" y="3206529"/>
                <a:ext cx="7635240" cy="553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280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α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 Critical value at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α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effectLst/>
                  <a:latin typeface="+mj-lt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D2343B-A47C-ABAA-C7FA-C65980C2C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81" y="3206529"/>
                <a:ext cx="7635240" cy="553741"/>
              </a:xfrm>
              <a:prstGeom prst="rect">
                <a:avLst/>
              </a:prstGeom>
              <a:blipFill>
                <a:blip r:embed="rId4"/>
                <a:stretch>
                  <a:fillRect l="-1677" t="-5495" b="-296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487FB7C-3A45-BBBB-2821-EB808A23C9AD}"/>
                  </a:ext>
                </a:extLst>
              </p:cNvPr>
              <p:cNvSpPr txBox="1"/>
              <p:nvPr/>
            </p:nvSpPr>
            <p:spPr>
              <a:xfrm>
                <a:off x="4235326" y="2070161"/>
                <a:ext cx="3036807" cy="969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i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IN" sz="28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b>
                          <m:r>
                            <a:rPr lang="en-IN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𝛂</m:t>
                          </m:r>
                        </m:sub>
                      </m:sSub>
                      <m:r>
                        <a:rPr lang="en-IN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𝐩𝐪</m:t>
                              </m:r>
                            </m:num>
                            <m:den>
                              <m:r>
                                <a:rPr lang="en-IN" sz="2800" b="1" i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487FB7C-3A45-BBBB-2821-EB808A23C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5326" y="2070161"/>
                <a:ext cx="3036807" cy="9691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3649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5" grpId="0"/>
      <p:bldP spid="9" grpId="0"/>
      <p:bldP spid="3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BDF49-BC70-BA34-8CBB-1B8A7EE92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Rule for Hypotheses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F37156-3F05-3C17-84D1-641CFF8085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If the question gives a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claim </a:t>
                </a:r>
                <a:r>
                  <a:rPr lang="en-US" dirty="0"/>
                  <a:t> → put the claim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0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Example</a:t>
                </a:r>
              </a:p>
              <a:p>
                <a:pPr lvl="2"/>
                <a:r>
                  <a:rPr lang="en-US" dirty="0"/>
                  <a:t>Claim: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45%</m:t>
                    </m:r>
                  </m:oMath>
                </a14:m>
                <a:r>
                  <a:rPr lang="en-US" dirty="0"/>
                  <a:t> voters prefer the candidate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=0.45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≠0.45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F37156-3F05-3C17-84D1-641CFF8085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7145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5DFEF-A2C1-BFAB-2825-0D11F8E61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BF260-4DDB-0A2E-B133-02903640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Rule for Hypotheses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6302AE-AC06-C8DF-2145-49E3392C8D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If the question asks to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check something</a:t>
                </a:r>
                <a:r>
                  <a:rPr lang="en-US" dirty="0"/>
                  <a:t> (prove / support something) → Put that statement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b="1" i="0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Question: Does the data support that majority are smokers?</a:t>
                </a:r>
              </a:p>
              <a:p>
                <a:pPr lvl="2"/>
                <a:r>
                  <a:rPr lang="en-IN" dirty="0"/>
                  <a:t>Majority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IN" dirty="0"/>
              </a:p>
              <a:p>
                <a:pPr lvl="2"/>
                <a:r>
                  <a:rPr lang="en-IN" dirty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IN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i="0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6302AE-AC06-C8DF-2145-49E3392C8D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7829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0B397-56C2-4D65-CCCB-2EBA37BED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1ED8EAB-7473-1A80-069A-6C07368A2F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2"/>
                <a:ext cx="11929643" cy="196066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In a random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lang="en-US" dirty="0"/>
                  <a:t> worker exposed to a certain amount of radiation,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dirty="0"/>
                  <a:t> experienced some ill effects. Construct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confidence interval for the corresponding true percentage.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05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E1ED8EAB-7473-1A80-069A-6C07368A2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1960668"/>
              </a:xfrm>
              <a:prstGeom prst="rect">
                <a:avLst/>
              </a:prstGeom>
              <a:blipFill>
                <a:blip r:embed="rId2"/>
                <a:stretch>
                  <a:fillRect l="-1074" r="-1074" b="-28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27C790C-28AF-EC83-D5C0-5E0BA13B5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23890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CBC81-2BF5-5822-A61D-9561EC854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3303-974E-97DB-3075-411664E10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1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7D7AE73-05BE-15A1-2AF0-0FF7746CAC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2" y="711200"/>
                <a:ext cx="11979174" cy="5780391"/>
              </a:xfrm>
            </p:spPr>
            <p:txBody>
              <a:bodyPr/>
              <a:lstStyle/>
              <a:p>
                <a:r>
                  <a:rPr lang="en-US" dirty="0"/>
                  <a:t>We observe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lang="en-US" dirty="0"/>
                  <a:t> workers who were exposed to radiation (means they came in contact with radiation while working, like in medical labs, nuclear plants, etc.).</a:t>
                </a:r>
              </a:p>
              <a:p>
                <a:r>
                  <a:rPr lang="en-US" dirty="0"/>
                  <a:t>Out of them,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dirty="0"/>
                  <a:t> workers got some health problems.</a:t>
                </a:r>
              </a:p>
              <a:p>
                <a:r>
                  <a:rPr lang="en-US" dirty="0"/>
                  <a:t>Now we want to estimate the real percentage of all workers who might get ill effects from this radiation.</a:t>
                </a:r>
              </a:p>
              <a:p>
                <a:r>
                  <a:rPr lang="en-US" dirty="0"/>
                  <a:t>But since we only checked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lang="en-US" dirty="0"/>
                  <a:t> workers (a sample) and not all workers, we cannot know the exact percentage.</a:t>
                </a:r>
              </a:p>
              <a:p>
                <a:r>
                  <a:rPr lang="en-US" dirty="0"/>
                  <a:t>So, we find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confidence interval, which means: We find a range of percentages where the true percentage of affected workers is likely to be.</a:t>
                </a:r>
                <a:endParaRPr lang="en-IN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7D7AE73-05BE-15A1-2AF0-0FF7746CAC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2" y="711200"/>
                <a:ext cx="11979174" cy="5780391"/>
              </a:xfrm>
              <a:blipFill>
                <a:blip r:embed="rId2"/>
                <a:stretch>
                  <a:fillRect l="-967" r="-1018" b="-30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329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1700-261D-3D5F-21A2-F87512E1B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3399604A-A908-9C47-8B4B-B2DD709E06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2"/>
                <a:ext cx="11929643" cy="196066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pPr>
                  <a:lnSpc>
                    <a:spcPct val="130000"/>
                  </a:lnSpc>
                </a:pPr>
                <a:r>
                  <a:rPr lang="en-US" dirty="0"/>
                  <a:t>In a random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lang="en-US" dirty="0"/>
                  <a:t> worker exposed to a certain amount of radiation,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dirty="0"/>
                  <a:t> experienced some ill effects. Construct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confidence interval for the corresponding true percentage.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=1.96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3399604A-A908-9C47-8B4B-B2DD709E0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1960668"/>
              </a:xfrm>
              <a:prstGeom prst="rect">
                <a:avLst/>
              </a:prstGeom>
              <a:blipFill>
                <a:blip r:embed="rId2"/>
                <a:stretch>
                  <a:fillRect l="-1074" r="-1074" b="-28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F2DCE2A-7D61-6481-707D-03E870C0A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753B408-29B0-C539-A111-540DA0797B8A}"/>
              </a:ext>
            </a:extLst>
          </p:cNvPr>
          <p:cNvSpPr/>
          <p:nvPr/>
        </p:nvSpPr>
        <p:spPr>
          <a:xfrm>
            <a:off x="131177" y="2988684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B6C430F-F013-F351-AA7B-59976DA4D1A0}"/>
                  </a:ext>
                </a:extLst>
              </p:cNvPr>
              <p:cNvSpPr/>
              <p:nvPr/>
            </p:nvSpPr>
            <p:spPr>
              <a:xfrm>
                <a:off x="1614167" y="2988684"/>
                <a:ext cx="153035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=160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B6C430F-F013-F351-AA7B-59976DA4D1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167" y="2988684"/>
                <a:ext cx="153035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2C38AF8-4F21-60B0-9376-2E89FF5E466F}"/>
                  </a:ext>
                </a:extLst>
              </p:cNvPr>
              <p:cNvSpPr/>
              <p:nvPr/>
            </p:nvSpPr>
            <p:spPr>
              <a:xfrm>
                <a:off x="1625597" y="3644787"/>
                <a:ext cx="90897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Sample proportion of workers experienced some ill effects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2C38AF8-4F21-60B0-9376-2E89FF5E46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644787"/>
                <a:ext cx="9089732" cy="523220"/>
              </a:xfrm>
              <a:prstGeom prst="rect">
                <a:avLst/>
              </a:prstGeom>
              <a:blipFill>
                <a:blip r:embed="rId4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06DABD0-6F92-D013-1660-6928A06C1108}"/>
                  </a:ext>
                </a:extLst>
              </p:cNvPr>
              <p:cNvSpPr/>
              <p:nvPr/>
            </p:nvSpPr>
            <p:spPr>
              <a:xfrm>
                <a:off x="10464196" y="3423845"/>
                <a:ext cx="1230209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160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06DABD0-6F92-D013-1660-6928A06C11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4196" y="3423845"/>
                <a:ext cx="1230209" cy="9017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DF9C815-C0B6-9404-5DF5-2EE81574D827}"/>
                  </a:ext>
                </a:extLst>
              </p:cNvPr>
              <p:cNvSpPr/>
              <p:nvPr/>
            </p:nvSpPr>
            <p:spPr>
              <a:xfrm>
                <a:off x="10464196" y="4433358"/>
                <a:ext cx="13039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DF9C815-C0B6-9404-5DF5-2EE81574D8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4196" y="4433358"/>
                <a:ext cx="130394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E9F2DFE-BA9A-F22D-1C3D-CA9BA4F31B54}"/>
                  </a:ext>
                </a:extLst>
              </p:cNvPr>
              <p:cNvSpPr/>
              <p:nvPr/>
            </p:nvSpPr>
            <p:spPr>
              <a:xfrm>
                <a:off x="1625597" y="4433358"/>
                <a:ext cx="246413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</a:rPr>
                  <a:t>Now,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E9F2DFE-BA9A-F22D-1C3D-CA9BA4F31B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4433358"/>
                <a:ext cx="2464136" cy="523220"/>
              </a:xfrm>
              <a:prstGeom prst="rect">
                <a:avLst/>
              </a:prstGeom>
              <a:blipFill>
                <a:blip r:embed="rId7"/>
                <a:stretch>
                  <a:fillRect l="-5198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7592E4-E4F4-8107-4537-0E116CA1A676}"/>
              </a:ext>
            </a:extLst>
          </p:cNvPr>
          <p:cNvCxnSpPr/>
          <p:nvPr/>
        </p:nvCxnSpPr>
        <p:spPr>
          <a:xfrm flipV="1">
            <a:off x="3650748" y="1623905"/>
            <a:ext cx="173736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67FA11-3EAA-6670-5504-525872AD4D28}"/>
              </a:ext>
            </a:extLst>
          </p:cNvPr>
          <p:cNvCxnSpPr/>
          <p:nvPr/>
        </p:nvCxnSpPr>
        <p:spPr>
          <a:xfrm flipV="1">
            <a:off x="11516517" y="1574653"/>
            <a:ext cx="50325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EF7F32-3F46-3FED-47EB-9FFFC59EC90F}"/>
              </a:ext>
            </a:extLst>
          </p:cNvPr>
          <p:cNvCxnSpPr/>
          <p:nvPr/>
        </p:nvCxnSpPr>
        <p:spPr>
          <a:xfrm flipV="1">
            <a:off x="195792" y="2138243"/>
            <a:ext cx="4506273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988BCBA-1725-2B19-37B8-9FD63BAC1E59}"/>
                  </a:ext>
                </a:extLst>
              </p:cNvPr>
              <p:cNvSpPr/>
              <p:nvPr/>
            </p:nvSpPr>
            <p:spPr>
              <a:xfrm>
                <a:off x="4018641" y="4433358"/>
                <a:ext cx="13039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=0.85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988BCBA-1725-2B19-37B8-9FD63BAC1E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8641" y="4433358"/>
                <a:ext cx="130394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C908A1-66DC-6105-F20D-F004C7A6F5C2}"/>
              </a:ext>
            </a:extLst>
          </p:cNvPr>
          <p:cNvCxnSpPr/>
          <p:nvPr/>
        </p:nvCxnSpPr>
        <p:spPr>
          <a:xfrm flipV="1">
            <a:off x="6893865" y="2209585"/>
            <a:ext cx="372418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F60D2C5-F360-FB3F-D799-5274D215724F}"/>
                  </a:ext>
                </a:extLst>
              </p:cNvPr>
              <p:cNvSpPr/>
              <p:nvPr/>
            </p:nvSpPr>
            <p:spPr>
              <a:xfrm>
                <a:off x="1625597" y="5129228"/>
                <a:ext cx="52682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Here</a:t>
                </a:r>
                <a:r>
                  <a:rPr lang="en-IN" sz="2800" b="0" dirty="0">
                    <a:solidFill>
                      <a:srgbClr val="002060"/>
                    </a:solidFill>
                  </a:rPr>
                  <a:t>, Confidence Limit </a:t>
                </a:r>
                <a14:m>
                  <m:oMath xmlns:m="http://schemas.openxmlformats.org/officeDocument/2006/math">
                    <m:r>
                      <a:rPr lang="en-I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F60D2C5-F360-FB3F-D799-5274D21572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5129228"/>
                <a:ext cx="5268268" cy="523220"/>
              </a:xfrm>
              <a:prstGeom prst="rect">
                <a:avLst/>
              </a:prstGeom>
              <a:blipFill>
                <a:blip r:embed="rId9"/>
                <a:stretch>
                  <a:fillRect l="-2431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3FEF580-1F90-AD4F-46E1-60647E1245CE}"/>
                  </a:ext>
                </a:extLst>
              </p:cNvPr>
              <p:cNvSpPr/>
              <p:nvPr/>
            </p:nvSpPr>
            <p:spPr>
              <a:xfrm>
                <a:off x="1614167" y="5811383"/>
                <a:ext cx="468948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</a:rPr>
                  <a:t>So, Level of </a:t>
                </a:r>
                <a:r>
                  <a:rPr lang="en-US" sz="2800" b="0" dirty="0">
                    <a:solidFill>
                      <a:srgbClr val="002060"/>
                    </a:solidFill>
                  </a:rPr>
                  <a:t>Significance </a:t>
                </a:r>
                <a14:m>
                  <m:oMath xmlns:m="http://schemas.openxmlformats.org/officeDocument/2006/math">
                    <m:r>
                      <a:rPr lang="en-I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3FEF580-1F90-AD4F-46E1-60647E1245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167" y="5811383"/>
                <a:ext cx="4689489" cy="523220"/>
              </a:xfrm>
              <a:prstGeom prst="rect">
                <a:avLst/>
              </a:prstGeom>
              <a:blipFill>
                <a:blip r:embed="rId10"/>
                <a:stretch>
                  <a:fillRect l="-2731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C885670-CA31-5FE3-41C6-0F0E13C453F3}"/>
                  </a:ext>
                </a:extLst>
              </p:cNvPr>
              <p:cNvSpPr/>
              <p:nvPr/>
            </p:nvSpPr>
            <p:spPr>
              <a:xfrm>
                <a:off x="6170462" y="5811383"/>
                <a:ext cx="515253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</a:rPr>
                  <a:t>Hence,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=1.96 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C885670-CA31-5FE3-41C6-0F0E13C453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462" y="5811383"/>
                <a:ext cx="5152533" cy="523220"/>
              </a:xfrm>
              <a:prstGeom prst="rect">
                <a:avLst/>
              </a:prstGeom>
              <a:blipFill>
                <a:blip r:embed="rId11"/>
                <a:stretch>
                  <a:fillRect l="-2367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BEE97F-69B2-B634-3395-8FD885E98DBE}"/>
              </a:ext>
            </a:extLst>
          </p:cNvPr>
          <p:cNvSpPr/>
          <p:nvPr/>
        </p:nvSpPr>
        <p:spPr>
          <a:xfrm>
            <a:off x="166608" y="2303980"/>
            <a:ext cx="2124000" cy="394808"/>
          </a:xfrm>
          <a:prstGeom prst="round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E29F69-E109-8568-CB4D-EFBD0DD33D48}"/>
              </a:ext>
            </a:extLst>
          </p:cNvPr>
          <p:cNvSpPr/>
          <p:nvPr/>
        </p:nvSpPr>
        <p:spPr>
          <a:xfrm>
            <a:off x="142125" y="3670089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Success 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31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26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0A4D0-391F-77A4-BD28-FA30EFFA4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8521-351E-9252-5322-9C70ED7F0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4B8672B-8A0C-7AD8-7D1D-0AE511A18D19}"/>
                  </a:ext>
                </a:extLst>
              </p:cNvPr>
              <p:cNvSpPr/>
              <p:nvPr/>
            </p:nvSpPr>
            <p:spPr>
              <a:xfrm>
                <a:off x="137270" y="862943"/>
                <a:ext cx="941821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confidence limits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4B8672B-8A0C-7AD8-7D1D-0AE511A18D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62943"/>
                <a:ext cx="9418210" cy="523220"/>
              </a:xfrm>
              <a:prstGeom prst="rect">
                <a:avLst/>
              </a:prstGeom>
              <a:blipFill>
                <a:blip r:embed="rId2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F04428D-9A4A-C05F-EB03-BF6B7C9D6871}"/>
                  </a:ext>
                </a:extLst>
              </p:cNvPr>
              <p:cNvSpPr/>
              <p:nvPr/>
            </p:nvSpPr>
            <p:spPr>
              <a:xfrm>
                <a:off x="519785" y="1663156"/>
                <a:ext cx="305464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b>
                          <m:r>
                            <a:rPr lang="en-IN" sz="28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𝛂</m:t>
                          </m:r>
                        </m:sub>
                      </m:sSub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𝐒𝐄</m:t>
                      </m:r>
                      <m:d>
                        <m:d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</m:d>
                    </m:oMath>
                  </m:oMathPara>
                </a14:m>
                <a:endParaRPr lang="en-US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F04428D-9A4A-C05F-EB03-BF6B7C9D68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85" y="1663156"/>
                <a:ext cx="305464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98227B3-8688-8D38-4CBF-4F25F02879E0}"/>
                  </a:ext>
                </a:extLst>
              </p:cNvPr>
              <p:cNvSpPr/>
              <p:nvPr/>
            </p:nvSpPr>
            <p:spPr>
              <a:xfrm>
                <a:off x="137270" y="2542349"/>
                <a:ext cx="3102041" cy="9691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98227B3-8688-8D38-4CBF-4F25F02879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2542349"/>
                <a:ext cx="3102041" cy="969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FD81716-9071-82CC-22B7-C18AF12791E0}"/>
                  </a:ext>
                </a:extLst>
              </p:cNvPr>
              <p:cNvSpPr/>
              <p:nvPr/>
            </p:nvSpPr>
            <p:spPr>
              <a:xfrm>
                <a:off x="137270" y="3701899"/>
                <a:ext cx="5251610" cy="13653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0.15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0.15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0.85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160</m:t>
                              </m:r>
                            </m:den>
                          </m:f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ra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FD81716-9071-82CC-22B7-C18AF12791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3701899"/>
                <a:ext cx="5251610" cy="13653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20BC449-2A33-61B4-9F07-06013C76243D}"/>
                  </a:ext>
                </a:extLst>
              </p:cNvPr>
              <p:cNvSpPr/>
              <p:nvPr/>
            </p:nvSpPr>
            <p:spPr>
              <a:xfrm>
                <a:off x="137270" y="5324742"/>
                <a:ext cx="430827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0.15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±0.0553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20BC449-2A33-61B4-9F07-06013C7624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5324742"/>
                <a:ext cx="430827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88F280-86C6-1E02-C0DF-DDE750D89FDF}"/>
                  </a:ext>
                </a:extLst>
              </p:cNvPr>
              <p:cNvSpPr txBox="1"/>
              <p:nvPr/>
            </p:nvSpPr>
            <p:spPr>
              <a:xfrm>
                <a:off x="4979542" y="2435352"/>
                <a:ext cx="74157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 Confidence Interval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𝟎𝟗𝟒𝟕</m:t>
                        </m:r>
                        <m:r>
                          <a:rPr lang="en-US" sz="2800" b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𝟐𝟎𝟓𝟑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88F280-86C6-1E02-C0DF-DDE750D89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542" y="2435352"/>
                <a:ext cx="7415720" cy="523220"/>
              </a:xfrm>
              <a:prstGeom prst="rect">
                <a:avLst/>
              </a:prstGeom>
              <a:blipFill>
                <a:blip r:embed="rId7"/>
                <a:stretch>
                  <a:fillRect t="-11765" b="-3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A0B9B92-37AE-50E4-3E90-AE01E32FBD51}"/>
                  </a:ext>
                </a:extLst>
              </p:cNvPr>
              <p:cNvSpPr/>
              <p:nvPr/>
            </p:nvSpPr>
            <p:spPr>
              <a:xfrm>
                <a:off x="5052434" y="862943"/>
                <a:ext cx="45891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Lower Limit :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0.15−0.0553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A0B9B92-37AE-50E4-3E90-AE01E32FBD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434" y="862943"/>
                <a:ext cx="4589195" cy="523220"/>
              </a:xfrm>
              <a:prstGeom prst="rect">
                <a:avLst/>
              </a:prstGeom>
              <a:blipFill>
                <a:blip r:embed="rId8"/>
                <a:stretch>
                  <a:fillRect l="-2789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BF09FA3-830A-F7E5-5D45-EAC7591668C6}"/>
                  </a:ext>
                </a:extLst>
              </p:cNvPr>
              <p:cNvSpPr/>
              <p:nvPr/>
            </p:nvSpPr>
            <p:spPr>
              <a:xfrm>
                <a:off x="9149613" y="862943"/>
                <a:ext cx="244473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0.0947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BF09FA3-830A-F7E5-5D45-EAC7591668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613" y="862943"/>
                <a:ext cx="244473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F3877E9-6E5B-5B4B-C366-C20250EAEF3A}"/>
                  </a:ext>
                </a:extLst>
              </p:cNvPr>
              <p:cNvSpPr/>
              <p:nvPr/>
            </p:nvSpPr>
            <p:spPr>
              <a:xfrm>
                <a:off x="5052434" y="1677789"/>
                <a:ext cx="45891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Upper Limit 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0.15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0.0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553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F3877E9-6E5B-5B4B-C366-C20250EAEF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434" y="1677789"/>
                <a:ext cx="4589195" cy="523220"/>
              </a:xfrm>
              <a:prstGeom prst="rect">
                <a:avLst/>
              </a:prstGeom>
              <a:blipFill>
                <a:blip r:embed="rId10"/>
                <a:stretch>
                  <a:fillRect l="-2789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B06569-05DE-C766-3E46-175AF33E5E61}"/>
                  </a:ext>
                </a:extLst>
              </p:cNvPr>
              <p:cNvSpPr/>
              <p:nvPr/>
            </p:nvSpPr>
            <p:spPr>
              <a:xfrm>
                <a:off x="9149613" y="1677789"/>
                <a:ext cx="244473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.2053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B06569-05DE-C766-3E46-175AF33E5E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613" y="1677789"/>
                <a:ext cx="244473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349D583-8B94-13F2-6B89-84EFC3920D4F}"/>
                  </a:ext>
                </a:extLst>
              </p:cNvPr>
              <p:cNvSpPr/>
              <p:nvPr/>
            </p:nvSpPr>
            <p:spPr>
              <a:xfrm>
                <a:off x="5052434" y="3129935"/>
                <a:ext cx="7130277" cy="17213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We are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confident that the true percentage of workers experiencing ill effects lies between </a:t>
                </a:r>
                <a14:m>
                  <m:oMath xmlns:m="http://schemas.openxmlformats.org/officeDocument/2006/math">
                    <m:r>
                      <a:rPr lang="en-I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0.0947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0.2053</m:t>
                    </m:r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349D583-8B94-13F2-6B89-84EFC3920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434" y="3129935"/>
                <a:ext cx="7130277" cy="1721305"/>
              </a:xfrm>
              <a:prstGeom prst="rect">
                <a:avLst/>
              </a:prstGeom>
              <a:blipFill>
                <a:blip r:embed="rId12"/>
                <a:stretch>
                  <a:fillRect l="-1796" r="-1796" b="-88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94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" grpId="0"/>
      <p:bldP spid="6" grpId="0"/>
      <p:bldP spid="7" grpId="0"/>
      <p:bldP spid="4" grpId="0"/>
      <p:bldP spid="12" grpId="0"/>
      <p:bldP spid="13" grpId="0"/>
      <p:bldP spid="14" grpId="0"/>
      <p:bldP spid="16" grpId="0"/>
      <p:bldP spid="17" grpId="0"/>
      <p:bldP spid="18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E7FAE-032B-D4F6-727A-C429C117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DF0FA02-0FCD-3556-AA4E-B5AF799969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2"/>
                <a:ext cx="11929643" cy="201849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 political party claims that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45</m:t>
                    </m:r>
                    <m:r>
                      <a:rPr lang="en-US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of the voters in an election district prefer its candidate. A sample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US" dirty="0"/>
                  <a:t> voters include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dirty="0"/>
                  <a:t> who prefer this candidate. Test if the claim is valid at 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significance level.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05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0DF0FA02-0FCD-3556-AA4E-B5AF79996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2018498"/>
              </a:xfrm>
              <a:prstGeom prst="rect">
                <a:avLst/>
              </a:prstGeom>
              <a:blipFill>
                <a:blip r:embed="rId2"/>
                <a:stretch>
                  <a:fillRect l="-1074" r="-1074" b="-66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BA6AA0D-CE9A-2532-4497-CCDE51C65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7536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7E1A7-365D-E4E9-EE91-6CA7AA610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641A8-96F8-1B75-AA5A-7C423270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2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2C1A98A-EB50-F077-C62A-F3855EFEDF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2" y="711201"/>
                <a:ext cx="11979174" cy="5057302"/>
              </a:xfrm>
            </p:spPr>
            <p:txBody>
              <a:bodyPr/>
              <a:lstStyle/>
              <a:p>
                <a:r>
                  <a:rPr lang="en-US" dirty="0"/>
                  <a:t>A political party claims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45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of the voters in an election district support its candidate.</a:t>
                </a:r>
              </a:p>
              <a:p>
                <a:r>
                  <a:rPr lang="en-US" dirty="0"/>
                  <a:t>To check whether this claim is correct or not, we take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US" dirty="0"/>
                  <a:t> voters from that district. </a:t>
                </a:r>
              </a:p>
              <a:p>
                <a:pPr lvl="1"/>
                <a:r>
                  <a:rPr lang="en-US" dirty="0"/>
                  <a:t>In this sample,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dirty="0"/>
                  <a:t> voters say they support the candidate.</a:t>
                </a:r>
              </a:p>
              <a:p>
                <a:r>
                  <a:rPr lang="en-US" dirty="0"/>
                  <a:t>Now we want to statistically test whether the party’s claim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45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support is reasonable or not based on this sample.</a:t>
                </a:r>
                <a:endParaRPr lang="en-IN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2C1A98A-EB50-F077-C62A-F3855EFEDF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2" y="711201"/>
                <a:ext cx="11979174" cy="5057302"/>
              </a:xfrm>
              <a:blipFill>
                <a:blip r:embed="rId2"/>
                <a:stretch>
                  <a:fillRect l="-967" r="-10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99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804A7-85A3-F918-CFE2-1868FA226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38AE4-6DCA-CF44-A203-D49836D93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2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B3DE24A-7BAE-3E0E-1562-917DC3476D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2" y="711200"/>
                <a:ext cx="11979174" cy="5780391"/>
              </a:xfrm>
            </p:spPr>
            <p:txBody>
              <a:bodyPr/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level of significance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 = 0.05</m:t>
                        </m:r>
                      </m:e>
                    </m:d>
                  </m:oMath>
                </a14:m>
                <a:r>
                  <a:rPr lang="en-US" dirty="0"/>
                  <a:t> means:</a:t>
                </a:r>
              </a:p>
              <a:p>
                <a:pPr lvl="1"/>
                <a:r>
                  <a:rPr lang="en-US" dirty="0"/>
                  <a:t>We allow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chance of making a wrong decision when testing the claim.</a:t>
                </a:r>
              </a:p>
              <a:p>
                <a:pPr lvl="1"/>
                <a:r>
                  <a:rPr lang="en-US" dirty="0"/>
                  <a:t>In other words, we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confident about our decision.</a:t>
                </a:r>
              </a:p>
              <a:p>
                <a:r>
                  <a:rPr lang="en-US" dirty="0"/>
                  <a:t>Using the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US" dirty="0"/>
                  <a:t> voters, check whether the claim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45%</m:t>
                    </m:r>
                  </m:oMath>
                </a14:m>
                <a:r>
                  <a:rPr lang="en-US" dirty="0"/>
                  <a:t> of voters support the candidate is correct, allowing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chance of error.</a:t>
                </a:r>
                <a:endParaRPr lang="en-IN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3B3DE24A-7BAE-3E0E-1562-917DC3476D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2" y="711200"/>
                <a:ext cx="11979174" cy="5780391"/>
              </a:xfrm>
              <a:blipFill>
                <a:blip r:embed="rId2"/>
                <a:stretch>
                  <a:fillRect l="-967" r="-10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299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A4342-2335-04CA-CC0F-8B2223EDE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602D35B7-B917-25FA-2CDD-B6FE2D057B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2"/>
                <a:ext cx="11929643" cy="201849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 political party claims that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45%</m:t>
                    </m:r>
                  </m:oMath>
                </a14:m>
                <a:r>
                  <a:rPr lang="en-US" dirty="0"/>
                  <a:t> of the voters in an election district prefer its candidate. A sample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US" dirty="0"/>
                  <a:t> voters include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dirty="0"/>
                  <a:t> who prefer this candidate. Test if the claim is valid at the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significance level.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=1.96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602D35B7-B917-25FA-2CDD-B6FE2D057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2018498"/>
              </a:xfrm>
              <a:prstGeom prst="rect">
                <a:avLst/>
              </a:prstGeom>
              <a:blipFill>
                <a:blip r:embed="rId2"/>
                <a:stretch>
                  <a:fillRect l="-1074" r="-1074" b="-66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4F23620-3901-C1F4-1E09-74EB68BF7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2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2B521A3-7268-8C25-3820-308A498E572F}"/>
              </a:ext>
            </a:extLst>
          </p:cNvPr>
          <p:cNvSpPr/>
          <p:nvPr/>
        </p:nvSpPr>
        <p:spPr>
          <a:xfrm>
            <a:off x="131177" y="3008030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A13BD7D-E2BB-6523-E52D-6BF656898098}"/>
                  </a:ext>
                </a:extLst>
              </p:cNvPr>
              <p:cNvSpPr/>
              <p:nvPr/>
            </p:nvSpPr>
            <p:spPr>
              <a:xfrm>
                <a:off x="1587696" y="4325468"/>
                <a:ext cx="153035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A13BD7D-E2BB-6523-E52D-6BF6568980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696" y="4325468"/>
                <a:ext cx="153035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EE3D363-BC8D-4151-EE1B-6DAFEA7F16F2}"/>
                  </a:ext>
                </a:extLst>
              </p:cNvPr>
              <p:cNvSpPr/>
              <p:nvPr/>
            </p:nvSpPr>
            <p:spPr>
              <a:xfrm>
                <a:off x="1628448" y="5100314"/>
                <a:ext cx="8310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EE3D363-BC8D-4151-EE1B-6DAFEA7F16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448" y="5100314"/>
                <a:ext cx="83106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C39C8B1-391C-FEAE-B5C5-69CE43C08803}"/>
                  </a:ext>
                </a:extLst>
              </p:cNvPr>
              <p:cNvSpPr/>
              <p:nvPr/>
            </p:nvSpPr>
            <p:spPr>
              <a:xfrm>
                <a:off x="2303866" y="4924064"/>
                <a:ext cx="961353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C39C8B1-391C-FEAE-B5C5-69CE43C088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866" y="4924064"/>
                <a:ext cx="961353" cy="9017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1151463-DAD5-E770-FFD2-1D17DFEC8D2D}"/>
                  </a:ext>
                </a:extLst>
              </p:cNvPr>
              <p:cNvSpPr/>
              <p:nvPr/>
            </p:nvSpPr>
            <p:spPr>
              <a:xfrm>
                <a:off x="3026992" y="5100314"/>
                <a:ext cx="110517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1151463-DAD5-E770-FFD2-1D17DFEC8D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992" y="5100314"/>
                <a:ext cx="110517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F796AC0-1E39-7A7C-C5EF-FECF4963D764}"/>
                  </a:ext>
                </a:extLst>
              </p:cNvPr>
              <p:cNvSpPr/>
              <p:nvPr/>
            </p:nvSpPr>
            <p:spPr>
              <a:xfrm>
                <a:off x="1625597" y="3017504"/>
                <a:ext cx="405535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Population proportion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F796AC0-1E39-7A7C-C5EF-FECF4963D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017504"/>
                <a:ext cx="4055356" cy="523220"/>
              </a:xfrm>
              <a:prstGeom prst="rect">
                <a:avLst/>
              </a:prstGeom>
              <a:blipFill>
                <a:blip r:embed="rId7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4F1E7E0-81DE-DB59-27FF-5C21EE7E7E22}"/>
                  </a:ext>
                </a:extLst>
              </p:cNvPr>
              <p:cNvSpPr/>
              <p:nvPr/>
            </p:nvSpPr>
            <p:spPr>
              <a:xfrm>
                <a:off x="1290600" y="3642095"/>
                <a:ext cx="323633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=0.55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4F1E7E0-81DE-DB59-27FF-5C21EE7E7E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600" y="3642095"/>
                <a:ext cx="323633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9438838-6950-B58D-F884-BA9546244AD1}"/>
                  </a:ext>
                </a:extLst>
              </p:cNvPr>
              <p:cNvSpPr/>
              <p:nvPr/>
            </p:nvSpPr>
            <p:spPr>
              <a:xfrm>
                <a:off x="5348823" y="3008030"/>
                <a:ext cx="142162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0.45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9438838-6950-B58D-F884-BA9546244A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8823" y="3008030"/>
                <a:ext cx="142162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AC55292-BA03-412C-8CC5-71CF7365B17B}"/>
              </a:ext>
            </a:extLst>
          </p:cNvPr>
          <p:cNvCxnSpPr/>
          <p:nvPr/>
        </p:nvCxnSpPr>
        <p:spPr>
          <a:xfrm flipV="1">
            <a:off x="10630736" y="1623597"/>
            <a:ext cx="1368287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40A8D9-C431-48BD-B081-8194C82AA107}"/>
              </a:ext>
            </a:extLst>
          </p:cNvPr>
          <p:cNvCxnSpPr/>
          <p:nvPr/>
        </p:nvCxnSpPr>
        <p:spPr>
          <a:xfrm flipV="1">
            <a:off x="183912" y="2228315"/>
            <a:ext cx="1438083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C701971-FF6C-4F9A-9475-92C6F8403947}"/>
              </a:ext>
            </a:extLst>
          </p:cNvPr>
          <p:cNvCxnSpPr>
            <a:cxnSpLocks/>
          </p:cNvCxnSpPr>
          <p:nvPr/>
        </p:nvCxnSpPr>
        <p:spPr>
          <a:xfrm>
            <a:off x="6242735" y="2244450"/>
            <a:ext cx="4159794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2608507-DFFC-4E5D-B409-5F281E94705D}"/>
              </a:ext>
            </a:extLst>
          </p:cNvPr>
          <p:cNvCxnSpPr/>
          <p:nvPr/>
        </p:nvCxnSpPr>
        <p:spPr>
          <a:xfrm flipV="1">
            <a:off x="4439192" y="1623597"/>
            <a:ext cx="73101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E5EE381-4E42-4F80-AFE9-2CB959E601E4}"/>
              </a:ext>
            </a:extLst>
          </p:cNvPr>
          <p:cNvCxnSpPr>
            <a:cxnSpLocks/>
          </p:cNvCxnSpPr>
          <p:nvPr/>
        </p:nvCxnSpPr>
        <p:spPr>
          <a:xfrm flipV="1">
            <a:off x="3518249" y="2207802"/>
            <a:ext cx="675084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EB4518D-B5B4-48B8-84B8-8D0B3B2F4659}"/>
                  </a:ext>
                </a:extLst>
              </p:cNvPr>
              <p:cNvSpPr/>
              <p:nvPr/>
            </p:nvSpPr>
            <p:spPr>
              <a:xfrm>
                <a:off x="1587696" y="6035313"/>
                <a:ext cx="53095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800" b="0" dirty="0">
                    <a:solidFill>
                      <a:srgbClr val="002060"/>
                    </a:solidFill>
                  </a:rPr>
                  <a:t>Given that,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 sz="280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8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=1.96 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EB4518D-B5B4-48B8-84B8-8D0B3B2F46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696" y="6035313"/>
                <a:ext cx="5309530" cy="523220"/>
              </a:xfrm>
              <a:prstGeom prst="rect">
                <a:avLst/>
              </a:prstGeom>
              <a:blipFill>
                <a:blip r:embed="rId10"/>
                <a:stretch>
                  <a:fillRect l="-2296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604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ACAD5-D45C-D1C8-CF1B-E71832C16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F67F9-BA9E-BA15-0F12-455A851C2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2(Continue)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3C6721F-189C-C7C1-676B-F5ACE8CE20F0}"/>
                  </a:ext>
                </a:extLst>
              </p:cNvPr>
              <p:cNvSpPr/>
              <p:nvPr/>
            </p:nvSpPr>
            <p:spPr>
              <a:xfrm>
                <a:off x="111877" y="894672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3C6721F-189C-C7C1-676B-F5ACE8CE20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77" y="894672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D2E41A0-29DA-EC73-3946-67D8824BC092}"/>
              </a:ext>
            </a:extLst>
          </p:cNvPr>
          <p:cNvCxnSpPr>
            <a:cxnSpLocks/>
          </p:cNvCxnSpPr>
          <p:nvPr/>
        </p:nvCxnSpPr>
        <p:spPr>
          <a:xfrm>
            <a:off x="5992000" y="708524"/>
            <a:ext cx="0" cy="589681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DB1F2D8-4182-B7CB-6CEE-FA710AF54CD5}"/>
                  </a:ext>
                </a:extLst>
              </p:cNvPr>
              <p:cNvSpPr/>
              <p:nvPr/>
            </p:nvSpPr>
            <p:spPr>
              <a:xfrm>
                <a:off x="897425" y="918435"/>
                <a:ext cx="16362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=0.45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DB1F2D8-4182-B7CB-6CEE-FA710AF54C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25" y="918435"/>
                <a:ext cx="163629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E93514B-7BCA-A15A-9021-6D1CCBE0E061}"/>
                  </a:ext>
                </a:extLst>
              </p:cNvPr>
              <p:cNvSpPr/>
              <p:nvPr/>
            </p:nvSpPr>
            <p:spPr>
              <a:xfrm>
                <a:off x="123911" y="1560572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E93514B-7BCA-A15A-9021-6D1CCBE0E0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11" y="1560572"/>
                <a:ext cx="797582" cy="523220"/>
              </a:xfrm>
              <a:prstGeom prst="rect">
                <a:avLst/>
              </a:prstGeom>
              <a:blipFill>
                <a:blip r:embed="rId4"/>
                <a:stretch>
                  <a:fillRect b="-47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E65525A-4AD8-9E3D-4520-41D8294EF07E}"/>
                  </a:ext>
                </a:extLst>
              </p:cNvPr>
              <p:cNvSpPr/>
              <p:nvPr/>
            </p:nvSpPr>
            <p:spPr>
              <a:xfrm>
                <a:off x="909459" y="1584335"/>
                <a:ext cx="16362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0.45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E65525A-4AD8-9E3D-4520-41D8294EF0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59" y="1584335"/>
                <a:ext cx="163629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DBB8ED5-14A4-09BE-3AA1-B33FE235CC43}"/>
                  </a:ext>
                </a:extLst>
              </p:cNvPr>
              <p:cNvSpPr/>
              <p:nvPr/>
            </p:nvSpPr>
            <p:spPr>
              <a:xfrm>
                <a:off x="146771" y="2255693"/>
                <a:ext cx="23869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DBB8ED5-14A4-09BE-3AA1-B33FE235CC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71" y="2255693"/>
                <a:ext cx="238694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640A8FD-3AFB-38D0-4D91-4784DF07780D}"/>
                  </a:ext>
                </a:extLst>
              </p:cNvPr>
              <p:cNvSpPr/>
              <p:nvPr/>
            </p:nvSpPr>
            <p:spPr>
              <a:xfrm>
                <a:off x="152658" y="2883277"/>
                <a:ext cx="424608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b="1" dirty="0">
                    <a:solidFill>
                      <a:srgbClr val="002060"/>
                    </a:solidFill>
                  </a:rPr>
                  <a:t>Test</a:t>
                </a:r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:</a:t>
                </a:r>
                <a:r>
                  <a:rPr lang="en-US" sz="2800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Since, </a:t>
                </a:r>
                <a14:m>
                  <m:oMath xmlns:m="http://schemas.openxmlformats.org/officeDocument/2006/math"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𝐏</m:t>
                    </m:r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𝐢𝐬</m:t>
                    </m:r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𝐤𝐧𝐨𝐰𝐧</m:t>
                    </m:r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640A8FD-3AFB-38D0-4D91-4784DF0778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58" y="2883277"/>
                <a:ext cx="4246087" cy="523220"/>
              </a:xfrm>
              <a:prstGeom prst="rect">
                <a:avLst/>
              </a:prstGeom>
              <a:blipFill>
                <a:blip r:embed="rId7"/>
                <a:stretch>
                  <a:fillRect l="-2869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164396-D4AF-C5F4-38C0-947703060D12}"/>
                  </a:ext>
                </a:extLst>
              </p:cNvPr>
              <p:cNvSpPr txBox="1"/>
              <p:nvPr/>
            </p:nvSpPr>
            <p:spPr>
              <a:xfrm>
                <a:off x="154487" y="3554635"/>
                <a:ext cx="2435224" cy="1434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164396-D4AF-C5F4-38C0-947703060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87" y="3554635"/>
                <a:ext cx="2435224" cy="14348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D90B99-D518-B4B6-41C4-1C61A3DE8ADA}"/>
                  </a:ext>
                </a:extLst>
              </p:cNvPr>
              <p:cNvSpPr txBox="1"/>
              <p:nvPr/>
            </p:nvSpPr>
            <p:spPr>
              <a:xfrm>
                <a:off x="471756" y="5093537"/>
                <a:ext cx="3503120" cy="1434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0.4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0.45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0.45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55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200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D90B99-D518-B4B6-41C4-1C61A3DE8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56" y="5093537"/>
                <a:ext cx="3503120" cy="14348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2F47C75-33C0-A77B-7148-BDC7350AD453}"/>
                  </a:ext>
                </a:extLst>
              </p:cNvPr>
              <p:cNvSpPr/>
              <p:nvPr/>
            </p:nvSpPr>
            <p:spPr>
              <a:xfrm>
                <a:off x="3611604" y="5316963"/>
                <a:ext cx="18160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=−1.42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2F47C75-33C0-A77B-7148-BDC7350AD4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604" y="5316963"/>
                <a:ext cx="181603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64FAA7FC-06B7-C319-0859-7F72F2B92849}"/>
              </a:ext>
            </a:extLst>
          </p:cNvPr>
          <p:cNvSpPr/>
          <p:nvPr/>
        </p:nvSpPr>
        <p:spPr>
          <a:xfrm>
            <a:off x="6083328" y="825424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 </a:t>
            </a:r>
            <a:r>
              <a:rPr lang="en-US" sz="2800" u="sng" dirty="0">
                <a:solidFill>
                  <a:srgbClr val="002060"/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34B525-CD75-FA40-BB94-2B9E8A455A4C}"/>
                  </a:ext>
                </a:extLst>
              </p:cNvPr>
              <p:cNvSpPr txBox="1"/>
              <p:nvPr/>
            </p:nvSpPr>
            <p:spPr>
              <a:xfrm>
                <a:off x="8254361" y="825424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434B525-CD75-FA40-BB94-2B9E8A45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4361" y="825424"/>
                <a:ext cx="269747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657CCB7-9C5A-03D2-133C-7B47BED73648}"/>
                  </a:ext>
                </a:extLst>
              </p:cNvPr>
              <p:cNvSpPr/>
              <p:nvPr/>
            </p:nvSpPr>
            <p:spPr>
              <a:xfrm>
                <a:off x="2903983" y="1047023"/>
                <a:ext cx="2989524" cy="954107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800" dirty="0">
                    <a:solidFill>
                      <a:srgbClr val="FF0000"/>
                    </a:solidFill>
                  </a:rPr>
                  <a:t>asked to verify that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45%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is valid or not</a:t>
                </a:r>
                <a:endParaRPr lang="en-US" sz="2800" u="sn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657CCB7-9C5A-03D2-133C-7B47BED736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983" y="1047023"/>
                <a:ext cx="2989524" cy="954107"/>
              </a:xfrm>
              <a:prstGeom prst="rect">
                <a:avLst/>
              </a:prstGeom>
              <a:blipFill>
                <a:blip r:embed="rId12"/>
                <a:stretch>
                  <a:fillRect l="-1420" t="-5696" r="-4057" b="-17089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7E12F77B-F253-4E76-024B-C6ABD52571AB}"/>
              </a:ext>
            </a:extLst>
          </p:cNvPr>
          <p:cNvSpPr/>
          <p:nvPr/>
        </p:nvSpPr>
        <p:spPr>
          <a:xfrm>
            <a:off x="6083328" y="1378907"/>
            <a:ext cx="19735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AD41FA1-EB0B-B3B4-7454-D3B1DED54FE1}"/>
                  </a:ext>
                </a:extLst>
              </p:cNvPr>
              <p:cNvSpPr txBox="1"/>
              <p:nvPr/>
            </p:nvSpPr>
            <p:spPr>
              <a:xfrm>
                <a:off x="6112962" y="1957832"/>
                <a:ext cx="21277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AD41FA1-EB0B-B3B4-7454-D3B1DED54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2962" y="1957832"/>
                <a:ext cx="2127799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63E284-26A8-E04E-0139-F0F63EA8404B}"/>
                  </a:ext>
                </a:extLst>
              </p:cNvPr>
              <p:cNvSpPr txBox="1"/>
              <p:nvPr/>
            </p:nvSpPr>
            <p:spPr>
              <a:xfrm>
                <a:off x="8471530" y="1939948"/>
                <a:ext cx="24603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863E284-26A8-E04E-0139-F0F63EA84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1530" y="1939948"/>
                <a:ext cx="2460319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27CA14E-AD05-15EF-8ABC-C0EEF9414AB1}"/>
                  </a:ext>
                </a:extLst>
              </p:cNvPr>
              <p:cNvSpPr txBox="1"/>
              <p:nvPr/>
            </p:nvSpPr>
            <p:spPr>
              <a:xfrm>
                <a:off x="7969914" y="1939948"/>
                <a:ext cx="541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27CA14E-AD05-15EF-8ABC-C0EEF9414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914" y="1939948"/>
                <a:ext cx="541694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3629BDF-DDC0-A9C6-694A-5EB2B8354BBF}"/>
                  </a:ext>
                </a:extLst>
              </p:cNvPr>
              <p:cNvSpPr/>
              <p:nvPr/>
            </p:nvSpPr>
            <p:spPr>
              <a:xfrm>
                <a:off x="6131421" y="2577774"/>
                <a:ext cx="25321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r>
                  <a:rPr lang="en-US" sz="2800" u="sng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3629BDF-DDC0-A9C6-694A-5EB2B8354B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421" y="2577774"/>
                <a:ext cx="2532181" cy="523220"/>
              </a:xfrm>
              <a:prstGeom prst="rect">
                <a:avLst/>
              </a:prstGeom>
              <a:blipFill>
                <a:blip r:embed="rId16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62427AF-AF73-0141-C2F6-0D1263C0CD21}"/>
                  </a:ext>
                </a:extLst>
              </p:cNvPr>
              <p:cNvSpPr/>
              <p:nvPr/>
            </p:nvSpPr>
            <p:spPr>
              <a:xfrm>
                <a:off x="6112962" y="3156461"/>
                <a:ext cx="5906092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n-US" sz="2800" dirty="0">
                    <a:solidFill>
                      <a:srgbClr val="002060"/>
                    </a:solidFill>
                  </a:rPr>
                  <a:t>Hence, the claim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(45%)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is valid at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significance.</a:t>
                </a:r>
                <a:endParaRPr lang="en-US" sz="2800" u="sng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62427AF-AF73-0141-C2F6-0D1263C0CD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2962" y="3156461"/>
                <a:ext cx="5906092" cy="954107"/>
              </a:xfrm>
              <a:prstGeom prst="rect">
                <a:avLst/>
              </a:prstGeom>
              <a:blipFill>
                <a:blip r:embed="rId17"/>
                <a:stretch>
                  <a:fillRect l="-2167" t="-6410" r="-2064" b="-17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3041DC6E-74F0-AADF-A492-19E165219F3D}"/>
              </a:ext>
            </a:extLst>
          </p:cNvPr>
          <p:cNvGrpSpPr/>
          <p:nvPr/>
        </p:nvGrpSpPr>
        <p:grpSpPr>
          <a:xfrm>
            <a:off x="5893507" y="4335176"/>
            <a:ext cx="3527011" cy="2270161"/>
            <a:chOff x="5659775" y="3429000"/>
            <a:chExt cx="3527011" cy="227016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DD9D55B-499F-BED2-0897-E49591E5A4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97982" y="4714478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B02B69E-9E3F-8AB0-4C09-37845B56C090}"/>
                </a:ext>
              </a:extLst>
            </p:cNvPr>
            <p:cNvSpPr/>
            <p:nvPr/>
          </p:nvSpPr>
          <p:spPr>
            <a:xfrm flipH="1">
              <a:off x="8410363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0353472-A495-BFA8-386D-43690F2DEAE1}"/>
                </a:ext>
              </a:extLst>
            </p:cNvPr>
            <p:cNvCxnSpPr>
              <a:cxnSpLocks/>
              <a:stCxn id="28" idx="2"/>
            </p:cNvCxnSpPr>
            <p:nvPr/>
          </p:nvCxnSpPr>
          <p:spPr>
            <a:xfrm>
              <a:off x="7543377" y="3429001"/>
              <a:ext cx="21522" cy="1854430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92F628B-32D9-EF83-B6EE-391A6EBDF5F5}"/>
                </a:ext>
              </a:extLst>
            </p:cNvPr>
            <p:cNvSpPr/>
            <p:nvPr/>
          </p:nvSpPr>
          <p:spPr>
            <a:xfrm>
              <a:off x="6096000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2A15AED-6D51-357E-1A65-3FD666CC71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015" y="4718242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82FD2A1-C951-1DEF-1115-E4335C210A9F}"/>
                </a:ext>
              </a:extLst>
            </p:cNvPr>
            <p:cNvSpPr/>
            <p:nvPr/>
          </p:nvSpPr>
          <p:spPr>
            <a:xfrm>
              <a:off x="6096001" y="3429000"/>
              <a:ext cx="2920249" cy="1761286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912A1E7-4C0F-560B-A879-A32CE2F942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1" y="5287008"/>
              <a:ext cx="292024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3ED274A-2FB6-AF7C-E47A-011C3F51C315}"/>
                    </a:ext>
                  </a:extLst>
                </p:cNvPr>
                <p:cNvSpPr/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3ED274A-2FB6-AF7C-E47A-011C3F51C3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602AA99-8588-E61A-71FD-AF0C614C8F95}"/>
                    </a:ext>
                  </a:extLst>
                </p:cNvPr>
                <p:cNvSpPr/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602AA99-8588-E61A-71FD-AF0C614C8F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8884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9" grpId="0"/>
      <p:bldP spid="10" grpId="0"/>
      <p:bldP spid="11" grpId="0"/>
      <p:bldP spid="12" grpId="0"/>
      <p:bldP spid="13" grpId="0"/>
      <p:bldP spid="16" grpId="0"/>
      <p:bldP spid="17" grpId="0"/>
      <p:bldP spid="18" grpId="0"/>
      <p:bldP spid="19" grpId="0"/>
      <p:bldP spid="21" grpId="0"/>
      <p:bldP spid="22" grpId="0" animBg="1"/>
      <p:bldP spid="23" grpId="0"/>
      <p:bldP spid="24" grpId="0"/>
      <p:bldP spid="25" grpId="0"/>
      <p:bldP spid="26" grpId="0"/>
      <p:bldP spid="27" grpId="0"/>
      <p:bldP spid="4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98E9B-9462-3088-A52A-B30AB093E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3DF15C23-8247-8ECB-1B2D-66CA05E413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2136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r>
                  <a:rPr lang="en-US" dirty="0"/>
                  <a:t>A certain cubical die was thrown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9000</m:t>
                    </m:r>
                  </m:oMath>
                </a14:m>
                <a:r>
                  <a:rPr lang="en-US" dirty="0"/>
                  <a:t> times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was obtained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3240</m:t>
                    </m:r>
                  </m:oMath>
                </a14:m>
                <a:r>
                  <a:rPr lang="en-US" dirty="0"/>
                  <a:t> times. On the assumption of certain throwing, do the data indicate an unbiased die?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sub>
                            </m:sSub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=1.96 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3DF15C23-8247-8ECB-1B2D-66CA05E41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136766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6F0F19BA-EE46-AE7C-4F48-73DCB1708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4823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5EECF-1376-E995-1D15-073114A97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3A6C4-F88F-D25F-6453-2DA4AEF3B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3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005749F-DF3F-DE34-10D7-6ABE033045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2" y="711200"/>
                <a:ext cx="11979174" cy="5780391"/>
              </a:xfrm>
            </p:spPr>
            <p:txBody>
              <a:bodyPr/>
              <a:lstStyle/>
              <a:p>
                <a:r>
                  <a:rPr lang="en-US" dirty="0"/>
                  <a:t>A cubical die (a normal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-sided die) was thrown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9000</m:t>
                    </m:r>
                  </m:oMath>
                </a14:m>
                <a:r>
                  <a:rPr lang="en-US" dirty="0"/>
                  <a:t> times.</a:t>
                </a:r>
              </a:p>
              <a:p>
                <a:r>
                  <a:rPr lang="en-US" dirty="0"/>
                  <a:t>In these throws, the numbers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appeared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3240</m:t>
                    </m:r>
                  </m:oMath>
                </a14:m>
                <a:r>
                  <a:rPr lang="en-US" dirty="0"/>
                  <a:t> times.</a:t>
                </a:r>
              </a:p>
              <a:p>
                <a:r>
                  <a:rPr lang="en-US" dirty="0"/>
                  <a:t>For a fair (unbiased) die, each number has the same probability.</a:t>
                </a:r>
              </a:p>
              <a:p>
                <a:r>
                  <a:rPr lang="en-US" dirty="0"/>
                  <a:t>So, the probability of getting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0" dirty="0" smtClean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5 </m:t>
                          </m:r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 6</m:t>
                          </m:r>
                        </m:e>
                      </m:d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dirty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IN" dirty="0">
                              <a:latin typeface="Cambria Math" panose="02040503050406030204" pitchFamily="18" charset="0"/>
                            </a:rPr>
                            <m:t> 6 </m:t>
                          </m:r>
                        </m:den>
                      </m:f>
                      <m:r>
                        <a:rPr lang="en-IN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dirty="0">
                              <a:latin typeface="Cambria Math" panose="02040503050406030204" pitchFamily="18" charset="0"/>
                            </a:rPr>
                            <m:t> 3 </m:t>
                          </m:r>
                        </m:den>
                      </m:f>
                      <m:r>
                        <a:rPr lang="en-IN" dirty="0">
                          <a:latin typeface="Cambria Math" panose="02040503050406030204" pitchFamily="18" charset="0"/>
                        </a:rPr>
                        <m:t>=0.33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Now we want to check whether the die is unbiased (fair) or not.</a:t>
                </a:r>
              </a:p>
              <a:p>
                <a:r>
                  <a:rPr lang="en-US" dirty="0"/>
                  <a:t>So, we are checking whether the probability is equal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 3 </m:t>
                        </m:r>
                      </m:den>
                    </m:f>
                  </m:oMath>
                </a14:m>
                <a:r>
                  <a:rPr lang="en-US" dirty="0"/>
                  <a:t> or different from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 3 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005749F-DF3F-DE34-10D7-6ABE033045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2" y="711200"/>
                <a:ext cx="11979174" cy="5780391"/>
              </a:xfrm>
              <a:blipFill>
                <a:blip r:embed="rId2"/>
                <a:stretch>
                  <a:fillRect l="-9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64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4F4A4-8E90-FD76-A31E-773511C75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25E95460-A9A0-3F35-BF50-AA88AD8566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1976673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r>
                  <a:rPr lang="en-US" dirty="0"/>
                  <a:t>A certain cubical die was thrown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9000</m:t>
                    </m:r>
                  </m:oMath>
                </a14:m>
                <a:r>
                  <a:rPr lang="en-US" dirty="0"/>
                  <a:t> times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was obtained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3240</m:t>
                    </m:r>
                  </m:oMath>
                </a14:m>
                <a:r>
                  <a:rPr lang="en-US" dirty="0"/>
                  <a:t> times. On the assumption of certain throwing, do the data indicate an unbiased die?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sub>
                            </m:sSub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=1.96 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25E95460-A9A0-3F35-BF50-AA88AD856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1976673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5280F62-FD0A-B123-1FD4-5E11989AC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3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2EF858E-5A1F-86EC-5A33-90483B387D62}"/>
              </a:ext>
            </a:extLst>
          </p:cNvPr>
          <p:cNvSpPr/>
          <p:nvPr/>
        </p:nvSpPr>
        <p:spPr>
          <a:xfrm>
            <a:off x="131177" y="2974041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692217C-10ED-915A-7889-8595734ABF8E}"/>
                  </a:ext>
                </a:extLst>
              </p:cNvPr>
              <p:cNvSpPr/>
              <p:nvPr/>
            </p:nvSpPr>
            <p:spPr>
              <a:xfrm>
                <a:off x="1598064" y="2974041"/>
                <a:ext cx="172912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=9000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692217C-10ED-915A-7889-8595734ABF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064" y="2974041"/>
                <a:ext cx="172912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E534228-2ADB-4289-9055-6FA043AED09C}"/>
                  </a:ext>
                </a:extLst>
              </p:cNvPr>
              <p:cNvSpPr/>
              <p:nvPr/>
            </p:nvSpPr>
            <p:spPr>
              <a:xfrm>
                <a:off x="2590812" y="5622568"/>
                <a:ext cx="1399263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2 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E534228-2ADB-4289-9055-6FA043AED0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12" y="5622568"/>
                <a:ext cx="1399263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5AAE28B-95F3-3E1F-E2DB-C8893AA0A439}"/>
                  </a:ext>
                </a:extLst>
              </p:cNvPr>
              <p:cNvSpPr/>
              <p:nvPr/>
            </p:nvSpPr>
            <p:spPr>
              <a:xfrm>
                <a:off x="7797772" y="2974041"/>
                <a:ext cx="209903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5AAE28B-95F3-3E1F-E2DB-C8893AA0A4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772" y="2974041"/>
                <a:ext cx="209903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5246AC5-1D7A-2098-C965-5F171CD7B4D5}"/>
                  </a:ext>
                </a:extLst>
              </p:cNvPr>
              <p:cNvSpPr/>
              <p:nvPr/>
            </p:nvSpPr>
            <p:spPr>
              <a:xfrm>
                <a:off x="7797772" y="3724254"/>
                <a:ext cx="226740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=0.67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5246AC5-1D7A-2098-C965-5F171CD7B4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772" y="3724254"/>
                <a:ext cx="226740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D5864C-B072-56D5-0320-BB8A0E7CF7E8}"/>
                  </a:ext>
                </a:extLst>
              </p:cNvPr>
              <p:cNvSpPr/>
              <p:nvPr/>
            </p:nvSpPr>
            <p:spPr>
              <a:xfrm>
                <a:off x="3725070" y="5622568"/>
                <a:ext cx="1105174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1 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6D5864C-B072-56D5-0320-BB8A0E7CF7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070" y="5622568"/>
                <a:ext cx="1105174" cy="9017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4F69B3C-2BD0-FF07-482B-0DFCDA676CFA}"/>
                  </a:ext>
                </a:extLst>
              </p:cNvPr>
              <p:cNvSpPr/>
              <p:nvPr/>
            </p:nvSpPr>
            <p:spPr>
              <a:xfrm>
                <a:off x="4557588" y="5864591"/>
                <a:ext cx="13039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=0.33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4F69B3C-2BD0-FF07-482B-0DFCDA676C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7588" y="5864591"/>
                <a:ext cx="130394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064119-C653-9336-5A3C-78A7B79330E8}"/>
              </a:ext>
            </a:extLst>
          </p:cNvPr>
          <p:cNvCxnSpPr>
            <a:cxnSpLocks/>
          </p:cNvCxnSpPr>
          <p:nvPr/>
        </p:nvCxnSpPr>
        <p:spPr>
          <a:xfrm>
            <a:off x="7496897" y="2974041"/>
            <a:ext cx="0" cy="341377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EA3D52A-0D7E-FCEA-C48D-9204AECF3DE5}"/>
                  </a:ext>
                </a:extLst>
              </p:cNvPr>
              <p:cNvSpPr/>
              <p:nvPr/>
            </p:nvSpPr>
            <p:spPr>
              <a:xfrm>
                <a:off x="7850430" y="4518208"/>
                <a:ext cx="2109827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3240 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9000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EA3D52A-0D7E-FCEA-C48D-9204AECF3D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430" y="4518208"/>
                <a:ext cx="2109827" cy="9017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39F2014-45D9-AB82-5729-1BB302BCE815}"/>
                  </a:ext>
                </a:extLst>
              </p:cNvPr>
              <p:cNvSpPr/>
              <p:nvPr/>
            </p:nvSpPr>
            <p:spPr>
              <a:xfrm>
                <a:off x="9544608" y="4736674"/>
                <a:ext cx="13039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=0.36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39F2014-45D9-AB82-5729-1BB302BCE8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4608" y="4736674"/>
                <a:ext cx="1303947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8B2F37A-AFF9-2351-40E8-881013A8F36E}"/>
              </a:ext>
            </a:extLst>
          </p:cNvPr>
          <p:cNvCxnSpPr/>
          <p:nvPr/>
        </p:nvCxnSpPr>
        <p:spPr>
          <a:xfrm flipV="1">
            <a:off x="4896493" y="1507276"/>
            <a:ext cx="81557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8DFC357-3BE9-865F-FDB6-F34A1B7A88D4}"/>
              </a:ext>
            </a:extLst>
          </p:cNvPr>
          <p:cNvCxnSpPr/>
          <p:nvPr/>
        </p:nvCxnSpPr>
        <p:spPr>
          <a:xfrm flipV="1">
            <a:off x="7261080" y="1504228"/>
            <a:ext cx="891984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043A012-25F9-4FE8-AC02-4AF35AC7A806}"/>
              </a:ext>
            </a:extLst>
          </p:cNvPr>
          <p:cNvCxnSpPr/>
          <p:nvPr/>
        </p:nvCxnSpPr>
        <p:spPr>
          <a:xfrm flipV="1">
            <a:off x="8931475" y="1507276"/>
            <a:ext cx="205756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38E6CD1A-D3AB-4D52-D5E1-C06A0A5817BC}"/>
              </a:ext>
            </a:extLst>
          </p:cNvPr>
          <p:cNvGrpSpPr/>
          <p:nvPr/>
        </p:nvGrpSpPr>
        <p:grpSpPr>
          <a:xfrm>
            <a:off x="1587400" y="3529537"/>
            <a:ext cx="5909496" cy="1311962"/>
            <a:chOff x="1571070" y="3625912"/>
            <a:chExt cx="5909496" cy="131196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D5E8F2-ECB9-9095-6F00-0468D3DF8986}"/>
                </a:ext>
              </a:extLst>
            </p:cNvPr>
            <p:cNvSpPr/>
            <p:nvPr/>
          </p:nvSpPr>
          <p:spPr>
            <a:xfrm>
              <a:off x="1571070" y="3625912"/>
              <a:ext cx="5909496" cy="13119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i="0" dirty="0">
                  <a:solidFill>
                    <a:srgbClr val="002060"/>
                  </a:solidFill>
                  <a:latin typeface="+mj-lt"/>
                </a:rPr>
                <a:t>Since the die is assumed to be unbiased, the probability of each face is</a:t>
              </a:r>
              <a:endParaRPr lang="en-US" sz="2800" dirty="0">
                <a:solidFill>
                  <a:srgbClr val="00206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3C96EBA5-3B62-EB34-964C-BCF1DE907AE9}"/>
                    </a:ext>
                  </a:extLst>
                </p:cNvPr>
                <p:cNvSpPr/>
                <p:nvPr/>
              </p:nvSpPr>
              <p:spPr>
                <a:xfrm>
                  <a:off x="5768056" y="4282374"/>
                  <a:ext cx="1063142" cy="65550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IN" sz="280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b="0" i="1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3C96EBA5-3B62-EB34-964C-BCF1DE907A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8056" y="4282374"/>
                  <a:ext cx="1063142" cy="6555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C3E988C-091C-2BCE-C4F6-7567ECE293DA}"/>
                  </a:ext>
                </a:extLst>
              </p:cNvPr>
              <p:cNvSpPr/>
              <p:nvPr/>
            </p:nvSpPr>
            <p:spPr>
              <a:xfrm>
                <a:off x="1587400" y="4841499"/>
                <a:ext cx="5909496" cy="665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So, the probability of obtaining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 is</a:t>
                </a:r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C3E988C-091C-2BCE-C4F6-7567ECE293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400" y="4841499"/>
                <a:ext cx="5909496" cy="665631"/>
              </a:xfrm>
              <a:prstGeom prst="rect">
                <a:avLst/>
              </a:prstGeom>
              <a:blipFill>
                <a:blip r:embed="rId12"/>
                <a:stretch>
                  <a:fillRect l="-2062" b="-256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945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8EE46-13FC-EEB2-725E-E801226FC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3581F-049B-A89B-DF9C-ACAD41F83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3(Continue)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3C0DF5E-D39D-E316-8B05-24F0C3EC99A3}"/>
                  </a:ext>
                </a:extLst>
              </p:cNvPr>
              <p:cNvSpPr/>
              <p:nvPr/>
            </p:nvSpPr>
            <p:spPr>
              <a:xfrm>
                <a:off x="111878" y="843147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3C0DF5E-D39D-E316-8B05-24F0C3EC99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78" y="843147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7589AC-7B55-8F6B-7CC9-0AE24F783EB9}"/>
                  </a:ext>
                </a:extLst>
              </p:cNvPr>
              <p:cNvSpPr/>
              <p:nvPr/>
            </p:nvSpPr>
            <p:spPr>
              <a:xfrm>
                <a:off x="3251337" y="3830493"/>
                <a:ext cx="258110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𝐢𝐬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𝐤𝐧𝐨𝐰𝐧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7589AC-7B55-8F6B-7CC9-0AE24F783E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337" y="3830493"/>
                <a:ext cx="258110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1413E2C-2883-1D12-1BE8-FDF85E6AA8D0}"/>
              </a:ext>
            </a:extLst>
          </p:cNvPr>
          <p:cNvCxnSpPr>
            <a:cxnSpLocks/>
          </p:cNvCxnSpPr>
          <p:nvPr/>
        </p:nvCxnSpPr>
        <p:spPr>
          <a:xfrm>
            <a:off x="6060580" y="708524"/>
            <a:ext cx="0" cy="589681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82AAF1A-39E8-CA1E-8C47-21111DD3CD1F}"/>
                  </a:ext>
                </a:extLst>
              </p:cNvPr>
              <p:cNvSpPr/>
              <p:nvPr/>
            </p:nvSpPr>
            <p:spPr>
              <a:xfrm>
                <a:off x="897426" y="866910"/>
                <a:ext cx="16362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=0.33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82AAF1A-39E8-CA1E-8C47-21111DD3CD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26" y="866910"/>
                <a:ext cx="163629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25E1697-709A-3132-0CA8-E4AA1B7EB8B5}"/>
                  </a:ext>
                </a:extLst>
              </p:cNvPr>
              <p:cNvSpPr/>
              <p:nvPr/>
            </p:nvSpPr>
            <p:spPr>
              <a:xfrm>
                <a:off x="123912" y="1504104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25E1697-709A-3132-0CA8-E4AA1B7EB8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12" y="1504104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82E998A-DBA0-AD8E-06C3-BACD29266409}"/>
                  </a:ext>
                </a:extLst>
              </p:cNvPr>
              <p:cNvSpPr/>
              <p:nvPr/>
            </p:nvSpPr>
            <p:spPr>
              <a:xfrm>
                <a:off x="888894" y="1527867"/>
                <a:ext cx="16362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0.33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82E998A-DBA0-AD8E-06C3-BACD292664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94" y="1527867"/>
                <a:ext cx="163629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D61F233-9450-12A2-F1F0-EA71FB4BEB41}"/>
                  </a:ext>
                </a:extLst>
              </p:cNvPr>
              <p:cNvSpPr/>
              <p:nvPr/>
            </p:nvSpPr>
            <p:spPr>
              <a:xfrm>
                <a:off x="146772" y="2159462"/>
                <a:ext cx="244293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D61F233-9450-12A2-F1F0-EA71FB4BEB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72" y="2159462"/>
                <a:ext cx="244293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C97C1510-5264-89C7-257D-403A92A2C948}"/>
              </a:ext>
            </a:extLst>
          </p:cNvPr>
          <p:cNvSpPr/>
          <p:nvPr/>
        </p:nvSpPr>
        <p:spPr>
          <a:xfrm>
            <a:off x="154486" y="2879250"/>
            <a:ext cx="10474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Test :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8A9D53-8CDA-E625-9C1D-C53245B9CDD1}"/>
                  </a:ext>
                </a:extLst>
              </p:cNvPr>
              <p:cNvSpPr txBox="1"/>
              <p:nvPr/>
            </p:nvSpPr>
            <p:spPr>
              <a:xfrm>
                <a:off x="154486" y="3521973"/>
                <a:ext cx="2435224" cy="1434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8A9D53-8CDA-E625-9C1D-C53245B9C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86" y="3521973"/>
                <a:ext cx="2435224" cy="14348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300484-8238-53DA-2F0A-A57AB1595C96}"/>
                  </a:ext>
                </a:extLst>
              </p:cNvPr>
              <p:cNvSpPr txBox="1"/>
              <p:nvPr/>
            </p:nvSpPr>
            <p:spPr>
              <a:xfrm>
                <a:off x="419229" y="5115940"/>
                <a:ext cx="3503120" cy="1434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0.36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0.33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0.33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67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9000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300484-8238-53DA-2F0A-A57AB1595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29" y="5115940"/>
                <a:ext cx="3503120" cy="14348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54D086B-9997-E10A-376F-CDBD6BFDD7DE}"/>
                  </a:ext>
                </a:extLst>
              </p:cNvPr>
              <p:cNvSpPr/>
              <p:nvPr/>
            </p:nvSpPr>
            <p:spPr>
              <a:xfrm>
                <a:off x="3701104" y="5338347"/>
                <a:ext cx="18160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=6.05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54D086B-9997-E10A-376F-CDBD6BFDD7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104" y="5338347"/>
                <a:ext cx="181603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11DA6192-98C7-D645-1E81-65B63B0E8C85}"/>
              </a:ext>
            </a:extLst>
          </p:cNvPr>
          <p:cNvSpPr/>
          <p:nvPr/>
        </p:nvSpPr>
        <p:spPr>
          <a:xfrm>
            <a:off x="6131421" y="85530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</a:t>
            </a:r>
            <a:r>
              <a:rPr lang="en-US" sz="2800" dirty="0">
                <a:solidFill>
                  <a:srgbClr val="002060"/>
                </a:solidFill>
              </a:rPr>
              <a:t>: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BCEBE7-0D94-93A1-AF23-9FF71F9E50AE}"/>
                  </a:ext>
                </a:extLst>
              </p:cNvPr>
              <p:cNvSpPr txBox="1"/>
              <p:nvPr/>
            </p:nvSpPr>
            <p:spPr>
              <a:xfrm>
                <a:off x="8238700" y="866910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BCEBE7-0D94-93A1-AF23-9FF71F9E5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8700" y="866910"/>
                <a:ext cx="269747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5FAF328A-BDEB-7735-0A98-932AEC623096}"/>
              </a:ext>
            </a:extLst>
          </p:cNvPr>
          <p:cNvSpPr/>
          <p:nvPr/>
        </p:nvSpPr>
        <p:spPr>
          <a:xfrm>
            <a:off x="2488140" y="1516437"/>
            <a:ext cx="23353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(die is biased)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AA1864-1B9B-0A53-56DE-F55E2A3FB6BB}"/>
              </a:ext>
            </a:extLst>
          </p:cNvPr>
          <p:cNvSpPr/>
          <p:nvPr/>
        </p:nvSpPr>
        <p:spPr>
          <a:xfrm>
            <a:off x="6131421" y="1522631"/>
            <a:ext cx="19735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44E0EAC-5FA8-D9F2-C6BF-7BC23C6B7842}"/>
                  </a:ext>
                </a:extLst>
              </p:cNvPr>
              <p:cNvSpPr txBox="1"/>
              <p:nvPr/>
            </p:nvSpPr>
            <p:spPr>
              <a:xfrm>
                <a:off x="6011853" y="2157310"/>
                <a:ext cx="21277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44E0EAC-5FA8-D9F2-C6BF-7BC23C6B7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853" y="2157310"/>
                <a:ext cx="212779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50114F-127A-6848-82B9-D870090B7D36}"/>
                  </a:ext>
                </a:extLst>
              </p:cNvPr>
              <p:cNvSpPr txBox="1"/>
              <p:nvPr/>
            </p:nvSpPr>
            <p:spPr>
              <a:xfrm>
                <a:off x="8415171" y="2140513"/>
                <a:ext cx="4430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250114F-127A-6848-82B9-D870090B7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5171" y="2140513"/>
                <a:ext cx="443090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F5ADA74-8C74-EB06-ABDE-73F15E05B7A5}"/>
                  </a:ext>
                </a:extLst>
              </p:cNvPr>
              <p:cNvSpPr txBox="1"/>
              <p:nvPr/>
            </p:nvSpPr>
            <p:spPr>
              <a:xfrm>
                <a:off x="8003371" y="2123020"/>
                <a:ext cx="541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F5ADA74-8C74-EB06-ABDE-73F15E05B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371" y="2123020"/>
                <a:ext cx="541694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2153D9B-DDBE-9095-CC48-DA7FEF9DCAA8}"/>
                  </a:ext>
                </a:extLst>
              </p:cNvPr>
              <p:cNvSpPr/>
              <p:nvPr/>
            </p:nvSpPr>
            <p:spPr>
              <a:xfrm>
                <a:off x="6104535" y="2837015"/>
                <a:ext cx="25321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u="sng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2153D9B-DDBE-9095-CC48-DA7FEF9DCA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535" y="2837015"/>
                <a:ext cx="2532181" cy="523220"/>
              </a:xfrm>
              <a:prstGeom prst="rect">
                <a:avLst/>
              </a:prstGeom>
              <a:blipFill>
                <a:blip r:embed="rId1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29CF46E-3D0A-B149-EB90-C88FBA97E853}"/>
                  </a:ext>
                </a:extLst>
              </p:cNvPr>
              <p:cNvSpPr/>
              <p:nvPr/>
            </p:nvSpPr>
            <p:spPr>
              <a:xfrm>
                <a:off x="6131422" y="3506630"/>
                <a:ext cx="5989739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n-IN" sz="2800" dirty="0">
                    <a:solidFill>
                      <a:srgbClr val="002060"/>
                    </a:solidFill>
                  </a:rPr>
                  <a:t>Hence, </a:t>
                </a:r>
                <a:r>
                  <a:rPr lang="en-US" sz="2800" dirty="0">
                    <a:solidFill>
                      <a:srgbClr val="002060"/>
                    </a:solidFill>
                  </a:rPr>
                  <a:t>The die is biased 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significance.</a:t>
                </a:r>
                <a:r>
                  <a:rPr lang="en-US" sz="2800" u="sng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29CF46E-3D0A-B149-EB90-C88FBA97E8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422" y="3506630"/>
                <a:ext cx="5989739" cy="954107"/>
              </a:xfrm>
              <a:prstGeom prst="rect">
                <a:avLst/>
              </a:prstGeom>
              <a:blipFill>
                <a:blip r:embed="rId16"/>
                <a:stretch>
                  <a:fillRect l="-2138" t="-5732" r="-2037" b="-171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81F5527-1F04-0CB9-994C-3886F5FB6A5A}"/>
              </a:ext>
            </a:extLst>
          </p:cNvPr>
          <p:cNvSpPr/>
          <p:nvPr/>
        </p:nvSpPr>
        <p:spPr>
          <a:xfrm>
            <a:off x="2480608" y="858032"/>
            <a:ext cx="268477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(die is unbiased)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2C852AD-B2D2-D17E-B070-19021ED241C9}"/>
              </a:ext>
            </a:extLst>
          </p:cNvPr>
          <p:cNvGrpSpPr/>
          <p:nvPr/>
        </p:nvGrpSpPr>
        <p:grpSpPr>
          <a:xfrm>
            <a:off x="6288715" y="4395836"/>
            <a:ext cx="3527011" cy="2270161"/>
            <a:chOff x="5659775" y="3429000"/>
            <a:chExt cx="3527011" cy="227016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1BD5141-91A8-1D07-B4D9-CB701810EB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95396" y="4698174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F062B8A-CE82-8010-AA7E-AC46378065EB}"/>
                </a:ext>
              </a:extLst>
            </p:cNvPr>
            <p:cNvSpPr/>
            <p:nvPr/>
          </p:nvSpPr>
          <p:spPr>
            <a:xfrm flipH="1">
              <a:off x="8414126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110AEDC-1900-C2FE-670B-4B730351B835}"/>
                </a:ext>
              </a:extLst>
            </p:cNvPr>
            <p:cNvCxnSpPr>
              <a:cxnSpLocks/>
              <a:stCxn id="30" idx="2"/>
            </p:cNvCxnSpPr>
            <p:nvPr/>
          </p:nvCxnSpPr>
          <p:spPr>
            <a:xfrm>
              <a:off x="7543377" y="3429001"/>
              <a:ext cx="21522" cy="1854430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86D96D8-46DF-E168-4E06-F8AAB61132CC}"/>
                </a:ext>
              </a:extLst>
            </p:cNvPr>
            <p:cNvSpPr/>
            <p:nvPr/>
          </p:nvSpPr>
          <p:spPr>
            <a:xfrm>
              <a:off x="6096000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EFE941F-58C8-5613-157A-3DE5A03659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015" y="4718242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2C5C583-5329-787B-A3D2-16D46D9197E0}"/>
                </a:ext>
              </a:extLst>
            </p:cNvPr>
            <p:cNvSpPr/>
            <p:nvPr/>
          </p:nvSpPr>
          <p:spPr>
            <a:xfrm>
              <a:off x="6096001" y="3429000"/>
              <a:ext cx="2920249" cy="1761286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2DD211C-1EAA-2C63-3A13-4CB0D78E6D6D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1" y="5287008"/>
              <a:ext cx="292024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A1D95C08-0899-6EDB-7632-B57BB3726E91}"/>
                    </a:ext>
                  </a:extLst>
                </p:cNvPr>
                <p:cNvSpPr/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A1D95C08-0899-6EDB-7632-B57BB3726E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01B033D-CCD1-8910-E88F-31E38A6DBCE9}"/>
                    </a:ext>
                  </a:extLst>
                </p:cNvPr>
                <p:cNvSpPr/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F01B033D-CCD1-8910-E88F-31E38A6DBC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35598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9" grpId="0"/>
      <p:bldP spid="10" grpId="0"/>
      <p:bldP spid="11" grpId="0"/>
      <p:bldP spid="12" grpId="0"/>
      <p:bldP spid="13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4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8EC5D-0B15-A762-C983-81A70A50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3F07E4CE-2C18-9356-1DD6-CCEFCD4851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2759032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A manufacturer claimed that at least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of the equipment which he supplied to a factory conformed to specification. An examination of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US" dirty="0"/>
                  <a:t> pieces of equipment revealed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lang="en-US" dirty="0"/>
                  <a:t> were faulty. Test this claim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level of significance.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1.645 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3F07E4CE-2C18-9356-1DD6-CCEFCD4851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759032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F75721F-E81C-3378-A358-740D527A8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332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E67F-6DA5-520B-C48F-0CFB00B05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B78B-A1BB-ED36-17AF-E9D0D3E4A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6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0B472ED-AAC6-9A04-DF1F-B81B9E1894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2" y="711200"/>
                <a:ext cx="11979174" cy="5780391"/>
              </a:xfrm>
            </p:spPr>
            <p:txBody>
              <a:bodyPr/>
              <a:lstStyle/>
              <a:p>
                <a:r>
                  <a:rPr lang="en-US" dirty="0"/>
                  <a:t>A manufacturer claims that at least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of the equipment he supplies meet the required specifications (i.e., they are not faulty).</a:t>
                </a:r>
              </a:p>
              <a:p>
                <a:r>
                  <a:rPr lang="en-US" dirty="0"/>
                  <a:t>To check this claim,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US" dirty="0"/>
                  <a:t> pieces of equipment is inspected.</a:t>
                </a:r>
              </a:p>
              <a:p>
                <a:r>
                  <a:rPr lang="en-US" dirty="0"/>
                  <a:t>In this sample,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lang="en-US" dirty="0"/>
                  <a:t> pieces are found to be faulty, which means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182</m:t>
                    </m:r>
                  </m:oMath>
                </a14:m>
                <a:r>
                  <a:rPr lang="en-US" dirty="0"/>
                  <a:t> pieces meet the specifications.</a:t>
                </a:r>
              </a:p>
              <a:p>
                <a:r>
                  <a:rPr lang="en-US" dirty="0"/>
                  <a:t>Now we want to test whether the manufacturer’s claim that at least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of the equipment are good is reasonable or not, using hypothesis testing at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level of significance.</a:t>
                </a:r>
                <a:endParaRPr lang="en-IN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D0B472ED-AAC6-9A04-DF1F-B81B9E1894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2" y="711200"/>
                <a:ext cx="11979174" cy="5780391"/>
              </a:xfrm>
              <a:blipFill>
                <a:blip r:embed="rId2"/>
                <a:stretch>
                  <a:fillRect l="-967" r="-10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69622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523E7-DDB3-991C-8EA7-BBD3B113A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06759-DD7C-6B50-FA81-9DC022119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6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E5081AE-0426-D29B-644B-5033034759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2" y="711200"/>
                <a:ext cx="11979174" cy="5780391"/>
              </a:xfrm>
            </p:spPr>
            <p:txBody>
              <a:bodyPr/>
              <a:lstStyle/>
              <a:p>
                <a:r>
                  <a:rPr lang="en-US" b="1" dirty="0"/>
                  <a:t>Idea of Hypotheses:</a:t>
                </a:r>
              </a:p>
              <a:p>
                <a:pPr lvl="1"/>
                <a:r>
                  <a:rPr lang="en-US" dirty="0"/>
                  <a:t>Because the claim says “at least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”, we test it like this:</a:t>
                </a:r>
              </a:p>
              <a:p>
                <a:pPr lvl="2"/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b="0" i="0" dirty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≥0.95</m:t>
                    </m:r>
                  </m:oMath>
                </a14:m>
                <a:endParaRPr lang="en-US" dirty="0"/>
              </a:p>
              <a:p>
                <a:pPr marL="1166813" lvl="2" indent="0">
                  <a:buNone/>
                </a:pPr>
                <a:r>
                  <a:rPr lang="en-US" dirty="0"/>
                  <a:t>(The proportion of equipment that meet specifications is at least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, so the manufacturer's claim is correct.)</a:t>
                </a:r>
              </a:p>
              <a:p>
                <a:pPr lvl="2"/>
                <a:r>
                  <a:rPr lang="en-US" dirty="0"/>
                  <a:t>Alternative Hypothesis </a:t>
                </a:r>
                <a14:m>
                  <m:oMath xmlns:m="http://schemas.openxmlformats.org/officeDocument/2006/math">
                    <m:r>
                      <a:rPr lang="en-US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₁):</m:t>
                    </m:r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&lt;0.95</m:t>
                    </m:r>
                  </m:oMath>
                </a14:m>
                <a:endParaRPr lang="en-US" dirty="0"/>
              </a:p>
              <a:p>
                <a:pPr marL="1166813" indent="0">
                  <a:buNone/>
                </a:pPr>
                <a:r>
                  <a:rPr lang="en-US" dirty="0"/>
                  <a:t>(The proportion of good equipment is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, so the claim is not correct.)</a:t>
                </a:r>
                <a:endParaRPr lang="en-IN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E5081AE-0426-D29B-644B-5033034759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2" y="711200"/>
                <a:ext cx="11979174" cy="5780391"/>
              </a:xfrm>
              <a:blipFill>
                <a:blip r:embed="rId2"/>
                <a:stretch>
                  <a:fillRect l="-967" r="-10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732380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5753C-3387-6CC8-395F-46DA5A446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FC61D-69EB-B060-4996-42303DA23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6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F8B4784-B44D-1741-F903-2959EF7819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2" y="711200"/>
                <a:ext cx="11979174" cy="5780391"/>
              </a:xfrm>
            </p:spPr>
            <p:txBody>
              <a:bodyPr/>
              <a:lstStyle/>
              <a:p>
                <a:r>
                  <a:rPr lang="en-US" b="1" dirty="0"/>
                  <a:t>Idea of Hypotheses:</a:t>
                </a:r>
              </a:p>
              <a:p>
                <a:pPr lvl="1"/>
                <a:r>
                  <a:rPr lang="en-US" dirty="0"/>
                  <a:t>Even though the claim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r>
                  <a:rPr lang="en-US" dirty="0"/>
                  <a:t>, in calculations we always test the boundary value.</a:t>
                </a:r>
              </a:p>
              <a:p>
                <a:pPr lvl="2"/>
                <a:r>
                  <a:rPr lang="en-US" dirty="0"/>
                  <a:t>The boundary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So, we 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F8B4784-B44D-1741-F903-2959EF781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2" y="711200"/>
                <a:ext cx="11979174" cy="5780391"/>
              </a:xfrm>
              <a:blipFill>
                <a:blip r:embed="rId2"/>
                <a:stretch>
                  <a:fillRect l="-967" r="-10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84910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126E9-7080-F3CF-D5C5-6DABA998D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9E35DBB2-6D5B-F431-6524-4CC6B462FD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2759032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A manufacturer claimed that at least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of the equipment which he supplied to a factory conformed to specification. An examination of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US" dirty="0"/>
                  <a:t> pieces of equipment revealed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lang="en-US" dirty="0"/>
                  <a:t> were faulty. Test this claim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level of significance.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1.645 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9E35DBB2-6D5B-F431-6524-4CC6B462F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759032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BF61D07-83B9-29CD-D3FD-1DCAF6AD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6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3729B12-D519-3073-F352-E50990FAB59E}"/>
              </a:ext>
            </a:extLst>
          </p:cNvPr>
          <p:cNvSpPr/>
          <p:nvPr/>
        </p:nvSpPr>
        <p:spPr>
          <a:xfrm>
            <a:off x="131177" y="3764366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F8AA50C-10E9-7FA9-1868-301011F6751D}"/>
                  </a:ext>
                </a:extLst>
              </p:cNvPr>
              <p:cNvSpPr/>
              <p:nvPr/>
            </p:nvSpPr>
            <p:spPr>
              <a:xfrm>
                <a:off x="1607309" y="5025811"/>
                <a:ext cx="158901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=200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F8AA50C-10E9-7FA9-1868-301011F675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309" y="5025811"/>
                <a:ext cx="158901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50B940A-0BE1-1177-76BB-711D5ACD3516}"/>
                  </a:ext>
                </a:extLst>
              </p:cNvPr>
              <p:cNvSpPr/>
              <p:nvPr/>
            </p:nvSpPr>
            <p:spPr>
              <a:xfrm>
                <a:off x="1607309" y="5746710"/>
                <a:ext cx="618990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Sample proportion of good equipment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50B940A-0BE1-1177-76BB-711D5ACD35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309" y="5746710"/>
                <a:ext cx="6189900" cy="523220"/>
              </a:xfrm>
              <a:prstGeom prst="rect">
                <a:avLst/>
              </a:prstGeom>
              <a:blipFill>
                <a:blip r:embed="rId4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DC55045-FA3C-C6F4-E40F-4A6F870BF377}"/>
                  </a:ext>
                </a:extLst>
              </p:cNvPr>
              <p:cNvSpPr/>
              <p:nvPr/>
            </p:nvSpPr>
            <p:spPr>
              <a:xfrm>
                <a:off x="7567298" y="5499115"/>
                <a:ext cx="2302771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200−18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DC55045-FA3C-C6F4-E40F-4A6F870BF3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7298" y="5499115"/>
                <a:ext cx="2302771" cy="9017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446B378-B662-B0B7-4B66-9606D895F426}"/>
                  </a:ext>
                </a:extLst>
              </p:cNvPr>
              <p:cNvSpPr/>
              <p:nvPr/>
            </p:nvSpPr>
            <p:spPr>
              <a:xfrm>
                <a:off x="9430133" y="5727309"/>
                <a:ext cx="149759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0.91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446B378-B662-B0B7-4B66-9606D895F4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0133" y="5727309"/>
                <a:ext cx="149759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602E9C5-9BA3-A2D6-430E-8A077849149E}"/>
                  </a:ext>
                </a:extLst>
              </p:cNvPr>
              <p:cNvSpPr/>
              <p:nvPr/>
            </p:nvSpPr>
            <p:spPr>
              <a:xfrm>
                <a:off x="1607309" y="3764366"/>
                <a:ext cx="184601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602E9C5-9BA3-A2D6-430E-8A07784914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309" y="3764366"/>
                <a:ext cx="184601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DC8ACB-0183-2603-94A6-79D2738A5433}"/>
                  </a:ext>
                </a:extLst>
              </p:cNvPr>
              <p:cNvSpPr/>
              <p:nvPr/>
            </p:nvSpPr>
            <p:spPr>
              <a:xfrm>
                <a:off x="1286780" y="4366338"/>
                <a:ext cx="323954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DC8ACB-0183-2603-94A6-79D2738A54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780" y="4366338"/>
                <a:ext cx="323954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5D5E702-662E-3EEA-D89B-D4CA3B45B7F0}"/>
              </a:ext>
            </a:extLst>
          </p:cNvPr>
          <p:cNvCxnSpPr/>
          <p:nvPr/>
        </p:nvCxnSpPr>
        <p:spPr>
          <a:xfrm flipV="1">
            <a:off x="5463027" y="1577380"/>
            <a:ext cx="73101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EEE6B1-6308-5EF0-0D11-410C34A19EE7}"/>
              </a:ext>
            </a:extLst>
          </p:cNvPr>
          <p:cNvCxnSpPr/>
          <p:nvPr/>
        </p:nvCxnSpPr>
        <p:spPr>
          <a:xfrm flipV="1">
            <a:off x="8154226" y="2248597"/>
            <a:ext cx="2365116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FB38B9-3C1E-06EC-304F-537DD0AA755A}"/>
              </a:ext>
            </a:extLst>
          </p:cNvPr>
          <p:cNvCxnSpPr/>
          <p:nvPr/>
        </p:nvCxnSpPr>
        <p:spPr>
          <a:xfrm flipV="1">
            <a:off x="3721763" y="2913061"/>
            <a:ext cx="2017023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18A3AC-0DCB-A3A9-4C36-BB45D83A0EA8}"/>
              </a:ext>
            </a:extLst>
          </p:cNvPr>
          <p:cNvCxnSpPr/>
          <p:nvPr/>
        </p:nvCxnSpPr>
        <p:spPr>
          <a:xfrm flipV="1">
            <a:off x="9888358" y="2248597"/>
            <a:ext cx="69554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404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BEC27-55B3-8EFF-064A-BAA0AEB8B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F1FB-D675-CD08-E538-9EF64A035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6(Continue)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82D6CB2-03CE-CD17-63AB-B4639A74AC1D}"/>
                  </a:ext>
                </a:extLst>
              </p:cNvPr>
              <p:cNvSpPr/>
              <p:nvPr/>
            </p:nvSpPr>
            <p:spPr>
              <a:xfrm>
                <a:off x="122530" y="807399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82D6CB2-03CE-CD17-63AB-B4639A74AC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30" y="807399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DA3A9F6-99ED-CA45-536F-70937B479919}"/>
                  </a:ext>
                </a:extLst>
              </p:cNvPr>
              <p:cNvSpPr/>
              <p:nvPr/>
            </p:nvSpPr>
            <p:spPr>
              <a:xfrm>
                <a:off x="3251337" y="3830493"/>
                <a:ext cx="258110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𝐢𝐬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𝐤𝐧𝐨𝐰𝐧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DA3A9F6-99ED-CA45-536F-70937B4799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337" y="3830493"/>
                <a:ext cx="258110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43F7453-8C69-070C-A5A1-64066F65D3D3}"/>
              </a:ext>
            </a:extLst>
          </p:cNvPr>
          <p:cNvCxnSpPr>
            <a:cxnSpLocks/>
          </p:cNvCxnSpPr>
          <p:nvPr/>
        </p:nvCxnSpPr>
        <p:spPr>
          <a:xfrm>
            <a:off x="5714204" y="708524"/>
            <a:ext cx="0" cy="589681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F7BE992-7FC6-7A25-FE00-8EC337BC30EA}"/>
                  </a:ext>
                </a:extLst>
              </p:cNvPr>
              <p:cNvSpPr/>
              <p:nvPr/>
            </p:nvSpPr>
            <p:spPr>
              <a:xfrm>
                <a:off x="908078" y="831162"/>
                <a:ext cx="16362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0.95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F7BE992-7FC6-7A25-FE00-8EC337BC30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78" y="831162"/>
                <a:ext cx="163629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9922E56-76CB-651C-9E25-4CF65616E70F}"/>
                  </a:ext>
                </a:extLst>
              </p:cNvPr>
              <p:cNvSpPr/>
              <p:nvPr/>
            </p:nvSpPr>
            <p:spPr>
              <a:xfrm>
                <a:off x="134564" y="1468356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9922E56-76CB-651C-9E25-4CF65616E7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64" y="1468356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F44CDD8-58B9-1D09-E78C-0D1ED4316657}"/>
                  </a:ext>
                </a:extLst>
              </p:cNvPr>
              <p:cNvSpPr/>
              <p:nvPr/>
            </p:nvSpPr>
            <p:spPr>
              <a:xfrm>
                <a:off x="920112" y="1492119"/>
                <a:ext cx="163629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0.95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F44CDD8-58B9-1D09-E78C-0D1ED43166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112" y="1492119"/>
                <a:ext cx="163629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950428B-02CB-6BD9-FFD0-A71EA457D805}"/>
                  </a:ext>
                </a:extLst>
              </p:cNvPr>
              <p:cNvSpPr/>
              <p:nvPr/>
            </p:nvSpPr>
            <p:spPr>
              <a:xfrm>
                <a:off x="157424" y="2123714"/>
                <a:ext cx="256304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950428B-02CB-6BD9-FFD0-A71EA457D8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24" y="2123714"/>
                <a:ext cx="256304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1C175A12-879A-4B0D-6B23-66293A480657}"/>
              </a:ext>
            </a:extLst>
          </p:cNvPr>
          <p:cNvSpPr/>
          <p:nvPr/>
        </p:nvSpPr>
        <p:spPr>
          <a:xfrm>
            <a:off x="154486" y="2835764"/>
            <a:ext cx="10474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Test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4BDE428-3025-A941-D4F8-478A4E749800}"/>
                  </a:ext>
                </a:extLst>
              </p:cNvPr>
              <p:cNvSpPr txBox="1"/>
              <p:nvPr/>
            </p:nvSpPr>
            <p:spPr>
              <a:xfrm>
                <a:off x="154486" y="3521973"/>
                <a:ext cx="2435224" cy="1434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4BDE428-3025-A941-D4F8-478A4E749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86" y="3521973"/>
                <a:ext cx="2435224" cy="14348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D2C9D6-A8A6-C7C1-AE9F-A1F647CB0F9E}"/>
                  </a:ext>
                </a:extLst>
              </p:cNvPr>
              <p:cNvSpPr txBox="1"/>
              <p:nvPr/>
            </p:nvSpPr>
            <p:spPr>
              <a:xfrm>
                <a:off x="419229" y="5115940"/>
                <a:ext cx="3503120" cy="1434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0.91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0.95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0.95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05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200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D2C9D6-A8A6-C7C1-AE9F-A1F647CB0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29" y="5115940"/>
                <a:ext cx="3503120" cy="14348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992D3F6-F5CA-8035-6608-EFFCDB0FA4FB}"/>
                  </a:ext>
                </a:extLst>
              </p:cNvPr>
              <p:cNvSpPr/>
              <p:nvPr/>
            </p:nvSpPr>
            <p:spPr>
              <a:xfrm>
                <a:off x="3784658" y="5333020"/>
                <a:ext cx="18160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=−2.59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992D3F6-F5CA-8035-6608-EFFCDB0FA4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658" y="5333020"/>
                <a:ext cx="181603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764EADE1-DAAE-E646-14B9-0BD76DB09F8C}"/>
              </a:ext>
            </a:extLst>
          </p:cNvPr>
          <p:cNvSpPr/>
          <p:nvPr/>
        </p:nvSpPr>
        <p:spPr>
          <a:xfrm>
            <a:off x="5785045" y="807399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002060"/>
                </a:solidFill>
              </a:rPr>
              <a:t>: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CFF581-9696-9E4F-CC0F-1546B6D5B9DE}"/>
                  </a:ext>
                </a:extLst>
              </p:cNvPr>
              <p:cNvSpPr txBox="1"/>
              <p:nvPr/>
            </p:nvSpPr>
            <p:spPr>
              <a:xfrm>
                <a:off x="8042908" y="807399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CFF581-9696-9E4F-CC0F-1546B6D5B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2908" y="807399"/>
                <a:ext cx="269747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AB9E9E85-6BEE-94F6-565F-324430B45C64}"/>
              </a:ext>
            </a:extLst>
          </p:cNvPr>
          <p:cNvSpPr/>
          <p:nvPr/>
        </p:nvSpPr>
        <p:spPr>
          <a:xfrm>
            <a:off x="5773966" y="1480689"/>
            <a:ext cx="19735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</a:t>
            </a:r>
            <a:r>
              <a:rPr lang="en-US" sz="2800" dirty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002060"/>
                </a:solidFill>
              </a:rPr>
              <a:t>: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A019734-1E2B-C21C-90F2-91BB66673513}"/>
                  </a:ext>
                </a:extLst>
              </p:cNvPr>
              <p:cNvSpPr txBox="1"/>
              <p:nvPr/>
            </p:nvSpPr>
            <p:spPr>
              <a:xfrm>
                <a:off x="5627302" y="2182696"/>
                <a:ext cx="21277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−2.59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A019734-1E2B-C21C-90F2-91BB66673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302" y="2182696"/>
                <a:ext cx="212779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CD00A5B-5CA8-0E33-F2A9-A7625FAC673F}"/>
                  </a:ext>
                </a:extLst>
              </p:cNvPr>
              <p:cNvSpPr txBox="1"/>
              <p:nvPr/>
            </p:nvSpPr>
            <p:spPr>
              <a:xfrm>
                <a:off x="7618820" y="2148406"/>
                <a:ext cx="541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CD00A5B-5CA8-0E33-F2A9-A7625FAC6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8820" y="2148406"/>
                <a:ext cx="54169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F45AEF5-8F33-B833-A039-3F355A77DE12}"/>
                  </a:ext>
                </a:extLst>
              </p:cNvPr>
              <p:cNvSpPr/>
              <p:nvPr/>
            </p:nvSpPr>
            <p:spPr>
              <a:xfrm>
                <a:off x="5759541" y="2835764"/>
                <a:ext cx="25321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r>
                  <a:rPr lang="en-US" sz="2800" u="sng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F45AEF5-8F33-B833-A039-3F355A77DE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9541" y="2835764"/>
                <a:ext cx="2532181" cy="523220"/>
              </a:xfrm>
              <a:prstGeom prst="rect">
                <a:avLst/>
              </a:prstGeom>
              <a:blipFill>
                <a:blip r:embed="rId1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1458FCB-CF7A-D515-2808-E33976571299}"/>
                  </a:ext>
                </a:extLst>
              </p:cNvPr>
              <p:cNvSpPr/>
              <p:nvPr/>
            </p:nvSpPr>
            <p:spPr>
              <a:xfrm>
                <a:off x="9468945" y="3299865"/>
                <a:ext cx="2542883" cy="32509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the manufacturer’s claim is not valid at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significance.</a:t>
                </a:r>
                <a:r>
                  <a:rPr lang="en-US" sz="2800" u="sng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1458FCB-CF7A-D515-2808-E339765712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8945" y="3299865"/>
                <a:ext cx="2542883" cy="3250955"/>
              </a:xfrm>
              <a:prstGeom prst="rect">
                <a:avLst/>
              </a:prstGeom>
              <a:blipFill>
                <a:blip r:embed="rId15"/>
                <a:stretch>
                  <a:fillRect l="-4796" r="-5036" b="-43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4CAEC-FF70-084E-BB4B-20084CB1DC9E}"/>
                  </a:ext>
                </a:extLst>
              </p:cNvPr>
              <p:cNvSpPr txBox="1"/>
              <p:nvPr/>
            </p:nvSpPr>
            <p:spPr>
              <a:xfrm>
                <a:off x="7987244" y="2151213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4CAEC-FF70-084E-BB4B-20084CB1D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7244" y="2151213"/>
                <a:ext cx="2697479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2740B83B-4679-DD35-0747-180CACF330FE}"/>
              </a:ext>
            </a:extLst>
          </p:cNvPr>
          <p:cNvSpPr/>
          <p:nvPr/>
        </p:nvSpPr>
        <p:spPr>
          <a:xfrm>
            <a:off x="2498792" y="1480689"/>
            <a:ext cx="30024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(left tailed test)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13EA60B-1C29-8439-2E47-C2D3031D8724}"/>
              </a:ext>
            </a:extLst>
          </p:cNvPr>
          <p:cNvGrpSpPr/>
          <p:nvPr/>
        </p:nvGrpSpPr>
        <p:grpSpPr>
          <a:xfrm>
            <a:off x="5857029" y="3830493"/>
            <a:ext cx="3443069" cy="2699603"/>
            <a:chOff x="5857029" y="3830493"/>
            <a:chExt cx="3443069" cy="269960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97B80A6-457B-44A3-B0ED-0D0E0A3A46AB}"/>
                </a:ext>
              </a:extLst>
            </p:cNvPr>
            <p:cNvGrpSpPr/>
            <p:nvPr/>
          </p:nvGrpSpPr>
          <p:grpSpPr>
            <a:xfrm>
              <a:off x="5914363" y="3830493"/>
              <a:ext cx="3385735" cy="2154174"/>
              <a:chOff x="6189671" y="3656930"/>
              <a:chExt cx="4018280" cy="2556631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D869712B-FDF8-4B08-9A51-DA7405867243}"/>
                  </a:ext>
                </a:extLst>
              </p:cNvPr>
              <p:cNvCxnSpPr>
                <a:cxnSpLocks/>
                <a:stCxn id="33" idx="2"/>
              </p:cNvCxnSpPr>
              <p:nvPr/>
            </p:nvCxnSpPr>
            <p:spPr>
              <a:xfrm>
                <a:off x="8181270" y="3656931"/>
                <a:ext cx="29615" cy="2551708"/>
              </a:xfrm>
              <a:prstGeom prst="line">
                <a:avLst/>
              </a:prstGeom>
              <a:ln w="57150"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6130355-2A3C-4C0F-BF98-B9E89A7306C2}"/>
                  </a:ext>
                </a:extLst>
              </p:cNvPr>
              <p:cNvSpPr/>
              <p:nvPr/>
            </p:nvSpPr>
            <p:spPr>
              <a:xfrm>
                <a:off x="6189671" y="5365974"/>
                <a:ext cx="831444" cy="842664"/>
              </a:xfrm>
              <a:custGeom>
                <a:avLst/>
                <a:gdLst>
                  <a:gd name="connsiteX0" fmla="*/ 831444 w 831444"/>
                  <a:gd name="connsiteY0" fmla="*/ 0 h 1001614"/>
                  <a:gd name="connsiteX1" fmla="*/ 831444 w 831444"/>
                  <a:gd name="connsiteY1" fmla="*/ 840902 h 1001614"/>
                  <a:gd name="connsiteX2" fmla="*/ 831444 w 831444"/>
                  <a:gd name="connsiteY2" fmla="*/ 1001614 h 1001614"/>
                  <a:gd name="connsiteX3" fmla="*/ 0 w 831444"/>
                  <a:gd name="connsiteY3" fmla="*/ 1001614 h 1001614"/>
                  <a:gd name="connsiteX4" fmla="*/ 0 w 831444"/>
                  <a:gd name="connsiteY4" fmla="*/ 840245 h 1001614"/>
                  <a:gd name="connsiteX5" fmla="*/ 779906 w 831444"/>
                  <a:gd name="connsiteY5" fmla="*/ 117944 h 1001614"/>
                  <a:gd name="connsiteX6" fmla="*/ 822581 w 831444"/>
                  <a:gd name="connsiteY6" fmla="*/ 21762 h 1001614"/>
                  <a:gd name="connsiteX7" fmla="*/ 831444 w 831444"/>
                  <a:gd name="connsiteY7" fmla="*/ 0 h 1001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1444" h="1001614">
                    <a:moveTo>
                      <a:pt x="831444" y="0"/>
                    </a:moveTo>
                    <a:lnTo>
                      <a:pt x="831444" y="840902"/>
                    </a:lnTo>
                    <a:lnTo>
                      <a:pt x="831444" y="1001614"/>
                    </a:lnTo>
                    <a:lnTo>
                      <a:pt x="0" y="1001614"/>
                    </a:lnTo>
                    <a:lnTo>
                      <a:pt x="0" y="840245"/>
                    </a:lnTo>
                    <a:cubicBezTo>
                      <a:pt x="347485" y="840652"/>
                      <a:pt x="571799" y="554667"/>
                      <a:pt x="779906" y="117944"/>
                    </a:cubicBezTo>
                    <a:cubicBezTo>
                      <a:pt x="792913" y="90649"/>
                      <a:pt x="807168" y="58344"/>
                      <a:pt x="822581" y="21762"/>
                    </a:cubicBezTo>
                    <a:lnTo>
                      <a:pt x="831444" y="0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76F3B37-CDE3-4EAA-8796-C3175C996D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08415" y="5430936"/>
                <a:ext cx="0" cy="7679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B931921C-376C-4E0B-893C-1915E356E7CA}"/>
                  </a:ext>
                </a:extLst>
              </p:cNvPr>
              <p:cNvSpPr/>
              <p:nvPr/>
            </p:nvSpPr>
            <p:spPr>
              <a:xfrm>
                <a:off x="6189673" y="3656930"/>
                <a:ext cx="4018278" cy="2423541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DFD8E08-8933-4EC3-A4D4-8FA66A01C3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89673" y="6213561"/>
                <a:ext cx="4018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528E637F-9E83-4A11-A11E-F3B1C91DE905}"/>
                    </a:ext>
                  </a:extLst>
                </p:cNvPr>
                <p:cNvSpPr/>
                <p:nvPr/>
              </p:nvSpPr>
              <p:spPr>
                <a:xfrm>
                  <a:off x="5857029" y="6006876"/>
                  <a:ext cx="181603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−1.645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528E637F-9E83-4A11-A11E-F3B1C91DE9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7029" y="6006876"/>
                  <a:ext cx="1816039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3659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9" grpId="0"/>
      <p:bldP spid="10" grpId="0"/>
      <p:bldP spid="11" grpId="0"/>
      <p:bldP spid="12" grpId="0"/>
      <p:bldP spid="13" grpId="0"/>
      <p:bldP spid="16" grpId="0"/>
      <p:bldP spid="17" grpId="0"/>
      <p:bldP spid="18" grpId="0"/>
      <p:bldP spid="19" grpId="0"/>
      <p:bldP spid="21" grpId="0"/>
      <p:bldP spid="23" grpId="0"/>
      <p:bldP spid="24" grpId="0"/>
      <p:bldP spid="26" grpId="0"/>
      <p:bldP spid="27" grpId="0"/>
      <p:bldP spid="28" grpId="0"/>
      <p:bldP spid="5" grpId="0"/>
      <p:bldP spid="6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E733C-75C6-2256-D85D-A3EC24BA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39D1AE72-43A9-F616-CE20-2A4B209CD5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281218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fatality rate of typhoid patients is believed to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17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26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. In a certain year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640</m:t>
                    </m:r>
                  </m:oMath>
                </a14:m>
                <a:r>
                  <a:rPr lang="en-US" dirty="0"/>
                  <a:t> patients suffering from typhoid were treated in a metropolitan hospital and only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lang="en-US" dirty="0"/>
                  <a:t> patients died. Can you consider the </a:t>
                </a:r>
                <a:r>
                  <a:rPr lang="en-US" b="1" dirty="0"/>
                  <a:t>hospital efficient </a:t>
                </a:r>
                <a:r>
                  <a:rPr lang="en-US" dirty="0"/>
                  <a:t>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level of significance?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33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39D1AE72-43A9-F616-CE20-2A4B209CD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812187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C7ED146-57F5-C54D-2C83-24C644F73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53248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935A8-4419-94CD-A532-7DFEE2083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106E1-17C1-AB13-5460-75307B1A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8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2143FD3-90AA-7614-AACD-2368FB7998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2" y="711200"/>
                <a:ext cx="11979174" cy="5777149"/>
              </a:xfrm>
            </p:spPr>
            <p:txBody>
              <a:bodyPr/>
              <a:lstStyle/>
              <a:p>
                <a:r>
                  <a:rPr lang="en-US" dirty="0"/>
                  <a:t>It is generally believed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17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26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of typhoid patients die from the disease.</a:t>
                </a:r>
              </a:p>
              <a:p>
                <a:pPr lvl="1"/>
                <a:r>
                  <a:rPr lang="en-US" dirty="0"/>
                  <a:t>This percentage is called the fatality rate.</a:t>
                </a:r>
              </a:p>
              <a:p>
                <a:r>
                  <a:rPr lang="en-US" dirty="0"/>
                  <a:t>Fatality rate means the percentage of patients who die from a disease among those who have that disease.</a:t>
                </a:r>
              </a:p>
              <a:p>
                <a:pPr lvl="1"/>
                <a:r>
                  <a:rPr lang="en-US" dirty="0"/>
                  <a:t>For example, if the fatality rate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17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26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, it means about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lang="en-US" dirty="0"/>
                  <a:t>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typhoid patients may die.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62143FD3-90AA-7614-AACD-2368FB7998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2" y="711200"/>
                <a:ext cx="11979174" cy="5777149"/>
              </a:xfrm>
              <a:blipFill>
                <a:blip r:embed="rId2"/>
                <a:stretch>
                  <a:fillRect l="-967" r="-10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892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445AD-66FF-DC0D-2827-73CF4F697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2CE0A-B207-E15E-6643-6C5E5F70A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8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240E05A0-C0B0-6328-4A9B-28F517B94C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2060820" cy="5913334"/>
              </a:xfrm>
            </p:spPr>
            <p:txBody>
              <a:bodyPr/>
              <a:lstStyle/>
              <a:p>
                <a:r>
                  <a:rPr lang="en-US" dirty="0"/>
                  <a:t>Now in a metropolitan hospital, during a certain year: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640</m:t>
                    </m:r>
                  </m:oMath>
                </a14:m>
                <a:r>
                  <a:rPr lang="en-US" dirty="0"/>
                  <a:t> typhoid patients were treated</a:t>
                </a:r>
              </a:p>
              <a:p>
                <a:pPr lvl="1"/>
                <a:r>
                  <a:rPr lang="en-US" dirty="0"/>
                  <a:t>Only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lang="en-US" dirty="0"/>
                  <a:t> patients died</a:t>
                </a:r>
              </a:p>
              <a:p>
                <a:r>
                  <a:rPr lang="en-US" dirty="0"/>
                  <a:t>Note that,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lang="en-US" dirty="0"/>
                  <a:t> deaths seem </a:t>
                </a:r>
                <a:r>
                  <a:rPr lang="en-US" b="1" dirty="0"/>
                  <a:t>fewer than expected</a:t>
                </a:r>
                <a:r>
                  <a:rPr lang="en-US" dirty="0"/>
                  <a:t> because</a:t>
                </a:r>
              </a:p>
              <a:p>
                <a:pPr lvl="1"/>
                <a:r>
                  <a:rPr lang="en-US" dirty="0"/>
                  <a:t>Usual fatality rate of typhoid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=17.26%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Number of patients treated in the hospital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=640</m:t>
                    </m:r>
                  </m:oMath>
                </a14:m>
                <a:endParaRPr lang="en-US" dirty="0"/>
              </a:p>
              <a:p>
                <a:pPr lvl="1" algn="ctr"/>
                <a:r>
                  <a:rPr lang="en-US" dirty="0"/>
                  <a:t>So, the expected number of deaths (if the hospital performs normally) would be: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640×0.1726≈110640×0.1726≈11</m:t>
                    </m:r>
                  </m:oMath>
                </a14:m>
                <a:r>
                  <a:rPr lang="en-US" dirty="0"/>
                  <a:t>0</a:t>
                </a:r>
              </a:p>
              <a:p>
                <a:pPr lvl="1"/>
                <a:r>
                  <a:rPr lang="en-US" dirty="0"/>
                  <a:t>So, about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110</m:t>
                    </m:r>
                  </m:oMath>
                </a14:m>
                <a:r>
                  <a:rPr lang="en-US" dirty="0"/>
                  <a:t> patients are expected to die according to the usual fatality rate.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240E05A0-C0B0-6328-4A9B-28F517B94C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2060820" cy="5913334"/>
              </a:xfrm>
              <a:blipFill>
                <a:blip r:embed="rId2"/>
                <a:stretch>
                  <a:fillRect l="-961" r="-1365" b="-7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010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07A2-A64A-068A-5E0A-8C8531D3D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35E2-8EC9-6713-3FB2-7BD74872C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8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0FBBEBF-51A9-59D8-DCE3-A2DA434CC5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lang="en-US" dirty="0"/>
                  <a:t> deaths seem fewer than expected, we want to check whether the hospital is performing better than usual.</a:t>
                </a:r>
              </a:p>
              <a:p>
                <a:r>
                  <a:rPr lang="en-US" dirty="0"/>
                  <a:t>What the question asks: Can you consider the hospital efficient?</a:t>
                </a:r>
              </a:p>
              <a:p>
                <a:pPr lvl="1" algn="l"/>
                <a:r>
                  <a:rPr lang="en-US" dirty="0"/>
                  <a:t>A hospital is efficient if fewer patients die than the usual fatality rate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17.26%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So, for the hospital to be efficient, the death rate must be </a:t>
                </a:r>
                <a:r>
                  <a:rPr lang="en-US" b="1" dirty="0"/>
                  <a:t>less than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17.26%.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​: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=0.1726</m:t>
                    </m:r>
                  </m:oMath>
                </a14:m>
                <a:r>
                  <a:rPr lang="en-US" dirty="0"/>
                  <a:t> (The hospital has the usual death rate.)</a:t>
                </a:r>
              </a:p>
              <a:p>
                <a:r>
                  <a:rPr lang="en-US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	​: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&lt;0.1726</m:t>
                    </m:r>
                  </m:oMath>
                </a14:m>
                <a:r>
                  <a:rPr lang="en-US" dirty="0"/>
                  <a:t> (The hospital has a lower death rate, so it is more efficient.)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A0FBBEBF-51A9-59D8-DCE3-A2DA434CC5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40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B8B2-6D7F-010F-0BC0-12EDE698C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B930A69-D74D-DEAD-5D86-EB9F1886EE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281218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fatality rate of typhoid patients is believed to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17.26%</m:t>
                    </m:r>
                  </m:oMath>
                </a14:m>
                <a:r>
                  <a:rPr lang="en-US" dirty="0"/>
                  <a:t>. In a certain year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640</m:t>
                    </m:r>
                  </m:oMath>
                </a14:m>
                <a:r>
                  <a:rPr lang="en-US" dirty="0"/>
                  <a:t> patients suffering from typhoid were treated in a metropolitan hospital and only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lang="en-US" dirty="0"/>
                  <a:t> patients died. Can you consider the </a:t>
                </a:r>
                <a:r>
                  <a:rPr lang="en-US" b="1" dirty="0"/>
                  <a:t>hospital efficient </a:t>
                </a:r>
                <a:r>
                  <a:rPr lang="en-US" dirty="0"/>
                  <a:t>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lang="en-US" dirty="0"/>
                  <a:t> level of significance?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2.33 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B930A69-D74D-DEAD-5D86-EB9F1886E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812187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DBA3730-F980-B798-596B-5E3624370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8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FD81651-1D03-920B-5A98-468423A7E7E6}"/>
              </a:ext>
            </a:extLst>
          </p:cNvPr>
          <p:cNvSpPr/>
          <p:nvPr/>
        </p:nvSpPr>
        <p:spPr>
          <a:xfrm>
            <a:off x="131177" y="384875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046313-2757-75EF-C527-BFC4B9670D49}"/>
                  </a:ext>
                </a:extLst>
              </p:cNvPr>
              <p:cNvSpPr/>
              <p:nvPr/>
            </p:nvSpPr>
            <p:spPr>
              <a:xfrm>
                <a:off x="1637027" y="5113869"/>
                <a:ext cx="153035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=640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046313-2757-75EF-C527-BFC4B9670D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027" y="5113869"/>
                <a:ext cx="153035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6AFA89B-BCE0-089B-E90E-40196A11C846}"/>
                  </a:ext>
                </a:extLst>
              </p:cNvPr>
              <p:cNvSpPr/>
              <p:nvPr/>
            </p:nvSpPr>
            <p:spPr>
              <a:xfrm>
                <a:off x="1637027" y="5785993"/>
                <a:ext cx="34391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Sample proportion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6AFA89B-BCE0-089B-E90E-40196A11C8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027" y="5785993"/>
                <a:ext cx="3439147" cy="523220"/>
              </a:xfrm>
              <a:prstGeom prst="rect">
                <a:avLst/>
              </a:prstGeom>
              <a:blipFill>
                <a:blip r:embed="rId4"/>
                <a:stretch>
                  <a:fillRect t="-10465" r="-1596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9A7279F-1E24-E02E-3C0A-E44E02353C25}"/>
                  </a:ext>
                </a:extLst>
              </p:cNvPr>
              <p:cNvSpPr/>
              <p:nvPr/>
            </p:nvSpPr>
            <p:spPr>
              <a:xfrm>
                <a:off x="4889279" y="5574915"/>
                <a:ext cx="1278057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63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640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9A7279F-1E24-E02E-3C0A-E44E02353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279" y="5574915"/>
                <a:ext cx="1278057" cy="9017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A25CD7F-8DC5-C669-4783-743CC22A04A6}"/>
                  </a:ext>
                </a:extLst>
              </p:cNvPr>
              <p:cNvSpPr/>
              <p:nvPr/>
            </p:nvSpPr>
            <p:spPr>
              <a:xfrm>
                <a:off x="5994403" y="5804576"/>
                <a:ext cx="17014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0.0984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A25CD7F-8DC5-C669-4783-743CC22A04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403" y="5804576"/>
                <a:ext cx="170149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E9F1BC4-9878-EAD1-B5A0-41F46BB1FE6C}"/>
                  </a:ext>
                </a:extLst>
              </p:cNvPr>
              <p:cNvSpPr/>
              <p:nvPr/>
            </p:nvSpPr>
            <p:spPr>
              <a:xfrm>
                <a:off x="1637027" y="3892346"/>
                <a:ext cx="200484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=0.1726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E9F1BC4-9878-EAD1-B5A0-41F46BB1FE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027" y="3892346"/>
                <a:ext cx="200484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2EA7E8B-DEEC-1B09-E826-CBD46C7C48BE}"/>
                  </a:ext>
                </a:extLst>
              </p:cNvPr>
              <p:cNvSpPr/>
              <p:nvPr/>
            </p:nvSpPr>
            <p:spPr>
              <a:xfrm>
                <a:off x="1304039" y="4481312"/>
                <a:ext cx="363388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=0.8274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2EA7E8B-DEEC-1B09-E826-CBD46C7C48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039" y="4481312"/>
                <a:ext cx="363388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0F4E9B-B28E-69DB-38D6-2E79B4E38996}"/>
              </a:ext>
            </a:extLst>
          </p:cNvPr>
          <p:cNvCxnSpPr>
            <a:cxnSpLocks/>
          </p:cNvCxnSpPr>
          <p:nvPr/>
        </p:nvCxnSpPr>
        <p:spPr>
          <a:xfrm>
            <a:off x="7695894" y="1643928"/>
            <a:ext cx="121464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65116C-3EFD-9971-B0B4-6DB62476388F}"/>
              </a:ext>
            </a:extLst>
          </p:cNvPr>
          <p:cNvCxnSpPr/>
          <p:nvPr/>
        </p:nvCxnSpPr>
        <p:spPr>
          <a:xfrm flipV="1">
            <a:off x="11387308" y="1643928"/>
            <a:ext cx="617256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B35E80-443D-538A-9C44-9A357248F549}"/>
              </a:ext>
            </a:extLst>
          </p:cNvPr>
          <p:cNvCxnSpPr/>
          <p:nvPr/>
        </p:nvCxnSpPr>
        <p:spPr>
          <a:xfrm flipV="1">
            <a:off x="11568835" y="2284516"/>
            <a:ext cx="43572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2464609-7652-16AD-4369-CC675AF82A36}"/>
              </a:ext>
            </a:extLst>
          </p:cNvPr>
          <p:cNvCxnSpPr/>
          <p:nvPr/>
        </p:nvCxnSpPr>
        <p:spPr>
          <a:xfrm flipV="1">
            <a:off x="240566" y="2943922"/>
            <a:ext cx="1807906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9884DCB-9A1E-F882-D4DF-9051FD97364A}"/>
              </a:ext>
            </a:extLst>
          </p:cNvPr>
          <p:cNvCxnSpPr/>
          <p:nvPr/>
        </p:nvCxnSpPr>
        <p:spPr>
          <a:xfrm flipV="1">
            <a:off x="240566" y="2292760"/>
            <a:ext cx="241265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A80CFAC-19A0-827E-B84F-1A856B09D2D4}"/>
              </a:ext>
            </a:extLst>
          </p:cNvPr>
          <p:cNvCxnSpPr/>
          <p:nvPr/>
        </p:nvCxnSpPr>
        <p:spPr>
          <a:xfrm flipV="1">
            <a:off x="733074" y="1643928"/>
            <a:ext cx="1807906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075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03BD9-D425-2D59-152F-17152FEF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D20D2-BF9E-9C67-D6A7-CC25C0F2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8(Continue)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2186554-027C-B80D-2894-39D74612C837}"/>
                  </a:ext>
                </a:extLst>
              </p:cNvPr>
              <p:cNvSpPr/>
              <p:nvPr/>
            </p:nvSpPr>
            <p:spPr>
              <a:xfrm>
                <a:off x="111877" y="853221"/>
                <a:ext cx="108827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2186554-027C-B80D-2894-39D74612C8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77" y="853221"/>
                <a:ext cx="108827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C2BC22D-12AD-BB08-FE1A-0A002AB1706A}"/>
                  </a:ext>
                </a:extLst>
              </p:cNvPr>
              <p:cNvSpPr/>
              <p:nvPr/>
            </p:nvSpPr>
            <p:spPr>
              <a:xfrm>
                <a:off x="3251337" y="3830493"/>
                <a:ext cx="258110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𝐢𝐬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𝐤𝐧𝐨𝐰𝐧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C2BC22D-12AD-BB08-FE1A-0A002AB170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337" y="3830493"/>
                <a:ext cx="258110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6202DB9-0004-84A7-FB81-0392259C56DD}"/>
              </a:ext>
            </a:extLst>
          </p:cNvPr>
          <p:cNvCxnSpPr>
            <a:cxnSpLocks/>
          </p:cNvCxnSpPr>
          <p:nvPr/>
        </p:nvCxnSpPr>
        <p:spPr>
          <a:xfrm>
            <a:off x="6060580" y="708524"/>
            <a:ext cx="0" cy="589681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2A4540F-6D00-53C5-695B-07DDDA36054D}"/>
                  </a:ext>
                </a:extLst>
              </p:cNvPr>
              <p:cNvSpPr/>
              <p:nvPr/>
            </p:nvSpPr>
            <p:spPr>
              <a:xfrm>
                <a:off x="897426" y="876984"/>
                <a:ext cx="206294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0.1726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2A4540F-6D00-53C5-695B-07DDDA360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26" y="876984"/>
                <a:ext cx="206294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BB323D5-0FEF-64FE-A43F-2D2B900C2D88}"/>
                  </a:ext>
                </a:extLst>
              </p:cNvPr>
              <p:cNvSpPr/>
              <p:nvPr/>
            </p:nvSpPr>
            <p:spPr>
              <a:xfrm>
                <a:off x="123912" y="154273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BB323D5-0FEF-64FE-A43F-2D2B900C2D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12" y="1542731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 b="-47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C3409A-35E8-0B74-9799-BC1158AD2C57}"/>
                  </a:ext>
                </a:extLst>
              </p:cNvPr>
              <p:cNvSpPr/>
              <p:nvPr/>
            </p:nvSpPr>
            <p:spPr>
              <a:xfrm>
                <a:off x="897426" y="1566494"/>
                <a:ext cx="215806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0.1726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C3409A-35E8-0B74-9799-BC1158AD2C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26" y="1566494"/>
                <a:ext cx="215806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DB0DB4C-B029-EC9C-4CB7-6BE83F92AA95}"/>
                  </a:ext>
                </a:extLst>
              </p:cNvPr>
              <p:cNvSpPr/>
              <p:nvPr/>
            </p:nvSpPr>
            <p:spPr>
              <a:xfrm>
                <a:off x="133681" y="2237280"/>
                <a:ext cx="228781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=1%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DB0DB4C-B029-EC9C-4CB7-6BE83F92AA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81" y="2237280"/>
                <a:ext cx="228781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9DFC5AC2-5309-DB4B-8AAF-DAE23E388B46}"/>
              </a:ext>
            </a:extLst>
          </p:cNvPr>
          <p:cNvSpPr/>
          <p:nvPr/>
        </p:nvSpPr>
        <p:spPr>
          <a:xfrm>
            <a:off x="152658" y="2943864"/>
            <a:ext cx="10474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Test :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6C938AA-F7EF-6257-A3F4-8793A65B1916}"/>
                  </a:ext>
                </a:extLst>
              </p:cNvPr>
              <p:cNvSpPr txBox="1"/>
              <p:nvPr/>
            </p:nvSpPr>
            <p:spPr>
              <a:xfrm>
                <a:off x="154486" y="3521973"/>
                <a:ext cx="2435224" cy="1434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6C938AA-F7EF-6257-A3F4-8793A65B1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86" y="3521973"/>
                <a:ext cx="2435224" cy="14348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B8DC2D-17F8-8C3E-C0B7-E77AB0D6EDA5}"/>
                  </a:ext>
                </a:extLst>
              </p:cNvPr>
              <p:cNvSpPr txBox="1"/>
              <p:nvPr/>
            </p:nvSpPr>
            <p:spPr>
              <a:xfrm>
                <a:off x="419229" y="5115940"/>
                <a:ext cx="3503120" cy="1434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0.0984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0.1726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0.1726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</m:t>
                                      </m:r>
                                      <m:r>
                                        <a:rPr lang="en-IN" sz="280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8274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640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B8DC2D-17F8-8C3E-C0B7-E77AB0D6E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29" y="5115940"/>
                <a:ext cx="3503120" cy="1434880"/>
              </a:xfrm>
              <a:prstGeom prst="rect">
                <a:avLst/>
              </a:prstGeom>
              <a:blipFill>
                <a:blip r:embed="rId9"/>
                <a:stretch>
                  <a:fillRect r="-113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4ECBCEC-7A3E-C66E-FB8C-4B574D569EC0}"/>
                  </a:ext>
                </a:extLst>
              </p:cNvPr>
              <p:cNvSpPr/>
              <p:nvPr/>
            </p:nvSpPr>
            <p:spPr>
              <a:xfrm>
                <a:off x="4299008" y="5333020"/>
                <a:ext cx="181603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=−4.97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4ECBCEC-7A3E-C66E-FB8C-4B574D569E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9008" y="5333020"/>
                <a:ext cx="181603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8A691141-5253-8FE4-38AA-8A998DD56683}"/>
              </a:ext>
            </a:extLst>
          </p:cNvPr>
          <p:cNvSpPr/>
          <p:nvPr/>
        </p:nvSpPr>
        <p:spPr>
          <a:xfrm>
            <a:off x="6131421" y="865304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FCA8F0-32DB-2E64-961B-6CA96F13D5F7}"/>
                  </a:ext>
                </a:extLst>
              </p:cNvPr>
              <p:cNvSpPr txBox="1"/>
              <p:nvPr/>
            </p:nvSpPr>
            <p:spPr>
              <a:xfrm>
                <a:off x="8221644" y="865304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.33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FCA8F0-32DB-2E64-961B-6CA96F13D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644" y="865304"/>
                <a:ext cx="269747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2E1B5CE8-DED2-CC12-F54F-0C988B0B8B99}"/>
              </a:ext>
            </a:extLst>
          </p:cNvPr>
          <p:cNvSpPr/>
          <p:nvPr/>
        </p:nvSpPr>
        <p:spPr>
          <a:xfrm>
            <a:off x="6101700" y="1548693"/>
            <a:ext cx="19735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5C616E7-527A-455D-7F23-140427E62243}"/>
                  </a:ext>
                </a:extLst>
              </p:cNvPr>
              <p:cNvSpPr txBox="1"/>
              <p:nvPr/>
            </p:nvSpPr>
            <p:spPr>
              <a:xfrm>
                <a:off x="6131421" y="2182417"/>
                <a:ext cx="21277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4.97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5C616E7-527A-455D-7F23-140427E62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421" y="2182417"/>
                <a:ext cx="212779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D260ECB-3315-937B-1D45-BCDEB78ED246}"/>
                  </a:ext>
                </a:extLst>
              </p:cNvPr>
              <p:cNvSpPr txBox="1"/>
              <p:nvPr/>
            </p:nvSpPr>
            <p:spPr>
              <a:xfrm>
                <a:off x="7940380" y="2149586"/>
                <a:ext cx="541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D260ECB-3315-937B-1D45-BCDEB78ED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0380" y="2149586"/>
                <a:ext cx="54169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BCF4FBE-5E0F-3DBE-E1B6-E35CFC26C955}"/>
                  </a:ext>
                </a:extLst>
              </p:cNvPr>
              <p:cNvSpPr/>
              <p:nvPr/>
            </p:nvSpPr>
            <p:spPr>
              <a:xfrm>
                <a:off x="6131421" y="2801302"/>
                <a:ext cx="25321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r>
                  <a:rPr lang="en-US" sz="2800" u="sng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CBCF4FBE-5E0F-3DBE-E1B6-E35CFC26C9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1421" y="2801302"/>
                <a:ext cx="2532181" cy="523220"/>
              </a:xfrm>
              <a:prstGeom prst="rect">
                <a:avLst/>
              </a:prstGeom>
              <a:blipFill>
                <a:blip r:embed="rId14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1C637C2-CC62-A1FD-11AB-6517EF5D6EA0}"/>
                  </a:ext>
                </a:extLst>
              </p:cNvPr>
              <p:cNvSpPr/>
              <p:nvPr/>
            </p:nvSpPr>
            <p:spPr>
              <a:xfrm>
                <a:off x="6060581" y="3459564"/>
                <a:ext cx="583244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i.e., The hospital is efficient at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LOS. </a:t>
                </a:r>
                <a:endParaRPr lang="en-US" sz="2800" u="sng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1C637C2-CC62-A1FD-11AB-6517EF5D6E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581" y="3459564"/>
                <a:ext cx="5832442" cy="523220"/>
              </a:xfrm>
              <a:prstGeom prst="rect">
                <a:avLst/>
              </a:prstGeom>
              <a:blipFill>
                <a:blip r:embed="rId15"/>
                <a:stretch>
                  <a:fillRect l="-2090" t="-11765" r="-209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B727B6-9BC4-B11C-34DB-6F3815BFCAAF}"/>
                  </a:ext>
                </a:extLst>
              </p:cNvPr>
              <p:cNvSpPr txBox="1"/>
              <p:nvPr/>
            </p:nvSpPr>
            <p:spPr>
              <a:xfrm>
                <a:off x="8636716" y="2176682"/>
                <a:ext cx="28391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−2.33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B727B6-9BC4-B11C-34DB-6F3815BFC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716" y="2176682"/>
                <a:ext cx="2839122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3E335544-5E46-6015-FCA4-CA4A846D460C}"/>
              </a:ext>
            </a:extLst>
          </p:cNvPr>
          <p:cNvSpPr/>
          <p:nvPr/>
        </p:nvSpPr>
        <p:spPr>
          <a:xfrm>
            <a:off x="3370235" y="1566494"/>
            <a:ext cx="24822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(left tailed test)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28F0C6-C3CA-75A6-F6C4-A38EB13BC530}"/>
              </a:ext>
            </a:extLst>
          </p:cNvPr>
          <p:cNvSpPr/>
          <p:nvPr/>
        </p:nvSpPr>
        <p:spPr>
          <a:xfrm>
            <a:off x="9186935" y="3964963"/>
            <a:ext cx="2898724" cy="2604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800" dirty="0">
                <a:solidFill>
                  <a:srgbClr val="002060"/>
                </a:solidFill>
              </a:rPr>
              <a:t>i.e., the hospital can be considered </a:t>
            </a:r>
            <a:r>
              <a:rPr lang="en-US" sz="2800" b="1" dirty="0">
                <a:solidFill>
                  <a:srgbClr val="002060"/>
                </a:solidFill>
              </a:rPr>
              <a:t>efficient in treating typhoid patients</a:t>
            </a:r>
            <a:r>
              <a:rPr lang="en-US" sz="2800" dirty="0">
                <a:solidFill>
                  <a:srgbClr val="002060"/>
                </a:solidFill>
              </a:rPr>
              <a:t>.</a:t>
            </a:r>
            <a:endParaRPr lang="en-US" sz="2800" u="sng" dirty="0">
              <a:solidFill>
                <a:srgbClr val="002060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DA1B700-A3B3-4258-BC44-A232400652B4}"/>
              </a:ext>
            </a:extLst>
          </p:cNvPr>
          <p:cNvGrpSpPr/>
          <p:nvPr/>
        </p:nvGrpSpPr>
        <p:grpSpPr>
          <a:xfrm>
            <a:off x="6268671" y="4340059"/>
            <a:ext cx="2920250" cy="1858008"/>
            <a:chOff x="6189671" y="3656930"/>
            <a:chExt cx="4018280" cy="2556631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55D3D36-1E92-47A9-92F0-4D711E57402D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>
              <a:off x="8181270" y="3656931"/>
              <a:ext cx="29615" cy="2551708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9CF9F0F-1292-4C91-B036-54A557EF74D4}"/>
                </a:ext>
              </a:extLst>
            </p:cNvPr>
            <p:cNvSpPr/>
            <p:nvPr/>
          </p:nvSpPr>
          <p:spPr>
            <a:xfrm>
              <a:off x="6189671" y="5365974"/>
              <a:ext cx="831444" cy="842664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980DC54-7246-4724-8F16-3929F5335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08415" y="5430936"/>
              <a:ext cx="0" cy="7679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D0512DC-C652-4C06-AA86-19698B1AB7BA}"/>
                </a:ext>
              </a:extLst>
            </p:cNvPr>
            <p:cNvSpPr/>
            <p:nvPr/>
          </p:nvSpPr>
          <p:spPr>
            <a:xfrm>
              <a:off x="6189673" y="3656930"/>
              <a:ext cx="4018278" cy="2423541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4E60D9D-12C7-40A7-82EB-7E8A95CF6725}"/>
                </a:ext>
              </a:extLst>
            </p:cNvPr>
            <p:cNvCxnSpPr>
              <a:cxnSpLocks/>
            </p:cNvCxnSpPr>
            <p:nvPr/>
          </p:nvCxnSpPr>
          <p:spPr>
            <a:xfrm>
              <a:off x="6189673" y="6213561"/>
              <a:ext cx="4018278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7647F0F-6403-4D40-9391-EB02B1AC302A}"/>
                  </a:ext>
                </a:extLst>
              </p:cNvPr>
              <p:cNvSpPr/>
              <p:nvPr/>
            </p:nvSpPr>
            <p:spPr>
              <a:xfrm>
                <a:off x="5832446" y="6148555"/>
                <a:ext cx="1816039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−2.33</m:t>
                      </m:r>
                    </m:oMath>
                  </m:oMathPara>
                </a14:m>
                <a:endParaRPr 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7647F0F-6403-4D40-9391-EB02B1AC3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446" y="6148555"/>
                <a:ext cx="1816039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829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9" grpId="0"/>
      <p:bldP spid="10" grpId="0"/>
      <p:bldP spid="11" grpId="0"/>
      <p:bldP spid="12" grpId="0"/>
      <p:bldP spid="13" grpId="0"/>
      <p:bldP spid="16" grpId="0"/>
      <p:bldP spid="17" grpId="0"/>
      <p:bldP spid="18" grpId="0"/>
      <p:bldP spid="19" grpId="0"/>
      <p:bldP spid="21" grpId="0"/>
      <p:bldP spid="23" grpId="0"/>
      <p:bldP spid="24" grpId="0"/>
      <p:bldP spid="26" grpId="0"/>
      <p:bldP spid="27" grpId="0"/>
      <p:bldP spid="28" grpId="0"/>
      <p:bldP spid="5" grpId="0"/>
      <p:bldP spid="6" grpId="0"/>
      <p:bldP spid="4" grpId="0"/>
      <p:bldP spid="34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ACB48-A08B-82F6-A7D2-E1BC83C3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8D93FA5-01D0-465E-95CC-5C79C485CD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222091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In a sample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lang="en-US" dirty="0"/>
                  <a:t> parts manufactured by a factory; the number of defective parts found to be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30</m:t>
                    </m:r>
                  </m:oMath>
                </a14:m>
                <a:r>
                  <a:rPr lang="en-US" dirty="0"/>
                  <a:t>. The company, however, claims that </a:t>
                </a:r>
                <a:r>
                  <a:rPr lang="en-US" b="1" dirty="0"/>
                  <a:t>at most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of their product is defective. </a:t>
                </a:r>
                <a:r>
                  <a:rPr lang="en-US" b="1" dirty="0"/>
                  <a:t>Is the claim tenable</a:t>
                </a:r>
                <a:r>
                  <a:rPr lang="en-US" dirty="0"/>
                  <a:t>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=1.645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8D93FA5-01D0-465E-95CC-5C79C485C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220919"/>
              </a:xfrm>
              <a:prstGeom prst="rect">
                <a:avLst/>
              </a:prstGeom>
              <a:blipFill>
                <a:blip r:embed="rId2"/>
                <a:stretch>
                  <a:fillRect l="-1074" r="-1074" b="-16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401E0677-9C8B-E403-BAEE-1262622FB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9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3">
                <a:extLst>
                  <a:ext uri="{FF2B5EF4-FFF2-40B4-BE49-F238E27FC236}">
                    <a16:creationId xmlns:a16="http://schemas.microsoft.com/office/drawing/2014/main" id="{63321450-997F-1413-0E7F-015CA39CF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3247881"/>
                <a:ext cx="11929641" cy="2741038"/>
              </a:xfrm>
            </p:spPr>
            <p:txBody>
              <a:bodyPr/>
              <a:lstStyle/>
              <a:p>
                <a:r>
                  <a:rPr lang="en-US" dirty="0"/>
                  <a:t>A factory claims that at most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of its products are defective. </a:t>
                </a:r>
              </a:p>
              <a:p>
                <a:pPr lvl="1"/>
                <a:r>
                  <a:rPr lang="en-US" dirty="0"/>
                  <a:t>This means the company believes that the population proportion of defective parts is not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(5%)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To check this claim, a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lang="en-US" dirty="0"/>
                  <a:t> parts is taken from the factory production.</a:t>
                </a:r>
              </a:p>
            </p:txBody>
          </p:sp>
        </mc:Choice>
        <mc:Fallback xmlns="">
          <p:sp>
            <p:nvSpPr>
              <p:cNvPr id="6" name="Content Placeholder 3">
                <a:extLst>
                  <a:ext uri="{FF2B5EF4-FFF2-40B4-BE49-F238E27FC236}">
                    <a16:creationId xmlns:a16="http://schemas.microsoft.com/office/drawing/2014/main" id="{63321450-997F-1413-0E7F-015CA39CF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3247881"/>
                <a:ext cx="11929641" cy="2741038"/>
              </a:xfrm>
              <a:blipFill>
                <a:blip r:embed="rId3"/>
                <a:stretch>
                  <a:fillRect l="-971" r="-1074" b="-6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288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28CF8-7250-6209-B3CD-76598733F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65E6E-644E-4ACA-6F99-4F0ED1FB6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9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4C00970-16B1-63A8-4727-DA7B1C2B70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201"/>
                <a:ext cx="11929641" cy="5590565"/>
              </a:xfrm>
            </p:spPr>
            <p:txBody>
              <a:bodyPr/>
              <a:lstStyle/>
              <a:p>
                <a:r>
                  <a:rPr lang="en-US" dirty="0"/>
                  <a:t>To check this claim, a sample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lang="en-US" dirty="0"/>
                  <a:t> parts is taken from the factory production.</a:t>
                </a:r>
              </a:p>
              <a:p>
                <a:pPr lvl="1"/>
                <a:r>
                  <a:rPr lang="en-US" dirty="0"/>
                  <a:t>In this sample,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 parts are found defective. </a:t>
                </a:r>
              </a:p>
              <a:p>
                <a:r>
                  <a:rPr lang="en-US" dirty="0"/>
                  <a:t>Now we want to determine whether the sample evidence supports the company’s claim or not.</a:t>
                </a:r>
              </a:p>
              <a:p>
                <a:r>
                  <a:rPr lang="en-US" dirty="0"/>
                  <a:t>Here the word tenable means acceptable, reasonable, or supported by the data.</a:t>
                </a:r>
              </a:p>
              <a:p>
                <a:r>
                  <a:rPr lang="en-US" dirty="0"/>
                  <a:t>So, the question is asking: </a:t>
                </a:r>
              </a:p>
              <a:p>
                <a:pPr lvl="1"/>
                <a:r>
                  <a:rPr lang="en-US" dirty="0"/>
                  <a:t>Based on the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lang="en-US" dirty="0"/>
                  <a:t> parts, can the company's claim that at most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of the products are defective be accepted (tenable), or should it be rejected?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4C00970-16B1-63A8-4727-DA7B1C2B7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201"/>
                <a:ext cx="11929641" cy="559056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784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D261B-7D40-1510-36AF-68C423700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35C40-A0AE-5D65-8093-EB3526759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9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Idea about Hypotheses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2292B58-5D1E-11EF-3B1C-B0476233C4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201"/>
                <a:ext cx="11929641" cy="5738237"/>
              </a:xfrm>
            </p:spPr>
            <p:txBody>
              <a:bodyPr/>
              <a:lstStyle/>
              <a:p>
                <a:r>
                  <a:rPr lang="en-US" dirty="0"/>
                  <a:t>Let P be the population proportion of defective parts.</a:t>
                </a:r>
              </a:p>
              <a:p>
                <a:r>
                  <a:rPr lang="en-US" dirty="0"/>
                  <a:t>The company claims that at most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of the products are defective, </a:t>
                </a:r>
              </a:p>
              <a:p>
                <a:pPr marL="273050" indent="0">
                  <a:buNone/>
                </a:pPr>
                <a:r>
                  <a:rPr lang="en-US" dirty="0"/>
                  <a:t>i.e.,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represents the company’s claim that the defective proportion does not exceed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. (This represents the boundary of the claim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≤0.05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&gt;0.05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means the proportion of defective parts is greater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, so the company’s claim is not true.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2292B58-5D1E-11EF-3B1C-B0476233C4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201"/>
                <a:ext cx="11929641" cy="5738237"/>
              </a:xfrm>
              <a:blipFill>
                <a:blip r:embed="rId2"/>
                <a:stretch>
                  <a:fillRect l="-971" r="-1074" b="-3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661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E18A6-C568-89A0-0105-2EA1C86F1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FDC946F-C2B9-1991-8758-3E7B859716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2220919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In a sample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lang="en-US" dirty="0"/>
                  <a:t> parts manufactured by a factory; the number of defective parts found to be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30</m:t>
                    </m:r>
                  </m:oMath>
                </a14:m>
                <a:r>
                  <a:rPr lang="en-US" dirty="0"/>
                  <a:t>. The company, however, claims that </a:t>
                </a:r>
                <a:r>
                  <a:rPr lang="en-US" b="1" dirty="0"/>
                  <a:t>at most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of their product is defective. </a:t>
                </a:r>
                <a:r>
                  <a:rPr lang="en-US" b="1" dirty="0"/>
                  <a:t>Is the claim tenable</a:t>
                </a:r>
                <a:r>
                  <a:rPr lang="en-US" dirty="0"/>
                  <a:t>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=1.645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FDC946F-C2B9-1991-8758-3E7B85971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220919"/>
              </a:xfrm>
              <a:prstGeom prst="rect">
                <a:avLst/>
              </a:prstGeom>
              <a:blipFill>
                <a:blip r:embed="rId2"/>
                <a:stretch>
                  <a:fillRect l="-1074" r="-1074" b="-16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6CD1978-1EF5-84DA-0B42-AD27C9EB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9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B440498-75AB-F880-4162-992E886D2DC6}"/>
              </a:ext>
            </a:extLst>
          </p:cNvPr>
          <p:cNvSpPr/>
          <p:nvPr/>
        </p:nvSpPr>
        <p:spPr>
          <a:xfrm>
            <a:off x="131177" y="3276524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AF843D9-EC07-7309-684C-AD13F9A9EBDD}"/>
                  </a:ext>
                </a:extLst>
              </p:cNvPr>
              <p:cNvSpPr/>
              <p:nvPr/>
            </p:nvSpPr>
            <p:spPr>
              <a:xfrm>
                <a:off x="1614167" y="3276524"/>
                <a:ext cx="153035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AF843D9-EC07-7309-684C-AD13F9A9EB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167" y="3276524"/>
                <a:ext cx="153035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690F7EF-E61D-A1FC-58AA-F92C5D1D644E}"/>
                  </a:ext>
                </a:extLst>
              </p:cNvPr>
              <p:cNvSpPr/>
              <p:nvPr/>
            </p:nvSpPr>
            <p:spPr>
              <a:xfrm>
                <a:off x="1625597" y="3938970"/>
                <a:ext cx="34391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Sample proportion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690F7EF-E61D-A1FC-58AA-F92C5D1D64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597" y="3938970"/>
                <a:ext cx="3439147" cy="523220"/>
              </a:xfrm>
              <a:prstGeom prst="rect">
                <a:avLst/>
              </a:prstGeom>
              <a:blipFill>
                <a:blip r:embed="rId4"/>
                <a:stretch>
                  <a:fillRect t="-10465" r="-1596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329EDDB-E28D-0D1D-F2ED-5363136EAF85}"/>
                  </a:ext>
                </a:extLst>
              </p:cNvPr>
              <p:cNvSpPr/>
              <p:nvPr/>
            </p:nvSpPr>
            <p:spPr>
              <a:xfrm>
                <a:off x="4907551" y="3724999"/>
                <a:ext cx="1230209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329EDDB-E28D-0D1D-F2ED-5363136EAF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551" y="3724999"/>
                <a:ext cx="1230209" cy="9017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A6C8DB3-809A-6184-AD55-FCF6D54464CF}"/>
                  </a:ext>
                </a:extLst>
              </p:cNvPr>
              <p:cNvSpPr/>
              <p:nvPr/>
            </p:nvSpPr>
            <p:spPr>
              <a:xfrm>
                <a:off x="5980567" y="3938970"/>
                <a:ext cx="150271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0.075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A6C8DB3-809A-6184-AD55-FCF6D54464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567" y="3938970"/>
                <a:ext cx="150271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6FCFB2A-A6C1-338A-18DB-519162058A15}"/>
                  </a:ext>
                </a:extLst>
              </p:cNvPr>
              <p:cNvSpPr/>
              <p:nvPr/>
            </p:nvSpPr>
            <p:spPr>
              <a:xfrm>
                <a:off x="1596413" y="4676713"/>
                <a:ext cx="160729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6FCFB2A-A6C1-338A-18DB-519162058A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413" y="4676713"/>
                <a:ext cx="160729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A919AB8-D684-F88B-2DF3-FFADED58B63F}"/>
                  </a:ext>
                </a:extLst>
              </p:cNvPr>
              <p:cNvSpPr/>
              <p:nvPr/>
            </p:nvSpPr>
            <p:spPr>
              <a:xfrm>
                <a:off x="1269152" y="5332816"/>
                <a:ext cx="323633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A919AB8-D684-F88B-2DF3-FFADED58B6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152" y="5332816"/>
                <a:ext cx="323633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827BC4-54EC-477E-B284-1FB09A0310FE}"/>
              </a:ext>
            </a:extLst>
          </p:cNvPr>
          <p:cNvCxnSpPr/>
          <p:nvPr/>
        </p:nvCxnSpPr>
        <p:spPr>
          <a:xfrm flipV="1">
            <a:off x="2285892" y="1702293"/>
            <a:ext cx="736811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D5C588-48D7-4AD9-A563-983C878B133B}"/>
              </a:ext>
            </a:extLst>
          </p:cNvPr>
          <p:cNvCxnSpPr/>
          <p:nvPr/>
        </p:nvCxnSpPr>
        <p:spPr>
          <a:xfrm flipV="1">
            <a:off x="1887903" y="2347022"/>
            <a:ext cx="49488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011AC5-AF8A-4DD2-ABB2-018B78BCFC04}"/>
              </a:ext>
            </a:extLst>
          </p:cNvPr>
          <p:cNvCxnSpPr/>
          <p:nvPr/>
        </p:nvCxnSpPr>
        <p:spPr>
          <a:xfrm flipV="1">
            <a:off x="9828144" y="1721703"/>
            <a:ext cx="2136691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18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342D3-93AB-8E45-0852-432CD34F5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C8E1-D502-61E5-143B-6F957DFA9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9(Continue)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5729421-A8AF-D38A-BE5D-651226F5362F}"/>
                  </a:ext>
                </a:extLst>
              </p:cNvPr>
              <p:cNvSpPr/>
              <p:nvPr/>
            </p:nvSpPr>
            <p:spPr>
              <a:xfrm>
                <a:off x="120135" y="884070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5729421-A8AF-D38A-BE5D-651226F53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35" y="884070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7B2E9C2-8438-9F7F-CF08-572FEB7E1FA8}"/>
                  </a:ext>
                </a:extLst>
              </p:cNvPr>
              <p:cNvSpPr/>
              <p:nvPr/>
            </p:nvSpPr>
            <p:spPr>
              <a:xfrm>
                <a:off x="3251337" y="3830493"/>
                <a:ext cx="258110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𝐢𝐬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𝐤𝐧𝐨𝐰𝐧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7B2E9C2-8438-9F7F-CF08-572FEB7E1F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337" y="3830493"/>
                <a:ext cx="258110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11890A1-D118-F924-65B4-F9054F6AE2E6}"/>
              </a:ext>
            </a:extLst>
          </p:cNvPr>
          <p:cNvCxnSpPr>
            <a:cxnSpLocks/>
          </p:cNvCxnSpPr>
          <p:nvPr/>
        </p:nvCxnSpPr>
        <p:spPr>
          <a:xfrm>
            <a:off x="6037720" y="708524"/>
            <a:ext cx="0" cy="589681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F1A8102-83C2-F8DC-46C4-4ADEAA5EBF0C}"/>
                  </a:ext>
                </a:extLst>
              </p:cNvPr>
              <p:cNvSpPr/>
              <p:nvPr/>
            </p:nvSpPr>
            <p:spPr>
              <a:xfrm>
                <a:off x="871393" y="907833"/>
                <a:ext cx="206294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F1A8102-83C2-F8DC-46C4-4ADEAA5EBF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93" y="907833"/>
                <a:ext cx="206294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839A196-6006-0A5A-4F43-E441331B3F0F}"/>
                  </a:ext>
                </a:extLst>
              </p:cNvPr>
              <p:cNvSpPr/>
              <p:nvPr/>
            </p:nvSpPr>
            <p:spPr>
              <a:xfrm>
                <a:off x="132169" y="1545027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839A196-6006-0A5A-4F43-E441331B3F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69" y="1545027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1A553F6-356A-7DA0-257C-E0F656F77F5A}"/>
                  </a:ext>
                </a:extLst>
              </p:cNvPr>
              <p:cNvSpPr/>
              <p:nvPr/>
            </p:nvSpPr>
            <p:spPr>
              <a:xfrm>
                <a:off x="871393" y="1568790"/>
                <a:ext cx="215806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1A553F6-356A-7DA0-257C-E0F656F77F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93" y="1568790"/>
                <a:ext cx="215806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9CBFEC1-F4E8-1EDA-CDDC-C8EAF13CB429}"/>
                  </a:ext>
                </a:extLst>
              </p:cNvPr>
              <p:cNvSpPr/>
              <p:nvPr/>
            </p:nvSpPr>
            <p:spPr>
              <a:xfrm>
                <a:off x="155028" y="2200385"/>
                <a:ext cx="263071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9CBFEC1-F4E8-1EDA-CDDC-C8EAF13CB4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28" y="2200385"/>
                <a:ext cx="263071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66D08243-73FB-959A-562C-0162443705B8}"/>
              </a:ext>
            </a:extLst>
          </p:cNvPr>
          <p:cNvSpPr/>
          <p:nvPr/>
        </p:nvSpPr>
        <p:spPr>
          <a:xfrm>
            <a:off x="154486" y="2844530"/>
            <a:ext cx="10474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Test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70C60D-04D5-7377-69FC-0794396D95B2}"/>
                  </a:ext>
                </a:extLst>
              </p:cNvPr>
              <p:cNvSpPr txBox="1"/>
              <p:nvPr/>
            </p:nvSpPr>
            <p:spPr>
              <a:xfrm>
                <a:off x="154486" y="3521973"/>
                <a:ext cx="2435224" cy="1434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70C60D-04D5-7377-69FC-0794396D9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86" y="3521973"/>
                <a:ext cx="2435224" cy="14348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8D18C7-68E5-71F6-2BAA-FEC2E277AF42}"/>
                  </a:ext>
                </a:extLst>
              </p:cNvPr>
              <p:cNvSpPr txBox="1"/>
              <p:nvPr/>
            </p:nvSpPr>
            <p:spPr>
              <a:xfrm>
                <a:off x="419229" y="5115940"/>
                <a:ext cx="3503120" cy="1434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0.075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05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0.05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.95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400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38D18C7-68E5-71F6-2BAA-FEC2E277A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29" y="5115940"/>
                <a:ext cx="3503120" cy="14348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B5518C3-C656-EAD4-F84D-B5E1A705D2C2}"/>
                  </a:ext>
                </a:extLst>
              </p:cNvPr>
              <p:cNvSpPr/>
              <p:nvPr/>
            </p:nvSpPr>
            <p:spPr>
              <a:xfrm>
                <a:off x="3746453" y="5339519"/>
                <a:ext cx="144623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=2.29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B5518C3-C656-EAD4-F84D-B5E1A705D2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453" y="5339519"/>
                <a:ext cx="144623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88662A7D-9C54-5A18-0961-3C6A5C4F1ED7}"/>
              </a:ext>
            </a:extLst>
          </p:cNvPr>
          <p:cNvSpPr/>
          <p:nvPr/>
        </p:nvSpPr>
        <p:spPr>
          <a:xfrm>
            <a:off x="6131421" y="874397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D60D837-694B-8999-153E-5E8D3118B663}"/>
                  </a:ext>
                </a:extLst>
              </p:cNvPr>
              <p:cNvSpPr txBox="1"/>
              <p:nvPr/>
            </p:nvSpPr>
            <p:spPr>
              <a:xfrm>
                <a:off x="8274772" y="877033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.645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D60D837-694B-8999-153E-5E8D3118B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772" y="877033"/>
                <a:ext cx="269747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9A6906E5-A411-7FA1-B35E-2E22E0D47571}"/>
              </a:ext>
            </a:extLst>
          </p:cNvPr>
          <p:cNvSpPr/>
          <p:nvPr/>
        </p:nvSpPr>
        <p:spPr>
          <a:xfrm>
            <a:off x="6131421" y="1568790"/>
            <a:ext cx="19735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659B9B-7D68-03BF-D587-CFA976CFB3B9}"/>
                  </a:ext>
                </a:extLst>
              </p:cNvPr>
              <p:cNvSpPr txBox="1"/>
              <p:nvPr/>
            </p:nvSpPr>
            <p:spPr>
              <a:xfrm>
                <a:off x="5977202" y="2289293"/>
                <a:ext cx="21277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2.29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659B9B-7D68-03BF-D587-CFA976CFB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7202" y="2289293"/>
                <a:ext cx="212779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FE6B8A-4E00-CACE-2122-0815CF735BC1}"/>
                  </a:ext>
                </a:extLst>
              </p:cNvPr>
              <p:cNvSpPr txBox="1"/>
              <p:nvPr/>
            </p:nvSpPr>
            <p:spPr>
              <a:xfrm>
                <a:off x="7957641" y="2265389"/>
                <a:ext cx="541694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  <a:p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FE6B8A-4E00-CACE-2122-0815CF735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7641" y="2265389"/>
                <a:ext cx="541694" cy="95410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F4AA6AF-7B6F-5AA5-56BC-BC33562FCEB2}"/>
                  </a:ext>
                </a:extLst>
              </p:cNvPr>
              <p:cNvSpPr/>
              <p:nvPr/>
            </p:nvSpPr>
            <p:spPr>
              <a:xfrm>
                <a:off x="6096000" y="2963721"/>
                <a:ext cx="25321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r>
                  <a:rPr lang="en-US" sz="2800" u="sng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FF4AA6AF-7B6F-5AA5-56BC-BC33562FCE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963721"/>
                <a:ext cx="2532181" cy="523220"/>
              </a:xfrm>
              <a:prstGeom prst="rect">
                <a:avLst/>
              </a:prstGeom>
              <a:blipFill>
                <a:blip r:embed="rId1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5A898B6-53B7-281D-394A-9E1274996242}"/>
                  </a:ext>
                </a:extLst>
              </p:cNvPr>
              <p:cNvSpPr/>
              <p:nvPr/>
            </p:nvSpPr>
            <p:spPr>
              <a:xfrm>
                <a:off x="9706381" y="3299865"/>
                <a:ext cx="2531740" cy="32509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the company’s claim is not tenable at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significance.</a:t>
                </a:r>
                <a:endParaRPr lang="en-US" sz="2800" u="sng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5A898B6-53B7-281D-394A-9E12749962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6381" y="3299865"/>
                <a:ext cx="2531740" cy="3250955"/>
              </a:xfrm>
              <a:prstGeom prst="rect">
                <a:avLst/>
              </a:prstGeom>
              <a:blipFill>
                <a:blip r:embed="rId15"/>
                <a:stretch>
                  <a:fillRect l="-4808" r="-4808" b="-43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40279D01-A104-DDF5-FD7C-EFBBB8D7715F}"/>
              </a:ext>
            </a:extLst>
          </p:cNvPr>
          <p:cNvSpPr/>
          <p:nvPr/>
        </p:nvSpPr>
        <p:spPr>
          <a:xfrm>
            <a:off x="3042622" y="1557360"/>
            <a:ext cx="27132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(Right tailed test)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610DED-8169-F7FF-970A-D8C49ABA8EC4}"/>
                  </a:ext>
                </a:extLst>
              </p:cNvPr>
              <p:cNvSpPr txBox="1"/>
              <p:nvPr/>
            </p:nvSpPr>
            <p:spPr>
              <a:xfrm>
                <a:off x="8338226" y="2274669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.645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7610DED-8169-F7FF-970A-D8C49ABA8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226" y="2274669"/>
                <a:ext cx="2697479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718D131-F854-88D1-6942-372499163984}"/>
              </a:ext>
            </a:extLst>
          </p:cNvPr>
          <p:cNvGrpSpPr/>
          <p:nvPr/>
        </p:nvGrpSpPr>
        <p:grpSpPr>
          <a:xfrm>
            <a:off x="6255021" y="3869278"/>
            <a:ext cx="3405239" cy="2681542"/>
            <a:chOff x="6287522" y="3872083"/>
            <a:chExt cx="3405239" cy="268154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2A6D698-9FDE-4AE1-BFCC-D6652B0011E7}"/>
                </a:ext>
              </a:extLst>
            </p:cNvPr>
            <p:cNvGrpSpPr/>
            <p:nvPr/>
          </p:nvGrpSpPr>
          <p:grpSpPr>
            <a:xfrm flipH="1">
              <a:off x="6287522" y="3872083"/>
              <a:ext cx="3385735" cy="2154174"/>
              <a:chOff x="6189671" y="3656930"/>
              <a:chExt cx="4018280" cy="2556631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9627F973-25AE-436C-B039-B0F26616948E}"/>
                  </a:ext>
                </a:extLst>
              </p:cNvPr>
              <p:cNvCxnSpPr>
                <a:cxnSpLocks/>
                <a:stCxn id="32" idx="2"/>
              </p:cNvCxnSpPr>
              <p:nvPr/>
            </p:nvCxnSpPr>
            <p:spPr>
              <a:xfrm>
                <a:off x="8181270" y="3656931"/>
                <a:ext cx="29615" cy="2551708"/>
              </a:xfrm>
              <a:prstGeom prst="line">
                <a:avLst/>
              </a:prstGeom>
              <a:ln w="57150"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D3E068E5-EB4A-4657-B4CE-920C029B85C9}"/>
                  </a:ext>
                </a:extLst>
              </p:cNvPr>
              <p:cNvSpPr/>
              <p:nvPr/>
            </p:nvSpPr>
            <p:spPr>
              <a:xfrm>
                <a:off x="6189671" y="5365974"/>
                <a:ext cx="831444" cy="842664"/>
              </a:xfrm>
              <a:custGeom>
                <a:avLst/>
                <a:gdLst>
                  <a:gd name="connsiteX0" fmla="*/ 831444 w 831444"/>
                  <a:gd name="connsiteY0" fmla="*/ 0 h 1001614"/>
                  <a:gd name="connsiteX1" fmla="*/ 831444 w 831444"/>
                  <a:gd name="connsiteY1" fmla="*/ 840902 h 1001614"/>
                  <a:gd name="connsiteX2" fmla="*/ 831444 w 831444"/>
                  <a:gd name="connsiteY2" fmla="*/ 1001614 h 1001614"/>
                  <a:gd name="connsiteX3" fmla="*/ 0 w 831444"/>
                  <a:gd name="connsiteY3" fmla="*/ 1001614 h 1001614"/>
                  <a:gd name="connsiteX4" fmla="*/ 0 w 831444"/>
                  <a:gd name="connsiteY4" fmla="*/ 840245 h 1001614"/>
                  <a:gd name="connsiteX5" fmla="*/ 779906 w 831444"/>
                  <a:gd name="connsiteY5" fmla="*/ 117944 h 1001614"/>
                  <a:gd name="connsiteX6" fmla="*/ 822581 w 831444"/>
                  <a:gd name="connsiteY6" fmla="*/ 21762 h 1001614"/>
                  <a:gd name="connsiteX7" fmla="*/ 831444 w 831444"/>
                  <a:gd name="connsiteY7" fmla="*/ 0 h 1001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1444" h="1001614">
                    <a:moveTo>
                      <a:pt x="831444" y="0"/>
                    </a:moveTo>
                    <a:lnTo>
                      <a:pt x="831444" y="840902"/>
                    </a:lnTo>
                    <a:lnTo>
                      <a:pt x="831444" y="1001614"/>
                    </a:lnTo>
                    <a:lnTo>
                      <a:pt x="0" y="1001614"/>
                    </a:lnTo>
                    <a:lnTo>
                      <a:pt x="0" y="840245"/>
                    </a:lnTo>
                    <a:cubicBezTo>
                      <a:pt x="347485" y="840652"/>
                      <a:pt x="571799" y="554667"/>
                      <a:pt x="779906" y="117944"/>
                    </a:cubicBezTo>
                    <a:cubicBezTo>
                      <a:pt x="792913" y="90649"/>
                      <a:pt x="807168" y="58344"/>
                      <a:pt x="822581" y="21762"/>
                    </a:cubicBezTo>
                    <a:lnTo>
                      <a:pt x="831444" y="0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FBB21188-0D8B-43B2-ABAA-5A22CF7E74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08415" y="5430936"/>
                <a:ext cx="0" cy="7679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0DE1F62-5CAB-423E-B475-FB3BEB2429BF}"/>
                  </a:ext>
                </a:extLst>
              </p:cNvPr>
              <p:cNvSpPr/>
              <p:nvPr/>
            </p:nvSpPr>
            <p:spPr>
              <a:xfrm>
                <a:off x="6189673" y="3656930"/>
                <a:ext cx="4018278" cy="2423541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15078DB-BB31-4BFC-BA66-46EDB3B7B6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89673" y="6213561"/>
                <a:ext cx="4018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455B696C-1D4C-4C81-8BA0-FA3EFF968963}"/>
                    </a:ext>
                  </a:extLst>
                </p:cNvPr>
                <p:cNvSpPr/>
                <p:nvPr/>
              </p:nvSpPr>
              <p:spPr>
                <a:xfrm>
                  <a:off x="8391943" y="6030405"/>
                  <a:ext cx="1300818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1.645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455B696C-1D4C-4C81-8BA0-FA3EFF9689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1943" y="6030405"/>
                  <a:ext cx="1300818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2146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9" grpId="0"/>
      <p:bldP spid="10" grpId="0"/>
      <p:bldP spid="11" grpId="0"/>
      <p:bldP spid="12" grpId="0"/>
      <p:bldP spid="13" grpId="0"/>
      <p:bldP spid="16" grpId="0"/>
      <p:bldP spid="17" grpId="0"/>
      <p:bldP spid="18" grpId="0"/>
      <p:bldP spid="19" grpId="0"/>
      <p:bldP spid="21" grpId="0"/>
      <p:bldP spid="23" grpId="0"/>
      <p:bldP spid="24" grpId="0"/>
      <p:bldP spid="26" grpId="0"/>
      <p:bldP spid="27" grpId="0"/>
      <p:bldP spid="28" grpId="0"/>
      <p:bldP spid="6" grpId="0"/>
      <p:bldP spid="7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64754-5A2D-1DE8-9DF4-AEBC284AA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4D0707CD-0974-DFF5-3610-902A0459D1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22018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In a big city,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lang="en-US" dirty="0"/>
                  <a:t> men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lang="en-US" dirty="0"/>
                  <a:t> were found to be smokers. Does information support the conclusion that the majority of men in this city are smokers?</a:t>
                </a:r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=1.645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4D0707CD-0974-DFF5-3610-902A0459D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201840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EE9B2C95-27B4-44EE-9FF5-2F244364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99100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95F1-2191-59B7-0718-7E5563DF8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5446-633A-6B07-497D-3F9D7F219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11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36F17F4-48C6-8C3D-43A3-7951CC7AA3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</p:spPr>
            <p:txBody>
              <a:bodyPr/>
              <a:lstStyle/>
              <a:p>
                <a:r>
                  <a:rPr lang="en-US" dirty="0"/>
                  <a:t>A survey is conducted in a big city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lang="en-US" dirty="0"/>
                  <a:t> men are selected, and it is found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lang="en-US" dirty="0"/>
                  <a:t> of them are smokers.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represent the population proportion of men who are smokers in the city. The question asks whether the majority of men in the city are smokers.</a:t>
                </a:r>
              </a:p>
              <a:p>
                <a:r>
                  <a:rPr lang="en-US" dirty="0"/>
                  <a:t>Here, majority means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50%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Therefore, the reference proportion becomes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0.5=50%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So, we test whether the population proportion of smokers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dirty="0"/>
                  <a:t> is greater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Thus, the question is asking: Does the sample data provide enough evidence to conclude that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50%</m:t>
                    </m:r>
                  </m:oMath>
                </a14:m>
                <a:r>
                  <a:rPr lang="en-US" dirty="0"/>
                  <a:t> of men in the city are smokers?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36F17F4-48C6-8C3D-43A3-7951CC7AA3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  <a:blipFill>
                <a:blip r:embed="rId2"/>
                <a:stretch>
                  <a:fillRect l="-971" r="-1074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9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CCC0C-4560-787E-E775-070148F44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D3EA5-45F0-D34F-4D73-43B7D463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5 ⇝ Example 11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Idea about Hypotheses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381CE6D-10B1-E89F-8327-E8C3582891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</p:spPr>
            <p:txBody>
              <a:bodyPr/>
              <a:lstStyle/>
              <a:p>
                <a:r>
                  <a:rPr lang="en-US" dirty="0"/>
                  <a:t>We want to check whether the majority of men in the city are smokers.</a:t>
                </a:r>
              </a:p>
              <a:p>
                <a:pPr lvl="1"/>
                <a:r>
                  <a:rPr lang="en-US" dirty="0"/>
                  <a:t>Majority means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So, the claimed proportion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means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of men in the city are smokers </a:t>
                </a:r>
                <a:r>
                  <a:rPr lang="en-US" b="1" dirty="0"/>
                  <a:t>(no majority)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means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of men are smokers, i.e., the majority of men in the city are smokers.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381CE6D-10B1-E89F-8327-E8C3582891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083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5A318-6340-05D3-4E07-7B4BAED96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4D7EA92B-796D-8785-5B61-3218874C33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220184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In a big city,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lang="en-US" dirty="0"/>
                  <a:t> men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lang="en-US" dirty="0"/>
                  <a:t> were found to be smokers. Does information support the conclusion that the majority of men in this city are smokers?</a:t>
                </a:r>
                <a:endParaRPr lang="en-IN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=1.645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4D7EA92B-796D-8785-5B61-3218874C3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201840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2686468-9E1E-703D-8ACD-3D6276401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3B359A0-21A6-CAF6-7A6C-2F73C72297F9}"/>
              </a:ext>
            </a:extLst>
          </p:cNvPr>
          <p:cNvSpPr/>
          <p:nvPr/>
        </p:nvSpPr>
        <p:spPr>
          <a:xfrm>
            <a:off x="131177" y="332297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2403F52-D1D6-FA0B-92F0-3E4A261D2708}"/>
                  </a:ext>
                </a:extLst>
              </p:cNvPr>
              <p:cNvSpPr/>
              <p:nvPr/>
            </p:nvSpPr>
            <p:spPr>
              <a:xfrm>
                <a:off x="1685256" y="3322975"/>
                <a:ext cx="225170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800" dirty="0">
                    <a:solidFill>
                      <a:srgbClr val="002060"/>
                    </a:solidFill>
                  </a:rPr>
                  <a:t>Here,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=600</m:t>
                    </m:r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2403F52-D1D6-FA0B-92F0-3E4A261D27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256" y="3322975"/>
                <a:ext cx="2251707" cy="523220"/>
              </a:xfrm>
              <a:prstGeom prst="rect">
                <a:avLst/>
              </a:prstGeom>
              <a:blipFill>
                <a:blip r:embed="rId3"/>
                <a:stretch>
                  <a:fillRect l="-5405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43C0F0A-AA4E-9D4F-8A25-18EE01F82BBB}"/>
                  </a:ext>
                </a:extLst>
              </p:cNvPr>
              <p:cNvSpPr/>
              <p:nvPr/>
            </p:nvSpPr>
            <p:spPr>
              <a:xfrm>
                <a:off x="1685256" y="4237342"/>
                <a:ext cx="34391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Sample proportion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43C0F0A-AA4E-9D4F-8A25-18EE01F82B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256" y="4237342"/>
                <a:ext cx="3439147" cy="523220"/>
              </a:xfrm>
              <a:prstGeom prst="rect">
                <a:avLst/>
              </a:prstGeom>
              <a:blipFill>
                <a:blip r:embed="rId4"/>
                <a:stretch>
                  <a:fillRect t="-10465" r="-1593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A9E3BAA-A08C-3693-4B2F-B6502FEE3298}"/>
                  </a:ext>
                </a:extLst>
              </p:cNvPr>
              <p:cNvSpPr/>
              <p:nvPr/>
            </p:nvSpPr>
            <p:spPr>
              <a:xfrm>
                <a:off x="4960368" y="4014834"/>
                <a:ext cx="1230209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325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A9E3BAA-A08C-3693-4B2F-B6502FEE32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368" y="4014834"/>
                <a:ext cx="1230209" cy="9017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5633F19-2967-4C56-8816-E68674D82B9A}"/>
                  </a:ext>
                </a:extLst>
              </p:cNvPr>
              <p:cNvSpPr/>
              <p:nvPr/>
            </p:nvSpPr>
            <p:spPr>
              <a:xfrm>
                <a:off x="6059767" y="4244495"/>
                <a:ext cx="17014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0.5417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5633F19-2967-4C56-8816-E68674D82B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9767" y="4244495"/>
                <a:ext cx="170149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75371E-0383-7A97-26FF-BB3013D76C24}"/>
                  </a:ext>
                </a:extLst>
              </p:cNvPr>
              <p:cNvSpPr/>
              <p:nvPr/>
            </p:nvSpPr>
            <p:spPr>
              <a:xfrm>
                <a:off x="1685256" y="5198441"/>
                <a:ext cx="160074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75371E-0383-7A97-26FF-BB3013D76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256" y="5198441"/>
                <a:ext cx="160074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ACE241A-73C8-A6E2-A913-A72FD8322D21}"/>
                  </a:ext>
                </a:extLst>
              </p:cNvPr>
              <p:cNvSpPr/>
              <p:nvPr/>
            </p:nvSpPr>
            <p:spPr>
              <a:xfrm>
                <a:off x="1360605" y="5926983"/>
                <a:ext cx="303756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ACE241A-73C8-A6E2-A913-A72FD8322D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0605" y="5926983"/>
                <a:ext cx="303756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A06627A-AE8B-DB7C-0DB4-D853B08B17E7}"/>
              </a:ext>
            </a:extLst>
          </p:cNvPr>
          <p:cNvCxnSpPr/>
          <p:nvPr/>
        </p:nvCxnSpPr>
        <p:spPr>
          <a:xfrm flipV="1">
            <a:off x="2189781" y="1659559"/>
            <a:ext cx="66042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458F8DB-765F-F0F5-91EA-F1CB2C809608}"/>
              </a:ext>
            </a:extLst>
          </p:cNvPr>
          <p:cNvCxnSpPr>
            <a:cxnSpLocks/>
          </p:cNvCxnSpPr>
          <p:nvPr/>
        </p:nvCxnSpPr>
        <p:spPr>
          <a:xfrm flipV="1">
            <a:off x="4700177" y="1659559"/>
            <a:ext cx="66042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102C44-844F-ADCD-99B5-F8533CBE629C}"/>
              </a:ext>
            </a:extLst>
          </p:cNvPr>
          <p:cNvCxnSpPr>
            <a:cxnSpLocks/>
          </p:cNvCxnSpPr>
          <p:nvPr/>
        </p:nvCxnSpPr>
        <p:spPr>
          <a:xfrm flipV="1">
            <a:off x="8089131" y="1635069"/>
            <a:ext cx="1260983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672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75AA3-A7F3-7839-02A8-AE0CEE2AE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0BF84-7127-D4A9-04F4-468079980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5 ⇝ Example 11(Continue)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CDD3282-CBC8-0C09-7636-3224FB7BE72A}"/>
                  </a:ext>
                </a:extLst>
              </p:cNvPr>
              <p:cNvSpPr/>
              <p:nvPr/>
            </p:nvSpPr>
            <p:spPr>
              <a:xfrm>
                <a:off x="111507" y="85322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CDD3282-CBC8-0C09-7636-3224FB7BE7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07" y="853221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E3906C-D391-6086-9121-BC439767C2AE}"/>
                  </a:ext>
                </a:extLst>
              </p:cNvPr>
              <p:cNvSpPr/>
              <p:nvPr/>
            </p:nvSpPr>
            <p:spPr>
              <a:xfrm>
                <a:off x="3251337" y="3830493"/>
                <a:ext cx="258110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𝐢𝐬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𝐤𝐧𝐨𝐰𝐧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4E3906C-D391-6086-9121-BC439767C2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337" y="3830493"/>
                <a:ext cx="258110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7E32412-1348-B04A-70D0-64BBB8335D4E}"/>
              </a:ext>
            </a:extLst>
          </p:cNvPr>
          <p:cNvCxnSpPr>
            <a:cxnSpLocks/>
          </p:cNvCxnSpPr>
          <p:nvPr/>
        </p:nvCxnSpPr>
        <p:spPr>
          <a:xfrm>
            <a:off x="6060580" y="708524"/>
            <a:ext cx="0" cy="589681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A37224A-D202-DB3B-EF99-52F557A17B11}"/>
                  </a:ext>
                </a:extLst>
              </p:cNvPr>
              <p:cNvSpPr/>
              <p:nvPr/>
            </p:nvSpPr>
            <p:spPr>
              <a:xfrm>
                <a:off x="862765" y="876984"/>
                <a:ext cx="18114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A37224A-D202-DB3B-EF99-52F557A17B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65" y="876984"/>
                <a:ext cx="181148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64955F5-07C3-A874-03BC-DA3AAF73D760}"/>
                  </a:ext>
                </a:extLst>
              </p:cNvPr>
              <p:cNvSpPr/>
              <p:nvPr/>
            </p:nvSpPr>
            <p:spPr>
              <a:xfrm>
                <a:off x="111507" y="1585725"/>
                <a:ext cx="89252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64955F5-07C3-A874-03BC-DA3AAF73D7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07" y="1585725"/>
                <a:ext cx="89252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CE7994F-A6A3-5B5D-7709-4D8E3AAF404E}"/>
                  </a:ext>
                </a:extLst>
              </p:cNvPr>
              <p:cNvSpPr/>
              <p:nvPr/>
            </p:nvSpPr>
            <p:spPr>
              <a:xfrm>
                <a:off x="817047" y="1609488"/>
                <a:ext cx="189196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CE7994F-A6A3-5B5D-7709-4D8E3AAF40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047" y="1609488"/>
                <a:ext cx="189196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C2A58F9-4743-97AD-3A64-AAF5AB75EC22}"/>
                  </a:ext>
                </a:extLst>
              </p:cNvPr>
              <p:cNvSpPr/>
              <p:nvPr/>
            </p:nvSpPr>
            <p:spPr>
              <a:xfrm>
                <a:off x="111507" y="2318229"/>
                <a:ext cx="231067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C2A58F9-4743-97AD-3A64-AAF5AB75EC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07" y="2318229"/>
                <a:ext cx="231067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1B2A9A3C-6A80-5F17-D56D-C08F860767E3}"/>
              </a:ext>
            </a:extLst>
          </p:cNvPr>
          <p:cNvSpPr/>
          <p:nvPr/>
        </p:nvSpPr>
        <p:spPr>
          <a:xfrm>
            <a:off x="152658" y="2943864"/>
            <a:ext cx="10474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Test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B5724F-AD59-A3FA-A457-BD1F2AE4EAD1}"/>
                  </a:ext>
                </a:extLst>
              </p:cNvPr>
              <p:cNvSpPr txBox="1"/>
              <p:nvPr/>
            </p:nvSpPr>
            <p:spPr>
              <a:xfrm>
                <a:off x="154486" y="3521973"/>
                <a:ext cx="2435224" cy="1434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𝐐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1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B5724F-AD59-A3FA-A457-BD1F2AE4E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486" y="3521973"/>
                <a:ext cx="2435224" cy="14348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91E069-8D95-8EC7-FCA0-1EE5B7FE69F8}"/>
                  </a:ext>
                </a:extLst>
              </p:cNvPr>
              <p:cNvSpPr txBox="1"/>
              <p:nvPr/>
            </p:nvSpPr>
            <p:spPr>
              <a:xfrm>
                <a:off x="419229" y="5115940"/>
                <a:ext cx="3503120" cy="1434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417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0.5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.5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IN" sz="2800" b="0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600</m:t>
                                  </m:r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91E069-8D95-8EC7-FCA0-1EE5B7FE6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29" y="5115940"/>
                <a:ext cx="3503120" cy="14348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5A568D7-905F-7B19-F007-C8E3C0A78BA5}"/>
                  </a:ext>
                </a:extLst>
              </p:cNvPr>
              <p:cNvSpPr/>
              <p:nvPr/>
            </p:nvSpPr>
            <p:spPr>
              <a:xfrm>
                <a:off x="3552144" y="5339519"/>
                <a:ext cx="130560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=2.04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5A568D7-905F-7B19-F007-C8E3C0A78B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144" y="5339519"/>
                <a:ext cx="130560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90DE88DF-D1EC-4EAD-09DB-173739746FD2}"/>
              </a:ext>
            </a:extLst>
          </p:cNvPr>
          <p:cNvSpPr/>
          <p:nvPr/>
        </p:nvSpPr>
        <p:spPr>
          <a:xfrm>
            <a:off x="6202645" y="882918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7666847-B04B-F587-3E94-AC852FA071E4}"/>
                  </a:ext>
                </a:extLst>
              </p:cNvPr>
              <p:cNvSpPr txBox="1"/>
              <p:nvPr/>
            </p:nvSpPr>
            <p:spPr>
              <a:xfrm>
                <a:off x="8296900" y="884287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.645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7666847-B04B-F587-3E94-AC852FA07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900" y="884287"/>
                <a:ext cx="269747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FBA67A2C-57CF-A91F-254A-65ABD2F74974}"/>
              </a:ext>
            </a:extLst>
          </p:cNvPr>
          <p:cNvSpPr/>
          <p:nvPr/>
        </p:nvSpPr>
        <p:spPr>
          <a:xfrm>
            <a:off x="6202645" y="1478485"/>
            <a:ext cx="19735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F6C6EF5-75A1-BD07-C7E4-D3280E7C4F57}"/>
                  </a:ext>
                </a:extLst>
              </p:cNvPr>
              <p:cNvSpPr txBox="1"/>
              <p:nvPr/>
            </p:nvSpPr>
            <p:spPr>
              <a:xfrm>
                <a:off x="5942320" y="2152554"/>
                <a:ext cx="212779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2.09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F6C6EF5-75A1-BD07-C7E4-D3280E7C4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320" y="2152554"/>
                <a:ext cx="212779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FE6516B-6EBF-CF14-44F0-8CF10FDF0FDF}"/>
                  </a:ext>
                </a:extLst>
              </p:cNvPr>
              <p:cNvSpPr txBox="1"/>
              <p:nvPr/>
            </p:nvSpPr>
            <p:spPr>
              <a:xfrm>
                <a:off x="7893729" y="2118264"/>
                <a:ext cx="54169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FE6516B-6EBF-CF14-44F0-8CF10FDF0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729" y="2118264"/>
                <a:ext cx="54169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D30FC4A-03E2-F4F3-29DF-25AE980E3C8C}"/>
                  </a:ext>
                </a:extLst>
              </p:cNvPr>
              <p:cNvSpPr/>
              <p:nvPr/>
            </p:nvSpPr>
            <p:spPr>
              <a:xfrm>
                <a:off x="6253257" y="2824553"/>
                <a:ext cx="253218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r>
                  <a:rPr lang="en-US" sz="2800" u="sng" dirty="0">
                    <a:solidFill>
                      <a:srgbClr val="00206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D30FC4A-03E2-F4F3-29DF-25AE980E3C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257" y="2824553"/>
                <a:ext cx="2532181" cy="523220"/>
              </a:xfrm>
              <a:prstGeom prst="rect">
                <a:avLst/>
              </a:prstGeom>
              <a:blipFill>
                <a:blip r:embed="rId1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DF0CCFD-4202-B909-EB5C-EB9A19662858}"/>
                  </a:ext>
                </a:extLst>
              </p:cNvPr>
              <p:cNvSpPr/>
              <p:nvPr/>
            </p:nvSpPr>
            <p:spPr>
              <a:xfrm>
                <a:off x="9891851" y="3244863"/>
                <a:ext cx="2229310" cy="32509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5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majority of men in the city are smokers at</a:t>
                </a:r>
                <a:r>
                  <a:rPr lang="en-US" sz="2800" b="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LOS. </a:t>
                </a:r>
                <a:endParaRPr lang="en-US" sz="2800" u="sng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DF0CCFD-4202-B909-EB5C-EB9A196628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1851" y="3244863"/>
                <a:ext cx="2229310" cy="3250955"/>
              </a:xfrm>
              <a:prstGeom prst="rect">
                <a:avLst/>
              </a:prstGeom>
              <a:blipFill>
                <a:blip r:embed="rId15"/>
                <a:stretch>
                  <a:fillRect l="-5753" r="-5753" b="-43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49DC1522-9A10-D795-35FD-9641A36E0626}"/>
              </a:ext>
            </a:extLst>
          </p:cNvPr>
          <p:cNvSpPr/>
          <p:nvPr/>
        </p:nvSpPr>
        <p:spPr>
          <a:xfrm>
            <a:off x="2937149" y="1609488"/>
            <a:ext cx="27132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(Right tailed test)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A1986D-4D76-9C85-4E77-E68EC3D74823}"/>
                  </a:ext>
                </a:extLst>
              </p:cNvPr>
              <p:cNvSpPr txBox="1"/>
              <p:nvPr/>
            </p:nvSpPr>
            <p:spPr>
              <a:xfrm>
                <a:off x="8296900" y="2116030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.645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A1986D-4D76-9C85-4E77-E68EC3D74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6900" y="2116030"/>
                <a:ext cx="2697479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B3987B4-E5DC-8784-B461-C0042EAA6ADF}"/>
              </a:ext>
            </a:extLst>
          </p:cNvPr>
          <p:cNvGrpSpPr/>
          <p:nvPr/>
        </p:nvGrpSpPr>
        <p:grpSpPr>
          <a:xfrm>
            <a:off x="6272347" y="3849324"/>
            <a:ext cx="3943473" cy="2701496"/>
            <a:chOff x="6292940" y="3881094"/>
            <a:chExt cx="3943473" cy="270149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E2403AE-F5EC-41BC-AEDA-2EF3AE2E3610}"/>
                </a:ext>
              </a:extLst>
            </p:cNvPr>
            <p:cNvGrpSpPr/>
            <p:nvPr/>
          </p:nvGrpSpPr>
          <p:grpSpPr>
            <a:xfrm flipH="1">
              <a:off x="6292940" y="3881094"/>
              <a:ext cx="3385735" cy="2154174"/>
              <a:chOff x="6189671" y="3656930"/>
              <a:chExt cx="4018280" cy="2556631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747873CC-FE5D-4FDB-ABA5-57B03E23684C}"/>
                  </a:ext>
                </a:extLst>
              </p:cNvPr>
              <p:cNvCxnSpPr>
                <a:cxnSpLocks/>
                <a:stCxn id="32" idx="2"/>
              </p:cNvCxnSpPr>
              <p:nvPr/>
            </p:nvCxnSpPr>
            <p:spPr>
              <a:xfrm>
                <a:off x="8181270" y="3656931"/>
                <a:ext cx="29615" cy="2551708"/>
              </a:xfrm>
              <a:prstGeom prst="line">
                <a:avLst/>
              </a:prstGeom>
              <a:ln w="57150"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5D58B9-22FE-4416-A5B5-5CAE0A8CD362}"/>
                  </a:ext>
                </a:extLst>
              </p:cNvPr>
              <p:cNvSpPr/>
              <p:nvPr/>
            </p:nvSpPr>
            <p:spPr>
              <a:xfrm>
                <a:off x="6189671" y="5365974"/>
                <a:ext cx="831444" cy="842664"/>
              </a:xfrm>
              <a:custGeom>
                <a:avLst/>
                <a:gdLst>
                  <a:gd name="connsiteX0" fmla="*/ 831444 w 831444"/>
                  <a:gd name="connsiteY0" fmla="*/ 0 h 1001614"/>
                  <a:gd name="connsiteX1" fmla="*/ 831444 w 831444"/>
                  <a:gd name="connsiteY1" fmla="*/ 840902 h 1001614"/>
                  <a:gd name="connsiteX2" fmla="*/ 831444 w 831444"/>
                  <a:gd name="connsiteY2" fmla="*/ 1001614 h 1001614"/>
                  <a:gd name="connsiteX3" fmla="*/ 0 w 831444"/>
                  <a:gd name="connsiteY3" fmla="*/ 1001614 h 1001614"/>
                  <a:gd name="connsiteX4" fmla="*/ 0 w 831444"/>
                  <a:gd name="connsiteY4" fmla="*/ 840245 h 1001614"/>
                  <a:gd name="connsiteX5" fmla="*/ 779906 w 831444"/>
                  <a:gd name="connsiteY5" fmla="*/ 117944 h 1001614"/>
                  <a:gd name="connsiteX6" fmla="*/ 822581 w 831444"/>
                  <a:gd name="connsiteY6" fmla="*/ 21762 h 1001614"/>
                  <a:gd name="connsiteX7" fmla="*/ 831444 w 831444"/>
                  <a:gd name="connsiteY7" fmla="*/ 0 h 1001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1444" h="1001614">
                    <a:moveTo>
                      <a:pt x="831444" y="0"/>
                    </a:moveTo>
                    <a:lnTo>
                      <a:pt x="831444" y="840902"/>
                    </a:lnTo>
                    <a:lnTo>
                      <a:pt x="831444" y="1001614"/>
                    </a:lnTo>
                    <a:lnTo>
                      <a:pt x="0" y="1001614"/>
                    </a:lnTo>
                    <a:lnTo>
                      <a:pt x="0" y="840245"/>
                    </a:lnTo>
                    <a:cubicBezTo>
                      <a:pt x="347485" y="840652"/>
                      <a:pt x="571799" y="554667"/>
                      <a:pt x="779906" y="117944"/>
                    </a:cubicBezTo>
                    <a:cubicBezTo>
                      <a:pt x="792913" y="90649"/>
                      <a:pt x="807168" y="58344"/>
                      <a:pt x="822581" y="21762"/>
                    </a:cubicBezTo>
                    <a:lnTo>
                      <a:pt x="831444" y="0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E52D126-5928-4E52-A5FE-D219899169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08415" y="5430936"/>
                <a:ext cx="0" cy="7679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FA28FD1E-2B36-4119-8A4B-326A309A523C}"/>
                  </a:ext>
                </a:extLst>
              </p:cNvPr>
              <p:cNvSpPr/>
              <p:nvPr/>
            </p:nvSpPr>
            <p:spPr>
              <a:xfrm>
                <a:off x="6189673" y="3656930"/>
                <a:ext cx="4018278" cy="2423541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AFA9794-B583-4D2F-94A3-25E887C3B0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89673" y="6213561"/>
                <a:ext cx="4018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1D92B54-3CB9-455B-AB99-E7B748D70F45}"/>
                    </a:ext>
                  </a:extLst>
                </p:cNvPr>
                <p:cNvSpPr/>
                <p:nvPr/>
              </p:nvSpPr>
              <p:spPr>
                <a:xfrm>
                  <a:off x="8420374" y="6059370"/>
                  <a:ext cx="181603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1.645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1D92B54-3CB9-455B-AB99-E7B748D70F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0374" y="6059370"/>
                  <a:ext cx="1816039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70612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9" grpId="0"/>
      <p:bldP spid="10" grpId="0"/>
      <p:bldP spid="11" grpId="0"/>
      <p:bldP spid="12" grpId="0"/>
      <p:bldP spid="13" grpId="0"/>
      <p:bldP spid="16" grpId="0"/>
      <p:bldP spid="17" grpId="0"/>
      <p:bldP spid="18" grpId="0"/>
      <p:bldP spid="19" grpId="0"/>
      <p:bldP spid="21" grpId="0"/>
      <p:bldP spid="23" grpId="0"/>
      <p:bldP spid="24" grpId="0"/>
      <p:bldP spid="26" grpId="0"/>
      <p:bldP spid="27" grpId="0"/>
      <p:bldP spid="28" grpId="0"/>
      <p:bldP spid="6" grpId="0"/>
      <p:bldP spid="7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BB9B2-4EF2-74AB-81AB-F7ADC2772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855E6-B4EA-109B-87E1-B4B184DCF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Method – 6</a:t>
            </a:r>
            <a:br>
              <a:rPr lang="en-US" dirty="0"/>
            </a:br>
            <a:r>
              <a:rPr lang="en-US" dirty="0"/>
              <a:t>Test for Difference of Proportions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426129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C2B43-D585-59F1-4EE8-D025EAA9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C2137-8194-250A-F9C5-3930EFF39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Test for Difference of Proportions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6455A-0C88-E3FE-669B-7803DB5106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4" y="711200"/>
                <a:ext cx="11959718" cy="5796604"/>
              </a:xfrm>
            </p:spPr>
            <p:txBody>
              <a:bodyPr/>
              <a:lstStyle/>
              <a:p>
                <a:r>
                  <a:rPr lang="en-US" dirty="0"/>
                  <a:t>The Test for Difference of Proportions is a hypothesis test used to compare two population proportions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	</m:t>
                    </m:r>
                  </m:oMath>
                </a14:m>
                <a:r>
                  <a:rPr lang="en-US" i="0" dirty="0">
                    <a:latin typeface="+mj-lt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​ using the sample proportions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​.</a:t>
                </a:r>
              </a:p>
              <a:p>
                <a:pPr lvl="1"/>
                <a:r>
                  <a:rPr lang="en-US" dirty="0"/>
                  <a:t>It helps us test whether the two population proportions are equal or different.</a:t>
                </a:r>
              </a:p>
              <a:p>
                <a:pPr lvl="1"/>
                <a:r>
                  <a:rPr lang="en-US" dirty="0"/>
                  <a:t>It is a hypothesis test for two independent samples.</a:t>
                </a:r>
              </a:p>
              <a:p>
                <a:r>
                  <a:rPr lang="en-US" dirty="0"/>
                  <a:t>Sometimes we have two groups, and we want to know whether their percentages (proportions) are different.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Percentage of defective products produced by two machines</a:t>
                </a:r>
              </a:p>
              <a:p>
                <a:pPr lvl="1"/>
                <a:r>
                  <a:rPr lang="en-US" dirty="0"/>
                  <a:t>Percentage of students passing in two different classes</a:t>
                </a:r>
              </a:p>
              <a:p>
                <a:pPr lvl="1"/>
                <a:endParaRPr lang="en-IN" dirty="0"/>
              </a:p>
              <a:p>
                <a:endParaRPr lang="en-IN" dirty="0"/>
              </a:p>
              <a:p>
                <a:pPr lvl="0"/>
                <a:endParaRPr lang="en-IN" dirty="0"/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96455A-0C88-E3FE-669B-7803DB5106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4" y="711200"/>
                <a:ext cx="11959718" cy="5796604"/>
              </a:xfrm>
              <a:blipFill>
                <a:blip r:embed="rId2"/>
                <a:stretch>
                  <a:fillRect l="-968" r="-1019" b="-27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5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F60FE-5C5F-845A-5EF8-EDBC999E2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7EBA0-6399-2314-B0AC-FC157F556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Test for Difference of Proportions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E1428-8D0C-7A59-E907-5AAA335C12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Percentage of defective products produced by two machines</a:t>
                </a:r>
              </a:p>
              <a:p>
                <a:pPr lvl="1"/>
                <a:r>
                  <a:rPr lang="en-US" dirty="0"/>
                  <a:t>Percentage of students passing in two different classes</a:t>
                </a:r>
              </a:p>
              <a:p>
                <a:r>
                  <a:rPr lang="en-US" dirty="0"/>
                  <a:t>The test answers this question:</a:t>
                </a:r>
              </a:p>
              <a:p>
                <a:pPr lvl="1"/>
                <a:r>
                  <a:rPr lang="en-US" dirty="0"/>
                  <a:t>Is the difference between two sample proportions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large enough to conclude that the population proportions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i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different?  </a:t>
                </a:r>
              </a:p>
              <a:p>
                <a:pPr marL="457200" lvl="1" indent="0" algn="ctr">
                  <a:buNone/>
                </a:pPr>
                <a:r>
                  <a:rPr lang="en-US" dirty="0"/>
                  <a:t>or</a:t>
                </a:r>
              </a:p>
              <a:p>
                <a:pPr lvl="1"/>
                <a:r>
                  <a:rPr lang="en-US" dirty="0"/>
                  <a:t>Is the observed difference real, or is it only due to random sampling fluctuation?</a:t>
                </a:r>
                <a:endParaRPr lang="en-IN" dirty="0"/>
              </a:p>
              <a:p>
                <a:pPr lvl="0"/>
                <a:endParaRPr lang="en-US" dirty="0"/>
              </a:p>
              <a:p>
                <a:pPr lvl="1"/>
                <a:endParaRPr lang="en-IN" dirty="0"/>
              </a:p>
              <a:p>
                <a:endParaRPr lang="en-IN" dirty="0"/>
              </a:p>
              <a:p>
                <a:pPr lvl="0"/>
                <a:endParaRPr lang="en-IN" dirty="0"/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FE1428-8D0C-7A59-E907-5AAA335C12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218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A4398-2A86-A98F-AD3B-E69E36CA4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this test?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E4517-12F0-280F-1880-751C4BC1B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5742808"/>
          </a:xfrm>
        </p:spPr>
        <p:txBody>
          <a:bodyPr/>
          <a:lstStyle/>
          <a:p>
            <a:r>
              <a:rPr lang="en-US" dirty="0"/>
              <a:t>In real life we often compare two groups.</a:t>
            </a:r>
          </a:p>
          <a:p>
            <a:r>
              <a:rPr lang="en-US" dirty="0"/>
              <a:t>Examples: </a:t>
            </a:r>
          </a:p>
          <a:p>
            <a:pPr lvl="1"/>
            <a:r>
              <a:rPr lang="en-US" dirty="0"/>
              <a:t>Defective items produced by two machines</a:t>
            </a:r>
          </a:p>
          <a:p>
            <a:pPr lvl="1"/>
            <a:r>
              <a:rPr lang="en-US" dirty="0"/>
              <a:t>Pass percentage in two classes</a:t>
            </a:r>
          </a:p>
          <a:p>
            <a:pPr lvl="1"/>
            <a:r>
              <a:rPr lang="en-US" dirty="0"/>
              <a:t>Success rate of two medicines</a:t>
            </a:r>
          </a:p>
          <a:p>
            <a:r>
              <a:rPr lang="en-US" dirty="0"/>
              <a:t>We want to know: Are the two populations really different?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702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27776-A896-CCD5-1930-5AD220D5E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78805-0BE3-7822-32A2-2CD2309EF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C37D1-62A0-C176-D1B0-4C314C83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11202"/>
            <a:ext cx="11929641" cy="711200"/>
          </a:xfrm>
        </p:spPr>
        <p:txBody>
          <a:bodyPr/>
          <a:lstStyle/>
          <a:p>
            <a:r>
              <a:rPr lang="en-US" dirty="0"/>
              <a:t>Suppose we take two samples.</a:t>
            </a:r>
            <a:endParaRPr lang="en-IN" dirty="0"/>
          </a:p>
          <a:p>
            <a:pPr lvl="0"/>
            <a:endParaRPr lang="en-IN" dirty="0"/>
          </a:p>
          <a:p>
            <a:pPr lvl="0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3C2BA73-688F-A1B6-2C72-B4AB41ABFB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1066930"/>
                  </p:ext>
                </p:extLst>
              </p:nvPr>
            </p:nvGraphicFramePr>
            <p:xfrm>
              <a:off x="1835355" y="1422402"/>
              <a:ext cx="8128000" cy="4811776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2688721074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6838743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Symbol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Meaning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46856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en-IN" sz="24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i="0" dirty="0">
                              <a:solidFill>
                                <a:srgbClr val="002060"/>
                              </a:solidFill>
                            </a:rPr>
                            <a:t>Size of Sample </a:t>
                          </a:r>
                          <a14:m>
                            <m:oMath xmlns:m="http://schemas.openxmlformats.org/officeDocument/2006/math">
                              <m:r>
                                <a:rPr lang="en-IN" sz="24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endParaRPr lang="en-IN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39570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  <m:sub>
                                    <m:r>
                                      <a:rPr lang="en-IN" sz="24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i="0" dirty="0">
                              <a:solidFill>
                                <a:srgbClr val="002060"/>
                              </a:solidFill>
                            </a:rPr>
                            <a:t>Size of Sample </a:t>
                          </a:r>
                          <a14:m>
                            <m:oMath xmlns:m="http://schemas.openxmlformats.org/officeDocument/2006/math">
                              <m:r>
                                <a:rPr lang="en-IN" sz="24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en-IN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87575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IN" sz="24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i="0" dirty="0">
                              <a:solidFill>
                                <a:srgbClr val="002060"/>
                              </a:solidFill>
                            </a:rPr>
                            <a:t>Success in Sample </a:t>
                          </a:r>
                          <a14:m>
                            <m:oMath xmlns:m="http://schemas.openxmlformats.org/officeDocument/2006/math">
                              <m:r>
                                <a:rPr lang="en-IN" sz="24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endParaRPr lang="en-IN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457445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b="0" i="1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en-IN" sz="2400" b="0" i="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i="0" dirty="0">
                              <a:solidFill>
                                <a:srgbClr val="002060"/>
                              </a:solidFill>
                            </a:rPr>
                            <a:t>Success in Sample </a:t>
                          </a:r>
                          <a14:m>
                            <m:oMath xmlns:m="http://schemas.openxmlformats.org/officeDocument/2006/math">
                              <m:r>
                                <a:rPr lang="en-IN" sz="24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en-IN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129354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b="0" i="1" u="none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 b="0" i="0" u="none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IN" sz="2400" b="0" i="0" u="none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IN" sz="2400" b="0" i="0" u="none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2400" b="0" i="1" u="none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IN" sz="2400" b="0" i="1" u="none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 b="0" i="0" u="none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IN" sz="2400" b="0" i="0" u="none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IN" sz="2400" b="0" i="1" u="none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 b="0" i="0" u="none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en-IN" sz="2400" b="0" i="0" u="none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IN" sz="2400" i="0" u="none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Sample proportion </a:t>
                          </a:r>
                          <a14:m>
                            <m:oMath xmlns:m="http://schemas.openxmlformats.org/officeDocument/2006/math">
                              <m:r>
                                <a:rPr lang="en-IN" sz="24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427837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b="0" i="1" u="none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 b="0" i="0" u="none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IN" sz="2400" b="0" i="0" u="none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2400" b="0" i="0" u="none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2400" b="0" i="1" u="none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IN" sz="2400" b="0" i="1" u="none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 b="0" i="0" u="none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IN" sz="2400" b="0" i="0" u="none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IN" sz="2400" b="0" i="1" u="none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 b="0" i="0" u="none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n</m:t>
                                        </m:r>
                                      </m:e>
                                      <m:sub>
                                        <m:r>
                                          <a:rPr lang="en-IN" sz="2400" b="0" i="0" u="none" smtClean="0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IN" sz="2400" i="0" u="none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Sample proportion </a:t>
                          </a:r>
                          <a14:m>
                            <m:oMath xmlns:m="http://schemas.openxmlformats.org/officeDocument/2006/math">
                              <m:r>
                                <a:rPr lang="en-IN" sz="24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587184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b="0" i="1" u="none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 b="0" i="0" u="none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IN" sz="2400" b="0" i="0" u="none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i="0" u="none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Population Proportion </a:t>
                          </a:r>
                          <a14:m>
                            <m:oMath xmlns:m="http://schemas.openxmlformats.org/officeDocument/2006/math">
                              <m:r>
                                <a:rPr lang="en-IN" sz="24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35520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sz="2400" b="0" i="1" u="none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 b="0" i="0" u="none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IN" sz="2400" b="0" i="0" u="none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i="0" u="none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400" dirty="0">
                              <a:solidFill>
                                <a:srgbClr val="002060"/>
                              </a:solidFill>
                            </a:rPr>
                            <a:t>Population Proportion </a:t>
                          </a:r>
                          <a14:m>
                            <m:oMath xmlns:m="http://schemas.openxmlformats.org/officeDocument/2006/math">
                              <m:r>
                                <a:rPr lang="en-IN" sz="24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en-IN" sz="24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743357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3C2BA73-688F-A1B6-2C72-B4AB41ABFB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1066930"/>
                  </p:ext>
                </p:extLst>
              </p:nvPr>
            </p:nvGraphicFramePr>
            <p:xfrm>
              <a:off x="1835355" y="1422402"/>
              <a:ext cx="8128000" cy="4811776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2688721074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68387432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Symbol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Meaning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4685673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0" t="-125333" r="-100750" b="-8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50" t="-125333" r="-750" b="-8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957069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0" t="-225333" r="-100750" b="-7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50" t="-225333" r="-750" b="-7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7575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0" t="-325333" r="-100750" b="-6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50" t="-325333" r="-750" b="-6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574455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0" t="-425333" r="-100750" b="-5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50" t="-425333" r="-750" b="-5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2935404"/>
                      </a:ext>
                    </a:extLst>
                  </a:tr>
                  <a:tr h="7752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0" t="-307813" r="-100750" b="-2351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50" t="-307813" r="-750" b="-2351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42783746"/>
                      </a:ext>
                    </a:extLst>
                  </a:tr>
                  <a:tr h="7752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0" t="-411024" r="-100750" b="-1370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50" t="-411024" r="-750" b="-1370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871843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0" t="-865333" r="-100750" b="-1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50" t="-865333" r="-750" b="-1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5520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50" t="-965333" r="-100750" b="-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450" t="-965333" r="-750" b="-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43357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6903318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B03FE-6C72-A852-893D-A5E956AD4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8EDB71-C089-5929-63C6-925C1C5ABC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</p:spPr>
            <p:txBody>
              <a:bodyPr/>
              <a:lstStyle/>
              <a:p>
                <a:r>
                  <a:rPr lang="en-US" dirty="0"/>
                  <a:t>Consider two samples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of sizes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with sample proportion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respectively, taken from two population proportions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en-US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  <a:endParaRPr lang="en-IN" dirty="0"/>
              </a:p>
              <a:p>
                <a:pPr lvl="0"/>
                <a:r>
                  <a:rPr lang="en-US" dirty="0"/>
                  <a:t>This test is used to test whether the population proportions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&amp;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r>
                  <a:rPr lang="en-US" dirty="0"/>
                  <a:t>are significantly different using the sample proportions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a:rPr lang="en-US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I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  <a:p>
                <a:r>
                  <a:rPr lang="en-US" dirty="0"/>
                  <a:t>In this test,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8EDB71-C089-5929-63C6-925C1C5ABC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28675"/>
                <a:ext cx="11929641" cy="579785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D009B5C-C792-A9F3-453F-C3FD2056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a Difference of Proportion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1794B5-1C47-ADAB-B267-20990D539D62}"/>
                  </a:ext>
                </a:extLst>
              </p:cNvPr>
              <p:cNvSpPr txBox="1"/>
              <p:nvPr/>
            </p:nvSpPr>
            <p:spPr>
              <a:xfrm>
                <a:off x="2161093" y="3902055"/>
                <a:ext cx="6927215" cy="24895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0" smtClean="0"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400" b="1" i="0">
                          <a:latin typeface="Cambria Math" panose="02040503050406030204" pitchFamily="18" charset="0"/>
                        </a:rPr>
                        <m:t>𝐄</m:t>
                      </m:r>
                      <m:d>
                        <m:dPr>
                          <m:ctrlPr>
                            <a:rPr lang="en-IN" sz="24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0">
                              <a:latin typeface="Cambria Math" panose="02040503050406030204" pitchFamily="18" charset="0"/>
                            </a:rPr>
                            <m:t>𝐭</m:t>
                          </m:r>
                        </m:e>
                      </m:d>
                      <m:r>
                        <a:rPr lang="en-IN" sz="24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sz="2400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sz="24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sz="2400" b="1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IN" sz="24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IN" sz="24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𝐏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IN" sz="24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𝐐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r>
                                        <a:rPr lang="en-US" sz="24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24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sz="24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4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en-IN" sz="24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𝐏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IN" sz="24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𝐐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r>
                                        <a:rPr lang="en-US" sz="24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24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</m:e>
                                        <m:sub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  <m:r>
                                <a:rPr lang="en-IN" sz="24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IN" sz="2400" b="1" i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en-IN" sz="24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1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IN" sz="2400" b="1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IN" sz="24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IN" sz="2400" b="1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1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IN" sz="2400" b="1" i="0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IN" sz="24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𝐚𝐫𝐞</m:t>
                              </m:r>
                              <m:r>
                                <a:rPr lang="en-IN" sz="24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𝐤𝐧𝐨𝐰𝐧</m:t>
                              </m:r>
                            </m:e>
                            <m:e>
                              <m:r>
                                <a:rPr lang="en-IN" sz="2400" b="1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</m:e>
                            <m:e>
                              <m:r>
                                <a:rPr lang="en-IN" sz="24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1" i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𝐩𝐪</m:t>
                                  </m:r>
                                  <m:d>
                                    <m:dPr>
                                      <m:ctrlPr>
                                        <a:rPr lang="en-IN" sz="2400" b="1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IN" sz="24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IN" sz="2400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𝟏</m:t>
                                              </m:r>
                                              <m:r>
                                                <a:rPr lang="en-US" sz="24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r>
                                        <a:rPr lang="en-US" sz="2400" b="1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ctrlPr>
                                            <a:rPr lang="en-IN" sz="2400" b="1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US" sz="2400" b="1" i="0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IN" sz="2400" b="1" i="1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  <m:r>
                                                <a:rPr lang="en-US" sz="2400" b="1" i="0">
                                                  <a:solidFill>
                                                    <a:schemeClr val="accent6">
                                                      <a:lumMod val="7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rad>
                              <m:r>
                                <a:rPr lang="en-IN" sz="24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IN" sz="24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en-IN" sz="24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IN" sz="2400" b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IN" sz="24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IN" sz="24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𝐏</m:t>
                                  </m:r>
                                </m:e>
                                <m:sub>
                                  <m:r>
                                    <a:rPr lang="en-IN" sz="2400" b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IN" sz="24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𝐚𝐫𝐞</m:t>
                              </m:r>
                              <m:r>
                                <a:rPr lang="en-IN" sz="2400" b="1" i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b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𝐮𝐧𝐤𝐧𝐨𝐰𝐧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1794B5-1C47-ADAB-B267-20990D539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093" y="3902055"/>
                <a:ext cx="6927215" cy="24895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227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3B65B-A091-3E3B-6845-1B1ED0561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28CB1-3378-DBF5-B6F3-44DD50BE5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28675"/>
            <a:ext cx="11929641" cy="5797855"/>
          </a:xfrm>
        </p:spPr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Formula for Test Statistics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pPr marL="0" lvl="0" indent="0">
              <a:buNone/>
            </a:pPr>
            <a:endParaRPr lang="en-IN" dirty="0"/>
          </a:p>
          <a:p>
            <a:pPr lvl="0">
              <a:lnSpc>
                <a:spcPct val="145000"/>
              </a:lnSpc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3F13CB-60CC-0094-0710-26532E558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a Difference of Proportion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732A46-0697-7426-B8CB-3EF634FC8308}"/>
              </a:ext>
            </a:extLst>
          </p:cNvPr>
          <p:cNvSpPr txBox="1"/>
          <p:nvPr/>
        </p:nvSpPr>
        <p:spPr>
          <a:xfrm>
            <a:off x="146050" y="1492533"/>
            <a:ext cx="5861046" cy="553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solidFill>
                  <a:srgbClr val="002060"/>
                </a:solidFill>
                <a:effectLst/>
                <a:latin typeface="+mj-lt"/>
                <a:ea typeface="Times New Roman" panose="02020603050405020304" pitchFamily="18" charset="0"/>
                <a:cs typeface="Shruti" panose="020B0502040204020203" pitchFamily="34" charset="0"/>
              </a:rPr>
              <a:t>When population proportions are</a:t>
            </a:r>
            <a:r>
              <a:rPr lang="en-US" sz="2800" b="1" dirty="0">
                <a:solidFill>
                  <a:srgbClr val="FF0000"/>
                </a:solidFill>
                <a:effectLst/>
                <a:latin typeface="+mj-lt"/>
                <a:ea typeface="Times New Roman" panose="02020603050405020304" pitchFamily="18" charset="0"/>
                <a:cs typeface="Shruti" panose="020B0502040204020203" pitchFamily="34" charset="0"/>
              </a:rPr>
              <a:t> known</a:t>
            </a:r>
            <a:endParaRPr lang="en-IN" sz="2800" dirty="0">
              <a:solidFill>
                <a:srgbClr val="002060"/>
              </a:solidFill>
              <a:effectLst/>
              <a:latin typeface="+mj-lt"/>
              <a:ea typeface="Times New Roman" panose="02020603050405020304" pitchFamily="18" charset="0"/>
              <a:cs typeface="Shrut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E4125F-DA56-4DB7-919D-BA231C592DED}"/>
                  </a:ext>
                </a:extLst>
              </p:cNvPr>
              <p:cNvSpPr txBox="1"/>
              <p:nvPr/>
            </p:nvSpPr>
            <p:spPr>
              <a:xfrm>
                <a:off x="902970" y="4325050"/>
                <a:ext cx="378576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here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2E4125F-DA56-4DB7-919D-BA231C592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70" y="4325050"/>
                <a:ext cx="378576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ABF8A-3446-1102-E15A-45B84606D705}"/>
              </a:ext>
            </a:extLst>
          </p:cNvPr>
          <p:cNvCxnSpPr>
            <a:cxnSpLocks/>
          </p:cNvCxnSpPr>
          <p:nvPr/>
        </p:nvCxnSpPr>
        <p:spPr>
          <a:xfrm>
            <a:off x="5862866" y="1492532"/>
            <a:ext cx="0" cy="4792866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F4986D-A1CD-9C3F-367A-37CD5AE3A271}"/>
                  </a:ext>
                </a:extLst>
              </p:cNvPr>
              <p:cNvSpPr txBox="1"/>
              <p:nvPr/>
            </p:nvSpPr>
            <p:spPr>
              <a:xfrm>
                <a:off x="902970" y="2468222"/>
                <a:ext cx="3943350" cy="1434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𝐏</m:t>
                                      </m:r>
                                    </m:e>
                                    <m: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𝐐</m:t>
                                      </m:r>
                                    </m:e>
                                    <m: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𝐧</m:t>
                                      </m:r>
                                    </m:e>
                                    <m: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𝐏</m:t>
                                      </m:r>
                                    </m:e>
                                    <m: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𝐐</m:t>
                                      </m:r>
                                    </m:e>
                                    <m: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𝐧</m:t>
                                      </m:r>
                                    </m:e>
                                    <m: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F4986D-A1CD-9C3F-367A-37CD5AE3A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70" y="2468222"/>
                <a:ext cx="3943350" cy="14348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15E0AD-87F8-9FB5-14B4-F49BF8140AE4}"/>
                  </a:ext>
                </a:extLst>
              </p:cNvPr>
              <p:cNvSpPr txBox="1"/>
              <p:nvPr/>
            </p:nvSpPr>
            <p:spPr>
              <a:xfrm>
                <a:off x="1995142" y="5008608"/>
                <a:ext cx="244067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15E0AD-87F8-9FB5-14B4-F49BF8140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142" y="5008608"/>
                <a:ext cx="244067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6F44F9D-DE99-2686-12F1-7C527C31852A}"/>
              </a:ext>
            </a:extLst>
          </p:cNvPr>
          <p:cNvSpPr txBox="1"/>
          <p:nvPr/>
        </p:nvSpPr>
        <p:spPr>
          <a:xfrm>
            <a:off x="5941506" y="1492532"/>
            <a:ext cx="6348590" cy="552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</a:pPr>
            <a:r>
              <a:rPr lang="en-US" sz="2800" dirty="0">
                <a:solidFill>
                  <a:srgbClr val="002060"/>
                </a:solidFill>
                <a:effectLst/>
                <a:latin typeface="+mj-lt"/>
                <a:ea typeface="Times New Roman" panose="02020603050405020304" pitchFamily="18" charset="0"/>
                <a:cs typeface="Shruti" panose="020B0502040204020203" pitchFamily="34" charset="0"/>
              </a:rPr>
              <a:t>When population proportions are </a:t>
            </a:r>
            <a:r>
              <a:rPr lang="en-US" sz="2800" b="1" dirty="0">
                <a:solidFill>
                  <a:srgbClr val="FF0000"/>
                </a:solidFill>
                <a:effectLst/>
                <a:latin typeface="+mj-lt"/>
                <a:ea typeface="Times New Roman" panose="02020603050405020304" pitchFamily="18" charset="0"/>
                <a:cs typeface="Shruti" panose="020B0502040204020203" pitchFamily="34" charset="0"/>
              </a:rPr>
              <a:t>unknown</a:t>
            </a:r>
            <a:endParaRPr lang="en-IN" sz="2800" dirty="0">
              <a:solidFill>
                <a:srgbClr val="002060"/>
              </a:solidFill>
              <a:effectLst/>
              <a:latin typeface="+mj-lt"/>
              <a:ea typeface="Times New Roman" panose="02020603050405020304" pitchFamily="18" charset="0"/>
              <a:cs typeface="Shrut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6C38E5D-6159-D337-0458-5070340E3ED1}"/>
                  </a:ext>
                </a:extLst>
              </p:cNvPr>
              <p:cNvSpPr txBox="1"/>
              <p:nvPr/>
            </p:nvSpPr>
            <p:spPr>
              <a:xfrm>
                <a:off x="6898869" y="2468222"/>
                <a:ext cx="4229099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𝐩𝐪</m:t>
                              </m:r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</m:e>
                                        <m:sub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</m:e>
                                        <m:sub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6C38E5D-6159-D337-0458-5070340E3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869" y="2468222"/>
                <a:ext cx="4229099" cy="13722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B13C4C-FB8E-AA8D-B858-814733594040}"/>
                  </a:ext>
                </a:extLst>
              </p:cNvPr>
              <p:cNvSpPr txBox="1"/>
              <p:nvPr/>
            </p:nvSpPr>
            <p:spPr>
              <a:xfrm>
                <a:off x="5941506" y="4197328"/>
                <a:ext cx="5227768" cy="1622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m:rPr>
                          <m:sty m:val="p"/>
                        </m:rPr>
                        <a:rPr lang="en-IN" sz="280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here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𝐩</m:t>
                      </m:r>
                      <m:r>
                        <a:rPr lang="en-IN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e>
                            <m:sub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e>
                            <m:sub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e>
                            <m:sub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e>
                            <m:sub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IN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IN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endParaRPr lang="en-IN" sz="160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r>
                  <a:rPr lang="en-IN" sz="2800" b="1" dirty="0">
                    <a:solidFill>
                      <a:srgbClr val="002060"/>
                    </a:solidFill>
                  </a:rPr>
                  <a:t>	   </a:t>
                </a:r>
                <a14:m>
                  <m:oMath xmlns:m="http://schemas.openxmlformats.org/officeDocument/2006/math">
                    <m:r>
                      <a:rPr lang="en-IN" sz="28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𝐪</m:t>
                    </m:r>
                    <m:r>
                      <a:rPr lang="en-IN" sz="28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sz="28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b="1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𝐩</m:t>
                    </m:r>
                  </m:oMath>
                </a14:m>
                <a:endParaRPr lang="en-IN" sz="28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5B13C4C-FB8E-AA8D-B858-814733594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506" y="4197328"/>
                <a:ext cx="5227768" cy="16225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345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12" grpId="0"/>
      <p:bldP spid="7" grpId="0"/>
      <p:bldP spid="8" grpId="0"/>
      <p:bldP spid="9" grpId="0"/>
      <p:bldP spid="13" grpId="0"/>
      <p:bldP spid="15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AFF48-BF88-24AB-B34F-B62C1837A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D1FAD-B2CC-4878-4705-06C3C80E9B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1632249"/>
                <a:ext cx="11929641" cy="2114404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2060"/>
                    </a:solidFill>
                  </a:rPr>
                  <a:t>Since population proportions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	​,</m:t>
                    </m:r>
                    <m:sSub>
                      <m:sSubPr>
                        <m:ctrlPr>
                          <a:rPr lang="en-IN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b="0" i="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​ are unknown, they are estimated by sample proportions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b="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	​,</m:t>
                    </m:r>
                    <m:sSub>
                      <m:sSubPr>
                        <m:ctrlPr>
                          <a:rPr lang="en-IN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b="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.</a:t>
                </a:r>
              </a:p>
              <a:p>
                <a:r>
                  <a:rPr lang="en-US" dirty="0"/>
                  <a:t>Hence the standard error uses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​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​ instead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​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>
                    <a:solidFill>
                      <a:srgbClr val="002060"/>
                    </a:solidFill>
                  </a:rPr>
                  <a:t>.</a:t>
                </a:r>
              </a:p>
              <a:p>
                <a:pPr lvl="0">
                  <a:lnSpc>
                    <a:spcPct val="145000"/>
                  </a:lnSpc>
                </a:pPr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D1FAD-B2CC-4878-4705-06C3C80E9B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1632249"/>
                <a:ext cx="11929641" cy="2114404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9FA2CE7-1DF0-107B-FFE5-4755FFB7F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limits for difference of Proportions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FD5D1C-010D-C02F-54D3-E7CEA9EC6545}"/>
                  </a:ext>
                </a:extLst>
              </p:cNvPr>
              <p:cNvSpPr txBox="1"/>
              <p:nvPr/>
            </p:nvSpPr>
            <p:spPr>
              <a:xfrm>
                <a:off x="4325980" y="942450"/>
                <a:ext cx="35400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US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US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8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b>
                          <m:r>
                            <a:rPr lang="en-US" sz="28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𝛂</m:t>
                          </m:r>
                        </m:sub>
                      </m:sSub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1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𝐒𝐄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FD5D1C-010D-C02F-54D3-E7CEA9EC6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980" y="942450"/>
                <a:ext cx="354004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44A99B-2A55-87EF-8FD8-A69726A8B19B}"/>
                  </a:ext>
                </a:extLst>
              </p:cNvPr>
              <p:cNvSpPr txBox="1"/>
              <p:nvPr/>
            </p:nvSpPr>
            <p:spPr>
              <a:xfrm>
                <a:off x="218729" y="5558910"/>
                <a:ext cx="7635240" cy="553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sz="280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rPr>
                          <m:t>α</m:t>
                        </m:r>
                      </m:sub>
                    </m:sSub>
                    <m:r>
                      <a:rPr lang="en-US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effectLst/>
                    <a:latin typeface="+mj-lt"/>
                    <a:ea typeface="Times New Roman" panose="02020603050405020304" pitchFamily="18" charset="0"/>
                    <a:cs typeface="Shruti" panose="020B0502040204020203" pitchFamily="34" charset="0"/>
                  </a:rPr>
                  <a:t> Critical value at level of significance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Shruti" panose="020B0502040204020203" pitchFamily="34" charset="0"/>
                      </a:rPr>
                      <m:t>α</m:t>
                    </m:r>
                  </m:oMath>
                </a14:m>
                <a:endParaRPr lang="en-IN" sz="2800" dirty="0">
                  <a:solidFill>
                    <a:srgbClr val="002060"/>
                  </a:solidFill>
                  <a:effectLst/>
                  <a:latin typeface="+mj-lt"/>
                  <a:ea typeface="Times New Roman" panose="02020603050405020304" pitchFamily="18" charset="0"/>
                  <a:cs typeface="Shruti" panose="020B0502040204020203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44A99B-2A55-87EF-8FD8-A69726A8B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29" y="5558910"/>
                <a:ext cx="7635240" cy="553741"/>
              </a:xfrm>
              <a:prstGeom prst="rect">
                <a:avLst/>
              </a:prstGeom>
              <a:blipFill>
                <a:blip r:embed="rId4"/>
                <a:stretch>
                  <a:fillRect l="-1677" t="-6593" b="-296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F8AE20-E622-2B76-1723-DB001F6E0762}"/>
                  </a:ext>
                </a:extLst>
              </p:cNvPr>
              <p:cNvSpPr txBox="1"/>
              <p:nvPr/>
            </p:nvSpPr>
            <p:spPr>
              <a:xfrm>
                <a:off x="3310413" y="3860377"/>
                <a:ext cx="5571175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80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US" sz="2800" b="1" i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2800" b="1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𝐙</m:t>
                          </m:r>
                        </m:e>
                        <m:sub>
                          <m:r>
                            <a:rPr lang="en-US" sz="2800" b="1" i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𝛂</m:t>
                          </m:r>
                        </m:sub>
                      </m:sSub>
                      <m:r>
                        <a:rPr lang="en-US" sz="2800" i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IN" sz="2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b="1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𝐩</m:t>
                                  </m:r>
                                </m:e>
                                <m:sub>
                                  <m:r>
                                    <a:rPr lang="en-IN" sz="28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𝐪</m:t>
                                  </m:r>
                                </m:e>
                                <m:sub>
                                  <m:r>
                                    <a:rPr lang="en-IN" sz="28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2800" b="1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b>
                                  <m:r>
                                    <a:rPr lang="en-IN" sz="28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den>
                          </m:f>
                          <m:r>
                            <a:rPr lang="en-IN" sz="2800" b="1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𝐩</m:t>
                                  </m:r>
                                </m:e>
                                <m:sub>
                                  <m:r>
                                    <a:rPr lang="en-IN" sz="28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𝐪</m:t>
                                  </m:r>
                                </m:e>
                                <m:sub>
                                  <m:r>
                                    <a:rPr lang="en-IN" sz="28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2800" b="1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𝐧</m:t>
                                  </m:r>
                                </m:e>
                                <m:sub>
                                  <m:r>
                                    <a:rPr lang="en-IN" sz="2800" b="1" i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F8AE20-E622-2B76-1723-DB001F6E0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413" y="3860377"/>
                <a:ext cx="5571175" cy="13653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701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4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52C2E-6879-4F55-469C-8A1E94DAA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24FBB-EAF7-3A1C-F35A-5DEC6720E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Idea about Hypotheses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6F6196-BD63-8820-F842-9F78BF2967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2"/>
                <a:ext cx="11928475" cy="5076756"/>
              </a:xfrm>
            </p:spPr>
            <p:txBody>
              <a:bodyPr/>
              <a:lstStyle/>
              <a:p>
                <a:pPr lvl="0"/>
                <a:r>
                  <a:rPr lang="en-US" dirty="0"/>
                  <a:t>Usually we test: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​(No difference between population proportions)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 smtClean="0"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𝐏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​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(or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IN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 depending on the question)</a:t>
                </a:r>
              </a:p>
              <a:p>
                <a:r>
                  <a:rPr lang="en-US" dirty="0"/>
                  <a:t>Note that, </a:t>
                </a:r>
              </a:p>
              <a:p>
                <a:pPr lvl="1"/>
                <a:r>
                  <a:rPr lang="en-US" dirty="0"/>
                  <a:t>Significant difference → Real difference</a:t>
                </a:r>
              </a:p>
              <a:p>
                <a:pPr lvl="1"/>
                <a:r>
                  <a:rPr lang="en-US" dirty="0"/>
                  <a:t>No significant difference → Difference due to chance</a:t>
                </a:r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6F6196-BD63-8820-F842-9F78BF2967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2"/>
                <a:ext cx="11928475" cy="5076756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791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7B49C-5706-50A5-EA32-81A36B06C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6E52EFC-04B6-CB90-D03C-CEC5ED6715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23361"/>
                <a:ext cx="11929643" cy="26938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r>
                  <a:rPr lang="en-US" dirty="0"/>
                  <a:t>A random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lang="en-US" dirty="0"/>
                  <a:t> shoppers at a supermarket includes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204</m:t>
                    </m:r>
                  </m:oMath>
                </a14:m>
                <a:r>
                  <a:rPr lang="en-US" dirty="0"/>
                  <a:t> who regularly uses cents off coupons. In another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lang="en-US" dirty="0"/>
                  <a:t> shoppers at a supermarket includes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US" dirty="0"/>
                  <a:t> who regularly uses cents off coupons. Obtain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confidence limits for the difference in the populations.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=1.96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6E52EFC-04B6-CB90-D03C-CEC5ED671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23361"/>
                <a:ext cx="11929643" cy="2693866"/>
              </a:xfrm>
              <a:prstGeom prst="rect">
                <a:avLst/>
              </a:prstGeom>
              <a:blipFill>
                <a:blip r:embed="rId2"/>
                <a:stretch>
                  <a:fillRect l="-1074" r="-1074" b="-42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1B890E7-A751-112D-580B-EF59E2FF4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14043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12F18-CF38-69B7-1675-81DEFF162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EDBFE-A433-0129-8DE8-B19AC7AF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1⇝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A881A70-8DA1-F236-FAA5-A6490B3429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Two different supermarkets (or two populations of shoppers) are considered.</a:t>
                </a:r>
              </a:p>
              <a:p>
                <a:r>
                  <a:rPr lang="en-US" dirty="0"/>
                  <a:t>We take two samples:</a:t>
                </a:r>
              </a:p>
              <a:p>
                <a:pPr lvl="1"/>
                <a:r>
                  <a:rPr lang="en-US" dirty="0"/>
                  <a:t>Sample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=300</m:t>
                    </m:r>
                  </m:oMath>
                </a14:m>
                <a:r>
                  <a:rPr lang="en-US" dirty="0"/>
                  <a:t> shoppers,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204</m:t>
                    </m:r>
                  </m:oMath>
                </a14:m>
                <a:r>
                  <a:rPr lang="en-US" dirty="0"/>
                  <a:t> use coupons regularly</a:t>
                </a:r>
              </a:p>
              <a:p>
                <a:pPr lvl="1"/>
                <a:r>
                  <a:rPr lang="en-US" dirty="0"/>
                  <a:t>Sample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=500</m:t>
                    </m:r>
                  </m:oMath>
                </a14:m>
                <a:r>
                  <a:rPr lang="en-US" dirty="0"/>
                  <a:t> shoppers,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US" dirty="0"/>
                  <a:t> use coupons regularly</a:t>
                </a:r>
              </a:p>
              <a:p>
                <a:r>
                  <a:rPr lang="en-US" dirty="0"/>
                  <a:t>The question asks: </a:t>
                </a:r>
              </a:p>
              <a:p>
                <a:pPr lvl="1"/>
                <a:r>
                  <a:rPr lang="en-US" dirty="0"/>
                  <a:t>Estimate the difference between the population proportions of coupon users in the two supermarkets.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A881A70-8DA1-F236-FAA5-A6490B3429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824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3864C-E9B0-A2F2-52F1-88B981F2F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DC002-4C73-FF0D-1988-3D68DDD1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1⇝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7B5F487-3CBB-B709-04EC-17EDB6C774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Since we only have sample data, we calculate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confidence interval for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273050" indent="0">
                  <a:buNone/>
                </a:pPr>
                <a:r>
                  <a:rPr lang="en-US" dirty="0"/>
                  <a:t>where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true proportion of coupon users in population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true proportion of coupon users in population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N" dirty="0"/>
              </a:p>
              <a:p>
                <a:r>
                  <a:rPr lang="en-US" dirty="0"/>
                  <a:t>So, the goal is:</a:t>
                </a:r>
              </a:p>
              <a:p>
                <a:pPr lvl="1"/>
                <a:r>
                  <a:rPr lang="en-US" dirty="0"/>
                  <a:t>Find a range that likely contains the true difference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7B5F487-3CBB-B709-04EC-17EDB6C774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077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EB61C-4124-3263-9E40-83D25EB38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454F68BF-0102-FE84-8560-9D94CECA38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23361"/>
                <a:ext cx="11929643" cy="26938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endParaRPr lang="en-US" dirty="0"/>
              </a:p>
              <a:p>
                <a:r>
                  <a:rPr lang="en-US" dirty="0"/>
                  <a:t>A random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lang="en-US" dirty="0"/>
                  <a:t> shoppers at a supermarket includes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204</m:t>
                    </m:r>
                  </m:oMath>
                </a14:m>
                <a:r>
                  <a:rPr lang="en-US" dirty="0"/>
                  <a:t> who regularly uses cents off coupons. In another sample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500</m:t>
                    </m:r>
                  </m:oMath>
                </a14:m>
                <a:r>
                  <a:rPr lang="en-US" dirty="0"/>
                  <a:t> shoppers at a supermarket includes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US" dirty="0"/>
                  <a:t> who regularly uses cents off coupons. Obtain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confidence limits for the difference in the populations.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=1.96 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454F68BF-0102-FE84-8560-9D94CECA3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23361"/>
                <a:ext cx="11929643" cy="2693866"/>
              </a:xfrm>
              <a:prstGeom prst="rect">
                <a:avLst/>
              </a:prstGeom>
              <a:blipFill>
                <a:blip r:embed="rId2"/>
                <a:stretch>
                  <a:fillRect l="-1074" r="-1074" b="-42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94DBB90-AB18-F299-E9C6-8EF110376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A5AFCB-7133-33CB-F057-5F656954EF8F}"/>
              </a:ext>
            </a:extLst>
          </p:cNvPr>
          <p:cNvSpPr/>
          <p:nvPr/>
        </p:nvSpPr>
        <p:spPr>
          <a:xfrm>
            <a:off x="131177" y="360872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C1B3F9D-E8D2-C873-FEEF-D3E9A6F1AFD9}"/>
                  </a:ext>
                </a:extLst>
              </p:cNvPr>
              <p:cNvSpPr/>
              <p:nvPr/>
            </p:nvSpPr>
            <p:spPr>
              <a:xfrm>
                <a:off x="1729663" y="4294193"/>
                <a:ext cx="16892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C1B3F9D-E8D2-C873-FEEF-D3E9A6F1AF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663" y="4294193"/>
                <a:ext cx="168924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EAC2C31-6CA8-932B-9037-1EC97BAA7E9D}"/>
                  </a:ext>
                </a:extLst>
              </p:cNvPr>
              <p:cNvSpPr/>
              <p:nvPr/>
            </p:nvSpPr>
            <p:spPr>
              <a:xfrm>
                <a:off x="1729663" y="4943791"/>
                <a:ext cx="1689245" cy="8989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204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300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EAC2C31-6CA8-932B-9037-1EC97BAA7E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663" y="4943791"/>
                <a:ext cx="1689245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E71CBA4-396A-A823-5A8A-A2C79D5F0F44}"/>
                  </a:ext>
                </a:extLst>
              </p:cNvPr>
              <p:cNvSpPr/>
              <p:nvPr/>
            </p:nvSpPr>
            <p:spPr>
              <a:xfrm>
                <a:off x="3327468" y="5177383"/>
                <a:ext cx="13039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E71CBA4-396A-A823-5A8A-A2C79D5F0F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7468" y="5177383"/>
                <a:ext cx="130394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C654557-BC97-E9AC-052D-B9AA344A4E10}"/>
                  </a:ext>
                </a:extLst>
              </p:cNvPr>
              <p:cNvSpPr/>
              <p:nvPr/>
            </p:nvSpPr>
            <p:spPr>
              <a:xfrm>
                <a:off x="1758846" y="6046562"/>
                <a:ext cx="34843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=0.32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C654557-BC97-E9AC-052D-B9AA344A4E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846" y="6046562"/>
                <a:ext cx="348436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6D7A17-4B8C-4717-CC15-84FCEF6C8494}"/>
              </a:ext>
            </a:extLst>
          </p:cNvPr>
          <p:cNvCxnSpPr>
            <a:cxnSpLocks/>
          </p:cNvCxnSpPr>
          <p:nvPr/>
        </p:nvCxnSpPr>
        <p:spPr>
          <a:xfrm>
            <a:off x="5721085" y="3663814"/>
            <a:ext cx="0" cy="2905968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6CBEF57-B220-879D-39D8-908A8390283A}"/>
              </a:ext>
            </a:extLst>
          </p:cNvPr>
          <p:cNvSpPr/>
          <p:nvPr/>
        </p:nvSpPr>
        <p:spPr>
          <a:xfrm>
            <a:off x="1729662" y="3659379"/>
            <a:ext cx="15978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u="sng" dirty="0">
                <a:solidFill>
                  <a:srgbClr val="002060"/>
                </a:solidFill>
              </a:rPr>
              <a:t>Sample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5A074D9-A95A-D125-8213-4130ACA14022}"/>
                  </a:ext>
                </a:extLst>
              </p:cNvPr>
              <p:cNvSpPr/>
              <p:nvPr/>
            </p:nvSpPr>
            <p:spPr>
              <a:xfrm>
                <a:off x="6510279" y="4294193"/>
                <a:ext cx="16892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5A074D9-A95A-D125-8213-4130ACA140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279" y="4294193"/>
                <a:ext cx="168924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3728FA-D9C6-8F6F-8E2B-F09DA965DEC3}"/>
                  </a:ext>
                </a:extLst>
              </p:cNvPr>
              <p:cNvSpPr/>
              <p:nvPr/>
            </p:nvSpPr>
            <p:spPr>
              <a:xfrm>
                <a:off x="6510279" y="4943791"/>
                <a:ext cx="1689245" cy="9105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75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500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3728FA-D9C6-8F6F-8E2B-F09DA965DE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279" y="4943791"/>
                <a:ext cx="1689245" cy="9105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6A6A4AC-FA30-5F2C-A0E1-0C09A379B996}"/>
                  </a:ext>
                </a:extLst>
              </p:cNvPr>
              <p:cNvSpPr/>
              <p:nvPr/>
            </p:nvSpPr>
            <p:spPr>
              <a:xfrm>
                <a:off x="8033821" y="5197033"/>
                <a:ext cx="14117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6A6A4AC-FA30-5F2C-A0E1-0C09A379B9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3821" y="5197033"/>
                <a:ext cx="141173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402D99D-DB51-D8E5-B895-5BE28279334F}"/>
                  </a:ext>
                </a:extLst>
              </p:cNvPr>
              <p:cNvSpPr/>
              <p:nvPr/>
            </p:nvSpPr>
            <p:spPr>
              <a:xfrm>
                <a:off x="6539462" y="6046562"/>
                <a:ext cx="337302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=0.85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402D99D-DB51-D8E5-B895-5BE2827933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9462" y="6046562"/>
                <a:ext cx="337302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AFFE616D-8AF7-EB59-9353-6D14C2E28C0B}"/>
              </a:ext>
            </a:extLst>
          </p:cNvPr>
          <p:cNvSpPr/>
          <p:nvPr/>
        </p:nvSpPr>
        <p:spPr>
          <a:xfrm>
            <a:off x="6510278" y="3659379"/>
            <a:ext cx="168924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u="sng" dirty="0">
                <a:solidFill>
                  <a:srgbClr val="002060"/>
                </a:solidFill>
              </a:rPr>
              <a:t>Sample 2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00B757-B69D-01C3-C8FD-E412561919CB}"/>
              </a:ext>
            </a:extLst>
          </p:cNvPr>
          <p:cNvCxnSpPr/>
          <p:nvPr/>
        </p:nvCxnSpPr>
        <p:spPr>
          <a:xfrm flipV="1">
            <a:off x="3277025" y="1518300"/>
            <a:ext cx="66042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D5E6BF-9056-9F0A-DBE1-8B8161540761}"/>
              </a:ext>
            </a:extLst>
          </p:cNvPr>
          <p:cNvCxnSpPr/>
          <p:nvPr/>
        </p:nvCxnSpPr>
        <p:spPr>
          <a:xfrm flipV="1">
            <a:off x="9298856" y="1517908"/>
            <a:ext cx="66042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D03C4FB-FA08-4D29-C85F-1C3EDA88A3AA}"/>
              </a:ext>
            </a:extLst>
          </p:cNvPr>
          <p:cNvCxnSpPr/>
          <p:nvPr/>
        </p:nvCxnSpPr>
        <p:spPr>
          <a:xfrm flipV="1">
            <a:off x="3257975" y="1518300"/>
            <a:ext cx="66042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A8297B1-299F-EACD-D07E-86B1AE46D0C8}"/>
              </a:ext>
            </a:extLst>
          </p:cNvPr>
          <p:cNvCxnSpPr/>
          <p:nvPr/>
        </p:nvCxnSpPr>
        <p:spPr>
          <a:xfrm flipV="1">
            <a:off x="7214717" y="2170323"/>
            <a:ext cx="66042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31713AE-6616-49DD-9670-593335E20492}"/>
              </a:ext>
            </a:extLst>
          </p:cNvPr>
          <p:cNvCxnSpPr/>
          <p:nvPr/>
        </p:nvCxnSpPr>
        <p:spPr>
          <a:xfrm flipV="1">
            <a:off x="1416052" y="2832391"/>
            <a:ext cx="568853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F255B56-DF5A-630E-12F3-F400A7C0712E}"/>
              </a:ext>
            </a:extLst>
          </p:cNvPr>
          <p:cNvCxnSpPr/>
          <p:nvPr/>
        </p:nvCxnSpPr>
        <p:spPr>
          <a:xfrm flipV="1">
            <a:off x="2571613" y="2832391"/>
            <a:ext cx="4643104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9DF7918-8FA0-848F-85BB-354412351E5C}"/>
              </a:ext>
            </a:extLst>
          </p:cNvPr>
          <p:cNvCxnSpPr/>
          <p:nvPr/>
        </p:nvCxnSpPr>
        <p:spPr>
          <a:xfrm flipV="1">
            <a:off x="7214717" y="2170323"/>
            <a:ext cx="66042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157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A9B99-58F8-AC4D-1538-9BB48C9F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B2D74-C6B7-B722-83AC-1AEC74729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52BE535-EC36-2F98-F0CD-7043FEBDD011}"/>
                  </a:ext>
                </a:extLst>
              </p:cNvPr>
              <p:cNvSpPr/>
              <p:nvPr/>
            </p:nvSpPr>
            <p:spPr>
              <a:xfrm>
                <a:off x="137270" y="814000"/>
                <a:ext cx="941821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confidence limits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52BE535-EC36-2F98-F0CD-7043FEBDD0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70" y="814000"/>
                <a:ext cx="9418210" cy="523220"/>
              </a:xfrm>
              <a:prstGeom prst="rect">
                <a:avLst/>
              </a:prstGeom>
              <a:blipFill>
                <a:blip r:embed="rId2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AF90748-EC33-8260-C2F4-7FB99BD9F29E}"/>
                  </a:ext>
                </a:extLst>
              </p:cNvPr>
              <p:cNvSpPr/>
              <p:nvPr/>
            </p:nvSpPr>
            <p:spPr>
              <a:xfrm>
                <a:off x="3526143" y="810868"/>
                <a:ext cx="342913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α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SE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AF90748-EC33-8260-C2F4-7FB99BD9F2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143" y="810868"/>
                <a:ext cx="342913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95361F9-2006-2585-18BF-4B754A3BFD60}"/>
                  </a:ext>
                </a:extLst>
              </p:cNvPr>
              <p:cNvSpPr/>
              <p:nvPr/>
            </p:nvSpPr>
            <p:spPr>
              <a:xfrm>
                <a:off x="3214101" y="1676444"/>
                <a:ext cx="6516448" cy="13653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95361F9-2006-2585-18BF-4B754A3BFD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101" y="1676444"/>
                <a:ext cx="6516448" cy="13653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E3F6B59-26E4-4AB8-E15E-537954408F48}"/>
              </a:ext>
            </a:extLst>
          </p:cNvPr>
          <p:cNvSpPr/>
          <p:nvPr/>
        </p:nvSpPr>
        <p:spPr>
          <a:xfrm>
            <a:off x="235783" y="3162282"/>
            <a:ext cx="20955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</a:rPr>
              <a:t>Calculation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AB0C34-2BED-ED9B-8778-37E97A2058E7}"/>
                  </a:ext>
                </a:extLst>
              </p:cNvPr>
              <p:cNvSpPr txBox="1"/>
              <p:nvPr/>
            </p:nvSpPr>
            <p:spPr>
              <a:xfrm>
                <a:off x="235782" y="3795376"/>
                <a:ext cx="2095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AB0C34-2BED-ED9B-8778-37E97A205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82" y="3795376"/>
                <a:ext cx="20955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1B681B-2AC5-D7CC-745C-8DA04C83AD9E}"/>
                  </a:ext>
                </a:extLst>
              </p:cNvPr>
              <p:cNvSpPr txBox="1"/>
              <p:nvPr/>
            </p:nvSpPr>
            <p:spPr>
              <a:xfrm>
                <a:off x="2049491" y="3798508"/>
                <a:ext cx="245173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0.68</m:t>
                          </m:r>
                          <m:r>
                            <a:rPr lang="en-US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0.15</m:t>
                          </m:r>
                        </m:e>
                      </m: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1B681B-2AC5-D7CC-745C-8DA04C83A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491" y="3798508"/>
                <a:ext cx="245173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F466A5-C274-CBB7-E87E-3A835F291EB3}"/>
                  </a:ext>
                </a:extLst>
              </p:cNvPr>
              <p:cNvSpPr txBox="1"/>
              <p:nvPr/>
            </p:nvSpPr>
            <p:spPr>
              <a:xfrm>
                <a:off x="4290559" y="3795376"/>
                <a:ext cx="148136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=0.53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1F466A5-C274-CBB7-E87E-3A835F291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559" y="3795376"/>
                <a:ext cx="148136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DEFBE4-6103-77D8-1285-ED320D8FED6C}"/>
                  </a:ext>
                </a:extLst>
              </p:cNvPr>
              <p:cNvSpPr txBox="1"/>
              <p:nvPr/>
            </p:nvSpPr>
            <p:spPr>
              <a:xfrm>
                <a:off x="235782" y="4752681"/>
                <a:ext cx="3105201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IN" sz="280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DEFBE4-6103-77D8-1285-ED320D8FE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82" y="4752681"/>
                <a:ext cx="3105201" cy="13653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F34870-6EEA-3176-1955-7C1F1C19CF3D}"/>
                  </a:ext>
                </a:extLst>
              </p:cNvPr>
              <p:cNvSpPr txBox="1"/>
              <p:nvPr/>
            </p:nvSpPr>
            <p:spPr>
              <a:xfrm>
                <a:off x="2651133" y="4752681"/>
                <a:ext cx="5764527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0.68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0.32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300</m:t>
                              </m:r>
                            </m:den>
                          </m:f>
                          <m:r>
                            <a:rPr lang="en-IN" sz="2800" b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15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85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80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F34870-6EEA-3176-1955-7C1F1C19C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133" y="4752681"/>
                <a:ext cx="5764527" cy="136537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27A3D6-1D73-E65B-20EE-CE2E517DEF4B}"/>
                  </a:ext>
                </a:extLst>
              </p:cNvPr>
              <p:cNvSpPr txBox="1"/>
              <p:nvPr/>
            </p:nvSpPr>
            <p:spPr>
              <a:xfrm>
                <a:off x="7714540" y="5270624"/>
                <a:ext cx="19394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0.0313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727A3D6-1D73-E65B-20EE-CE2E517DE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4540" y="5270624"/>
                <a:ext cx="193945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469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" grpId="0"/>
      <p:bldP spid="6" grpId="0"/>
      <p:bldP spid="9" grpId="0"/>
      <p:bldP spid="11" grpId="0"/>
      <p:bldP spid="12" grpId="0"/>
      <p:bldP spid="13" grpId="0"/>
      <p:bldP spid="14" grpId="0"/>
      <p:bldP spid="16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35B20-B2A7-C217-8F4B-21D1A354B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C55BE-3943-F65D-F5A8-B083EBC58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12D260A-1B11-0890-886B-CD685AEA0DB3}"/>
                  </a:ext>
                </a:extLst>
              </p:cNvPr>
              <p:cNvSpPr/>
              <p:nvPr/>
            </p:nvSpPr>
            <p:spPr>
              <a:xfrm>
                <a:off x="164702" y="2480383"/>
                <a:ext cx="433920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0.53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0.0313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12D260A-1B11-0890-886B-CD685AEA0D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02" y="2480383"/>
                <a:ext cx="433920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D97C08-4C84-20D4-EEF8-CD155039DD0E}"/>
                  </a:ext>
                </a:extLst>
              </p:cNvPr>
              <p:cNvSpPr txBox="1"/>
              <p:nvPr/>
            </p:nvSpPr>
            <p:spPr>
              <a:xfrm>
                <a:off x="164703" y="898678"/>
                <a:ext cx="6479288" cy="1365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±1.96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D97C08-4C84-20D4-EEF8-CD155039D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03" y="898678"/>
                <a:ext cx="6479288" cy="13653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FA00D19-2512-B65C-D3D1-39BC7715B5BF}"/>
                  </a:ext>
                </a:extLst>
              </p:cNvPr>
              <p:cNvSpPr/>
              <p:nvPr/>
            </p:nvSpPr>
            <p:spPr>
              <a:xfrm>
                <a:off x="3241797" y="5707441"/>
                <a:ext cx="554543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., 0.4587≤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≤0.5913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FA00D19-2512-B65C-D3D1-39BC7715B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797" y="5707441"/>
                <a:ext cx="554543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FDE0C2-22AA-7DF0-899B-F0E82A1D2A58}"/>
                  </a:ext>
                </a:extLst>
              </p:cNvPr>
              <p:cNvSpPr txBox="1"/>
              <p:nvPr/>
            </p:nvSpPr>
            <p:spPr>
              <a:xfrm>
                <a:off x="91809" y="4903587"/>
                <a:ext cx="8695421" cy="6085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IN" sz="2800" b="0" i="0" dirty="0">
                    <a:solidFill>
                      <a:srgbClr val="002060"/>
                    </a:solidFill>
                    <a:latin typeface="+mj-lt"/>
                  </a:rPr>
                  <a:t> Confidence Interval </a:t>
                </a:r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800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687, </m:t>
                        </m:r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0.5913</m:t>
                        </m:r>
                      </m:e>
                    </m:d>
                  </m:oMath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FDE0C2-22AA-7DF0-899B-F0E82A1D2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09" y="4903587"/>
                <a:ext cx="8695421" cy="608500"/>
              </a:xfrm>
              <a:prstGeom prst="rect">
                <a:avLst/>
              </a:prstGeom>
              <a:blipFill>
                <a:blip r:embed="rId5"/>
                <a:stretch>
                  <a:fillRect b="-23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7922EAC-EF22-0796-F935-37731F048549}"/>
                  </a:ext>
                </a:extLst>
              </p:cNvPr>
              <p:cNvSpPr/>
              <p:nvPr/>
            </p:nvSpPr>
            <p:spPr>
              <a:xfrm>
                <a:off x="164702" y="3331178"/>
                <a:ext cx="540924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Lower Limit :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0.53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1.96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0.0313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7922EAC-EF22-0796-F935-37731F0485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02" y="3331178"/>
                <a:ext cx="5409246" cy="523220"/>
              </a:xfrm>
              <a:prstGeom prst="rect">
                <a:avLst/>
              </a:prstGeom>
              <a:blipFill>
                <a:blip r:embed="rId6"/>
                <a:stretch>
                  <a:fillRect l="-2255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8140D44-B2B5-A9E2-9952-8E12A29F11C4}"/>
                  </a:ext>
                </a:extLst>
              </p:cNvPr>
              <p:cNvSpPr/>
              <p:nvPr/>
            </p:nvSpPr>
            <p:spPr>
              <a:xfrm>
                <a:off x="5149638" y="3331178"/>
                <a:ext cx="314729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0.4687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8140D44-B2B5-A9E2-9952-8E12A29F11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638" y="3331178"/>
                <a:ext cx="314729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464EC44-2C6C-550E-D1B2-397A9B478187}"/>
                  </a:ext>
                </a:extLst>
              </p:cNvPr>
              <p:cNvSpPr/>
              <p:nvPr/>
            </p:nvSpPr>
            <p:spPr>
              <a:xfrm>
                <a:off x="164702" y="4146024"/>
                <a:ext cx="540924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800" dirty="0">
                    <a:solidFill>
                      <a:srgbClr val="002060"/>
                    </a:solidFill>
                  </a:rPr>
                  <a:t>Upper Limit :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0.53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1.96</m:t>
                    </m:r>
                    <m:d>
                      <m:dPr>
                        <m:ctrlP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0.0313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464EC44-2C6C-550E-D1B2-397A9B478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702" y="4146024"/>
                <a:ext cx="5409247" cy="523220"/>
              </a:xfrm>
              <a:prstGeom prst="rect">
                <a:avLst/>
              </a:prstGeom>
              <a:blipFill>
                <a:blip r:embed="rId8"/>
                <a:stretch>
                  <a:fillRect l="-2255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AC9896F-39F9-AE35-A63C-B98128F1232C}"/>
                  </a:ext>
                </a:extLst>
              </p:cNvPr>
              <p:cNvSpPr/>
              <p:nvPr/>
            </p:nvSpPr>
            <p:spPr>
              <a:xfrm>
                <a:off x="5149638" y="4147510"/>
                <a:ext cx="314729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.5913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AC9896F-39F9-AE35-A63C-B98128F123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638" y="4147510"/>
                <a:ext cx="314729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143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9" grpId="0"/>
      <p:bldP spid="12" grpId="0"/>
      <p:bldP spid="3" grpId="0"/>
      <p:bldP spid="4" grpId="0"/>
      <p:bldP spid="5" grpId="0"/>
      <p:bldP spid="6" grpId="0"/>
      <p:bldP spid="7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65B26-4A78-1732-F8EC-A7F6E377B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284BB-90F5-6070-B872-A5E97460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1(Continue)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Interpretation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F4E5FB-9771-DD6F-1384-737A823569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79" y="711202"/>
                <a:ext cx="11929641" cy="3996985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Confidence Statement</a:t>
                </a:r>
                <a:r>
                  <a:rPr lang="en-US" b="1" dirty="0"/>
                  <a:t> </a:t>
                </a:r>
              </a:p>
              <a:p>
                <a:pPr lvl="1"/>
                <a:r>
                  <a:rPr lang="en-US" dirty="0"/>
                  <a:t>We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95%</m:t>
                    </m:r>
                  </m:oMath>
                </a14:m>
                <a:r>
                  <a:rPr lang="en-US" dirty="0"/>
                  <a:t> confident that the true difference in proportions of coupon users between the two populations lies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46.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87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59.1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Meaning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0.4587≤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≤0.5913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Both limits are greater than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F4E5FB-9771-DD6F-1384-737A823569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79" y="711202"/>
                <a:ext cx="11929641" cy="3996985"/>
              </a:xfrm>
              <a:blipFill>
                <a:blip r:embed="rId2"/>
                <a:stretch>
                  <a:fillRect l="-971" r="-1074" b="-10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E62AFB5-6C07-EDFB-447F-6C5DA3631717}"/>
                  </a:ext>
                </a:extLst>
              </p:cNvPr>
              <p:cNvSpPr/>
              <p:nvPr/>
            </p:nvSpPr>
            <p:spPr>
              <a:xfrm>
                <a:off x="1004858" y="4708187"/>
                <a:ext cx="307103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E62AFB5-6C07-EDFB-447F-6C5DA3631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58" y="4708187"/>
                <a:ext cx="307103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E14EF9D-4750-64A9-AA88-512E4B60D64F}"/>
                  </a:ext>
                </a:extLst>
              </p:cNvPr>
              <p:cNvSpPr/>
              <p:nvPr/>
            </p:nvSpPr>
            <p:spPr>
              <a:xfrm>
                <a:off x="1004857" y="5427410"/>
                <a:ext cx="307103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E14EF9D-4750-64A9-AA88-512E4B60D6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57" y="5427410"/>
                <a:ext cx="307103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924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6F80-C1F0-3F76-4136-97F657FF4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1(Continue)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Interpretation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E6AAF55-9AAC-3DDC-A163-0D34FEF2D66D}"/>
                  </a:ext>
                </a:extLst>
              </p:cNvPr>
              <p:cNvSpPr/>
              <p:nvPr/>
            </p:nvSpPr>
            <p:spPr>
              <a:xfrm>
                <a:off x="119807" y="836572"/>
                <a:ext cx="307103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E6AAF55-9AAC-3DDC-A163-0D34FEF2D6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7" y="836572"/>
                <a:ext cx="3071033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81607CA5-8B77-A177-0A46-F30538113BE8}"/>
              </a:ext>
            </a:extLst>
          </p:cNvPr>
          <p:cNvSpPr/>
          <p:nvPr/>
        </p:nvSpPr>
        <p:spPr>
          <a:xfrm>
            <a:off x="119807" y="1484660"/>
            <a:ext cx="11952385" cy="1161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30000"/>
              </a:lnSpc>
            </a:pPr>
            <a:r>
              <a:rPr lang="en-US" sz="2800" dirty="0">
                <a:solidFill>
                  <a:srgbClr val="002060"/>
                </a:solidFill>
              </a:rPr>
              <a:t>Hence, the first supermarket has a higher proportion of coupon users than the second supermarket.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BB7C707-83F2-FD2F-B032-A855552CA1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4172" y="2670131"/>
                <a:ext cx="11929641" cy="3876584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Practical Meaning</a:t>
                </a: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The proportion of coupon users in the first population is about 46.9% to 59.1% higher than in the second population.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0.4587≤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≤0.5913</m:t>
                      </m:r>
                    </m:oMath>
                  </m:oMathPara>
                </a14:m>
                <a:endParaRPr lang="en-US" dirty="0"/>
              </a:p>
              <a:p>
                <a:pPr marL="3044825" lvl="2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0.4587+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&lt;0.5913+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3044825" lvl="2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0.4587 </m:t>
                          </m:r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to</m:t>
                          </m:r>
                          <m:r>
                            <a:rPr lang="en-IN" b="0" i="0" smtClean="0">
                              <a:latin typeface="Cambria Math" panose="02040503050406030204" pitchFamily="18" charset="0"/>
                            </a:rPr>
                            <m:t> 0.5913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BB7C707-83F2-FD2F-B032-A855552CA1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4172" y="2670131"/>
                <a:ext cx="11929641" cy="3876584"/>
              </a:xfrm>
              <a:blipFill>
                <a:blip r:embed="rId3"/>
                <a:stretch>
                  <a:fillRect l="-971" r="-10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6784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4D52-4AF0-344F-AA0F-8557CCDD1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668B431-058C-838D-0825-9279163890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270986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Random samples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lang="en-US" dirty="0"/>
                  <a:t> men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600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women were asked whether they would like to have a flyover near their residence.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US" dirty="0"/>
                  <a:t> men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lang="en-US" dirty="0"/>
                  <a:t> women were in favor of the proposal. Test the hypothesis that proportions of men and women in favor of the proposal are same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level of significance.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05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A668B431-058C-838D-0825-927916389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709861"/>
              </a:xfrm>
              <a:prstGeom prst="rect">
                <a:avLst/>
              </a:prstGeom>
              <a:blipFill>
                <a:blip r:embed="rId2"/>
                <a:stretch>
                  <a:fillRect l="-1074" r="-1074" b="-40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EF18007-BDBF-AA05-B8CD-0F1F7F20A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275542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A31A5-23D2-CF33-AECC-A34D6ABA4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E704F-8788-5C7C-5DEB-7DDCFD840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2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A837314-AA2D-EE40-2E6A-3323F05F4F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67421"/>
              </a:xfrm>
            </p:spPr>
            <p:txBody>
              <a:bodyPr/>
              <a:lstStyle/>
              <a:p>
                <a:r>
                  <a:rPr lang="en-US" dirty="0"/>
                  <a:t>A survey is conducted about building a flyover near people's houses.</a:t>
                </a:r>
              </a:p>
              <a:p>
                <a:r>
                  <a:rPr lang="en-US" dirty="0"/>
                  <a:t>Two groups were asked: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lang="en-US" dirty="0"/>
                  <a:t> men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lang="en-US" dirty="0"/>
                  <a:t> women</a:t>
                </a:r>
              </a:p>
              <a:p>
                <a:r>
                  <a:rPr lang="en-US" dirty="0"/>
                  <a:t>Their responses: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US" dirty="0"/>
                  <a:t> men said Yes (they support the flyover)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lang="en-US" dirty="0"/>
                  <a:t> women said Yes (they support the flyover)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A837314-AA2D-EE40-2E6A-3323F05F4F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67421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526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4E381-6A08-19A4-69AB-B31586BE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02733-0C56-7173-BAA3-6659F64EC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2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4C8FB7F-71E3-C492-F27E-B842EC56C4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261582"/>
              </a:xfrm>
            </p:spPr>
            <p:txBody>
              <a:bodyPr/>
              <a:lstStyle/>
              <a:p>
                <a:r>
                  <a:rPr lang="en-US" b="1" dirty="0"/>
                  <a:t>What are we actually testing?</a:t>
                </a:r>
              </a:p>
              <a:p>
                <a:pPr lvl="1"/>
                <a:r>
                  <a:rPr lang="en-US" dirty="0"/>
                  <a:t>More clearly, from the sample we got:</a:t>
                </a:r>
              </a:p>
              <a:p>
                <a:pPr lvl="2"/>
                <a:r>
                  <a:rPr lang="en-US" dirty="0"/>
                  <a:t>Men supporting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r>
                  <a:rPr lang="en-US" dirty="0"/>
                  <a:t>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400 (50%)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Women supporting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=325</m:t>
                    </m:r>
                  </m:oMath>
                </a14:m>
                <a:r>
                  <a:rPr lang="en-US" dirty="0"/>
                  <a:t> out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600 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≈54.2%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Now we test:</a:t>
                </a:r>
              </a:p>
              <a:p>
                <a:pPr lvl="2"/>
                <a:r>
                  <a:rPr lang="en-US" dirty="0"/>
                  <a:t>Is this difference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50% </m:t>
                        </m:r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vs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54.2%</m:t>
                        </m:r>
                      </m:e>
                    </m:d>
                  </m:oMath>
                </a14:m>
                <a:r>
                  <a:rPr lang="en-US" dirty="0"/>
                  <a:t> just due to random sampling?</a:t>
                </a:r>
              </a:p>
              <a:p>
                <a:pPr lvl="2"/>
                <a:r>
                  <a:rPr lang="en-US" dirty="0"/>
                  <a:t>Or does it mean men and women actually think differently in the population?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4C8FB7F-71E3-C492-F27E-B842EC56C4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261582"/>
              </a:xfrm>
              <a:blipFill>
                <a:blip r:embed="rId2"/>
                <a:stretch>
                  <a:fillRect l="-971" r="-1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7136461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68639-F7C5-F1E1-9E2F-2F265B894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D9793-4503-4E34-C7D0-32405948B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2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Idea about Hypotheses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9FD235A-8285-5354-2CE8-FFF74785CB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602050"/>
              </a:xfrm>
            </p:spPr>
            <p:txBody>
              <a:bodyPr/>
              <a:lstStyle/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proportion of men and women who support the flyover is the same.</a:t>
                </a:r>
              </a:p>
              <a:p>
                <a:pPr lvl="1"/>
                <a:r>
                  <a:rPr lang="en-US" dirty="0"/>
                  <a:t>So, any difference we see in the sample (200/400 and 325/600) is only due to chance or sampling variation.</a:t>
                </a:r>
              </a:p>
              <a:p>
                <a:r>
                  <a:rPr lang="en-US" dirty="0"/>
                  <a:t>​Alternative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proportion of men and women who support the flyover is different in the population.</a:t>
                </a:r>
              </a:p>
              <a:p>
                <a:pPr lvl="1"/>
                <a:r>
                  <a:rPr lang="en-US" dirty="0"/>
                  <a:t>So, the difference we see in the sample is real and not due to chance.​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9FD235A-8285-5354-2CE8-FFF74785CB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602050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321414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3BA75-B01A-2C1D-E665-73991A04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A2A734A-CF91-33F8-1571-048884B86C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273763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Random samples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lang="en-US" dirty="0"/>
                  <a:t> men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600 </m:t>
                    </m:r>
                  </m:oMath>
                </a14:m>
                <a:r>
                  <a:rPr lang="en-US" dirty="0"/>
                  <a:t>women were asked whether they would like to have a flyover near their residence.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US" dirty="0"/>
                  <a:t> men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lang="en-US" dirty="0"/>
                  <a:t> women were in favor of the proposal. Test the hypothesis that proportions of men and women in favor of the proposal are same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level of significance.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=1.96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A2A734A-CF91-33F8-1571-048884B86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737631"/>
              </a:xfrm>
              <a:prstGeom prst="rect">
                <a:avLst/>
              </a:prstGeom>
              <a:blipFill>
                <a:blip r:embed="rId2"/>
                <a:stretch>
                  <a:fillRect l="-1074" r="-1074" b="-35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3ED58F9-F4DE-1028-C99B-27BCF1B4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2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356BCB8-3E7D-99F4-86E7-CDC201E2E61F}"/>
              </a:ext>
            </a:extLst>
          </p:cNvPr>
          <p:cNvSpPr/>
          <p:nvPr/>
        </p:nvSpPr>
        <p:spPr>
          <a:xfrm>
            <a:off x="131177" y="4002452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B8E4856-587B-E85A-A36C-FC0E4ABA8984}"/>
                  </a:ext>
                </a:extLst>
              </p:cNvPr>
              <p:cNvSpPr/>
              <p:nvPr/>
            </p:nvSpPr>
            <p:spPr>
              <a:xfrm>
                <a:off x="1729663" y="4717103"/>
                <a:ext cx="16892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B8E4856-587B-E85A-A36C-FC0E4ABA89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663" y="4717103"/>
                <a:ext cx="168924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1EDEB5-33F8-70A7-4ADB-EFA387D08D3E}"/>
                  </a:ext>
                </a:extLst>
              </p:cNvPr>
              <p:cNvSpPr/>
              <p:nvPr/>
            </p:nvSpPr>
            <p:spPr>
              <a:xfrm>
                <a:off x="1768574" y="5440144"/>
                <a:ext cx="1772292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200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1EDEB5-33F8-70A7-4ADB-EFA387D08D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574" y="5440144"/>
                <a:ext cx="1772292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C17B361-1DF2-17F7-52B0-CC87EF84D701}"/>
                  </a:ext>
                </a:extLst>
              </p:cNvPr>
              <p:cNvSpPr/>
              <p:nvPr/>
            </p:nvSpPr>
            <p:spPr>
              <a:xfrm>
                <a:off x="3300817" y="5673736"/>
                <a:ext cx="110517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C17B361-1DF2-17F7-52B0-CC87EF84D7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0817" y="5673736"/>
                <a:ext cx="1105174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B078C-5779-AA5F-1CE2-03ABE1B095FD}"/>
              </a:ext>
            </a:extLst>
          </p:cNvPr>
          <p:cNvCxnSpPr>
            <a:cxnSpLocks/>
          </p:cNvCxnSpPr>
          <p:nvPr/>
        </p:nvCxnSpPr>
        <p:spPr>
          <a:xfrm>
            <a:off x="5458437" y="3660308"/>
            <a:ext cx="0" cy="285759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A8B728F-183E-42C6-01EC-0CAB1ACC76A1}"/>
              </a:ext>
            </a:extLst>
          </p:cNvPr>
          <p:cNvSpPr/>
          <p:nvPr/>
        </p:nvSpPr>
        <p:spPr>
          <a:xfrm>
            <a:off x="1729662" y="4006778"/>
            <a:ext cx="25894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u="sng" dirty="0">
                <a:solidFill>
                  <a:srgbClr val="002060"/>
                </a:solidFill>
              </a:rPr>
              <a:t>Sample of Men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87EC617-0841-223D-6E25-FB138FD0118E}"/>
                  </a:ext>
                </a:extLst>
              </p:cNvPr>
              <p:cNvSpPr/>
              <p:nvPr/>
            </p:nvSpPr>
            <p:spPr>
              <a:xfrm>
                <a:off x="6510278" y="4717103"/>
                <a:ext cx="190414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=600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87EC617-0841-223D-6E25-FB138FD011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278" y="4717103"/>
                <a:ext cx="190414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F7780F9-5DC1-C775-B268-2A6B8A3952AC}"/>
                  </a:ext>
                </a:extLst>
              </p:cNvPr>
              <p:cNvSpPr/>
              <p:nvPr/>
            </p:nvSpPr>
            <p:spPr>
              <a:xfrm>
                <a:off x="6549190" y="5440144"/>
                <a:ext cx="1991693" cy="910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325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600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F7780F9-5DC1-C775-B268-2A6B8A3952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190" y="5440144"/>
                <a:ext cx="1991693" cy="9105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AA2FFD0-6859-9382-EE36-48D64BA3A04A}"/>
                  </a:ext>
                </a:extLst>
              </p:cNvPr>
              <p:cNvSpPr/>
              <p:nvPr/>
            </p:nvSpPr>
            <p:spPr>
              <a:xfrm>
                <a:off x="8067312" y="5673736"/>
                <a:ext cx="190860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0.5416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AA2FFD0-6859-9382-EE36-48D64BA3A0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312" y="5673736"/>
                <a:ext cx="190860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CF221E3B-D315-8CD2-1DEC-AA161ED7D395}"/>
              </a:ext>
            </a:extLst>
          </p:cNvPr>
          <p:cNvSpPr/>
          <p:nvPr/>
        </p:nvSpPr>
        <p:spPr>
          <a:xfrm>
            <a:off x="6510279" y="4002452"/>
            <a:ext cx="31590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u="sng" dirty="0">
                <a:solidFill>
                  <a:srgbClr val="002060"/>
                </a:solidFill>
              </a:rPr>
              <a:t>Sample of Women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398165-CC70-47B1-9191-A927FF433B4B}"/>
              </a:ext>
            </a:extLst>
          </p:cNvPr>
          <p:cNvCxnSpPr/>
          <p:nvPr/>
        </p:nvCxnSpPr>
        <p:spPr>
          <a:xfrm flipV="1">
            <a:off x="3092922" y="1640160"/>
            <a:ext cx="66042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AB29BE-0509-4F3A-B3B2-49370C08900C}"/>
              </a:ext>
            </a:extLst>
          </p:cNvPr>
          <p:cNvCxnSpPr/>
          <p:nvPr/>
        </p:nvCxnSpPr>
        <p:spPr>
          <a:xfrm flipV="1">
            <a:off x="5118537" y="1643344"/>
            <a:ext cx="66042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A2045B-9D63-4615-B4DF-FC15F2DFC8BE}"/>
              </a:ext>
            </a:extLst>
          </p:cNvPr>
          <p:cNvCxnSpPr/>
          <p:nvPr/>
        </p:nvCxnSpPr>
        <p:spPr>
          <a:xfrm flipV="1">
            <a:off x="5527414" y="2262212"/>
            <a:ext cx="66042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A960B2B-8903-4681-8F29-EEFB171438A6}"/>
              </a:ext>
            </a:extLst>
          </p:cNvPr>
          <p:cNvCxnSpPr/>
          <p:nvPr/>
        </p:nvCxnSpPr>
        <p:spPr>
          <a:xfrm flipV="1">
            <a:off x="10367138" y="2248151"/>
            <a:ext cx="66042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20ADF54-570F-4161-BA25-DA656E1A028A}"/>
              </a:ext>
            </a:extLst>
          </p:cNvPr>
          <p:cNvCxnSpPr/>
          <p:nvPr/>
        </p:nvCxnSpPr>
        <p:spPr>
          <a:xfrm flipV="1">
            <a:off x="3088697" y="1640169"/>
            <a:ext cx="66042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D99134E-4E89-43F5-8695-E2D9BCB671EE}"/>
              </a:ext>
            </a:extLst>
          </p:cNvPr>
          <p:cNvCxnSpPr/>
          <p:nvPr/>
        </p:nvCxnSpPr>
        <p:spPr>
          <a:xfrm flipV="1">
            <a:off x="7457390" y="2262212"/>
            <a:ext cx="66042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C590EA-163E-4928-AF8E-B9FEDE8DC00E}"/>
              </a:ext>
            </a:extLst>
          </p:cNvPr>
          <p:cNvCxnSpPr/>
          <p:nvPr/>
        </p:nvCxnSpPr>
        <p:spPr>
          <a:xfrm flipV="1">
            <a:off x="10367128" y="2246019"/>
            <a:ext cx="66042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5A2E1BD-AA8E-4796-8357-3A711495FE89}"/>
              </a:ext>
            </a:extLst>
          </p:cNvPr>
          <p:cNvCxnSpPr/>
          <p:nvPr/>
        </p:nvCxnSpPr>
        <p:spPr>
          <a:xfrm flipV="1">
            <a:off x="5119644" y="1640169"/>
            <a:ext cx="66042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81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B7341-34F5-1E9B-F49F-E87E6CD6F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69C74-851A-5E50-5C06-003BC7A93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2(Continue)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F27B2A3-2FE8-CFE4-689D-7A32DA2F7DC0}"/>
                  </a:ext>
                </a:extLst>
              </p:cNvPr>
              <p:cNvSpPr/>
              <p:nvPr/>
            </p:nvSpPr>
            <p:spPr>
              <a:xfrm>
                <a:off x="111878" y="870047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F27B2A3-2FE8-CFE4-689D-7A32DA2F7D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78" y="870047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3348B30-D564-F484-F179-565B305A39DF}"/>
                  </a:ext>
                </a:extLst>
              </p:cNvPr>
              <p:cNvSpPr/>
              <p:nvPr/>
            </p:nvSpPr>
            <p:spPr>
              <a:xfrm>
                <a:off x="1224206" y="3133214"/>
                <a:ext cx="334779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𝐢𝐬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𝐧𝐨𝐭</m:t>
                          </m:r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𝐤𝐧𝐨𝐰𝐧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3348B30-D564-F484-F179-565B305A39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206" y="3133214"/>
                <a:ext cx="3347794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54DFA6E-731B-6E25-E6F0-58B36B770315}"/>
                  </a:ext>
                </a:extLst>
              </p:cNvPr>
              <p:cNvSpPr/>
              <p:nvPr/>
            </p:nvSpPr>
            <p:spPr>
              <a:xfrm>
                <a:off x="907888" y="873489"/>
                <a:ext cx="145715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54DFA6E-731B-6E25-E6F0-58B36B7703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888" y="873489"/>
                <a:ext cx="145715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381274E-C102-E6FD-2FD7-C859FE8BBE77}"/>
                  </a:ext>
                </a:extLst>
              </p:cNvPr>
              <p:cNvSpPr/>
              <p:nvPr/>
            </p:nvSpPr>
            <p:spPr>
              <a:xfrm>
                <a:off x="103008" y="1847793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381274E-C102-E6FD-2FD7-C859FE8BBE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8" y="1847793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A6A6E69-A89F-CE52-2803-FF71C353B881}"/>
                  </a:ext>
                </a:extLst>
              </p:cNvPr>
              <p:cNvSpPr/>
              <p:nvPr/>
            </p:nvSpPr>
            <p:spPr>
              <a:xfrm>
                <a:off x="909460" y="1847793"/>
                <a:ext cx="151369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A6A6E69-A89F-CE52-2803-FF71C353B8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60" y="1847793"/>
                <a:ext cx="151369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FB47D27-DD64-98CA-48A0-75F168598ED0}"/>
                  </a:ext>
                </a:extLst>
              </p:cNvPr>
              <p:cNvSpPr/>
              <p:nvPr/>
            </p:nvSpPr>
            <p:spPr>
              <a:xfrm>
                <a:off x="103007" y="2495694"/>
                <a:ext cx="262749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FB47D27-DD64-98CA-48A0-75F168598E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7" y="2495694"/>
                <a:ext cx="262749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EEDD33D7-70FA-505E-D090-1F37BF6671EF}"/>
              </a:ext>
            </a:extLst>
          </p:cNvPr>
          <p:cNvSpPr/>
          <p:nvPr/>
        </p:nvSpPr>
        <p:spPr>
          <a:xfrm>
            <a:off x="134072" y="3133214"/>
            <a:ext cx="10474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Test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C0034-493B-95F7-B7B6-C1FA0FB0FFC5}"/>
              </a:ext>
            </a:extLst>
          </p:cNvPr>
          <p:cNvSpPr/>
          <p:nvPr/>
        </p:nvSpPr>
        <p:spPr>
          <a:xfrm>
            <a:off x="2363468" y="870047"/>
            <a:ext cx="98285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2800" dirty="0">
                <a:solidFill>
                  <a:srgbClr val="002060"/>
                </a:solidFill>
              </a:rPr>
              <a:t>(i.e., there is no significant difference in proportion of men and women in favor of the proposal)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3DBCCD-2B00-508B-6266-5A7C95F5DED4}"/>
                  </a:ext>
                </a:extLst>
              </p:cNvPr>
              <p:cNvSpPr txBox="1"/>
              <p:nvPr/>
            </p:nvSpPr>
            <p:spPr>
              <a:xfrm>
                <a:off x="0" y="3826238"/>
                <a:ext cx="4229099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𝐩𝐪</m:t>
                              </m:r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</m:e>
                                        <m:sub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1 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</m:e>
                                        <m:sub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2 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3DBCCD-2B00-508B-6266-5A7C95F5D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26238"/>
                <a:ext cx="4229099" cy="1372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6E6FBA-4AA8-A42A-EF60-C2659711D6B7}"/>
                  </a:ext>
                </a:extLst>
              </p:cNvPr>
              <p:cNvSpPr txBox="1"/>
              <p:nvPr/>
            </p:nvSpPr>
            <p:spPr>
              <a:xfrm>
                <a:off x="183775" y="5412026"/>
                <a:ext cx="3028840" cy="945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6E6FBA-4AA8-A42A-EF60-C2659711D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75" y="5412026"/>
                <a:ext cx="3028840" cy="945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82F6BAF-5A0B-AE7C-CD38-21566E4EDD47}"/>
                  </a:ext>
                </a:extLst>
              </p:cNvPr>
              <p:cNvSpPr txBox="1"/>
              <p:nvPr/>
            </p:nvSpPr>
            <p:spPr>
              <a:xfrm>
                <a:off x="5989427" y="2181163"/>
                <a:ext cx="5226583" cy="935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600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0.5416</m:t>
                              </m:r>
                            </m:e>
                          </m:d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82F6BAF-5A0B-AE7C-CD38-21566E4ED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427" y="2181163"/>
                <a:ext cx="5226583" cy="9357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E7B4919-689A-732F-AACF-078350B1BFD4}"/>
              </a:ext>
            </a:extLst>
          </p:cNvPr>
          <p:cNvSpPr/>
          <p:nvPr/>
        </p:nvSpPr>
        <p:spPr>
          <a:xfrm>
            <a:off x="2363467" y="1847793"/>
            <a:ext cx="26274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D85EDF1-2E94-50ED-6374-6A12525B8374}"/>
                  </a:ext>
                </a:extLst>
              </p:cNvPr>
              <p:cNvSpPr/>
              <p:nvPr/>
            </p:nvSpPr>
            <p:spPr>
              <a:xfrm>
                <a:off x="6108700" y="3209978"/>
                <a:ext cx="150340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525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D85EDF1-2E94-50ED-6374-6A12525B83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700" y="3209978"/>
                <a:ext cx="150340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FEDF274-27DB-1FB4-F676-2A963B9C45F9}"/>
                  </a:ext>
                </a:extLst>
              </p:cNvPr>
              <p:cNvSpPr/>
              <p:nvPr/>
            </p:nvSpPr>
            <p:spPr>
              <a:xfrm>
                <a:off x="5762403" y="3800908"/>
                <a:ext cx="17572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FEDF274-27DB-1FB4-F676-2A963B9C45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403" y="3800908"/>
                <a:ext cx="175721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454A614-54E1-5E36-7964-16410CF0D968}"/>
                  </a:ext>
                </a:extLst>
              </p:cNvPr>
              <p:cNvSpPr txBox="1"/>
              <p:nvPr/>
            </p:nvSpPr>
            <p:spPr>
              <a:xfrm>
                <a:off x="7288709" y="3823230"/>
                <a:ext cx="215880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1−0.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525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454A614-54E1-5E36-7964-16410CF0D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709" y="3823230"/>
                <a:ext cx="2158801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76FEA29-12B6-70BC-214E-F8B1328B1776}"/>
                  </a:ext>
                </a:extLst>
              </p:cNvPr>
              <p:cNvSpPr txBox="1"/>
              <p:nvPr/>
            </p:nvSpPr>
            <p:spPr>
              <a:xfrm>
                <a:off x="9210619" y="3831571"/>
                <a:ext cx="157734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475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76FEA29-12B6-70BC-214E-F8B1328B1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619" y="3831571"/>
                <a:ext cx="1577340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E648E78-8DBC-93A1-38C6-CD7348B937B3}"/>
              </a:ext>
            </a:extLst>
          </p:cNvPr>
          <p:cNvCxnSpPr>
            <a:cxnSpLocks/>
          </p:cNvCxnSpPr>
          <p:nvPr/>
        </p:nvCxnSpPr>
        <p:spPr>
          <a:xfrm>
            <a:off x="5473840" y="2285864"/>
            <a:ext cx="0" cy="432000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15E93AD-F6BE-18EF-FC88-ADD7A387E2E4}"/>
                  </a:ext>
                </a:extLst>
              </p:cNvPr>
              <p:cNvSpPr txBox="1"/>
              <p:nvPr/>
            </p:nvSpPr>
            <p:spPr>
              <a:xfrm>
                <a:off x="5511800" y="4472920"/>
                <a:ext cx="6589409" cy="14377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.5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5416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525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475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r>
                                        <a:rPr lang="en-IN" sz="28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00</m:t>
                                      </m:r>
                                    </m:den>
                                  </m:f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r>
                                        <a:rPr lang="en-IN" sz="28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00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15E93AD-F6BE-18EF-FC88-ADD7A387E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00" y="4472920"/>
                <a:ext cx="6589409" cy="143770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F026E3D-A115-01A5-5967-4D36D468CD68}"/>
                  </a:ext>
                </a:extLst>
              </p:cNvPr>
              <p:cNvSpPr/>
              <p:nvPr/>
            </p:nvSpPr>
            <p:spPr>
              <a:xfrm>
                <a:off x="6114071" y="6039187"/>
                <a:ext cx="1503402" cy="477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5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=−1.28</m:t>
                    </m:r>
                  </m:oMath>
                </a14:m>
                <a:r>
                  <a:rPr lang="en-US" sz="25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F026E3D-A115-01A5-5967-4D36D468CD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4071" y="6039187"/>
                <a:ext cx="1503402" cy="4770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209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9" grpId="0"/>
      <p:bldP spid="10" grpId="0"/>
      <p:bldP spid="11" grpId="0"/>
      <p:bldP spid="12" grpId="0"/>
      <p:bldP spid="13" grpId="0"/>
      <p:bldP spid="6" grpId="0"/>
      <p:bldP spid="7" grpId="0"/>
      <p:bldP spid="20" grpId="0"/>
      <p:bldP spid="22" grpId="0"/>
      <p:bldP spid="5" grpId="0"/>
      <p:bldP spid="32" grpId="0"/>
      <p:bldP spid="35" grpId="0"/>
      <p:bldP spid="36" grpId="0"/>
      <p:bldP spid="39" grpId="0"/>
      <p:bldP spid="40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B151A-476F-AD9A-1B71-C07C8B3B6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F04A3-F0B0-F0F7-D2DD-59E007DFD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2(Continue)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B0949-BF76-1E0A-9744-04F8A682C6D8}"/>
              </a:ext>
            </a:extLst>
          </p:cNvPr>
          <p:cNvSpPr/>
          <p:nvPr/>
        </p:nvSpPr>
        <p:spPr>
          <a:xfrm>
            <a:off x="179883" y="84209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309D43-E2F8-C622-AC04-00CF701E8A91}"/>
                  </a:ext>
                </a:extLst>
              </p:cNvPr>
              <p:cNvSpPr txBox="1"/>
              <p:nvPr/>
            </p:nvSpPr>
            <p:spPr>
              <a:xfrm>
                <a:off x="2352162" y="843465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309D43-E2F8-C622-AC04-00CF701E8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162" y="843465"/>
                <a:ext cx="269747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F7F9A361-4D48-E7E1-161D-920B9FCD8A9B}"/>
              </a:ext>
            </a:extLst>
          </p:cNvPr>
          <p:cNvSpPr/>
          <p:nvPr/>
        </p:nvSpPr>
        <p:spPr>
          <a:xfrm>
            <a:off x="187588" y="1436342"/>
            <a:ext cx="19735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27137D-BC41-9711-F3F9-8E069E3C4EED}"/>
                  </a:ext>
                </a:extLst>
              </p:cNvPr>
              <p:cNvSpPr txBox="1"/>
              <p:nvPr/>
            </p:nvSpPr>
            <p:spPr>
              <a:xfrm>
                <a:off x="-24376" y="2127372"/>
                <a:ext cx="237653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1.28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B27137D-BC41-9711-F3F9-8E069E3C4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376" y="2127372"/>
                <a:ext cx="237653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DD90416-FFDF-79E0-8450-751869E00830}"/>
                  </a:ext>
                </a:extLst>
              </p:cNvPr>
              <p:cNvSpPr/>
              <p:nvPr/>
            </p:nvSpPr>
            <p:spPr>
              <a:xfrm>
                <a:off x="179883" y="2797159"/>
                <a:ext cx="256177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u="sng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DD90416-FFDF-79E0-8450-751869E008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83" y="2797159"/>
                <a:ext cx="2561774" cy="523220"/>
              </a:xfrm>
              <a:prstGeom prst="rect">
                <a:avLst/>
              </a:prstGeom>
              <a:blipFill>
                <a:blip r:embed="rId4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529FC1-3D77-74D6-29A4-60BFD60A4CE4}"/>
                  </a:ext>
                </a:extLst>
              </p:cNvPr>
              <p:cNvSpPr txBox="1"/>
              <p:nvPr/>
            </p:nvSpPr>
            <p:spPr>
              <a:xfrm>
                <a:off x="2352162" y="2106129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529FC1-3D77-74D6-29A4-60BFD60A4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162" y="2106129"/>
                <a:ext cx="26974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6E8AB5-6559-0ECF-32CE-23D224667228}"/>
                  </a:ext>
                </a:extLst>
              </p:cNvPr>
              <p:cNvSpPr txBox="1"/>
              <p:nvPr/>
            </p:nvSpPr>
            <p:spPr>
              <a:xfrm>
                <a:off x="1900924" y="2106129"/>
                <a:ext cx="7660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6E8AB5-6559-0ECF-32CE-23D224667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924" y="2106129"/>
                <a:ext cx="76607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EED9934-CAA0-C67F-7D82-83B7A0E34A2E}"/>
                  </a:ext>
                </a:extLst>
              </p:cNvPr>
              <p:cNvSpPr txBox="1"/>
              <p:nvPr/>
            </p:nvSpPr>
            <p:spPr>
              <a:xfrm>
                <a:off x="187588" y="3463926"/>
                <a:ext cx="11832234" cy="1161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1200"/>
                  </a:spcBef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Therefore, at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there is no significant difference in opinion between men and women in favor of the proposal.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EED9934-CAA0-C67F-7D82-83B7A0E34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588" y="3463926"/>
                <a:ext cx="11832234" cy="1161152"/>
              </a:xfrm>
              <a:prstGeom prst="rect">
                <a:avLst/>
              </a:prstGeom>
              <a:blipFill>
                <a:blip r:embed="rId7"/>
                <a:stretch>
                  <a:fillRect l="-1082" r="-1030" b="-13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2D661471-AB29-232D-0122-4289F8FED809}"/>
              </a:ext>
            </a:extLst>
          </p:cNvPr>
          <p:cNvGrpSpPr/>
          <p:nvPr/>
        </p:nvGrpSpPr>
        <p:grpSpPr>
          <a:xfrm>
            <a:off x="8664989" y="842096"/>
            <a:ext cx="3527011" cy="2270161"/>
            <a:chOff x="5659775" y="3429000"/>
            <a:chExt cx="3527011" cy="227016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FBC81F4-68E7-3F77-979C-02449DD016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97982" y="4714478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852142B-9893-237A-9BE0-815E3B11868B}"/>
                </a:ext>
              </a:extLst>
            </p:cNvPr>
            <p:cNvSpPr/>
            <p:nvPr/>
          </p:nvSpPr>
          <p:spPr>
            <a:xfrm flipH="1">
              <a:off x="8410363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5A07C12-D653-B98F-60CE-9BDEAF9CD0D0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7543377" y="3429001"/>
              <a:ext cx="21522" cy="1854430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A5EE314-9513-EB59-F77C-34D954DBC28F}"/>
                </a:ext>
              </a:extLst>
            </p:cNvPr>
            <p:cNvSpPr/>
            <p:nvPr/>
          </p:nvSpPr>
          <p:spPr>
            <a:xfrm>
              <a:off x="6096000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EDF094B-8003-1961-1A4E-FD00DF066D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015" y="4718242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39E086-4357-39CB-01BF-99BEA84DFDD6}"/>
                </a:ext>
              </a:extLst>
            </p:cNvPr>
            <p:cNvSpPr/>
            <p:nvPr/>
          </p:nvSpPr>
          <p:spPr>
            <a:xfrm>
              <a:off x="6096001" y="3429000"/>
              <a:ext cx="2920249" cy="1761286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0913F92-D884-5172-7069-0EAB63E43CBF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1" y="5287008"/>
              <a:ext cx="292024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712D07A7-686D-AF0C-1356-03930F3F12F9}"/>
                    </a:ext>
                  </a:extLst>
                </p:cNvPr>
                <p:cNvSpPr/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3ED274A-2FB6-AF7C-E47A-011C3F51C3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B5724C16-6DD7-42EC-06D1-B281E4514101}"/>
                    </a:ext>
                  </a:extLst>
                </p:cNvPr>
                <p:cNvSpPr/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602AA99-8588-E61A-71FD-AF0C614C8F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496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/>
      <p:bldP spid="16" grpId="0"/>
      <p:bldP spid="17" grpId="0"/>
      <p:bldP spid="18" grpId="0"/>
      <p:bldP spid="19" grpId="0"/>
      <p:bldP spid="23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E7930-9E01-6DDF-BEBC-CABF0CDDA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C40D7AD-1C90-66A0-70EC-BEAE32CFE3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0"/>
                <a:ext cx="11929643" cy="390471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On the basis of their total scores,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US" dirty="0"/>
                  <a:t> candidates of a civil service examination are divided into two groups, the upper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30%</m:t>
                    </m:r>
                  </m:oMath>
                </a14:m>
                <a:r>
                  <a:rPr lang="en-US" dirty="0"/>
                  <a:t> and the remaining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70%</m:t>
                    </m:r>
                  </m:oMath>
                </a14:m>
                <a:r>
                  <a:rPr lang="en-US" dirty="0"/>
                  <a:t>. Consider the first question of examination. Among the first group,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dirty="0"/>
                  <a:t> had the correct answer, whereas among the second group,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dirty="0"/>
                  <a:t> had the correct answer. On the basis of these results, can one conclude that the first question is not good at discriminating ability of the type being examined here?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96 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FC40D7AD-1C90-66A0-70EC-BEAE32CFE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0"/>
                <a:ext cx="11929643" cy="3904711"/>
              </a:xfrm>
              <a:prstGeom prst="rect">
                <a:avLst/>
              </a:prstGeom>
              <a:blipFill>
                <a:blip r:embed="rId2"/>
                <a:stretch>
                  <a:fillRect l="-1074" r="-1074" b="-39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C3C2712-7633-0187-6D32-A65C8CDC8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273945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9E1D2-7A7D-DFE2-4E77-CF6DA4A1D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592A2-04E0-3B38-980E-365CAA453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4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58D654B-B5CE-F863-30A6-FDFF227E1C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5115668"/>
              </a:xfrm>
            </p:spPr>
            <p:txBody>
              <a:bodyPr/>
              <a:lstStyle/>
              <a:p>
                <a:r>
                  <a:rPr lang="en-US" dirty="0"/>
                  <a:t>There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US" dirty="0"/>
                  <a:t> candidates in a civil service exam.</a:t>
                </a:r>
              </a:p>
              <a:p>
                <a:r>
                  <a:rPr lang="en-US" dirty="0"/>
                  <a:t>Based on their total marks, they are divided into two groups:</a:t>
                </a:r>
              </a:p>
              <a:p>
                <a:pPr lvl="1"/>
                <a:r>
                  <a:rPr lang="en-US" dirty="0"/>
                  <a:t>Upper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30%</m:t>
                    </m:r>
                  </m:oMath>
                </a14:m>
                <a:r>
                  <a:rPr lang="en-US" dirty="0"/>
                  <a:t> (top students)</a:t>
                </a:r>
              </a:p>
              <a:p>
                <a:pPr lvl="1"/>
                <a:r>
                  <a:rPr lang="en-US" dirty="0"/>
                  <a:t>Remaining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70%</m:t>
                    </m:r>
                  </m:oMath>
                </a14:m>
                <a:r>
                  <a:rPr lang="en-US" dirty="0"/>
                  <a:t> (other students)</a:t>
                </a:r>
              </a:p>
              <a:p>
                <a:r>
                  <a:rPr lang="en-US" dirty="0"/>
                  <a:t>So, </a:t>
                </a:r>
              </a:p>
              <a:p>
                <a:pPr lvl="1"/>
                <a:r>
                  <a:rPr lang="en-US" dirty="0"/>
                  <a:t>Upper group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=30% </m:t>
                    </m:r>
                  </m:oMath>
                </a14:m>
                <a:r>
                  <a:rPr lang="en-US" i="0" dirty="0">
                    <a:latin typeface="+mj-lt"/>
                  </a:rPr>
                  <a:t>of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200=60</m:t>
                    </m:r>
                  </m:oMath>
                </a14:m>
                <a:r>
                  <a:rPr lang="en-US" dirty="0"/>
                  <a:t> students</a:t>
                </a:r>
              </a:p>
              <a:p>
                <a:pPr lvl="1"/>
                <a:r>
                  <a:rPr lang="en-US" dirty="0"/>
                  <a:t>Remaining group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=70% </m:t>
                    </m:r>
                  </m:oMath>
                </a14:m>
                <a:r>
                  <a:rPr lang="en-US" i="0" dirty="0">
                    <a:latin typeface="+mj-lt"/>
                  </a:rPr>
                  <a:t>of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200=140</m:t>
                    </m:r>
                  </m:oMath>
                </a14:m>
                <a:r>
                  <a:rPr lang="en-US" dirty="0"/>
                  <a:t> students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58D654B-B5CE-F863-30A6-FDFF227E1C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511566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660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187FE-BB41-A5A3-E3CA-C9EDE6928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0315E-61EA-F67B-F963-94CAE717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4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F86FBDE-30F4-A445-ABF2-A689533D08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1"/>
                <a:ext cx="11929641" cy="806314"/>
              </a:xfrm>
            </p:spPr>
            <p:txBody>
              <a:bodyPr/>
              <a:lstStyle/>
              <a:p>
                <a:r>
                  <a:rPr lang="en-US" dirty="0"/>
                  <a:t>Now we look at Question –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of the exam.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F86FBDE-30F4-A445-ABF2-A689533D08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1"/>
                <a:ext cx="11929641" cy="806314"/>
              </a:xfrm>
              <a:blipFill>
                <a:blip r:embed="rId2"/>
                <a:stretch>
                  <a:fillRect l="-971" b="-37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4AEBF0E-2958-C6D9-5F00-344678663A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8774786"/>
                  </p:ext>
                </p:extLst>
              </p:nvPr>
            </p:nvGraphicFramePr>
            <p:xfrm>
              <a:off x="716673" y="1615873"/>
              <a:ext cx="10008000" cy="14325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3456000">
                      <a:extLst>
                        <a:ext uri="{9D8B030D-6E8A-4147-A177-3AD203B41FA5}">
                          <a16:colId xmlns:a16="http://schemas.microsoft.com/office/drawing/2014/main" val="2688721074"/>
                        </a:ext>
                      </a:extLst>
                    </a:gridCol>
                    <a:gridCol w="3276000">
                      <a:extLst>
                        <a:ext uri="{9D8B030D-6E8A-4147-A177-3AD203B41FA5}">
                          <a16:colId xmlns:a16="http://schemas.microsoft.com/office/drawing/2014/main" val="683874321"/>
                        </a:ext>
                      </a:extLst>
                    </a:gridCol>
                    <a:gridCol w="3276000">
                      <a:extLst>
                        <a:ext uri="{9D8B030D-6E8A-4147-A177-3AD203B41FA5}">
                          <a16:colId xmlns:a16="http://schemas.microsoft.com/office/drawing/2014/main" val="23872068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Group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Students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Correct Answer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468567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0" i="0" dirty="0">
                              <a:solidFill>
                                <a:srgbClr val="002060"/>
                              </a:solidFill>
                            </a:rPr>
                            <a:t>Top </a:t>
                          </a:r>
                          <a14:m>
                            <m:oMath xmlns:m="http://schemas.openxmlformats.org/officeDocument/2006/math">
                              <m:r>
                                <a:rPr lang="en-IN" sz="24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30%</m:t>
                              </m:r>
                            </m:oMath>
                          </a14:m>
                          <a:r>
                            <a:rPr lang="en-IN" sz="2400" b="0" i="0" dirty="0">
                              <a:solidFill>
                                <a:srgbClr val="002060"/>
                              </a:solidFill>
                            </a:rPr>
                            <a:t> students</a:t>
                          </a:r>
                          <a:endParaRPr lang="en-IN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oMath>
                            </m:oMathPara>
                          </a14:m>
                          <a:endParaRPr lang="en-IN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 lang="en-IN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39570690"/>
                      </a:ext>
                    </a:extLst>
                  </a:tr>
                  <a:tr h="32825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400" b="0" i="0" dirty="0">
                              <a:solidFill>
                                <a:srgbClr val="002060"/>
                              </a:solidFill>
                              <a:latin typeface="+mj-lt"/>
                            </a:rPr>
                            <a:t>Remaining </a:t>
                          </a:r>
                          <a14:m>
                            <m:oMath xmlns:m="http://schemas.openxmlformats.org/officeDocument/2006/math">
                              <m:r>
                                <a:rPr lang="en-IN" sz="2400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70%</m:t>
                              </m:r>
                            </m:oMath>
                          </a14:m>
                          <a:r>
                            <a:rPr lang="en-IN" sz="2400" b="0" i="0" dirty="0">
                              <a:solidFill>
                                <a:srgbClr val="002060"/>
                              </a:solidFill>
                              <a:latin typeface="+mj-lt"/>
                            </a:rPr>
                            <a:t> students</a:t>
                          </a:r>
                          <a:endParaRPr lang="en-IN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0" i="1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140</m:t>
                                </m:r>
                              </m:oMath>
                            </m:oMathPara>
                          </a14:m>
                          <a:endParaRPr lang="en-IN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2400" b="0" i="1" dirty="0" smtClean="0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  <m:t>80</m:t>
                                </m:r>
                              </m:oMath>
                            </m:oMathPara>
                          </a14:m>
                          <a:endParaRPr lang="en-IN" sz="2400" i="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87575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4AEBF0E-2958-C6D9-5F00-344678663A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8774786"/>
                  </p:ext>
                </p:extLst>
              </p:nvPr>
            </p:nvGraphicFramePr>
            <p:xfrm>
              <a:off x="716673" y="1615873"/>
              <a:ext cx="10008000" cy="1432560"/>
            </p:xfrm>
            <a:graphic>
              <a:graphicData uri="http://schemas.openxmlformats.org/drawingml/2006/table">
                <a:tbl>
                  <a:tblPr firstRow="1" bandRow="1">
                    <a:tableStyleId>{912C8C85-51F0-491E-9774-3900AFEF0FD7}</a:tableStyleId>
                  </a:tblPr>
                  <a:tblGrid>
                    <a:gridCol w="3456000">
                      <a:extLst>
                        <a:ext uri="{9D8B030D-6E8A-4147-A177-3AD203B41FA5}">
                          <a16:colId xmlns:a16="http://schemas.microsoft.com/office/drawing/2014/main" val="2688721074"/>
                        </a:ext>
                      </a:extLst>
                    </a:gridCol>
                    <a:gridCol w="3276000">
                      <a:extLst>
                        <a:ext uri="{9D8B030D-6E8A-4147-A177-3AD203B41FA5}">
                          <a16:colId xmlns:a16="http://schemas.microsoft.com/office/drawing/2014/main" val="683874321"/>
                        </a:ext>
                      </a:extLst>
                    </a:gridCol>
                    <a:gridCol w="3276000">
                      <a:extLst>
                        <a:ext uri="{9D8B030D-6E8A-4147-A177-3AD203B41FA5}">
                          <a16:colId xmlns:a16="http://schemas.microsoft.com/office/drawing/2014/main" val="238720680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Group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Students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dirty="0"/>
                            <a:t>Correct Answer</a:t>
                          </a:r>
                        </a:p>
                      </a:txBody>
                      <a:tcPr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4685673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123684" r="-190476" b="-12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762" t="-123684" r="-100743" b="-12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5762" t="-123684" r="-743" b="-128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957069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53" t="-226667" r="-190476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5762" t="-226667" r="-100743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5762" t="-226667" r="-743" b="-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7575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5D252D8-DFBC-15C4-D14E-B9D99311ECFE}"/>
              </a:ext>
            </a:extLst>
          </p:cNvPr>
          <p:cNvSpPr txBox="1">
            <a:spLocks/>
          </p:cNvSpPr>
          <p:nvPr/>
        </p:nvSpPr>
        <p:spPr>
          <a:xfrm>
            <a:off x="131180" y="3380255"/>
            <a:ext cx="11929641" cy="287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857250" indent="-40005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idea is simple: A good question should be solved by more top students.</a:t>
            </a:r>
          </a:p>
          <a:p>
            <a:r>
              <a:rPr lang="en-US" dirty="0"/>
              <a:t>So, we check:</a:t>
            </a:r>
          </a:p>
          <a:p>
            <a:pPr lvl="1"/>
            <a:r>
              <a:rPr lang="en-US" dirty="0"/>
              <a:t>Did top students answer correctly more often?</a:t>
            </a:r>
          </a:p>
          <a:p>
            <a:pPr lvl="1"/>
            <a:r>
              <a:rPr lang="en-US" dirty="0"/>
              <a:t>or did both groups perform almost the same?</a:t>
            </a:r>
          </a:p>
        </p:txBody>
      </p:sp>
    </p:spTree>
    <p:extLst>
      <p:ext uri="{BB962C8B-B14F-4D97-AF65-F5344CB8AC3E}">
        <p14:creationId xmlns:p14="http://schemas.microsoft.com/office/powerpoint/2010/main" val="389524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57F9D-2F0C-C5D0-5B40-929E6D1B9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C2735-C851-EBA4-4FC9-780CBB2CB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4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D37653-B64C-ABD1-00A6-B072FEEC35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r>
                  <a:rPr lang="en-US" dirty="0"/>
                  <a:t>Actual Meaning</a:t>
                </a:r>
              </a:p>
              <a:p>
                <a:pPr lvl="1"/>
                <a:r>
                  <a:rPr lang="en-US" dirty="0"/>
                  <a:t>If top students perform much better, the question is good (it can identify strong students).</a:t>
                </a:r>
              </a:p>
              <a:p>
                <a:pPr lvl="1"/>
                <a:r>
                  <a:rPr lang="en-US" dirty="0"/>
                  <a:t>If both groups perform almost the same, the question is not good for testing ability.</a:t>
                </a:r>
              </a:p>
              <a:p>
                <a:r>
                  <a:rPr lang="en-US" dirty="0"/>
                  <a:t>So, the test checks:</a:t>
                </a:r>
              </a:p>
              <a:p>
                <a:pPr lvl="1"/>
                <a:r>
                  <a:rPr lang="en-US" dirty="0"/>
                  <a:t>Based on the given results, can we conclude that Question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cannot properly distinguish between strong and weak students?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8D37653-B64C-ABD1-00A6-B072FEEC35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349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E2DB1-5FA6-6162-F41A-371C0B92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FE51-457E-6AC3-A63D-62527328E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4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Idea about Hypotheses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B29030F-9765-2AC1-09E4-AD9BEE42F6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​The proportion of students answering correctly in both groups is the same.</a:t>
                </a:r>
              </a:p>
              <a:p>
                <a:pPr lvl="1"/>
                <a:r>
                  <a:rPr lang="en-US" dirty="0"/>
                  <a:t>So, the question does not discriminate between strong and weak students. </a:t>
                </a:r>
              </a:p>
              <a:p>
                <a:pPr lvl="1"/>
                <a:r>
                  <a:rPr lang="en-US" dirty="0"/>
                  <a:t>That means the question is not good for testing ability.</a:t>
                </a:r>
              </a:p>
              <a:p>
                <a:r>
                  <a:rPr lang="en-US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proportion of correct answers in the top group is higher than in the other group.</a:t>
                </a:r>
              </a:p>
              <a:p>
                <a:pPr lvl="1"/>
                <a:r>
                  <a:rPr lang="en-US" dirty="0"/>
                  <a:t>This means the question can distinguish between good and weak students.</a:t>
                </a:r>
              </a:p>
              <a:p>
                <a:pPr lvl="1"/>
                <a:r>
                  <a:rPr lang="en-US" dirty="0"/>
                  <a:t> So, the question is good for testing ability.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B29030F-9765-2AC1-09E4-AD9BEE42F6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 r="-1074" b="-3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83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36BB6-5011-C3AF-D1C1-25ECD94DF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A657E0E-B3F8-1F0E-0E5A-597261E48F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0"/>
                <a:ext cx="11929643" cy="390471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On the basis of their total scores,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US" dirty="0"/>
                  <a:t> candidates of a civil service examination are divided into two groups, the upper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30%</m:t>
                    </m:r>
                  </m:oMath>
                </a14:m>
                <a:r>
                  <a:rPr lang="en-US" dirty="0"/>
                  <a:t> and the remaining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70%</m:t>
                    </m:r>
                  </m:oMath>
                </a14:m>
                <a:r>
                  <a:rPr lang="en-US" dirty="0"/>
                  <a:t>. Consider the first question of examination. Among the first group,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lang="en-US" dirty="0"/>
                  <a:t> had the correct answer, whereas among the second group,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lang="en-US" dirty="0"/>
                  <a:t> had the correct answer. On the basis of these results, can one conclude that the first question is not good at discriminating ability of the type being examined here?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96 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BA657E0E-B3F8-1F0E-0E5A-597261E48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0"/>
                <a:ext cx="11929643" cy="3904711"/>
              </a:xfrm>
              <a:prstGeom prst="rect">
                <a:avLst/>
              </a:prstGeom>
              <a:blipFill>
                <a:blip r:embed="rId2"/>
                <a:stretch>
                  <a:fillRect l="-1074" r="-1074" b="-39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5519CC5-DE88-97E8-A15C-26CD8F467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4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4221CC-DB94-ADA6-B125-DC9020FD4630}"/>
              </a:ext>
            </a:extLst>
          </p:cNvPr>
          <p:cNvSpPr/>
          <p:nvPr/>
        </p:nvSpPr>
        <p:spPr>
          <a:xfrm>
            <a:off x="131177" y="499937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091CAAD-92E7-53B8-E6E7-28A6254807E1}"/>
                  </a:ext>
                </a:extLst>
              </p:cNvPr>
              <p:cNvSpPr/>
              <p:nvPr/>
            </p:nvSpPr>
            <p:spPr>
              <a:xfrm>
                <a:off x="1729663" y="5021903"/>
                <a:ext cx="294119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=30 %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200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091CAAD-92E7-53B8-E6E7-28A6254807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663" y="5021903"/>
                <a:ext cx="294119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D95DEE6-C960-2DE0-D119-CFA833ED9CD8}"/>
                  </a:ext>
                </a:extLst>
              </p:cNvPr>
              <p:cNvSpPr/>
              <p:nvPr/>
            </p:nvSpPr>
            <p:spPr>
              <a:xfrm>
                <a:off x="1729663" y="5682931"/>
                <a:ext cx="1490472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D95DEE6-C960-2DE0-D119-CFA833ED9C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9663" y="5682931"/>
                <a:ext cx="1490472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349AF3A-43DF-1DE4-8085-153B52115782}"/>
                  </a:ext>
                </a:extLst>
              </p:cNvPr>
              <p:cNvSpPr/>
              <p:nvPr/>
            </p:nvSpPr>
            <p:spPr>
              <a:xfrm>
                <a:off x="3095469" y="5906191"/>
                <a:ext cx="188501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0.6666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349AF3A-43DF-1DE4-8085-153B521157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469" y="5906191"/>
                <a:ext cx="188501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52D3E3-1108-0C4E-328E-2345F9BD885C}"/>
              </a:ext>
            </a:extLst>
          </p:cNvPr>
          <p:cNvCxnSpPr>
            <a:cxnSpLocks/>
          </p:cNvCxnSpPr>
          <p:nvPr/>
        </p:nvCxnSpPr>
        <p:spPr>
          <a:xfrm>
            <a:off x="5771182" y="4814679"/>
            <a:ext cx="0" cy="1810925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1E5A8A3-4F1E-A6D6-7903-D724A5F701E5}"/>
              </a:ext>
            </a:extLst>
          </p:cNvPr>
          <p:cNvSpPr/>
          <p:nvPr/>
        </p:nvSpPr>
        <p:spPr>
          <a:xfrm>
            <a:off x="84003" y="5710917"/>
            <a:ext cx="154159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u="sng" dirty="0">
                <a:solidFill>
                  <a:srgbClr val="002060"/>
                </a:solidFill>
              </a:rPr>
              <a:t>Sample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034BEC9-04EE-6F5B-BDF5-D8DCE7EACA68}"/>
                  </a:ext>
                </a:extLst>
              </p:cNvPr>
              <p:cNvSpPr/>
              <p:nvPr/>
            </p:nvSpPr>
            <p:spPr>
              <a:xfrm>
                <a:off x="7608590" y="4930795"/>
                <a:ext cx="29494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=70 % 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200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034BEC9-04EE-6F5B-BDF5-D8DCE7EACA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590" y="4930795"/>
                <a:ext cx="294946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5E2D2A-6A9F-D1B2-2A99-C39B0FA282DD}"/>
                  </a:ext>
                </a:extLst>
              </p:cNvPr>
              <p:cNvSpPr/>
              <p:nvPr/>
            </p:nvSpPr>
            <p:spPr>
              <a:xfrm>
                <a:off x="7628691" y="5584331"/>
                <a:ext cx="1689245" cy="9105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140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5E2D2A-6A9F-D1B2-2A99-C39B0FA282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691" y="5584331"/>
                <a:ext cx="1689245" cy="9105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6C02904-1127-CA44-2973-F9C433EEDCF1}"/>
                  </a:ext>
                </a:extLst>
              </p:cNvPr>
              <p:cNvSpPr/>
              <p:nvPr/>
            </p:nvSpPr>
            <p:spPr>
              <a:xfrm>
                <a:off x="9127819" y="5811049"/>
                <a:ext cx="17014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0.5714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6C02904-1127-CA44-2973-F9C433EEDC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7819" y="5811049"/>
                <a:ext cx="170149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87409C0A-7FE2-9C51-0FE6-C9FEF3C93C23}"/>
              </a:ext>
            </a:extLst>
          </p:cNvPr>
          <p:cNvSpPr/>
          <p:nvPr/>
        </p:nvSpPr>
        <p:spPr>
          <a:xfrm>
            <a:off x="6040988" y="4934596"/>
            <a:ext cx="14991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u="sng" dirty="0">
                <a:solidFill>
                  <a:srgbClr val="002060"/>
                </a:solidFill>
              </a:rPr>
              <a:t>Sample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03554F4-7446-626F-9F16-D2444F2E01A3}"/>
                  </a:ext>
                </a:extLst>
              </p:cNvPr>
              <p:cNvSpPr/>
              <p:nvPr/>
            </p:nvSpPr>
            <p:spPr>
              <a:xfrm>
                <a:off x="4459596" y="5008547"/>
                <a:ext cx="104177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03554F4-7446-626F-9F16-D2444F2E0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596" y="5008547"/>
                <a:ext cx="104177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6B32776-2F6C-9E75-F056-F644D6524852}"/>
                  </a:ext>
                </a:extLst>
              </p:cNvPr>
              <p:cNvSpPr/>
              <p:nvPr/>
            </p:nvSpPr>
            <p:spPr>
              <a:xfrm>
                <a:off x="10379129" y="4917451"/>
                <a:ext cx="123020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140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6B32776-2F6C-9E75-F056-F644D6524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9129" y="4917451"/>
                <a:ext cx="123020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69C4D-720A-5C8D-6314-5D50F07D0B45}"/>
              </a:ext>
            </a:extLst>
          </p:cNvPr>
          <p:cNvCxnSpPr/>
          <p:nvPr/>
        </p:nvCxnSpPr>
        <p:spPr>
          <a:xfrm flipV="1">
            <a:off x="5123933" y="2233276"/>
            <a:ext cx="752798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02C49EA-9E59-3E1F-B7BB-64C7665ABF49}"/>
              </a:ext>
            </a:extLst>
          </p:cNvPr>
          <p:cNvCxnSpPr/>
          <p:nvPr/>
        </p:nvCxnSpPr>
        <p:spPr>
          <a:xfrm flipV="1">
            <a:off x="4962338" y="1567093"/>
            <a:ext cx="68436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A4172B4-2057-C6E7-652C-D3421BB3272D}"/>
              </a:ext>
            </a:extLst>
          </p:cNvPr>
          <p:cNvCxnSpPr/>
          <p:nvPr/>
        </p:nvCxnSpPr>
        <p:spPr>
          <a:xfrm flipV="1">
            <a:off x="8592934" y="2233276"/>
            <a:ext cx="811763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AE43E8-F51E-4985-AB0B-939513DB7D8F}"/>
              </a:ext>
            </a:extLst>
          </p:cNvPr>
          <p:cNvCxnSpPr/>
          <p:nvPr/>
        </p:nvCxnSpPr>
        <p:spPr>
          <a:xfrm flipV="1">
            <a:off x="4962333" y="1571332"/>
            <a:ext cx="68436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64DCEB-2185-865A-DDB4-75EAF5AA60C7}"/>
              </a:ext>
            </a:extLst>
          </p:cNvPr>
          <p:cNvCxnSpPr/>
          <p:nvPr/>
        </p:nvCxnSpPr>
        <p:spPr>
          <a:xfrm flipV="1">
            <a:off x="6939902" y="2887367"/>
            <a:ext cx="49488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17459D1-2776-EF35-7BBB-B1BE5A368684}"/>
              </a:ext>
            </a:extLst>
          </p:cNvPr>
          <p:cNvCxnSpPr/>
          <p:nvPr/>
        </p:nvCxnSpPr>
        <p:spPr>
          <a:xfrm flipV="1">
            <a:off x="3850830" y="3513576"/>
            <a:ext cx="49488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306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BF7F2-4D95-0F29-3D35-8896844DE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7FA4D-D471-E0D6-0D06-FC3DEA5C5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4(Continue)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0055CB6-5371-7067-84D2-9072B71ADEAE}"/>
                  </a:ext>
                </a:extLst>
              </p:cNvPr>
              <p:cNvSpPr/>
              <p:nvPr/>
            </p:nvSpPr>
            <p:spPr>
              <a:xfrm>
                <a:off x="111878" y="870047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0055CB6-5371-7067-84D2-9072B71ADE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78" y="870047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47FCFFB-E126-A9CD-7213-DE267ED0F6AA}"/>
                  </a:ext>
                </a:extLst>
              </p:cNvPr>
              <p:cNvSpPr/>
              <p:nvPr/>
            </p:nvSpPr>
            <p:spPr>
              <a:xfrm>
                <a:off x="1224206" y="3133214"/>
                <a:ext cx="288692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𝐢𝐬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𝐧𝐨𝐭</m:t>
                          </m:r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𝐤𝐧𝐨𝐰𝐧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47FCFFB-E126-A9CD-7213-DE267ED0F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206" y="3133214"/>
                <a:ext cx="288692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6BCED48-8C96-E9B1-9110-3D5A2FE5C1DE}"/>
                  </a:ext>
                </a:extLst>
              </p:cNvPr>
              <p:cNvSpPr/>
              <p:nvPr/>
            </p:nvSpPr>
            <p:spPr>
              <a:xfrm>
                <a:off x="897425" y="893810"/>
                <a:ext cx="145715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6BCED48-8C96-E9B1-9110-3D5A2FE5C1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25" y="893810"/>
                <a:ext cx="145715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EDCB73C-B570-18E9-9CEE-DCABB7B2E84F}"/>
                  </a:ext>
                </a:extLst>
              </p:cNvPr>
              <p:cNvSpPr/>
              <p:nvPr/>
            </p:nvSpPr>
            <p:spPr>
              <a:xfrm>
                <a:off x="103008" y="1847793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EDCB73C-B570-18E9-9CEE-DCABB7B2E8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8" y="1847793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2FF8C6F-BFA9-56DC-BD58-29359875E150}"/>
                  </a:ext>
                </a:extLst>
              </p:cNvPr>
              <p:cNvSpPr/>
              <p:nvPr/>
            </p:nvSpPr>
            <p:spPr>
              <a:xfrm>
                <a:off x="862005" y="1846179"/>
                <a:ext cx="151369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2FF8C6F-BFA9-56DC-BD58-29359875E1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005" y="1846179"/>
                <a:ext cx="151369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F8BC43F-BC2D-3AB8-1EAA-383CD4B86C9F}"/>
                  </a:ext>
                </a:extLst>
              </p:cNvPr>
              <p:cNvSpPr/>
              <p:nvPr/>
            </p:nvSpPr>
            <p:spPr>
              <a:xfrm>
                <a:off x="103007" y="2495694"/>
                <a:ext cx="262749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 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F8BC43F-BC2D-3AB8-1EAA-383CD4B86C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7" y="2495694"/>
                <a:ext cx="262749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7C32E02-8B0F-AAB1-1F1F-219C26A1A835}"/>
              </a:ext>
            </a:extLst>
          </p:cNvPr>
          <p:cNvSpPr/>
          <p:nvPr/>
        </p:nvSpPr>
        <p:spPr>
          <a:xfrm>
            <a:off x="134072" y="3133214"/>
            <a:ext cx="10474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Test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9A8B1E2-047B-0372-F924-9E1B00C5B661}"/>
                  </a:ext>
                </a:extLst>
              </p:cNvPr>
              <p:cNvSpPr/>
              <p:nvPr/>
            </p:nvSpPr>
            <p:spPr>
              <a:xfrm>
                <a:off x="2349043" y="861419"/>
                <a:ext cx="9828532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n-US" sz="2800" dirty="0">
                    <a:solidFill>
                      <a:srgbClr val="002060"/>
                    </a:solidFill>
                  </a:rPr>
                  <a:t>(i.e., The question does </a:t>
                </a:r>
                <a:r>
                  <a:rPr lang="en-US" sz="2800" b="1" dirty="0">
                    <a:solidFill>
                      <a:srgbClr val="002060"/>
                    </a:solidFill>
                  </a:rPr>
                  <a:t>not</a:t>
                </a:r>
                <a:r>
                  <a:rPr lang="en-US" sz="2800" dirty="0">
                    <a:solidFill>
                      <a:srgbClr val="002060"/>
                    </a:solidFill>
                  </a:rPr>
                  <a:t> differentiate between the top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30%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and the remaining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70%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)</a:t>
                </a:r>
                <a:r>
                  <a:rPr lang="en-US" sz="2800" u="sng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9A8B1E2-047B-0372-F924-9E1B00C5B6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043" y="861419"/>
                <a:ext cx="9828532" cy="954107"/>
              </a:xfrm>
              <a:prstGeom prst="rect">
                <a:avLst/>
              </a:prstGeom>
              <a:blipFill>
                <a:blip r:embed="rId8"/>
                <a:stretch>
                  <a:fillRect l="-1240" t="-5732" r="-1240" b="-171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17BDEC-0097-2354-89F5-6E8E3EF37490}"/>
                  </a:ext>
                </a:extLst>
              </p:cNvPr>
              <p:cNvSpPr txBox="1"/>
              <p:nvPr/>
            </p:nvSpPr>
            <p:spPr>
              <a:xfrm>
                <a:off x="0" y="3826238"/>
                <a:ext cx="4229099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𝐩𝐪</m:t>
                              </m:r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</m:e>
                                        <m:sub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1 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</m:e>
                                        <m:sub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2 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17BDEC-0097-2354-89F5-6E8E3EF37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26238"/>
                <a:ext cx="4229099" cy="13722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79241D-CC4A-3C18-AD25-49021333CE5E}"/>
                  </a:ext>
                </a:extLst>
              </p:cNvPr>
              <p:cNvSpPr txBox="1"/>
              <p:nvPr/>
            </p:nvSpPr>
            <p:spPr>
              <a:xfrm>
                <a:off x="151405" y="5491464"/>
                <a:ext cx="3028840" cy="945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79241D-CC4A-3C18-AD25-49021333C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05" y="5491464"/>
                <a:ext cx="3028840" cy="9454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1BCA10-7450-E12F-4888-CB9161305F0F}"/>
                  </a:ext>
                </a:extLst>
              </p:cNvPr>
              <p:cNvSpPr txBox="1"/>
              <p:nvPr/>
            </p:nvSpPr>
            <p:spPr>
              <a:xfrm>
                <a:off x="6066897" y="2181163"/>
                <a:ext cx="5684116" cy="935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666</m:t>
                              </m:r>
                            </m:e>
                          </m: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140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0.5714</m:t>
                              </m:r>
                            </m:e>
                          </m:d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1BCA10-7450-E12F-4888-CB9161305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6897" y="2181163"/>
                <a:ext cx="5684116" cy="9357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48BF465-70CB-9C20-3799-6B6F23235D25}"/>
              </a:ext>
            </a:extLst>
          </p:cNvPr>
          <p:cNvSpPr/>
          <p:nvPr/>
        </p:nvSpPr>
        <p:spPr>
          <a:xfrm>
            <a:off x="2363468" y="1847793"/>
            <a:ext cx="24822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8A71513-6181-D8F4-7D0F-31BED77F8FAD}"/>
                  </a:ext>
                </a:extLst>
              </p:cNvPr>
              <p:cNvSpPr/>
              <p:nvPr/>
            </p:nvSpPr>
            <p:spPr>
              <a:xfrm>
                <a:off x="6064369" y="3208439"/>
                <a:ext cx="132333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8A71513-6181-D8F4-7D0F-31BED77F8F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369" y="3208439"/>
                <a:ext cx="1323338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F7CB916-39EF-38F0-39F0-B0FEC22CA35F}"/>
                  </a:ext>
                </a:extLst>
              </p:cNvPr>
              <p:cNvSpPr/>
              <p:nvPr/>
            </p:nvSpPr>
            <p:spPr>
              <a:xfrm>
                <a:off x="5737003" y="3800908"/>
                <a:ext cx="17572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F7CB916-39EF-38F0-39F0-B0FEC22CA3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003" y="3800908"/>
                <a:ext cx="1757212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7DD107-A39D-5008-7A8D-F532B4507D3A}"/>
                  </a:ext>
                </a:extLst>
              </p:cNvPr>
              <p:cNvSpPr txBox="1"/>
              <p:nvPr/>
            </p:nvSpPr>
            <p:spPr>
              <a:xfrm>
                <a:off x="7387707" y="3823230"/>
                <a:ext cx="257918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0.59978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07DD107-A39D-5008-7A8D-F532B4507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7707" y="3823230"/>
                <a:ext cx="2579188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1C14E74-5D0F-0A6B-BC84-E8B1804EE970}"/>
                  </a:ext>
                </a:extLst>
              </p:cNvPr>
              <p:cNvSpPr txBox="1"/>
              <p:nvPr/>
            </p:nvSpPr>
            <p:spPr>
              <a:xfrm>
                <a:off x="9719257" y="3823230"/>
                <a:ext cx="109178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1C14E74-5D0F-0A6B-BC84-E8B1804EE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9257" y="3823230"/>
                <a:ext cx="1091781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7CAFB1A-F5EB-BDC3-B4AC-F35480C3CDF3}"/>
              </a:ext>
            </a:extLst>
          </p:cNvPr>
          <p:cNvCxnSpPr>
            <a:cxnSpLocks/>
          </p:cNvCxnSpPr>
          <p:nvPr/>
        </p:nvCxnSpPr>
        <p:spPr>
          <a:xfrm>
            <a:off x="5133480" y="2285864"/>
            <a:ext cx="0" cy="432000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57BCE01-41D5-C175-EF74-D17CB1584B15}"/>
                  </a:ext>
                </a:extLst>
              </p:cNvPr>
              <p:cNvSpPr txBox="1"/>
              <p:nvPr/>
            </p:nvSpPr>
            <p:spPr>
              <a:xfrm>
                <a:off x="5551311" y="4471500"/>
                <a:ext cx="5168760" cy="14464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.666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5714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r>
                                        <a:rPr lang="en-IN" sz="28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den>
                                  </m:f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r>
                                        <a:rPr lang="en-IN" sz="28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40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57BCE01-41D5-C175-EF74-D17CB1584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311" y="4471500"/>
                <a:ext cx="5168760" cy="144648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FCB31DD-0595-0E9D-62FB-0D9E0A0C3511}"/>
                  </a:ext>
                </a:extLst>
              </p:cNvPr>
              <p:cNvSpPr/>
              <p:nvPr/>
            </p:nvSpPr>
            <p:spPr>
              <a:xfrm>
                <a:off x="6115341" y="6039187"/>
                <a:ext cx="1503402" cy="477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5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=1.25</m:t>
                    </m:r>
                  </m:oMath>
                </a14:m>
                <a:r>
                  <a:rPr lang="en-US" sz="25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FCB31DD-0595-0E9D-62FB-0D9E0A0C35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341" y="6039187"/>
                <a:ext cx="1503402" cy="4770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463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9" grpId="0"/>
      <p:bldP spid="10" grpId="0"/>
      <p:bldP spid="11" grpId="0"/>
      <p:bldP spid="12" grpId="0"/>
      <p:bldP spid="13" grpId="0"/>
      <p:bldP spid="6" grpId="0"/>
      <p:bldP spid="7" grpId="0"/>
      <p:bldP spid="20" grpId="0"/>
      <p:bldP spid="22" grpId="0"/>
      <p:bldP spid="5" grpId="0"/>
      <p:bldP spid="32" grpId="0"/>
      <p:bldP spid="35" grpId="0"/>
      <p:bldP spid="36" grpId="0"/>
      <p:bldP spid="39" grpId="0"/>
      <p:bldP spid="40" grpId="0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50B59-3F2B-1FB2-30E8-9BADFA24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6ED5-EF22-6D9D-F31B-8E7A0301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4(Continue)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1755B3-0ADD-1652-1AFC-6353B6E87912}"/>
              </a:ext>
            </a:extLst>
          </p:cNvPr>
          <p:cNvSpPr/>
          <p:nvPr/>
        </p:nvSpPr>
        <p:spPr>
          <a:xfrm>
            <a:off x="161355" y="911086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F12375-26E5-F55C-8240-B198C738C471}"/>
                  </a:ext>
                </a:extLst>
              </p:cNvPr>
              <p:cNvSpPr txBox="1"/>
              <p:nvPr/>
            </p:nvSpPr>
            <p:spPr>
              <a:xfrm>
                <a:off x="2271819" y="911086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5F12375-26E5-F55C-8240-B198C738C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819" y="911086"/>
                <a:ext cx="269747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AF91317F-C4DA-A439-35E8-0CF679AB8646}"/>
              </a:ext>
            </a:extLst>
          </p:cNvPr>
          <p:cNvSpPr/>
          <p:nvPr/>
        </p:nvSpPr>
        <p:spPr>
          <a:xfrm>
            <a:off x="161355" y="1656636"/>
            <a:ext cx="19735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5D3BC8-C528-7D78-4D67-6BA4AE590C4D}"/>
                  </a:ext>
                </a:extLst>
              </p:cNvPr>
              <p:cNvSpPr txBox="1"/>
              <p:nvPr/>
            </p:nvSpPr>
            <p:spPr>
              <a:xfrm>
                <a:off x="-71876" y="2396570"/>
                <a:ext cx="237653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1.25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5D3BC8-C528-7D78-4D67-6BA4AE590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876" y="2396570"/>
                <a:ext cx="237653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399F9ED-436C-54D9-4BF2-A3F3226EDCFF}"/>
                  </a:ext>
                </a:extLst>
              </p:cNvPr>
              <p:cNvSpPr/>
              <p:nvPr/>
            </p:nvSpPr>
            <p:spPr>
              <a:xfrm>
                <a:off x="209838" y="3204024"/>
                <a:ext cx="237653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Accept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r>
                  <a:rPr lang="en-US" sz="2800" u="sng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399F9ED-436C-54D9-4BF2-A3F3226EDC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38" y="3204024"/>
                <a:ext cx="2376538" cy="523220"/>
              </a:xfrm>
              <a:prstGeom prst="rect">
                <a:avLst/>
              </a:prstGeom>
              <a:blipFill>
                <a:blip r:embed="rId4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C6B38F8-FFD8-AE8B-E52A-89F313499B6F}"/>
                  </a:ext>
                </a:extLst>
              </p:cNvPr>
              <p:cNvSpPr txBox="1"/>
              <p:nvPr/>
            </p:nvSpPr>
            <p:spPr>
              <a:xfrm>
                <a:off x="2391876" y="2376843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C6B38F8-FFD8-AE8B-E52A-89F313499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876" y="2376843"/>
                <a:ext cx="26974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FC63F6-3B85-92F1-315E-73C9D0CB795A}"/>
                  </a:ext>
                </a:extLst>
              </p:cNvPr>
              <p:cNvSpPr txBox="1"/>
              <p:nvPr/>
            </p:nvSpPr>
            <p:spPr>
              <a:xfrm>
                <a:off x="2037659" y="2372209"/>
                <a:ext cx="5487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CFC63F6-3B85-92F1-315E-73C9D0CB7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659" y="2372209"/>
                <a:ext cx="54871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CFAB74-F50A-DC45-4BCC-BFBACD6B4FFF}"/>
                  </a:ext>
                </a:extLst>
              </p:cNvPr>
              <p:cNvSpPr txBox="1"/>
              <p:nvPr/>
            </p:nvSpPr>
            <p:spPr>
              <a:xfrm>
                <a:off x="209838" y="3882054"/>
                <a:ext cx="11871915" cy="1161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30000"/>
                  </a:lnSpc>
                  <a:spcBef>
                    <a:spcPts val="1200"/>
                  </a:spcBef>
                  <a:tabLst>
                    <a:tab pos="447675" algn="l"/>
                  </a:tabLst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At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we conclude that the first question is not good at discriminating the ability of the students.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CFAB74-F50A-DC45-4BCC-BFBACD6B4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38" y="3882054"/>
                <a:ext cx="11871915" cy="1161152"/>
              </a:xfrm>
              <a:prstGeom prst="rect">
                <a:avLst/>
              </a:prstGeom>
              <a:blipFill>
                <a:blip r:embed="rId7"/>
                <a:stretch>
                  <a:fillRect l="-1027" r="-1027" b="-1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B1DA35D4-FB3B-C3A4-5C61-B812901EC26E}"/>
              </a:ext>
            </a:extLst>
          </p:cNvPr>
          <p:cNvGrpSpPr/>
          <p:nvPr/>
        </p:nvGrpSpPr>
        <p:grpSpPr>
          <a:xfrm>
            <a:off x="8554742" y="911086"/>
            <a:ext cx="3527011" cy="2270161"/>
            <a:chOff x="5659775" y="3429000"/>
            <a:chExt cx="3527011" cy="227016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7CFDA54-E9FE-79CB-0687-CEB2E2FD0B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97982" y="4714478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443F089-5594-EC98-428F-51A05A5686EE}"/>
                </a:ext>
              </a:extLst>
            </p:cNvPr>
            <p:cNvSpPr/>
            <p:nvPr/>
          </p:nvSpPr>
          <p:spPr>
            <a:xfrm flipH="1">
              <a:off x="8410363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E9D0AAF-7A9F-C35E-64A7-B3DD09902994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7543377" y="3429001"/>
              <a:ext cx="21522" cy="1854430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96376EF-C6EB-44FA-3920-7DC7469F8ECC}"/>
                </a:ext>
              </a:extLst>
            </p:cNvPr>
            <p:cNvSpPr/>
            <p:nvPr/>
          </p:nvSpPr>
          <p:spPr>
            <a:xfrm>
              <a:off x="6096000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139AE49-F4F8-B697-CAD3-0A9621BCED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015" y="4718242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E31521-90F5-ECD3-ADB4-BAC8E65829F9}"/>
                </a:ext>
              </a:extLst>
            </p:cNvPr>
            <p:cNvSpPr/>
            <p:nvPr/>
          </p:nvSpPr>
          <p:spPr>
            <a:xfrm>
              <a:off x="6096001" y="3429000"/>
              <a:ext cx="2920249" cy="1761286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58544F7-B2A5-F3CC-9CCF-4AAF6A85ED9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1" y="5287008"/>
              <a:ext cx="292024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1F15A94-3C6A-221D-4F5E-AA0B1D1071CE}"/>
                    </a:ext>
                  </a:extLst>
                </p:cNvPr>
                <p:cNvSpPr/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3ED274A-2FB6-AF7C-E47A-011C3F51C3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49F5F85-ADD2-8FC0-AB3D-4A493F280C4A}"/>
                    </a:ext>
                  </a:extLst>
                </p:cNvPr>
                <p:cNvSpPr/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602AA99-8588-E61A-71FD-AF0C614C8F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875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/>
      <p:bldP spid="16" grpId="0"/>
      <p:bldP spid="17" grpId="0"/>
      <p:bldP spid="18" grpId="0"/>
      <p:bldP spid="19" grpId="0"/>
      <p:bldP spid="23" grpId="0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7ED67-FC37-E05C-E125-3566DC4EF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2DFE066D-E46D-B3AF-C9A1-4A342E8AE0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212703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In two large populations, there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fair haired people respectively. Is this difference likely to be hidden in samples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1200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r>
                  <a:rPr lang="en-US" dirty="0"/>
                  <a:t> respectively from the two populations?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05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2DFE066D-E46D-B3AF-C9A1-4A342E8AE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127038"/>
              </a:xfrm>
              <a:prstGeom prst="rect">
                <a:avLst/>
              </a:prstGeom>
              <a:blipFill>
                <a:blip r:embed="rId3"/>
                <a:stretch>
                  <a:fillRect l="-1074" r="-1074" b="-40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8579CBC-337E-FD44-9114-DA1547AB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817679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9FBB8-280E-EABB-E5E2-F4D1BC6E5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40C8B-1E24-692C-E7CA-6BFD3CE02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6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6D43756-9BEB-47E4-8A43-D3EEE4A1D1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</p:spPr>
            <p:txBody>
              <a:bodyPr/>
              <a:lstStyle/>
              <a:p>
                <a:r>
                  <a:rPr lang="en-US" dirty="0"/>
                  <a:t>Fair-haired means people who have light-colored hair (blonde or light brown hair).</a:t>
                </a:r>
              </a:p>
              <a:p>
                <a:r>
                  <a:rPr lang="en-US" dirty="0"/>
                  <a:t>Now the problem says:</a:t>
                </a:r>
              </a:p>
              <a:p>
                <a:pPr lvl="1"/>
                <a:r>
                  <a:rPr lang="en-US" dirty="0"/>
                  <a:t>In Population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30%</m:t>
                    </m:r>
                  </m:oMath>
                </a14:m>
                <a:r>
                  <a:rPr lang="en-US" dirty="0"/>
                  <a:t> people have fair hair.</a:t>
                </a:r>
              </a:p>
              <a:p>
                <a:pPr lvl="1"/>
                <a:r>
                  <a:rPr lang="en-US" dirty="0"/>
                  <a:t>In Population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25%</m:t>
                    </m:r>
                  </m:oMath>
                </a14:m>
                <a:r>
                  <a:rPr lang="en-US" dirty="0"/>
                  <a:t> people have fair hair.</a:t>
                </a:r>
              </a:p>
              <a:p>
                <a:r>
                  <a:rPr lang="en-US" dirty="0"/>
                  <a:t>So, there is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difference between the two populations.</a:t>
                </a:r>
              </a:p>
              <a:p>
                <a:r>
                  <a:rPr lang="en-US" dirty="0"/>
                  <a:t>Samples are taken: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1200</m:t>
                    </m:r>
                  </m:oMath>
                </a14:m>
                <a:r>
                  <a:rPr lang="en-US" dirty="0"/>
                  <a:t> people from Population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1900</m:t>
                    </m:r>
                  </m:oMath>
                </a14:m>
                <a:r>
                  <a:rPr lang="en-US" dirty="0"/>
                  <a:t> people from Population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6D43756-9BEB-47E4-8A43-D3EEE4A1D1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  <a:blipFill>
                <a:blip r:embed="rId3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085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4C2B3-5977-6AD9-D6AE-E4864524F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9EF0-26F3-7C80-21BA-1D74CDF7A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6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AA3EC31-B02F-A2A2-F6A2-CDCB32DCD4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</p:spPr>
            <p:txBody>
              <a:bodyPr/>
              <a:lstStyle/>
              <a:p>
                <a:r>
                  <a:rPr lang="en-US" dirty="0"/>
                  <a:t>The question asks:</a:t>
                </a:r>
              </a:p>
              <a:p>
                <a:pPr lvl="1"/>
                <a:r>
                  <a:rPr lang="en-US" dirty="0"/>
                  <a:t>When we take these samples, will this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dirty="0"/>
                  <a:t> difference still be noticeable?</a:t>
                </a:r>
              </a:p>
              <a:p>
                <a:pPr lvl="1"/>
                <a:r>
                  <a:rPr lang="en-US" dirty="0"/>
                  <a:t>or Can this difference disappear (be hidden) due to sampling variation?</a:t>
                </a:r>
              </a:p>
              <a:p>
                <a:r>
                  <a:rPr lang="en-US" dirty="0"/>
                  <a:t>In simple words:</a:t>
                </a:r>
              </a:p>
              <a:p>
                <a:pPr lvl="1"/>
                <a:r>
                  <a:rPr lang="en-US" dirty="0"/>
                  <a:t>Is the difference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30%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25%</m:t>
                    </m:r>
                  </m:oMath>
                </a14:m>
                <a:r>
                  <a:rPr lang="en-US" dirty="0"/>
                  <a:t> real or can it be hidden when we take samples?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AA3EC31-B02F-A2A2-F6A2-CDCB32DCD4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  <a:blipFill>
                <a:blip r:embed="rId3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978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AC968-C9A3-7D02-54D2-BB251155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4D04-EA18-9B13-9289-3528ABFD9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6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Idea about Hypotheses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926FFD6-14B3-C490-60BC-BAC7EDCA07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</p:spPr>
            <p:txBody>
              <a:bodyPr/>
              <a:lstStyle/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proportion of fair-haired people in both populations is the same.</a:t>
                </a:r>
              </a:p>
              <a:p>
                <a:pPr lvl="1"/>
                <a:r>
                  <a:rPr lang="en-US" dirty="0"/>
                  <a:t>So, the difference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30%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25%</m:t>
                    </m:r>
                  </m:oMath>
                </a14:m>
                <a:r>
                  <a:rPr lang="en-US" dirty="0"/>
                  <a:t> is not important and may be hidden in samples.</a:t>
                </a:r>
              </a:p>
              <a:p>
                <a:r>
                  <a:rPr lang="en-US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proportion of fair-haired people in the two populations is different.</a:t>
                </a:r>
              </a:p>
              <a:p>
                <a:pPr lvl="1"/>
                <a:r>
                  <a:rPr lang="en-US" dirty="0"/>
                  <a:t>So, the difference is real and will not be hidden in samples.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926FFD6-14B3-C490-60BC-BAC7EDCA07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11200"/>
                <a:ext cx="11928475" cy="5743575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76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084F8-C16B-6090-3CC4-F8EA36E3D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C90DDD2-136D-8894-021A-FDBE500B36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1"/>
                <a:ext cx="11929643" cy="212703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In two large populations, there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fair haired people respectively. Is this difference likely to be hidden in samples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1200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900</m:t>
                    </m:r>
                  </m:oMath>
                </a14:m>
                <a:r>
                  <a:rPr lang="en-US" dirty="0"/>
                  <a:t> respectively from the two populations?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05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C90DDD2-136D-8894-021A-FDBE500B3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1"/>
                <a:ext cx="11929643" cy="2127038"/>
              </a:xfrm>
              <a:prstGeom prst="rect">
                <a:avLst/>
              </a:prstGeom>
              <a:blipFill>
                <a:blip r:embed="rId3"/>
                <a:stretch>
                  <a:fillRect l="-1074" r="-1074" b="-40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76D1027-26B1-9D27-89BD-F6B0CC47A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6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8B17033-CA5F-2878-226D-AAA15E25D541}"/>
              </a:ext>
            </a:extLst>
          </p:cNvPr>
          <p:cNvSpPr/>
          <p:nvPr/>
        </p:nvSpPr>
        <p:spPr>
          <a:xfrm>
            <a:off x="126079" y="3054751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3AB8511-3EDE-ED0B-7806-CD3705B2B0C8}"/>
                  </a:ext>
                </a:extLst>
              </p:cNvPr>
              <p:cNvSpPr/>
              <p:nvPr/>
            </p:nvSpPr>
            <p:spPr>
              <a:xfrm>
                <a:off x="145459" y="3757206"/>
                <a:ext cx="220054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1200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3AB8511-3EDE-ED0B-7806-CD3705B2B0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59" y="3757206"/>
                <a:ext cx="220054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65E4C5E-4708-45EE-12B1-87E2B0086500}"/>
                  </a:ext>
                </a:extLst>
              </p:cNvPr>
              <p:cNvSpPr/>
              <p:nvPr/>
            </p:nvSpPr>
            <p:spPr>
              <a:xfrm>
                <a:off x="178332" y="4375325"/>
                <a:ext cx="11139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65E4C5E-4708-45EE-12B1-87E2B00865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32" y="4375325"/>
                <a:ext cx="111396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D8B0B1D-F32F-0916-4F9E-11F9D65D60B0}"/>
              </a:ext>
            </a:extLst>
          </p:cNvPr>
          <p:cNvSpPr/>
          <p:nvPr/>
        </p:nvSpPr>
        <p:spPr>
          <a:xfrm>
            <a:off x="1012478" y="4386146"/>
            <a:ext cx="454162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Proportion of fair-haired people</a:t>
            </a:r>
          </a:p>
          <a:p>
            <a:r>
              <a:rPr lang="en-US" sz="2800" dirty="0">
                <a:solidFill>
                  <a:srgbClr val="002060"/>
                </a:solidFill>
              </a:rPr>
              <a:t>in the first population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0746913-7DAD-16E1-007B-F3C376A50DEC}"/>
              </a:ext>
            </a:extLst>
          </p:cNvPr>
          <p:cNvCxnSpPr>
            <a:cxnSpLocks/>
          </p:cNvCxnSpPr>
          <p:nvPr/>
        </p:nvCxnSpPr>
        <p:spPr>
          <a:xfrm>
            <a:off x="5587117" y="2897525"/>
            <a:ext cx="0" cy="371013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CBED3D8-12AF-3513-87CE-F8878E7DADE0}"/>
              </a:ext>
            </a:extLst>
          </p:cNvPr>
          <p:cNvSpPr/>
          <p:nvPr/>
        </p:nvSpPr>
        <p:spPr>
          <a:xfrm>
            <a:off x="2082335" y="3101839"/>
            <a:ext cx="14991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u="sng" dirty="0">
                <a:solidFill>
                  <a:srgbClr val="002060"/>
                </a:solidFill>
              </a:rPr>
              <a:t>Sample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45192E0-18CC-8905-1EB4-2E1E392E02FA}"/>
                  </a:ext>
                </a:extLst>
              </p:cNvPr>
              <p:cNvSpPr/>
              <p:nvPr/>
            </p:nvSpPr>
            <p:spPr>
              <a:xfrm>
                <a:off x="5831148" y="3747158"/>
                <a:ext cx="197079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900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45192E0-18CC-8905-1EB4-2E1E392E02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148" y="3747158"/>
                <a:ext cx="197079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86199C8-2971-3249-82DE-C630929957D1}"/>
                  </a:ext>
                </a:extLst>
              </p:cNvPr>
              <p:cNvSpPr/>
              <p:nvPr/>
            </p:nvSpPr>
            <p:spPr>
              <a:xfrm>
                <a:off x="7525454" y="5340253"/>
                <a:ext cx="174357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86199C8-2971-3249-82DE-C630929957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5454" y="5340253"/>
                <a:ext cx="174357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808D96A5-B020-B129-DDF4-28C4974B4090}"/>
              </a:ext>
            </a:extLst>
          </p:cNvPr>
          <p:cNvSpPr/>
          <p:nvPr/>
        </p:nvSpPr>
        <p:spPr>
          <a:xfrm>
            <a:off x="8028337" y="3058285"/>
            <a:ext cx="14991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u="sng" dirty="0">
                <a:solidFill>
                  <a:srgbClr val="002060"/>
                </a:solidFill>
              </a:rPr>
              <a:t>Sample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C201B5C-886F-7CF7-80D2-DDFC5B451706}"/>
                  </a:ext>
                </a:extLst>
              </p:cNvPr>
              <p:cNvSpPr/>
              <p:nvPr/>
            </p:nvSpPr>
            <p:spPr>
              <a:xfrm>
                <a:off x="581573" y="5369234"/>
                <a:ext cx="181476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%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C201B5C-886F-7CF7-80D2-DDFC5B4517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73" y="5369234"/>
                <a:ext cx="181476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2DC273A-A308-C019-DF6E-6C456EE3F0CC}"/>
                  </a:ext>
                </a:extLst>
              </p:cNvPr>
              <p:cNvSpPr/>
              <p:nvPr/>
            </p:nvSpPr>
            <p:spPr>
              <a:xfrm>
                <a:off x="1827531" y="5368376"/>
                <a:ext cx="122075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2DC273A-A308-C019-DF6E-6C456EE3F0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531" y="5368376"/>
                <a:ext cx="122075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5B99C98-5D89-08F4-140D-3AABFBE142A1}"/>
                  </a:ext>
                </a:extLst>
              </p:cNvPr>
              <p:cNvSpPr/>
              <p:nvPr/>
            </p:nvSpPr>
            <p:spPr>
              <a:xfrm>
                <a:off x="5873098" y="4386146"/>
                <a:ext cx="123346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5B99C98-5D89-08F4-140D-3AABFBE142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098" y="4386146"/>
                <a:ext cx="123346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4040C8D5-C4F1-6716-7028-788325EC6044}"/>
              </a:ext>
            </a:extLst>
          </p:cNvPr>
          <p:cNvSpPr/>
          <p:nvPr/>
        </p:nvSpPr>
        <p:spPr>
          <a:xfrm>
            <a:off x="6637894" y="4374497"/>
            <a:ext cx="454162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</a:rPr>
              <a:t>Proportion of fair-haired people</a:t>
            </a:r>
          </a:p>
          <a:p>
            <a:r>
              <a:rPr lang="en-US" sz="2800" dirty="0">
                <a:solidFill>
                  <a:srgbClr val="002060"/>
                </a:solidFill>
              </a:rPr>
              <a:t>in the second population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52D553E-2E84-18B9-0B91-307B5C4B4D51}"/>
                  </a:ext>
                </a:extLst>
              </p:cNvPr>
              <p:cNvSpPr/>
              <p:nvPr/>
            </p:nvSpPr>
            <p:spPr>
              <a:xfrm>
                <a:off x="6239067" y="5368376"/>
                <a:ext cx="14289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%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52D553E-2E84-18B9-0B91-307B5C4B4D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067" y="5368376"/>
                <a:ext cx="1428981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1FBEAF2-77D3-FAF9-330F-6B6FB6067FCA}"/>
                  </a:ext>
                </a:extLst>
              </p:cNvPr>
              <p:cNvSpPr/>
              <p:nvPr/>
            </p:nvSpPr>
            <p:spPr>
              <a:xfrm>
                <a:off x="54977" y="6039884"/>
                <a:ext cx="20780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1FBEAF2-77D3-FAF9-330F-6B6FB6067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7" y="6039884"/>
                <a:ext cx="2078069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1ECEDA-41C5-E5FF-A784-688DEDD97F6D}"/>
                  </a:ext>
                </a:extLst>
              </p:cNvPr>
              <p:cNvSpPr/>
              <p:nvPr/>
            </p:nvSpPr>
            <p:spPr>
              <a:xfrm>
                <a:off x="1969763" y="6055219"/>
                <a:ext cx="110517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1ECEDA-41C5-E5FF-A784-688DEDD97F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763" y="6055219"/>
                <a:ext cx="1105174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01E4A64-B700-D06B-8C77-4F1A43A50AF8}"/>
                  </a:ext>
                </a:extLst>
              </p:cNvPr>
              <p:cNvSpPr/>
              <p:nvPr/>
            </p:nvSpPr>
            <p:spPr>
              <a:xfrm>
                <a:off x="5803447" y="5985853"/>
                <a:ext cx="20780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01E4A64-B700-D06B-8C77-4F1A43A50A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447" y="5985853"/>
                <a:ext cx="2078069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686F3CD-484B-CD14-AF33-8E7A404ECA3D}"/>
                  </a:ext>
                </a:extLst>
              </p:cNvPr>
              <p:cNvSpPr/>
              <p:nvPr/>
            </p:nvSpPr>
            <p:spPr>
              <a:xfrm>
                <a:off x="7801939" y="5985853"/>
                <a:ext cx="161443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686F3CD-484B-CD14-AF33-8E7A404ECA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939" y="5985853"/>
                <a:ext cx="1614433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89EE069-A896-18A7-E77D-A8F08C33D0B6}"/>
              </a:ext>
            </a:extLst>
          </p:cNvPr>
          <p:cNvCxnSpPr/>
          <p:nvPr/>
        </p:nvCxnSpPr>
        <p:spPr>
          <a:xfrm flipV="1">
            <a:off x="6861966" y="2294692"/>
            <a:ext cx="729516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11F5760-AD67-EB37-C0AD-FF57E0AB6BA8}"/>
              </a:ext>
            </a:extLst>
          </p:cNvPr>
          <p:cNvCxnSpPr/>
          <p:nvPr/>
        </p:nvCxnSpPr>
        <p:spPr>
          <a:xfrm flipV="1">
            <a:off x="8215354" y="2294692"/>
            <a:ext cx="64740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7C4ADE0-CB2A-DC81-F3FA-32B73C167C29}"/>
              </a:ext>
            </a:extLst>
          </p:cNvPr>
          <p:cNvCxnSpPr/>
          <p:nvPr/>
        </p:nvCxnSpPr>
        <p:spPr>
          <a:xfrm flipV="1">
            <a:off x="5068851" y="1659692"/>
            <a:ext cx="64740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E523AD2-EEA9-25A3-F18D-3FFC20044FA7}"/>
              </a:ext>
            </a:extLst>
          </p:cNvPr>
          <p:cNvCxnSpPr/>
          <p:nvPr/>
        </p:nvCxnSpPr>
        <p:spPr>
          <a:xfrm flipV="1">
            <a:off x="7110792" y="1659692"/>
            <a:ext cx="2581354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87E9C7-C1D6-43B7-96E2-35CF537B96C1}"/>
              </a:ext>
            </a:extLst>
          </p:cNvPr>
          <p:cNvCxnSpPr/>
          <p:nvPr/>
        </p:nvCxnSpPr>
        <p:spPr>
          <a:xfrm flipV="1">
            <a:off x="6365914" y="1660979"/>
            <a:ext cx="64740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C6C76E2-21E6-6388-8CC4-6A514D896C88}"/>
              </a:ext>
            </a:extLst>
          </p:cNvPr>
          <p:cNvCxnSpPr/>
          <p:nvPr/>
        </p:nvCxnSpPr>
        <p:spPr>
          <a:xfrm flipV="1">
            <a:off x="7106564" y="1659704"/>
            <a:ext cx="2581354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07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F4DBF-5867-E2BD-E4D0-619C751C3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817B3-BA65-4B27-122C-ABA4EE3BE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6(Continue)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4B7A5ED-F6CD-B5E6-8B08-8155FD65A981}"/>
                  </a:ext>
                </a:extLst>
              </p:cNvPr>
              <p:cNvSpPr/>
              <p:nvPr/>
            </p:nvSpPr>
            <p:spPr>
              <a:xfrm>
                <a:off x="111878" y="870047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4B7A5ED-F6CD-B5E6-8B08-8155FD65A9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78" y="870047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63E14DC-6D14-87BF-8DF3-9A7470087C57}"/>
                  </a:ext>
                </a:extLst>
              </p:cNvPr>
              <p:cNvSpPr/>
              <p:nvPr/>
            </p:nvSpPr>
            <p:spPr>
              <a:xfrm>
                <a:off x="1224206" y="3133214"/>
                <a:ext cx="288692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𝐢𝐬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𝐤𝐧𝐨𝐰𝐧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63E14DC-6D14-87BF-8DF3-9A7470087C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206" y="3133214"/>
                <a:ext cx="288692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1A14E04-2FA8-B945-D775-F6D83506CE94}"/>
                  </a:ext>
                </a:extLst>
              </p:cNvPr>
              <p:cNvSpPr/>
              <p:nvPr/>
            </p:nvSpPr>
            <p:spPr>
              <a:xfrm>
                <a:off x="918550" y="863868"/>
                <a:ext cx="145715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1A14E04-2FA8-B945-D775-F6D83506CE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550" y="863868"/>
                <a:ext cx="145715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566693E-44E1-1C8C-D701-3B5B3181CFC2}"/>
                  </a:ext>
                </a:extLst>
              </p:cNvPr>
              <p:cNvSpPr/>
              <p:nvPr/>
            </p:nvSpPr>
            <p:spPr>
              <a:xfrm>
                <a:off x="103008" y="1847793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566693E-44E1-1C8C-D701-3B5B3181CF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8" y="1847793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4BDF8A5-F6C3-617E-D7CF-5F3B792A1C95}"/>
                  </a:ext>
                </a:extLst>
              </p:cNvPr>
              <p:cNvSpPr/>
              <p:nvPr/>
            </p:nvSpPr>
            <p:spPr>
              <a:xfrm>
                <a:off x="862005" y="1846179"/>
                <a:ext cx="151369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4BDF8A5-F6C3-617E-D7CF-5F3B792A1C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005" y="1846179"/>
                <a:ext cx="151369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AEDFEE8-1D0F-0024-8867-BA0915C4F0C7}"/>
                  </a:ext>
                </a:extLst>
              </p:cNvPr>
              <p:cNvSpPr/>
              <p:nvPr/>
            </p:nvSpPr>
            <p:spPr>
              <a:xfrm>
                <a:off x="103007" y="2495694"/>
                <a:ext cx="225157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AEDFEE8-1D0F-0024-8867-BA0915C4F0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7" y="2495694"/>
                <a:ext cx="225157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5F7FBD72-1D60-4571-15D9-E7F223E8AAAA}"/>
              </a:ext>
            </a:extLst>
          </p:cNvPr>
          <p:cNvSpPr/>
          <p:nvPr/>
        </p:nvSpPr>
        <p:spPr>
          <a:xfrm>
            <a:off x="134072" y="3133214"/>
            <a:ext cx="10474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Test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FBAFA1-9082-8173-2BAA-C96E4B06EA5D}"/>
              </a:ext>
            </a:extLst>
          </p:cNvPr>
          <p:cNvSpPr/>
          <p:nvPr/>
        </p:nvSpPr>
        <p:spPr>
          <a:xfrm>
            <a:off x="2363468" y="862551"/>
            <a:ext cx="98285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(i.e., The difference in population proportions is likely to be hidden in</a:t>
            </a:r>
          </a:p>
          <a:p>
            <a:pPr lvl="0"/>
            <a:r>
              <a:rPr lang="en-US" sz="2800" dirty="0">
                <a:solidFill>
                  <a:srgbClr val="002060"/>
                </a:solidFill>
              </a:rPr>
              <a:t>  sampling)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9FD3E-2751-F162-EFA8-13276F3D5E71}"/>
              </a:ext>
            </a:extLst>
          </p:cNvPr>
          <p:cNvSpPr/>
          <p:nvPr/>
        </p:nvSpPr>
        <p:spPr>
          <a:xfrm>
            <a:off x="2363468" y="1847793"/>
            <a:ext cx="24822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(two tailed test)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EAE11BA-47DA-E3C6-E5BC-C5E432314BD5}"/>
                  </a:ext>
                </a:extLst>
              </p:cNvPr>
              <p:cNvSpPr/>
              <p:nvPr/>
            </p:nvSpPr>
            <p:spPr>
              <a:xfrm>
                <a:off x="5744346" y="4679499"/>
                <a:ext cx="138063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=2.56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EAE11BA-47DA-E3C6-E5BC-C5E432314B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346" y="4679499"/>
                <a:ext cx="138063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9218348-1B50-AB5C-27D0-E9C04084EB18}"/>
              </a:ext>
            </a:extLst>
          </p:cNvPr>
          <p:cNvCxnSpPr>
            <a:cxnSpLocks/>
          </p:cNvCxnSpPr>
          <p:nvPr/>
        </p:nvCxnSpPr>
        <p:spPr>
          <a:xfrm>
            <a:off x="4927740" y="2679700"/>
            <a:ext cx="0" cy="392616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F3DAC1F-5B16-8C00-54C6-3574CD9ABE63}"/>
                  </a:ext>
                </a:extLst>
              </p:cNvPr>
              <p:cNvSpPr txBox="1"/>
              <p:nvPr/>
            </p:nvSpPr>
            <p:spPr>
              <a:xfrm>
                <a:off x="4998121" y="3067426"/>
                <a:ext cx="5969667" cy="14464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IN" sz="28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0.3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1200</m:t>
                                  </m:r>
                                </m:den>
                              </m:f>
                              <m:r>
                                <a:rPr lang="en-IN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25</m:t>
                                      </m:r>
                                    </m:e>
                                  </m:d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0.75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IN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900</m:t>
                                  </m:r>
                                </m:den>
                              </m:f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F3DAC1F-5B16-8C00-54C6-3574CD9AB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121" y="3067426"/>
                <a:ext cx="5969667" cy="14464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33312F-1487-B1D9-FA14-F1F642B8FEC5}"/>
                  </a:ext>
                </a:extLst>
              </p:cNvPr>
              <p:cNvSpPr txBox="1"/>
              <p:nvPr/>
            </p:nvSpPr>
            <p:spPr>
              <a:xfrm>
                <a:off x="103007" y="3804875"/>
                <a:ext cx="3943350" cy="1434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𝐏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𝐏</m:t>
                                      </m:r>
                                    </m:e>
                                    <m: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𝐐</m:t>
                                      </m:r>
                                    </m:e>
                                    <m: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𝐧</m:t>
                                      </m:r>
                                    </m:e>
                                    <m: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1 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IN" sz="2800" b="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𝐏</m:t>
                                      </m:r>
                                    </m:e>
                                    <m: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𝐐</m:t>
                                      </m:r>
                                    </m:e>
                                    <m: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sz="2800" b="1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𝐧</m:t>
                                      </m:r>
                                    </m:e>
                                    <m:sub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2 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733312F-1487-B1D9-FA14-F1F642B8F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7" y="3804875"/>
                <a:ext cx="3943350" cy="143488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304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9" grpId="0"/>
      <p:bldP spid="10" grpId="0"/>
      <p:bldP spid="11" grpId="0"/>
      <p:bldP spid="12" grpId="0"/>
      <p:bldP spid="13" grpId="0"/>
      <p:bldP spid="6" grpId="0"/>
      <p:bldP spid="5" grpId="0"/>
      <p:bldP spid="32" grpId="0"/>
      <p:bldP spid="39" grpId="0"/>
      <p:bldP spid="3" grpId="0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729CF-8830-20C6-702A-7BAFE9B30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EA08-8145-F5C5-1EE3-7278BDC6D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6(Continue)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96BDE0-A630-D027-E0BF-2D20AEAD0871}"/>
              </a:ext>
            </a:extLst>
          </p:cNvPr>
          <p:cNvSpPr/>
          <p:nvPr/>
        </p:nvSpPr>
        <p:spPr>
          <a:xfrm>
            <a:off x="141203" y="796631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A686C7-3374-81A4-8C69-EB0D6966D140}"/>
                  </a:ext>
                </a:extLst>
              </p:cNvPr>
              <p:cNvSpPr txBox="1"/>
              <p:nvPr/>
            </p:nvSpPr>
            <p:spPr>
              <a:xfrm>
                <a:off x="2313482" y="798000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AA686C7-3374-81A4-8C69-EB0D6966D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482" y="798000"/>
                <a:ext cx="269747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5F420201-BBA9-F2CF-BB90-9458B0DF0B1A}"/>
              </a:ext>
            </a:extLst>
          </p:cNvPr>
          <p:cNvSpPr/>
          <p:nvPr/>
        </p:nvSpPr>
        <p:spPr>
          <a:xfrm>
            <a:off x="141203" y="1407450"/>
            <a:ext cx="19735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17D6CA-8AEE-7B91-A572-0D0D81B85FA0}"/>
                  </a:ext>
                </a:extLst>
              </p:cNvPr>
              <p:cNvSpPr txBox="1"/>
              <p:nvPr/>
            </p:nvSpPr>
            <p:spPr>
              <a:xfrm>
                <a:off x="-97277" y="2023403"/>
                <a:ext cx="237653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2.56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17D6CA-8AEE-7B91-A572-0D0D81B85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7277" y="2023403"/>
                <a:ext cx="237653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702A207-DE8B-50DF-E025-C8DDE4727D6A}"/>
                  </a:ext>
                </a:extLst>
              </p:cNvPr>
              <p:cNvSpPr/>
              <p:nvPr/>
            </p:nvSpPr>
            <p:spPr>
              <a:xfrm>
                <a:off x="184437" y="2729260"/>
                <a:ext cx="237653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r>
                  <a:rPr lang="en-US" sz="2800" u="sng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702A207-DE8B-50DF-E025-C8DDE4727D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37" y="2729260"/>
                <a:ext cx="2376538" cy="523220"/>
              </a:xfrm>
              <a:prstGeom prst="rect">
                <a:avLst/>
              </a:prstGeom>
              <a:blipFill>
                <a:blip r:embed="rId4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338257A-F05A-B558-291C-1CC3560312DF}"/>
                  </a:ext>
                </a:extLst>
              </p:cNvPr>
              <p:cNvSpPr txBox="1"/>
              <p:nvPr/>
            </p:nvSpPr>
            <p:spPr>
              <a:xfrm>
                <a:off x="2366475" y="2003676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 sz="28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1.96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338257A-F05A-B558-291C-1CC356031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475" y="2003676"/>
                <a:ext cx="26974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8F80F9-8BD5-F3E6-2EF8-1FCAC1C39B24}"/>
                  </a:ext>
                </a:extLst>
              </p:cNvPr>
              <p:cNvSpPr txBox="1"/>
              <p:nvPr/>
            </p:nvSpPr>
            <p:spPr>
              <a:xfrm>
                <a:off x="2012258" y="1999042"/>
                <a:ext cx="5487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08F80F9-8BD5-F3E6-2EF8-1FCAC1C39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258" y="1999042"/>
                <a:ext cx="54871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E12C5DF-720D-F831-6337-FFEBFD7FE8FF}"/>
                  </a:ext>
                </a:extLst>
              </p:cNvPr>
              <p:cNvSpPr txBox="1"/>
              <p:nvPr/>
            </p:nvSpPr>
            <p:spPr>
              <a:xfrm>
                <a:off x="184436" y="3429000"/>
                <a:ext cx="11829223" cy="1161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At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 difference between the two populations is significant and is not likely to be hidden in the samples.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E12C5DF-720D-F831-6337-FFEBFD7FE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36" y="3429000"/>
                <a:ext cx="11829223" cy="1161152"/>
              </a:xfrm>
              <a:prstGeom prst="rect">
                <a:avLst/>
              </a:prstGeom>
              <a:blipFill>
                <a:blip r:embed="rId7"/>
                <a:stretch>
                  <a:fillRect l="-1030" r="-1030" b="-136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E01AC003-72AF-CAD0-2068-2DFF5B6E7487}"/>
              </a:ext>
            </a:extLst>
          </p:cNvPr>
          <p:cNvGrpSpPr/>
          <p:nvPr/>
        </p:nvGrpSpPr>
        <p:grpSpPr>
          <a:xfrm>
            <a:off x="8664989" y="888322"/>
            <a:ext cx="3527011" cy="2270161"/>
            <a:chOff x="5659775" y="3429000"/>
            <a:chExt cx="3527011" cy="227016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2C4107B-F937-45BF-CE29-03F0623EE3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97982" y="4714478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5658AEA-DABA-7244-9EFE-7157320C0C95}"/>
                </a:ext>
              </a:extLst>
            </p:cNvPr>
            <p:cNvSpPr/>
            <p:nvPr/>
          </p:nvSpPr>
          <p:spPr>
            <a:xfrm flipH="1">
              <a:off x="8410363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52CF7-BEAE-9520-B740-E974B9C98AA9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7543377" y="3429001"/>
              <a:ext cx="21522" cy="1854430"/>
            </a:xfrm>
            <a:prstGeom prst="line">
              <a:avLst/>
            </a:prstGeom>
            <a:ln w="5715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D6F4EC1-7443-4697-5F4B-D1465A6D7FA9}"/>
                </a:ext>
              </a:extLst>
            </p:cNvPr>
            <p:cNvSpPr/>
            <p:nvPr/>
          </p:nvSpPr>
          <p:spPr>
            <a:xfrm>
              <a:off x="6096000" y="4671032"/>
              <a:ext cx="604245" cy="612398"/>
            </a:xfrm>
            <a:custGeom>
              <a:avLst/>
              <a:gdLst>
                <a:gd name="connsiteX0" fmla="*/ 831444 w 831444"/>
                <a:gd name="connsiteY0" fmla="*/ 0 h 1001614"/>
                <a:gd name="connsiteX1" fmla="*/ 831444 w 831444"/>
                <a:gd name="connsiteY1" fmla="*/ 840902 h 1001614"/>
                <a:gd name="connsiteX2" fmla="*/ 831444 w 831444"/>
                <a:gd name="connsiteY2" fmla="*/ 1001614 h 1001614"/>
                <a:gd name="connsiteX3" fmla="*/ 0 w 831444"/>
                <a:gd name="connsiteY3" fmla="*/ 1001614 h 1001614"/>
                <a:gd name="connsiteX4" fmla="*/ 0 w 831444"/>
                <a:gd name="connsiteY4" fmla="*/ 840245 h 1001614"/>
                <a:gd name="connsiteX5" fmla="*/ 779906 w 831444"/>
                <a:gd name="connsiteY5" fmla="*/ 117944 h 1001614"/>
                <a:gd name="connsiteX6" fmla="*/ 822581 w 831444"/>
                <a:gd name="connsiteY6" fmla="*/ 21762 h 1001614"/>
                <a:gd name="connsiteX7" fmla="*/ 831444 w 831444"/>
                <a:gd name="connsiteY7" fmla="*/ 0 h 1001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1444" h="1001614">
                  <a:moveTo>
                    <a:pt x="831444" y="0"/>
                  </a:moveTo>
                  <a:lnTo>
                    <a:pt x="831444" y="840902"/>
                  </a:lnTo>
                  <a:lnTo>
                    <a:pt x="831444" y="1001614"/>
                  </a:lnTo>
                  <a:lnTo>
                    <a:pt x="0" y="1001614"/>
                  </a:lnTo>
                  <a:lnTo>
                    <a:pt x="0" y="840245"/>
                  </a:lnTo>
                  <a:cubicBezTo>
                    <a:pt x="347485" y="840652"/>
                    <a:pt x="571799" y="554667"/>
                    <a:pt x="779906" y="117944"/>
                  </a:cubicBezTo>
                  <a:cubicBezTo>
                    <a:pt x="792913" y="90649"/>
                    <a:pt x="807168" y="58344"/>
                    <a:pt x="822581" y="21762"/>
                  </a:cubicBezTo>
                  <a:lnTo>
                    <a:pt x="831444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9683048-DCFE-8872-9855-0067ACEEDA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015" y="4718242"/>
              <a:ext cx="0" cy="55811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642E8A5-055D-CE8E-4C75-00BFE5BBE113}"/>
                </a:ext>
              </a:extLst>
            </p:cNvPr>
            <p:cNvSpPr/>
            <p:nvPr/>
          </p:nvSpPr>
          <p:spPr>
            <a:xfrm>
              <a:off x="6096001" y="3429000"/>
              <a:ext cx="2920249" cy="1761286"/>
            </a:xfrm>
            <a:custGeom>
              <a:avLst/>
              <a:gdLst>
                <a:gd name="connsiteX0" fmla="*/ 0 w 4387309"/>
                <a:gd name="connsiteY0" fmla="*/ 2386358 h 2416416"/>
                <a:gd name="connsiteX1" fmla="*/ 525780 w 4387309"/>
                <a:gd name="connsiteY1" fmla="*/ 2123468 h 2416416"/>
                <a:gd name="connsiteX2" fmla="*/ 1668780 w 4387309"/>
                <a:gd name="connsiteY2" fmla="*/ 271808 h 2416416"/>
                <a:gd name="connsiteX3" fmla="*/ 2594610 w 4387309"/>
                <a:gd name="connsiteY3" fmla="*/ 191798 h 2416416"/>
                <a:gd name="connsiteX4" fmla="*/ 3669030 w 4387309"/>
                <a:gd name="connsiteY4" fmla="*/ 2009168 h 2416416"/>
                <a:gd name="connsiteX5" fmla="*/ 4023360 w 4387309"/>
                <a:gd name="connsiteY5" fmla="*/ 2386358 h 2416416"/>
                <a:gd name="connsiteX6" fmla="*/ 4377690 w 4387309"/>
                <a:gd name="connsiteY6" fmla="*/ 2386358 h 2416416"/>
                <a:gd name="connsiteX7" fmla="*/ 4251960 w 4387309"/>
                <a:gd name="connsiteY7" fmla="*/ 2397788 h 2416416"/>
                <a:gd name="connsiteX0" fmla="*/ 0 w 4403567"/>
                <a:gd name="connsiteY0" fmla="*/ 2386358 h 2416416"/>
                <a:gd name="connsiteX1" fmla="*/ 525780 w 4403567"/>
                <a:gd name="connsiteY1" fmla="*/ 2123468 h 2416416"/>
                <a:gd name="connsiteX2" fmla="*/ 1668780 w 4403567"/>
                <a:gd name="connsiteY2" fmla="*/ 271808 h 2416416"/>
                <a:gd name="connsiteX3" fmla="*/ 2594610 w 4403567"/>
                <a:gd name="connsiteY3" fmla="*/ 191798 h 2416416"/>
                <a:gd name="connsiteX4" fmla="*/ 3669030 w 4403567"/>
                <a:gd name="connsiteY4" fmla="*/ 2009168 h 2416416"/>
                <a:gd name="connsiteX5" fmla="*/ 4023360 w 4403567"/>
                <a:gd name="connsiteY5" fmla="*/ 2386358 h 2416416"/>
                <a:gd name="connsiteX6" fmla="*/ 4377690 w 4403567"/>
                <a:gd name="connsiteY6" fmla="*/ 2386358 h 2416416"/>
                <a:gd name="connsiteX7" fmla="*/ 4337238 w 4403567"/>
                <a:gd name="connsiteY7" fmla="*/ 2152628 h 2416416"/>
                <a:gd name="connsiteX0" fmla="*/ 0 w 4377690"/>
                <a:gd name="connsiteY0" fmla="*/ 2386358 h 2416416"/>
                <a:gd name="connsiteX1" fmla="*/ 525780 w 4377690"/>
                <a:gd name="connsiteY1" fmla="*/ 2123468 h 2416416"/>
                <a:gd name="connsiteX2" fmla="*/ 1668780 w 4377690"/>
                <a:gd name="connsiteY2" fmla="*/ 271808 h 2416416"/>
                <a:gd name="connsiteX3" fmla="*/ 2594610 w 4377690"/>
                <a:gd name="connsiteY3" fmla="*/ 191798 h 2416416"/>
                <a:gd name="connsiteX4" fmla="*/ 3669030 w 4377690"/>
                <a:gd name="connsiteY4" fmla="*/ 2009168 h 2416416"/>
                <a:gd name="connsiteX5" fmla="*/ 4023360 w 4377690"/>
                <a:gd name="connsiteY5" fmla="*/ 2386358 h 2416416"/>
                <a:gd name="connsiteX6" fmla="*/ 4377690 w 4377690"/>
                <a:gd name="connsiteY6" fmla="*/ 2386358 h 2416416"/>
                <a:gd name="connsiteX0" fmla="*/ 0 w 4393195"/>
                <a:gd name="connsiteY0" fmla="*/ 2386358 h 2554098"/>
                <a:gd name="connsiteX1" fmla="*/ 525780 w 4393195"/>
                <a:gd name="connsiteY1" fmla="*/ 2123468 h 2554098"/>
                <a:gd name="connsiteX2" fmla="*/ 1668780 w 4393195"/>
                <a:gd name="connsiteY2" fmla="*/ 271808 h 2554098"/>
                <a:gd name="connsiteX3" fmla="*/ 2594610 w 4393195"/>
                <a:gd name="connsiteY3" fmla="*/ 191798 h 2554098"/>
                <a:gd name="connsiteX4" fmla="*/ 3669030 w 4393195"/>
                <a:gd name="connsiteY4" fmla="*/ 2009168 h 2554098"/>
                <a:gd name="connsiteX5" fmla="*/ 4023360 w 4393195"/>
                <a:gd name="connsiteY5" fmla="*/ 2386358 h 2554098"/>
                <a:gd name="connsiteX6" fmla="*/ 4393195 w 4393195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408700"/>
                <a:gd name="connsiteY0" fmla="*/ 2489583 h 2554098"/>
                <a:gd name="connsiteX1" fmla="*/ 541285 w 4408700"/>
                <a:gd name="connsiteY1" fmla="*/ 2123468 h 2554098"/>
                <a:gd name="connsiteX2" fmla="*/ 1684285 w 4408700"/>
                <a:gd name="connsiteY2" fmla="*/ 271808 h 2554098"/>
                <a:gd name="connsiteX3" fmla="*/ 2610115 w 4408700"/>
                <a:gd name="connsiteY3" fmla="*/ 191798 h 2554098"/>
                <a:gd name="connsiteX4" fmla="*/ 3684535 w 4408700"/>
                <a:gd name="connsiteY4" fmla="*/ 2009168 h 2554098"/>
                <a:gd name="connsiteX5" fmla="*/ 4038865 w 4408700"/>
                <a:gd name="connsiteY5" fmla="*/ 2386358 h 2554098"/>
                <a:gd name="connsiteX6" fmla="*/ 4408700 w 4408700"/>
                <a:gd name="connsiteY6" fmla="*/ 2554098 h 2554098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255937 w 4625772"/>
                <a:gd name="connsiteY5" fmla="*/ 2386358 h 2599260"/>
                <a:gd name="connsiteX6" fmla="*/ 4625772 w 4625772"/>
                <a:gd name="connsiteY6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9260 h 2599260"/>
                <a:gd name="connsiteX1" fmla="*/ 758357 w 4625772"/>
                <a:gd name="connsiteY1" fmla="*/ 2123468 h 2599260"/>
                <a:gd name="connsiteX2" fmla="*/ 1901357 w 4625772"/>
                <a:gd name="connsiteY2" fmla="*/ 271808 h 2599260"/>
                <a:gd name="connsiteX3" fmla="*/ 2827187 w 4625772"/>
                <a:gd name="connsiteY3" fmla="*/ 191798 h 2599260"/>
                <a:gd name="connsiteX4" fmla="*/ 3901607 w 4625772"/>
                <a:gd name="connsiteY4" fmla="*/ 2009168 h 2599260"/>
                <a:gd name="connsiteX5" fmla="*/ 4625772 w 4625772"/>
                <a:gd name="connsiteY5" fmla="*/ 2554098 h 2599260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596416 h 2596416"/>
                <a:gd name="connsiteX1" fmla="*/ 851388 w 4625772"/>
                <a:gd name="connsiteY1" fmla="*/ 2069012 h 2596416"/>
                <a:gd name="connsiteX2" fmla="*/ 1901357 w 4625772"/>
                <a:gd name="connsiteY2" fmla="*/ 268964 h 2596416"/>
                <a:gd name="connsiteX3" fmla="*/ 2827187 w 4625772"/>
                <a:gd name="connsiteY3" fmla="*/ 188954 h 2596416"/>
                <a:gd name="connsiteX4" fmla="*/ 3901607 w 4625772"/>
                <a:gd name="connsiteY4" fmla="*/ 2006324 h 2596416"/>
                <a:gd name="connsiteX5" fmla="*/ 4625772 w 4625772"/>
                <a:gd name="connsiteY5" fmla="*/ 2551254 h 2596416"/>
                <a:gd name="connsiteX0" fmla="*/ 0 w 4625772"/>
                <a:gd name="connsiteY0" fmla="*/ 2638974 h 2638974"/>
                <a:gd name="connsiteX1" fmla="*/ 851388 w 4625772"/>
                <a:gd name="connsiteY1" fmla="*/ 2111570 h 2638974"/>
                <a:gd name="connsiteX2" fmla="*/ 1901357 w 4625772"/>
                <a:gd name="connsiteY2" fmla="*/ 311522 h 2638974"/>
                <a:gd name="connsiteX3" fmla="*/ 2396614 w 4625772"/>
                <a:gd name="connsiteY3" fmla="*/ 33500 h 2638974"/>
                <a:gd name="connsiteX4" fmla="*/ 2827187 w 4625772"/>
                <a:gd name="connsiteY4" fmla="*/ 231512 h 2638974"/>
                <a:gd name="connsiteX5" fmla="*/ 3901607 w 4625772"/>
                <a:gd name="connsiteY5" fmla="*/ 2048882 h 2638974"/>
                <a:gd name="connsiteX6" fmla="*/ 4625772 w 4625772"/>
                <a:gd name="connsiteY6" fmla="*/ 2593812 h 2638974"/>
                <a:gd name="connsiteX0" fmla="*/ 0 w 4625772"/>
                <a:gd name="connsiteY0" fmla="*/ 2862217 h 2862217"/>
                <a:gd name="connsiteX1" fmla="*/ 851388 w 4625772"/>
                <a:gd name="connsiteY1" fmla="*/ 2334813 h 2862217"/>
                <a:gd name="connsiteX2" fmla="*/ 1901357 w 4625772"/>
                <a:gd name="connsiteY2" fmla="*/ 534765 h 2862217"/>
                <a:gd name="connsiteX3" fmla="*/ 2415220 w 4625772"/>
                <a:gd name="connsiteY3" fmla="*/ 1262 h 2862217"/>
                <a:gd name="connsiteX4" fmla="*/ 2827187 w 4625772"/>
                <a:gd name="connsiteY4" fmla="*/ 454755 h 2862217"/>
                <a:gd name="connsiteX5" fmla="*/ 3901607 w 4625772"/>
                <a:gd name="connsiteY5" fmla="*/ 2272125 h 2862217"/>
                <a:gd name="connsiteX6" fmla="*/ 4625772 w 4625772"/>
                <a:gd name="connsiteY6" fmla="*/ 2817055 h 2862217"/>
                <a:gd name="connsiteX0" fmla="*/ 0 w 4625772"/>
                <a:gd name="connsiteY0" fmla="*/ 2869891 h 2869891"/>
                <a:gd name="connsiteX1" fmla="*/ 851388 w 4625772"/>
                <a:gd name="connsiteY1" fmla="*/ 2342487 h 2869891"/>
                <a:gd name="connsiteX2" fmla="*/ 1901357 w 4625772"/>
                <a:gd name="connsiteY2" fmla="*/ 542439 h 2869891"/>
                <a:gd name="connsiteX3" fmla="*/ 2350098 w 4625772"/>
                <a:gd name="connsiteY3" fmla="*/ 1194 h 2869891"/>
                <a:gd name="connsiteX4" fmla="*/ 2827187 w 4625772"/>
                <a:gd name="connsiteY4" fmla="*/ 462429 h 2869891"/>
                <a:gd name="connsiteX5" fmla="*/ 3901607 w 4625772"/>
                <a:gd name="connsiteY5" fmla="*/ 2279799 h 2869891"/>
                <a:gd name="connsiteX6" fmla="*/ 4625772 w 4625772"/>
                <a:gd name="connsiteY6" fmla="*/ 2824729 h 2869891"/>
                <a:gd name="connsiteX0" fmla="*/ 0 w 4625772"/>
                <a:gd name="connsiteY0" fmla="*/ 2895513 h 2895513"/>
                <a:gd name="connsiteX1" fmla="*/ 851388 w 4625772"/>
                <a:gd name="connsiteY1" fmla="*/ 2368109 h 2895513"/>
                <a:gd name="connsiteX2" fmla="*/ 1901357 w 4625772"/>
                <a:gd name="connsiteY2" fmla="*/ 568061 h 2895513"/>
                <a:gd name="connsiteX3" fmla="*/ 2299707 w 4625772"/>
                <a:gd name="connsiteY3" fmla="*/ 1010 h 2895513"/>
                <a:gd name="connsiteX4" fmla="*/ 2827187 w 4625772"/>
                <a:gd name="connsiteY4" fmla="*/ 488051 h 2895513"/>
                <a:gd name="connsiteX5" fmla="*/ 3901607 w 4625772"/>
                <a:gd name="connsiteY5" fmla="*/ 2305421 h 2895513"/>
                <a:gd name="connsiteX6" fmla="*/ 4625772 w 4625772"/>
                <a:gd name="connsiteY6" fmla="*/ 2850351 h 2895513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1901357 w 4625772"/>
                <a:gd name="connsiteY2" fmla="*/ 567051 h 2894503"/>
                <a:gd name="connsiteX3" fmla="*/ 2299707 w 4625772"/>
                <a:gd name="connsiteY3" fmla="*/ 0 h 2894503"/>
                <a:gd name="connsiteX4" fmla="*/ 2827187 w 4625772"/>
                <a:gd name="connsiteY4" fmla="*/ 487041 h 2894503"/>
                <a:gd name="connsiteX5" fmla="*/ 3901607 w 4625772"/>
                <a:gd name="connsiteY5" fmla="*/ 2304411 h 2894503"/>
                <a:gd name="connsiteX6" fmla="*/ 4625772 w 4625772"/>
                <a:gd name="connsiteY6" fmla="*/ 2849341 h 28945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803 h 2894803"/>
                <a:gd name="connsiteX1" fmla="*/ 851388 w 4625772"/>
                <a:gd name="connsiteY1" fmla="*/ 2367399 h 2894803"/>
                <a:gd name="connsiteX2" fmla="*/ 1901357 w 4625772"/>
                <a:gd name="connsiteY2" fmla="*/ 567351 h 2894803"/>
                <a:gd name="connsiteX3" fmla="*/ 2299707 w 4625772"/>
                <a:gd name="connsiteY3" fmla="*/ 300 h 2894803"/>
                <a:gd name="connsiteX4" fmla="*/ 2827187 w 4625772"/>
                <a:gd name="connsiteY4" fmla="*/ 487341 h 2894803"/>
                <a:gd name="connsiteX5" fmla="*/ 3901607 w 4625772"/>
                <a:gd name="connsiteY5" fmla="*/ 2304711 h 2894803"/>
                <a:gd name="connsiteX6" fmla="*/ 4625772 w 4625772"/>
                <a:gd name="connsiteY6" fmla="*/ 2849641 h 2894803"/>
                <a:gd name="connsiteX0" fmla="*/ 0 w 4625772"/>
                <a:gd name="connsiteY0" fmla="*/ 2894594 h 2894594"/>
                <a:gd name="connsiteX1" fmla="*/ 851388 w 4625772"/>
                <a:gd name="connsiteY1" fmla="*/ 2367190 h 2894594"/>
                <a:gd name="connsiteX2" fmla="*/ 1901357 w 4625772"/>
                <a:gd name="connsiteY2" fmla="*/ 567142 h 2894594"/>
                <a:gd name="connsiteX3" fmla="*/ 2299707 w 4625772"/>
                <a:gd name="connsiteY3" fmla="*/ 91 h 2894594"/>
                <a:gd name="connsiteX4" fmla="*/ 2827187 w 4625772"/>
                <a:gd name="connsiteY4" fmla="*/ 487132 h 2894594"/>
                <a:gd name="connsiteX5" fmla="*/ 3901607 w 4625772"/>
                <a:gd name="connsiteY5" fmla="*/ 2304502 h 2894594"/>
                <a:gd name="connsiteX6" fmla="*/ 4625772 w 4625772"/>
                <a:gd name="connsiteY6" fmla="*/ 2849432 h 2894594"/>
                <a:gd name="connsiteX0" fmla="*/ 0 w 4625772"/>
                <a:gd name="connsiteY0" fmla="*/ 2985198 h 2985198"/>
                <a:gd name="connsiteX1" fmla="*/ 851388 w 4625772"/>
                <a:gd name="connsiteY1" fmla="*/ 2457794 h 2985198"/>
                <a:gd name="connsiteX2" fmla="*/ 1901357 w 4625772"/>
                <a:gd name="connsiteY2" fmla="*/ 657746 h 2985198"/>
                <a:gd name="connsiteX3" fmla="*/ 2299707 w 4625772"/>
                <a:gd name="connsiteY3" fmla="*/ 90695 h 2985198"/>
                <a:gd name="connsiteX4" fmla="*/ 3901607 w 4625772"/>
                <a:gd name="connsiteY4" fmla="*/ 2395106 h 2985198"/>
                <a:gd name="connsiteX5" fmla="*/ 4625772 w 4625772"/>
                <a:gd name="connsiteY5" fmla="*/ 2940036 h 2985198"/>
                <a:gd name="connsiteX0" fmla="*/ 0 w 4625772"/>
                <a:gd name="connsiteY0" fmla="*/ 2894503 h 2894503"/>
                <a:gd name="connsiteX1" fmla="*/ 851388 w 4625772"/>
                <a:gd name="connsiteY1" fmla="*/ 2367099 h 2894503"/>
                <a:gd name="connsiteX2" fmla="*/ 2299707 w 4625772"/>
                <a:gd name="connsiteY2" fmla="*/ 0 h 2894503"/>
                <a:gd name="connsiteX3" fmla="*/ 3901607 w 4625772"/>
                <a:gd name="connsiteY3" fmla="*/ 2304411 h 2894503"/>
                <a:gd name="connsiteX4" fmla="*/ 4625772 w 4625772"/>
                <a:gd name="connsiteY4" fmla="*/ 2849341 h 2894503"/>
                <a:gd name="connsiteX0" fmla="*/ 0 w 4625772"/>
                <a:gd name="connsiteY0" fmla="*/ 2920938 h 2920938"/>
                <a:gd name="connsiteX1" fmla="*/ 851388 w 4625772"/>
                <a:gd name="connsiteY1" fmla="*/ 2393534 h 2920938"/>
                <a:gd name="connsiteX2" fmla="*/ 2299707 w 4625772"/>
                <a:gd name="connsiteY2" fmla="*/ 26435 h 2920938"/>
                <a:gd name="connsiteX3" fmla="*/ 3901607 w 4625772"/>
                <a:gd name="connsiteY3" fmla="*/ 2330846 h 2920938"/>
                <a:gd name="connsiteX4" fmla="*/ 4625772 w 4625772"/>
                <a:gd name="connsiteY4" fmla="*/ 2875776 h 2920938"/>
                <a:gd name="connsiteX0" fmla="*/ 0 w 4625772"/>
                <a:gd name="connsiteY0" fmla="*/ 2894510 h 2894510"/>
                <a:gd name="connsiteX1" fmla="*/ 851388 w 4625772"/>
                <a:gd name="connsiteY1" fmla="*/ 2367106 h 2894510"/>
                <a:gd name="connsiteX2" fmla="*/ 2299707 w 4625772"/>
                <a:gd name="connsiteY2" fmla="*/ 7 h 2894510"/>
                <a:gd name="connsiteX3" fmla="*/ 3901607 w 4625772"/>
                <a:gd name="connsiteY3" fmla="*/ 2304418 h 2894510"/>
                <a:gd name="connsiteX4" fmla="*/ 4625772 w 4625772"/>
                <a:gd name="connsiteY4" fmla="*/ 2849348 h 2894510"/>
                <a:gd name="connsiteX0" fmla="*/ 0 w 4625772"/>
                <a:gd name="connsiteY0" fmla="*/ 2894816 h 2894816"/>
                <a:gd name="connsiteX1" fmla="*/ 851388 w 4625772"/>
                <a:gd name="connsiteY1" fmla="*/ 2367412 h 2894816"/>
                <a:gd name="connsiteX2" fmla="*/ 2299707 w 4625772"/>
                <a:gd name="connsiteY2" fmla="*/ 313 h 2894816"/>
                <a:gd name="connsiteX3" fmla="*/ 3631817 w 4625772"/>
                <a:gd name="connsiteY3" fmla="*/ 2204080 h 2894816"/>
                <a:gd name="connsiteX4" fmla="*/ 4625772 w 4625772"/>
                <a:gd name="connsiteY4" fmla="*/ 2849654 h 2894816"/>
                <a:gd name="connsiteX0" fmla="*/ 0 w 4625772"/>
                <a:gd name="connsiteY0" fmla="*/ 2894855 h 2894855"/>
                <a:gd name="connsiteX1" fmla="*/ 851388 w 4625772"/>
                <a:gd name="connsiteY1" fmla="*/ 2367451 h 2894855"/>
                <a:gd name="connsiteX2" fmla="*/ 2299707 w 4625772"/>
                <a:gd name="connsiteY2" fmla="*/ 352 h 2894855"/>
                <a:gd name="connsiteX3" fmla="*/ 3817879 w 4625772"/>
                <a:gd name="connsiteY3" fmla="*/ 2194442 h 2894855"/>
                <a:gd name="connsiteX4" fmla="*/ 4625772 w 4625772"/>
                <a:gd name="connsiteY4" fmla="*/ 2849693 h 2894855"/>
                <a:gd name="connsiteX0" fmla="*/ 0 w 4625772"/>
                <a:gd name="connsiteY0" fmla="*/ 2894842 h 2894842"/>
                <a:gd name="connsiteX1" fmla="*/ 851388 w 4625772"/>
                <a:gd name="connsiteY1" fmla="*/ 2367438 h 2894842"/>
                <a:gd name="connsiteX2" fmla="*/ 2299707 w 4625772"/>
                <a:gd name="connsiteY2" fmla="*/ 339 h 2894842"/>
                <a:gd name="connsiteX3" fmla="*/ 3817879 w 4625772"/>
                <a:gd name="connsiteY3" fmla="*/ 2194429 h 2894842"/>
                <a:gd name="connsiteX4" fmla="*/ 4625772 w 4625772"/>
                <a:gd name="connsiteY4" fmla="*/ 2849680 h 2894842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625772"/>
                <a:gd name="connsiteY0" fmla="*/ 2894504 h 2894504"/>
                <a:gd name="connsiteX1" fmla="*/ 820378 w 4625772"/>
                <a:gd name="connsiteY1" fmla="*/ 2189683 h 2894504"/>
                <a:gd name="connsiteX2" fmla="*/ 2299707 w 4625772"/>
                <a:gd name="connsiteY2" fmla="*/ 1 h 2894504"/>
                <a:gd name="connsiteX3" fmla="*/ 3817879 w 4625772"/>
                <a:gd name="connsiteY3" fmla="*/ 2194091 h 2894504"/>
                <a:gd name="connsiteX4" fmla="*/ 4625772 w 4625772"/>
                <a:gd name="connsiteY4" fmla="*/ 2849342 h 2894504"/>
                <a:gd name="connsiteX0" fmla="*/ 0 w 4774041"/>
                <a:gd name="connsiteY0" fmla="*/ 2894504 h 2926761"/>
                <a:gd name="connsiteX1" fmla="*/ 820378 w 4774041"/>
                <a:gd name="connsiteY1" fmla="*/ 2189683 h 2926761"/>
                <a:gd name="connsiteX2" fmla="*/ 2299707 w 4774041"/>
                <a:gd name="connsiteY2" fmla="*/ 1 h 2926761"/>
                <a:gd name="connsiteX3" fmla="*/ 3817879 w 4774041"/>
                <a:gd name="connsiteY3" fmla="*/ 2194091 h 2926761"/>
                <a:gd name="connsiteX4" fmla="*/ 4774041 w 4774041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  <a:gd name="connsiteX0" fmla="*/ 0 w 4905835"/>
                <a:gd name="connsiteY0" fmla="*/ 2923536 h 2926761"/>
                <a:gd name="connsiteX1" fmla="*/ 952172 w 4905835"/>
                <a:gd name="connsiteY1" fmla="*/ 2189683 h 2926761"/>
                <a:gd name="connsiteX2" fmla="*/ 2431501 w 4905835"/>
                <a:gd name="connsiteY2" fmla="*/ 1 h 2926761"/>
                <a:gd name="connsiteX3" fmla="*/ 3949673 w 4905835"/>
                <a:gd name="connsiteY3" fmla="*/ 2194091 h 2926761"/>
                <a:gd name="connsiteX4" fmla="*/ 4905835 w 4905835"/>
                <a:gd name="connsiteY4" fmla="*/ 2926761 h 29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5835" h="2926761">
                  <a:moveTo>
                    <a:pt x="0" y="2923536"/>
                  </a:moveTo>
                  <a:cubicBezTo>
                    <a:pt x="424237" y="2923950"/>
                    <a:pt x="698098" y="2633391"/>
                    <a:pt x="952172" y="2189683"/>
                  </a:cubicBezTo>
                  <a:cubicBezTo>
                    <a:pt x="1206246" y="1745975"/>
                    <a:pt x="1850515" y="-734"/>
                    <a:pt x="2431501" y="1"/>
                  </a:cubicBezTo>
                  <a:cubicBezTo>
                    <a:pt x="3012487" y="736"/>
                    <a:pt x="3700088" y="1754685"/>
                    <a:pt x="3949673" y="2194091"/>
                  </a:cubicBezTo>
                  <a:cubicBezTo>
                    <a:pt x="4199258" y="2633497"/>
                    <a:pt x="4473937" y="2919686"/>
                    <a:pt x="4905835" y="2926761"/>
                  </a:cubicBezTo>
                </a:path>
              </a:pathLst>
            </a:cu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3473FCE-822D-229F-735C-C0681509204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1" y="5287008"/>
              <a:ext cx="292024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F1AE7725-2C98-6F01-C439-F2720A50DD00}"/>
                    </a:ext>
                  </a:extLst>
                </p:cNvPr>
                <p:cNvSpPr/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F3ED274A-2FB6-AF7C-E47A-011C3F51C3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9775" y="5237496"/>
                  <a:ext cx="1816039" cy="4616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8D251D6-B800-FF6E-170A-6F6082E4A267}"/>
                    </a:ext>
                  </a:extLst>
                </p:cNvPr>
                <p:cNvSpPr/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1.96</m:t>
                        </m:r>
                      </m:oMath>
                    </m:oMathPara>
                  </a14:m>
                  <a:endParaRPr lang="en-US" sz="24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602AA99-8588-E61A-71FD-AF0C614C8F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6705" y="5237496"/>
                  <a:ext cx="1570081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3982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/>
      <p:bldP spid="16" grpId="0"/>
      <p:bldP spid="17" grpId="0"/>
      <p:bldP spid="18" grpId="0"/>
      <p:bldP spid="19" grpId="0"/>
      <p:bldP spid="23" grpId="0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1D378-F3C3-CF6D-78ED-3B5E72339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C4227E1-1DAE-90D1-73F2-381D39C30F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2"/>
                <a:ext cx="11929643" cy="215986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In a certain city A,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men in a sample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lang="en-US" dirty="0"/>
                  <a:t> are found to be smokers. In another city B,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lang="en-US" dirty="0"/>
                  <a:t> men in a sample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dirty="0"/>
                  <a:t> are found to be smokers. Does this indicate that there is </a:t>
                </a:r>
                <a:r>
                  <a:rPr lang="en-US" b="1" dirty="0"/>
                  <a:t>greater proportion </a:t>
                </a:r>
                <a:r>
                  <a:rPr lang="en-US" dirty="0"/>
                  <a:t>of smokers in B than in A?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1.645 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5C4227E1-1DAE-90D1-73F2-381D39C30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2159868"/>
              </a:xfrm>
              <a:prstGeom prst="rect">
                <a:avLst/>
              </a:prstGeom>
              <a:blipFill>
                <a:blip r:embed="rId2"/>
                <a:stretch>
                  <a:fillRect l="-1074" r="-1074" b="-3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73C59C9-28C7-80F2-F298-60807B167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855287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26978-4AD9-BC6C-8ADE-C0D870F7B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9FDF0-A3E9-D055-79F7-A1A6B06B5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8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2A79269-94E1-1B27-DD37-E8171ED7DE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</p:spPr>
            <p:txBody>
              <a:bodyPr/>
              <a:lstStyle/>
              <a:p>
                <a:r>
                  <a:rPr lang="en-US" dirty="0"/>
                  <a:t>Two cities are being compared:</a:t>
                </a:r>
              </a:p>
              <a:p>
                <a:pPr lvl="1"/>
                <a:r>
                  <a:rPr lang="en-US" dirty="0"/>
                  <a:t>City A : Sample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=400</m:t>
                    </m:r>
                  </m:oMath>
                </a14:m>
                <a:r>
                  <a:rPr lang="en-US" dirty="0"/>
                  <a:t> men, Smokers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City B : Sample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=800</m:t>
                    </m:r>
                  </m:oMath>
                </a14:m>
                <a:r>
                  <a:rPr lang="en-US" dirty="0"/>
                  <a:t> men, Smokers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=300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question asks: </a:t>
                </a:r>
              </a:p>
              <a:p>
                <a:pPr lvl="1"/>
                <a:r>
                  <a:rPr lang="en-US" dirty="0"/>
                  <a:t>Is the proportion of smokers in City B greater than in City A? </a:t>
                </a:r>
              </a:p>
              <a:p>
                <a:pPr lvl="1"/>
                <a:r>
                  <a:rPr lang="en-US" dirty="0"/>
                  <a:t>or Is the difference just due to chance in sampling?</a:t>
                </a:r>
              </a:p>
              <a:p>
                <a:r>
                  <a:rPr lang="en-US" dirty="0"/>
                  <a:t>So, we are checking whether City B really has more smokers than City A in the population.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2A79269-94E1-1B27-DD37-E8171ED7DE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0"/>
                <a:ext cx="11929641" cy="5742809"/>
              </a:xfrm>
              <a:blipFill>
                <a:blip r:embed="rId2"/>
                <a:stretch>
                  <a:fillRect l="-971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421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0C2C2-14B6-0C0F-9365-68AE2FDB7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3AE6-3D30-D32F-E187-8AC5B7FFC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8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Idea about Hypotheses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3F4CB1B-380F-7CE8-37FA-737F076B3D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</p:spPr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proportion of smokers in City A </a:t>
                </a:r>
                <a:r>
                  <a:rPr lang="en-I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proportion of smokers in City B</a:t>
                </a:r>
              </a:p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​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​The proportion of smokers in City A and City B is the same.</a:t>
                </a:r>
              </a:p>
              <a:p>
                <a:pPr lvl="1"/>
                <a:r>
                  <a:rPr lang="en-US" dirty="0"/>
                  <a:t>So, any difference seen in the samples is only due to chance.</a:t>
                </a:r>
              </a:p>
              <a:p>
                <a:r>
                  <a:rPr lang="en-US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​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​The proportion of smokers in City B is greater than in City A.</a:t>
                </a:r>
              </a:p>
              <a:p>
                <a:pPr lvl="1"/>
                <a:r>
                  <a:rPr lang="en-US" dirty="0"/>
                  <a:t>So, City B really has more smokers.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3F4CB1B-380F-7CE8-37FA-737F076B3D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11202"/>
                <a:ext cx="11929641" cy="5742808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2727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7FEE7-4740-8985-DD40-DE0774F0E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3D82969-8375-50E6-CB95-F1A5AA24D5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2"/>
                <a:ext cx="11929643" cy="215986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In a certain city A,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dirty="0"/>
                  <a:t> men in a sample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lang="en-US" dirty="0"/>
                  <a:t> are found to be smokers. In another city B,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lang="en-US" dirty="0"/>
                  <a:t> men in a sample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lang="en-US" dirty="0"/>
                  <a:t> are found to be smokers. Does this indicate that there is </a:t>
                </a:r>
                <a:r>
                  <a:rPr lang="en-US" b="1" dirty="0"/>
                  <a:t>greater proportion </a:t>
                </a:r>
                <a:r>
                  <a:rPr lang="en-US" dirty="0"/>
                  <a:t>of smokers in B than in A?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0.05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1.645 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73D82969-8375-50E6-CB95-F1A5AA24D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2159868"/>
              </a:xfrm>
              <a:prstGeom prst="rect">
                <a:avLst/>
              </a:prstGeom>
              <a:blipFill>
                <a:blip r:embed="rId2"/>
                <a:stretch>
                  <a:fillRect l="-1074" r="-1074" b="-3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8EF468C-6932-CE7C-A4DC-E0AADE75A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8 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B049114-2262-F8F5-1CFD-C03D47CAFACA}"/>
              </a:ext>
            </a:extLst>
          </p:cNvPr>
          <p:cNvSpPr/>
          <p:nvPr/>
        </p:nvSpPr>
        <p:spPr>
          <a:xfrm>
            <a:off x="131177" y="3145336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D0A3029-4A41-136E-B57C-97277C9A0051}"/>
                  </a:ext>
                </a:extLst>
              </p:cNvPr>
              <p:cNvSpPr/>
              <p:nvPr/>
            </p:nvSpPr>
            <p:spPr>
              <a:xfrm>
                <a:off x="1700787" y="3966226"/>
                <a:ext cx="179395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=400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D0A3029-4A41-136E-B57C-97277C9A00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787" y="3966226"/>
                <a:ext cx="179395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32C64E6-8ABB-D3DE-2542-3146EAC17E43}"/>
                  </a:ext>
                </a:extLst>
              </p:cNvPr>
              <p:cNvSpPr/>
              <p:nvPr/>
            </p:nvSpPr>
            <p:spPr>
              <a:xfrm>
                <a:off x="1700787" y="4789153"/>
                <a:ext cx="1793956" cy="9017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32C64E6-8ABB-D3DE-2542-3146EAC17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0787" y="4789153"/>
                <a:ext cx="1793956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CA38330-4662-C886-FF84-9266925C8B27}"/>
                  </a:ext>
                </a:extLst>
              </p:cNvPr>
              <p:cNvSpPr/>
              <p:nvPr/>
            </p:nvSpPr>
            <p:spPr>
              <a:xfrm>
                <a:off x="3226261" y="5027075"/>
                <a:ext cx="144538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0.25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CA38330-4662-C886-FF84-9266925C8B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261" y="5027075"/>
                <a:ext cx="144538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50A27B-66B6-3F2D-66AB-15577655F64B}"/>
              </a:ext>
            </a:extLst>
          </p:cNvPr>
          <p:cNvCxnSpPr>
            <a:cxnSpLocks/>
          </p:cNvCxnSpPr>
          <p:nvPr/>
        </p:nvCxnSpPr>
        <p:spPr>
          <a:xfrm>
            <a:off x="5475461" y="3145336"/>
            <a:ext cx="0" cy="324000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9831E2F-1338-5815-4B20-64D31B355E60}"/>
              </a:ext>
            </a:extLst>
          </p:cNvPr>
          <p:cNvSpPr/>
          <p:nvPr/>
        </p:nvSpPr>
        <p:spPr>
          <a:xfrm>
            <a:off x="1700787" y="3146667"/>
            <a:ext cx="14991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u="sng" dirty="0">
                <a:solidFill>
                  <a:srgbClr val="002060"/>
                </a:solidFill>
              </a:rPr>
              <a:t>Sample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828C4DF-0654-0286-6C69-7CF4FDD8EA1F}"/>
                  </a:ext>
                </a:extLst>
              </p:cNvPr>
              <p:cNvSpPr/>
              <p:nvPr/>
            </p:nvSpPr>
            <p:spPr>
              <a:xfrm>
                <a:off x="6396014" y="3966226"/>
                <a:ext cx="218487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=800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828C4DF-0654-0286-6C69-7CF4FDD8EA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014" y="3966226"/>
                <a:ext cx="218487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681C129-24D2-2563-DD66-3FB8B5794B79}"/>
                  </a:ext>
                </a:extLst>
              </p:cNvPr>
              <p:cNvSpPr/>
              <p:nvPr/>
            </p:nvSpPr>
            <p:spPr>
              <a:xfrm>
                <a:off x="6396014" y="4789153"/>
                <a:ext cx="1806869" cy="9105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300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800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681C129-24D2-2563-DD66-3FB8B5794B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6014" y="4789153"/>
                <a:ext cx="1806869" cy="9105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C07A14D-020F-14E3-1669-437C4486DE47}"/>
                  </a:ext>
                </a:extLst>
              </p:cNvPr>
              <p:cNvSpPr/>
              <p:nvPr/>
            </p:nvSpPr>
            <p:spPr>
              <a:xfrm>
                <a:off x="7946281" y="5027075"/>
                <a:ext cx="176795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0.375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C07A14D-020F-14E3-1669-437C4486DE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281" y="5027075"/>
                <a:ext cx="176795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14DC0C21-2361-A74F-BB4F-952BD359BFF1}"/>
              </a:ext>
            </a:extLst>
          </p:cNvPr>
          <p:cNvSpPr/>
          <p:nvPr/>
        </p:nvSpPr>
        <p:spPr>
          <a:xfrm>
            <a:off x="6396014" y="3145336"/>
            <a:ext cx="17679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u="sng" dirty="0">
                <a:solidFill>
                  <a:srgbClr val="002060"/>
                </a:solidFill>
              </a:rPr>
              <a:t>Sample 2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434C7C-7B4F-C447-ABE7-57E1DE41826C}"/>
              </a:ext>
            </a:extLst>
          </p:cNvPr>
          <p:cNvCxnSpPr/>
          <p:nvPr/>
        </p:nvCxnSpPr>
        <p:spPr>
          <a:xfrm flipV="1">
            <a:off x="6293411" y="1617955"/>
            <a:ext cx="64740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A99BDEC-ECD3-F4BF-6ED5-3F0563C5131D}"/>
              </a:ext>
            </a:extLst>
          </p:cNvPr>
          <p:cNvCxnSpPr/>
          <p:nvPr/>
        </p:nvCxnSpPr>
        <p:spPr>
          <a:xfrm flipV="1">
            <a:off x="4564434" y="2270212"/>
            <a:ext cx="64740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5C4F5CE-7CFB-BA85-4B4E-C9AC246BE85B}"/>
              </a:ext>
            </a:extLst>
          </p:cNvPr>
          <p:cNvCxnSpPr/>
          <p:nvPr/>
        </p:nvCxnSpPr>
        <p:spPr>
          <a:xfrm flipV="1">
            <a:off x="5733918" y="2301085"/>
            <a:ext cx="299687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9E15DC7-D14A-C69A-BC24-A7D265087AB9}"/>
              </a:ext>
            </a:extLst>
          </p:cNvPr>
          <p:cNvCxnSpPr/>
          <p:nvPr/>
        </p:nvCxnSpPr>
        <p:spPr>
          <a:xfrm flipV="1">
            <a:off x="2885938" y="1621117"/>
            <a:ext cx="64740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F61A568-F83C-9959-4D07-82FDF7B9B62A}"/>
              </a:ext>
            </a:extLst>
          </p:cNvPr>
          <p:cNvCxnSpPr/>
          <p:nvPr/>
        </p:nvCxnSpPr>
        <p:spPr>
          <a:xfrm flipV="1">
            <a:off x="6293411" y="1617955"/>
            <a:ext cx="64740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F89111-4662-844D-17FC-81CC1BF24FA5}"/>
              </a:ext>
            </a:extLst>
          </p:cNvPr>
          <p:cNvCxnSpPr/>
          <p:nvPr/>
        </p:nvCxnSpPr>
        <p:spPr>
          <a:xfrm flipV="1">
            <a:off x="1161194" y="2303648"/>
            <a:ext cx="64740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CD1DF31-A11E-9566-9287-33D5E616B6B0}"/>
              </a:ext>
            </a:extLst>
          </p:cNvPr>
          <p:cNvCxnSpPr/>
          <p:nvPr/>
        </p:nvCxnSpPr>
        <p:spPr>
          <a:xfrm flipV="1">
            <a:off x="4564434" y="2270212"/>
            <a:ext cx="64740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A01FF7B-FEE7-7363-3629-A5FDD5AB6F6F}"/>
              </a:ext>
            </a:extLst>
          </p:cNvPr>
          <p:cNvCxnSpPr/>
          <p:nvPr/>
        </p:nvCxnSpPr>
        <p:spPr>
          <a:xfrm flipV="1">
            <a:off x="5752206" y="2303648"/>
            <a:ext cx="2996872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5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D0CB-8778-A05C-9060-EBE8D5F1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CBB3-E065-C92F-011C-132A37BC1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8(Continue)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E456664-5833-BC06-B7E1-008AA5151D9C}"/>
                  </a:ext>
                </a:extLst>
              </p:cNvPr>
              <p:cNvSpPr/>
              <p:nvPr/>
            </p:nvSpPr>
            <p:spPr>
              <a:xfrm>
                <a:off x="111878" y="870047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0055CB6-5371-7067-84D2-9072B71ADE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78" y="870047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B6B7D9F-0E14-CB9D-8FE2-F9FE83B5CEA5}"/>
                  </a:ext>
                </a:extLst>
              </p:cNvPr>
              <p:cNvSpPr/>
              <p:nvPr/>
            </p:nvSpPr>
            <p:spPr>
              <a:xfrm>
                <a:off x="1224206" y="3133214"/>
                <a:ext cx="288692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𝐢𝐬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𝐧𝐨𝐭</m:t>
                          </m:r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𝐤𝐧𝐨𝐰𝐧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47FCFFB-E126-A9CD-7213-DE267ED0F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206" y="3133214"/>
                <a:ext cx="288692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0206234-727A-06F1-97E2-5C8CAE4F9393}"/>
                  </a:ext>
                </a:extLst>
              </p:cNvPr>
              <p:cNvSpPr/>
              <p:nvPr/>
            </p:nvSpPr>
            <p:spPr>
              <a:xfrm>
                <a:off x="897425" y="893810"/>
                <a:ext cx="145715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6BCED48-8C96-E9B1-9110-3D5A2FE5C1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25" y="893810"/>
                <a:ext cx="145715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9F1D880-EC2D-CC7B-9DE7-16EF42E96353}"/>
                  </a:ext>
                </a:extLst>
              </p:cNvPr>
              <p:cNvSpPr/>
              <p:nvPr/>
            </p:nvSpPr>
            <p:spPr>
              <a:xfrm>
                <a:off x="103008" y="1577041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9F1D880-EC2D-CC7B-9DE7-16EF42E963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8" y="1577041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7A03F85-7C58-3266-6689-C353B2BCC158}"/>
                  </a:ext>
                </a:extLst>
              </p:cNvPr>
              <p:cNvSpPr/>
              <p:nvPr/>
            </p:nvSpPr>
            <p:spPr>
              <a:xfrm>
                <a:off x="862005" y="1575427"/>
                <a:ext cx="151369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7A03F85-7C58-3266-6689-C353B2BCC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005" y="1575427"/>
                <a:ext cx="151369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8407D44-022C-AE3A-FFC5-22D922839AC2}"/>
                  </a:ext>
                </a:extLst>
              </p:cNvPr>
              <p:cNvSpPr/>
              <p:nvPr/>
            </p:nvSpPr>
            <p:spPr>
              <a:xfrm>
                <a:off x="103008" y="2312136"/>
                <a:ext cx="262749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 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8407D44-022C-AE3A-FFC5-22D922839A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8" y="2312136"/>
                <a:ext cx="262749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ECD37572-A4E0-BFA1-D693-FF731831A958}"/>
              </a:ext>
            </a:extLst>
          </p:cNvPr>
          <p:cNvSpPr/>
          <p:nvPr/>
        </p:nvSpPr>
        <p:spPr>
          <a:xfrm>
            <a:off x="134072" y="3133214"/>
            <a:ext cx="10474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Test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6D7981-41E7-F2CD-863D-36353A19ACBE}"/>
              </a:ext>
            </a:extLst>
          </p:cNvPr>
          <p:cNvSpPr/>
          <p:nvPr/>
        </p:nvSpPr>
        <p:spPr>
          <a:xfrm>
            <a:off x="2375703" y="873489"/>
            <a:ext cx="982853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(The proportion of smokers in City A and City B is the same.)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478B88-0E1E-68F0-0228-BFD6755A4196}"/>
                  </a:ext>
                </a:extLst>
              </p:cNvPr>
              <p:cNvSpPr txBox="1"/>
              <p:nvPr/>
            </p:nvSpPr>
            <p:spPr>
              <a:xfrm>
                <a:off x="0" y="3826238"/>
                <a:ext cx="4229099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𝐩𝐪</m:t>
                              </m:r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</m:e>
                                        <m:sub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1 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</m:e>
                                        <m:sub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2 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17BDEC-0097-2354-89F5-6E8E3EF37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26238"/>
                <a:ext cx="4229099" cy="1372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7A96D20-4692-3FF6-C0C1-D7B2E2AE24F4}"/>
                  </a:ext>
                </a:extLst>
              </p:cNvPr>
              <p:cNvSpPr txBox="1"/>
              <p:nvPr/>
            </p:nvSpPr>
            <p:spPr>
              <a:xfrm>
                <a:off x="183775" y="5412026"/>
                <a:ext cx="3028840" cy="945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79241D-CC4A-3C18-AD25-49021333C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75" y="5412026"/>
                <a:ext cx="3028840" cy="945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34A596-1594-E863-2501-48E03943E310}"/>
                  </a:ext>
                </a:extLst>
              </p:cNvPr>
              <p:cNvSpPr txBox="1"/>
              <p:nvPr/>
            </p:nvSpPr>
            <p:spPr>
              <a:xfrm>
                <a:off x="5392527" y="2181163"/>
                <a:ext cx="5226583" cy="935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400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0.25</m:t>
                              </m:r>
                            </m:e>
                          </m: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800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75</m:t>
                              </m:r>
                            </m:e>
                          </m:d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400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334A596-1594-E863-2501-48E03943E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527" y="2181163"/>
                <a:ext cx="5226583" cy="9357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0B2BC6A-585E-64EB-83A4-EE4F379724C8}"/>
              </a:ext>
            </a:extLst>
          </p:cNvPr>
          <p:cNvSpPr/>
          <p:nvPr/>
        </p:nvSpPr>
        <p:spPr>
          <a:xfrm>
            <a:off x="2375703" y="1575427"/>
            <a:ext cx="28020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002060"/>
                </a:solidFill>
              </a:rPr>
              <a:t>(Left-tailed test)</a:t>
            </a:r>
            <a:r>
              <a:rPr lang="en-US" sz="2800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6759404-DD5A-437F-3885-97EE29041052}"/>
                  </a:ext>
                </a:extLst>
              </p:cNvPr>
              <p:cNvSpPr/>
              <p:nvPr/>
            </p:nvSpPr>
            <p:spPr>
              <a:xfrm>
                <a:off x="5511800" y="3209978"/>
                <a:ext cx="19558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3333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6759404-DD5A-437F-3885-97EE290410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1800" y="3209978"/>
                <a:ext cx="195580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0142E9ED-18CB-07E4-9DFB-B1BBC7D61710}"/>
                  </a:ext>
                </a:extLst>
              </p:cNvPr>
              <p:cNvSpPr/>
              <p:nvPr/>
            </p:nvSpPr>
            <p:spPr>
              <a:xfrm>
                <a:off x="5165503" y="3800908"/>
                <a:ext cx="17572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F7CB916-39EF-38F0-39F0-B0FEC22CA3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5503" y="3800908"/>
                <a:ext cx="175721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35FF2D0-85EA-46F9-26C4-7A97D1F6A7CD}"/>
                  </a:ext>
                </a:extLst>
              </p:cNvPr>
              <p:cNvSpPr txBox="1"/>
              <p:nvPr/>
            </p:nvSpPr>
            <p:spPr>
              <a:xfrm>
                <a:off x="6691809" y="3823230"/>
                <a:ext cx="257918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3333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35FF2D0-85EA-46F9-26C4-7A97D1F6A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1809" y="3823230"/>
                <a:ext cx="2579188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9B844D6-6771-C693-BC56-FA35E80DC7AE}"/>
                  </a:ext>
                </a:extLst>
              </p:cNvPr>
              <p:cNvSpPr txBox="1"/>
              <p:nvPr/>
            </p:nvSpPr>
            <p:spPr>
              <a:xfrm>
                <a:off x="9065838" y="3831571"/>
                <a:ext cx="15532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0.6667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9B844D6-6771-C693-BC56-FA35E80DC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5838" y="3831571"/>
                <a:ext cx="1553263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35DF0F8-B02E-15E3-B695-B202444E9CBA}"/>
              </a:ext>
            </a:extLst>
          </p:cNvPr>
          <p:cNvCxnSpPr>
            <a:cxnSpLocks/>
          </p:cNvCxnSpPr>
          <p:nvPr/>
        </p:nvCxnSpPr>
        <p:spPr>
          <a:xfrm>
            <a:off x="4927740" y="2285864"/>
            <a:ext cx="0" cy="432000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B43CBA6-6E47-858C-6F42-06B77E1EE69B}"/>
                  </a:ext>
                </a:extLst>
              </p:cNvPr>
              <p:cNvSpPr txBox="1"/>
              <p:nvPr/>
            </p:nvSpPr>
            <p:spPr>
              <a:xfrm>
                <a:off x="4876940" y="4471500"/>
                <a:ext cx="6553051" cy="14464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.375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.3333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6667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40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den>
                                  </m:f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r>
                                        <a:rPr lang="en-US" sz="28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B43CBA6-6E47-858C-6F42-06B77E1EE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940" y="4471500"/>
                <a:ext cx="6553051" cy="14464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8BA2126-4447-59D1-A026-39D9500463EB}"/>
                  </a:ext>
                </a:extLst>
              </p:cNvPr>
              <p:cNvSpPr/>
              <p:nvPr/>
            </p:nvSpPr>
            <p:spPr>
              <a:xfrm>
                <a:off x="5440971" y="6039187"/>
                <a:ext cx="1503402" cy="477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5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−4.34</m:t>
                    </m:r>
                  </m:oMath>
                </a14:m>
                <a:r>
                  <a:rPr lang="en-US" sz="25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8BA2126-4447-59D1-A026-39D9500463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971" y="6039187"/>
                <a:ext cx="1503402" cy="4770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590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9" grpId="0"/>
      <p:bldP spid="10" grpId="0"/>
      <p:bldP spid="11" grpId="0"/>
      <p:bldP spid="12" grpId="0"/>
      <p:bldP spid="13" grpId="0"/>
      <p:bldP spid="6" grpId="0"/>
      <p:bldP spid="7" grpId="0"/>
      <p:bldP spid="20" grpId="0"/>
      <p:bldP spid="22" grpId="0"/>
      <p:bldP spid="5" grpId="0"/>
      <p:bldP spid="32" grpId="0"/>
      <p:bldP spid="35" grpId="0"/>
      <p:bldP spid="36" grpId="0"/>
      <p:bldP spid="39" grpId="0"/>
      <p:bldP spid="40" grpId="0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03F70-9E0D-C402-CA47-0BC462B03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950F-8F3D-B369-1428-6D909FE29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8(Continue)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764B49-6E47-B7A3-57C3-F93817B80013}"/>
              </a:ext>
            </a:extLst>
          </p:cNvPr>
          <p:cNvSpPr/>
          <p:nvPr/>
        </p:nvSpPr>
        <p:spPr>
          <a:xfrm>
            <a:off x="151471" y="898265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FF0DF0-9A34-9EAE-08A4-11E558CEEA51}"/>
                  </a:ext>
                </a:extLst>
              </p:cNvPr>
              <p:cNvSpPr txBox="1"/>
              <p:nvPr/>
            </p:nvSpPr>
            <p:spPr>
              <a:xfrm>
                <a:off x="2255157" y="889204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FF0DF0-9A34-9EAE-08A4-11E558CEE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157" y="889204"/>
                <a:ext cx="269747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3DAFC3AC-F043-8231-C5B7-7BBD94AB3DF6}"/>
              </a:ext>
            </a:extLst>
          </p:cNvPr>
          <p:cNvSpPr/>
          <p:nvPr/>
        </p:nvSpPr>
        <p:spPr>
          <a:xfrm>
            <a:off x="151471" y="1632209"/>
            <a:ext cx="19735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C23BA3-4E1D-786C-D449-672DDE6F3DB0}"/>
                  </a:ext>
                </a:extLst>
              </p:cNvPr>
              <p:cNvSpPr txBox="1"/>
              <p:nvPr/>
            </p:nvSpPr>
            <p:spPr>
              <a:xfrm>
                <a:off x="-107049" y="2304450"/>
                <a:ext cx="237653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4.34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C23BA3-4E1D-786C-D449-672DDE6F3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7049" y="2304450"/>
                <a:ext cx="237653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8BABB37-60B2-C277-A1A4-2DDDFEEE6364}"/>
                  </a:ext>
                </a:extLst>
              </p:cNvPr>
              <p:cNvSpPr/>
              <p:nvPr/>
            </p:nvSpPr>
            <p:spPr>
              <a:xfrm>
                <a:off x="168579" y="3066274"/>
                <a:ext cx="197358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.</a:t>
                </a:r>
                <a:r>
                  <a:rPr lang="en-US" sz="2800" u="sng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8BABB37-60B2-C277-A1A4-2DDDFEEE63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79" y="3066274"/>
                <a:ext cx="1973580" cy="523220"/>
              </a:xfrm>
              <a:prstGeom prst="rect">
                <a:avLst/>
              </a:prstGeom>
              <a:blipFill>
                <a:blip r:embed="rId4"/>
                <a:stretch>
                  <a:fillRect t="-11628" r="-3096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DAED8-C416-9044-C3CE-7331C15F53E2}"/>
                  </a:ext>
                </a:extLst>
              </p:cNvPr>
              <p:cNvSpPr txBox="1"/>
              <p:nvPr/>
            </p:nvSpPr>
            <p:spPr>
              <a:xfrm>
                <a:off x="2425283" y="2284723"/>
                <a:ext cx="30658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0.05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645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DAED8-C416-9044-C3CE-7331C15F5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283" y="2284723"/>
                <a:ext cx="306582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570B36-7B0B-72C9-8CEE-9DA85525B07B}"/>
                  </a:ext>
                </a:extLst>
              </p:cNvPr>
              <p:cNvSpPr txBox="1"/>
              <p:nvPr/>
            </p:nvSpPr>
            <p:spPr>
              <a:xfrm>
                <a:off x="2002486" y="2280089"/>
                <a:ext cx="5487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570B36-7B0B-72C9-8CEE-9DA85525B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486" y="2280089"/>
                <a:ext cx="54871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CD8BE9-AFDD-BEEA-B212-C9FCAF6B1252}"/>
                  </a:ext>
                </a:extLst>
              </p:cNvPr>
              <p:cNvSpPr txBox="1"/>
              <p:nvPr/>
            </p:nvSpPr>
            <p:spPr>
              <a:xfrm>
                <a:off x="168579" y="3823265"/>
                <a:ext cx="11851977" cy="1161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Hence, at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there is a greater proportion of smokers in City B than in City A.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CD8BE9-AFDD-BEEA-B212-C9FCAF6B1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79" y="3823265"/>
                <a:ext cx="11851977" cy="1161152"/>
              </a:xfrm>
              <a:prstGeom prst="rect">
                <a:avLst/>
              </a:prstGeom>
              <a:blipFill>
                <a:blip r:embed="rId7"/>
                <a:stretch>
                  <a:fillRect l="-1080" r="-1029" b="-13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D2D88DD6-FB2F-58F9-10B8-C102584F243D}"/>
              </a:ext>
            </a:extLst>
          </p:cNvPr>
          <p:cNvGrpSpPr/>
          <p:nvPr/>
        </p:nvGrpSpPr>
        <p:grpSpPr>
          <a:xfrm>
            <a:off x="8634821" y="898265"/>
            <a:ext cx="3385735" cy="2668322"/>
            <a:chOff x="8634821" y="898265"/>
            <a:chExt cx="3385735" cy="266832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8EA25FF-7FAB-4652-B359-74A22F29AF3B}"/>
                </a:ext>
              </a:extLst>
            </p:cNvPr>
            <p:cNvGrpSpPr/>
            <p:nvPr/>
          </p:nvGrpSpPr>
          <p:grpSpPr>
            <a:xfrm>
              <a:off x="8634821" y="898265"/>
              <a:ext cx="3385735" cy="2154174"/>
              <a:chOff x="6189671" y="3656930"/>
              <a:chExt cx="4018280" cy="2556631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B1CC39B-86BC-4916-984B-766756A60585}"/>
                  </a:ext>
                </a:extLst>
              </p:cNvPr>
              <p:cNvCxnSpPr>
                <a:cxnSpLocks/>
                <a:stCxn id="20" idx="2"/>
              </p:cNvCxnSpPr>
              <p:nvPr/>
            </p:nvCxnSpPr>
            <p:spPr>
              <a:xfrm>
                <a:off x="8181270" y="3656931"/>
                <a:ext cx="29615" cy="2551708"/>
              </a:xfrm>
              <a:prstGeom prst="line">
                <a:avLst/>
              </a:prstGeom>
              <a:ln w="57150"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D564317-3BDE-4D8D-939D-35C73492BACB}"/>
                  </a:ext>
                </a:extLst>
              </p:cNvPr>
              <p:cNvSpPr/>
              <p:nvPr/>
            </p:nvSpPr>
            <p:spPr>
              <a:xfrm>
                <a:off x="6189671" y="5365974"/>
                <a:ext cx="831444" cy="842664"/>
              </a:xfrm>
              <a:custGeom>
                <a:avLst/>
                <a:gdLst>
                  <a:gd name="connsiteX0" fmla="*/ 831444 w 831444"/>
                  <a:gd name="connsiteY0" fmla="*/ 0 h 1001614"/>
                  <a:gd name="connsiteX1" fmla="*/ 831444 w 831444"/>
                  <a:gd name="connsiteY1" fmla="*/ 840902 h 1001614"/>
                  <a:gd name="connsiteX2" fmla="*/ 831444 w 831444"/>
                  <a:gd name="connsiteY2" fmla="*/ 1001614 h 1001614"/>
                  <a:gd name="connsiteX3" fmla="*/ 0 w 831444"/>
                  <a:gd name="connsiteY3" fmla="*/ 1001614 h 1001614"/>
                  <a:gd name="connsiteX4" fmla="*/ 0 w 831444"/>
                  <a:gd name="connsiteY4" fmla="*/ 840245 h 1001614"/>
                  <a:gd name="connsiteX5" fmla="*/ 779906 w 831444"/>
                  <a:gd name="connsiteY5" fmla="*/ 117944 h 1001614"/>
                  <a:gd name="connsiteX6" fmla="*/ 822581 w 831444"/>
                  <a:gd name="connsiteY6" fmla="*/ 21762 h 1001614"/>
                  <a:gd name="connsiteX7" fmla="*/ 831444 w 831444"/>
                  <a:gd name="connsiteY7" fmla="*/ 0 h 1001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1444" h="1001614">
                    <a:moveTo>
                      <a:pt x="831444" y="0"/>
                    </a:moveTo>
                    <a:lnTo>
                      <a:pt x="831444" y="840902"/>
                    </a:lnTo>
                    <a:lnTo>
                      <a:pt x="831444" y="1001614"/>
                    </a:lnTo>
                    <a:lnTo>
                      <a:pt x="0" y="1001614"/>
                    </a:lnTo>
                    <a:lnTo>
                      <a:pt x="0" y="840245"/>
                    </a:lnTo>
                    <a:cubicBezTo>
                      <a:pt x="347485" y="840652"/>
                      <a:pt x="571799" y="554667"/>
                      <a:pt x="779906" y="117944"/>
                    </a:cubicBezTo>
                    <a:cubicBezTo>
                      <a:pt x="792913" y="90649"/>
                      <a:pt x="807168" y="58344"/>
                      <a:pt x="822581" y="21762"/>
                    </a:cubicBezTo>
                    <a:lnTo>
                      <a:pt x="831444" y="0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D8572CBD-7C55-46C7-8777-7B4C0F403C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08415" y="5430936"/>
                <a:ext cx="0" cy="7679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CF926D7-E12E-4CBB-BBC7-18376E6C51CF}"/>
                  </a:ext>
                </a:extLst>
              </p:cNvPr>
              <p:cNvSpPr/>
              <p:nvPr/>
            </p:nvSpPr>
            <p:spPr>
              <a:xfrm>
                <a:off x="6189673" y="3656930"/>
                <a:ext cx="4018278" cy="2423541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966A13D-F1B2-472A-8371-CD825C0F02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89673" y="6213561"/>
                <a:ext cx="4018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B4A5F21-4B09-4FEA-BD73-2F4AE009F9AB}"/>
                    </a:ext>
                  </a:extLst>
                </p:cNvPr>
                <p:cNvSpPr/>
                <p:nvPr/>
              </p:nvSpPr>
              <p:spPr>
                <a:xfrm>
                  <a:off x="8634821" y="3043367"/>
                  <a:ext cx="181603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−1.645</m:t>
                      </m:r>
                    </m:oMath>
                  </a14:m>
                  <a:r>
                    <a:rPr lang="en-US" sz="2800" dirty="0">
                      <a:solidFill>
                        <a:srgbClr val="002060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B4A5F21-4B09-4FEA-BD73-2F4AE009F9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4821" y="3043367"/>
                  <a:ext cx="1816039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8131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/>
      <p:bldP spid="16" grpId="0"/>
      <p:bldP spid="17" grpId="0"/>
      <p:bldP spid="18" grpId="0"/>
      <p:bldP spid="19" grpId="0"/>
      <p:bldP spid="23" grpId="0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E207F-1F3D-F862-8FC6-088397B7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88E35EB7-08D3-56AB-3BE7-716DE6FCA2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2"/>
                <a:ext cx="11929643" cy="4053114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A question in a true-false is considered to be smart if it discriminates between intelligent person (IP) and average person (AP). Suppose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205</m:t>
                    </m:r>
                  </m:oMath>
                </a14:m>
                <a:r>
                  <a:rPr lang="en-US" dirty="0"/>
                  <a:t> out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250</m:t>
                    </m:r>
                  </m:oMath>
                </a14:m>
                <a:r>
                  <a:rPr lang="en-US" dirty="0"/>
                  <a:t> IP’s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137</m:t>
                    </m:r>
                  </m:oMath>
                </a14:m>
                <a:r>
                  <a:rPr lang="en-US" dirty="0"/>
                  <a:t> out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250</m:t>
                    </m:r>
                  </m:oMath>
                </a14:m>
                <a:r>
                  <a:rPr lang="en-US" dirty="0"/>
                  <a:t> AP’s answer a quiz question correctly. Test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0.01</m:t>
                    </m:r>
                  </m:oMath>
                </a14:m>
                <a:r>
                  <a:rPr lang="en-US" dirty="0"/>
                  <a:t> level of significance whether for the given question, proportion of correct answers can be expected to be </a:t>
                </a:r>
                <a:r>
                  <a:rPr lang="en-US" b="1" dirty="0">
                    <a:solidFill>
                      <a:srgbClr val="FFFF00"/>
                    </a:solidFill>
                  </a:rPr>
                  <a:t>at least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dirty="0"/>
                  <a:t> higher among IP’s than among the APs.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=2.33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88E35EB7-08D3-56AB-3BE7-716DE6FCA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4053114"/>
              </a:xfrm>
              <a:prstGeom prst="rect">
                <a:avLst/>
              </a:prstGeom>
              <a:blipFill>
                <a:blip r:embed="rId2"/>
                <a:stretch>
                  <a:fillRect l="-1074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9847B0EB-FC75-A301-E9C6-FD194108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275625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5BB58-9BE1-46A9-FB18-9A5393E58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B7CE9-7A2D-8E10-17EA-077F74568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11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C1B9457-4ED2-3F5A-60C5-B063B2E0F1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56436"/>
                <a:ext cx="11929641" cy="5770820"/>
              </a:xfrm>
            </p:spPr>
            <p:txBody>
              <a:bodyPr/>
              <a:lstStyle/>
              <a:p>
                <a:r>
                  <a:rPr lang="en-US" dirty="0"/>
                  <a:t>A true–false question is called smart if it can separate intelligent students from average students.</a:t>
                </a:r>
              </a:p>
              <a:p>
                <a:r>
                  <a:rPr lang="en-US" dirty="0"/>
                  <a:t>This means:</a:t>
                </a:r>
              </a:p>
              <a:p>
                <a:pPr lvl="1"/>
                <a:r>
                  <a:rPr lang="en-US" dirty="0"/>
                  <a:t>More intelligent persons should answer the question correctly than average persons.</a:t>
                </a:r>
              </a:p>
              <a:p>
                <a:r>
                  <a:rPr lang="en-US" dirty="0"/>
                  <a:t>Average person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a person with normal or moderate intelligence (not very intelligent).</a:t>
                </a:r>
              </a:p>
              <a:p>
                <a:r>
                  <a:rPr lang="en-US" dirty="0"/>
                  <a:t>Here, average persons are used as the reference group to compare with intelligent persons.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C1B9457-4ED2-3F5A-60C5-B063B2E0F1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56436"/>
                <a:ext cx="11929641" cy="5770820"/>
              </a:xfrm>
              <a:blipFill>
                <a:blip r:embed="rId2"/>
                <a:stretch>
                  <a:fillRect l="-971" r="-1074" b="-31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70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81270-3871-37A1-D1BF-FADD14C5F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8A38D-C518-C862-D154-68C0BE9DF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11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8D5F5E9-B659-B6FD-CA40-64AD0F3E97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756436"/>
                <a:ext cx="11929641" cy="5770820"/>
              </a:xfrm>
            </p:spPr>
            <p:txBody>
              <a:bodyPr/>
              <a:lstStyle/>
              <a:p>
                <a:r>
                  <a:rPr lang="en-US" dirty="0"/>
                  <a:t>Given Data</a:t>
                </a:r>
              </a:p>
              <a:p>
                <a:pPr lvl="1"/>
                <a:r>
                  <a:rPr lang="en-US" dirty="0"/>
                  <a:t>Intelligent Persons (IP):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250</m:t>
                    </m:r>
                  </m:oMath>
                </a14:m>
                <a:r>
                  <a:rPr lang="en-US" dirty="0"/>
                  <a:t> people,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205</m:t>
                    </m:r>
                  </m:oMath>
                </a14:m>
                <a:r>
                  <a:rPr lang="en-US" dirty="0"/>
                  <a:t> correct answers</a:t>
                </a:r>
              </a:p>
              <a:p>
                <a:pPr lvl="1"/>
                <a:r>
                  <a:rPr lang="en-US" dirty="0"/>
                  <a:t>Average Persons (AP):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250</m:t>
                    </m:r>
                  </m:oMath>
                </a14:m>
                <a:r>
                  <a:rPr lang="en-US" dirty="0"/>
                  <a:t> people,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137</m:t>
                    </m:r>
                  </m:oMath>
                </a14:m>
                <a:r>
                  <a:rPr lang="en-US" dirty="0"/>
                  <a:t> correct answers</a:t>
                </a:r>
              </a:p>
              <a:p>
                <a:r>
                  <a:rPr lang="en-US" dirty="0"/>
                  <a:t>The question asks: Do intelligent persons answer the question correctly at least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dirty="0"/>
                  <a:t> more than average persons?</a:t>
                </a:r>
              </a:p>
              <a:p>
                <a:pPr marL="273050" indent="0" algn="ctr">
                  <a:buNone/>
                </a:pPr>
                <a:r>
                  <a:rPr lang="en-US" dirty="0"/>
                  <a:t>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0.15</m:t>
                    </m:r>
                  </m:oMath>
                </a14:m>
                <a:r>
                  <a:rPr lang="en-IN" b="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≥0.15</m:t>
                    </m:r>
                  </m:oMath>
                </a14:m>
                <a:r>
                  <a:rPr lang="en-IN" dirty="0"/>
                  <a:t> </a:t>
                </a:r>
                <a:endParaRPr lang="en-IN" b="0" dirty="0"/>
              </a:p>
              <a:p>
                <a:pPr marL="273050" indent="0" algn="l">
                  <a:buNone/>
                </a:pPr>
                <a:r>
                  <a:rPr lang="en-US" dirty="0"/>
                  <a:t>where</a:t>
                </a:r>
              </a:p>
              <a:p>
                <a:pPr marL="273050" indent="0" algn="l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proportion of correct answers of Intelligent Persons (IP)</a:t>
                </a:r>
              </a:p>
              <a:p>
                <a:pPr marL="273050" indent="0" algn="l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proportion of correct answers of Average Persons (AP)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8D5F5E9-B659-B6FD-CA40-64AD0F3E97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756436"/>
                <a:ext cx="11929641" cy="5770820"/>
              </a:xfrm>
              <a:blipFill>
                <a:blip r:embed="rId2"/>
                <a:stretch>
                  <a:fillRect l="-971" r="-1074" b="-31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371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C5BDE-9E40-DBA5-FC1E-83DBA65EF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A5A45-1BE6-F18E-3B01-631A85541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11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Meaning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A077360-E27B-084C-ECDA-35380647C7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763" y="776048"/>
                <a:ext cx="11928475" cy="5809574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/>
                  <a:t>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>
                        <a:latin typeface="Cambria Math" panose="02040503050406030204" pitchFamily="18" charset="0"/>
                      </a:rPr>
                      <m:t>0.15</m:t>
                    </m:r>
                  </m:oMath>
                </a14:m>
                <a:r>
                  <a:rPr lang="en-IN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≥0.15</m:t>
                    </m:r>
                  </m:oMath>
                </a14:m>
                <a:endParaRPr lang="en-IN" dirty="0"/>
              </a:p>
              <a:p>
                <a:pPr marL="0" indent="0" algn="l">
                  <a:buNone/>
                </a:pPr>
                <a:r>
                  <a:rPr lang="en-US" dirty="0"/>
                  <a:t>where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proportion of correct answers of Intelligent Persons (IP)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IN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proportion of correct answers of Average Persons (AP)</a:t>
                </a:r>
              </a:p>
              <a:p>
                <a:r>
                  <a:rPr lang="en-US" dirty="0"/>
                  <a:t>Meaning: The proportion of correct answers of IP should be at least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dirty="0"/>
                  <a:t> greater than that of AP.</a:t>
                </a:r>
              </a:p>
              <a:p>
                <a:pPr lvl="1"/>
                <a:r>
                  <a:rPr lang="en-US" dirty="0"/>
                  <a:t>If the difference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dirty="0"/>
                  <a:t> or more, the question is good (smart).</a:t>
                </a:r>
              </a:p>
              <a:p>
                <a:pPr lvl="1"/>
                <a:r>
                  <a:rPr lang="en-US" dirty="0"/>
                  <a:t>If the difference is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dirty="0"/>
                  <a:t>, the question is not good at distinguishing ability.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A077360-E27B-084C-ECDA-35380647C7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763" y="776048"/>
                <a:ext cx="11928475" cy="5809574"/>
              </a:xfrm>
              <a:blipFill>
                <a:blip r:embed="rId2"/>
                <a:stretch>
                  <a:fillRect l="-1074" r="-1074" b="-25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652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8EEA1-0F62-855F-747F-2110F1E74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51D58-5AB0-AFC5-C577-8FBCD1171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GB" dirty="0"/>
              <a:t>Method 6 ⇝ Example 11 ⇝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Idea about Hypotheses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E639D57-20D0-6FCE-5D97-4F4E09C45F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929641" cy="5590565"/>
              </a:xfrm>
            </p:spPr>
            <p:txBody>
              <a:bodyPr/>
              <a:lstStyle/>
              <a:p>
                <a:r>
                  <a:rPr lang="en-US" dirty="0"/>
                  <a:t>Null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=0.15</m:t>
                    </m:r>
                  </m:oMath>
                </a14:m>
                <a:r>
                  <a:rPr lang="en-US" dirty="0"/>
                  <a:t>                    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>
                            <a:latin typeface="Cambria Math" panose="02040503050406030204" pitchFamily="18" charset="0"/>
                          </a:rPr>
                          <m:t>≥0.15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proportion of correct answers among IP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dirty="0"/>
                  <a:t> higher than AP.</a:t>
                </a:r>
              </a:p>
              <a:p>
                <a:r>
                  <a:rPr lang="en-US" dirty="0"/>
                  <a:t>Alternative Hypothesis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​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0" dirty="0" smtClean="0">
                        <a:latin typeface="Cambria Math" panose="02040503050406030204" pitchFamily="18" charset="0"/>
                      </a:rPr>
                      <m:t>&lt;0.15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difference is less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So, the question does not discriminate well.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E639D57-20D0-6FCE-5D97-4F4E09C45F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929641" cy="5590565"/>
              </a:xfrm>
              <a:blipFill>
                <a:blip r:embed="rId2"/>
                <a:stretch>
                  <a:fillRect l="-9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684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988D9-F424-2469-4E34-7CD5C230D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CB86D951-263E-8172-B73A-9EEE74FC23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77" y="869082"/>
                <a:ext cx="11929643" cy="372374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algn="just">
                  <a:lnSpc>
                    <a:spcPct val="150000"/>
                  </a:lnSpc>
                  <a:buClr>
                    <a:schemeClr val="accent6"/>
                  </a:buClr>
                  <a:defRPr sz="2800">
                    <a:solidFill>
                      <a:schemeClr val="bg1"/>
                    </a:solidFill>
                  </a:defRPr>
                </a:lvl1pPr>
                <a:lvl2pPr marL="809625" indent="-352425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 3" panose="05040102010807070707" pitchFamily="18" charset="2"/>
                  <a:buChar char=""/>
                  <a:defRPr sz="2400">
                    <a:solidFill>
                      <a:srgbClr val="002060"/>
                    </a:solidFill>
                  </a:defRPr>
                </a:lvl2pPr>
                <a:lvl3pPr marL="11430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rgbClr val="002060"/>
                    </a:solidFill>
                  </a:defRPr>
                </a:lvl3pPr>
                <a:lvl4pPr marL="16002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4pPr>
                <a:lvl5pPr marL="2057400" indent="-228600" algn="just">
                  <a:lnSpc>
                    <a:spcPct val="90000"/>
                  </a:lnSpc>
                  <a:spcBef>
                    <a:spcPts val="500"/>
                  </a:spcBef>
                  <a:buClr>
                    <a:schemeClr val="accent6"/>
                  </a:buClr>
                  <a:buFont typeface="Arial" panose="020B0604020202020204" pitchFamily="34" charset="0"/>
                  <a:buChar char="•"/>
                  <a:defRPr>
                    <a:solidFill>
                      <a:srgbClr val="002060"/>
                    </a:solidFill>
                  </a:defRPr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A question in a true-false is considered to be smart if it discriminates between intelligent person (IP) and average person (AP). Suppose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205</m:t>
                    </m:r>
                  </m:oMath>
                </a14:m>
                <a:r>
                  <a:rPr lang="en-US" dirty="0"/>
                  <a:t> out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250</m:t>
                    </m:r>
                  </m:oMath>
                </a14:m>
                <a:r>
                  <a:rPr lang="en-US" dirty="0"/>
                  <a:t> IP’s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137</m:t>
                    </m:r>
                  </m:oMath>
                </a14:m>
                <a:r>
                  <a:rPr lang="en-US" dirty="0"/>
                  <a:t> out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250</m:t>
                    </m:r>
                  </m:oMath>
                </a14:m>
                <a:r>
                  <a:rPr lang="en-US" dirty="0"/>
                  <a:t> AP’s answer a quiz question correctly. Test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0.01</m:t>
                    </m:r>
                  </m:oMath>
                </a14:m>
                <a:r>
                  <a:rPr lang="en-US" dirty="0"/>
                  <a:t> level of significance whether for the given question, proportion of correct answers can be expected to be </a:t>
                </a:r>
                <a:r>
                  <a:rPr lang="en-US" b="1" dirty="0">
                    <a:solidFill>
                      <a:srgbClr val="FFFF00"/>
                    </a:solidFill>
                  </a:rPr>
                  <a:t>at least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dirty="0"/>
                  <a:t> higher among IP’s than among the AP’s.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=2.33 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CB86D951-263E-8172-B73A-9EEE74FC2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77" y="869082"/>
                <a:ext cx="11929643" cy="3723748"/>
              </a:xfrm>
              <a:prstGeom prst="rect">
                <a:avLst/>
              </a:prstGeom>
              <a:blipFill>
                <a:blip r:embed="rId2"/>
                <a:stretch>
                  <a:fillRect l="-1074" t="-656" r="-10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23B1F9BE-884B-5AA9-A260-2FE2F114E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11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8E22373-631C-6408-6AB7-660500948BA0}"/>
              </a:ext>
            </a:extLst>
          </p:cNvPr>
          <p:cNvSpPr/>
          <p:nvPr/>
        </p:nvSpPr>
        <p:spPr>
          <a:xfrm>
            <a:off x="131177" y="4725055"/>
            <a:ext cx="1494420" cy="5232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buClr>
                <a:schemeClr val="accent6"/>
              </a:buClr>
            </a:pPr>
            <a:r>
              <a:rPr lang="en-GB" sz="2800" dirty="0">
                <a:solidFill>
                  <a:schemeClr val="bg1"/>
                </a:solidFill>
              </a:rPr>
              <a:t>Solution: 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2F5A72B-4D1C-AAB1-8501-17346E7811B6}"/>
                  </a:ext>
                </a:extLst>
              </p:cNvPr>
              <p:cNvSpPr/>
              <p:nvPr/>
            </p:nvSpPr>
            <p:spPr>
              <a:xfrm>
                <a:off x="503038" y="5652862"/>
                <a:ext cx="16892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250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2F5A72B-4D1C-AAB1-8501-17346E7811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38" y="5652862"/>
                <a:ext cx="168924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9E8B1EC-BB69-7C5B-728A-EC2112F88336}"/>
                  </a:ext>
                </a:extLst>
              </p:cNvPr>
              <p:cNvSpPr/>
              <p:nvPr/>
            </p:nvSpPr>
            <p:spPr>
              <a:xfrm>
                <a:off x="2597702" y="5413228"/>
                <a:ext cx="1689245" cy="9105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205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9E8B1EC-BB69-7C5B-728A-EC2112F883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702" y="5413228"/>
                <a:ext cx="1689245" cy="9105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D43E739-68B5-0467-F124-1DEA01CFA646}"/>
                  </a:ext>
                </a:extLst>
              </p:cNvPr>
              <p:cNvSpPr/>
              <p:nvPr/>
            </p:nvSpPr>
            <p:spPr>
              <a:xfrm>
                <a:off x="4226313" y="5664076"/>
                <a:ext cx="13039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82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D43E739-68B5-0467-F124-1DEA01CFA6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313" y="5664076"/>
                <a:ext cx="130394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75E45E5-F79A-B119-75C9-3F87D12F4037}"/>
              </a:ext>
            </a:extLst>
          </p:cNvPr>
          <p:cNvCxnSpPr>
            <a:cxnSpLocks/>
          </p:cNvCxnSpPr>
          <p:nvPr/>
        </p:nvCxnSpPr>
        <p:spPr>
          <a:xfrm>
            <a:off x="6197740" y="4709160"/>
            <a:ext cx="0" cy="1887404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17D8D34-DA21-B505-54F8-6777E5740C47}"/>
              </a:ext>
            </a:extLst>
          </p:cNvPr>
          <p:cNvSpPr/>
          <p:nvPr/>
        </p:nvSpPr>
        <p:spPr>
          <a:xfrm>
            <a:off x="1729663" y="4729989"/>
            <a:ext cx="25875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u="sng" dirty="0">
                <a:solidFill>
                  <a:srgbClr val="002060"/>
                </a:solidFill>
              </a:rPr>
              <a:t>Sample 1 for IP’s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4E52C0F-8530-A566-3908-F2645B595173}"/>
                  </a:ext>
                </a:extLst>
              </p:cNvPr>
              <p:cNvSpPr/>
              <p:nvPr/>
            </p:nvSpPr>
            <p:spPr>
              <a:xfrm>
                <a:off x="6510279" y="5181923"/>
                <a:ext cx="169751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250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4E52C0F-8530-A566-3908-F2645B5951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279" y="5181923"/>
                <a:ext cx="169751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31A5008-4A3E-3324-CCC3-F70C8D66C67B}"/>
                  </a:ext>
                </a:extLst>
              </p:cNvPr>
              <p:cNvSpPr/>
              <p:nvPr/>
            </p:nvSpPr>
            <p:spPr>
              <a:xfrm>
                <a:off x="6510279" y="5682931"/>
                <a:ext cx="1689245" cy="9105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137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31A5008-4A3E-3324-CCC3-F70C8D66C6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279" y="5682931"/>
                <a:ext cx="1689245" cy="9105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ADA2754-561B-6397-7622-CF3588C59694}"/>
                  </a:ext>
                </a:extLst>
              </p:cNvPr>
              <p:cNvSpPr/>
              <p:nvPr/>
            </p:nvSpPr>
            <p:spPr>
              <a:xfrm>
                <a:off x="8108084" y="5916523"/>
                <a:ext cx="150271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0.548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ADA2754-561B-6397-7622-CF3588C596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8084" y="5916523"/>
                <a:ext cx="1502719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4A75ADB2-B5F3-4258-7FA0-5A77B9DDA69B}"/>
              </a:ext>
            </a:extLst>
          </p:cNvPr>
          <p:cNvSpPr/>
          <p:nvPr/>
        </p:nvSpPr>
        <p:spPr>
          <a:xfrm>
            <a:off x="6510279" y="4649979"/>
            <a:ext cx="27045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u="sng" dirty="0">
                <a:solidFill>
                  <a:srgbClr val="002060"/>
                </a:solidFill>
              </a:rPr>
              <a:t>Sample 2 for AP’s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07B3181-E886-7E58-CA9F-A227C20982E7}"/>
              </a:ext>
            </a:extLst>
          </p:cNvPr>
          <p:cNvCxnSpPr/>
          <p:nvPr/>
        </p:nvCxnSpPr>
        <p:spPr>
          <a:xfrm flipV="1">
            <a:off x="10081306" y="2033591"/>
            <a:ext cx="64740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13696C-244A-0424-6631-42278E6B219D}"/>
              </a:ext>
            </a:extLst>
          </p:cNvPr>
          <p:cNvCxnSpPr/>
          <p:nvPr/>
        </p:nvCxnSpPr>
        <p:spPr>
          <a:xfrm flipV="1">
            <a:off x="2057035" y="2673349"/>
            <a:ext cx="64740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D7495D-FC14-49D1-925E-067563E473C8}"/>
              </a:ext>
            </a:extLst>
          </p:cNvPr>
          <p:cNvCxnSpPr/>
          <p:nvPr/>
        </p:nvCxnSpPr>
        <p:spPr>
          <a:xfrm flipV="1">
            <a:off x="174309" y="2051544"/>
            <a:ext cx="2480631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621393-9FEE-5236-41BB-5003424DBA2B}"/>
              </a:ext>
            </a:extLst>
          </p:cNvPr>
          <p:cNvCxnSpPr/>
          <p:nvPr/>
        </p:nvCxnSpPr>
        <p:spPr>
          <a:xfrm flipV="1">
            <a:off x="8406618" y="2051544"/>
            <a:ext cx="64740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A7AE2F9-8FF9-123E-6AA5-D3A5035C4DC7}"/>
              </a:ext>
            </a:extLst>
          </p:cNvPr>
          <p:cNvCxnSpPr/>
          <p:nvPr/>
        </p:nvCxnSpPr>
        <p:spPr>
          <a:xfrm flipV="1">
            <a:off x="10081306" y="2034379"/>
            <a:ext cx="64740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93D310-BC5B-F53D-5756-5252C9997769}"/>
              </a:ext>
            </a:extLst>
          </p:cNvPr>
          <p:cNvCxnSpPr/>
          <p:nvPr/>
        </p:nvCxnSpPr>
        <p:spPr>
          <a:xfrm flipV="1">
            <a:off x="4031443" y="2049834"/>
            <a:ext cx="2201435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1DDC26D-D657-3E7C-D9CA-CC337C6F576F}"/>
              </a:ext>
            </a:extLst>
          </p:cNvPr>
          <p:cNvCxnSpPr/>
          <p:nvPr/>
        </p:nvCxnSpPr>
        <p:spPr>
          <a:xfrm flipV="1">
            <a:off x="205411" y="2682330"/>
            <a:ext cx="64740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72B6E5D-5E29-BC86-8AEF-EAC3FC6B6C9D}"/>
              </a:ext>
            </a:extLst>
          </p:cNvPr>
          <p:cNvCxnSpPr/>
          <p:nvPr/>
        </p:nvCxnSpPr>
        <p:spPr>
          <a:xfrm flipV="1">
            <a:off x="2050813" y="2673349"/>
            <a:ext cx="64740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10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B2379-6632-1533-9F2B-C929FA00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4E069-97C8-FD2D-0A34-5B7A91ED2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11(Continue)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36EA74B-7C72-BFC0-C1D3-064BD3E21005}"/>
                  </a:ext>
                </a:extLst>
              </p:cNvPr>
              <p:cNvSpPr/>
              <p:nvPr/>
            </p:nvSpPr>
            <p:spPr>
              <a:xfrm>
                <a:off x="111878" y="870047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0055CB6-5371-7067-84D2-9072B71ADE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78" y="870047"/>
                <a:ext cx="79758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036F443-52F1-BDFD-7D78-76084BA7E907}"/>
                  </a:ext>
                </a:extLst>
              </p:cNvPr>
              <p:cNvSpPr/>
              <p:nvPr/>
            </p:nvSpPr>
            <p:spPr>
              <a:xfrm>
                <a:off x="1224206" y="3133214"/>
                <a:ext cx="288692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𝐏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𝐢𝐬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𝐧𝐨𝐭</m:t>
                          </m:r>
                          <m:r>
                            <a:rPr lang="en-US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𝐤𝐧𝐨𝐰𝐧</m:t>
                          </m:r>
                        </m:e>
                      </m:d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47FCFFB-E126-A9CD-7213-DE267ED0F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206" y="3133214"/>
                <a:ext cx="288692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35A7B8-70D2-655A-897F-462078DE1DA7}"/>
                  </a:ext>
                </a:extLst>
              </p:cNvPr>
              <p:cNvSpPr/>
              <p:nvPr/>
            </p:nvSpPr>
            <p:spPr>
              <a:xfrm>
                <a:off x="897425" y="893810"/>
                <a:ext cx="280203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=0.15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335A7B8-70D2-655A-897F-462078DE1D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25" y="893810"/>
                <a:ext cx="280203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4B96BEB-03DB-8053-AECD-151529996915}"/>
                  </a:ext>
                </a:extLst>
              </p:cNvPr>
              <p:cNvSpPr/>
              <p:nvPr/>
            </p:nvSpPr>
            <p:spPr>
              <a:xfrm>
                <a:off x="103008" y="1847793"/>
                <a:ext cx="79758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en-IN" sz="2800" b="1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EDCB73C-B570-18E9-9CEE-DCABB7B2E8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8" y="1847793"/>
                <a:ext cx="79758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A54D257-3FBA-1EA2-C307-358664B42647}"/>
                  </a:ext>
                </a:extLst>
              </p:cNvPr>
              <p:cNvSpPr/>
              <p:nvPr/>
            </p:nvSpPr>
            <p:spPr>
              <a:xfrm>
                <a:off x="910585" y="1858174"/>
                <a:ext cx="3784762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sSub>
                        <m:sSub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sz="2800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&lt;0.15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A54D257-3FBA-1EA2-C307-358664B426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585" y="1858174"/>
                <a:ext cx="378476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D844E6B-9575-8E56-C77C-EBE3E45B1C81}"/>
                  </a:ext>
                </a:extLst>
              </p:cNvPr>
              <p:cNvSpPr/>
              <p:nvPr/>
            </p:nvSpPr>
            <p:spPr>
              <a:xfrm>
                <a:off x="103007" y="2495694"/>
                <a:ext cx="262749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𝐋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𝐎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sz="2800" b="1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b="1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D844E6B-9575-8E56-C77C-EBE3E45B1C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7" y="2495694"/>
                <a:ext cx="262749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CB9BA7DB-3D38-BAA6-135C-C179B82788A1}"/>
              </a:ext>
            </a:extLst>
          </p:cNvPr>
          <p:cNvSpPr/>
          <p:nvPr/>
        </p:nvSpPr>
        <p:spPr>
          <a:xfrm>
            <a:off x="134072" y="3133214"/>
            <a:ext cx="10474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Test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E804C5B-4D45-F4B3-9527-99D8554E97B3}"/>
                  </a:ext>
                </a:extLst>
              </p:cNvPr>
              <p:cNvSpPr txBox="1"/>
              <p:nvPr/>
            </p:nvSpPr>
            <p:spPr>
              <a:xfrm>
                <a:off x="0" y="3826238"/>
                <a:ext cx="4229099" cy="1372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𝐙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b="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2800" b="1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𝐩𝐪</m:t>
                              </m:r>
                              <m:d>
                                <m:dPr>
                                  <m:ctrlPr>
                                    <a:rPr lang="en-IN" sz="28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8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</m:e>
                                        <m:sub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1 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b="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sz="2800" b="0" i="1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IN" sz="2800" b="1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𝐧</m:t>
                                          </m:r>
                                        </m:e>
                                        <m:sub>
                                          <m:r>
                                            <a:rPr lang="en-IN" sz="2800" b="0" i="0">
                                              <a:solidFill>
                                                <a:srgbClr val="00206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2 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17BDEC-0097-2354-89F5-6E8E3EF37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26238"/>
                <a:ext cx="4229099" cy="1372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2DEDB33-D05C-C26C-B5A4-184DA8051379}"/>
                  </a:ext>
                </a:extLst>
              </p:cNvPr>
              <p:cNvSpPr txBox="1"/>
              <p:nvPr/>
            </p:nvSpPr>
            <p:spPr>
              <a:xfrm>
                <a:off x="183775" y="5412026"/>
                <a:ext cx="3028840" cy="9454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E79241D-CC4A-3C18-AD25-49021333C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75" y="5412026"/>
                <a:ext cx="3028840" cy="9454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CDE3ED-08DA-805B-DD1D-00612E33E4B8}"/>
                  </a:ext>
                </a:extLst>
              </p:cNvPr>
              <p:cNvSpPr txBox="1"/>
              <p:nvPr/>
            </p:nvSpPr>
            <p:spPr>
              <a:xfrm>
                <a:off x="5106768" y="2653408"/>
                <a:ext cx="5226583" cy="9357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250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0.82</m:t>
                              </m:r>
                            </m:e>
                          </m: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250</m:t>
                              </m:r>
                            </m:e>
                          </m:d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sz="280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8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48</m:t>
                              </m:r>
                            </m:e>
                          </m:d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250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CDE3ED-08DA-805B-DD1D-00612E33E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768" y="2653408"/>
                <a:ext cx="5226583" cy="9357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90B5287-A93F-37C8-808A-E1A202421DA2}"/>
                  </a:ext>
                </a:extLst>
              </p:cNvPr>
              <p:cNvSpPr/>
              <p:nvPr/>
            </p:nvSpPr>
            <p:spPr>
              <a:xfrm>
                <a:off x="10102128" y="2884303"/>
                <a:ext cx="19558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699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90B5287-A93F-37C8-808A-E1A202421D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2128" y="2884303"/>
                <a:ext cx="195580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C0E6EBA-41F3-467D-1E0B-828BEC7905F7}"/>
                  </a:ext>
                </a:extLst>
              </p:cNvPr>
              <p:cNvSpPr/>
              <p:nvPr/>
            </p:nvSpPr>
            <p:spPr>
              <a:xfrm>
                <a:off x="5165503" y="3835198"/>
                <a:ext cx="17572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C0E6EBA-41F3-467D-1E0B-828BEC7905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5503" y="3835198"/>
                <a:ext cx="1757212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36BBE7C-3334-FE1C-D5D2-E6E850F8BE45}"/>
                  </a:ext>
                </a:extLst>
              </p:cNvPr>
              <p:cNvSpPr txBox="1"/>
              <p:nvPr/>
            </p:nvSpPr>
            <p:spPr>
              <a:xfrm>
                <a:off x="6680379" y="3868950"/>
                <a:ext cx="22859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699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36BBE7C-3334-FE1C-D5D2-E6E850F8B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379" y="3868950"/>
                <a:ext cx="2285939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C246816-1E54-3AE0-B588-31EB44C86F82}"/>
                  </a:ext>
                </a:extLst>
              </p:cNvPr>
              <p:cNvSpPr txBox="1"/>
              <p:nvPr/>
            </p:nvSpPr>
            <p:spPr>
              <a:xfrm>
                <a:off x="8780088" y="3854431"/>
                <a:ext cx="155326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0.301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C246816-1E54-3AE0-B588-31EB44C86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0088" y="3854431"/>
                <a:ext cx="1553263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3C2D1D2-F309-01B5-ABF3-5B92D9A64811}"/>
              </a:ext>
            </a:extLst>
          </p:cNvPr>
          <p:cNvCxnSpPr>
            <a:cxnSpLocks/>
          </p:cNvCxnSpPr>
          <p:nvPr/>
        </p:nvCxnSpPr>
        <p:spPr>
          <a:xfrm>
            <a:off x="4927740" y="2495694"/>
            <a:ext cx="0" cy="411017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F5F14D8-F2F8-2089-E881-0C6C16B3F3EA}"/>
                  </a:ext>
                </a:extLst>
              </p:cNvPr>
              <p:cNvSpPr txBox="1"/>
              <p:nvPr/>
            </p:nvSpPr>
            <p:spPr>
              <a:xfrm>
                <a:off x="4959763" y="4482930"/>
                <a:ext cx="6127328" cy="14464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sty m:val="p"/>
                        </m:rP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IN" sz="2800" b="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IN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82</m:t>
                          </m:r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.548</m:t>
                          </m:r>
                        </m:num>
                        <m:den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.699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301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250</m:t>
                                      </m:r>
                                    </m:den>
                                  </m:f>
                                  <m:r>
                                    <a:rPr lang="en-IN" sz="2800" b="0" i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b="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1 </m:t>
                                      </m:r>
                                    </m:num>
                                    <m:den>
                                      <m:r>
                                        <a:rPr lang="en-US" sz="280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8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50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IN" sz="2800" b="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  <m:r>
                            <a:rPr lang="en-IN" sz="2800" b="0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F5F14D8-F2F8-2089-E881-0C6C16B3F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763" y="4482930"/>
                <a:ext cx="6127328" cy="14464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3E761E1-F48F-08F4-AAF4-51DE06B1BEE7}"/>
                  </a:ext>
                </a:extLst>
              </p:cNvPr>
              <p:cNvSpPr/>
              <p:nvPr/>
            </p:nvSpPr>
            <p:spPr>
              <a:xfrm>
                <a:off x="5555271" y="6027757"/>
                <a:ext cx="1222719" cy="4770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5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6.63</m:t>
                    </m:r>
                  </m:oMath>
                </a14:m>
                <a:r>
                  <a:rPr lang="en-US" sz="2500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3E761E1-F48F-08F4-AAF4-51DE06B1BE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271" y="6027757"/>
                <a:ext cx="1222719" cy="4770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2A414BB-D025-7A2F-27E7-70C999AB4E66}"/>
                  </a:ext>
                </a:extLst>
              </p:cNvPr>
              <p:cNvSpPr/>
              <p:nvPr/>
            </p:nvSpPr>
            <p:spPr>
              <a:xfrm>
                <a:off x="3212614" y="888371"/>
                <a:ext cx="8867505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(The proportion of correct answers among IP is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sz="2800" i="0" dirty="0">
                    <a:solidFill>
                      <a:srgbClr val="002060"/>
                    </a:solidFill>
                    <a:latin typeface="+mj-lt"/>
                  </a:rPr>
                  <a:t> higher than AP.)</a:t>
                </a: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2A414BB-D025-7A2F-27E7-70C999AB4E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614" y="888371"/>
                <a:ext cx="8867505" cy="954107"/>
              </a:xfrm>
              <a:prstGeom prst="rect">
                <a:avLst/>
              </a:prstGeom>
              <a:blipFill>
                <a:blip r:embed="rId17"/>
                <a:stretch>
                  <a:fillRect l="-1375" t="-6410" r="-1375" b="-17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B46C869-E61F-3773-45B2-FCFCC733161C}"/>
                  </a:ext>
                </a:extLst>
              </p:cNvPr>
              <p:cNvSpPr/>
              <p:nvPr/>
            </p:nvSpPr>
            <p:spPr>
              <a:xfrm>
                <a:off x="3221487" y="1850351"/>
                <a:ext cx="8867505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/>
                <a:r>
                  <a:rPr lang="en-US" sz="2800" i="0">
                    <a:solidFill>
                      <a:srgbClr val="002060"/>
                    </a:solidFill>
                    <a:latin typeface="+mj-lt"/>
                  </a:rPr>
                  <a:t>(</a:t>
                </a:r>
                <a:r>
                  <a:rPr lang="en-US" sz="2800">
                    <a:solidFill>
                      <a:srgbClr val="002060"/>
                    </a:solidFill>
                  </a:rPr>
                  <a:t>the question does not discriminate well</a:t>
                </a:r>
                <a:r>
                  <a:rPr lang="en-US" sz="2800" i="0">
                    <a:solidFill>
                      <a:srgbClr val="002060"/>
                    </a:solidFill>
                    <a:latin typeface="+mj-lt"/>
                  </a:rPr>
                  <a:t>.)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B46C869-E61F-3773-45B2-FCFCC73316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1487" y="1850351"/>
                <a:ext cx="8867505" cy="523220"/>
              </a:xfrm>
              <a:prstGeom prst="rect">
                <a:avLst/>
              </a:prstGeom>
              <a:blipFill>
                <a:blip r:embed="rId18"/>
                <a:stretch>
                  <a:fillRect l="-1375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736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/>
      <p:bldP spid="9" grpId="0"/>
      <p:bldP spid="10" grpId="0"/>
      <p:bldP spid="11" grpId="0"/>
      <p:bldP spid="12" grpId="0"/>
      <p:bldP spid="13" grpId="0"/>
      <p:bldP spid="7" grpId="0"/>
      <p:bldP spid="20" grpId="0"/>
      <p:bldP spid="22" grpId="0"/>
      <p:bldP spid="32" grpId="0"/>
      <p:bldP spid="35" grpId="0"/>
      <p:bldP spid="36" grpId="0"/>
      <p:bldP spid="39" grpId="0"/>
      <p:bldP spid="40" grpId="0"/>
      <p:bldP spid="16" grpId="0"/>
      <p:bldP spid="17" grpId="0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EF36-B0C1-520C-0397-59666A349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AAE26-FBD5-7ABE-7780-7B335A5FE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6 ⇝ Example 11(Continue)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6DD0E4-F24C-9D65-F2AC-C36B1EB3F258}"/>
              </a:ext>
            </a:extLst>
          </p:cNvPr>
          <p:cNvSpPr/>
          <p:nvPr/>
        </p:nvSpPr>
        <p:spPr>
          <a:xfrm>
            <a:off x="128270" y="831700"/>
            <a:ext cx="25321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Critical Value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082458-5D53-8EA3-4867-0D7FAB686827}"/>
                  </a:ext>
                </a:extLst>
              </p:cNvPr>
              <p:cNvSpPr txBox="1"/>
              <p:nvPr/>
            </p:nvSpPr>
            <p:spPr>
              <a:xfrm>
                <a:off x="2101850" y="820577"/>
                <a:ext cx="26974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</m:t>
                      </m:r>
                      <m:r>
                        <a:rPr lang="en-US" sz="2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082458-5D53-8EA3-4867-0D7FAB686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1850" y="820577"/>
                <a:ext cx="269747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34B540CB-0707-0FAD-8E51-9088B0D8855D}"/>
              </a:ext>
            </a:extLst>
          </p:cNvPr>
          <p:cNvSpPr/>
          <p:nvPr/>
        </p:nvSpPr>
        <p:spPr>
          <a:xfrm>
            <a:off x="128268" y="1475419"/>
            <a:ext cx="19735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>
                <a:solidFill>
                  <a:srgbClr val="002060"/>
                </a:solidFill>
              </a:rPr>
              <a:t>Conclusion :</a:t>
            </a:r>
            <a:r>
              <a:rPr lang="en-US" sz="2800" b="1" u="sng" dirty="0">
                <a:solidFill>
                  <a:srgbClr val="00206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A3B305E-4CFC-2114-20A9-AF0C9BAADD28}"/>
                  </a:ext>
                </a:extLst>
              </p:cNvPr>
              <p:cNvSpPr txBox="1"/>
              <p:nvPr/>
            </p:nvSpPr>
            <p:spPr>
              <a:xfrm>
                <a:off x="-233408" y="2091182"/>
                <a:ext cx="237653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  <m:r>
                        <a:rPr lang="en-US" sz="2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6.63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A3B305E-4CFC-2114-20A9-AF0C9BAAD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3408" y="2091182"/>
                <a:ext cx="237653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CDE6FA4-7597-BEF2-9D77-390E4C5FD4A6}"/>
                  </a:ext>
                </a:extLst>
              </p:cNvPr>
              <p:cNvSpPr/>
              <p:nvPr/>
            </p:nvSpPr>
            <p:spPr>
              <a:xfrm>
                <a:off x="128268" y="2827444"/>
                <a:ext cx="197358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8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800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u="sng" dirty="0">
                    <a:solidFill>
                      <a:srgbClr val="00206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CDE6FA4-7597-BEF2-9D77-390E4C5FD4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68" y="2827444"/>
                <a:ext cx="1973580" cy="523220"/>
              </a:xfrm>
              <a:prstGeom prst="rect">
                <a:avLst/>
              </a:prstGeom>
              <a:blipFill>
                <a:blip r:embed="rId4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647268-3F59-E899-B890-636B05006A54}"/>
                  </a:ext>
                </a:extLst>
              </p:cNvPr>
              <p:cNvSpPr txBox="1"/>
              <p:nvPr/>
            </p:nvSpPr>
            <p:spPr>
              <a:xfrm>
                <a:off x="2196055" y="2071455"/>
                <a:ext cx="237653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  <m:sub>
                          <m:r>
                            <a:rPr lang="en-US" sz="28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0.01</m:t>
                          </m:r>
                        </m:sub>
                      </m:sSub>
                      <m:r>
                        <a:rPr lang="en-US" sz="28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2.</m:t>
                      </m:r>
                      <m:r>
                        <a:rPr lang="en-US" sz="2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33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647268-3F59-E899-B890-636B05006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055" y="2071455"/>
                <a:ext cx="237653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E66A6B-5A4E-B699-20E4-3EC021DE457E}"/>
                  </a:ext>
                </a:extLst>
              </p:cNvPr>
              <p:cNvSpPr txBox="1"/>
              <p:nvPr/>
            </p:nvSpPr>
            <p:spPr>
              <a:xfrm>
                <a:off x="1773257" y="2066821"/>
                <a:ext cx="5487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3E66A6B-5A4E-B699-20E4-3EC021DE4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257" y="2066821"/>
                <a:ext cx="54871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B177CA3-920B-5A3E-03F6-0657845ED366}"/>
                  </a:ext>
                </a:extLst>
              </p:cNvPr>
              <p:cNvSpPr txBox="1"/>
              <p:nvPr/>
            </p:nvSpPr>
            <p:spPr>
              <a:xfrm>
                <a:off x="123340" y="3643193"/>
                <a:ext cx="11948686" cy="1161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>
                  <a:lnSpc>
                    <a:spcPct val="130000"/>
                  </a:lnSpc>
                </a:pPr>
                <a:r>
                  <a:rPr lang="en-US" sz="2800" dirty="0">
                    <a:solidFill>
                      <a:srgbClr val="002060"/>
                    </a:solidFill>
                  </a:rPr>
                  <a:t>At the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level of significance, the proportion of correct answers among IP is not at least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</a:rPr>
                  <a:t> higher than AP. </a:t>
                </a:r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B177CA3-920B-5A3E-03F6-0657845ED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40" y="3643193"/>
                <a:ext cx="11948686" cy="1161152"/>
              </a:xfrm>
              <a:prstGeom prst="rect">
                <a:avLst/>
              </a:prstGeom>
              <a:blipFill>
                <a:blip r:embed="rId7"/>
                <a:stretch>
                  <a:fillRect l="-1020" r="-1071" b="-14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2F8D7D8-4981-C2AC-B978-1AD4528CB63C}"/>
              </a:ext>
            </a:extLst>
          </p:cNvPr>
          <p:cNvGrpSpPr/>
          <p:nvPr/>
        </p:nvGrpSpPr>
        <p:grpSpPr>
          <a:xfrm>
            <a:off x="8588106" y="1017329"/>
            <a:ext cx="3603894" cy="2662056"/>
            <a:chOff x="7816940" y="864896"/>
            <a:chExt cx="3603894" cy="266205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3F0FE29-E2C8-4A1B-A1BB-B5438F55F453}"/>
                </a:ext>
              </a:extLst>
            </p:cNvPr>
            <p:cNvGrpSpPr/>
            <p:nvPr/>
          </p:nvGrpSpPr>
          <p:grpSpPr>
            <a:xfrm flipH="1">
              <a:off x="7816940" y="864896"/>
              <a:ext cx="3385735" cy="2154174"/>
              <a:chOff x="6189671" y="3656930"/>
              <a:chExt cx="4018280" cy="2556631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F0610E4-D4E9-430E-9AA2-797B2EA41362}"/>
                  </a:ext>
                </a:extLst>
              </p:cNvPr>
              <p:cNvCxnSpPr>
                <a:cxnSpLocks/>
                <a:stCxn id="20" idx="2"/>
              </p:cNvCxnSpPr>
              <p:nvPr/>
            </p:nvCxnSpPr>
            <p:spPr>
              <a:xfrm>
                <a:off x="8181270" y="3656931"/>
                <a:ext cx="29615" cy="2551708"/>
              </a:xfrm>
              <a:prstGeom prst="line">
                <a:avLst/>
              </a:prstGeom>
              <a:ln w="57150"/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C3AB6BE8-E639-4D76-A0C0-11B8A23D5DDB}"/>
                  </a:ext>
                </a:extLst>
              </p:cNvPr>
              <p:cNvSpPr/>
              <p:nvPr/>
            </p:nvSpPr>
            <p:spPr>
              <a:xfrm>
                <a:off x="6189671" y="5365974"/>
                <a:ext cx="831444" cy="842664"/>
              </a:xfrm>
              <a:custGeom>
                <a:avLst/>
                <a:gdLst>
                  <a:gd name="connsiteX0" fmla="*/ 831444 w 831444"/>
                  <a:gd name="connsiteY0" fmla="*/ 0 h 1001614"/>
                  <a:gd name="connsiteX1" fmla="*/ 831444 w 831444"/>
                  <a:gd name="connsiteY1" fmla="*/ 840902 h 1001614"/>
                  <a:gd name="connsiteX2" fmla="*/ 831444 w 831444"/>
                  <a:gd name="connsiteY2" fmla="*/ 1001614 h 1001614"/>
                  <a:gd name="connsiteX3" fmla="*/ 0 w 831444"/>
                  <a:gd name="connsiteY3" fmla="*/ 1001614 h 1001614"/>
                  <a:gd name="connsiteX4" fmla="*/ 0 w 831444"/>
                  <a:gd name="connsiteY4" fmla="*/ 840245 h 1001614"/>
                  <a:gd name="connsiteX5" fmla="*/ 779906 w 831444"/>
                  <a:gd name="connsiteY5" fmla="*/ 117944 h 1001614"/>
                  <a:gd name="connsiteX6" fmla="*/ 822581 w 831444"/>
                  <a:gd name="connsiteY6" fmla="*/ 21762 h 1001614"/>
                  <a:gd name="connsiteX7" fmla="*/ 831444 w 831444"/>
                  <a:gd name="connsiteY7" fmla="*/ 0 h 1001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1444" h="1001614">
                    <a:moveTo>
                      <a:pt x="831444" y="0"/>
                    </a:moveTo>
                    <a:lnTo>
                      <a:pt x="831444" y="840902"/>
                    </a:lnTo>
                    <a:lnTo>
                      <a:pt x="831444" y="1001614"/>
                    </a:lnTo>
                    <a:lnTo>
                      <a:pt x="0" y="1001614"/>
                    </a:lnTo>
                    <a:lnTo>
                      <a:pt x="0" y="840245"/>
                    </a:lnTo>
                    <a:cubicBezTo>
                      <a:pt x="347485" y="840652"/>
                      <a:pt x="571799" y="554667"/>
                      <a:pt x="779906" y="117944"/>
                    </a:cubicBezTo>
                    <a:cubicBezTo>
                      <a:pt x="792913" y="90649"/>
                      <a:pt x="807168" y="58344"/>
                      <a:pt x="822581" y="21762"/>
                    </a:cubicBezTo>
                    <a:lnTo>
                      <a:pt x="831444" y="0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41460BA-EBB8-4CED-9987-8AB3A2C39A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08415" y="5430936"/>
                <a:ext cx="0" cy="7679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0BB58BA-C964-46BD-88C1-CE5E1121F7B6}"/>
                  </a:ext>
                </a:extLst>
              </p:cNvPr>
              <p:cNvSpPr/>
              <p:nvPr/>
            </p:nvSpPr>
            <p:spPr>
              <a:xfrm>
                <a:off x="6189673" y="3656930"/>
                <a:ext cx="4018278" cy="2423541"/>
              </a:xfrm>
              <a:custGeom>
                <a:avLst/>
                <a:gdLst>
                  <a:gd name="connsiteX0" fmla="*/ 0 w 4387309"/>
                  <a:gd name="connsiteY0" fmla="*/ 2386358 h 2416416"/>
                  <a:gd name="connsiteX1" fmla="*/ 525780 w 4387309"/>
                  <a:gd name="connsiteY1" fmla="*/ 2123468 h 2416416"/>
                  <a:gd name="connsiteX2" fmla="*/ 1668780 w 4387309"/>
                  <a:gd name="connsiteY2" fmla="*/ 271808 h 2416416"/>
                  <a:gd name="connsiteX3" fmla="*/ 2594610 w 4387309"/>
                  <a:gd name="connsiteY3" fmla="*/ 191798 h 2416416"/>
                  <a:gd name="connsiteX4" fmla="*/ 3669030 w 4387309"/>
                  <a:gd name="connsiteY4" fmla="*/ 2009168 h 2416416"/>
                  <a:gd name="connsiteX5" fmla="*/ 4023360 w 4387309"/>
                  <a:gd name="connsiteY5" fmla="*/ 2386358 h 2416416"/>
                  <a:gd name="connsiteX6" fmla="*/ 4377690 w 4387309"/>
                  <a:gd name="connsiteY6" fmla="*/ 2386358 h 2416416"/>
                  <a:gd name="connsiteX7" fmla="*/ 4251960 w 4387309"/>
                  <a:gd name="connsiteY7" fmla="*/ 2397788 h 2416416"/>
                  <a:gd name="connsiteX0" fmla="*/ 0 w 4403567"/>
                  <a:gd name="connsiteY0" fmla="*/ 2386358 h 2416416"/>
                  <a:gd name="connsiteX1" fmla="*/ 525780 w 4403567"/>
                  <a:gd name="connsiteY1" fmla="*/ 2123468 h 2416416"/>
                  <a:gd name="connsiteX2" fmla="*/ 1668780 w 4403567"/>
                  <a:gd name="connsiteY2" fmla="*/ 271808 h 2416416"/>
                  <a:gd name="connsiteX3" fmla="*/ 2594610 w 4403567"/>
                  <a:gd name="connsiteY3" fmla="*/ 191798 h 2416416"/>
                  <a:gd name="connsiteX4" fmla="*/ 3669030 w 4403567"/>
                  <a:gd name="connsiteY4" fmla="*/ 2009168 h 2416416"/>
                  <a:gd name="connsiteX5" fmla="*/ 4023360 w 4403567"/>
                  <a:gd name="connsiteY5" fmla="*/ 2386358 h 2416416"/>
                  <a:gd name="connsiteX6" fmla="*/ 4377690 w 4403567"/>
                  <a:gd name="connsiteY6" fmla="*/ 2386358 h 2416416"/>
                  <a:gd name="connsiteX7" fmla="*/ 4337238 w 4403567"/>
                  <a:gd name="connsiteY7" fmla="*/ 2152628 h 2416416"/>
                  <a:gd name="connsiteX0" fmla="*/ 0 w 4377690"/>
                  <a:gd name="connsiteY0" fmla="*/ 2386358 h 2416416"/>
                  <a:gd name="connsiteX1" fmla="*/ 525780 w 4377690"/>
                  <a:gd name="connsiteY1" fmla="*/ 2123468 h 2416416"/>
                  <a:gd name="connsiteX2" fmla="*/ 1668780 w 4377690"/>
                  <a:gd name="connsiteY2" fmla="*/ 271808 h 2416416"/>
                  <a:gd name="connsiteX3" fmla="*/ 2594610 w 4377690"/>
                  <a:gd name="connsiteY3" fmla="*/ 191798 h 2416416"/>
                  <a:gd name="connsiteX4" fmla="*/ 3669030 w 4377690"/>
                  <a:gd name="connsiteY4" fmla="*/ 2009168 h 2416416"/>
                  <a:gd name="connsiteX5" fmla="*/ 4023360 w 4377690"/>
                  <a:gd name="connsiteY5" fmla="*/ 2386358 h 2416416"/>
                  <a:gd name="connsiteX6" fmla="*/ 4377690 w 4377690"/>
                  <a:gd name="connsiteY6" fmla="*/ 2386358 h 2416416"/>
                  <a:gd name="connsiteX0" fmla="*/ 0 w 4393195"/>
                  <a:gd name="connsiteY0" fmla="*/ 2386358 h 2554098"/>
                  <a:gd name="connsiteX1" fmla="*/ 525780 w 4393195"/>
                  <a:gd name="connsiteY1" fmla="*/ 2123468 h 2554098"/>
                  <a:gd name="connsiteX2" fmla="*/ 1668780 w 4393195"/>
                  <a:gd name="connsiteY2" fmla="*/ 271808 h 2554098"/>
                  <a:gd name="connsiteX3" fmla="*/ 2594610 w 4393195"/>
                  <a:gd name="connsiteY3" fmla="*/ 191798 h 2554098"/>
                  <a:gd name="connsiteX4" fmla="*/ 3669030 w 4393195"/>
                  <a:gd name="connsiteY4" fmla="*/ 2009168 h 2554098"/>
                  <a:gd name="connsiteX5" fmla="*/ 4023360 w 4393195"/>
                  <a:gd name="connsiteY5" fmla="*/ 2386358 h 2554098"/>
                  <a:gd name="connsiteX6" fmla="*/ 4393195 w 4393195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408700"/>
                  <a:gd name="connsiteY0" fmla="*/ 2489583 h 2554098"/>
                  <a:gd name="connsiteX1" fmla="*/ 541285 w 4408700"/>
                  <a:gd name="connsiteY1" fmla="*/ 2123468 h 2554098"/>
                  <a:gd name="connsiteX2" fmla="*/ 1684285 w 4408700"/>
                  <a:gd name="connsiteY2" fmla="*/ 271808 h 2554098"/>
                  <a:gd name="connsiteX3" fmla="*/ 2610115 w 4408700"/>
                  <a:gd name="connsiteY3" fmla="*/ 191798 h 2554098"/>
                  <a:gd name="connsiteX4" fmla="*/ 3684535 w 4408700"/>
                  <a:gd name="connsiteY4" fmla="*/ 2009168 h 2554098"/>
                  <a:gd name="connsiteX5" fmla="*/ 4038865 w 4408700"/>
                  <a:gd name="connsiteY5" fmla="*/ 2386358 h 2554098"/>
                  <a:gd name="connsiteX6" fmla="*/ 4408700 w 4408700"/>
                  <a:gd name="connsiteY6" fmla="*/ 2554098 h 2554098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255937 w 4625772"/>
                  <a:gd name="connsiteY5" fmla="*/ 2386358 h 2599260"/>
                  <a:gd name="connsiteX6" fmla="*/ 4625772 w 4625772"/>
                  <a:gd name="connsiteY6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9260 h 2599260"/>
                  <a:gd name="connsiteX1" fmla="*/ 758357 w 4625772"/>
                  <a:gd name="connsiteY1" fmla="*/ 2123468 h 2599260"/>
                  <a:gd name="connsiteX2" fmla="*/ 1901357 w 4625772"/>
                  <a:gd name="connsiteY2" fmla="*/ 271808 h 2599260"/>
                  <a:gd name="connsiteX3" fmla="*/ 2827187 w 4625772"/>
                  <a:gd name="connsiteY3" fmla="*/ 191798 h 2599260"/>
                  <a:gd name="connsiteX4" fmla="*/ 3901607 w 4625772"/>
                  <a:gd name="connsiteY4" fmla="*/ 2009168 h 2599260"/>
                  <a:gd name="connsiteX5" fmla="*/ 4625772 w 4625772"/>
                  <a:gd name="connsiteY5" fmla="*/ 2554098 h 2599260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596416 h 2596416"/>
                  <a:gd name="connsiteX1" fmla="*/ 851388 w 4625772"/>
                  <a:gd name="connsiteY1" fmla="*/ 2069012 h 2596416"/>
                  <a:gd name="connsiteX2" fmla="*/ 1901357 w 4625772"/>
                  <a:gd name="connsiteY2" fmla="*/ 268964 h 2596416"/>
                  <a:gd name="connsiteX3" fmla="*/ 2827187 w 4625772"/>
                  <a:gd name="connsiteY3" fmla="*/ 188954 h 2596416"/>
                  <a:gd name="connsiteX4" fmla="*/ 3901607 w 4625772"/>
                  <a:gd name="connsiteY4" fmla="*/ 2006324 h 2596416"/>
                  <a:gd name="connsiteX5" fmla="*/ 4625772 w 4625772"/>
                  <a:gd name="connsiteY5" fmla="*/ 2551254 h 2596416"/>
                  <a:gd name="connsiteX0" fmla="*/ 0 w 4625772"/>
                  <a:gd name="connsiteY0" fmla="*/ 2638974 h 2638974"/>
                  <a:gd name="connsiteX1" fmla="*/ 851388 w 4625772"/>
                  <a:gd name="connsiteY1" fmla="*/ 2111570 h 2638974"/>
                  <a:gd name="connsiteX2" fmla="*/ 1901357 w 4625772"/>
                  <a:gd name="connsiteY2" fmla="*/ 311522 h 2638974"/>
                  <a:gd name="connsiteX3" fmla="*/ 2396614 w 4625772"/>
                  <a:gd name="connsiteY3" fmla="*/ 33500 h 2638974"/>
                  <a:gd name="connsiteX4" fmla="*/ 2827187 w 4625772"/>
                  <a:gd name="connsiteY4" fmla="*/ 231512 h 2638974"/>
                  <a:gd name="connsiteX5" fmla="*/ 3901607 w 4625772"/>
                  <a:gd name="connsiteY5" fmla="*/ 2048882 h 2638974"/>
                  <a:gd name="connsiteX6" fmla="*/ 4625772 w 4625772"/>
                  <a:gd name="connsiteY6" fmla="*/ 2593812 h 2638974"/>
                  <a:gd name="connsiteX0" fmla="*/ 0 w 4625772"/>
                  <a:gd name="connsiteY0" fmla="*/ 2862217 h 2862217"/>
                  <a:gd name="connsiteX1" fmla="*/ 851388 w 4625772"/>
                  <a:gd name="connsiteY1" fmla="*/ 2334813 h 2862217"/>
                  <a:gd name="connsiteX2" fmla="*/ 1901357 w 4625772"/>
                  <a:gd name="connsiteY2" fmla="*/ 534765 h 2862217"/>
                  <a:gd name="connsiteX3" fmla="*/ 2415220 w 4625772"/>
                  <a:gd name="connsiteY3" fmla="*/ 1262 h 2862217"/>
                  <a:gd name="connsiteX4" fmla="*/ 2827187 w 4625772"/>
                  <a:gd name="connsiteY4" fmla="*/ 454755 h 2862217"/>
                  <a:gd name="connsiteX5" fmla="*/ 3901607 w 4625772"/>
                  <a:gd name="connsiteY5" fmla="*/ 2272125 h 2862217"/>
                  <a:gd name="connsiteX6" fmla="*/ 4625772 w 4625772"/>
                  <a:gd name="connsiteY6" fmla="*/ 2817055 h 2862217"/>
                  <a:gd name="connsiteX0" fmla="*/ 0 w 4625772"/>
                  <a:gd name="connsiteY0" fmla="*/ 2869891 h 2869891"/>
                  <a:gd name="connsiteX1" fmla="*/ 851388 w 4625772"/>
                  <a:gd name="connsiteY1" fmla="*/ 2342487 h 2869891"/>
                  <a:gd name="connsiteX2" fmla="*/ 1901357 w 4625772"/>
                  <a:gd name="connsiteY2" fmla="*/ 542439 h 2869891"/>
                  <a:gd name="connsiteX3" fmla="*/ 2350098 w 4625772"/>
                  <a:gd name="connsiteY3" fmla="*/ 1194 h 2869891"/>
                  <a:gd name="connsiteX4" fmla="*/ 2827187 w 4625772"/>
                  <a:gd name="connsiteY4" fmla="*/ 462429 h 2869891"/>
                  <a:gd name="connsiteX5" fmla="*/ 3901607 w 4625772"/>
                  <a:gd name="connsiteY5" fmla="*/ 2279799 h 2869891"/>
                  <a:gd name="connsiteX6" fmla="*/ 4625772 w 4625772"/>
                  <a:gd name="connsiteY6" fmla="*/ 2824729 h 2869891"/>
                  <a:gd name="connsiteX0" fmla="*/ 0 w 4625772"/>
                  <a:gd name="connsiteY0" fmla="*/ 2895513 h 2895513"/>
                  <a:gd name="connsiteX1" fmla="*/ 851388 w 4625772"/>
                  <a:gd name="connsiteY1" fmla="*/ 2368109 h 2895513"/>
                  <a:gd name="connsiteX2" fmla="*/ 1901357 w 4625772"/>
                  <a:gd name="connsiteY2" fmla="*/ 568061 h 2895513"/>
                  <a:gd name="connsiteX3" fmla="*/ 2299707 w 4625772"/>
                  <a:gd name="connsiteY3" fmla="*/ 1010 h 2895513"/>
                  <a:gd name="connsiteX4" fmla="*/ 2827187 w 4625772"/>
                  <a:gd name="connsiteY4" fmla="*/ 488051 h 2895513"/>
                  <a:gd name="connsiteX5" fmla="*/ 3901607 w 4625772"/>
                  <a:gd name="connsiteY5" fmla="*/ 2305421 h 2895513"/>
                  <a:gd name="connsiteX6" fmla="*/ 4625772 w 4625772"/>
                  <a:gd name="connsiteY6" fmla="*/ 2850351 h 2895513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1901357 w 4625772"/>
                  <a:gd name="connsiteY2" fmla="*/ 567051 h 2894503"/>
                  <a:gd name="connsiteX3" fmla="*/ 2299707 w 4625772"/>
                  <a:gd name="connsiteY3" fmla="*/ 0 h 2894503"/>
                  <a:gd name="connsiteX4" fmla="*/ 2827187 w 4625772"/>
                  <a:gd name="connsiteY4" fmla="*/ 487041 h 2894503"/>
                  <a:gd name="connsiteX5" fmla="*/ 3901607 w 4625772"/>
                  <a:gd name="connsiteY5" fmla="*/ 2304411 h 2894503"/>
                  <a:gd name="connsiteX6" fmla="*/ 4625772 w 4625772"/>
                  <a:gd name="connsiteY6" fmla="*/ 2849341 h 28945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803 h 2894803"/>
                  <a:gd name="connsiteX1" fmla="*/ 851388 w 4625772"/>
                  <a:gd name="connsiteY1" fmla="*/ 2367399 h 2894803"/>
                  <a:gd name="connsiteX2" fmla="*/ 1901357 w 4625772"/>
                  <a:gd name="connsiteY2" fmla="*/ 567351 h 2894803"/>
                  <a:gd name="connsiteX3" fmla="*/ 2299707 w 4625772"/>
                  <a:gd name="connsiteY3" fmla="*/ 300 h 2894803"/>
                  <a:gd name="connsiteX4" fmla="*/ 2827187 w 4625772"/>
                  <a:gd name="connsiteY4" fmla="*/ 487341 h 2894803"/>
                  <a:gd name="connsiteX5" fmla="*/ 3901607 w 4625772"/>
                  <a:gd name="connsiteY5" fmla="*/ 2304711 h 2894803"/>
                  <a:gd name="connsiteX6" fmla="*/ 4625772 w 4625772"/>
                  <a:gd name="connsiteY6" fmla="*/ 2849641 h 2894803"/>
                  <a:gd name="connsiteX0" fmla="*/ 0 w 4625772"/>
                  <a:gd name="connsiteY0" fmla="*/ 2894594 h 2894594"/>
                  <a:gd name="connsiteX1" fmla="*/ 851388 w 4625772"/>
                  <a:gd name="connsiteY1" fmla="*/ 2367190 h 2894594"/>
                  <a:gd name="connsiteX2" fmla="*/ 1901357 w 4625772"/>
                  <a:gd name="connsiteY2" fmla="*/ 567142 h 2894594"/>
                  <a:gd name="connsiteX3" fmla="*/ 2299707 w 4625772"/>
                  <a:gd name="connsiteY3" fmla="*/ 91 h 2894594"/>
                  <a:gd name="connsiteX4" fmla="*/ 2827187 w 4625772"/>
                  <a:gd name="connsiteY4" fmla="*/ 487132 h 2894594"/>
                  <a:gd name="connsiteX5" fmla="*/ 3901607 w 4625772"/>
                  <a:gd name="connsiteY5" fmla="*/ 2304502 h 2894594"/>
                  <a:gd name="connsiteX6" fmla="*/ 4625772 w 4625772"/>
                  <a:gd name="connsiteY6" fmla="*/ 2849432 h 2894594"/>
                  <a:gd name="connsiteX0" fmla="*/ 0 w 4625772"/>
                  <a:gd name="connsiteY0" fmla="*/ 2985198 h 2985198"/>
                  <a:gd name="connsiteX1" fmla="*/ 851388 w 4625772"/>
                  <a:gd name="connsiteY1" fmla="*/ 2457794 h 2985198"/>
                  <a:gd name="connsiteX2" fmla="*/ 1901357 w 4625772"/>
                  <a:gd name="connsiteY2" fmla="*/ 657746 h 2985198"/>
                  <a:gd name="connsiteX3" fmla="*/ 2299707 w 4625772"/>
                  <a:gd name="connsiteY3" fmla="*/ 90695 h 2985198"/>
                  <a:gd name="connsiteX4" fmla="*/ 3901607 w 4625772"/>
                  <a:gd name="connsiteY4" fmla="*/ 2395106 h 2985198"/>
                  <a:gd name="connsiteX5" fmla="*/ 4625772 w 4625772"/>
                  <a:gd name="connsiteY5" fmla="*/ 2940036 h 2985198"/>
                  <a:gd name="connsiteX0" fmla="*/ 0 w 4625772"/>
                  <a:gd name="connsiteY0" fmla="*/ 2894503 h 2894503"/>
                  <a:gd name="connsiteX1" fmla="*/ 851388 w 4625772"/>
                  <a:gd name="connsiteY1" fmla="*/ 2367099 h 2894503"/>
                  <a:gd name="connsiteX2" fmla="*/ 2299707 w 4625772"/>
                  <a:gd name="connsiteY2" fmla="*/ 0 h 2894503"/>
                  <a:gd name="connsiteX3" fmla="*/ 3901607 w 4625772"/>
                  <a:gd name="connsiteY3" fmla="*/ 2304411 h 2894503"/>
                  <a:gd name="connsiteX4" fmla="*/ 4625772 w 4625772"/>
                  <a:gd name="connsiteY4" fmla="*/ 2849341 h 2894503"/>
                  <a:gd name="connsiteX0" fmla="*/ 0 w 4625772"/>
                  <a:gd name="connsiteY0" fmla="*/ 2920938 h 2920938"/>
                  <a:gd name="connsiteX1" fmla="*/ 851388 w 4625772"/>
                  <a:gd name="connsiteY1" fmla="*/ 2393534 h 2920938"/>
                  <a:gd name="connsiteX2" fmla="*/ 2299707 w 4625772"/>
                  <a:gd name="connsiteY2" fmla="*/ 26435 h 2920938"/>
                  <a:gd name="connsiteX3" fmla="*/ 3901607 w 4625772"/>
                  <a:gd name="connsiteY3" fmla="*/ 2330846 h 2920938"/>
                  <a:gd name="connsiteX4" fmla="*/ 4625772 w 4625772"/>
                  <a:gd name="connsiteY4" fmla="*/ 2875776 h 2920938"/>
                  <a:gd name="connsiteX0" fmla="*/ 0 w 4625772"/>
                  <a:gd name="connsiteY0" fmla="*/ 2894510 h 2894510"/>
                  <a:gd name="connsiteX1" fmla="*/ 851388 w 4625772"/>
                  <a:gd name="connsiteY1" fmla="*/ 2367106 h 2894510"/>
                  <a:gd name="connsiteX2" fmla="*/ 2299707 w 4625772"/>
                  <a:gd name="connsiteY2" fmla="*/ 7 h 2894510"/>
                  <a:gd name="connsiteX3" fmla="*/ 3901607 w 4625772"/>
                  <a:gd name="connsiteY3" fmla="*/ 2304418 h 2894510"/>
                  <a:gd name="connsiteX4" fmla="*/ 4625772 w 4625772"/>
                  <a:gd name="connsiteY4" fmla="*/ 2849348 h 2894510"/>
                  <a:gd name="connsiteX0" fmla="*/ 0 w 4625772"/>
                  <a:gd name="connsiteY0" fmla="*/ 2894816 h 2894816"/>
                  <a:gd name="connsiteX1" fmla="*/ 851388 w 4625772"/>
                  <a:gd name="connsiteY1" fmla="*/ 2367412 h 2894816"/>
                  <a:gd name="connsiteX2" fmla="*/ 2299707 w 4625772"/>
                  <a:gd name="connsiteY2" fmla="*/ 313 h 2894816"/>
                  <a:gd name="connsiteX3" fmla="*/ 3631817 w 4625772"/>
                  <a:gd name="connsiteY3" fmla="*/ 2204080 h 2894816"/>
                  <a:gd name="connsiteX4" fmla="*/ 4625772 w 4625772"/>
                  <a:gd name="connsiteY4" fmla="*/ 2849654 h 2894816"/>
                  <a:gd name="connsiteX0" fmla="*/ 0 w 4625772"/>
                  <a:gd name="connsiteY0" fmla="*/ 2894855 h 2894855"/>
                  <a:gd name="connsiteX1" fmla="*/ 851388 w 4625772"/>
                  <a:gd name="connsiteY1" fmla="*/ 2367451 h 2894855"/>
                  <a:gd name="connsiteX2" fmla="*/ 2299707 w 4625772"/>
                  <a:gd name="connsiteY2" fmla="*/ 352 h 2894855"/>
                  <a:gd name="connsiteX3" fmla="*/ 3817879 w 4625772"/>
                  <a:gd name="connsiteY3" fmla="*/ 2194442 h 2894855"/>
                  <a:gd name="connsiteX4" fmla="*/ 4625772 w 4625772"/>
                  <a:gd name="connsiteY4" fmla="*/ 2849693 h 2894855"/>
                  <a:gd name="connsiteX0" fmla="*/ 0 w 4625772"/>
                  <a:gd name="connsiteY0" fmla="*/ 2894842 h 2894842"/>
                  <a:gd name="connsiteX1" fmla="*/ 851388 w 4625772"/>
                  <a:gd name="connsiteY1" fmla="*/ 2367438 h 2894842"/>
                  <a:gd name="connsiteX2" fmla="*/ 2299707 w 4625772"/>
                  <a:gd name="connsiteY2" fmla="*/ 339 h 2894842"/>
                  <a:gd name="connsiteX3" fmla="*/ 3817879 w 4625772"/>
                  <a:gd name="connsiteY3" fmla="*/ 2194429 h 2894842"/>
                  <a:gd name="connsiteX4" fmla="*/ 4625772 w 4625772"/>
                  <a:gd name="connsiteY4" fmla="*/ 2849680 h 2894842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625772"/>
                  <a:gd name="connsiteY0" fmla="*/ 2894504 h 2894504"/>
                  <a:gd name="connsiteX1" fmla="*/ 820378 w 4625772"/>
                  <a:gd name="connsiteY1" fmla="*/ 2189683 h 2894504"/>
                  <a:gd name="connsiteX2" fmla="*/ 2299707 w 4625772"/>
                  <a:gd name="connsiteY2" fmla="*/ 1 h 2894504"/>
                  <a:gd name="connsiteX3" fmla="*/ 3817879 w 4625772"/>
                  <a:gd name="connsiteY3" fmla="*/ 2194091 h 2894504"/>
                  <a:gd name="connsiteX4" fmla="*/ 4625772 w 4625772"/>
                  <a:gd name="connsiteY4" fmla="*/ 2849342 h 2894504"/>
                  <a:gd name="connsiteX0" fmla="*/ 0 w 4774041"/>
                  <a:gd name="connsiteY0" fmla="*/ 2894504 h 2926761"/>
                  <a:gd name="connsiteX1" fmla="*/ 820378 w 4774041"/>
                  <a:gd name="connsiteY1" fmla="*/ 2189683 h 2926761"/>
                  <a:gd name="connsiteX2" fmla="*/ 2299707 w 4774041"/>
                  <a:gd name="connsiteY2" fmla="*/ 1 h 2926761"/>
                  <a:gd name="connsiteX3" fmla="*/ 3817879 w 4774041"/>
                  <a:gd name="connsiteY3" fmla="*/ 2194091 h 2926761"/>
                  <a:gd name="connsiteX4" fmla="*/ 4774041 w 4774041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  <a:gd name="connsiteX0" fmla="*/ 0 w 4905835"/>
                  <a:gd name="connsiteY0" fmla="*/ 2923536 h 2926761"/>
                  <a:gd name="connsiteX1" fmla="*/ 952172 w 4905835"/>
                  <a:gd name="connsiteY1" fmla="*/ 2189683 h 2926761"/>
                  <a:gd name="connsiteX2" fmla="*/ 2431501 w 4905835"/>
                  <a:gd name="connsiteY2" fmla="*/ 1 h 2926761"/>
                  <a:gd name="connsiteX3" fmla="*/ 3949673 w 4905835"/>
                  <a:gd name="connsiteY3" fmla="*/ 2194091 h 2926761"/>
                  <a:gd name="connsiteX4" fmla="*/ 4905835 w 4905835"/>
                  <a:gd name="connsiteY4" fmla="*/ 2926761 h 292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5835" h="2926761">
                    <a:moveTo>
                      <a:pt x="0" y="2923536"/>
                    </a:moveTo>
                    <a:cubicBezTo>
                      <a:pt x="424237" y="2923950"/>
                      <a:pt x="698098" y="2633391"/>
                      <a:pt x="952172" y="2189683"/>
                    </a:cubicBezTo>
                    <a:cubicBezTo>
                      <a:pt x="1206246" y="1745975"/>
                      <a:pt x="1850515" y="-734"/>
                      <a:pt x="2431501" y="1"/>
                    </a:cubicBezTo>
                    <a:cubicBezTo>
                      <a:pt x="3012487" y="736"/>
                      <a:pt x="3700088" y="1754685"/>
                      <a:pt x="3949673" y="2194091"/>
                    </a:cubicBezTo>
                    <a:cubicBezTo>
                      <a:pt x="4199258" y="2633497"/>
                      <a:pt x="4473937" y="2919686"/>
                      <a:pt x="4905835" y="2926761"/>
                    </a:cubicBezTo>
                  </a:path>
                </a:pathLst>
              </a:custGeom>
              <a:ln w="571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DE456D95-3523-42C1-A40B-0366A2E379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89673" y="6213561"/>
                <a:ext cx="4018278" cy="0"/>
              </a:xfrm>
              <a:prstGeom prst="line">
                <a:avLst/>
              </a:prstGeom>
              <a:ln w="571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D8C7A26-2346-4786-9231-D1EA180E1E0F}"/>
                    </a:ext>
                  </a:extLst>
                </p:cNvPr>
                <p:cNvSpPr/>
                <p:nvPr/>
              </p:nvSpPr>
              <p:spPr>
                <a:xfrm>
                  <a:off x="9604795" y="3003732"/>
                  <a:ext cx="1816039" cy="52322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2.33</m:t>
                        </m:r>
                      </m:oMath>
                    </m:oMathPara>
                  </a14:m>
                  <a:endParaRPr lang="en-US" sz="2800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D8C7A26-2346-4786-9231-D1EA180E1E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4795" y="3003732"/>
                  <a:ext cx="1816039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0B4E1D3-9A84-2F44-42ED-7D8378DECF47}"/>
              </a:ext>
            </a:extLst>
          </p:cNvPr>
          <p:cNvSpPr txBox="1"/>
          <p:nvPr/>
        </p:nvSpPr>
        <p:spPr>
          <a:xfrm>
            <a:off x="123340" y="4998813"/>
            <a:ext cx="94831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lang="en-US" sz="2800" dirty="0">
                <a:solidFill>
                  <a:srgbClr val="002060"/>
                </a:solidFill>
              </a:rPr>
              <a:t>Therefore, the question is not good at discriminating ability.</a:t>
            </a:r>
            <a:endParaRPr lang="en-IN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16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/>
      <p:bldP spid="16" grpId="0"/>
      <p:bldP spid="17" grpId="0"/>
      <p:bldP spid="18" grpId="0"/>
      <p:bldP spid="19" grpId="0"/>
      <p:bldP spid="23" grpId="0"/>
      <p:bldP spid="5" grpId="0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2C6FA8-76F5-4F55-873C-76674E986E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20384"/>
            <a:ext cx="4646358" cy="734653"/>
          </a:xfrm>
        </p:spPr>
        <p:txBody>
          <a:bodyPr/>
          <a:lstStyle/>
          <a:p>
            <a:r>
              <a:rPr lang="en-US" dirty="0"/>
              <a:t>Probability &amp; Statistics</a:t>
            </a:r>
            <a:r>
              <a:rPr lang="en-IN" dirty="0"/>
              <a:t> (P&amp;S)</a:t>
            </a:r>
          </a:p>
          <a:p>
            <a:r>
              <a:rPr lang="en-IN" dirty="0"/>
              <a:t>DU # 2301HS402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7C3F11-DC2E-DDA3-529B-9A9A265012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prashant.bakotiya@darshan.ac.in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8B01E8-5DE5-0F8F-DFB6-8D2388299A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9979421867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C07383-B186-CF18-3DF3-34CEC85DB5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Department of Humanities and Science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CDF3BCD-A033-E308-3437-C03B179AF9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Prashant Bakotiya</a:t>
            </a:r>
            <a:endParaRPr lang="en-IN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923B9BAE-DB1E-6701-F72C-39148C7DAA1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8205F4B-406C-40AD-8E82-C217A0AB0558}"/>
              </a:ext>
            </a:extLst>
          </p:cNvPr>
          <p:cNvGrpSpPr/>
          <p:nvPr/>
        </p:nvGrpSpPr>
        <p:grpSpPr>
          <a:xfrm>
            <a:off x="-3776" y="1462475"/>
            <a:ext cx="8044476" cy="3103418"/>
            <a:chOff x="-12804" y="1537545"/>
            <a:chExt cx="8044476" cy="3103418"/>
          </a:xfrm>
        </p:grpSpPr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5445E3C6-752C-4F2B-B9DF-B69D6A6A44D3}"/>
                </a:ext>
              </a:extLst>
            </p:cNvPr>
            <p:cNvSpPr txBox="1">
              <a:spLocks/>
            </p:cNvSpPr>
            <p:nvPr/>
          </p:nvSpPr>
          <p:spPr>
            <a:xfrm>
              <a:off x="-12804" y="2160999"/>
              <a:ext cx="2594560" cy="18565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lvl="0"/>
            </a:lstStyle>
            <a:p>
              <a:r>
                <a:rPr lang="en-GB" dirty="0">
                  <a:solidFill>
                    <a:srgbClr val="ED524F"/>
                  </a:solidFill>
                </a:rPr>
                <a:t> </a:t>
              </a:r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F402C014-18C1-4F36-A38A-8BD58D1B357B}"/>
                </a:ext>
              </a:extLst>
            </p:cNvPr>
            <p:cNvSpPr/>
            <p:nvPr/>
          </p:nvSpPr>
          <p:spPr>
            <a:xfrm rot="5400000">
              <a:off x="2457725" y="1742096"/>
              <a:ext cx="3103418" cy="2694316"/>
            </a:xfrm>
            <a:prstGeom prst="hexagon">
              <a:avLst/>
            </a:prstGeom>
            <a:noFill/>
            <a:ln w="57150"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GB" sz="4400" b="1" dirty="0">
                  <a:solidFill>
                    <a:srgbClr val="B14440"/>
                  </a:solidFill>
                </a:rPr>
                <a:t>THANK YOU</a:t>
              </a:r>
            </a:p>
          </p:txBody>
        </p:sp>
        <p:sp>
          <p:nvSpPr>
            <p:cNvPr id="16" name="Title 1">
              <a:extLst>
                <a:ext uri="{FF2B5EF4-FFF2-40B4-BE49-F238E27FC236}">
                  <a16:creationId xmlns:a16="http://schemas.microsoft.com/office/drawing/2014/main" id="{05B20862-85A9-472B-AC8E-D30E863187EE}"/>
                </a:ext>
              </a:extLst>
            </p:cNvPr>
            <p:cNvSpPr txBox="1">
              <a:spLocks/>
            </p:cNvSpPr>
            <p:nvPr/>
          </p:nvSpPr>
          <p:spPr>
            <a:xfrm rot="10800000">
              <a:off x="5437112" y="2160998"/>
              <a:ext cx="2594560" cy="18565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lvl="0"/>
            </a:lstStyle>
            <a:p>
              <a:r>
                <a:rPr lang="en-GB" dirty="0">
                  <a:solidFill>
                    <a:srgbClr val="ED524F"/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2833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0CB386-78CA-4575-9F5B-1025EB3E0C65}">
  <we:reference id="wa200005566" version="1.0.0.0" store="en-US" storeType="OMEX"/>
  <we:alternateReferences>
    <we:reference id="wa200005566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41872</TotalTime>
  <Words>12667</Words>
  <Application>Microsoft Office PowerPoint</Application>
  <PresentationFormat>Widescreen</PresentationFormat>
  <Paragraphs>1724</Paragraphs>
  <Slides>199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199</vt:i4>
      </vt:variant>
    </vt:vector>
  </HeadingPairs>
  <TitlesOfParts>
    <vt:vector size="207" baseType="lpstr">
      <vt:lpstr>Cambria Math</vt:lpstr>
      <vt:lpstr>Arial</vt:lpstr>
      <vt:lpstr>Wingdings</vt:lpstr>
      <vt:lpstr>Roboto Condensed Light</vt:lpstr>
      <vt:lpstr>Calibri</vt:lpstr>
      <vt:lpstr>Wingdings 3</vt:lpstr>
      <vt:lpstr>Roboto Condensed</vt:lpstr>
      <vt:lpstr>Office Theme</vt:lpstr>
      <vt:lpstr>Unit: 4.2 Inferential Statistics – I</vt:lpstr>
      <vt:lpstr>PowerPoint Presentation</vt:lpstr>
      <vt:lpstr>PowerPoint Presentation</vt:lpstr>
      <vt:lpstr>PowerPoint Presentation</vt:lpstr>
      <vt:lpstr>Hypothesis Testing - I</vt:lpstr>
      <vt:lpstr>Understanding Hypothesis </vt:lpstr>
      <vt:lpstr>PowerPoint Presentation</vt:lpstr>
      <vt:lpstr>1 - Understanding Population</vt:lpstr>
      <vt:lpstr>2 - Taking a Sample</vt:lpstr>
      <vt:lpstr>3 - Forming a Hypothesis</vt:lpstr>
      <vt:lpstr>4 - Why do we need hypothesis?</vt:lpstr>
      <vt:lpstr>5 - Performing Experiment (Sample Study)</vt:lpstr>
      <vt:lpstr>5 - Performing Experiment (Sample Study)</vt:lpstr>
      <vt:lpstr>6 - What is Hypothesis Testing?</vt:lpstr>
      <vt:lpstr>7 - What actually is being tested?</vt:lpstr>
      <vt:lpstr>What is Hypothesis ?</vt:lpstr>
      <vt:lpstr>Introduction</vt:lpstr>
      <vt:lpstr>Population OR Universe</vt:lpstr>
      <vt:lpstr>Population OR Universe</vt:lpstr>
      <vt:lpstr>Population OR Universe</vt:lpstr>
      <vt:lpstr>Hypothetical Universe</vt:lpstr>
      <vt:lpstr>Hypothetical Universe</vt:lpstr>
      <vt:lpstr>Sampling</vt:lpstr>
      <vt:lpstr>Sampling </vt:lpstr>
      <vt:lpstr>Sampling </vt:lpstr>
      <vt:lpstr>PowerPoint Presentation</vt:lpstr>
      <vt:lpstr>Parameter and Statistics </vt:lpstr>
      <vt:lpstr>Parameter and Statistics </vt:lpstr>
      <vt:lpstr>Hypothesis Testing as a Courtroom Trial</vt:lpstr>
      <vt:lpstr>Step 1: The Company Makes a Claim</vt:lpstr>
      <vt:lpstr>Step 2: Court Rule</vt:lpstr>
      <vt:lpstr>Step 3: Prosecutor Raises Doubt</vt:lpstr>
      <vt:lpstr>Step 4: Judge’s Question (Core of Hypothesis Testing)</vt:lpstr>
      <vt:lpstr>Step 5: Final Decision Rule</vt:lpstr>
      <vt:lpstr>Step 5: Final Decision Rule</vt:lpstr>
      <vt:lpstr>Why don’t we prove alternative hypothesis directly?</vt:lpstr>
      <vt:lpstr>Why don’t we prove alternative hypothesis directly?</vt:lpstr>
      <vt:lpstr>Mapping Table</vt:lpstr>
      <vt:lpstr>PowerPoint Presentation</vt:lpstr>
      <vt:lpstr>Null Hypothesis</vt:lpstr>
      <vt:lpstr>Null Hypothesis</vt:lpstr>
      <vt:lpstr>Null Hypothesis</vt:lpstr>
      <vt:lpstr>Why is it called Null Hypothesis?</vt:lpstr>
      <vt:lpstr>PowerPoint Presentation</vt:lpstr>
      <vt:lpstr>Alternative Hypothesis</vt:lpstr>
      <vt:lpstr>Types of Alternative Hypothesis</vt:lpstr>
      <vt:lpstr>Types of Alternative Hypothesis</vt:lpstr>
      <vt:lpstr>Types of Alternative Hypothesis</vt:lpstr>
      <vt:lpstr>Types of Alternative Hypothesis</vt:lpstr>
      <vt:lpstr>Types of Alternative Hypothesis</vt:lpstr>
      <vt:lpstr>Types of Alternative Hypothesis</vt:lpstr>
      <vt:lpstr>Why normal distribution appears in hypothesis testing?</vt:lpstr>
      <vt:lpstr>Why normal distribution appears in hypothesis testing?</vt:lpstr>
      <vt:lpstr>PowerPoint Presentation</vt:lpstr>
      <vt:lpstr>Errors in Sampling</vt:lpstr>
      <vt:lpstr>PowerPoint Presentation</vt:lpstr>
      <vt:lpstr>Standard Error </vt:lpstr>
      <vt:lpstr>Standard Error </vt:lpstr>
      <vt:lpstr>Standard Error </vt:lpstr>
      <vt:lpstr>Standard Error </vt:lpstr>
      <vt:lpstr>Standard Error </vt:lpstr>
      <vt:lpstr>Standard Error </vt:lpstr>
      <vt:lpstr>PowerPoint Presentation</vt:lpstr>
      <vt:lpstr>Test Statistics </vt:lpstr>
      <vt:lpstr>Test Statistics </vt:lpstr>
      <vt:lpstr>Test Statistics </vt:lpstr>
      <vt:lpstr>PowerPoint Presentation</vt:lpstr>
      <vt:lpstr>Type-I and Type-II Errors</vt:lpstr>
      <vt:lpstr>Type-I Error</vt:lpstr>
      <vt:lpstr>Type-I Error</vt:lpstr>
      <vt:lpstr>Type-II Error</vt:lpstr>
      <vt:lpstr>Type-II Error</vt:lpstr>
      <vt:lpstr>Simple Word Trick</vt:lpstr>
      <vt:lpstr>Summary</vt:lpstr>
      <vt:lpstr>Power of the Test</vt:lpstr>
      <vt:lpstr>PowerPoint Presentation</vt:lpstr>
      <vt:lpstr>Level of Significance</vt:lpstr>
      <vt:lpstr>Level of Significance</vt:lpstr>
      <vt:lpstr>Level of Significance</vt:lpstr>
      <vt:lpstr>PowerPoint Presentation</vt:lpstr>
      <vt:lpstr>Critical Region </vt:lpstr>
      <vt:lpstr>Critical Region </vt:lpstr>
      <vt:lpstr>Role of Level of Significance in Critical Region </vt:lpstr>
      <vt:lpstr>Acceptance Region </vt:lpstr>
      <vt:lpstr>Graphical representation </vt:lpstr>
      <vt:lpstr>Graphical representation </vt:lpstr>
      <vt:lpstr>PowerPoint Presentation</vt:lpstr>
      <vt:lpstr>Confidence Interval</vt:lpstr>
      <vt:lpstr>Confidence Interval</vt:lpstr>
      <vt:lpstr>Confidence Interval  </vt:lpstr>
      <vt:lpstr>Confidence Limit</vt:lpstr>
      <vt:lpstr>Confidence Level vs Level of Significance</vt:lpstr>
      <vt:lpstr>Confidence Level vs Level of Significance</vt:lpstr>
      <vt:lpstr>Remark</vt:lpstr>
      <vt:lpstr>Critical Value Summary</vt:lpstr>
      <vt:lpstr>Steps for Testing of Statistical Hypothesis  </vt:lpstr>
      <vt:lpstr>Hypothesis Testing for Large Sample - I</vt:lpstr>
      <vt:lpstr>Method – 5 Test for single Proportion</vt:lpstr>
      <vt:lpstr>Test for a Single Proportion</vt:lpstr>
      <vt:lpstr>Test for a Single Proportion</vt:lpstr>
      <vt:lpstr>Conditions to Use Test for Single Proportion (Z-test)</vt:lpstr>
      <vt:lpstr>Test for a Single Proportion – Motivation</vt:lpstr>
      <vt:lpstr>Test for a Single Proportion – Notation</vt:lpstr>
      <vt:lpstr>Test for a Single Proportion – Example</vt:lpstr>
      <vt:lpstr>Test for a Single Proportion – Standard Error</vt:lpstr>
      <vt:lpstr>Test for a Single Proportion – Test Statistic</vt:lpstr>
      <vt:lpstr>Test for a Single Proportion – Meaning of Z Statistic</vt:lpstr>
      <vt:lpstr>Confidence Limits for Population Proportion</vt:lpstr>
      <vt:lpstr>Simple Rule for Hypotheses </vt:lpstr>
      <vt:lpstr>Simple Rule for Hypotheses </vt:lpstr>
      <vt:lpstr>Method 5 ⇝ Example 1</vt:lpstr>
      <vt:lpstr>Method 5 ⇝ Example 1 ⇝ Meaning</vt:lpstr>
      <vt:lpstr>Method 5 ⇝ Example 1</vt:lpstr>
      <vt:lpstr>Method 5 ⇝ Example 1(Continue)</vt:lpstr>
      <vt:lpstr>Method 5 ⇝ Example 2</vt:lpstr>
      <vt:lpstr>Method 5 ⇝ Example 2 ⇝ Meaning</vt:lpstr>
      <vt:lpstr>Method 5 ⇝ Example 2 ⇝ Meaning</vt:lpstr>
      <vt:lpstr>Method 5 ⇝ Example 2</vt:lpstr>
      <vt:lpstr>Method 5 ⇝ Example 2(Continue)</vt:lpstr>
      <vt:lpstr>Method 5 ⇝ Example 3</vt:lpstr>
      <vt:lpstr>Method 5 ⇝ Example 3 ⇝ Meaning</vt:lpstr>
      <vt:lpstr>Method 5 ⇝ Example 3</vt:lpstr>
      <vt:lpstr>Method 5 ⇝ Example 3(Continue)</vt:lpstr>
      <vt:lpstr>Method 5 ⇝ Example 6</vt:lpstr>
      <vt:lpstr>Method 5 ⇝ Example 6 ⇝ Meaning</vt:lpstr>
      <vt:lpstr>Method 5 ⇝ Example 6 ⇝ Meaning</vt:lpstr>
      <vt:lpstr>Method 5 ⇝ Example 6 ⇝ Meaning</vt:lpstr>
      <vt:lpstr>Method 5 ⇝ Example 6</vt:lpstr>
      <vt:lpstr>Method 5 ⇝ Example 6(Continue)</vt:lpstr>
      <vt:lpstr>Method 5 ⇝ Example 8</vt:lpstr>
      <vt:lpstr>Method 5 ⇝ Example 8 ⇝ Meaning</vt:lpstr>
      <vt:lpstr>Method 5 ⇝ Example 8 ⇝ Meaning</vt:lpstr>
      <vt:lpstr>Method 5 ⇝ Example 8 ⇝ Meaning</vt:lpstr>
      <vt:lpstr>Method 5 ⇝ Example 8</vt:lpstr>
      <vt:lpstr>Method 5 ⇝ Example 8(Continue)</vt:lpstr>
      <vt:lpstr>Method 5 ⇝ Example 9</vt:lpstr>
      <vt:lpstr>Method 5 ⇝ Example 9 ⇝ Meaning</vt:lpstr>
      <vt:lpstr>Method 5 ⇝ Example 9 ⇝ Idea about Hypotheses</vt:lpstr>
      <vt:lpstr>Method 5 ⇝ Example 9</vt:lpstr>
      <vt:lpstr>Method 5 ⇝ Example 9(Continue)</vt:lpstr>
      <vt:lpstr>Method 5 ⇝ Example 11</vt:lpstr>
      <vt:lpstr>Method 5 ⇝ Example 11 ⇝ Meaning</vt:lpstr>
      <vt:lpstr>Method 5 ⇝ Example 11 ⇝ Idea about Hypotheses</vt:lpstr>
      <vt:lpstr>Method 5 ⇝ Example 11</vt:lpstr>
      <vt:lpstr>Method 5 ⇝ Example 11(Continue)</vt:lpstr>
      <vt:lpstr>Method – 6 Test for Difference of Proportions</vt:lpstr>
      <vt:lpstr>Test for Difference of Proportions</vt:lpstr>
      <vt:lpstr>Test for Difference of Proportions</vt:lpstr>
      <vt:lpstr>Why do we need this test?</vt:lpstr>
      <vt:lpstr>Notation</vt:lpstr>
      <vt:lpstr>Test for a Difference of Proportion</vt:lpstr>
      <vt:lpstr>Test for a Difference of Proportion</vt:lpstr>
      <vt:lpstr>Confidence limits for difference of Proportions</vt:lpstr>
      <vt:lpstr>Idea about Hypotheses</vt:lpstr>
      <vt:lpstr>Method 6 ⇝ Example 1</vt:lpstr>
      <vt:lpstr>Method 6 ⇝ Example 1⇝ Meaning</vt:lpstr>
      <vt:lpstr>Method 6 ⇝ Example 1⇝ Meaning</vt:lpstr>
      <vt:lpstr>Method 6 ⇝ Example 1</vt:lpstr>
      <vt:lpstr>Method 6 ⇝ Example 1(Continue)</vt:lpstr>
      <vt:lpstr>Method 6 ⇝ Example 1(Continue)</vt:lpstr>
      <vt:lpstr>Method 6 ⇝ Example 1(Continue) ⇝ Interpretation</vt:lpstr>
      <vt:lpstr>Method 6 ⇝ Example 1(Continue) ⇝ Interpretation</vt:lpstr>
      <vt:lpstr>Method 6 ⇝ Example 2</vt:lpstr>
      <vt:lpstr>Method 6 ⇝ Example 2 ⇝ Meaning</vt:lpstr>
      <vt:lpstr>Method 6 ⇝ Example 2 ⇝ Meaning</vt:lpstr>
      <vt:lpstr>Method 6 ⇝ Example 2 ⇝ Idea about Hypotheses</vt:lpstr>
      <vt:lpstr>Method 6 ⇝ Example 2</vt:lpstr>
      <vt:lpstr>Method 6 ⇝ Example 2(Continue)</vt:lpstr>
      <vt:lpstr>Method 6 ⇝ Example 2(Continue)</vt:lpstr>
      <vt:lpstr>Method 6 ⇝ Example 4</vt:lpstr>
      <vt:lpstr>Method 6 ⇝ Example 4 ⇝ Meaning</vt:lpstr>
      <vt:lpstr>Method 6 ⇝ Example 4 ⇝ Meaning</vt:lpstr>
      <vt:lpstr>Method 6 ⇝ Example 4 ⇝ Meaning</vt:lpstr>
      <vt:lpstr>Method 6 ⇝ Example 4 ⇝ Idea about Hypotheses</vt:lpstr>
      <vt:lpstr>Method 6 ⇝ Example 4</vt:lpstr>
      <vt:lpstr>Method 6 ⇝ Example 4(Continue)</vt:lpstr>
      <vt:lpstr>Method 6 ⇝ Example 4(Continue)</vt:lpstr>
      <vt:lpstr>Method 6 ⇝ Example 6</vt:lpstr>
      <vt:lpstr>Method 6 ⇝ Example 6 ⇝ Meaning</vt:lpstr>
      <vt:lpstr>Method 6 ⇝ Example 6 ⇝ Meaning</vt:lpstr>
      <vt:lpstr>Method 6 ⇝ Example 6 ⇝ Idea about Hypotheses</vt:lpstr>
      <vt:lpstr>Method 6 ⇝ Example 6</vt:lpstr>
      <vt:lpstr>Method 6 ⇝ Example 6(Continue)</vt:lpstr>
      <vt:lpstr>Method 6 ⇝ Example 6(Continue)</vt:lpstr>
      <vt:lpstr>Method 6 ⇝ Example 8</vt:lpstr>
      <vt:lpstr>Method 6 ⇝ Example 8 ⇝ Meaning</vt:lpstr>
      <vt:lpstr>Method 6 ⇝ Example 8 ⇝ Idea about Hypotheses</vt:lpstr>
      <vt:lpstr>Method 6 ⇝ Example 8 </vt:lpstr>
      <vt:lpstr>Method 6 ⇝ Example 8(Continue)</vt:lpstr>
      <vt:lpstr>Method 6 ⇝ Example 8(Continue)</vt:lpstr>
      <vt:lpstr>Method 6 ⇝ Example 11</vt:lpstr>
      <vt:lpstr>Method 6 ⇝ Example 11 ⇝ Meaning</vt:lpstr>
      <vt:lpstr>Method 6 ⇝ Example 11 ⇝ Meaning</vt:lpstr>
      <vt:lpstr>Method 6 ⇝ Example 11 ⇝ Meaning</vt:lpstr>
      <vt:lpstr>Method 6 ⇝ Example 11 ⇝ Idea about Hypotheses</vt:lpstr>
      <vt:lpstr>Method 6 ⇝ Example 11</vt:lpstr>
      <vt:lpstr>Method 6 ⇝ Example 11(Continue)</vt:lpstr>
      <vt:lpstr>Method 6 ⇝ Example 11(Continue)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Vasudev </cp:lastModifiedBy>
  <cp:revision>3050</cp:revision>
  <dcterms:created xsi:type="dcterms:W3CDTF">2020-05-01T05:09:15Z</dcterms:created>
  <dcterms:modified xsi:type="dcterms:W3CDTF">2026-03-24T06:56:19Z</dcterms:modified>
</cp:coreProperties>
</file>